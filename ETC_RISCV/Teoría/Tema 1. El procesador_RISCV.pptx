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82"/>
  </p:notesMasterIdLst>
  <p:handoutMasterIdLst>
    <p:handoutMasterId r:id="rId83"/>
  </p:handoutMasterIdLst>
  <p:sldIdLst>
    <p:sldId id="257" r:id="rId2"/>
    <p:sldId id="508" r:id="rId3"/>
    <p:sldId id="509" r:id="rId4"/>
    <p:sldId id="871" r:id="rId5"/>
    <p:sldId id="855" r:id="rId6"/>
    <p:sldId id="853" r:id="rId7"/>
    <p:sldId id="868" r:id="rId8"/>
    <p:sldId id="869" r:id="rId9"/>
    <p:sldId id="854" r:id="rId10"/>
    <p:sldId id="659" r:id="rId11"/>
    <p:sldId id="656" r:id="rId12"/>
    <p:sldId id="872" r:id="rId13"/>
    <p:sldId id="660" r:id="rId14"/>
    <p:sldId id="661" r:id="rId15"/>
    <p:sldId id="664" r:id="rId16"/>
    <p:sldId id="663" r:id="rId17"/>
    <p:sldId id="662" r:id="rId18"/>
    <p:sldId id="772" r:id="rId19"/>
    <p:sldId id="665" r:id="rId20"/>
    <p:sldId id="824" r:id="rId21"/>
    <p:sldId id="901" r:id="rId22"/>
    <p:sldId id="766" r:id="rId23"/>
    <p:sldId id="876" r:id="rId24"/>
    <p:sldId id="875" r:id="rId25"/>
    <p:sldId id="877" r:id="rId26"/>
    <p:sldId id="878" r:id="rId27"/>
    <p:sldId id="879" r:id="rId28"/>
    <p:sldId id="880" r:id="rId29"/>
    <p:sldId id="770" r:id="rId30"/>
    <p:sldId id="694" r:id="rId31"/>
    <p:sldId id="757" r:id="rId32"/>
    <p:sldId id="758" r:id="rId33"/>
    <p:sldId id="904" r:id="rId34"/>
    <p:sldId id="905" r:id="rId35"/>
    <p:sldId id="906" r:id="rId36"/>
    <p:sldId id="907" r:id="rId37"/>
    <p:sldId id="908" r:id="rId38"/>
    <p:sldId id="909" r:id="rId39"/>
    <p:sldId id="687" r:id="rId40"/>
    <p:sldId id="688" r:id="rId41"/>
    <p:sldId id="689" r:id="rId42"/>
    <p:sldId id="690" r:id="rId43"/>
    <p:sldId id="691" r:id="rId44"/>
    <p:sldId id="915" r:id="rId45"/>
    <p:sldId id="914" r:id="rId46"/>
    <p:sldId id="693" r:id="rId47"/>
    <p:sldId id="692" r:id="rId48"/>
    <p:sldId id="698" r:id="rId49"/>
    <p:sldId id="817" r:id="rId50"/>
    <p:sldId id="695" r:id="rId51"/>
    <p:sldId id="883" r:id="rId52"/>
    <p:sldId id="696" r:id="rId53"/>
    <p:sldId id="716" r:id="rId54"/>
    <p:sldId id="844" r:id="rId55"/>
    <p:sldId id="912" r:id="rId56"/>
    <p:sldId id="913" r:id="rId57"/>
    <p:sldId id="885" r:id="rId58"/>
    <p:sldId id="822" r:id="rId59"/>
    <p:sldId id="887" r:id="rId60"/>
    <p:sldId id="705" r:id="rId61"/>
    <p:sldId id="820" r:id="rId62"/>
    <p:sldId id="902" r:id="rId63"/>
    <p:sldId id="903" r:id="rId64"/>
    <p:sldId id="888" r:id="rId65"/>
    <p:sldId id="889" r:id="rId66"/>
    <p:sldId id="910" r:id="rId67"/>
    <p:sldId id="711" r:id="rId68"/>
    <p:sldId id="707" r:id="rId69"/>
    <p:sldId id="804" r:id="rId70"/>
    <p:sldId id="891" r:id="rId71"/>
    <p:sldId id="892" r:id="rId72"/>
    <p:sldId id="893" r:id="rId73"/>
    <p:sldId id="806" r:id="rId74"/>
    <p:sldId id="894" r:id="rId75"/>
    <p:sldId id="895" r:id="rId76"/>
    <p:sldId id="896" r:id="rId77"/>
    <p:sldId id="897" r:id="rId78"/>
    <p:sldId id="712" r:id="rId79"/>
    <p:sldId id="713" r:id="rId80"/>
    <p:sldId id="714" r:id="rId81"/>
  </p:sldIdLst>
  <p:sldSz cx="9144000" cy="6858000" type="screen4x3"/>
  <p:notesSz cx="6797675" cy="9856788"/>
  <p:custShowLst>
    <p:custShow name="Formato instrucciones" id="0">
      <p:sldLst/>
    </p:custShow>
    <p:custShow name="Fases de ejecución" id="1">
      <p:sldLst>
        <p:sld r:id="rId48"/>
      </p:sldLst>
    </p:custShow>
  </p:custShowLst>
  <p:defaultTextStyle>
    <a:defPPr>
      <a:defRPr lang="en-US"/>
    </a:defPPr>
    <a:lvl1pPr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20000"/>
      </a:spcBef>
      <a:spcAft>
        <a:spcPct val="0"/>
      </a:spcAft>
      <a:buFont typeface="Wingdings" pitchFamily="2" charset="2"/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66BE4E-65B9-DF29-7B8D-702E5B1DF39A}" name="enrique s. quintana-orti" initials="eq" userId="a136630071d05d78" providerId="Windows Live"/>
  <p188:author id="{864617F1-3C12-A8C1-5CC9-30EF056B68D2}" name="ENRIQUE SALVADOR QUINTANA ORTI" initials="EQ" userId="S::enquior@upv.edu.es::7c37bc33-6bb4-4897-b997-327ef8183a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  <a:srgbClr val="26697A"/>
    <a:srgbClr val="00CC00"/>
    <a:srgbClr val="CCFFCC"/>
    <a:srgbClr val="FFFFFF"/>
    <a:srgbClr val="CC3300"/>
    <a:srgbClr val="9999FF"/>
    <a:srgbClr val="008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71" autoAdjust="0"/>
    <p:restoredTop sz="90941" autoAdjust="0"/>
  </p:normalViewPr>
  <p:slideViewPr>
    <p:cSldViewPr snapToGrid="0">
      <p:cViewPr varScale="1">
        <p:scale>
          <a:sx n="109" d="100"/>
          <a:sy n="109" d="100"/>
        </p:scale>
        <p:origin x="2728" y="192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-3584" y="-84"/>
      </p:cViewPr>
      <p:guideLst>
        <p:guide orient="horz" pos="3105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6.xml"/><Relationship Id="rId5" Type="http://schemas.openxmlformats.org/officeDocument/2006/relationships/slide" Target="slides/slide38.xml"/><Relationship Id="rId4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3842"/>
            <a:ext cx="2968663" cy="28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ctr" anchorCtr="0" compatLnSpc="1">
            <a:prstTxWarp prst="textNoShape">
              <a:avLst/>
            </a:prstTxWarp>
            <a:spAutoFit/>
          </a:bodyPr>
          <a:lstStyle>
            <a:lvl1pPr algn="l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8295" y="123842"/>
            <a:ext cx="2892660" cy="28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ctr" anchorCtr="0" compatLnSpc="1">
            <a:prstTxWarp prst="textNoShape">
              <a:avLst/>
            </a:prstTxWarp>
            <a:spAutoFit/>
          </a:bodyPr>
          <a:lstStyle>
            <a:lvl1pPr algn="r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2537"/>
            <a:ext cx="2968663" cy="28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  <a:spAutoFit/>
          </a:bodyPr>
          <a:lstStyle>
            <a:lvl1pPr algn="l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8295" y="9552537"/>
            <a:ext cx="2892660" cy="282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  <a:spAutoFit/>
          </a:bodyPr>
          <a:lstStyle>
            <a:lvl1pPr algn="r" defTabSz="910587">
              <a:buFontTx/>
              <a:buNone/>
              <a:defRPr sz="1200" b="1">
                <a:solidFill>
                  <a:schemeClr val="bg1"/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2AEC8A5-E10B-4D8C-B8C5-EBD3EC80F16F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49418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85.10638" units="1/cm"/>
          <inkml:channelProperty channel="Y" name="resolution" value="35.8804" units="1/cm"/>
        </inkml:channelProperties>
      </inkml:inkSource>
      <inkml:timestamp xml:id="ts0" timeString="2020-09-22T06:35:30.8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4251 11359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342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>
            <a:lvl1pPr algn="l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334" y="1"/>
            <a:ext cx="2944341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>
            <a:lvl1pPr algn="r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25" y="739775"/>
            <a:ext cx="4926013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681477"/>
            <a:ext cx="4985772" cy="443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4484"/>
            <a:ext cx="2944342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</a:bodyPr>
          <a:lstStyle>
            <a:lvl1pPr algn="l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334" y="9364484"/>
            <a:ext cx="2944341" cy="49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947" tIns="45472" rIns="90947" bIns="45472" numCol="1" anchor="b" anchorCtr="0" compatLnSpc="1">
            <a:prstTxWarp prst="textNoShape">
              <a:avLst/>
            </a:prstTxWarp>
          </a:bodyPr>
          <a:lstStyle>
            <a:lvl1pPr algn="r" defTabSz="910587">
              <a:spcBef>
                <a:spcPct val="0"/>
              </a:spcBef>
              <a:buFontTx/>
              <a:buNone/>
              <a:defRPr sz="1200">
                <a:latin typeface="Times New Roman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B90BAE6-DC3E-4CE4-BA88-EF7C5446036B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888366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4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31" charset="0"/>
        <a:ea typeface="ＭＳ Ｐゴシック" pitchFamily="3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CA5636-1F55-41A3-BDB9-3417D041D1D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1</a:t>
            </a:fld>
            <a:endParaRPr lang="es-ES_tradnl" dirty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BA318-BD7B-47FB-B619-9739270ACA37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2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9AC87-7D63-4F94-8E57-6B73E4D6196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3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261E-0B02-C57D-6C00-19B5CEBE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3372E46B-56B4-7B15-3C9E-0F9A2B28BD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9AC87-7D63-4F94-8E57-6B73E4D6196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4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26A1675-C411-2469-F1BB-13361BFF2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359955C-475A-070B-5014-DF68B301A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7827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0CE37BF-7676-4DDC-9755-C45C9C9ACFBF}" type="slidenum">
              <a:rPr lang="es-ES_tradnl" smtClean="0"/>
              <a:pPr>
                <a:defRPr/>
              </a:pPr>
              <a:t>31</a:t>
            </a:fld>
            <a:endParaRPr lang="es-ES_trad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32</a:t>
            </a:fld>
            <a:endParaRPr lang="es-ES_tradn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0E0E9-E543-65D9-66C7-E17BE32D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5D8272FB-CE35-8B12-8CE0-33F371F95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8873560A-1855-E649-949E-732F66F4A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154CEFA3-575A-E488-7CA8-7971B5C65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54840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8AE1-23C7-173B-4E56-3CB8DBBB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0BC8AE15-7177-07D0-8DBD-19C434686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B8C66065-3774-AB95-4288-325E197A0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DDC61EEB-FC38-11D4-4649-43BA16051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05823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5D8F5-C55D-7EE3-B3D7-B57DA78C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FC133941-FC60-0613-4C30-5107BB2EA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1B31382A-4715-3B00-5E6C-BAB282B9D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BE7BCB04-B615-0E31-1299-49EACC42F5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35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32266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633D-D861-FB1A-7C4B-D338F352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ED3CD47A-A988-3171-E436-1A35E883A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8D0306F7-C4C3-AD54-8E57-357FB6FB5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D32E0668-A9DE-3439-8293-91C55C2F7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36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14492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58DC-A2E3-139D-D7BC-F41FEEDE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EDC851EF-C878-6069-D288-F2BDFAB7B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B446BED3-FC81-2632-4CCB-BD0E418D4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1AED2FCE-1A8F-36FE-6F01-02DEBEE5D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37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59101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D744-9911-B96D-80F1-60BE91D8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E5086B59-9516-5A3E-6976-5A67CBF4E3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9AC87-7D63-4F94-8E57-6B73E4D6196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38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C96154BA-E3E9-C681-0F16-855C650D20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3F6DD3E-F516-0885-8050-B43D82032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3952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50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69659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90BAE6-DC3E-4CE4-BA88-EF7C5446036B}" type="slidenum">
              <a:rPr lang="es-ES_tradnl" smtClean="0"/>
              <a:pPr>
                <a:defRPr/>
              </a:pPr>
              <a:t>54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22960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FF79-08C1-E4CA-518F-990191CE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EE1F0FFA-52F2-BED3-C24B-9B075C48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9AC87-7D63-4F94-8E57-6B73E4D61965}" type="slidenum">
              <a:rPr lang="es-ES_tradnl" smtClean="0">
                <a:latin typeface="Times New Roman" pitchFamily="18" charset="0"/>
                <a:ea typeface="ＭＳ Ｐゴシック" pitchFamily="34" charset="-128"/>
              </a:rPr>
              <a:pPr/>
              <a:t>66</a:t>
            </a:fld>
            <a:endParaRPr lang="es-ES_tradnl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DCE1F40-A302-10BE-C162-B0A56C0437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B60B603-CE8E-1EF3-DCE7-D197D9CDA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a-E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6828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755576" y="141277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5" name="Oval 8"/>
          <p:cNvSpPr/>
          <p:nvPr/>
        </p:nvSpPr>
        <p:spPr>
          <a:xfrm>
            <a:off x="971550" y="12684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5608" y="435936"/>
            <a:ext cx="7406640" cy="1472184"/>
          </a:xfrm>
        </p:spPr>
        <p:txBody>
          <a:bodyPr anchor="b"/>
          <a:lstStyle>
            <a:lvl1pPr algn="l" latinLnBrk="0">
              <a:defRPr lang="es-ES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7406640" cy="1752600"/>
          </a:xfrm>
        </p:spPr>
        <p:txBody>
          <a:bodyPr>
            <a:normAutofit/>
          </a:bodyPr>
          <a:lstStyle>
            <a:lvl1pPr marL="73152" indent="0" algn="l" latinLnBrk="0">
              <a:buNone/>
              <a:defRPr lang="es-ES" sz="24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235F0-53CE-465E-8D3A-9DC1B1486A06}" type="datetime1">
              <a:rPr lang="es-ES" smtClean="0"/>
              <a:pPr>
                <a:defRPr/>
              </a:pPr>
              <a:t>28/10/26</a:t>
            </a:fld>
            <a:endParaRPr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94CD1-4EBB-4CC9-A43D-A4D61A4E6E6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bg2">
                  <a:lumMod val="50000"/>
                </a:schemeClr>
              </a:buClr>
              <a:buFont typeface="Wingdings" pitchFamily="2" charset="2"/>
              <a:buChar char="ü"/>
              <a:defRPr/>
            </a:lvl2pPr>
          </a:lstStyle>
          <a:p>
            <a:pPr lvl="0"/>
            <a:r>
              <a:rPr lang="es-ES" noProof="0" dirty="0"/>
              <a:t>Haga clic para modificar el estilo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fld id="{1069CC27-7017-486F-93F9-D5B463D0B764}" type="datetime1">
              <a:rPr lang="es-ES" smtClean="0"/>
              <a:pPr>
                <a:defRPr/>
              </a:pPr>
              <a:t>28/10/26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A7699608-B574-4B82-8EEF-626F712CB985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 latinLnBrk="0">
              <a:lnSpc>
                <a:spcPts val="4500"/>
              </a:lnSpc>
              <a:buNone/>
              <a:defRPr lang="es-ES"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 latinLnBrk="0">
              <a:lnSpc>
                <a:spcPts val="2300"/>
              </a:lnSpc>
              <a:spcBef>
                <a:spcPts val="0"/>
              </a:spcBef>
              <a:buNone/>
              <a:defRPr lang="es-ES"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49D96-D3F7-464B-AE22-5BC30077CC73}" type="datetime1">
              <a:rPr lang="es-ES" smtClean="0"/>
              <a:pPr>
                <a:defRPr/>
              </a:pPr>
              <a:t>28/10/26</a:t>
            </a:fld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9BF12-8ABE-4E61-9E56-D7A65AFDF1B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ido 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e 8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6" name="Oval 9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7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8" name="Rectangle 11"/>
          <p:cNvSpPr/>
          <p:nvPr/>
        </p:nvSpPr>
        <p:spPr>
          <a:xfrm>
            <a:off x="539750" y="0"/>
            <a:ext cx="86248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136904" cy="936104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340768"/>
            <a:ext cx="3888432" cy="4824536"/>
          </a:xfrm>
        </p:spPr>
        <p:txBody>
          <a:bodyPr>
            <a:normAutofit/>
          </a:bodyPr>
          <a:lstStyle>
            <a:lvl1pPr latinLnBrk="0"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340768"/>
            <a:ext cx="4001648" cy="4824536"/>
          </a:xfrm>
        </p:spPr>
        <p:txBody>
          <a:bodyPr>
            <a:normAutofit/>
          </a:bodyPr>
          <a:lstStyle>
            <a:lvl1pPr algn="l" rtl="0" eaLnBrk="0" fontAlgn="base" latinLnBrk="0" hangingPunct="0">
              <a:spcAft>
                <a:spcPct val="0"/>
              </a:spcAft>
              <a:defRPr lang="es-ES" sz="2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s-ES" sz="20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s-E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s-E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s-E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7DEBA-46E8-4090-8DBD-6334ED08EC11}" type="datetime1">
              <a:rPr lang="es-ES" smtClean="0"/>
              <a:pPr>
                <a:defRPr/>
              </a:pPr>
              <a:t>28/10/26</a:t>
            </a:fld>
            <a:endParaRPr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B5AE4-A292-4B6C-BA7D-67E7BB52BE0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B0E74-F7AB-4C11-B164-731583444FAF}" type="datetime1">
              <a:rPr lang="es-ES" smtClean="0"/>
              <a:pPr>
                <a:defRPr/>
              </a:pPr>
              <a:t>28/10/26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35083-A155-4028-8A67-2E61E721E30B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24627-BD8E-4DC4-8228-A63DC6655C26}" type="datetime1">
              <a:rPr lang="es-ES" smtClean="0"/>
              <a:pPr>
                <a:defRPr/>
              </a:pPr>
              <a:t>28/10/26</a:t>
            </a:fld>
            <a:endParaRPr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512A6-B289-4C6F-A5FC-D4B27A6C4E6A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73E27-0EC0-4410-8E63-208E224DAD01}" type="datetime1">
              <a:rPr lang="es-ES" smtClean="0"/>
              <a:pPr>
                <a:defRPr/>
              </a:pPr>
              <a:t>28/10/26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F2BF9-80B0-46AE-B211-BBDCC93C2B4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C3E5-1D71-42B6-A49B-3D9C371461FA}" type="datetime1">
              <a:rPr lang="es-ES" smtClean="0"/>
              <a:pPr>
                <a:defRPr/>
              </a:pPr>
              <a:t>28/10/26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t>Curso 2011-2012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DEDAF-2978-4C4D-95C2-0057A248641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logoDISCA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6188" y="5516563"/>
            <a:ext cx="143668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 userDrawn="1"/>
        </p:nvSpPr>
        <p:spPr>
          <a:xfrm>
            <a:off x="755650" y="115888"/>
            <a:ext cx="7772400" cy="1676400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s-ES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  <a:endParaRPr lang="ca-E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 userDrawn="1"/>
        </p:nvSpPr>
        <p:spPr>
          <a:xfrm>
            <a:off x="2565400" y="1844675"/>
            <a:ext cx="4152900" cy="904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Grado de Ingeniería Informática</a:t>
            </a:r>
          </a:p>
          <a:p>
            <a:pPr>
              <a:defRPr/>
            </a:pPr>
            <a:r>
              <a:rPr lang="es-ES" sz="2400" dirty="0">
                <a:solidFill>
                  <a:schemeClr val="accent1">
                    <a:lumMod val="5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ETSINF</a:t>
            </a:r>
          </a:p>
        </p:txBody>
      </p:sp>
      <p:sp>
        <p:nvSpPr>
          <p:cNvPr id="7" name="Oval 7"/>
          <p:cNvSpPr/>
          <p:nvPr userDrawn="1"/>
        </p:nvSpPr>
        <p:spPr>
          <a:xfrm>
            <a:off x="204788" y="1844675"/>
            <a:ext cx="1271587" cy="12700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Pie 6"/>
          <p:cNvSpPr/>
          <p:nvPr userDrawn="1"/>
        </p:nvSpPr>
        <p:spPr>
          <a:xfrm>
            <a:off x="-1422400" y="-1295400"/>
            <a:ext cx="2844800" cy="25908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9" name="Oval 7"/>
          <p:cNvSpPr/>
          <p:nvPr userDrawn="1"/>
        </p:nvSpPr>
        <p:spPr>
          <a:xfrm>
            <a:off x="7440613" y="1376363"/>
            <a:ext cx="1452562" cy="1450975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" name="Donut 10"/>
          <p:cNvSpPr/>
          <p:nvPr userDrawn="1"/>
        </p:nvSpPr>
        <p:spPr>
          <a:xfrm rot="2315675">
            <a:off x="7097228" y="2075521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 userDrawn="1"/>
        </p:nvSpPr>
        <p:spPr>
          <a:xfrm rot="2315675">
            <a:off x="3025756" y="5560002"/>
            <a:ext cx="560076" cy="548587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11 Arco de bloque"/>
          <p:cNvSpPr/>
          <p:nvPr userDrawn="1"/>
        </p:nvSpPr>
        <p:spPr>
          <a:xfrm rot="5400000">
            <a:off x="-1404144" y="1988344"/>
            <a:ext cx="2808287" cy="2809876"/>
          </a:xfrm>
          <a:prstGeom prst="blockArc">
            <a:avLst>
              <a:gd name="adj1" fmla="val 10800000"/>
              <a:gd name="adj2" fmla="val 21582511"/>
              <a:gd name="adj3" fmla="val 0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3" name="12 Arco de bloque"/>
          <p:cNvSpPr/>
          <p:nvPr userDrawn="1"/>
        </p:nvSpPr>
        <p:spPr>
          <a:xfrm rot="5400000">
            <a:off x="6696075" y="4410075"/>
            <a:ext cx="4895850" cy="4895850"/>
          </a:xfrm>
          <a:prstGeom prst="blockArc">
            <a:avLst>
              <a:gd name="adj1" fmla="val 5434997"/>
              <a:gd name="adj2" fmla="val 10779070"/>
              <a:gd name="adj3" fmla="val 78"/>
            </a:avLst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5616" y="3356992"/>
            <a:ext cx="7412620" cy="1676400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s-ES"/>
              <a:t>Clic para editar estilo título patrón</a:t>
            </a:r>
            <a:endParaRPr lang="ca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7"/>
          <p:cNvSpPr/>
          <p:nvPr userDrawn="1"/>
        </p:nvSpPr>
        <p:spPr>
          <a:xfrm>
            <a:off x="250825" y="5013325"/>
            <a:ext cx="1703388" cy="1701800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539750" y="0"/>
            <a:ext cx="860425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s-ES" noProof="0" dirty="0"/>
              <a:t>Haga clic el estilo de título del patrón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s-ES" noProof="0" dirty="0"/>
              <a:t>Haga clic para modificar los estilos de título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  <a:p>
            <a:pPr lvl="5"/>
            <a:r>
              <a:rPr lang="es-ES" noProof="0" dirty="0"/>
              <a:t>Sexto nivel</a:t>
            </a:r>
          </a:p>
          <a:p>
            <a:pPr lvl="6"/>
            <a:r>
              <a:rPr lang="es-ES" noProof="0" dirty="0"/>
              <a:t>Séptimo nivel</a:t>
            </a:r>
          </a:p>
          <a:p>
            <a:pPr lvl="7"/>
            <a:r>
              <a:rPr lang="es-ES" noProof="0" dirty="0"/>
              <a:t>Octavo nivel</a:t>
            </a:r>
          </a:p>
          <a:p>
            <a:pPr lvl="8"/>
            <a:r>
              <a:rPr lang="es-ES" noProof="0" dirty="0"/>
              <a:t>Noveno nivel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635375" y="6529388"/>
            <a:ext cx="2133600" cy="328612"/>
          </a:xfrm>
          <a:prstGeom prst="rect">
            <a:avLst/>
          </a:prstGeom>
        </p:spPr>
        <p:txBody>
          <a:bodyPr anchor="b"/>
          <a:lstStyle>
            <a:lvl1pPr algn="r"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  <a:satMod val="200000"/>
                  </a:schemeClr>
                </a:solidFill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D3CC5109-EACF-4D29-A965-72F8EF4B326C}" type="datetime1">
              <a:rPr lang="es-ES" smtClean="0"/>
              <a:pPr>
                <a:defRPr/>
              </a:pPr>
              <a:t>28/10/26</a:t>
            </a:fld>
            <a:endParaRPr lang="es-E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95963" y="6529388"/>
            <a:ext cx="2895600" cy="328612"/>
          </a:xfrm>
          <a:prstGeom prst="rect">
            <a:avLst/>
          </a:prstGeom>
        </p:spPr>
        <p:txBody>
          <a:bodyPr anchor="b"/>
          <a:lstStyle>
            <a:lvl1pPr latinLnBrk="0">
              <a:buFont typeface="Wingdings" pitchFamily="48" charset="2"/>
              <a:buNone/>
              <a:defRPr lang="es-ES" sz="1100">
                <a:solidFill>
                  <a:schemeClr val="bg2">
                    <a:shade val="5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r>
              <a:rPr lang="es-ES"/>
              <a:t>Curso 2011-2012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lvl1pPr algn="ctr" latinLnBrk="0">
              <a:buFont typeface="Wingdings" pitchFamily="48" charset="2"/>
              <a:buNone/>
              <a:defRPr lang="es-ES" sz="10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9F24CC15-B2D5-4EA3-B498-48A14C7038C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539750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5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48" charset="2"/>
              <a:buNone/>
              <a:defRPr/>
            </a:pPr>
            <a:endParaRPr lang="es-ES"/>
          </a:p>
        </p:txBody>
      </p:sp>
      <p:sp>
        <p:nvSpPr>
          <p:cNvPr id="14" name="13 Rectángulo"/>
          <p:cNvSpPr/>
          <p:nvPr userDrawn="1"/>
        </p:nvSpPr>
        <p:spPr>
          <a:xfrm rot="16200000">
            <a:off x="-799306" y="5796756"/>
            <a:ext cx="1860550" cy="261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48" charset="2"/>
              <a:buNone/>
              <a:defRPr/>
            </a:pPr>
            <a:r>
              <a:rPr lang="es-ES" sz="11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Estructura de Computadores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s-ES" sz="32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572314"/>
          </a:solidFill>
          <a:latin typeface="Gill Sans MT" pitchFamily="34" charset="0"/>
        </a:defRPr>
      </a:lvl9pPr>
    </p:titleStyle>
    <p:bodyStyle>
      <a:lvl1pPr marL="365125" indent="-282575" algn="l" rtl="0" eaLnBrk="0" fontAlgn="base" hangingPunct="0">
        <a:lnSpc>
          <a:spcPts val="3000"/>
        </a:lnSpc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lnSpc>
          <a:spcPts val="3000"/>
        </a:lnSpc>
        <a:spcBef>
          <a:spcPts val="550"/>
        </a:spcBef>
        <a:spcAft>
          <a:spcPct val="0"/>
        </a:spcAft>
        <a:buClr>
          <a:srgbClr val="C58D01"/>
        </a:buClr>
        <a:buSzPct val="85000"/>
        <a:buFont typeface="Wingdings" pitchFamily="2" charset="2"/>
        <a:buChar char="ü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Wingdings 2" pitchFamily="18" charset="2"/>
        <a:buChar char=""/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es-ES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iscv.github.io/riscv-isa-manual/snapshot/unprivileged/" TargetMode="External"/><Relationship Id="rId2" Type="http://schemas.openxmlformats.org/officeDocument/2006/relationships/hyperlink" Target="https://riscv.org/specifications/ratified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00113" y="3068638"/>
            <a:ext cx="7772400" cy="1676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_tradnl" noProof="0" dirty="0">
                <a:solidFill>
                  <a:schemeClr val="tx2">
                    <a:satMod val="130000"/>
                  </a:schemeClr>
                </a:solidFill>
              </a:rPr>
              <a:t>Tema 1:  El procesador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A85F36-A8CB-45D3-98A3-A5C30F7AB61A}"/>
              </a:ext>
            </a:extLst>
          </p:cNvPr>
          <p:cNvSpPr txBox="1"/>
          <p:nvPr/>
        </p:nvSpPr>
        <p:spPr>
          <a:xfrm>
            <a:off x="4479634" y="5301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b="1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Contextualizar la asignatura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Conocer el contexto de la arquitectura RISC-V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Conocer los aspectos más generales de la arquitectura RISC-V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Aprender las instrucciones del procesador</a:t>
            </a: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Conocer el diseño de la ruta de datos de un procesador monociclo basada en multiplexores</a:t>
            </a: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Conocer el diseño de la unidad de control del procesador</a:t>
            </a:r>
          </a:p>
        </p:txBody>
      </p:sp>
      <p:sp>
        <p:nvSpPr>
          <p:cNvPr id="921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2CEDC467-8F65-4314-9FB4-CB8A823609FB}" type="slidenum">
              <a:rPr lang="es-ES_tradnl" noProof="0" smtClean="0"/>
              <a:pPr/>
              <a:t>2</a:t>
            </a:fld>
            <a:endParaRPr lang="es-ES_tradnl" noProof="0" dirty="0"/>
          </a:p>
        </p:txBody>
      </p:sp>
      <p:sp>
        <p:nvSpPr>
          <p:cNvPr id="7" name="Cerrar llave 6"/>
          <p:cNvSpPr/>
          <p:nvPr/>
        </p:nvSpPr>
        <p:spPr bwMode="auto">
          <a:xfrm>
            <a:off x="7998023" y="1295400"/>
            <a:ext cx="457200" cy="1752600"/>
          </a:xfrm>
          <a:prstGeom prst="rightBrace">
            <a:avLst/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 rot="16200000">
            <a:off x="7638690" y="1999890"/>
            <a:ext cx="19408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Introductorio (Tema 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9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12787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Contenido y bibliografía</a:t>
            </a:r>
          </a:p>
        </p:txBody>
      </p:sp>
      <p:sp>
        <p:nvSpPr>
          <p:cNvPr id="13315" name="Rectangle 10"/>
          <p:cNvSpPr>
            <a:spLocks noGrp="1" noChangeArrowheads="1"/>
          </p:cNvSpPr>
          <p:nvPr>
            <p:ph idx="1"/>
          </p:nvPr>
        </p:nvSpPr>
        <p:spPr>
          <a:xfrm>
            <a:off x="609601" y="687388"/>
            <a:ext cx="8534400" cy="5256212"/>
          </a:xfrm>
        </p:spPr>
        <p:txBody>
          <a:bodyPr/>
          <a:lstStyle/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1 – Arquitectura RISC-V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 y Definición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Características básicas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Ejemplo de ejecución</a:t>
            </a:r>
          </a:p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2 – La ruta de datos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 ruta de datos básica</a:t>
            </a:r>
          </a:p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3 – La unidad de control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 unidad de control</a:t>
            </a:r>
          </a:p>
          <a:p>
            <a:pPr lvl="2">
              <a:buNone/>
            </a:pPr>
            <a:endParaRPr lang="es-ES_tradnl" sz="1600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s-ES_tradnl" sz="16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: Patterson, D.A., Hennessy, J.L., “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Organizationand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RISC-V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Edition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: The Hardware-Software Interface,” 2ª edición, Ed. MK, 2020</a:t>
            </a:r>
          </a:p>
          <a:p>
            <a:pPr lvl="1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2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35E7AC4-CF51-4D8E-9049-04CC0E2A541C}" type="slidenum">
              <a:rPr lang="es-ES_tradnl" noProof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errar llave 5"/>
          <p:cNvSpPr/>
          <p:nvPr/>
        </p:nvSpPr>
        <p:spPr bwMode="auto">
          <a:xfrm>
            <a:off x="4788024" y="838200"/>
            <a:ext cx="241176" cy="1676400"/>
          </a:xfrm>
          <a:prstGeom prst="rightBrace">
            <a:avLst>
              <a:gd name="adj1" fmla="val 8333"/>
              <a:gd name="adj2" fmla="val 51001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425868" y="1447800"/>
            <a:ext cx="1228221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Introductorio </a:t>
            </a:r>
          </a:p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(Tema 0)</a:t>
            </a:r>
          </a:p>
        </p:txBody>
      </p:sp>
      <p:cxnSp>
        <p:nvCxnSpPr>
          <p:cNvPr id="9" name="Conector recto 8"/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ADD9-A1AB-B09D-1A97-03642C9C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9">
            <a:extLst>
              <a:ext uri="{FF2B5EF4-FFF2-40B4-BE49-F238E27FC236}">
                <a16:creationId xmlns:a16="http://schemas.microsoft.com/office/drawing/2014/main" id="{07167AAB-52B2-6D26-F124-E535BC01B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12787"/>
          </a:xfrm>
        </p:spPr>
        <p:txBody>
          <a:bodyPr/>
          <a:lstStyle/>
          <a:p>
            <a:r>
              <a:rPr lang="es-ES_tradnl" sz="2800" noProof="0">
                <a:latin typeface="Arial" panose="020B0604020202020204" pitchFamily="34" charset="0"/>
                <a:cs typeface="Arial" panose="020B0604020202020204" pitchFamily="34" charset="0"/>
              </a:rPr>
              <a:t>Arquitectura </a:t>
            </a:r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RISC-V: Introducción</a:t>
            </a:r>
          </a:p>
        </p:txBody>
      </p:sp>
      <p:sp>
        <p:nvSpPr>
          <p:cNvPr id="10242" name="Rectangle 4">
            <a:extLst>
              <a:ext uri="{FF2B5EF4-FFF2-40B4-BE49-F238E27FC236}">
                <a16:creationId xmlns:a16="http://schemas.microsoft.com/office/drawing/2014/main" id="{13BF09FE-0582-AD92-DC5C-3349568BAA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35E7AC4-CF51-4D8E-9049-04CC0E2A541C}" type="slidenum">
              <a:rPr lang="es-ES_tradnl" sz="900" noProof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s-ES_tradnl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contenido 15">
            <a:extLst>
              <a:ext uri="{FF2B5EF4-FFF2-40B4-BE49-F238E27FC236}">
                <a16:creationId xmlns:a16="http://schemas.microsoft.com/office/drawing/2014/main" id="{A0416C59-BAEB-811B-BA80-5A112E38E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3733800"/>
            <a:ext cx="4955232" cy="2971800"/>
          </a:xfrm>
        </p:spPr>
        <p:txBody>
          <a:bodyPr/>
          <a:lstStyle/>
          <a:p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Componentes básicos computador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Procesador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Entrada/Salida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Interconexión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F1B113-FDE5-1B75-3495-1A000317D485}"/>
              </a:ext>
            </a:extLst>
          </p:cNvPr>
          <p:cNvSpPr txBox="1">
            <a:spLocks/>
          </p:cNvSpPr>
          <p:nvPr/>
        </p:nvSpPr>
        <p:spPr>
          <a:xfrm>
            <a:off x="8686800" y="6529388"/>
            <a:ext cx="457200" cy="32861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algn="ctr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itchFamily="48" charset="2"/>
              <a:buNone/>
              <a:defRPr lang="es-ES" sz="10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Arial" charset="0"/>
                <a:ea typeface="ＭＳ Ｐゴシック" pitchFamily="48" charset="-128"/>
                <a:cs typeface="+mn-cs"/>
              </a:defRPr>
            </a:lvl1pPr>
            <a:lvl2pPr marL="4572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A7699608-B574-4B82-8EEF-626F712CB985}" type="slidenum">
              <a:rPr lang="es-ES_tradnl" sz="900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</a:t>
            </a:fld>
            <a:endParaRPr lang="es-ES_tradnl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6B5FCE2-F43D-F345-5D92-B9F5C5036F0F}"/>
              </a:ext>
            </a:extLst>
          </p:cNvPr>
          <p:cNvSpPr/>
          <p:nvPr/>
        </p:nvSpPr>
        <p:spPr bwMode="auto">
          <a:xfrm>
            <a:off x="4953000" y="1447800"/>
            <a:ext cx="1143000" cy="1066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Procesador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8072E3C-91EE-C606-E95E-CA624F907467}"/>
              </a:ext>
            </a:extLst>
          </p:cNvPr>
          <p:cNvSpPr/>
          <p:nvPr/>
        </p:nvSpPr>
        <p:spPr bwMode="auto">
          <a:xfrm>
            <a:off x="7543800" y="1447800"/>
            <a:ext cx="1143000" cy="1066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2A1E8F6B-E14F-2C75-DB7A-E5C48B4AB2EB}"/>
              </a:ext>
            </a:extLst>
          </p:cNvPr>
          <p:cNvSpPr/>
          <p:nvPr/>
        </p:nvSpPr>
        <p:spPr bwMode="auto">
          <a:xfrm>
            <a:off x="6248400" y="3581400"/>
            <a:ext cx="1143000" cy="1066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/ Salida</a:t>
            </a:r>
          </a:p>
        </p:txBody>
      </p:sp>
      <p:sp>
        <p:nvSpPr>
          <p:cNvPr id="12" name="Flecha izquierda y derecha 11">
            <a:extLst>
              <a:ext uri="{FF2B5EF4-FFF2-40B4-BE49-F238E27FC236}">
                <a16:creationId xmlns:a16="http://schemas.microsoft.com/office/drawing/2014/main" id="{5D94EC01-2CD1-A709-E09A-7AC8ABC0E220}"/>
              </a:ext>
            </a:extLst>
          </p:cNvPr>
          <p:cNvSpPr/>
          <p:nvPr/>
        </p:nvSpPr>
        <p:spPr bwMode="auto">
          <a:xfrm>
            <a:off x="4953000" y="2743200"/>
            <a:ext cx="3810000" cy="609600"/>
          </a:xfrm>
          <a:prstGeom prst="leftRight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 de interconexión</a:t>
            </a:r>
          </a:p>
        </p:txBody>
      </p:sp>
      <p:sp>
        <p:nvSpPr>
          <p:cNvPr id="13" name="Flecha arriba y abajo 12">
            <a:extLst>
              <a:ext uri="{FF2B5EF4-FFF2-40B4-BE49-F238E27FC236}">
                <a16:creationId xmlns:a16="http://schemas.microsoft.com/office/drawing/2014/main" id="{5EE65220-1625-4C21-EA86-910F22FC441C}"/>
              </a:ext>
            </a:extLst>
          </p:cNvPr>
          <p:cNvSpPr/>
          <p:nvPr/>
        </p:nvSpPr>
        <p:spPr bwMode="auto">
          <a:xfrm>
            <a:off x="5410200" y="2514600"/>
            <a:ext cx="304800" cy="381000"/>
          </a:xfrm>
          <a:prstGeom prst="upDown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lecha arriba y abajo 13">
            <a:extLst>
              <a:ext uri="{FF2B5EF4-FFF2-40B4-BE49-F238E27FC236}">
                <a16:creationId xmlns:a16="http://schemas.microsoft.com/office/drawing/2014/main" id="{50D6248F-7983-90B9-CEB3-02DB81DFD3D2}"/>
              </a:ext>
            </a:extLst>
          </p:cNvPr>
          <p:cNvSpPr/>
          <p:nvPr/>
        </p:nvSpPr>
        <p:spPr bwMode="auto">
          <a:xfrm>
            <a:off x="8001000" y="2514600"/>
            <a:ext cx="304800" cy="381000"/>
          </a:xfrm>
          <a:prstGeom prst="upDown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lecha arriba y abajo 14">
            <a:extLst>
              <a:ext uri="{FF2B5EF4-FFF2-40B4-BE49-F238E27FC236}">
                <a16:creationId xmlns:a16="http://schemas.microsoft.com/office/drawing/2014/main" id="{AEA23F66-C379-77AA-91C3-C0A27D3C06AF}"/>
              </a:ext>
            </a:extLst>
          </p:cNvPr>
          <p:cNvSpPr/>
          <p:nvPr/>
        </p:nvSpPr>
        <p:spPr bwMode="auto">
          <a:xfrm>
            <a:off x="6705600" y="3200400"/>
            <a:ext cx="304800" cy="381000"/>
          </a:xfrm>
          <a:prstGeom prst="upDownArrow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B2F66F5-A4BB-8CE3-6A4A-F662C922B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66800"/>
            <a:ext cx="2743200" cy="2743200"/>
          </a:xfrm>
          <a:prstGeom prst="rect">
            <a:avLst/>
          </a:prstGeom>
        </p:spPr>
      </p:pic>
      <p:sp>
        <p:nvSpPr>
          <p:cNvPr id="17" name="Flecha a la derecha con bandas 16">
            <a:extLst>
              <a:ext uri="{FF2B5EF4-FFF2-40B4-BE49-F238E27FC236}">
                <a16:creationId xmlns:a16="http://schemas.microsoft.com/office/drawing/2014/main" id="{CD48609E-5D08-BFC0-E159-2CC3F334B3E6}"/>
              </a:ext>
            </a:extLst>
          </p:cNvPr>
          <p:cNvSpPr/>
          <p:nvPr/>
        </p:nvSpPr>
        <p:spPr bwMode="auto">
          <a:xfrm>
            <a:off x="3733800" y="2286000"/>
            <a:ext cx="762000" cy="609600"/>
          </a:xfrm>
          <a:prstGeom prst="stripedRigh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286101B-EBDF-36BD-39F3-8DC07DCD8279}"/>
              </a:ext>
            </a:extLst>
          </p:cNvPr>
          <p:cNvSpPr txBox="1"/>
          <p:nvPr/>
        </p:nvSpPr>
        <p:spPr>
          <a:xfrm>
            <a:off x="1142142" y="6169223"/>
            <a:ext cx="7273145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6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 RISC-V seleccionada como base de aprendizaje en la asignatura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7D2CF03-DCEE-0368-D881-A7FAD4C01FCD}"/>
              </a:ext>
            </a:extLst>
          </p:cNvPr>
          <p:cNvSpPr txBox="1"/>
          <p:nvPr/>
        </p:nvSpPr>
        <p:spPr>
          <a:xfrm>
            <a:off x="5105400" y="4953000"/>
            <a:ext cx="3829159" cy="10402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Concepto de programa almacenado:</a:t>
            </a:r>
          </a:p>
          <a:p>
            <a:pPr lvl="1" algn="l">
              <a:buFontTx/>
              <a:buChar char="-"/>
            </a:pPr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 instrucciones se representan como números</a:t>
            </a:r>
          </a:p>
          <a:p>
            <a:pPr lvl="1" algn="l">
              <a:buFontTx/>
              <a:buChar char="-"/>
            </a:pPr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programas son almacenados en memoria para ser leídos o escritos también como números</a:t>
            </a:r>
          </a:p>
          <a:p>
            <a:pPr algn="l">
              <a:buFontTx/>
              <a:buChar char="-"/>
            </a:pPr>
            <a:endParaRPr lang="es-ES_tradnl" sz="11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72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Introducción: Tipos de computadores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B5AE4-A292-4B6C-BA7D-67E7BB52BE03}" type="slidenum">
              <a:rPr lang="es-ES_tradnl" noProof="0" smtClean="0"/>
              <a:pPr>
                <a:defRPr/>
              </a:pPr>
              <a:t>5</a:t>
            </a:fld>
            <a:endParaRPr lang="es-ES_tradnl" noProof="0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07778"/>
              </p:ext>
            </p:extLst>
          </p:nvPr>
        </p:nvGraphicFramePr>
        <p:xfrm>
          <a:off x="848188" y="1124744"/>
          <a:ext cx="7920880" cy="3947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215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0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Ancho </a:t>
                      </a:r>
                    </a:p>
                    <a:p>
                      <a:r>
                        <a:rPr lang="es-ES_tradnl" sz="10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(bits)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Supercomputadores</a:t>
                      </a:r>
                      <a:endParaRPr lang="es-ES_tradnl" sz="11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 alta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potencia de cálculo. </a:t>
                      </a:r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64, 128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Extremadamente 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Gestión en Corporaciones,  Gobiernos,</a:t>
                      </a:r>
                    </a:p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Aplicaciones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computación, masiva, </a:t>
                      </a: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Centros de investigación.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Estaciones de trabajo</a:t>
                      </a:r>
                      <a:endParaRPr lang="es-ES_tradnl" sz="11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Diseño, simulación,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control: </a:t>
                      </a: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Empresas, Universidades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Portátiles</a:t>
                      </a:r>
                    </a:p>
                    <a:p>
                      <a:endParaRPr lang="es-ES_tradnl" sz="11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Alta-Media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</a:t>
                      </a:r>
                    </a:p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Informática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 general</a:t>
                      </a:r>
                    </a:p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Computadores personales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Tabletas</a:t>
                      </a:r>
                      <a:endParaRPr lang="es-ES_tradnl" sz="11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Informática personal</a:t>
                      </a:r>
                    </a:p>
                    <a:p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Sistemas empotrados</a:t>
                      </a:r>
                      <a:endParaRPr lang="es-ES_tradnl" sz="11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Media-Alta.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16, 32, 64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Medio</a:t>
                      </a:r>
                    </a:p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Sistemas empotrados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</a:t>
                      </a:r>
                    </a:p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Comunicaciones (</a:t>
                      </a:r>
                      <a:r>
                        <a:rPr lang="es-ES_tradnl" sz="110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routers</a:t>
                      </a: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switches).  Electrodomésticos,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automoción, periféricos, sistemas industriales,…</a:t>
                      </a:r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215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Teléfonos</a:t>
                      </a:r>
                      <a:endParaRPr lang="es-ES_tradnl" sz="1100" b="1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Media-Baja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16, 32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Extremadamente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Teléfonos móviles (Smartphones)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69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Introducción: El mercado de los procesadores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z="900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6</a:t>
            </a:fld>
            <a:endParaRPr lang="es-ES_tradnl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http://www.icinsights.com/files/images/mr15sec11fig1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 noProof="0" dirty="0"/>
          </a:p>
        </p:txBody>
      </p:sp>
      <p:sp>
        <p:nvSpPr>
          <p:cNvPr id="6" name="AutoShape 4" descr="http://www.icinsights.com/files/images/mr15sec11fig12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8" name="AutoShape 6" descr="http://www.icinsights.com/files/images/mr15sec11fig1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2051720" y="5674405"/>
            <a:ext cx="540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Todo procesador se define de acuerdo con una </a:t>
            </a:r>
            <a:r>
              <a:rPr lang="es-ES_tradnl" sz="1400" b="1" noProof="0" dirty="0">
                <a:solidFill>
                  <a:srgbClr val="FF0000"/>
                </a:solidFill>
                <a:cs typeface="Arial" panose="020B0604020202020204" pitchFamily="34" charset="0"/>
              </a:rPr>
              <a:t>ARQUITECTURA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765175" y="1183595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cs typeface="Arial" panose="020B0604020202020204" pitchFamily="34" charset="0"/>
              </a:rPr>
              <a:t>2026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155AFE6-A823-2ADA-0ACD-E9D9711E1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058294"/>
            <a:ext cx="3454086" cy="30681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E05BD35-7C39-2F89-D84B-BAA08CC3D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628" y="1613488"/>
            <a:ext cx="2319206" cy="225609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5487632-AD78-376E-1B34-BAB2A3CEB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1613488"/>
            <a:ext cx="2311317" cy="225609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40DF147-101D-D192-056A-F55E2F6BE7B0}"/>
              </a:ext>
            </a:extLst>
          </p:cNvPr>
          <p:cNvSpPr txBox="1"/>
          <p:nvPr/>
        </p:nvSpPr>
        <p:spPr>
          <a:xfrm>
            <a:off x="2395589" y="1183595"/>
            <a:ext cx="9412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/>
              <a:t>Unidades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31AFF3C-1D46-0E0C-6E94-8270B8947647}"/>
              </a:ext>
            </a:extLst>
          </p:cNvPr>
          <p:cNvSpPr txBox="1"/>
          <p:nvPr/>
        </p:nvSpPr>
        <p:spPr>
          <a:xfrm>
            <a:off x="6160325" y="1183595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/>
              <a:t>Ingresos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5D2ADAA-DB64-A249-9707-5B568A597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4076270"/>
            <a:ext cx="3536267" cy="35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9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Introducción: Arquitectura</a:t>
            </a:r>
          </a:p>
        </p:txBody>
      </p:sp>
      <p:sp>
        <p:nvSpPr>
          <p:cNvPr id="42" name="Marcador de contenido 41"/>
          <p:cNvSpPr>
            <a:spLocks noGrp="1"/>
          </p:cNvSpPr>
          <p:nvPr>
            <p:ph idx="1"/>
          </p:nvPr>
        </p:nvSpPr>
        <p:spPr>
          <a:xfrm>
            <a:off x="684213" y="839788"/>
            <a:ext cx="8250237" cy="5256212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(ISA: </a:t>
            </a:r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Instruction Set Architecture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Hace referencia al repertorio de instrucciones, registros, modelo de excepciones, manejo de la memoria virtual, mapa de direcciones físicas y otras características comunes de un procesador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Todo aquello que el programador debe saber acerca de la máquina</a:t>
            </a:r>
          </a:p>
          <a:p>
            <a:r>
              <a:rPr lang="es-ES_tradnl" sz="2200" noProof="0" dirty="0">
                <a:latin typeface="Arial" panose="020B0604020202020204" pitchFamily="34" charset="0"/>
                <a:cs typeface="Arial" panose="020B0604020202020204" pitchFamily="34" charset="0"/>
              </a:rPr>
              <a:t>Ejemplos de arquitecturas:</a:t>
            </a:r>
          </a:p>
          <a:p>
            <a:pPr lvl="2"/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Las arquitecturas pueden evolucionar, dando lugar a versiones de 16, 32 o 64 bits, siempre compatibles entre sí</a:t>
            </a:r>
          </a:p>
          <a:p>
            <a:pPr lvl="1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7</a:t>
            </a:fld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435343"/>
              </p:ext>
            </p:extLst>
          </p:nvPr>
        </p:nvGraphicFramePr>
        <p:xfrm>
          <a:off x="1547664" y="3284984"/>
          <a:ext cx="66967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Arquitectura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x86, x86-64,  IA-32, INTEL®64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Intel, AMD,..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MIPS-32, MIPS-64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MIPS 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ARM </a:t>
                      </a:r>
                      <a:r>
                        <a:rPr lang="es-ES_tradnl" sz="14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Architecture</a:t>
                      </a:r>
                      <a:endParaRPr lang="es-ES_tradnl" sz="14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Advanced</a:t>
                      </a: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RISC Machines Holdings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RISC 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RISC-V International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411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Introducción: Implementación </a:t>
            </a:r>
          </a:p>
        </p:txBody>
      </p:sp>
      <p:sp>
        <p:nvSpPr>
          <p:cNvPr id="42" name="Marcador de contenido 41"/>
          <p:cNvSpPr>
            <a:spLocks noGrp="1"/>
          </p:cNvSpPr>
          <p:nvPr>
            <p:ph idx="1"/>
          </p:nvPr>
        </p:nvSpPr>
        <p:spPr>
          <a:xfrm>
            <a:off x="684213" y="839788"/>
            <a:ext cx="8250237" cy="4461420"/>
          </a:xfrm>
        </p:spPr>
        <p:txBody>
          <a:bodyPr/>
          <a:lstStyle/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Implementación: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Hace referencia a las características precisas de los circuitos que conforman el diseño de un procesador concreto que ejecuta una arquitectura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También se denominan </a:t>
            </a:r>
            <a:r>
              <a:rPr lang="es-ES_tradnl" sz="1600" b="1" noProof="0" dirty="0">
                <a:latin typeface="Arial" panose="020B0604020202020204" pitchFamily="34" charset="0"/>
                <a:cs typeface="Arial" panose="020B0604020202020204" pitchFamily="34" charset="0"/>
              </a:rPr>
              <a:t>Microarquitecturas</a:t>
            </a:r>
          </a:p>
          <a:p>
            <a:endParaRPr lang="es-ES_tradnl" noProof="0" dirty="0"/>
          </a:p>
          <a:p>
            <a:pPr lvl="1"/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8</a:t>
            </a:fld>
            <a:endParaRPr lang="es-ES_tradnl" noProof="0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402876"/>
              </p:ext>
            </p:extLst>
          </p:nvPr>
        </p:nvGraphicFramePr>
        <p:xfrm>
          <a:off x="971600" y="2132856"/>
          <a:ext cx="7920880" cy="398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372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Arquitectura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Microarquitecuras</a:t>
                      </a:r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b="1" kern="1200" noProof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Fabricantes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484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MIPS32 ;MIPS64, Warrior,  </a:t>
                      </a:r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Aptiv</a:t>
                      </a:r>
                      <a:endParaRPr lang="es-ES_tradnl" sz="11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R2000, R3000, R4000,…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P5600, P6600,</a:t>
                      </a:r>
                      <a:r>
                        <a:rPr lang="es-ES_tradnl" sz="11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_tradnl" sz="110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MicroAptiv</a:t>
                      </a: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ES_tradnl" sz="110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InterAptiv</a:t>
                      </a:r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ES_tradnl" sz="110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ProAptiv</a:t>
                      </a:r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05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MIPS</a:t>
                      </a:r>
                      <a:r>
                        <a:rPr lang="es-ES_tradnl" sz="105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Tech. </a:t>
                      </a:r>
                      <a:r>
                        <a:rPr lang="es-ES_tradnl" sz="1050" baseline="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Imagination</a:t>
                      </a:r>
                      <a:r>
                        <a:rPr lang="es-ES_tradnl" sz="105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Tech.</a:t>
                      </a:r>
                      <a:endParaRPr lang="es-ES_tradnl" sz="105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4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IA-32,</a:t>
                      </a:r>
                      <a:r>
                        <a:rPr lang="es-ES_tradnl" sz="14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Intel 64</a:t>
                      </a:r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P5, 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4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Pentium II, III, 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NetBurst</a:t>
                      </a:r>
                      <a:endParaRPr lang="es-ES_tradnl" sz="11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Pentium 4, Pentium D, Celeron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16">
                <a:tc>
                  <a:txBody>
                    <a:bodyPr/>
                    <a:lstStyle/>
                    <a:p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Pentium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Duo, Core Solo, Pentium M, Celeron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93">
                <a:tc>
                  <a:txBody>
                    <a:bodyPr/>
                    <a:lstStyle/>
                    <a:p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Intel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4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2 Duo, </a:t>
                      </a:r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Quad</a:t>
                      </a: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Extreme, Xeon 5xxx, 7xxx, Celeron dual-</a:t>
                      </a:r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</a:t>
                      </a:r>
                      <a:endParaRPr lang="es-ES_tradnl" sz="1100" kern="1200" noProof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016">
                <a:tc>
                  <a:txBody>
                    <a:bodyPr/>
                    <a:lstStyle/>
                    <a:p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016">
                <a:tc>
                  <a:txBody>
                    <a:bodyPr/>
                    <a:lstStyle/>
                    <a:p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i3, i5, i7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X86, x86-64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K5,K6,K8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Athlon 64, </a:t>
                      </a:r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Phenom</a:t>
                      </a: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Turion</a:t>
                      </a: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ES_tradnl" sz="1100" kern="1200" noProof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Semprom</a:t>
                      </a: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Opteron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ARMv8-A, ARMv9-A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Cortex-A53, Cortex-A57, Apple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Apple, Qualcomm, Samsung, Amazon, Huawei,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372">
                <a:tc>
                  <a:txBody>
                    <a:bodyPr/>
                    <a:lstStyle/>
                    <a:p>
                      <a:r>
                        <a:rPr lang="es-ES_tradnl" sz="14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RISC-V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Hardware 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s-ES_tradnl" sz="1100" kern="1200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Diversos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5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35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</a:t>
            </a:r>
          </a:p>
        </p:txBody>
      </p:sp>
      <p:sp>
        <p:nvSpPr>
          <p:cNvPr id="42" name="Marcador de contenido 41"/>
          <p:cNvSpPr>
            <a:spLocks noGrp="1"/>
          </p:cNvSpPr>
          <p:nvPr>
            <p:ph idx="1"/>
          </p:nvPr>
        </p:nvSpPr>
        <p:spPr>
          <a:xfrm>
            <a:off x="684213" y="839788"/>
            <a:ext cx="8250237" cy="5256212"/>
          </a:xfrm>
        </p:spPr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Estándar ISA abierto de arquitectura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Tipo RISC: </a:t>
            </a:r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Reduced Instruction Set Computer</a:t>
            </a: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Permite construir computadores y desarrollar software compatible para distintos entornos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Origen en ámbito universitario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2010, en la Universidad de California - Berkeley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Krste </a:t>
            </a:r>
            <a:r>
              <a:rPr lang="es-ES_tradnl" sz="1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Asanović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, David Patterson y estudiantes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RISC-I, RISC-II, RISC-III, RISC-IV, RISC-V (2017)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Diferencia con otras arquitecturas: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X86-32, AMD64, ARM, MIPS, SPARC</a:t>
            </a:r>
          </a:p>
          <a:p>
            <a:pPr lvl="1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Estándar abierto, no protegido por patentes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9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95159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Características básicas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ISA base (RV32/64I)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I: instrucciones para enteros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ALU, saltos, acceso a memoria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Extensiones estándar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M: multiplicación y división enteras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A: instrucciones atómicas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F: números reales en simple precisión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D: números reales en doble precisión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C: instrucciones comprimidas (16 bits)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G = IMAFD = base + 4 extensiones estándar</a:t>
            </a:r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10</a:t>
            </a:fld>
            <a:endParaRPr lang="es-ES_tradnl" noProof="0" dirty="0"/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2C32EBEB-DC8E-07F5-6058-3E81A3206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49" y="1125538"/>
            <a:ext cx="3563167" cy="4031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683568" y="-21704"/>
            <a:ext cx="8136904" cy="936104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Características básicas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11</a:t>
            </a:fld>
            <a:endParaRPr lang="es-ES_tradnl" noProof="0" dirty="0"/>
          </a:p>
        </p:txBody>
      </p:sp>
      <p:grpSp>
        <p:nvGrpSpPr>
          <p:cNvPr id="45" name="Agrupar 44"/>
          <p:cNvGrpSpPr/>
          <p:nvPr/>
        </p:nvGrpSpPr>
        <p:grpSpPr>
          <a:xfrm>
            <a:off x="4485456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18" name="Rectángulo 17"/>
          <p:cNvSpPr/>
          <p:nvPr/>
        </p:nvSpPr>
        <p:spPr bwMode="auto">
          <a:xfrm>
            <a:off x="2847908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9" name="Rectángulo 18"/>
          <p:cNvSpPr/>
          <p:nvPr/>
        </p:nvSpPr>
        <p:spPr bwMode="auto">
          <a:xfrm>
            <a:off x="2847908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20" name="Rectángulo 19"/>
          <p:cNvSpPr/>
          <p:nvPr/>
        </p:nvSpPr>
        <p:spPr bwMode="auto">
          <a:xfrm>
            <a:off x="2847908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2813015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/>
          <p:cNvSpPr/>
          <p:nvPr/>
        </p:nvSpPr>
        <p:spPr bwMode="auto">
          <a:xfrm>
            <a:off x="3497897" y="288992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/>
          <p:cNvSpPr txBox="1"/>
          <p:nvPr/>
        </p:nvSpPr>
        <p:spPr>
          <a:xfrm rot="16200000">
            <a:off x="4143848" y="2899182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3" name="Rectángulo redondeado 42"/>
          <p:cNvSpPr/>
          <p:nvPr/>
        </p:nvSpPr>
        <p:spPr bwMode="auto">
          <a:xfrm>
            <a:off x="2466908" y="1213520"/>
            <a:ext cx="2357628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4" name="CuadroTexto 43"/>
          <p:cNvSpPr txBox="1"/>
          <p:nvPr/>
        </p:nvSpPr>
        <p:spPr>
          <a:xfrm>
            <a:off x="2469192" y="908720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/>
          <p:cNvSpPr/>
          <p:nvPr/>
        </p:nvSpPr>
        <p:spPr bwMode="auto">
          <a:xfrm>
            <a:off x="3782524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58" name="Rectángulo 57"/>
          <p:cNvSpPr/>
          <p:nvPr/>
        </p:nvSpPr>
        <p:spPr bwMode="auto">
          <a:xfrm>
            <a:off x="3782524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59" name="Rectángulo 58"/>
          <p:cNvSpPr/>
          <p:nvPr/>
        </p:nvSpPr>
        <p:spPr bwMode="auto">
          <a:xfrm>
            <a:off x="3782524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3747631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7" name="Flecha curva 76"/>
          <p:cNvSpPr/>
          <p:nvPr/>
        </p:nvSpPr>
        <p:spPr bwMode="auto">
          <a:xfrm rot="5400000" flipH="1">
            <a:off x="7419156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6619056" y="759023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52" name="Rectángulo redondeado 51"/>
          <p:cNvSpPr/>
          <p:nvPr/>
        </p:nvSpPr>
        <p:spPr bwMode="auto">
          <a:xfrm>
            <a:off x="6390456" y="1066800"/>
            <a:ext cx="2286000" cy="2590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  <a:endParaRPr lang="es-ES_tradnl" sz="1050" noProof="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609036" y="5397470"/>
            <a:ext cx="3110516" cy="11233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registro PC (</a:t>
            </a:r>
            <a:r>
              <a:rPr lang="es-ES_tradnl" sz="11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Counter) no pertenece a la arquitectura pero se utilizan en la CPU. PC apunta a la instrucción a buscar en memoria para su ejecución. El PC no es visible al programador, pero es modificado por ciertas instrucciones de forma indirect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a.</a:t>
            </a:r>
          </a:p>
        </p:txBody>
      </p:sp>
      <p:sp>
        <p:nvSpPr>
          <p:cNvPr id="2" name="Flecha curva 1">
            <a:extLst>
              <a:ext uri="{FF2B5EF4-FFF2-40B4-BE49-F238E27FC236}">
                <a16:creationId xmlns:a16="http://schemas.microsoft.com/office/drawing/2014/main" id="{5EE2D963-4018-49BB-AA73-B74BB4C0FB23}"/>
              </a:ext>
            </a:extLst>
          </p:cNvPr>
          <p:cNvSpPr/>
          <p:nvPr/>
        </p:nvSpPr>
        <p:spPr bwMode="auto">
          <a:xfrm rot="5400000" flipH="1" flipV="1">
            <a:off x="3476600" y="3582888"/>
            <a:ext cx="762000" cy="946448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219511-CC8A-B44A-C864-0F1478A8EA07}"/>
              </a:ext>
            </a:extLst>
          </p:cNvPr>
          <p:cNvSpPr/>
          <p:nvPr/>
        </p:nvSpPr>
        <p:spPr bwMode="auto">
          <a:xfrm>
            <a:off x="2654622" y="288434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769355-8D7E-2E2D-3E04-3379FD68738E}"/>
              </a:ext>
            </a:extLst>
          </p:cNvPr>
          <p:cNvSpPr/>
          <p:nvPr/>
        </p:nvSpPr>
        <p:spPr bwMode="auto">
          <a:xfrm>
            <a:off x="2650905" y="3159407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186D-F1EA-E59F-8DD9-11FA0B23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CA91576A-A279-5934-465F-E320BCCD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-21704"/>
            <a:ext cx="8136904" cy="936104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 en la asignatura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4B841D-DE28-6D2A-77CC-DC481B31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12</a:t>
            </a:fld>
            <a:endParaRPr lang="es-ES_tradnl" noProof="0" dirty="0"/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EDA7DA09-EF00-590F-690D-568EA66294E1}"/>
              </a:ext>
            </a:extLst>
          </p:cNvPr>
          <p:cNvGrpSpPr/>
          <p:nvPr/>
        </p:nvGrpSpPr>
        <p:grpSpPr>
          <a:xfrm>
            <a:off x="4485456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356E97D1-396E-C859-6F8A-DE3CFDA052E0}"/>
                </a:ext>
              </a:extLst>
            </p:cNvPr>
            <p:cNvSpPr/>
            <p:nvPr/>
          </p:nvSpPr>
          <p:spPr bwMode="auto">
            <a:xfrm>
              <a:off x="47244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FC3D38FD-62CE-08DD-4BC9-4CB0DE9E9A14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ED581780-A3B6-97D7-D4AD-B3D03A6494C0}"/>
                </a:ext>
              </a:extLst>
            </p:cNvPr>
            <p:cNvSpPr/>
            <p:nvPr/>
          </p:nvSpPr>
          <p:spPr bwMode="auto">
            <a:xfrm>
              <a:off x="6019800" y="37338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1CF4D282-4685-472A-EB10-50C3FFFB8709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9739886B-2D8A-4A63-AB30-DF165A897509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CE46B2FD-02E7-D473-9BAF-AC3BC3022B0A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CD455019-9BCF-A76B-836D-01AEF8041DCD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71D2DD1-E22D-F0D0-2C15-DE9AD74E71F0}"/>
              </a:ext>
            </a:extLst>
          </p:cNvPr>
          <p:cNvSpPr/>
          <p:nvPr/>
        </p:nvSpPr>
        <p:spPr bwMode="auto">
          <a:xfrm>
            <a:off x="2847908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BCC89F8-F36F-2484-AA4C-3B4139AACAB7}"/>
              </a:ext>
            </a:extLst>
          </p:cNvPr>
          <p:cNvSpPr/>
          <p:nvPr/>
        </p:nvSpPr>
        <p:spPr bwMode="auto">
          <a:xfrm>
            <a:off x="2847908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DD0AE5D-5934-27D1-BF9B-1091D163ADE4}"/>
              </a:ext>
            </a:extLst>
          </p:cNvPr>
          <p:cNvSpPr/>
          <p:nvPr/>
        </p:nvSpPr>
        <p:spPr bwMode="auto">
          <a:xfrm>
            <a:off x="2847908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4219A98-9B54-FB96-8D57-283F47C2B053}"/>
              </a:ext>
            </a:extLst>
          </p:cNvPr>
          <p:cNvSpPr txBox="1"/>
          <p:nvPr/>
        </p:nvSpPr>
        <p:spPr>
          <a:xfrm>
            <a:off x="2813015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22" name="Forma libre 21">
            <a:extLst>
              <a:ext uri="{FF2B5EF4-FFF2-40B4-BE49-F238E27FC236}">
                <a16:creationId xmlns:a16="http://schemas.microsoft.com/office/drawing/2014/main" id="{A0E17F26-403F-21D1-D1AB-4E23D9AAB6DE}"/>
              </a:ext>
            </a:extLst>
          </p:cNvPr>
          <p:cNvSpPr/>
          <p:nvPr/>
        </p:nvSpPr>
        <p:spPr bwMode="auto">
          <a:xfrm>
            <a:off x="3252572" y="2889920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6104C80-98E2-44F3-03BD-49AC89D9EE61}"/>
              </a:ext>
            </a:extLst>
          </p:cNvPr>
          <p:cNvSpPr txBox="1"/>
          <p:nvPr/>
        </p:nvSpPr>
        <p:spPr>
          <a:xfrm rot="16200000">
            <a:off x="3898523" y="2899182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43" name="Rectángulo redondeado 42">
            <a:extLst>
              <a:ext uri="{FF2B5EF4-FFF2-40B4-BE49-F238E27FC236}">
                <a16:creationId xmlns:a16="http://schemas.microsoft.com/office/drawing/2014/main" id="{6A539A56-5AAF-CD24-3383-F239AEEB35A3}"/>
              </a:ext>
            </a:extLst>
          </p:cNvPr>
          <p:cNvSpPr/>
          <p:nvPr/>
        </p:nvSpPr>
        <p:spPr bwMode="auto">
          <a:xfrm>
            <a:off x="2466908" y="1213520"/>
            <a:ext cx="2357628" cy="22860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C6C68BE-AA43-63BA-FF8D-5A2DE759A951}"/>
              </a:ext>
            </a:extLst>
          </p:cNvPr>
          <p:cNvSpPr txBox="1"/>
          <p:nvPr/>
        </p:nvSpPr>
        <p:spPr>
          <a:xfrm>
            <a:off x="2469192" y="908720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5EDAACF-AE7C-546E-6CE4-27DBA5D6295A}"/>
              </a:ext>
            </a:extLst>
          </p:cNvPr>
          <p:cNvSpPr/>
          <p:nvPr/>
        </p:nvSpPr>
        <p:spPr bwMode="auto">
          <a:xfrm>
            <a:off x="3782524" y="15945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72EB6243-325C-9781-B81A-3CE707FA82EC}"/>
              </a:ext>
            </a:extLst>
          </p:cNvPr>
          <p:cNvSpPr/>
          <p:nvPr/>
        </p:nvSpPr>
        <p:spPr bwMode="auto">
          <a:xfrm>
            <a:off x="3782524" y="2432720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84A72AE5-1ADC-101B-C3D1-EB63E4EE13B1}"/>
              </a:ext>
            </a:extLst>
          </p:cNvPr>
          <p:cNvSpPr/>
          <p:nvPr/>
        </p:nvSpPr>
        <p:spPr bwMode="auto">
          <a:xfrm>
            <a:off x="3782524" y="1823120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AC111A2-588D-BE61-392B-89B839A0F1E2}"/>
              </a:ext>
            </a:extLst>
          </p:cNvPr>
          <p:cNvSpPr txBox="1"/>
          <p:nvPr/>
        </p:nvSpPr>
        <p:spPr>
          <a:xfrm>
            <a:off x="3747631" y="1286743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77" name="Flecha curva 76">
            <a:extLst>
              <a:ext uri="{FF2B5EF4-FFF2-40B4-BE49-F238E27FC236}">
                <a16:creationId xmlns:a16="http://schemas.microsoft.com/office/drawing/2014/main" id="{FA2CE851-9667-6831-95C9-26C745FD1C90}"/>
              </a:ext>
            </a:extLst>
          </p:cNvPr>
          <p:cNvSpPr/>
          <p:nvPr/>
        </p:nvSpPr>
        <p:spPr bwMode="auto">
          <a:xfrm rot="5400000" flipH="1">
            <a:off x="7419156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76D6FB6-68D9-B888-EBA0-B74F9655334A}"/>
              </a:ext>
            </a:extLst>
          </p:cNvPr>
          <p:cNvSpPr txBox="1"/>
          <p:nvPr/>
        </p:nvSpPr>
        <p:spPr>
          <a:xfrm>
            <a:off x="6619056" y="759023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9D29138E-AC66-CB4B-01D9-344FB10D6B9C}"/>
              </a:ext>
            </a:extLst>
          </p:cNvPr>
          <p:cNvSpPr/>
          <p:nvPr/>
        </p:nvSpPr>
        <p:spPr bwMode="auto">
          <a:xfrm>
            <a:off x="6390456" y="1066800"/>
            <a:ext cx="2286000" cy="2590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  <a:endParaRPr lang="es-ES_tradnl" sz="1050" noProof="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2" name="Flecha curva 1">
            <a:extLst>
              <a:ext uri="{FF2B5EF4-FFF2-40B4-BE49-F238E27FC236}">
                <a16:creationId xmlns:a16="http://schemas.microsoft.com/office/drawing/2014/main" id="{6008D0B4-4FB9-BB1E-B9BE-C3B7FCF051D3}"/>
              </a:ext>
            </a:extLst>
          </p:cNvPr>
          <p:cNvSpPr/>
          <p:nvPr/>
        </p:nvSpPr>
        <p:spPr bwMode="auto">
          <a:xfrm rot="5400000" flipH="1" flipV="1">
            <a:off x="3476600" y="3582888"/>
            <a:ext cx="762000" cy="946448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33C9DF-5A66-1640-9169-411095D79DDA}"/>
              </a:ext>
            </a:extLst>
          </p:cNvPr>
          <p:cNvSpPr txBox="1"/>
          <p:nvPr/>
        </p:nvSpPr>
        <p:spPr>
          <a:xfrm>
            <a:off x="4427984" y="3807023"/>
            <a:ext cx="977940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Temas 1&amp;2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F87E0F-DE14-B1FD-1CE9-4D44A0F3E925}"/>
              </a:ext>
            </a:extLst>
          </p:cNvPr>
          <p:cNvSpPr txBox="1"/>
          <p:nvPr/>
        </p:nvSpPr>
        <p:spPr>
          <a:xfrm>
            <a:off x="2701477" y="2880711"/>
            <a:ext cx="706882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Tema 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5B3E57-FD81-B5F3-631A-FB2D7C5F560B}"/>
              </a:ext>
            </a:extLst>
          </p:cNvPr>
          <p:cNvSpPr txBox="1"/>
          <p:nvPr/>
        </p:nvSpPr>
        <p:spPr>
          <a:xfrm>
            <a:off x="3857600" y="2869247"/>
            <a:ext cx="706882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Tema 4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03ADBA-6C73-95EE-97B4-FE2E938899F2}"/>
              </a:ext>
            </a:extLst>
          </p:cNvPr>
          <p:cNvSpPr txBox="1"/>
          <p:nvPr/>
        </p:nvSpPr>
        <p:spPr>
          <a:xfrm>
            <a:off x="6300192" y="3733800"/>
            <a:ext cx="977940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Temas 5&amp;6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C9CB22D-E769-7774-DA08-A65A0C745128}"/>
              </a:ext>
            </a:extLst>
          </p:cNvPr>
          <p:cNvSpPr txBox="1"/>
          <p:nvPr/>
        </p:nvSpPr>
        <p:spPr>
          <a:xfrm>
            <a:off x="6084168" y="6289575"/>
            <a:ext cx="923971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Temas 7-9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F8DAE23-D1F2-432D-D7DC-338438696DBD}"/>
              </a:ext>
            </a:extLst>
          </p:cNvPr>
          <p:cNvSpPr txBox="1"/>
          <p:nvPr/>
        </p:nvSpPr>
        <p:spPr>
          <a:xfrm>
            <a:off x="4571658" y="5334000"/>
            <a:ext cx="797334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Tema 10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CDB6E46-C4C7-2584-34DD-550F8D54A5E9}"/>
              </a:ext>
            </a:extLst>
          </p:cNvPr>
          <p:cNvSpPr txBox="1"/>
          <p:nvPr/>
        </p:nvSpPr>
        <p:spPr>
          <a:xfrm>
            <a:off x="609036" y="5373216"/>
            <a:ext cx="3156355" cy="8679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arquitectura RISC-V será utilizada como ejemplo en toda la asignatura, </a:t>
            </a:r>
          </a:p>
          <a:p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utilizando siempre ejemplos de código en ensamblador del RISC-V</a:t>
            </a:r>
          </a:p>
        </p:txBody>
      </p:sp>
    </p:spTree>
    <p:extLst>
      <p:ext uri="{BB962C8B-B14F-4D97-AF65-F5344CB8AC3E}">
        <p14:creationId xmlns:p14="http://schemas.microsoft.com/office/powerpoint/2010/main" val="283365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Modelo de programación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838200"/>
            <a:ext cx="7543800" cy="1743939"/>
          </a:xfr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CPU. Extensión RV32I</a:t>
            </a:r>
          </a:p>
          <a:p>
            <a:pPr lvl="1">
              <a:spcAft>
                <a:spcPts val="0"/>
              </a:spcAft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32 registros de 32 bits: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x0,x1,…,x31</a:t>
            </a: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0"/>
              </a:spcAft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32 registros de coma flotante, de 32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64 bits (depende de la extensión utilizada: F o D):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f0,f1,…,f31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Registros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14</a:t>
            </a:fld>
            <a:endParaRPr lang="es-ES_tradnl" noProof="0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008594"/>
              </p:ext>
            </p:extLst>
          </p:nvPr>
        </p:nvGraphicFramePr>
        <p:xfrm>
          <a:off x="1259632" y="1130939"/>
          <a:ext cx="6118448" cy="53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/>
                        <a:t>Registro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/>
                        <a:t>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</a:t>
                      </a:r>
                      <a:endParaRPr lang="es-ES_trad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Constante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</a:t>
                      </a:r>
                      <a:endParaRPr lang="es-ES_trad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</a:t>
                      </a:r>
                      <a:r>
                        <a:rPr lang="es-ES_tradnl" sz="14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retorno</a:t>
                      </a:r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</a:t>
                      </a:r>
                      <a:endParaRPr lang="es-ES_trad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Puntero de pila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gp</a:t>
                      </a:r>
                      <a:endParaRPr lang="es-ES_trad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Puntero global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tp</a:t>
                      </a:r>
                      <a:endParaRPr lang="es-ES_trad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Puntero de </a:t>
                      </a:r>
                      <a:r>
                        <a:rPr lang="es-ES_tradnl" sz="1400" noProof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</a:t>
                      </a:r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t0-t2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x5-x7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</a:t>
                      </a:r>
                      <a:r>
                        <a:rPr lang="es-ES_tradnl" sz="14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temporales</a:t>
                      </a:r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s0/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fp</a:t>
                      </a:r>
                      <a:endParaRPr lang="es-ES_tradnl" sz="140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salvado/puntero de marco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salvado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a0-a1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x10-x11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Argumentos de funciones/valores retornados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a2-a7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x12-x17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Argumentos de funciones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s2-s11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x18-x27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 salvados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t3-t6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x28-x31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</a:t>
                      </a:r>
                      <a:r>
                        <a:rPr lang="es-ES_tradnl" sz="1400" baseline="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temporales</a:t>
                      </a:r>
                      <a:endParaRPr lang="es-ES_tradnl" sz="14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Tema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f0-f31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Registros de coma flotante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z="900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15</a:t>
            </a:fld>
            <a:endParaRPr lang="es-ES_tradnl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928822" y="1680485"/>
            <a:ext cx="2005211" cy="18619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de usuario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928822" y="3551933"/>
            <a:ext cx="2005211" cy="19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de sistema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835419" y="1613651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0" dirty="0">
                <a:cs typeface="Arial" panose="020B0604020202020204" pitchFamily="34" charset="0"/>
              </a:rPr>
              <a:t>0x00000000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844584" y="3466001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0" dirty="0">
                <a:cs typeface="Arial" panose="020B0604020202020204" pitchFamily="34" charset="0"/>
              </a:rPr>
              <a:t>0x80000000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760020" y="5232021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0" dirty="0">
                <a:cs typeface="Arial" panose="020B0604020202020204" pitchFamily="34" charset="0"/>
              </a:rPr>
              <a:t>0xFFFFFFFF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867400" y="1417638"/>
            <a:ext cx="2005211" cy="9598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5870480" y="2739661"/>
            <a:ext cx="2005211" cy="9598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5870480" y="4031866"/>
            <a:ext cx="2005211" cy="9598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Pila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8026136" y="2663277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0" dirty="0">
                <a:cs typeface="Arial" panose="020B0604020202020204" pitchFamily="34" charset="0"/>
              </a:rPr>
              <a:t>0x10000000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8012455" y="1339486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0" dirty="0">
                <a:cs typeface="Arial" panose="020B0604020202020204" pitchFamily="34" charset="0"/>
              </a:rPr>
              <a:t>0x00400000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8047782" y="4717775"/>
            <a:ext cx="1026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noProof="0" dirty="0">
                <a:cs typeface="Arial" panose="020B0604020202020204" pitchFamily="34" charset="0"/>
              </a:rPr>
              <a:t>0x80000000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 flipV="1">
            <a:off x="4112846" y="1417638"/>
            <a:ext cx="1690077" cy="260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4112846" y="3542385"/>
            <a:ext cx="1690077" cy="14493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echa arriba 18"/>
          <p:cNvSpPr/>
          <p:nvPr/>
        </p:nvSpPr>
        <p:spPr>
          <a:xfrm>
            <a:off x="8316851" y="4287145"/>
            <a:ext cx="496528" cy="43063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lecha arriba 19"/>
          <p:cNvSpPr/>
          <p:nvPr/>
        </p:nvSpPr>
        <p:spPr>
          <a:xfrm flipV="1">
            <a:off x="8316851" y="3035371"/>
            <a:ext cx="496528" cy="43063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C00348-6477-4FE4-8AB5-96DEE1C6105F}"/>
              </a:ext>
            </a:extLst>
          </p:cNvPr>
          <p:cNvSpPr txBox="1"/>
          <p:nvPr/>
        </p:nvSpPr>
        <p:spPr>
          <a:xfrm flipH="1">
            <a:off x="2574962" y="6067723"/>
            <a:ext cx="4468787" cy="6340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s-ES_tradnl" sz="1600" dirty="0"/>
              <a:t>No hay una separación fija entre los dos espacios. </a:t>
            </a:r>
          </a:p>
          <a:p>
            <a:r>
              <a:rPr lang="es-ES_tradnl" sz="1600" dirty="0"/>
              <a:t>Se implementa usando privilegios y memoria virtual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6E5A49-94D4-E69B-D20D-A66EAF6710BC}"/>
              </a:ext>
            </a:extLst>
          </p:cNvPr>
          <p:cNvSpPr txBox="1"/>
          <p:nvPr/>
        </p:nvSpPr>
        <p:spPr>
          <a:xfrm flipH="1">
            <a:off x="1088816" y="879103"/>
            <a:ext cx="7433253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s-ES_tradnl" sz="1600" dirty="0"/>
              <a:t>Para una CPU con direcciones de 32 bits </a:t>
            </a:r>
            <a:r>
              <a:rPr lang="es-ES_tradnl" sz="1600" dirty="0">
                <a:sym typeface="Wingdings" panose="05000000000000000000" pitchFamily="2" charset="2"/>
              </a:rPr>
              <a:t> →</a:t>
            </a:r>
            <a:r>
              <a:rPr lang="es-ES_tradnl" sz="1600" dirty="0"/>
              <a:t>  Espacio de direccionamiento 2</a:t>
            </a:r>
            <a:r>
              <a:rPr lang="es-ES_tradnl" sz="1600" baseline="30000" dirty="0"/>
              <a:t>32</a:t>
            </a:r>
            <a:r>
              <a:rPr lang="es-ES_tradnl" sz="1600" dirty="0"/>
              <a:t> = 4 GB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D1F3B2C7-E595-58CF-4B54-697E591D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Memoria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Memoria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Direccionamiento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Direccionamiento a nivel de byte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Modos 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big-endian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little-endian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 soportados (aunque 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little-endian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 es el estándar)</a:t>
            </a:r>
          </a:p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Alineamiento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Byte en cualquier dirección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Media palabra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 en dirección par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Palabra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 en dirección múltiplo de 4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Doble palabra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dword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 en dirección múltiplo de 8</a:t>
            </a:r>
          </a:p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Directiva</a:t>
            </a:r>
          </a:p>
          <a:p>
            <a:pPr lvl="1"/>
            <a:r>
              <a:rPr lang="es-ES_tradnl" sz="18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_tradnl" sz="18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align</a:t>
            </a:r>
            <a:r>
              <a:rPr lang="es-ES_tradnl" sz="18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1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Alinea a partir de la siguiente dirección múltiplo de 2</a:t>
            </a:r>
            <a:r>
              <a:rPr lang="es-ES_tradnl" sz="2000" baseline="30000" noProof="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16</a:t>
            </a:fld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Memoria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914400"/>
            <a:ext cx="8250237" cy="546735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Directivas de ensamblador</a:t>
            </a:r>
          </a:p>
          <a:p>
            <a:pPr lvl="1">
              <a:spcAft>
                <a:spcPts val="0"/>
              </a:spcAft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Directivas de segmentos de memoria</a:t>
            </a:r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Aft>
                <a:spcPts val="0"/>
              </a:spcAft>
            </a:pPr>
            <a:r>
              <a:rPr lang="es-ES_tradnl" sz="2000" b="1" noProof="0" dirty="0">
                <a:solidFill>
                  <a:srgbClr val="0070C0"/>
                </a:solidFill>
                <a:latin typeface="Courier New"/>
                <a:cs typeface="Courier New"/>
              </a:rPr>
              <a:t>.data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2000" b="1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endParaRPr lang="es-ES_tradnl" sz="2000" b="1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lvl="2">
              <a:lnSpc>
                <a:spcPts val="3000"/>
              </a:lnSpc>
              <a:spcAft>
                <a:spcPts val="0"/>
              </a:spcAft>
            </a:pP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El SO decide dónde se colocan los segmentos en memoria</a:t>
            </a:r>
          </a:p>
          <a:p>
            <a:pPr lvl="2">
              <a:lnSpc>
                <a:spcPts val="3000"/>
              </a:lnSpc>
              <a:spcAft>
                <a:spcPts val="0"/>
              </a:spcAft>
            </a:pP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El ensamblador detecta el fin del programa por el fin del fichero (EOF)</a:t>
            </a:r>
          </a:p>
          <a:p>
            <a:pPr lvl="1">
              <a:spcAft>
                <a:spcPts val="0"/>
              </a:spcAft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Directivas de reserva de memoria de datos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2000" b="1" dirty="0" err="1">
                <a:solidFill>
                  <a:srgbClr val="0070C0"/>
                </a:solidFill>
                <a:latin typeface="Courier New"/>
                <a:cs typeface="Courier New"/>
              </a:rPr>
              <a:t>space</a:t>
            </a: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lang="es-ES_tradnl" noProof="0" dirty="0">
                <a:latin typeface="Courier New"/>
                <a:cs typeface="Courier New"/>
              </a:rPr>
              <a:t>n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.byte </a:t>
            </a:r>
            <a:r>
              <a:rPr lang="es-ES_tradnl" noProof="0" dirty="0">
                <a:latin typeface="Courier New"/>
                <a:cs typeface="Courier New"/>
              </a:rPr>
              <a:t>b1 [, b2] …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2000" b="1" dirty="0" err="1">
                <a:solidFill>
                  <a:srgbClr val="0070C0"/>
                </a:solidFill>
                <a:latin typeface="Courier New"/>
                <a:cs typeface="Courier New"/>
              </a:rPr>
              <a:t>half</a:t>
            </a: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lang="es-ES_tradnl" noProof="0" dirty="0">
                <a:latin typeface="Courier New"/>
                <a:cs typeface="Courier New"/>
              </a:rPr>
              <a:t>h1 [, h2] …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2000" b="1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lang="es-ES_tradnl" noProof="0" dirty="0">
                <a:latin typeface="Courier New"/>
                <a:cs typeface="Courier New"/>
              </a:rPr>
              <a:t>w1 [, w2] …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2000" b="1" dirty="0" err="1">
                <a:solidFill>
                  <a:srgbClr val="0070C0"/>
                </a:solidFill>
                <a:latin typeface="Courier New"/>
                <a:cs typeface="Courier New"/>
              </a:rPr>
              <a:t>ascii</a:t>
            </a: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lang="es-ES_tradnl" noProof="0" dirty="0">
                <a:latin typeface="Courier New"/>
                <a:cs typeface="Courier New"/>
              </a:rPr>
              <a:t>cadena1 [, cadena2] …</a:t>
            </a:r>
          </a:p>
          <a:p>
            <a:pPr lvl="2">
              <a:spcAft>
                <a:spcPts val="0"/>
              </a:spcAft>
            </a:pP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2000" b="1" dirty="0" err="1">
                <a:solidFill>
                  <a:srgbClr val="0070C0"/>
                </a:solidFill>
                <a:latin typeface="Courier New"/>
                <a:cs typeface="Courier New"/>
              </a:rPr>
              <a:t>asciz</a:t>
            </a:r>
            <a:r>
              <a:rPr lang="es-ES_tradnl" sz="2000" b="1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lang="es-ES_tradnl" noProof="0" dirty="0">
                <a:latin typeface="Courier New"/>
                <a:cs typeface="Courier New"/>
              </a:rPr>
              <a:t>cadena1 [, cadena2]…</a:t>
            </a:r>
          </a:p>
          <a:p>
            <a:pPr lvl="1">
              <a:spcAft>
                <a:spcPts val="0"/>
              </a:spcAft>
            </a:pPr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17</a:t>
            </a:fld>
            <a:endParaRPr lang="es-ES_tradnl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Alineamiento en memoria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fld id="{A7699608-B574-4B82-8EEF-626F712CB985}" type="slidenum">
              <a:rPr lang="es-ES_tradnl" noProof="0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 eaLnBrk="0" fontAlgn="base" hangingPunct="0">
                <a:spcBef>
                  <a:spcPct val="20000"/>
                </a:spcBef>
                <a:spcAft>
                  <a:spcPct val="0"/>
                </a:spcAft>
                <a:defRPr/>
              </a:pPr>
              <a:t>18</a:t>
            </a:fld>
            <a:endParaRPr lang="es-ES_tradnl" noProof="0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182103" y="2875875"/>
            <a:ext cx="2414577" cy="22929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 New"/>
                <a:cs typeface="Courier New"/>
              </a:rPr>
              <a:t>         .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data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A:       .byte 2, 3, 4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W:       .</a:t>
            </a:r>
            <a:r>
              <a:rPr lang="es-ES_tradnl" sz="1100" noProof="0" dirty="0" err="1">
                <a:solidFill>
                  <a:prstClr val="black"/>
                </a:solidFill>
                <a:latin typeface="Courier"/>
                <a:cs typeface="Courier"/>
              </a:rPr>
              <a:t>word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33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B:       .</a:t>
            </a:r>
            <a:r>
              <a:rPr lang="es-ES_tradnl" sz="1100" noProof="0" dirty="0" err="1">
                <a:solidFill>
                  <a:prstClr val="black"/>
                </a:solidFill>
                <a:latin typeface="Courier"/>
                <a:cs typeface="Courier"/>
              </a:rPr>
              <a:t>half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 680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        .</a:t>
            </a:r>
            <a:r>
              <a:rPr lang="es-ES_tradnl" sz="1100" noProof="0" dirty="0" err="1">
                <a:solidFill>
                  <a:prstClr val="black"/>
                </a:solidFill>
                <a:latin typeface="Courier"/>
                <a:cs typeface="Courier"/>
              </a:rPr>
              <a:t>align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2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V:       .</a:t>
            </a:r>
            <a:r>
              <a:rPr lang="es-ES_tradnl" sz="1100" noProof="0" dirty="0" err="1">
                <a:solidFill>
                  <a:prstClr val="black"/>
                </a:solidFill>
                <a:latin typeface="Courier"/>
                <a:cs typeface="Courier"/>
              </a:rPr>
              <a:t>space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128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"/>
              <a:cs typeface="Courier"/>
            </a:endParaRP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        .data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C1:      .</a:t>
            </a:r>
            <a:r>
              <a:rPr lang="es-ES_tradnl" sz="1100" noProof="0" dirty="0" err="1">
                <a:solidFill>
                  <a:prstClr val="black"/>
                </a:solidFill>
                <a:latin typeface="Courier"/>
                <a:cs typeface="Courier"/>
              </a:rPr>
              <a:t>ascii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“hola”</a:t>
            </a:r>
          </a:p>
          <a:p>
            <a:pPr algn="l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C2:      .</a:t>
            </a:r>
            <a:r>
              <a:rPr lang="es-ES_tradnl" sz="1100" noProof="0" dirty="0" err="1">
                <a:solidFill>
                  <a:prstClr val="black"/>
                </a:solidFill>
                <a:latin typeface="Courier"/>
                <a:cs typeface="Courier"/>
              </a:rPr>
              <a:t>asciz</a:t>
            </a:r>
            <a:r>
              <a:rPr lang="es-ES_tradnl" sz="1100" noProof="0" dirty="0">
                <a:solidFill>
                  <a:prstClr val="black"/>
                </a:solidFill>
                <a:latin typeface="Courier"/>
                <a:cs typeface="Courier"/>
              </a:rPr>
              <a:t> “HOLA”</a:t>
            </a:r>
          </a:p>
        </p:txBody>
      </p:sp>
      <p:sp>
        <p:nvSpPr>
          <p:cNvPr id="7" name="Llamada rectangular redondeada 6"/>
          <p:cNvSpPr/>
          <p:nvPr/>
        </p:nvSpPr>
        <p:spPr bwMode="auto">
          <a:xfrm>
            <a:off x="937279" y="764704"/>
            <a:ext cx="2705860" cy="2026570"/>
          </a:xfrm>
          <a:prstGeom prst="wedgeRoundRectCallout">
            <a:avLst>
              <a:gd name="adj1" fmla="val -11742"/>
              <a:gd name="adj2" fmla="val 66806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variables del programa son codificadas como etiquetas de datos. 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ejemplo, el SO ha decidido cargar este segmento de datos a partir de la dirección 0x10000000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= 0x10000000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0x10000004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ES_tradnl" sz="1200" noProof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67 Grupo"/>
          <p:cNvGrpSpPr/>
          <p:nvPr/>
        </p:nvGrpSpPr>
        <p:grpSpPr>
          <a:xfrm>
            <a:off x="5435000" y="1531018"/>
            <a:ext cx="2955328" cy="3987322"/>
            <a:chOff x="7246663" y="898358"/>
            <a:chExt cx="3940435" cy="5316428"/>
          </a:xfrm>
        </p:grpSpPr>
        <p:grpSp>
          <p:nvGrpSpPr>
            <p:cNvPr id="12" name="11 Grupo"/>
            <p:cNvGrpSpPr/>
            <p:nvPr/>
          </p:nvGrpSpPr>
          <p:grpSpPr>
            <a:xfrm>
              <a:off x="7249132" y="1917123"/>
              <a:ext cx="2534652" cy="312821"/>
              <a:chOff x="8317832" y="1909011"/>
              <a:chExt cx="2534652" cy="312821"/>
            </a:xfrm>
          </p:grpSpPr>
          <p:sp>
            <p:nvSpPr>
              <p:cNvPr id="8" name="7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--</a:t>
                </a:r>
              </a:p>
            </p:txBody>
          </p:sp>
          <p:sp>
            <p:nvSpPr>
              <p:cNvPr id="9" name="8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4</a:t>
                </a:r>
              </a:p>
            </p:txBody>
          </p:sp>
          <p:sp>
            <p:nvSpPr>
              <p:cNvPr id="10" name="9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3</a:t>
                </a:r>
              </a:p>
            </p:txBody>
          </p:sp>
          <p:sp>
            <p:nvSpPr>
              <p:cNvPr id="11" name="10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2</a:t>
                </a:r>
              </a:p>
            </p:txBody>
          </p:sp>
        </p:grpSp>
        <p:sp>
          <p:nvSpPr>
            <p:cNvPr id="14" name="13 Rectángulo"/>
            <p:cNvSpPr/>
            <p:nvPr/>
          </p:nvSpPr>
          <p:spPr bwMode="auto">
            <a:xfrm>
              <a:off x="7249132" y="2542765"/>
              <a:ext cx="633663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0" dirty="0"/>
                <a:t>--</a:t>
              </a:r>
            </a:p>
          </p:txBody>
        </p:sp>
        <p:sp>
          <p:nvSpPr>
            <p:cNvPr id="15" name="14 Rectángulo"/>
            <p:cNvSpPr/>
            <p:nvPr/>
          </p:nvSpPr>
          <p:spPr bwMode="auto">
            <a:xfrm>
              <a:off x="7882795" y="2542765"/>
              <a:ext cx="633663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0" dirty="0"/>
                <a:t>--</a:t>
              </a:r>
            </a:p>
          </p:txBody>
        </p:sp>
        <p:sp>
          <p:nvSpPr>
            <p:cNvPr id="16" name="15 Rectángulo"/>
            <p:cNvSpPr/>
            <p:nvPr/>
          </p:nvSpPr>
          <p:spPr bwMode="auto">
            <a:xfrm>
              <a:off x="8516457" y="2542765"/>
              <a:ext cx="1267327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0" dirty="0"/>
                <a:t>680</a:t>
              </a:r>
            </a:p>
          </p:txBody>
        </p:sp>
        <p:sp>
          <p:nvSpPr>
            <p:cNvPr id="19" name="18 Rectángulo"/>
            <p:cNvSpPr/>
            <p:nvPr/>
          </p:nvSpPr>
          <p:spPr bwMode="auto">
            <a:xfrm>
              <a:off x="7249132" y="2229944"/>
              <a:ext cx="2534652" cy="312821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0" dirty="0"/>
                <a:t>33</a:t>
              </a:r>
            </a:p>
          </p:txBody>
        </p:sp>
        <p:sp>
          <p:nvSpPr>
            <p:cNvPr id="28" name="27 Rectángulo"/>
            <p:cNvSpPr/>
            <p:nvPr/>
          </p:nvSpPr>
          <p:spPr bwMode="auto">
            <a:xfrm>
              <a:off x="7249132" y="2855587"/>
              <a:ext cx="2534652" cy="986588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0" dirty="0"/>
                <a:t>V</a:t>
              </a:r>
            </a:p>
          </p:txBody>
        </p:sp>
        <p:sp>
          <p:nvSpPr>
            <p:cNvPr id="29" name="28 Rectángulo"/>
            <p:cNvSpPr/>
            <p:nvPr/>
          </p:nvSpPr>
          <p:spPr bwMode="auto">
            <a:xfrm>
              <a:off x="7246663" y="1298468"/>
              <a:ext cx="2534652" cy="633664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sz="1500" noProof="0" dirty="0"/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9733283" y="1903079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0x10000000</a:t>
              </a:r>
            </a:p>
          </p:txBody>
        </p:sp>
        <p:sp>
          <p:nvSpPr>
            <p:cNvPr id="32" name="31 CuadroTexto"/>
            <p:cNvSpPr txBox="1"/>
            <p:nvPr/>
          </p:nvSpPr>
          <p:spPr>
            <a:xfrm>
              <a:off x="9733283" y="2209367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0x10000004</a:t>
              </a:r>
            </a:p>
          </p:txBody>
        </p:sp>
        <p:sp>
          <p:nvSpPr>
            <p:cNvPr id="33" name="32 CuadroTexto"/>
            <p:cNvSpPr txBox="1"/>
            <p:nvPr/>
          </p:nvSpPr>
          <p:spPr>
            <a:xfrm>
              <a:off x="9733283" y="2552786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0x10000008</a:t>
              </a:r>
            </a:p>
          </p:txBody>
        </p:sp>
        <p:sp>
          <p:nvSpPr>
            <p:cNvPr id="34" name="33 CuadroTexto"/>
            <p:cNvSpPr txBox="1"/>
            <p:nvPr/>
          </p:nvSpPr>
          <p:spPr>
            <a:xfrm>
              <a:off x="9731146" y="2863335"/>
              <a:ext cx="1402521" cy="1255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0x1000000C</a:t>
              </a:r>
            </a:p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0x10000010</a:t>
              </a:r>
            </a:p>
            <a:p>
              <a:r>
                <a:rPr lang="es-ES_tradnl" sz="1200" noProof="0" dirty="0">
                  <a:solidFill>
                    <a:schemeClr val="accent3"/>
                  </a:solidFill>
                </a:rPr>
                <a:t>………</a:t>
              </a:r>
            </a:p>
            <a:p>
              <a:endParaRPr lang="es-ES_tradnl" sz="1200" noProof="0" dirty="0">
                <a:solidFill>
                  <a:schemeClr val="accent3"/>
                </a:solidFill>
              </a:endParaRPr>
            </a:p>
          </p:txBody>
        </p:sp>
        <p:grpSp>
          <p:nvGrpSpPr>
            <p:cNvPr id="35" name="34 Grupo"/>
            <p:cNvGrpSpPr/>
            <p:nvPr/>
          </p:nvGrpSpPr>
          <p:grpSpPr>
            <a:xfrm>
              <a:off x="7249131" y="3842175"/>
              <a:ext cx="2534652" cy="312821"/>
              <a:chOff x="8317832" y="1909011"/>
              <a:chExt cx="2534652" cy="312821"/>
            </a:xfrm>
          </p:grpSpPr>
          <p:sp>
            <p:nvSpPr>
              <p:cNvPr id="36" name="35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a</a:t>
                </a:r>
              </a:p>
            </p:txBody>
          </p:sp>
          <p:sp>
            <p:nvSpPr>
              <p:cNvPr id="37" name="36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l</a:t>
                </a:r>
              </a:p>
            </p:txBody>
          </p:sp>
          <p:sp>
            <p:nvSpPr>
              <p:cNvPr id="38" name="37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o</a:t>
                </a:r>
              </a:p>
            </p:txBody>
          </p:sp>
          <p:sp>
            <p:nvSpPr>
              <p:cNvPr id="39" name="38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h</a:t>
                </a:r>
              </a:p>
            </p:txBody>
          </p:sp>
        </p:grpSp>
        <p:grpSp>
          <p:nvGrpSpPr>
            <p:cNvPr id="40" name="39 Grupo"/>
            <p:cNvGrpSpPr/>
            <p:nvPr/>
          </p:nvGrpSpPr>
          <p:grpSpPr>
            <a:xfrm>
              <a:off x="7249132" y="4154996"/>
              <a:ext cx="2534652" cy="312821"/>
              <a:chOff x="8317832" y="1909011"/>
              <a:chExt cx="2534652" cy="312821"/>
            </a:xfrm>
          </p:grpSpPr>
          <p:sp>
            <p:nvSpPr>
              <p:cNvPr id="41" name="40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A</a:t>
                </a:r>
              </a:p>
            </p:txBody>
          </p:sp>
          <p:sp>
            <p:nvSpPr>
              <p:cNvPr id="42" name="41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L</a:t>
                </a:r>
              </a:p>
            </p:txBody>
          </p:sp>
          <p:sp>
            <p:nvSpPr>
              <p:cNvPr id="43" name="42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O</a:t>
                </a:r>
              </a:p>
            </p:txBody>
          </p:sp>
          <p:sp>
            <p:nvSpPr>
              <p:cNvPr id="44" name="43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H</a:t>
                </a:r>
              </a:p>
            </p:txBody>
          </p:sp>
        </p:grpSp>
        <p:grpSp>
          <p:nvGrpSpPr>
            <p:cNvPr id="45" name="44 Grupo"/>
            <p:cNvGrpSpPr/>
            <p:nvPr/>
          </p:nvGrpSpPr>
          <p:grpSpPr>
            <a:xfrm>
              <a:off x="7249132" y="4467817"/>
              <a:ext cx="2534652" cy="312821"/>
              <a:chOff x="8317832" y="1909011"/>
              <a:chExt cx="2534652" cy="312821"/>
            </a:xfrm>
          </p:grpSpPr>
          <p:sp>
            <p:nvSpPr>
              <p:cNvPr id="46" name="45 Rectángulo"/>
              <p:cNvSpPr/>
              <p:nvPr/>
            </p:nvSpPr>
            <p:spPr bwMode="auto">
              <a:xfrm>
                <a:off x="8317832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--</a:t>
                </a:r>
              </a:p>
            </p:txBody>
          </p:sp>
          <p:sp>
            <p:nvSpPr>
              <p:cNvPr id="47" name="46 Rectángulo"/>
              <p:cNvSpPr/>
              <p:nvPr/>
            </p:nvSpPr>
            <p:spPr bwMode="auto">
              <a:xfrm>
                <a:off x="8951495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--</a:t>
                </a:r>
              </a:p>
            </p:txBody>
          </p:sp>
          <p:sp>
            <p:nvSpPr>
              <p:cNvPr id="48" name="47 Rectángulo"/>
              <p:cNvSpPr/>
              <p:nvPr/>
            </p:nvSpPr>
            <p:spPr bwMode="auto">
              <a:xfrm>
                <a:off x="9585157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--</a:t>
                </a:r>
              </a:p>
            </p:txBody>
          </p:sp>
          <p:sp>
            <p:nvSpPr>
              <p:cNvPr id="49" name="48 Rectángulo"/>
              <p:cNvSpPr/>
              <p:nvPr/>
            </p:nvSpPr>
            <p:spPr bwMode="auto">
              <a:xfrm>
                <a:off x="10218821" y="1909011"/>
                <a:ext cx="633663" cy="312821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500" noProof="0" dirty="0"/>
                  <a:t>0</a:t>
                </a:r>
              </a:p>
            </p:txBody>
          </p:sp>
        </p:grpSp>
        <p:sp>
          <p:nvSpPr>
            <p:cNvPr id="50" name="49 CuadroTexto"/>
            <p:cNvSpPr txBox="1"/>
            <p:nvPr/>
          </p:nvSpPr>
          <p:spPr>
            <a:xfrm>
              <a:off x="9733283" y="3782561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0x10004000</a:t>
              </a: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9733283" y="4104437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0x10004004</a:t>
              </a:r>
            </a:p>
          </p:txBody>
        </p:sp>
        <p:sp>
          <p:nvSpPr>
            <p:cNvPr id="52" name="51 CuadroTexto"/>
            <p:cNvSpPr txBox="1"/>
            <p:nvPr/>
          </p:nvSpPr>
          <p:spPr>
            <a:xfrm>
              <a:off x="9733283" y="4408205"/>
              <a:ext cx="1368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0x10004008</a:t>
              </a:r>
            </a:p>
          </p:txBody>
        </p:sp>
        <p:sp>
          <p:nvSpPr>
            <p:cNvPr id="53" name="52 Rectángulo"/>
            <p:cNvSpPr/>
            <p:nvPr/>
          </p:nvSpPr>
          <p:spPr bwMode="auto">
            <a:xfrm>
              <a:off x="7257080" y="4780637"/>
              <a:ext cx="2534652" cy="1355467"/>
            </a:xfrm>
            <a:prstGeom prst="rect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500" noProof="0" dirty="0"/>
                <a:t>--</a:t>
              </a:r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9731146" y="4715981"/>
              <a:ext cx="1402521" cy="12557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0x1000400C</a:t>
              </a:r>
            </a:p>
            <a:p>
              <a:r>
                <a:rPr lang="es-ES_tradnl" sz="1200" noProof="0" dirty="0">
                  <a:solidFill>
                    <a:schemeClr val="accent3"/>
                  </a:solidFill>
                </a:rPr>
                <a:t>0x10004010</a:t>
              </a:r>
            </a:p>
            <a:p>
              <a:r>
                <a:rPr lang="es-ES_tradnl" sz="1200" noProof="0" dirty="0">
                  <a:solidFill>
                    <a:schemeClr val="accent3"/>
                  </a:solidFill>
                </a:rPr>
                <a:t>………</a:t>
              </a:r>
            </a:p>
            <a:p>
              <a:endParaRPr lang="es-ES_tradnl" sz="1200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7334479" y="898358"/>
              <a:ext cx="227669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500" noProof="0" dirty="0">
                  <a:solidFill>
                    <a:schemeClr val="accent1">
                      <a:lumMod val="75000"/>
                    </a:schemeClr>
                  </a:solidFill>
                </a:rPr>
                <a:t>Memoria principal</a:t>
              </a:r>
            </a:p>
          </p:txBody>
        </p:sp>
        <p:sp>
          <p:nvSpPr>
            <p:cNvPr id="66" name="65 CuadroTexto"/>
            <p:cNvSpPr txBox="1"/>
            <p:nvPr/>
          </p:nvSpPr>
          <p:spPr>
            <a:xfrm>
              <a:off x="9733283" y="1335046"/>
              <a:ext cx="1368323" cy="66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0x00000000</a:t>
              </a:r>
            </a:p>
            <a:p>
              <a:r>
                <a:rPr lang="es-ES_tradnl" sz="1200" noProof="0" dirty="0">
                  <a:solidFill>
                    <a:schemeClr val="accent3"/>
                  </a:solidFill>
                </a:rPr>
                <a:t>…………</a:t>
              </a:r>
            </a:p>
          </p:txBody>
        </p:sp>
        <p:sp>
          <p:nvSpPr>
            <p:cNvPr id="67" name="66 CuadroTexto"/>
            <p:cNvSpPr txBox="1"/>
            <p:nvPr/>
          </p:nvSpPr>
          <p:spPr>
            <a:xfrm>
              <a:off x="9716183" y="5845454"/>
              <a:ext cx="147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>
                  <a:solidFill>
                    <a:schemeClr val="accent3"/>
                  </a:solidFill>
                </a:rPr>
                <a:t>0xFFFFFFFF</a:t>
              </a:r>
            </a:p>
          </p:txBody>
        </p:sp>
      </p:grpSp>
      <p:cxnSp>
        <p:nvCxnSpPr>
          <p:cNvPr id="64" name="63 Conector recto de flecha"/>
          <p:cNvCxnSpPr>
            <a:cxnSpLocks/>
            <a:endCxn id="15" idx="1"/>
          </p:cNvCxnSpPr>
          <p:nvPr/>
        </p:nvCxnSpPr>
        <p:spPr bwMode="auto">
          <a:xfrm flipV="1">
            <a:off x="2876469" y="2881632"/>
            <a:ext cx="3035629" cy="114011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/>
          <p:nvPr/>
        </p:nvCxnSpPr>
        <p:spPr bwMode="auto">
          <a:xfrm flipV="1">
            <a:off x="3199292" y="2440398"/>
            <a:ext cx="2388269" cy="956511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>
            <a:cxnSpLocks/>
          </p:cNvCxnSpPr>
          <p:nvPr/>
        </p:nvCxnSpPr>
        <p:spPr bwMode="auto">
          <a:xfrm flipV="1">
            <a:off x="3100548" y="2617795"/>
            <a:ext cx="2733691" cy="103011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7" name="Llamada rectangular redondeada 6">
            <a:extLst>
              <a:ext uri="{FF2B5EF4-FFF2-40B4-BE49-F238E27FC236}">
                <a16:creationId xmlns:a16="http://schemas.microsoft.com/office/drawing/2014/main" id="{73FC460E-9B38-4FD6-B2C1-FAD5905D886F}"/>
              </a:ext>
            </a:extLst>
          </p:cNvPr>
          <p:cNvSpPr/>
          <p:nvPr/>
        </p:nvSpPr>
        <p:spPr bwMode="auto">
          <a:xfrm>
            <a:off x="899592" y="5596074"/>
            <a:ext cx="2159303" cy="1237055"/>
          </a:xfrm>
          <a:prstGeom prst="wedgeRoundRectCallout">
            <a:avLst>
              <a:gd name="adj1" fmla="val -270"/>
              <a:gd name="adj2" fmla="val -127273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pueden definir varias zonas de datos.</a:t>
            </a:r>
          </a:p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ejemplo, el SO decide cargar este segundo segmento de datos a partir de la dirección 0x10004000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FFD7D4-048F-CCD5-0586-E17B8B765B30}"/>
              </a:ext>
            </a:extLst>
          </p:cNvPr>
          <p:cNvSpPr txBox="1"/>
          <p:nvPr/>
        </p:nvSpPr>
        <p:spPr>
          <a:xfrm>
            <a:off x="4961995" y="5890397"/>
            <a:ext cx="3724805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_tradnl" sz="1100" noProof="0" dirty="0"/>
              <a:t>El alineamiento en memoria es una característica habitual en el ensamblador (cargador) de RISC-V</a:t>
            </a:r>
          </a:p>
          <a:p>
            <a:pPr algn="l"/>
            <a:r>
              <a:rPr lang="es-ES_tradnl" sz="1100" noProof="0" dirty="0"/>
              <a:t>El simulador que usaremos en prácticas (</a:t>
            </a:r>
            <a:r>
              <a:rPr lang="es-ES_tradnl" sz="1100" noProof="0" dirty="0" err="1"/>
              <a:t>Ripes</a:t>
            </a:r>
            <a:r>
              <a:rPr lang="es-ES_tradnl" sz="1100" noProof="0" dirty="0"/>
              <a:t>) es una herramienta educacional y no fuerza ese alineamiento</a:t>
            </a:r>
          </a:p>
        </p:txBody>
      </p:sp>
    </p:spTree>
    <p:extLst>
      <p:ext uri="{BB962C8B-B14F-4D97-AF65-F5344CB8AC3E}">
        <p14:creationId xmlns:p14="http://schemas.microsoft.com/office/powerpoint/2010/main" val="2750947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Instrucciones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Grupos de instrucciones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Transferencia entre registros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Carga/almacenamiento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Aritméticas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Lógicas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Comparación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Salto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Coma flotante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Otras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Sintaxis y codificación</a:t>
            </a:r>
          </a:p>
          <a:p>
            <a:pPr lvl="1"/>
            <a:r>
              <a:rPr lang="es-ES_tradnl" sz="1800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https://riscv.org/specifications/ratified/</a:t>
            </a:r>
            <a:endParaRPr lang="es-ES_tradnl" sz="18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s-ES_tradnl" sz="1800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https://riscv.github.io/riscv-isa-manual/snapshot/unprivileged/</a:t>
            </a:r>
            <a:endParaRPr lang="es-ES_tradnl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19</a:t>
            </a:fld>
            <a:endParaRPr lang="es-ES_tradnl" noProof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5689352" y="1524000"/>
            <a:ext cx="2980303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instrucciones serán ejercitadas</a:t>
            </a:r>
          </a:p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las sesiones de laboratorio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191000" y="3124200"/>
            <a:ext cx="4648200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 vs pseudo-instrucciones</a:t>
            </a:r>
          </a:p>
          <a:p>
            <a:pPr algn="l"/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instrucciones son soportadas por el hardware</a:t>
            </a:r>
          </a:p>
          <a:p>
            <a:pPr algn="l"/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mientras que las pseudo-instrucciones son traducidas por</a:t>
            </a:r>
          </a:p>
          <a:p>
            <a:pPr algn="l"/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ensamblador en un conjunto de instrucciones equivalente</a:t>
            </a:r>
          </a:p>
          <a:p>
            <a:pPr algn="l"/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ejemplo: </a:t>
            </a:r>
          </a:p>
          <a:p>
            <a:pPr algn="l"/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li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t1, 0x10002000 -&gt; lui  t1, 0x10002</a:t>
            </a:r>
          </a:p>
          <a:p>
            <a:pPr algn="l"/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	    </a:t>
            </a:r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addi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t1, t1, 0</a:t>
            </a:r>
          </a:p>
          <a:p>
            <a:pPr algn="l"/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2 Entrada de lápiz"/>
              <p14:cNvContentPartPr/>
              <p14:nvPr/>
            </p14:nvContentPartPr>
            <p14:xfrm>
              <a:off x="1579818" y="3924180"/>
              <a:ext cx="270" cy="270"/>
            </p14:xfrm>
          </p:contentPart>
        </mc:Choice>
        <mc:Fallback xmlns="">
          <p:pic>
            <p:nvPicPr>
              <p:cNvPr id="3" name="2 Entrada de lápiz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2798" y="3917160"/>
                <a:ext cx="14310" cy="1431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3F0CB5C9-6966-150F-096E-0EA19821F8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179503"/>
              </p:ext>
            </p:extLst>
          </p:nvPr>
        </p:nvGraphicFramePr>
        <p:xfrm>
          <a:off x="1055167" y="1022863"/>
          <a:ext cx="7765304" cy="2975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Operación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Formato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+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s-ES_tradnl" sz="1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 – rs2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[rs1+inm]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[rs1+inm]</a:t>
                      </a:r>
                      <a:r>
                        <a:rPr lang="es-ES_tradnl" sz="1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rs2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rs1, rs2,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rs1==rs2, PC =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 PC = PC+4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jal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PC + 4</a:t>
                      </a:r>
                    </a:p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=</a:t>
                      </a:r>
                      <a:r>
                        <a:rPr lang="es-ES_tradnl" sz="1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s-ES_tradnl" sz="1400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J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2" name="Marcador de contenido 61">
            <a:extLst>
              <a:ext uri="{FF2B5EF4-FFF2-40B4-BE49-F238E27FC236}">
                <a16:creationId xmlns:a16="http://schemas.microsoft.com/office/drawing/2014/main" id="{B5029E08-D81B-32D0-A483-2F0B6FF89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4328268"/>
            <a:ext cx="8250237" cy="54089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ES_tradnl" noProof="0" dirty="0"/>
              <a:t>   6 Formatos distintos: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3B9A60B4-A794-E37F-F6AD-CC8878D6EF28}"/>
              </a:ext>
            </a:extLst>
          </p:cNvPr>
          <p:cNvSpPr txBox="1"/>
          <p:nvPr/>
        </p:nvSpPr>
        <p:spPr>
          <a:xfrm>
            <a:off x="1403648" y="4869160"/>
            <a:ext cx="7056784" cy="150810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800100" lvl="1" indent="-342900" algn="l">
              <a:buFont typeface="Wingdings" pitchFamily="2" charset="2"/>
              <a:buChar char="ü"/>
            </a:pPr>
            <a:r>
              <a:rPr lang="es-ES_tradnl" noProof="0" dirty="0"/>
              <a:t>R (Register-</a:t>
            </a:r>
            <a:r>
              <a:rPr lang="es-ES_tradnl" noProof="0" dirty="0" err="1"/>
              <a:t>register</a:t>
            </a:r>
            <a:r>
              <a:rPr lang="es-ES_tradnl" noProof="0" dirty="0"/>
              <a:t>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_tradnl" noProof="0" dirty="0"/>
              <a:t>I (Inmediate)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_tradnl" noProof="0" dirty="0"/>
              <a:t>S (Store)</a:t>
            </a:r>
          </a:p>
          <a:p>
            <a:pPr marL="800100" lvl="1" indent="-342900" algn="l">
              <a:buFont typeface="Wingdings" pitchFamily="2" charset="2"/>
              <a:buChar char="ü"/>
            </a:pPr>
            <a:endParaRPr lang="es-ES_tradnl" noProof="0" dirty="0"/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_tradnl" noProof="0" dirty="0"/>
              <a:t>B (Branch)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_tradnl" noProof="0" dirty="0"/>
              <a:t>U (Upper Inmediate)</a:t>
            </a:r>
          </a:p>
          <a:p>
            <a:pPr marL="800100" lvl="1" indent="-342900" algn="l">
              <a:buFont typeface="Wingdings" pitchFamily="2" charset="2"/>
              <a:buChar char="ü"/>
            </a:pPr>
            <a:r>
              <a:rPr lang="es-ES_tradnl" noProof="0" dirty="0"/>
              <a:t>J (Jump)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4969-4C98-F79E-9CCE-B334A8A0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08A58-4F5F-1E97-2754-9C12AB5D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10C0D87-A2E3-53D2-2641-B973A8764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La función de una instrucción se especifica usando el campo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y, en caso de que existan,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  <a:endParaRPr lang="es-ES_tradnl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s-ES_trad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 (bits [6:0] de la instrucción) especifica la clase o categoría: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de la instrucción (R, I, S, B, U, J)</a:t>
            </a: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Determina si existen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funct3 | funct7</a:t>
            </a: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Ruta básica de la instrucción (ALU, load/store,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, etc.).</a:t>
            </a: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Se usan 7 bits para permitir extensiones futuras</a:t>
            </a:r>
          </a:p>
          <a:p>
            <a:pPr>
              <a:lnSpc>
                <a:spcPct val="100000"/>
              </a:lnSpc>
            </a:pPr>
            <a:r>
              <a:rPr lang="es-ES_trad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 (bits [14:12] de la instrucción) es un selector de </a:t>
            </a:r>
            <a:r>
              <a:rPr lang="es-ES_tradnl" sz="1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suboperación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Operación en la ALU (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and,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Ancho de load/store (byte,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Condición de salto (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>
              <a:lnSpc>
                <a:spcPct val="100000"/>
              </a:lnSpc>
            </a:pPr>
            <a:r>
              <a:rPr lang="es-ES_trad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: (bits [31:25] de la instrucción) especifica la variante:</a:t>
            </a: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Distingue entre operaciones relacionadas. Por ejemplo,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</a:p>
          <a:p>
            <a:endParaRPr lang="es-ES_tradnl" noProof="0" dirty="0"/>
          </a:p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962311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8C916053-F2DA-6677-9F6B-F921FBA01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8556558"/>
              </p:ext>
            </p:extLst>
          </p:nvPr>
        </p:nvGraphicFramePr>
        <p:xfrm>
          <a:off x="1055167" y="1590695"/>
          <a:ext cx="7583813" cy="219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Operación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Formato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400" noProof="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>
                          <a:solidFill>
                            <a:schemeClr val="bg1"/>
                          </a:solidFill>
                          <a:latin typeface="Arial Narrow"/>
                          <a:cs typeface="Arial Narrow"/>
                        </a:rPr>
                        <a:t>funct3 |  funct7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+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s-ES_tradnl" sz="1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 – rs2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0100000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*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kern="1200" noProof="0" dirty="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rs1&lt;rs2,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1;</a:t>
                      </a:r>
                    </a:p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" name="30 CuadroTexto">
            <a:extLst>
              <a:ext uri="{FF2B5EF4-FFF2-40B4-BE49-F238E27FC236}">
                <a16:creationId xmlns:a16="http://schemas.microsoft.com/office/drawing/2014/main" id="{6C3650AE-75F8-4C22-A139-4A745F3A0B02}"/>
              </a:ext>
            </a:extLst>
          </p:cNvPr>
          <p:cNvSpPr txBox="1"/>
          <p:nvPr/>
        </p:nvSpPr>
        <p:spPr>
          <a:xfrm>
            <a:off x="2339752" y="5027488"/>
            <a:ext cx="5328592" cy="174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_tradnl" sz="1500" noProof="0" dirty="0">
                <a:cs typeface="Arial" panose="020B0604020202020204" pitchFamily="34" charset="0"/>
              </a:rPr>
              <a:t>Sintaxis:	</a:t>
            </a:r>
            <a:r>
              <a:rPr lang="es-ES_tradnl" sz="15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5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rs1, rs2    </a:t>
            </a:r>
            <a:r>
              <a:rPr lang="es-ES_tradnl" sz="15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 + rs2</a:t>
            </a:r>
          </a:p>
          <a:p>
            <a:pPr algn="l"/>
            <a:r>
              <a:rPr lang="es-ES_tradnl" sz="1500" noProof="0" dirty="0"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s-ES_tradnl" sz="1500" noProof="0" dirty="0">
                <a:cs typeface="Arial" panose="020B0604020202020204" pitchFamily="34" charset="0"/>
              </a:rPr>
              <a:t>Ejemplos:	</a:t>
            </a:r>
            <a:r>
              <a:rPr lang="es-ES_tradnl" sz="15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x1, x2, x3	    x1 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x2 + x3</a:t>
            </a:r>
          </a:p>
          <a:p>
            <a:pPr algn="l"/>
            <a:r>
              <a:rPr lang="es-ES_tradnl" sz="1500" noProof="0" dirty="0">
                <a:cs typeface="Arial" panose="020B0604020202020204" pitchFamily="34" charset="0"/>
              </a:rPr>
              <a:t>                 	</a:t>
            </a:r>
            <a:r>
              <a:rPr lang="es-ES_tradnl" sz="15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x5, x5, x5	    x5 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x5 </a:t>
            </a:r>
            <a:r>
              <a:rPr lang="es-ES_tradnl" sz="1600" b="1" noProof="0" dirty="0">
                <a:latin typeface="Courier New" panose="02070309020205020404" pitchFamily="49" charset="0"/>
                <a:cs typeface="Courier New" panose="02070309020205020404" pitchFamily="49" charset="0"/>
                <a:sym typeface="Symbol"/>
              </a:rPr>
              <a:t>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x5</a:t>
            </a:r>
          </a:p>
          <a:p>
            <a:pPr algn="l"/>
            <a:r>
              <a:rPr lang="es-ES_tradnl" sz="1500" noProof="0" dirty="0">
                <a:cs typeface="Arial" panose="020B0604020202020204" pitchFamily="34" charset="0"/>
              </a:rPr>
              <a:t>                 	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and x2, x3, x2      x2 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 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x3 </a:t>
            </a:r>
            <a:r>
              <a:rPr lang="es-ES_tradnl" sz="1600" b="1" noProof="0" dirty="0">
                <a:latin typeface="Courier New" panose="02070309020205020404" pitchFamily="49" charset="0"/>
                <a:cs typeface="Courier New" panose="02070309020205020404" pitchFamily="49" charset="0"/>
                <a:sym typeface="Symbol"/>
              </a:rPr>
              <a:t></a:t>
            </a:r>
            <a:r>
              <a:rPr lang="es-ES_tradnl" sz="15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x2</a:t>
            </a:r>
          </a:p>
          <a:p>
            <a:endParaRPr lang="es-ES_tradnl" sz="1500" noProof="0" dirty="0"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AF968F-6004-4D31-8EC6-1279F9AADC78}"/>
              </a:ext>
            </a:extLst>
          </p:cNvPr>
          <p:cNvSpPr txBox="1"/>
          <p:nvPr/>
        </p:nvSpPr>
        <p:spPr>
          <a:xfrm>
            <a:off x="713580" y="1079777"/>
            <a:ext cx="496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noProof="0" dirty="0"/>
              <a:t>Formato R:  Instrucciones aritméticas y lógicas</a:t>
            </a:r>
            <a:endParaRPr lang="es-ES_tradnl" sz="18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3F6A2BE-78F6-7EDA-80FE-5EA1C3CA4AE3}"/>
              </a:ext>
            </a:extLst>
          </p:cNvPr>
          <p:cNvGrpSpPr/>
          <p:nvPr/>
        </p:nvGrpSpPr>
        <p:grpSpPr>
          <a:xfrm>
            <a:off x="1616244" y="3881764"/>
            <a:ext cx="5764068" cy="1180085"/>
            <a:chOff x="975305" y="4921594"/>
            <a:chExt cx="3345284" cy="753875"/>
          </a:xfrm>
        </p:grpSpPr>
        <p:grpSp>
          <p:nvGrpSpPr>
            <p:cNvPr id="13" name="Group 9">
              <a:extLst>
                <a:ext uri="{FF2B5EF4-FFF2-40B4-BE49-F238E27FC236}">
                  <a16:creationId xmlns:a16="http://schemas.microsoft.com/office/drawing/2014/main" id="{27345C9D-92F1-FB10-AAE0-E8F0A121E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6" name="Rectangle 10">
                <a:extLst>
                  <a:ext uri="{FF2B5EF4-FFF2-40B4-BE49-F238E27FC236}">
                    <a16:creationId xmlns:a16="http://schemas.microsoft.com/office/drawing/2014/main" id="{281FEDCF-8695-44A0-28CE-DBEA85A02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7" name="Group 155">
                <a:extLst>
                  <a:ext uri="{FF2B5EF4-FFF2-40B4-BE49-F238E27FC236}">
                    <a16:creationId xmlns:a16="http://schemas.microsoft.com/office/drawing/2014/main" id="{3D9C3DAF-1CAE-ABAE-3C11-3EA8A7E405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295"/>
                <a:chOff x="1168" y="1293"/>
                <a:chExt cx="3189" cy="482"/>
              </a:xfrm>
            </p:grpSpPr>
            <p:grpSp>
              <p:nvGrpSpPr>
                <p:cNvPr id="18" name="Group 5">
                  <a:extLst>
                    <a:ext uri="{FF2B5EF4-FFF2-40B4-BE49-F238E27FC236}">
                      <a16:creationId xmlns:a16="http://schemas.microsoft.com/office/drawing/2014/main" id="{578CFC5C-C1C1-F173-76C0-DC437F42C7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36" name="Rectangle 6">
                    <a:extLst>
                      <a:ext uri="{FF2B5EF4-FFF2-40B4-BE49-F238E27FC236}">
                        <a16:creationId xmlns:a16="http://schemas.microsoft.com/office/drawing/2014/main" id="{3824D618-C753-3355-47DC-DDADE536D6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b="1" noProof="0" dirty="0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37" name="Group 7">
                    <a:extLst>
                      <a:ext uri="{FF2B5EF4-FFF2-40B4-BE49-F238E27FC236}">
                        <a16:creationId xmlns:a16="http://schemas.microsoft.com/office/drawing/2014/main" id="{3A223C3F-26B8-8E4A-FDC2-98DBDEBCAB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38" name="Line 9">
                      <a:extLst>
                        <a:ext uri="{FF2B5EF4-FFF2-40B4-BE49-F238E27FC236}">
                          <a16:creationId xmlns:a16="http://schemas.microsoft.com/office/drawing/2014/main" id="{B5EE0548-0528-275E-E0E9-F2E3F7CA5E6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9" name="Line 10">
                      <a:extLst>
                        <a:ext uri="{FF2B5EF4-FFF2-40B4-BE49-F238E27FC236}">
                          <a16:creationId xmlns:a16="http://schemas.microsoft.com/office/drawing/2014/main" id="{0CAD43E0-EC75-14E0-E2A4-1C1D511274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0" name="Line 11">
                      <a:extLst>
                        <a:ext uri="{FF2B5EF4-FFF2-40B4-BE49-F238E27FC236}">
                          <a16:creationId xmlns:a16="http://schemas.microsoft.com/office/drawing/2014/main" id="{45626683-85A4-4D28-FCFD-0D770E3E8B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1" name="Line 12">
                      <a:extLst>
                        <a:ext uri="{FF2B5EF4-FFF2-40B4-BE49-F238E27FC236}">
                          <a16:creationId xmlns:a16="http://schemas.microsoft.com/office/drawing/2014/main" id="{F95A3983-2235-EDFC-DFD8-27060728B48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2" name="Line 13">
                      <a:extLst>
                        <a:ext uri="{FF2B5EF4-FFF2-40B4-BE49-F238E27FC236}">
                          <a16:creationId xmlns:a16="http://schemas.microsoft.com/office/drawing/2014/main" id="{DC42509F-1BCB-4CA6-1115-96089E0BC6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3" name="Line 14">
                      <a:extLst>
                        <a:ext uri="{FF2B5EF4-FFF2-40B4-BE49-F238E27FC236}">
                          <a16:creationId xmlns:a16="http://schemas.microsoft.com/office/drawing/2014/main" id="{93541595-191E-836B-BBB1-B8417AA3708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4" name="Line 15">
                      <a:extLst>
                        <a:ext uri="{FF2B5EF4-FFF2-40B4-BE49-F238E27FC236}">
                          <a16:creationId xmlns:a16="http://schemas.microsoft.com/office/drawing/2014/main" id="{FB0BFC6A-0653-F0EF-89A9-43FED08108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5" name="Line 16">
                      <a:extLst>
                        <a:ext uri="{FF2B5EF4-FFF2-40B4-BE49-F238E27FC236}">
                          <a16:creationId xmlns:a16="http://schemas.microsoft.com/office/drawing/2014/main" id="{C7489E34-71C1-25F2-278C-21C327D837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6" name="Line 17">
                      <a:extLst>
                        <a:ext uri="{FF2B5EF4-FFF2-40B4-BE49-F238E27FC236}">
                          <a16:creationId xmlns:a16="http://schemas.microsoft.com/office/drawing/2014/main" id="{B3D5D01C-6562-625C-B6F2-76BB04DAA6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7" name="Line 18">
                      <a:extLst>
                        <a:ext uri="{FF2B5EF4-FFF2-40B4-BE49-F238E27FC236}">
                          <a16:creationId xmlns:a16="http://schemas.microsoft.com/office/drawing/2014/main" id="{4EA134A4-77DB-D744-3ED1-8D0E7AB6FB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8" name="Line 19">
                      <a:extLst>
                        <a:ext uri="{FF2B5EF4-FFF2-40B4-BE49-F238E27FC236}">
                          <a16:creationId xmlns:a16="http://schemas.microsoft.com/office/drawing/2014/main" id="{C0BBC16E-6120-EA38-4C75-07557516A3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9" name="Line 20">
                      <a:extLst>
                        <a:ext uri="{FF2B5EF4-FFF2-40B4-BE49-F238E27FC236}">
                          <a16:creationId xmlns:a16="http://schemas.microsoft.com/office/drawing/2014/main" id="{0F5BC280-624A-BFA3-859F-91FC1FDD30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0" name="Line 21">
                      <a:extLst>
                        <a:ext uri="{FF2B5EF4-FFF2-40B4-BE49-F238E27FC236}">
                          <a16:creationId xmlns:a16="http://schemas.microsoft.com/office/drawing/2014/main" id="{3AE9F168-1487-C792-21ED-E06D7D47D3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1" name="Line 22">
                      <a:extLst>
                        <a:ext uri="{FF2B5EF4-FFF2-40B4-BE49-F238E27FC236}">
                          <a16:creationId xmlns:a16="http://schemas.microsoft.com/office/drawing/2014/main" id="{9DE2BEC5-8184-423D-E999-30B352646D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2" name="Line 23">
                      <a:extLst>
                        <a:ext uri="{FF2B5EF4-FFF2-40B4-BE49-F238E27FC236}">
                          <a16:creationId xmlns:a16="http://schemas.microsoft.com/office/drawing/2014/main" id="{DC673375-CAC1-6570-C2C5-5EFDD02DE86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3" name="Line 24">
                      <a:extLst>
                        <a:ext uri="{FF2B5EF4-FFF2-40B4-BE49-F238E27FC236}">
                          <a16:creationId xmlns:a16="http://schemas.microsoft.com/office/drawing/2014/main" id="{687DB40F-B689-8A85-A767-EE679A7A22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4" name="Line 25">
                      <a:extLst>
                        <a:ext uri="{FF2B5EF4-FFF2-40B4-BE49-F238E27FC236}">
                          <a16:creationId xmlns:a16="http://schemas.microsoft.com/office/drawing/2014/main" id="{485EC2FA-E936-D21F-F95F-7EAE0FB0ADC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5" name="Line 26">
                      <a:extLst>
                        <a:ext uri="{FF2B5EF4-FFF2-40B4-BE49-F238E27FC236}">
                          <a16:creationId xmlns:a16="http://schemas.microsoft.com/office/drawing/2014/main" id="{91610647-CADD-D6A6-B7BE-BE9826E2294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6" name="Line 27">
                      <a:extLst>
                        <a:ext uri="{FF2B5EF4-FFF2-40B4-BE49-F238E27FC236}">
                          <a16:creationId xmlns:a16="http://schemas.microsoft.com/office/drawing/2014/main" id="{FD8175F8-9317-8584-6E55-F79D1CB91B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7" name="Line 28">
                      <a:extLst>
                        <a:ext uri="{FF2B5EF4-FFF2-40B4-BE49-F238E27FC236}">
                          <a16:creationId xmlns:a16="http://schemas.microsoft.com/office/drawing/2014/main" id="{A8736D5D-5642-05B1-F2F2-C85C8FE448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8" name="Line 29">
                      <a:extLst>
                        <a:ext uri="{FF2B5EF4-FFF2-40B4-BE49-F238E27FC236}">
                          <a16:creationId xmlns:a16="http://schemas.microsoft.com/office/drawing/2014/main" id="{3A8043E1-6D73-AACF-D41E-18AE9BD5F14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9" name="Line 30">
                      <a:extLst>
                        <a:ext uri="{FF2B5EF4-FFF2-40B4-BE49-F238E27FC236}">
                          <a16:creationId xmlns:a16="http://schemas.microsoft.com/office/drawing/2014/main" id="{EFC16990-F1C1-85C7-CB0C-4473DA7B51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0" name="Line 31">
                      <a:extLst>
                        <a:ext uri="{FF2B5EF4-FFF2-40B4-BE49-F238E27FC236}">
                          <a16:creationId xmlns:a16="http://schemas.microsoft.com/office/drawing/2014/main" id="{DFB54ECD-DB94-4DD7-61DA-5982C78DE0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1" name="Line 32">
                      <a:extLst>
                        <a:ext uri="{FF2B5EF4-FFF2-40B4-BE49-F238E27FC236}">
                          <a16:creationId xmlns:a16="http://schemas.microsoft.com/office/drawing/2014/main" id="{CDF7FA2D-60D2-F8C3-72FB-5595C92C27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2" name="Line 33">
                      <a:extLst>
                        <a:ext uri="{FF2B5EF4-FFF2-40B4-BE49-F238E27FC236}">
                          <a16:creationId xmlns:a16="http://schemas.microsoft.com/office/drawing/2014/main" id="{78997FE1-7C8F-38D7-0EF9-1856B30625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3" name="Line 34">
                      <a:extLst>
                        <a:ext uri="{FF2B5EF4-FFF2-40B4-BE49-F238E27FC236}">
                          <a16:creationId xmlns:a16="http://schemas.microsoft.com/office/drawing/2014/main" id="{A12D46E7-6AE2-6717-9CD0-41577A426F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8" name="Line 35">
                      <a:extLst>
                        <a:ext uri="{FF2B5EF4-FFF2-40B4-BE49-F238E27FC236}">
                          <a16:creationId xmlns:a16="http://schemas.microsoft.com/office/drawing/2014/main" id="{F98AD836-C1B9-BFC6-A678-7F193E7366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9" name="Line 36">
                      <a:extLst>
                        <a:ext uri="{FF2B5EF4-FFF2-40B4-BE49-F238E27FC236}">
                          <a16:creationId xmlns:a16="http://schemas.microsoft.com/office/drawing/2014/main" id="{B1A219C4-E720-D9D4-B9F9-FA3EC42636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0" name="Line 37">
                      <a:extLst>
                        <a:ext uri="{FF2B5EF4-FFF2-40B4-BE49-F238E27FC236}">
                          <a16:creationId xmlns:a16="http://schemas.microsoft.com/office/drawing/2014/main" id="{176A29D9-C0D1-E3AC-C15B-D749126079F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1" name="Line 38">
                      <a:extLst>
                        <a:ext uri="{FF2B5EF4-FFF2-40B4-BE49-F238E27FC236}">
                          <a16:creationId xmlns:a16="http://schemas.microsoft.com/office/drawing/2014/main" id="{DF458F77-7C7E-9D57-3C22-E9794C4F4DE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9" name="Line 39">
                  <a:extLst>
                    <a:ext uri="{FF2B5EF4-FFF2-40B4-BE49-F238E27FC236}">
                      <a16:creationId xmlns:a16="http://schemas.microsoft.com/office/drawing/2014/main" id="{065A0447-A9BB-39FA-7BAD-E7E9EBD699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0" name="Text Box 40">
                  <a:extLst>
                    <a:ext uri="{FF2B5EF4-FFF2-40B4-BE49-F238E27FC236}">
                      <a16:creationId xmlns:a16="http://schemas.microsoft.com/office/drawing/2014/main" id="{134CDB95-2F40-CCA4-3866-30DEB16654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</a:p>
              </p:txBody>
            </p:sp>
            <p:sp>
              <p:nvSpPr>
                <p:cNvPr id="21" name="Text Box 41">
                  <a:extLst>
                    <a:ext uri="{FF2B5EF4-FFF2-40B4-BE49-F238E27FC236}">
                      <a16:creationId xmlns:a16="http://schemas.microsoft.com/office/drawing/2014/main" id="{1000D61C-1520-17BB-F26B-21BE3A3494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</a:p>
              </p:txBody>
            </p:sp>
            <p:sp>
              <p:nvSpPr>
                <p:cNvPr id="22" name="Line 42">
                  <a:extLst>
                    <a:ext uri="{FF2B5EF4-FFF2-40B4-BE49-F238E27FC236}">
                      <a16:creationId xmlns:a16="http://schemas.microsoft.com/office/drawing/2014/main" id="{F1C6D3AF-9C02-40E7-9EFC-CC1814563A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3" name="Line 43">
                  <a:extLst>
                    <a:ext uri="{FF2B5EF4-FFF2-40B4-BE49-F238E27FC236}">
                      <a16:creationId xmlns:a16="http://schemas.microsoft.com/office/drawing/2014/main" id="{E32C8DB5-753A-7E82-681C-FBF3F26096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4" name="Line 44">
                  <a:extLst>
                    <a:ext uri="{FF2B5EF4-FFF2-40B4-BE49-F238E27FC236}">
                      <a16:creationId xmlns:a16="http://schemas.microsoft.com/office/drawing/2014/main" id="{FAC93DFC-F52A-BDAC-9D7A-D200198891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5" name="Text Box 45">
                  <a:extLst>
                    <a:ext uri="{FF2B5EF4-FFF2-40B4-BE49-F238E27FC236}">
                      <a16:creationId xmlns:a16="http://schemas.microsoft.com/office/drawing/2014/main" id="{260BFB4F-FBF7-89AE-9FA0-3C9CC4CA37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</a:p>
              </p:txBody>
            </p:sp>
            <p:sp>
              <p:nvSpPr>
                <p:cNvPr id="26" name="Text Box 46">
                  <a:extLst>
                    <a:ext uri="{FF2B5EF4-FFF2-40B4-BE49-F238E27FC236}">
                      <a16:creationId xmlns:a16="http://schemas.microsoft.com/office/drawing/2014/main" id="{4570712A-57C2-5A90-D521-7107141973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</a:p>
              </p:txBody>
            </p:sp>
            <p:sp>
              <p:nvSpPr>
                <p:cNvPr id="27" name="Text Box 47">
                  <a:extLst>
                    <a:ext uri="{FF2B5EF4-FFF2-40B4-BE49-F238E27FC236}">
                      <a16:creationId xmlns:a16="http://schemas.microsoft.com/office/drawing/2014/main" id="{76F2C3B7-FCC7-74F1-B6BD-09669D6CAE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8" name="Text Box 48">
                  <a:extLst>
                    <a:ext uri="{FF2B5EF4-FFF2-40B4-BE49-F238E27FC236}">
                      <a16:creationId xmlns:a16="http://schemas.microsoft.com/office/drawing/2014/main" id="{98E6C56D-23C8-76EB-B76A-A686B2163D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</a:p>
              </p:txBody>
            </p:sp>
            <p:sp>
              <p:nvSpPr>
                <p:cNvPr id="29" name="Text Box 49">
                  <a:extLst>
                    <a:ext uri="{FF2B5EF4-FFF2-40B4-BE49-F238E27FC236}">
                      <a16:creationId xmlns:a16="http://schemas.microsoft.com/office/drawing/2014/main" id="{F60148E3-5A74-84E7-92BB-3D41718313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" y="1608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25</a:t>
                  </a:r>
                </a:p>
              </p:txBody>
            </p:sp>
            <p:sp>
              <p:nvSpPr>
                <p:cNvPr id="30" name="Text Box 50">
                  <a:extLst>
                    <a:ext uri="{FF2B5EF4-FFF2-40B4-BE49-F238E27FC236}">
                      <a16:creationId xmlns:a16="http://schemas.microsoft.com/office/drawing/2014/main" id="{29D48B54-37AA-1959-5ABF-EB5614DB23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5" y="1610"/>
                  <a:ext cx="202" cy="16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31" name="Text Box 51">
                  <a:extLst>
                    <a:ext uri="{FF2B5EF4-FFF2-40B4-BE49-F238E27FC236}">
                      <a16:creationId xmlns:a16="http://schemas.microsoft.com/office/drawing/2014/main" id="{41E70919-CE5C-521E-CD84-34264BE343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2" y="1610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15</a:t>
                  </a:r>
                </a:p>
              </p:txBody>
            </p:sp>
            <p:sp>
              <p:nvSpPr>
                <p:cNvPr id="32" name="Text Box 52">
                  <a:extLst>
                    <a:ext uri="{FF2B5EF4-FFF2-40B4-BE49-F238E27FC236}">
                      <a16:creationId xmlns:a16="http://schemas.microsoft.com/office/drawing/2014/main" id="{C435FB3B-D5CF-20F4-741C-E2CE9A61CD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 </a:t>
                  </a:r>
                </a:p>
              </p:txBody>
            </p:sp>
            <p:sp>
              <p:nvSpPr>
                <p:cNvPr id="33" name="Text Box 53">
                  <a:extLst>
                    <a:ext uri="{FF2B5EF4-FFF2-40B4-BE49-F238E27FC236}">
                      <a16:creationId xmlns:a16="http://schemas.microsoft.com/office/drawing/2014/main" id="{7F1F704A-CA5A-A7E7-A934-75D4289772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34" name="Line 153">
                  <a:extLst>
                    <a:ext uri="{FF2B5EF4-FFF2-40B4-BE49-F238E27FC236}">
                      <a16:creationId xmlns:a16="http://schemas.microsoft.com/office/drawing/2014/main" id="{657A7827-46B3-A608-74C4-023A6C2E4E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5" name="Text Box 154">
                  <a:extLst>
                    <a:ext uri="{FF2B5EF4-FFF2-40B4-BE49-F238E27FC236}">
                      <a16:creationId xmlns:a16="http://schemas.microsoft.com/office/drawing/2014/main" id="{B4AEB361-FF28-ED06-D50D-FB5B3E1F7D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1609"/>
                  <a:ext cx="40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12</a:t>
                  </a:r>
                </a:p>
              </p:txBody>
            </p:sp>
          </p:grpSp>
        </p:grpSp>
        <p:sp>
          <p:nvSpPr>
            <p:cNvPr id="14" name="Text Box 41">
              <a:extLst>
                <a:ext uri="{FF2B5EF4-FFF2-40B4-BE49-F238E27FC236}">
                  <a16:creationId xmlns:a16="http://schemas.microsoft.com/office/drawing/2014/main" id="{13A7BC0E-58F9-D48F-77AA-40091283B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0779EC6C-DDC3-67FE-BCB1-92AA7C291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37" name="Título 136">
            <a:extLst>
              <a:ext uri="{FF2B5EF4-FFF2-40B4-BE49-F238E27FC236}">
                <a16:creationId xmlns:a16="http://schemas.microsoft.com/office/drawing/2014/main" id="{34C9B338-5DAD-10CF-2594-33E95FD4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  <a:endParaRPr lang="es-ES_tradnl" sz="2800" noProof="0" dirty="0"/>
          </a:p>
        </p:txBody>
      </p:sp>
    </p:spTree>
    <p:extLst>
      <p:ext uri="{BB962C8B-B14F-4D97-AF65-F5344CB8AC3E}">
        <p14:creationId xmlns:p14="http://schemas.microsoft.com/office/powerpoint/2010/main" val="943592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5900-2545-5167-1740-07136CB5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upo 134">
            <a:extLst>
              <a:ext uri="{FF2B5EF4-FFF2-40B4-BE49-F238E27FC236}">
                <a16:creationId xmlns:a16="http://schemas.microsoft.com/office/drawing/2014/main" id="{AB7F7609-6E7A-CB2A-B604-24CD934CEE3D}"/>
              </a:ext>
            </a:extLst>
          </p:cNvPr>
          <p:cNvGrpSpPr/>
          <p:nvPr/>
        </p:nvGrpSpPr>
        <p:grpSpPr>
          <a:xfrm>
            <a:off x="2620296" y="1048913"/>
            <a:ext cx="5764068" cy="1180085"/>
            <a:chOff x="975305" y="4921594"/>
            <a:chExt cx="3345284" cy="753875"/>
          </a:xfrm>
        </p:grpSpPr>
        <p:grpSp>
          <p:nvGrpSpPr>
            <p:cNvPr id="136" name="Group 9">
              <a:extLst>
                <a:ext uri="{FF2B5EF4-FFF2-40B4-BE49-F238E27FC236}">
                  <a16:creationId xmlns:a16="http://schemas.microsoft.com/office/drawing/2014/main" id="{DF10C739-07DC-13A9-64A0-6A4B76341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39" name="Rectangle 10">
                <a:extLst>
                  <a:ext uri="{FF2B5EF4-FFF2-40B4-BE49-F238E27FC236}">
                    <a16:creationId xmlns:a16="http://schemas.microsoft.com/office/drawing/2014/main" id="{94E93F1E-D549-A479-5758-AAD461917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40" name="Group 155">
                <a:extLst>
                  <a:ext uri="{FF2B5EF4-FFF2-40B4-BE49-F238E27FC236}">
                    <a16:creationId xmlns:a16="http://schemas.microsoft.com/office/drawing/2014/main" id="{BA139406-CC10-3D59-E98C-AE91FB700E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295"/>
                <a:chOff x="1168" y="1293"/>
                <a:chExt cx="3189" cy="482"/>
              </a:xfrm>
            </p:grpSpPr>
            <p:grpSp>
              <p:nvGrpSpPr>
                <p:cNvPr id="141" name="Group 5">
                  <a:extLst>
                    <a:ext uri="{FF2B5EF4-FFF2-40B4-BE49-F238E27FC236}">
                      <a16:creationId xmlns:a16="http://schemas.microsoft.com/office/drawing/2014/main" id="{EF917C3E-0C1F-AD53-FDDE-6D77F2C401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59" name="Rectangle 6">
                    <a:extLst>
                      <a:ext uri="{FF2B5EF4-FFF2-40B4-BE49-F238E27FC236}">
                        <a16:creationId xmlns:a16="http://schemas.microsoft.com/office/drawing/2014/main" id="{927127BC-8114-2BDB-7865-6AEAE773FF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b="1" noProof="0" dirty="0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160" name="Group 7">
                    <a:extLst>
                      <a:ext uri="{FF2B5EF4-FFF2-40B4-BE49-F238E27FC236}">
                        <a16:creationId xmlns:a16="http://schemas.microsoft.com/office/drawing/2014/main" id="{DB659BD0-6D4D-D36A-7A86-F67103911A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61" name="Line 9">
                      <a:extLst>
                        <a:ext uri="{FF2B5EF4-FFF2-40B4-BE49-F238E27FC236}">
                          <a16:creationId xmlns:a16="http://schemas.microsoft.com/office/drawing/2014/main" id="{AC15B989-863C-5C4F-1337-D6AEBC0DC1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2" name="Line 10">
                      <a:extLst>
                        <a:ext uri="{FF2B5EF4-FFF2-40B4-BE49-F238E27FC236}">
                          <a16:creationId xmlns:a16="http://schemas.microsoft.com/office/drawing/2014/main" id="{FBC18416-3230-BA8E-D881-7D462BC369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3" name="Line 11">
                      <a:extLst>
                        <a:ext uri="{FF2B5EF4-FFF2-40B4-BE49-F238E27FC236}">
                          <a16:creationId xmlns:a16="http://schemas.microsoft.com/office/drawing/2014/main" id="{A28A0C5E-F751-4048-3628-49DD91DB2F5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4" name="Line 12">
                      <a:extLst>
                        <a:ext uri="{FF2B5EF4-FFF2-40B4-BE49-F238E27FC236}">
                          <a16:creationId xmlns:a16="http://schemas.microsoft.com/office/drawing/2014/main" id="{20CEFC24-51AF-A1A4-10DE-8C7159DBDE7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5" name="Line 13">
                      <a:extLst>
                        <a:ext uri="{FF2B5EF4-FFF2-40B4-BE49-F238E27FC236}">
                          <a16:creationId xmlns:a16="http://schemas.microsoft.com/office/drawing/2014/main" id="{BF744F18-AF36-01FD-790A-080E4D4B714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6" name="Line 14">
                      <a:extLst>
                        <a:ext uri="{FF2B5EF4-FFF2-40B4-BE49-F238E27FC236}">
                          <a16:creationId xmlns:a16="http://schemas.microsoft.com/office/drawing/2014/main" id="{F7430E73-F72F-ACFA-5334-88A64EF4762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7" name="Line 15">
                      <a:extLst>
                        <a:ext uri="{FF2B5EF4-FFF2-40B4-BE49-F238E27FC236}">
                          <a16:creationId xmlns:a16="http://schemas.microsoft.com/office/drawing/2014/main" id="{2995E3F3-3912-93EA-F304-DA36DA21FB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8" name="Line 16">
                      <a:extLst>
                        <a:ext uri="{FF2B5EF4-FFF2-40B4-BE49-F238E27FC236}">
                          <a16:creationId xmlns:a16="http://schemas.microsoft.com/office/drawing/2014/main" id="{3F7BE5B4-74FC-0D87-0CC2-7AD77A62EFC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69" name="Line 17">
                      <a:extLst>
                        <a:ext uri="{FF2B5EF4-FFF2-40B4-BE49-F238E27FC236}">
                          <a16:creationId xmlns:a16="http://schemas.microsoft.com/office/drawing/2014/main" id="{1DD8E587-6C64-9E27-9E46-2AE734C4DC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0" name="Line 18">
                      <a:extLst>
                        <a:ext uri="{FF2B5EF4-FFF2-40B4-BE49-F238E27FC236}">
                          <a16:creationId xmlns:a16="http://schemas.microsoft.com/office/drawing/2014/main" id="{6D39DCED-6961-1133-E982-91CCF7B60A0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1" name="Line 19">
                      <a:extLst>
                        <a:ext uri="{FF2B5EF4-FFF2-40B4-BE49-F238E27FC236}">
                          <a16:creationId xmlns:a16="http://schemas.microsoft.com/office/drawing/2014/main" id="{2B681B4B-C937-1763-F5F7-0894FA403FF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2" name="Line 20">
                      <a:extLst>
                        <a:ext uri="{FF2B5EF4-FFF2-40B4-BE49-F238E27FC236}">
                          <a16:creationId xmlns:a16="http://schemas.microsoft.com/office/drawing/2014/main" id="{FF1239DC-99AF-E2C1-5E61-4A28EF4FFA6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3" name="Line 21">
                      <a:extLst>
                        <a:ext uri="{FF2B5EF4-FFF2-40B4-BE49-F238E27FC236}">
                          <a16:creationId xmlns:a16="http://schemas.microsoft.com/office/drawing/2014/main" id="{474A8380-C779-18B2-B8FE-067E4BBE95D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4" name="Line 22">
                      <a:extLst>
                        <a:ext uri="{FF2B5EF4-FFF2-40B4-BE49-F238E27FC236}">
                          <a16:creationId xmlns:a16="http://schemas.microsoft.com/office/drawing/2014/main" id="{A4E0E064-6D05-1F31-0547-95E3F3B531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5" name="Line 23">
                      <a:extLst>
                        <a:ext uri="{FF2B5EF4-FFF2-40B4-BE49-F238E27FC236}">
                          <a16:creationId xmlns:a16="http://schemas.microsoft.com/office/drawing/2014/main" id="{1CF9BCBE-26D2-D470-78A1-AC40F56E5E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6" name="Line 24">
                      <a:extLst>
                        <a:ext uri="{FF2B5EF4-FFF2-40B4-BE49-F238E27FC236}">
                          <a16:creationId xmlns:a16="http://schemas.microsoft.com/office/drawing/2014/main" id="{975AA602-D7CE-1BB2-729E-278A93DFDC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7" name="Line 25">
                      <a:extLst>
                        <a:ext uri="{FF2B5EF4-FFF2-40B4-BE49-F238E27FC236}">
                          <a16:creationId xmlns:a16="http://schemas.microsoft.com/office/drawing/2014/main" id="{DC8B3624-3A22-D67B-AC09-0D85D6C225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8" name="Line 26">
                      <a:extLst>
                        <a:ext uri="{FF2B5EF4-FFF2-40B4-BE49-F238E27FC236}">
                          <a16:creationId xmlns:a16="http://schemas.microsoft.com/office/drawing/2014/main" id="{F97013A8-8915-E80B-9BE1-F009EA3DF2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79" name="Line 27">
                      <a:extLst>
                        <a:ext uri="{FF2B5EF4-FFF2-40B4-BE49-F238E27FC236}">
                          <a16:creationId xmlns:a16="http://schemas.microsoft.com/office/drawing/2014/main" id="{2701753D-4D33-021E-E77A-DAA3133351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0" name="Line 28">
                      <a:extLst>
                        <a:ext uri="{FF2B5EF4-FFF2-40B4-BE49-F238E27FC236}">
                          <a16:creationId xmlns:a16="http://schemas.microsoft.com/office/drawing/2014/main" id="{F932A02D-7A76-EBDB-1655-0B20D51EB7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1" name="Line 29">
                      <a:extLst>
                        <a:ext uri="{FF2B5EF4-FFF2-40B4-BE49-F238E27FC236}">
                          <a16:creationId xmlns:a16="http://schemas.microsoft.com/office/drawing/2014/main" id="{5E97B0F4-ABF0-90B1-90F8-64B78337E55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2" name="Line 30">
                      <a:extLst>
                        <a:ext uri="{FF2B5EF4-FFF2-40B4-BE49-F238E27FC236}">
                          <a16:creationId xmlns:a16="http://schemas.microsoft.com/office/drawing/2014/main" id="{02FF9573-8BEC-FF3C-1CA0-A6B9C5CEBFC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3" name="Line 31">
                      <a:extLst>
                        <a:ext uri="{FF2B5EF4-FFF2-40B4-BE49-F238E27FC236}">
                          <a16:creationId xmlns:a16="http://schemas.microsoft.com/office/drawing/2014/main" id="{EB3B4E96-76E7-4E79-61B5-5FC3B995F96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4" name="Line 32">
                      <a:extLst>
                        <a:ext uri="{FF2B5EF4-FFF2-40B4-BE49-F238E27FC236}">
                          <a16:creationId xmlns:a16="http://schemas.microsoft.com/office/drawing/2014/main" id="{4E33D0C9-9771-88D1-8E0B-D527EF9818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5" name="Line 33">
                      <a:extLst>
                        <a:ext uri="{FF2B5EF4-FFF2-40B4-BE49-F238E27FC236}">
                          <a16:creationId xmlns:a16="http://schemas.microsoft.com/office/drawing/2014/main" id="{90E37DD1-B263-DBEE-52AE-D679A57D96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6" name="Line 34">
                      <a:extLst>
                        <a:ext uri="{FF2B5EF4-FFF2-40B4-BE49-F238E27FC236}">
                          <a16:creationId xmlns:a16="http://schemas.microsoft.com/office/drawing/2014/main" id="{5EE43B47-2412-89D8-B26E-8B0E584C2A0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7" name="Line 35">
                      <a:extLst>
                        <a:ext uri="{FF2B5EF4-FFF2-40B4-BE49-F238E27FC236}">
                          <a16:creationId xmlns:a16="http://schemas.microsoft.com/office/drawing/2014/main" id="{D75FCBD1-06EC-C027-20F4-D7616B10B0B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8" name="Line 36">
                      <a:extLst>
                        <a:ext uri="{FF2B5EF4-FFF2-40B4-BE49-F238E27FC236}">
                          <a16:creationId xmlns:a16="http://schemas.microsoft.com/office/drawing/2014/main" id="{1DC348D9-BE59-D9E7-8A7B-5ADDA25F907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89" name="Line 37">
                      <a:extLst>
                        <a:ext uri="{FF2B5EF4-FFF2-40B4-BE49-F238E27FC236}">
                          <a16:creationId xmlns:a16="http://schemas.microsoft.com/office/drawing/2014/main" id="{7A4EAA21-9D9F-7FF1-6B0B-7D1B65DBFE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0" name="Line 38">
                      <a:extLst>
                        <a:ext uri="{FF2B5EF4-FFF2-40B4-BE49-F238E27FC236}">
                          <a16:creationId xmlns:a16="http://schemas.microsoft.com/office/drawing/2014/main" id="{CAE991F1-06B1-E8DD-2FA7-05DD8120889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42" name="Line 39">
                  <a:extLst>
                    <a:ext uri="{FF2B5EF4-FFF2-40B4-BE49-F238E27FC236}">
                      <a16:creationId xmlns:a16="http://schemas.microsoft.com/office/drawing/2014/main" id="{1959BE0C-FDC4-7810-01D4-1BDD83FE07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43" name="Text Box 40">
                  <a:extLst>
                    <a:ext uri="{FF2B5EF4-FFF2-40B4-BE49-F238E27FC236}">
                      <a16:creationId xmlns:a16="http://schemas.microsoft.com/office/drawing/2014/main" id="{1F1ADC82-FE5F-56D7-1CFC-037D81A4FC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</a:p>
              </p:txBody>
            </p:sp>
            <p:sp>
              <p:nvSpPr>
                <p:cNvPr id="144" name="Text Box 41">
                  <a:extLst>
                    <a:ext uri="{FF2B5EF4-FFF2-40B4-BE49-F238E27FC236}">
                      <a16:creationId xmlns:a16="http://schemas.microsoft.com/office/drawing/2014/main" id="{D120D2BB-0A50-1D86-A7C8-132ADD0E50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</a:p>
              </p:txBody>
            </p:sp>
            <p:sp>
              <p:nvSpPr>
                <p:cNvPr id="145" name="Line 42">
                  <a:extLst>
                    <a:ext uri="{FF2B5EF4-FFF2-40B4-BE49-F238E27FC236}">
                      <a16:creationId xmlns:a16="http://schemas.microsoft.com/office/drawing/2014/main" id="{88E8D9DE-7FE2-BC56-95FC-ADC390E7A7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46" name="Line 43">
                  <a:extLst>
                    <a:ext uri="{FF2B5EF4-FFF2-40B4-BE49-F238E27FC236}">
                      <a16:creationId xmlns:a16="http://schemas.microsoft.com/office/drawing/2014/main" id="{6CC68032-8E23-1CE6-6D12-0E470065C3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47" name="Line 44">
                  <a:extLst>
                    <a:ext uri="{FF2B5EF4-FFF2-40B4-BE49-F238E27FC236}">
                      <a16:creationId xmlns:a16="http://schemas.microsoft.com/office/drawing/2014/main" id="{CE7025C9-BDA6-1C51-B9BF-454ACF2A7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48" name="Text Box 45">
                  <a:extLst>
                    <a:ext uri="{FF2B5EF4-FFF2-40B4-BE49-F238E27FC236}">
                      <a16:creationId xmlns:a16="http://schemas.microsoft.com/office/drawing/2014/main" id="{6DC1262F-6CCE-1842-CAC7-BDE81BFC1F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</a:p>
              </p:txBody>
            </p:sp>
            <p:sp>
              <p:nvSpPr>
                <p:cNvPr id="149" name="Text Box 46">
                  <a:extLst>
                    <a:ext uri="{FF2B5EF4-FFF2-40B4-BE49-F238E27FC236}">
                      <a16:creationId xmlns:a16="http://schemas.microsoft.com/office/drawing/2014/main" id="{5CF6673B-C21E-00A5-F573-4AA58C192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</a:p>
              </p:txBody>
            </p:sp>
            <p:sp>
              <p:nvSpPr>
                <p:cNvPr id="150" name="Text Box 47">
                  <a:extLst>
                    <a:ext uri="{FF2B5EF4-FFF2-40B4-BE49-F238E27FC236}">
                      <a16:creationId xmlns:a16="http://schemas.microsoft.com/office/drawing/2014/main" id="{DA0A6E04-0B34-9FCC-7422-A0CC4B1BFF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51" name="Text Box 48">
                  <a:extLst>
                    <a:ext uri="{FF2B5EF4-FFF2-40B4-BE49-F238E27FC236}">
                      <a16:creationId xmlns:a16="http://schemas.microsoft.com/office/drawing/2014/main" id="{490C82AA-B5EE-40B1-EFB2-886AFBCDB5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</a:p>
              </p:txBody>
            </p:sp>
            <p:sp>
              <p:nvSpPr>
                <p:cNvPr id="152" name="Text Box 49">
                  <a:extLst>
                    <a:ext uri="{FF2B5EF4-FFF2-40B4-BE49-F238E27FC236}">
                      <a16:creationId xmlns:a16="http://schemas.microsoft.com/office/drawing/2014/main" id="{2B0B86EB-1D1D-C86F-8073-77CB01F414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" y="1608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25</a:t>
                  </a:r>
                </a:p>
              </p:txBody>
            </p:sp>
            <p:sp>
              <p:nvSpPr>
                <p:cNvPr id="153" name="Text Box 50">
                  <a:extLst>
                    <a:ext uri="{FF2B5EF4-FFF2-40B4-BE49-F238E27FC236}">
                      <a16:creationId xmlns:a16="http://schemas.microsoft.com/office/drawing/2014/main" id="{3944B97D-4A1F-A779-57FB-36CA9EF357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5" y="1610"/>
                  <a:ext cx="202" cy="16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154" name="Text Box 51">
                  <a:extLst>
                    <a:ext uri="{FF2B5EF4-FFF2-40B4-BE49-F238E27FC236}">
                      <a16:creationId xmlns:a16="http://schemas.microsoft.com/office/drawing/2014/main" id="{297F9A7D-8D45-604A-4B53-9884C7382E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2" y="1610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15</a:t>
                  </a:r>
                </a:p>
              </p:txBody>
            </p:sp>
            <p:sp>
              <p:nvSpPr>
                <p:cNvPr id="155" name="Text Box 52">
                  <a:extLst>
                    <a:ext uri="{FF2B5EF4-FFF2-40B4-BE49-F238E27FC236}">
                      <a16:creationId xmlns:a16="http://schemas.microsoft.com/office/drawing/2014/main" id="{08D1AE60-73BA-923E-97E2-CD334C4DBC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 </a:t>
                  </a:r>
                </a:p>
              </p:txBody>
            </p:sp>
            <p:sp>
              <p:nvSpPr>
                <p:cNvPr id="156" name="Text Box 53">
                  <a:extLst>
                    <a:ext uri="{FF2B5EF4-FFF2-40B4-BE49-F238E27FC236}">
                      <a16:creationId xmlns:a16="http://schemas.microsoft.com/office/drawing/2014/main" id="{0E1FF928-51C0-3AFD-DA49-BD9BE5CEE5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157" name="Line 153">
                  <a:extLst>
                    <a:ext uri="{FF2B5EF4-FFF2-40B4-BE49-F238E27FC236}">
                      <a16:creationId xmlns:a16="http://schemas.microsoft.com/office/drawing/2014/main" id="{8F83B73B-0B43-8A2A-91F2-B1F5477E8E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58" name="Text Box 154">
                  <a:extLst>
                    <a:ext uri="{FF2B5EF4-FFF2-40B4-BE49-F238E27FC236}">
                      <a16:creationId xmlns:a16="http://schemas.microsoft.com/office/drawing/2014/main" id="{C1D338AC-6F42-17B0-A33B-6E805A715D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1609"/>
                  <a:ext cx="40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12</a:t>
                  </a:r>
                </a:p>
              </p:txBody>
            </p:sp>
          </p:grpSp>
        </p:grpSp>
        <p:sp>
          <p:nvSpPr>
            <p:cNvPr id="137" name="Text Box 41">
              <a:extLst>
                <a:ext uri="{FF2B5EF4-FFF2-40B4-BE49-F238E27FC236}">
                  <a16:creationId xmlns:a16="http://schemas.microsoft.com/office/drawing/2014/main" id="{B03E1E0C-4EE3-A333-8618-786FFF450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8" name="Line 11">
              <a:extLst>
                <a:ext uri="{FF2B5EF4-FFF2-40B4-BE49-F238E27FC236}">
                  <a16:creationId xmlns:a16="http://schemas.microsoft.com/office/drawing/2014/main" id="{CD2053ED-B9D0-F199-5453-D2C4E27BB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9A240118-D9F9-1856-7B52-A9B3850D9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Ejemplo de codificación de la instrucción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968C64C-B739-0524-13D0-BBE64E351954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s-ES_tradnl" sz="2000" noProof="0" dirty="0">
                <a:cs typeface="Arial" panose="020B0604020202020204" pitchFamily="34" charset="0"/>
              </a:rPr>
              <a:t>Cómo se codifica en binario la instrucción </a:t>
            </a:r>
            <a:r>
              <a:rPr lang="es-ES_tradnl" sz="18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x2, x3, x4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2550" indent="0">
              <a:buNone/>
            </a:pPr>
            <a:r>
              <a:rPr lang="es-ES_tradnl" sz="18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= 0110011 (instrucción de tipo R)</a:t>
            </a:r>
          </a:p>
          <a:p>
            <a:pPr marL="814388" lvl="3" indent="0">
              <a:buNone/>
            </a:pP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funct3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= 111 (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14388" lvl="3" indent="0">
              <a:buNone/>
            </a:pP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funct7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= 0000000</a:t>
            </a:r>
          </a:p>
          <a:p>
            <a:pPr marL="82550" indent="0">
              <a:lnSpc>
                <a:spcPct val="100000"/>
              </a:lnSpc>
              <a:buNone/>
            </a:pP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lnSpc>
                <a:spcPct val="100000"/>
              </a:lnSpc>
              <a:buNone/>
            </a:pPr>
            <a:r>
              <a:rPr lang="es-ES_tradnl" sz="1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Registers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60388" lvl="1" indent="-285750">
              <a:lnSpc>
                <a:spcPct val="100000"/>
              </a:lnSpc>
            </a:pP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= x2 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→ 00010</a:t>
            </a:r>
          </a:p>
          <a:p>
            <a:pPr marL="560388" lvl="1" indent="-285750">
              <a:lnSpc>
                <a:spcPct val="100000"/>
              </a:lnSpc>
            </a:pP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 = x3 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→ 00011</a:t>
            </a:r>
          </a:p>
          <a:p>
            <a:pPr marL="560388" lvl="1" indent="-285750">
              <a:lnSpc>
                <a:spcPct val="100000"/>
              </a:lnSpc>
            </a:pP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rs2 = x4 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→ 00100</a:t>
            </a:r>
          </a:p>
          <a:p>
            <a:pPr marL="82550" indent="0">
              <a:lnSpc>
                <a:spcPct val="100000"/>
              </a:lnSpc>
              <a:buNone/>
            </a:pP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Total:</a:t>
            </a:r>
          </a:p>
          <a:p>
            <a:pPr marL="403225" lvl="1" indent="0">
              <a:lnSpc>
                <a:spcPct val="100000"/>
              </a:lnSpc>
              <a:buNone/>
            </a:pP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0000000   00100   00011   111   00010   0110011  =  0x0041F133</a:t>
            </a:r>
          </a:p>
          <a:p>
            <a:pPr marL="82550" indent="0">
              <a:buNone/>
            </a:pPr>
            <a:endParaRPr lang="es-ES_tradnl" sz="2000" noProof="0" dirty="0"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0" dirty="0"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rchete izquierdo 3">
            <a:extLst>
              <a:ext uri="{FF2B5EF4-FFF2-40B4-BE49-F238E27FC236}">
                <a16:creationId xmlns:a16="http://schemas.microsoft.com/office/drawing/2014/main" id="{AAD44DDD-E2B9-E537-5AEC-8A0F0812B8F9}"/>
              </a:ext>
            </a:extLst>
          </p:cNvPr>
          <p:cNvSpPr/>
          <p:nvPr/>
        </p:nvSpPr>
        <p:spPr bwMode="auto">
          <a:xfrm rot="16200000">
            <a:off x="2481437" y="5757108"/>
            <a:ext cx="166174" cy="650217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7" name="Corchete izquierdo 6">
            <a:extLst>
              <a:ext uri="{FF2B5EF4-FFF2-40B4-BE49-F238E27FC236}">
                <a16:creationId xmlns:a16="http://schemas.microsoft.com/office/drawing/2014/main" id="{49DEA414-FE6E-2209-A602-C8754329B12A}"/>
              </a:ext>
            </a:extLst>
          </p:cNvPr>
          <p:cNvSpPr/>
          <p:nvPr/>
        </p:nvSpPr>
        <p:spPr bwMode="auto">
          <a:xfrm rot="16200000">
            <a:off x="3216199" y="5842761"/>
            <a:ext cx="166176" cy="47890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8" name="Corchete izquierdo 7">
            <a:extLst>
              <a:ext uri="{FF2B5EF4-FFF2-40B4-BE49-F238E27FC236}">
                <a16:creationId xmlns:a16="http://schemas.microsoft.com/office/drawing/2014/main" id="{799D609B-9122-78FE-3483-270B49201245}"/>
              </a:ext>
            </a:extLst>
          </p:cNvPr>
          <p:cNvSpPr/>
          <p:nvPr/>
        </p:nvSpPr>
        <p:spPr bwMode="auto">
          <a:xfrm rot="16200000">
            <a:off x="3817409" y="5842761"/>
            <a:ext cx="166176" cy="47890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" name="Corchete izquierdo 8">
            <a:extLst>
              <a:ext uri="{FF2B5EF4-FFF2-40B4-BE49-F238E27FC236}">
                <a16:creationId xmlns:a16="http://schemas.microsoft.com/office/drawing/2014/main" id="{01E1D2AD-74DC-FFD6-55E8-95AAEF7B553D}"/>
              </a:ext>
            </a:extLst>
          </p:cNvPr>
          <p:cNvSpPr/>
          <p:nvPr/>
        </p:nvSpPr>
        <p:spPr bwMode="auto">
          <a:xfrm rot="16200000">
            <a:off x="4872383" y="5842761"/>
            <a:ext cx="166176" cy="47890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2" name="Corchete izquierdo 11">
            <a:extLst>
              <a:ext uri="{FF2B5EF4-FFF2-40B4-BE49-F238E27FC236}">
                <a16:creationId xmlns:a16="http://schemas.microsoft.com/office/drawing/2014/main" id="{9B8412E0-AAAD-0161-3F0D-49546C6FE670}"/>
              </a:ext>
            </a:extLst>
          </p:cNvPr>
          <p:cNvSpPr/>
          <p:nvPr/>
        </p:nvSpPr>
        <p:spPr bwMode="auto">
          <a:xfrm rot="16200000">
            <a:off x="5569433" y="5815944"/>
            <a:ext cx="166176" cy="576865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CD88C29-54FD-6BD5-0454-8F8FF4CC71CB}"/>
              </a:ext>
            </a:extLst>
          </p:cNvPr>
          <p:cNvSpPr txBox="1"/>
          <p:nvPr/>
        </p:nvSpPr>
        <p:spPr>
          <a:xfrm>
            <a:off x="2117189" y="6165304"/>
            <a:ext cx="829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EAD50E-01BA-3CD9-51F6-26D85A8A6FEC}"/>
              </a:ext>
            </a:extLst>
          </p:cNvPr>
          <p:cNvSpPr txBox="1"/>
          <p:nvPr/>
        </p:nvSpPr>
        <p:spPr>
          <a:xfrm>
            <a:off x="4049093" y="6361583"/>
            <a:ext cx="829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FE17A80-F096-C450-794B-0D58BEF25F16}"/>
              </a:ext>
            </a:extLst>
          </p:cNvPr>
          <p:cNvSpPr txBox="1"/>
          <p:nvPr/>
        </p:nvSpPr>
        <p:spPr>
          <a:xfrm>
            <a:off x="3038711" y="616530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EFF6318-C200-1364-661F-9944F926A815}"/>
              </a:ext>
            </a:extLst>
          </p:cNvPr>
          <p:cNvSpPr txBox="1"/>
          <p:nvPr/>
        </p:nvSpPr>
        <p:spPr>
          <a:xfrm>
            <a:off x="3635896" y="616530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C530F-A2D0-E123-253E-448409D10199}"/>
              </a:ext>
            </a:extLst>
          </p:cNvPr>
          <p:cNvSpPr txBox="1"/>
          <p:nvPr/>
        </p:nvSpPr>
        <p:spPr>
          <a:xfrm>
            <a:off x="4766903" y="6165304"/>
            <a:ext cx="399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594D819-903E-BFF1-FD2B-B1A8E7F4BF9F}"/>
              </a:ext>
            </a:extLst>
          </p:cNvPr>
          <p:cNvSpPr txBox="1"/>
          <p:nvPr/>
        </p:nvSpPr>
        <p:spPr>
          <a:xfrm>
            <a:off x="5220072" y="616530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Corchete izquierdo 26">
            <a:extLst>
              <a:ext uri="{FF2B5EF4-FFF2-40B4-BE49-F238E27FC236}">
                <a16:creationId xmlns:a16="http://schemas.microsoft.com/office/drawing/2014/main" id="{6DA6075D-F33C-5125-219A-93EACEB5C3A2}"/>
              </a:ext>
            </a:extLst>
          </p:cNvPr>
          <p:cNvSpPr/>
          <p:nvPr/>
        </p:nvSpPr>
        <p:spPr bwMode="auto">
          <a:xfrm rot="16200000">
            <a:off x="4379408" y="5997857"/>
            <a:ext cx="144015" cy="190879"/>
          </a:xfrm>
          <a:prstGeom prst="leftBrac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383332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45EB-E661-23E4-EA64-6CAA14B8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4BB566F-D4FD-BDDC-563E-866427F7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700ED43B-2FD5-067B-2D84-20215D883384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63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¿Cómo se relaciona con el resto de formatos?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Partimos como caso general del formato R: </a:t>
            </a:r>
          </a:p>
          <a:p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2 operandos fuente (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rs1, rs2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 y un operando destino (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7+3 bits para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</a:p>
          <a:p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5 bits por registro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_tradnl" sz="16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Objetivo: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Mantener las </a:t>
            </a:r>
            <a:r>
              <a:rPr lang="es-ES_tradnl" sz="16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mismas posiciones del formato R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y aquellos operandos en registros que existan en cada uno de los formatos restantes</a:t>
            </a:r>
          </a:p>
          <a:p>
            <a:pPr marL="82550" indent="0">
              <a:buNone/>
            </a:pP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B51C630-9EF6-6A74-C088-68F6D9C11771}"/>
              </a:ext>
            </a:extLst>
          </p:cNvPr>
          <p:cNvGrpSpPr/>
          <p:nvPr/>
        </p:nvGrpSpPr>
        <p:grpSpPr>
          <a:xfrm>
            <a:off x="2620296" y="1048913"/>
            <a:ext cx="5764068" cy="1180085"/>
            <a:chOff x="975305" y="4921594"/>
            <a:chExt cx="3345284" cy="753875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65F7D683-FF39-8C55-D2DC-4F9A464194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5E4C87CE-D00A-76EA-B384-0348F108C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9" name="Group 155">
                <a:extLst>
                  <a:ext uri="{FF2B5EF4-FFF2-40B4-BE49-F238E27FC236}">
                    <a16:creationId xmlns:a16="http://schemas.microsoft.com/office/drawing/2014/main" id="{4C51C7FD-5B95-F1FE-FA26-10F993168E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295"/>
                <a:chOff x="1168" y="1293"/>
                <a:chExt cx="3189" cy="482"/>
              </a:xfrm>
            </p:grpSpPr>
            <p:grpSp>
              <p:nvGrpSpPr>
                <p:cNvPr id="10" name="Group 5">
                  <a:extLst>
                    <a:ext uri="{FF2B5EF4-FFF2-40B4-BE49-F238E27FC236}">
                      <a16:creationId xmlns:a16="http://schemas.microsoft.com/office/drawing/2014/main" id="{A6314E28-59A1-5855-1881-A84663CDE7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29" name="Rectangle 6">
                    <a:extLst>
                      <a:ext uri="{FF2B5EF4-FFF2-40B4-BE49-F238E27FC236}">
                        <a16:creationId xmlns:a16="http://schemas.microsoft.com/office/drawing/2014/main" id="{56EEAA1D-7842-D52E-A0FE-D1A47FD204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b="1" noProof="0" dirty="0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30" name="Group 7">
                    <a:extLst>
                      <a:ext uri="{FF2B5EF4-FFF2-40B4-BE49-F238E27FC236}">
                        <a16:creationId xmlns:a16="http://schemas.microsoft.com/office/drawing/2014/main" id="{4BF722A0-3ED7-2971-E4B6-AF06260E6A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31" name="Line 9">
                      <a:extLst>
                        <a:ext uri="{FF2B5EF4-FFF2-40B4-BE49-F238E27FC236}">
                          <a16:creationId xmlns:a16="http://schemas.microsoft.com/office/drawing/2014/main" id="{8A6B981B-FDB4-2ED9-CF43-782D8269339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2" name="Line 10">
                      <a:extLst>
                        <a:ext uri="{FF2B5EF4-FFF2-40B4-BE49-F238E27FC236}">
                          <a16:creationId xmlns:a16="http://schemas.microsoft.com/office/drawing/2014/main" id="{3DF6C097-10C8-9FCB-7A1A-D4863D5858B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3" name="Line 11">
                      <a:extLst>
                        <a:ext uri="{FF2B5EF4-FFF2-40B4-BE49-F238E27FC236}">
                          <a16:creationId xmlns:a16="http://schemas.microsoft.com/office/drawing/2014/main" id="{1CEB0C1B-7B4A-4584-1E2D-22A5A06DDE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4" name="Line 12">
                      <a:extLst>
                        <a:ext uri="{FF2B5EF4-FFF2-40B4-BE49-F238E27FC236}">
                          <a16:creationId xmlns:a16="http://schemas.microsoft.com/office/drawing/2014/main" id="{0F7390DF-6DD2-5D54-A0EF-2A529B71BD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5" name="Line 13">
                      <a:extLst>
                        <a:ext uri="{FF2B5EF4-FFF2-40B4-BE49-F238E27FC236}">
                          <a16:creationId xmlns:a16="http://schemas.microsoft.com/office/drawing/2014/main" id="{FC4E80D4-CA88-58DD-EA26-2A797A3FE9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6" name="Line 14">
                      <a:extLst>
                        <a:ext uri="{FF2B5EF4-FFF2-40B4-BE49-F238E27FC236}">
                          <a16:creationId xmlns:a16="http://schemas.microsoft.com/office/drawing/2014/main" id="{022DE9C6-B677-47EF-B7D1-DA0F91F66A1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7" name="Line 15">
                      <a:extLst>
                        <a:ext uri="{FF2B5EF4-FFF2-40B4-BE49-F238E27FC236}">
                          <a16:creationId xmlns:a16="http://schemas.microsoft.com/office/drawing/2014/main" id="{1F5D65F7-82DD-297A-4591-A429ECC5CD2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8" name="Line 16">
                      <a:extLst>
                        <a:ext uri="{FF2B5EF4-FFF2-40B4-BE49-F238E27FC236}">
                          <a16:creationId xmlns:a16="http://schemas.microsoft.com/office/drawing/2014/main" id="{DED850EB-6CF6-9073-068C-D8FD99DF8D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9" name="Line 17">
                      <a:extLst>
                        <a:ext uri="{FF2B5EF4-FFF2-40B4-BE49-F238E27FC236}">
                          <a16:creationId xmlns:a16="http://schemas.microsoft.com/office/drawing/2014/main" id="{4FD553CD-DAD5-F786-E96E-F554C16D62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0" name="Line 18">
                      <a:extLst>
                        <a:ext uri="{FF2B5EF4-FFF2-40B4-BE49-F238E27FC236}">
                          <a16:creationId xmlns:a16="http://schemas.microsoft.com/office/drawing/2014/main" id="{02565464-1426-0002-713F-C1AE954785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1" name="Line 19">
                      <a:extLst>
                        <a:ext uri="{FF2B5EF4-FFF2-40B4-BE49-F238E27FC236}">
                          <a16:creationId xmlns:a16="http://schemas.microsoft.com/office/drawing/2014/main" id="{2E8B6360-887A-EFA9-E5FF-5D0BA03F342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2" name="Line 20">
                      <a:extLst>
                        <a:ext uri="{FF2B5EF4-FFF2-40B4-BE49-F238E27FC236}">
                          <a16:creationId xmlns:a16="http://schemas.microsoft.com/office/drawing/2014/main" id="{013BEC8C-C1CA-C2D3-FF5E-C98BC69B31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3" name="Line 21">
                      <a:extLst>
                        <a:ext uri="{FF2B5EF4-FFF2-40B4-BE49-F238E27FC236}">
                          <a16:creationId xmlns:a16="http://schemas.microsoft.com/office/drawing/2014/main" id="{4B255217-C50A-A418-2F62-FE602C69F93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4" name="Line 22">
                      <a:extLst>
                        <a:ext uri="{FF2B5EF4-FFF2-40B4-BE49-F238E27FC236}">
                          <a16:creationId xmlns:a16="http://schemas.microsoft.com/office/drawing/2014/main" id="{73A5F71A-1F3E-0246-96DD-409856D5294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5" name="Line 23">
                      <a:extLst>
                        <a:ext uri="{FF2B5EF4-FFF2-40B4-BE49-F238E27FC236}">
                          <a16:creationId xmlns:a16="http://schemas.microsoft.com/office/drawing/2014/main" id="{D1D949C6-02DE-C594-ABBB-23F6613E8C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6" name="Line 24">
                      <a:extLst>
                        <a:ext uri="{FF2B5EF4-FFF2-40B4-BE49-F238E27FC236}">
                          <a16:creationId xmlns:a16="http://schemas.microsoft.com/office/drawing/2014/main" id="{F002B6F3-36CD-CBA5-5D95-D662EF8222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7" name="Line 25">
                      <a:extLst>
                        <a:ext uri="{FF2B5EF4-FFF2-40B4-BE49-F238E27FC236}">
                          <a16:creationId xmlns:a16="http://schemas.microsoft.com/office/drawing/2014/main" id="{C295F003-0D32-73DD-1BE7-1FD6AC30DD5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8" name="Line 26">
                      <a:extLst>
                        <a:ext uri="{FF2B5EF4-FFF2-40B4-BE49-F238E27FC236}">
                          <a16:creationId xmlns:a16="http://schemas.microsoft.com/office/drawing/2014/main" id="{49824E8F-398D-CF04-FCA3-189B333F6E0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9" name="Line 27">
                      <a:extLst>
                        <a:ext uri="{FF2B5EF4-FFF2-40B4-BE49-F238E27FC236}">
                          <a16:creationId xmlns:a16="http://schemas.microsoft.com/office/drawing/2014/main" id="{9E678151-12C8-6E43-0E2E-D6330D741C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0" name="Line 28">
                      <a:extLst>
                        <a:ext uri="{FF2B5EF4-FFF2-40B4-BE49-F238E27FC236}">
                          <a16:creationId xmlns:a16="http://schemas.microsoft.com/office/drawing/2014/main" id="{ED86EAF5-0F77-930E-6F1A-7A70ACE31A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1" name="Line 29">
                      <a:extLst>
                        <a:ext uri="{FF2B5EF4-FFF2-40B4-BE49-F238E27FC236}">
                          <a16:creationId xmlns:a16="http://schemas.microsoft.com/office/drawing/2014/main" id="{3FD1408B-1076-D5DA-EC50-527DE24D147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2" name="Line 30">
                      <a:extLst>
                        <a:ext uri="{FF2B5EF4-FFF2-40B4-BE49-F238E27FC236}">
                          <a16:creationId xmlns:a16="http://schemas.microsoft.com/office/drawing/2014/main" id="{42A35FA2-55B1-9EB9-2CFD-BF9C6640AD2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3" name="Line 31">
                      <a:extLst>
                        <a:ext uri="{FF2B5EF4-FFF2-40B4-BE49-F238E27FC236}">
                          <a16:creationId xmlns:a16="http://schemas.microsoft.com/office/drawing/2014/main" id="{B0136230-8E8D-D582-B63D-FB16CC2D54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4" name="Line 32">
                      <a:extLst>
                        <a:ext uri="{FF2B5EF4-FFF2-40B4-BE49-F238E27FC236}">
                          <a16:creationId xmlns:a16="http://schemas.microsoft.com/office/drawing/2014/main" id="{A55A1859-3F39-B2AA-30AF-C610BC58C1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5" name="Line 33">
                      <a:extLst>
                        <a:ext uri="{FF2B5EF4-FFF2-40B4-BE49-F238E27FC236}">
                          <a16:creationId xmlns:a16="http://schemas.microsoft.com/office/drawing/2014/main" id="{43D89501-CE52-8790-1124-3AD89A545B4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6" name="Line 34">
                      <a:extLst>
                        <a:ext uri="{FF2B5EF4-FFF2-40B4-BE49-F238E27FC236}">
                          <a16:creationId xmlns:a16="http://schemas.microsoft.com/office/drawing/2014/main" id="{602B8E5E-C3F7-9698-EF00-2E2688E17EC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7" name="Line 35">
                      <a:extLst>
                        <a:ext uri="{FF2B5EF4-FFF2-40B4-BE49-F238E27FC236}">
                          <a16:creationId xmlns:a16="http://schemas.microsoft.com/office/drawing/2014/main" id="{A1C98CEA-B361-F78D-C5D3-9C9DE9D521A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8" name="Line 36">
                      <a:extLst>
                        <a:ext uri="{FF2B5EF4-FFF2-40B4-BE49-F238E27FC236}">
                          <a16:creationId xmlns:a16="http://schemas.microsoft.com/office/drawing/2014/main" id="{9D942D14-C9DB-1293-6E62-88A686F8F3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9" name="Line 37">
                      <a:extLst>
                        <a:ext uri="{FF2B5EF4-FFF2-40B4-BE49-F238E27FC236}">
                          <a16:creationId xmlns:a16="http://schemas.microsoft.com/office/drawing/2014/main" id="{393DB79A-5519-EF9D-D83A-B2F450F600E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0" name="Line 38">
                      <a:extLst>
                        <a:ext uri="{FF2B5EF4-FFF2-40B4-BE49-F238E27FC236}">
                          <a16:creationId xmlns:a16="http://schemas.microsoft.com/office/drawing/2014/main" id="{04777D6C-C3C1-35B9-B299-7A218ABBB7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1" name="Line 39">
                  <a:extLst>
                    <a:ext uri="{FF2B5EF4-FFF2-40B4-BE49-F238E27FC236}">
                      <a16:creationId xmlns:a16="http://schemas.microsoft.com/office/drawing/2014/main" id="{0BD0F0EA-EB39-5DB3-0289-267AA47DF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2" name="Text Box 40">
                  <a:extLst>
                    <a:ext uri="{FF2B5EF4-FFF2-40B4-BE49-F238E27FC236}">
                      <a16:creationId xmlns:a16="http://schemas.microsoft.com/office/drawing/2014/main" id="{081A0C5E-5E1C-7FB7-6179-123DA712AD1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</a:p>
              </p:txBody>
            </p:sp>
            <p:sp>
              <p:nvSpPr>
                <p:cNvPr id="14" name="Text Box 41">
                  <a:extLst>
                    <a:ext uri="{FF2B5EF4-FFF2-40B4-BE49-F238E27FC236}">
                      <a16:creationId xmlns:a16="http://schemas.microsoft.com/office/drawing/2014/main" id="{A4D48CA5-084F-A1EA-3146-4C936E31AA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</a:p>
              </p:txBody>
            </p:sp>
            <p:sp>
              <p:nvSpPr>
                <p:cNvPr id="15" name="Line 42">
                  <a:extLst>
                    <a:ext uri="{FF2B5EF4-FFF2-40B4-BE49-F238E27FC236}">
                      <a16:creationId xmlns:a16="http://schemas.microsoft.com/office/drawing/2014/main" id="{499DAF8D-1B88-FEA4-EE3C-5BFF91B683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6" name="Line 43">
                  <a:extLst>
                    <a:ext uri="{FF2B5EF4-FFF2-40B4-BE49-F238E27FC236}">
                      <a16:creationId xmlns:a16="http://schemas.microsoft.com/office/drawing/2014/main" id="{826CDF3F-5BE2-B08F-2343-71573A32C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" name="Line 44">
                  <a:extLst>
                    <a:ext uri="{FF2B5EF4-FFF2-40B4-BE49-F238E27FC236}">
                      <a16:creationId xmlns:a16="http://schemas.microsoft.com/office/drawing/2014/main" id="{F17E3DF9-41E1-97D3-5B77-8ECA50786C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8" name="Text Box 45">
                  <a:extLst>
                    <a:ext uri="{FF2B5EF4-FFF2-40B4-BE49-F238E27FC236}">
                      <a16:creationId xmlns:a16="http://schemas.microsoft.com/office/drawing/2014/main" id="{C5928549-782E-3ABD-2920-295A642764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</a:p>
              </p:txBody>
            </p:sp>
            <p:sp>
              <p:nvSpPr>
                <p:cNvPr id="19" name="Text Box 46">
                  <a:extLst>
                    <a:ext uri="{FF2B5EF4-FFF2-40B4-BE49-F238E27FC236}">
                      <a16:creationId xmlns:a16="http://schemas.microsoft.com/office/drawing/2014/main" id="{1F063378-2FB9-7658-2C16-F2EF18E4F3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</a:p>
              </p:txBody>
            </p:sp>
            <p:sp>
              <p:nvSpPr>
                <p:cNvPr id="20" name="Text Box 47">
                  <a:extLst>
                    <a:ext uri="{FF2B5EF4-FFF2-40B4-BE49-F238E27FC236}">
                      <a16:creationId xmlns:a16="http://schemas.microsoft.com/office/drawing/2014/main" id="{B0F48947-60FF-0ADD-C185-E7D2200A31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1" name="Text Box 48">
                  <a:extLst>
                    <a:ext uri="{FF2B5EF4-FFF2-40B4-BE49-F238E27FC236}">
                      <a16:creationId xmlns:a16="http://schemas.microsoft.com/office/drawing/2014/main" id="{B359BF1D-4A51-6E87-73D3-9E4FF2987A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</a:p>
              </p:txBody>
            </p:sp>
            <p:sp>
              <p:nvSpPr>
                <p:cNvPr id="22" name="Text Box 49">
                  <a:extLst>
                    <a:ext uri="{FF2B5EF4-FFF2-40B4-BE49-F238E27FC236}">
                      <a16:creationId xmlns:a16="http://schemas.microsoft.com/office/drawing/2014/main" id="{FF1AC8A4-9ECE-CD4F-0EA6-E6DA3FC528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" y="1608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25</a:t>
                  </a:r>
                </a:p>
              </p:txBody>
            </p:sp>
            <p:sp>
              <p:nvSpPr>
                <p:cNvPr id="23" name="Text Box 50">
                  <a:extLst>
                    <a:ext uri="{FF2B5EF4-FFF2-40B4-BE49-F238E27FC236}">
                      <a16:creationId xmlns:a16="http://schemas.microsoft.com/office/drawing/2014/main" id="{B5422FDF-903A-F81B-4F47-EA793262AF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5" y="1610"/>
                  <a:ext cx="202" cy="16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24" name="Text Box 51">
                  <a:extLst>
                    <a:ext uri="{FF2B5EF4-FFF2-40B4-BE49-F238E27FC236}">
                      <a16:creationId xmlns:a16="http://schemas.microsoft.com/office/drawing/2014/main" id="{114331B9-81DA-20BB-5839-CA81886BC3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2" y="1610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15</a:t>
                  </a:r>
                </a:p>
              </p:txBody>
            </p:sp>
            <p:sp>
              <p:nvSpPr>
                <p:cNvPr id="25" name="Text Box 52">
                  <a:extLst>
                    <a:ext uri="{FF2B5EF4-FFF2-40B4-BE49-F238E27FC236}">
                      <a16:creationId xmlns:a16="http://schemas.microsoft.com/office/drawing/2014/main" id="{8D31094D-1460-6935-1853-50CDD7CCAB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 </a:t>
                  </a:r>
                </a:p>
              </p:txBody>
            </p:sp>
            <p:sp>
              <p:nvSpPr>
                <p:cNvPr id="26" name="Text Box 53">
                  <a:extLst>
                    <a:ext uri="{FF2B5EF4-FFF2-40B4-BE49-F238E27FC236}">
                      <a16:creationId xmlns:a16="http://schemas.microsoft.com/office/drawing/2014/main" id="{B45F7799-83B7-A58E-A4BB-41AB135C49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27" name="Line 153">
                  <a:extLst>
                    <a:ext uri="{FF2B5EF4-FFF2-40B4-BE49-F238E27FC236}">
                      <a16:creationId xmlns:a16="http://schemas.microsoft.com/office/drawing/2014/main" id="{3D1EDC26-F874-594B-B78E-1C3913B94F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8" name="Text Box 154">
                  <a:extLst>
                    <a:ext uri="{FF2B5EF4-FFF2-40B4-BE49-F238E27FC236}">
                      <a16:creationId xmlns:a16="http://schemas.microsoft.com/office/drawing/2014/main" id="{A8572C32-4B5C-2DF1-2A0C-7B534A367A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1609"/>
                  <a:ext cx="40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12</a:t>
                  </a:r>
                </a:p>
              </p:txBody>
            </p:sp>
          </p:grpSp>
        </p:grpSp>
        <p:sp>
          <p:nvSpPr>
            <p:cNvPr id="6" name="Text Box 41">
              <a:extLst>
                <a:ext uri="{FF2B5EF4-FFF2-40B4-BE49-F238E27FC236}">
                  <a16:creationId xmlns:a16="http://schemas.microsoft.com/office/drawing/2014/main" id="{3C6EB0B5-2B92-9C70-B1A3-864831398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A33CC048-258F-74DF-7BC6-803906672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97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FECE-A616-6C60-1162-01AF3F25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EDFC2F0-12EE-72BB-901A-361E3B2C7EE4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_tradnl" sz="20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I: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(rs1)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o también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rs1,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endParaRPr lang="es-ES_trad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Un solo operando fuente (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) y un operando destino (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Huecos: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funct7+rs2 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(12 bits) para el inmediato</a:t>
            </a:r>
          </a:p>
          <a:p>
            <a:pPr marL="82550" indent="0">
              <a:buNone/>
            </a:pP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9E2E9D-946F-F319-8330-CCD3837C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4" name="Flecha abajo 113">
            <a:extLst>
              <a:ext uri="{FF2B5EF4-FFF2-40B4-BE49-F238E27FC236}">
                <a16:creationId xmlns:a16="http://schemas.microsoft.com/office/drawing/2014/main" id="{5806ABDE-0FFF-AD26-16C4-D36B04A5F035}"/>
              </a:ext>
            </a:extLst>
          </p:cNvPr>
          <p:cNvSpPr/>
          <p:nvPr/>
        </p:nvSpPr>
        <p:spPr>
          <a:xfrm>
            <a:off x="5254453" y="4122432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D383FBA3-8BB0-6F5D-F1C3-87BBAD5567D7}"/>
              </a:ext>
            </a:extLst>
          </p:cNvPr>
          <p:cNvGrpSpPr/>
          <p:nvPr/>
        </p:nvGrpSpPr>
        <p:grpSpPr>
          <a:xfrm>
            <a:off x="2620296" y="1048913"/>
            <a:ext cx="5764068" cy="1180085"/>
            <a:chOff x="2620296" y="1048913"/>
            <a:chExt cx="5764068" cy="1180085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EC33DF81-D029-1F10-75E6-AF31EC6B6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296" y="1048913"/>
              <a:ext cx="5764068" cy="118008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14" name="Group 5">
              <a:extLst>
                <a:ext uri="{FF2B5EF4-FFF2-40B4-BE49-F238E27FC236}">
                  <a16:creationId xmlns:a16="http://schemas.microsoft.com/office/drawing/2014/main" id="{93FB7B24-4CE1-9D93-25E5-74AB33DD8C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9516" y="1200562"/>
              <a:ext cx="5359032" cy="538085"/>
              <a:chOff x="982" y="1296"/>
              <a:chExt cx="3050" cy="336"/>
            </a:xfrm>
          </p:grpSpPr>
          <p:sp>
            <p:nvSpPr>
              <p:cNvPr id="37" name="Rectangle 6">
                <a:extLst>
                  <a:ext uri="{FF2B5EF4-FFF2-40B4-BE49-F238E27FC236}">
                    <a16:creationId xmlns:a16="http://schemas.microsoft.com/office/drawing/2014/main" id="{262FF929-B10C-DEB9-52CE-FBC74889D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" y="1296"/>
                <a:ext cx="3050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b="1" noProof="0" dirty="0">
                  <a:solidFill>
                    <a:srgbClr val="4F271C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38" name="Group 7">
                <a:extLst>
                  <a:ext uri="{FF2B5EF4-FFF2-40B4-BE49-F238E27FC236}">
                    <a16:creationId xmlns:a16="http://schemas.microsoft.com/office/drawing/2014/main" id="{F833BA53-F7C4-C0A6-8D4D-493DDE28BB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536"/>
                <a:ext cx="2784" cy="96"/>
                <a:chOff x="1152" y="1536"/>
                <a:chExt cx="2784" cy="96"/>
              </a:xfrm>
            </p:grpSpPr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42379E3F-0BC1-6B7F-CC73-DAA194DF4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0" name="Line 10">
                  <a:extLst>
                    <a:ext uri="{FF2B5EF4-FFF2-40B4-BE49-F238E27FC236}">
                      <a16:creationId xmlns:a16="http://schemas.microsoft.com/office/drawing/2014/main" id="{29A88527-9E37-954A-929C-E53958E4F3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1" name="Line 11">
                  <a:extLst>
                    <a:ext uri="{FF2B5EF4-FFF2-40B4-BE49-F238E27FC236}">
                      <a16:creationId xmlns:a16="http://schemas.microsoft.com/office/drawing/2014/main" id="{91A49E91-DD78-392B-C09F-BC701F752B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2" name="Line 12">
                  <a:extLst>
                    <a:ext uri="{FF2B5EF4-FFF2-40B4-BE49-F238E27FC236}">
                      <a16:creationId xmlns:a16="http://schemas.microsoft.com/office/drawing/2014/main" id="{A3E456B3-C41A-BF3D-9350-12D2E3B60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3" name="Line 13">
                  <a:extLst>
                    <a:ext uri="{FF2B5EF4-FFF2-40B4-BE49-F238E27FC236}">
                      <a16:creationId xmlns:a16="http://schemas.microsoft.com/office/drawing/2014/main" id="{86093E72-A8C6-1CD0-65D9-2F4A4E5752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4" name="Line 14">
                  <a:extLst>
                    <a:ext uri="{FF2B5EF4-FFF2-40B4-BE49-F238E27FC236}">
                      <a16:creationId xmlns:a16="http://schemas.microsoft.com/office/drawing/2014/main" id="{A5306481-C074-63F9-9031-874D159FF9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3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5" name="Line 15">
                  <a:extLst>
                    <a:ext uri="{FF2B5EF4-FFF2-40B4-BE49-F238E27FC236}">
                      <a16:creationId xmlns:a16="http://schemas.microsoft.com/office/drawing/2014/main" id="{E03EE960-C0DA-E8D5-6EEF-9DE5FEF58D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6" name="Line 16">
                  <a:extLst>
                    <a:ext uri="{FF2B5EF4-FFF2-40B4-BE49-F238E27FC236}">
                      <a16:creationId xmlns:a16="http://schemas.microsoft.com/office/drawing/2014/main" id="{C8FC1374-342E-7911-089E-E3FACB603C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7" name="Line 17">
                  <a:extLst>
                    <a:ext uri="{FF2B5EF4-FFF2-40B4-BE49-F238E27FC236}">
                      <a16:creationId xmlns:a16="http://schemas.microsoft.com/office/drawing/2014/main" id="{0D6E579D-D003-DC1A-33AA-149BE94D6A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8" name="Line 18">
                  <a:extLst>
                    <a:ext uri="{FF2B5EF4-FFF2-40B4-BE49-F238E27FC236}">
                      <a16:creationId xmlns:a16="http://schemas.microsoft.com/office/drawing/2014/main" id="{BB708F06-5396-07A4-C4EE-AD88AA813E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9" name="Line 19">
                  <a:extLst>
                    <a:ext uri="{FF2B5EF4-FFF2-40B4-BE49-F238E27FC236}">
                      <a16:creationId xmlns:a16="http://schemas.microsoft.com/office/drawing/2014/main" id="{64F409BA-CEF8-0C52-C4AD-F02AD352A1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0" name="Line 20">
                  <a:extLst>
                    <a:ext uri="{FF2B5EF4-FFF2-40B4-BE49-F238E27FC236}">
                      <a16:creationId xmlns:a16="http://schemas.microsoft.com/office/drawing/2014/main" id="{A7C44AF3-AA91-5145-07A3-14EDEECD75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1" name="Line 21">
                  <a:extLst>
                    <a:ext uri="{FF2B5EF4-FFF2-40B4-BE49-F238E27FC236}">
                      <a16:creationId xmlns:a16="http://schemas.microsoft.com/office/drawing/2014/main" id="{1EC6DD36-A3C3-A54A-A4CB-AAF226F40C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2" name="Line 22">
                  <a:extLst>
                    <a:ext uri="{FF2B5EF4-FFF2-40B4-BE49-F238E27FC236}">
                      <a16:creationId xmlns:a16="http://schemas.microsoft.com/office/drawing/2014/main" id="{110D9DA6-2C98-EF87-21CF-A47E88E4D4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3" name="Line 23">
                  <a:extLst>
                    <a:ext uri="{FF2B5EF4-FFF2-40B4-BE49-F238E27FC236}">
                      <a16:creationId xmlns:a16="http://schemas.microsoft.com/office/drawing/2014/main" id="{E1F7E67F-E3BC-9BBE-56E4-9048709923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4" name="Line 24">
                  <a:extLst>
                    <a:ext uri="{FF2B5EF4-FFF2-40B4-BE49-F238E27FC236}">
                      <a16:creationId xmlns:a16="http://schemas.microsoft.com/office/drawing/2014/main" id="{D7C8E022-6A88-F318-4838-15028F0849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5" name="Line 25">
                  <a:extLst>
                    <a:ext uri="{FF2B5EF4-FFF2-40B4-BE49-F238E27FC236}">
                      <a16:creationId xmlns:a16="http://schemas.microsoft.com/office/drawing/2014/main" id="{17D764F2-33EF-108F-9DD7-09AF1FCF0E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6" name="Line 26">
                  <a:extLst>
                    <a:ext uri="{FF2B5EF4-FFF2-40B4-BE49-F238E27FC236}">
                      <a16:creationId xmlns:a16="http://schemas.microsoft.com/office/drawing/2014/main" id="{56DCCF8C-CB22-5250-C385-8F40256CB2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8" name="Line 27">
                  <a:extLst>
                    <a:ext uri="{FF2B5EF4-FFF2-40B4-BE49-F238E27FC236}">
                      <a16:creationId xmlns:a16="http://schemas.microsoft.com/office/drawing/2014/main" id="{BF94CDD1-4F94-889B-5DFE-F9839FA7C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9" name="Line 28">
                  <a:extLst>
                    <a:ext uri="{FF2B5EF4-FFF2-40B4-BE49-F238E27FC236}">
                      <a16:creationId xmlns:a16="http://schemas.microsoft.com/office/drawing/2014/main" id="{6C83C124-AA8E-CE71-0854-AC766C4C41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60" name="Line 29">
                  <a:extLst>
                    <a:ext uri="{FF2B5EF4-FFF2-40B4-BE49-F238E27FC236}">
                      <a16:creationId xmlns:a16="http://schemas.microsoft.com/office/drawing/2014/main" id="{A51A6F42-EB30-177E-1D43-F3AFE59E3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6" name="Line 30">
                  <a:extLst>
                    <a:ext uri="{FF2B5EF4-FFF2-40B4-BE49-F238E27FC236}">
                      <a16:creationId xmlns:a16="http://schemas.microsoft.com/office/drawing/2014/main" id="{1630E2E3-B947-6526-3936-15197E7B17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3" name="Line 31">
                  <a:extLst>
                    <a:ext uri="{FF2B5EF4-FFF2-40B4-BE49-F238E27FC236}">
                      <a16:creationId xmlns:a16="http://schemas.microsoft.com/office/drawing/2014/main" id="{85B3D0FE-1FF7-52D7-5B58-967E41D2CE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5" name="Line 32">
                  <a:extLst>
                    <a:ext uri="{FF2B5EF4-FFF2-40B4-BE49-F238E27FC236}">
                      <a16:creationId xmlns:a16="http://schemas.microsoft.com/office/drawing/2014/main" id="{56C03F87-7913-D3EC-4961-D16207E43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6" name="Line 33">
                  <a:extLst>
                    <a:ext uri="{FF2B5EF4-FFF2-40B4-BE49-F238E27FC236}">
                      <a16:creationId xmlns:a16="http://schemas.microsoft.com/office/drawing/2014/main" id="{51F31E00-19D0-4764-37FF-A537FC6A51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7" name="Line 34">
                  <a:extLst>
                    <a:ext uri="{FF2B5EF4-FFF2-40B4-BE49-F238E27FC236}">
                      <a16:creationId xmlns:a16="http://schemas.microsoft.com/office/drawing/2014/main" id="{7665AFB8-1B02-3CEA-D904-C0FA36D829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8" name="Line 35">
                  <a:extLst>
                    <a:ext uri="{FF2B5EF4-FFF2-40B4-BE49-F238E27FC236}">
                      <a16:creationId xmlns:a16="http://schemas.microsoft.com/office/drawing/2014/main" id="{6D4894A2-0693-A760-DA6C-9E46AE2C4F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9" name="Line 36">
                  <a:extLst>
                    <a:ext uri="{FF2B5EF4-FFF2-40B4-BE49-F238E27FC236}">
                      <a16:creationId xmlns:a16="http://schemas.microsoft.com/office/drawing/2014/main" id="{F9A09301-F829-B166-0B4D-0F38FF9461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0" name="Line 37">
                  <a:extLst>
                    <a:ext uri="{FF2B5EF4-FFF2-40B4-BE49-F238E27FC236}">
                      <a16:creationId xmlns:a16="http://schemas.microsoft.com/office/drawing/2014/main" id="{BDB71E70-06B9-C7A3-4196-AF42CD1F14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1" name="Line 38">
                  <a:extLst>
                    <a:ext uri="{FF2B5EF4-FFF2-40B4-BE49-F238E27FC236}">
                      <a16:creationId xmlns:a16="http://schemas.microsoft.com/office/drawing/2014/main" id="{1C5E98E2-A2E6-F51C-0C6E-2502AAF50F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15" name="Line 39">
              <a:extLst>
                <a:ext uri="{FF2B5EF4-FFF2-40B4-BE49-F238E27FC236}">
                  <a16:creationId xmlns:a16="http://schemas.microsoft.com/office/drawing/2014/main" id="{ED52FAC9-CFFC-E881-EE24-CFAD1489D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1605" y="1179743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Text Box 40">
              <a:extLst>
                <a:ext uri="{FF2B5EF4-FFF2-40B4-BE49-F238E27FC236}">
                  <a16:creationId xmlns:a16="http://schemas.microsoft.com/office/drawing/2014/main" id="{18FBA83D-619E-D1B8-FDC5-8D90A1A3B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369" y="1271025"/>
              <a:ext cx="989225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funct7</a:t>
              </a:r>
            </a:p>
          </p:txBody>
        </p:sp>
        <p:sp>
          <p:nvSpPr>
            <p:cNvPr id="17" name="Text Box 41">
              <a:extLst>
                <a:ext uri="{FF2B5EF4-FFF2-40B4-BE49-F238E27FC236}">
                  <a16:creationId xmlns:a16="http://schemas.microsoft.com/office/drawing/2014/main" id="{9C3B83E8-74FF-DBDE-C92C-D57C707202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1721" y="1271025"/>
              <a:ext cx="954083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funct3</a:t>
              </a:r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11F2D12E-29E6-0EDD-3F68-D38CD5385A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2022" y="1194156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Line 43">
              <a:extLst>
                <a:ext uri="{FF2B5EF4-FFF2-40B4-BE49-F238E27FC236}">
                  <a16:creationId xmlns:a16="http://schemas.microsoft.com/office/drawing/2014/main" id="{F8A7C27D-A2C9-736D-C374-DE7C79A80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8382" y="1216576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Line 44">
              <a:extLst>
                <a:ext uri="{FF2B5EF4-FFF2-40B4-BE49-F238E27FC236}">
                  <a16:creationId xmlns:a16="http://schemas.microsoft.com/office/drawing/2014/main" id="{23BD6700-3D59-13C7-4FFF-89F859812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3075" y="1197359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Text Box 45">
              <a:extLst>
                <a:ext uri="{FF2B5EF4-FFF2-40B4-BE49-F238E27FC236}">
                  <a16:creationId xmlns:a16="http://schemas.microsoft.com/office/drawing/2014/main" id="{C42AA959-C97F-4E4D-E186-1D353F047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260" y="1271025"/>
              <a:ext cx="792434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rs2</a:t>
              </a:r>
            </a:p>
          </p:txBody>
        </p:sp>
        <p:sp>
          <p:nvSpPr>
            <p:cNvPr id="25" name="Text Box 46">
              <a:extLst>
                <a:ext uri="{FF2B5EF4-FFF2-40B4-BE49-F238E27FC236}">
                  <a16:creationId xmlns:a16="http://schemas.microsoft.com/office/drawing/2014/main" id="{E2CA236E-B059-74B2-529B-AC002FE72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2304" y="1271025"/>
              <a:ext cx="701067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rs1</a:t>
              </a:r>
            </a:p>
          </p:txBody>
        </p:sp>
        <p:sp>
          <p:nvSpPr>
            <p:cNvPr id="28" name="Text Box 47">
              <a:extLst>
                <a:ext uri="{FF2B5EF4-FFF2-40B4-BE49-F238E27FC236}">
                  <a16:creationId xmlns:a16="http://schemas.microsoft.com/office/drawing/2014/main" id="{F1768791-42FD-E5E6-510A-E50C28C74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5374" y="1271025"/>
              <a:ext cx="1163173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opcode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Text Box 48">
              <a:extLst>
                <a:ext uri="{FF2B5EF4-FFF2-40B4-BE49-F238E27FC236}">
                  <a16:creationId xmlns:a16="http://schemas.microsoft.com/office/drawing/2014/main" id="{BE71A275-D4B3-65EB-3E76-8887CD236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296" y="1682596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30" name="Text Box 49">
              <a:extLst>
                <a:ext uri="{FF2B5EF4-FFF2-40B4-BE49-F238E27FC236}">
                  <a16:creationId xmlns:a16="http://schemas.microsoft.com/office/drawing/2014/main" id="{EE52AB43-275F-B0FE-45DA-E2A734CF0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831" y="1684198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31" name="Text Box 50">
              <a:extLst>
                <a:ext uri="{FF2B5EF4-FFF2-40B4-BE49-F238E27FC236}">
                  <a16:creationId xmlns:a16="http://schemas.microsoft.com/office/drawing/2014/main" id="{FE06BA21-522A-A150-634C-59FE5508A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649" y="1687401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32" name="Text Box 51">
              <a:extLst>
                <a:ext uri="{FF2B5EF4-FFF2-40B4-BE49-F238E27FC236}">
                  <a16:creationId xmlns:a16="http://schemas.microsoft.com/office/drawing/2014/main" id="{1F7EF288-C65E-19DB-90E6-7572197E2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8337" y="1687401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33" name="Text Box 52">
              <a:extLst>
                <a:ext uri="{FF2B5EF4-FFF2-40B4-BE49-F238E27FC236}">
                  <a16:creationId xmlns:a16="http://schemas.microsoft.com/office/drawing/2014/main" id="{EBE14A1B-89CA-7A04-6860-D2AAA58F0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6414" y="1682596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34" name="Text Box 53">
              <a:extLst>
                <a:ext uri="{FF2B5EF4-FFF2-40B4-BE49-F238E27FC236}">
                  <a16:creationId xmlns:a16="http://schemas.microsoft.com/office/drawing/2014/main" id="{22AA141D-10F5-AFC2-1E64-CFF8F4D70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4729" y="1690604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35" name="Line 153">
              <a:extLst>
                <a:ext uri="{FF2B5EF4-FFF2-40B4-BE49-F238E27FC236}">
                  <a16:creationId xmlns:a16="http://schemas.microsoft.com/office/drawing/2014/main" id="{38B8E4D4-B459-3DFA-D92A-38E568FD71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30901" y="1179743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Text Box 154">
              <a:extLst>
                <a:ext uri="{FF2B5EF4-FFF2-40B4-BE49-F238E27FC236}">
                  <a16:creationId xmlns:a16="http://schemas.microsoft.com/office/drawing/2014/main" id="{52D599B5-CBE9-968F-BE42-C7514D958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2179" y="1685799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7" name="Text Box 41">
              <a:extLst>
                <a:ext uri="{FF2B5EF4-FFF2-40B4-BE49-F238E27FC236}">
                  <a16:creationId xmlns:a16="http://schemas.microsoft.com/office/drawing/2014/main" id="{D6DA4DC5-7044-C94C-8704-5CBD429AD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0292" y="1244221"/>
              <a:ext cx="660987" cy="261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69D43C3C-EB8F-11E7-E9EB-D9EC38C20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6770" y="1580689"/>
              <a:ext cx="0" cy="153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81DD51E6-237D-5E2D-58A1-7DDC49302BC4}"/>
                </a:ext>
              </a:extLst>
            </p:cNvPr>
            <p:cNvSpPr/>
            <p:nvPr/>
          </p:nvSpPr>
          <p:spPr>
            <a:xfrm>
              <a:off x="2814236" y="1202660"/>
              <a:ext cx="1973788" cy="530674"/>
            </a:xfrm>
            <a:prstGeom prst="rect">
              <a:avLst/>
            </a:prstGeom>
            <a:solidFill>
              <a:schemeClr val="bg1">
                <a:lumMod val="85000"/>
                <a:alpha val="79247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97AEF6B6-D946-49FF-C4B9-AF67CFDF8056}"/>
              </a:ext>
            </a:extLst>
          </p:cNvPr>
          <p:cNvGrpSpPr/>
          <p:nvPr/>
        </p:nvGrpSpPr>
        <p:grpSpPr>
          <a:xfrm>
            <a:off x="2629257" y="5017061"/>
            <a:ext cx="5781064" cy="1216189"/>
            <a:chOff x="2629257" y="5017061"/>
            <a:chExt cx="5781064" cy="1216189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ABB5899-1ADD-1C44-EDDB-D235ACA105DD}"/>
                </a:ext>
              </a:extLst>
            </p:cNvPr>
            <p:cNvGrpSpPr/>
            <p:nvPr/>
          </p:nvGrpSpPr>
          <p:grpSpPr>
            <a:xfrm>
              <a:off x="2650774" y="5017061"/>
              <a:ext cx="5759547" cy="1216189"/>
              <a:chOff x="2650774" y="5017061"/>
              <a:chExt cx="5759547" cy="1216189"/>
            </a:xfrm>
          </p:grpSpPr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796FEA9E-3B38-BA75-E9CB-CAD0CD3D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0774" y="5017061"/>
                <a:ext cx="5759547" cy="121618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0" name="Group 5">
                <a:extLst>
                  <a:ext uri="{FF2B5EF4-FFF2-40B4-BE49-F238E27FC236}">
                    <a16:creationId xmlns:a16="http://schemas.microsoft.com/office/drawing/2014/main" id="{F672C0E2-AD1C-9B47-0F6F-590BAE2264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0547" y="5213626"/>
                <a:ext cx="5358593" cy="558336"/>
                <a:chOff x="982" y="1197"/>
                <a:chExt cx="3050" cy="435"/>
              </a:xfrm>
            </p:grpSpPr>
            <p:sp>
              <p:nvSpPr>
                <p:cNvPr id="70" name="Rectangle 6">
                  <a:extLst>
                    <a:ext uri="{FF2B5EF4-FFF2-40B4-BE49-F238E27FC236}">
                      <a16:creationId xmlns:a16="http://schemas.microsoft.com/office/drawing/2014/main" id="{D342C095-66B8-5C24-2334-87B0A445A2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197"/>
                  <a:ext cx="3050" cy="42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500" b="1" noProof="0" dirty="0">
                    <a:solidFill>
                      <a:srgbClr val="4F271C"/>
                    </a:solidFill>
                  </a:endParaRPr>
                </a:p>
              </p:txBody>
            </p:sp>
            <p:grpSp>
              <p:nvGrpSpPr>
                <p:cNvPr id="71" name="Group 7">
                  <a:extLst>
                    <a:ext uri="{FF2B5EF4-FFF2-40B4-BE49-F238E27FC236}">
                      <a16:creationId xmlns:a16="http://schemas.microsoft.com/office/drawing/2014/main" id="{08E12290-A268-CDCF-BD96-AD63A4548B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52" y="1536"/>
                  <a:ext cx="2784" cy="96"/>
                  <a:chOff x="1152" y="1536"/>
                  <a:chExt cx="2784" cy="96"/>
                </a:xfrm>
              </p:grpSpPr>
              <p:sp>
                <p:nvSpPr>
                  <p:cNvPr id="72" name="Line 9">
                    <a:extLst>
                      <a:ext uri="{FF2B5EF4-FFF2-40B4-BE49-F238E27FC236}">
                        <a16:creationId xmlns:a16="http://schemas.microsoft.com/office/drawing/2014/main" id="{15665CAD-571A-4B8B-4187-8250CB83AB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3" name="Line 10">
                    <a:extLst>
                      <a:ext uri="{FF2B5EF4-FFF2-40B4-BE49-F238E27FC236}">
                        <a16:creationId xmlns:a16="http://schemas.microsoft.com/office/drawing/2014/main" id="{549648B5-86AA-283D-314C-FBB2B05FC9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4" name="Line 11">
                    <a:extLst>
                      <a:ext uri="{FF2B5EF4-FFF2-40B4-BE49-F238E27FC236}">
                        <a16:creationId xmlns:a16="http://schemas.microsoft.com/office/drawing/2014/main" id="{07EA6A54-4C65-BA77-6A6F-66F0AE0315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5" name="Line 12">
                    <a:extLst>
                      <a:ext uri="{FF2B5EF4-FFF2-40B4-BE49-F238E27FC236}">
                        <a16:creationId xmlns:a16="http://schemas.microsoft.com/office/drawing/2014/main" id="{756A9D0D-B4DA-DF29-54D1-D9A668323F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7" name="Line 13">
                    <a:extLst>
                      <a:ext uri="{FF2B5EF4-FFF2-40B4-BE49-F238E27FC236}">
                        <a16:creationId xmlns:a16="http://schemas.microsoft.com/office/drawing/2014/main" id="{7FE799FD-7AB3-A71C-E636-F6DD40400C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8" name="Line 14">
                    <a:extLst>
                      <a:ext uri="{FF2B5EF4-FFF2-40B4-BE49-F238E27FC236}">
                        <a16:creationId xmlns:a16="http://schemas.microsoft.com/office/drawing/2014/main" id="{0A16A477-4EF2-5E6C-8B66-E3562EEBBAC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79" name="Line 15">
                    <a:extLst>
                      <a:ext uri="{FF2B5EF4-FFF2-40B4-BE49-F238E27FC236}">
                        <a16:creationId xmlns:a16="http://schemas.microsoft.com/office/drawing/2014/main" id="{A953F16C-2503-2496-B123-8F7599A251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0" name="Line 16">
                    <a:extLst>
                      <a:ext uri="{FF2B5EF4-FFF2-40B4-BE49-F238E27FC236}">
                        <a16:creationId xmlns:a16="http://schemas.microsoft.com/office/drawing/2014/main" id="{63409EF4-D98A-1D82-2512-A4B13CB32E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1" name="Line 17">
                    <a:extLst>
                      <a:ext uri="{FF2B5EF4-FFF2-40B4-BE49-F238E27FC236}">
                        <a16:creationId xmlns:a16="http://schemas.microsoft.com/office/drawing/2014/main" id="{7B44E9A8-AD13-A832-1615-D5CDF10183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2" name="Line 18">
                    <a:extLst>
                      <a:ext uri="{FF2B5EF4-FFF2-40B4-BE49-F238E27FC236}">
                        <a16:creationId xmlns:a16="http://schemas.microsoft.com/office/drawing/2014/main" id="{FF5BDBF7-548F-790E-9ADE-21D9ED3308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1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3" name="Line 19">
                    <a:extLst>
                      <a:ext uri="{FF2B5EF4-FFF2-40B4-BE49-F238E27FC236}">
                        <a16:creationId xmlns:a16="http://schemas.microsoft.com/office/drawing/2014/main" id="{E99CBB56-013C-7782-890A-B717F6929D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4" name="Line 20">
                    <a:extLst>
                      <a:ext uri="{FF2B5EF4-FFF2-40B4-BE49-F238E27FC236}">
                        <a16:creationId xmlns:a16="http://schemas.microsoft.com/office/drawing/2014/main" id="{6C20F741-AADA-66F0-EF9D-849E0D733B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5" name="Line 21">
                    <a:extLst>
                      <a:ext uri="{FF2B5EF4-FFF2-40B4-BE49-F238E27FC236}">
                        <a16:creationId xmlns:a16="http://schemas.microsoft.com/office/drawing/2014/main" id="{FCB613EC-AE80-6094-7979-C11E847800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6" name="Line 22">
                    <a:extLst>
                      <a:ext uri="{FF2B5EF4-FFF2-40B4-BE49-F238E27FC236}">
                        <a16:creationId xmlns:a16="http://schemas.microsoft.com/office/drawing/2014/main" id="{9E6B4CFC-1AFE-3D22-B9DE-168B667FB6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7" name="Line 23">
                    <a:extLst>
                      <a:ext uri="{FF2B5EF4-FFF2-40B4-BE49-F238E27FC236}">
                        <a16:creationId xmlns:a16="http://schemas.microsoft.com/office/drawing/2014/main" id="{61A89225-E7E0-8117-0FEB-AF869846FF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8" name="Line 24">
                    <a:extLst>
                      <a:ext uri="{FF2B5EF4-FFF2-40B4-BE49-F238E27FC236}">
                        <a16:creationId xmlns:a16="http://schemas.microsoft.com/office/drawing/2014/main" id="{E7095BA3-0EC5-B4CD-1CA8-EF4B87007E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89" name="Line 25">
                    <a:extLst>
                      <a:ext uri="{FF2B5EF4-FFF2-40B4-BE49-F238E27FC236}">
                        <a16:creationId xmlns:a16="http://schemas.microsoft.com/office/drawing/2014/main" id="{727FCD67-4511-2F64-DA0A-9C5D4319CD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0" name="Line 26">
                    <a:extLst>
                      <a:ext uri="{FF2B5EF4-FFF2-40B4-BE49-F238E27FC236}">
                        <a16:creationId xmlns:a16="http://schemas.microsoft.com/office/drawing/2014/main" id="{E813686F-89BE-4FF2-D63F-C4B069C2D8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8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1" name="Line 27">
                    <a:extLst>
                      <a:ext uri="{FF2B5EF4-FFF2-40B4-BE49-F238E27FC236}">
                        <a16:creationId xmlns:a16="http://schemas.microsoft.com/office/drawing/2014/main" id="{91CABE5C-CA5D-E94F-551E-1913A6D3E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2" name="Line 28">
                    <a:extLst>
                      <a:ext uri="{FF2B5EF4-FFF2-40B4-BE49-F238E27FC236}">
                        <a16:creationId xmlns:a16="http://schemas.microsoft.com/office/drawing/2014/main" id="{4BB42499-6DBC-2213-BFC8-D4903E638C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4" name="Line 29">
                    <a:extLst>
                      <a:ext uri="{FF2B5EF4-FFF2-40B4-BE49-F238E27FC236}">
                        <a16:creationId xmlns:a16="http://schemas.microsoft.com/office/drawing/2014/main" id="{C472CEA6-CA99-116B-C9A2-711D76D8A5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03" name="Line 30">
                    <a:extLst>
                      <a:ext uri="{FF2B5EF4-FFF2-40B4-BE49-F238E27FC236}">
                        <a16:creationId xmlns:a16="http://schemas.microsoft.com/office/drawing/2014/main" id="{4E5D6974-D280-18AC-3BEB-6175FE29DE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04" name="Line 31">
                    <a:extLst>
                      <a:ext uri="{FF2B5EF4-FFF2-40B4-BE49-F238E27FC236}">
                        <a16:creationId xmlns:a16="http://schemas.microsoft.com/office/drawing/2014/main" id="{BA1D1399-1003-03CA-249D-1B88AE05AC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6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05" name="Line 32">
                    <a:extLst>
                      <a:ext uri="{FF2B5EF4-FFF2-40B4-BE49-F238E27FC236}">
                        <a16:creationId xmlns:a16="http://schemas.microsoft.com/office/drawing/2014/main" id="{E493FDF1-8325-9734-4AF3-95749CE520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06" name="Line 33">
                    <a:extLst>
                      <a:ext uri="{FF2B5EF4-FFF2-40B4-BE49-F238E27FC236}">
                        <a16:creationId xmlns:a16="http://schemas.microsoft.com/office/drawing/2014/main" id="{7B82B009-6280-DF2C-5073-6B7ADF58FE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09" name="Line 34">
                    <a:extLst>
                      <a:ext uri="{FF2B5EF4-FFF2-40B4-BE49-F238E27FC236}">
                        <a16:creationId xmlns:a16="http://schemas.microsoft.com/office/drawing/2014/main" id="{B660C4EF-C02E-5A7A-BEAE-F59766AA4B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10" name="Line 35">
                    <a:extLst>
                      <a:ext uri="{FF2B5EF4-FFF2-40B4-BE49-F238E27FC236}">
                        <a16:creationId xmlns:a16="http://schemas.microsoft.com/office/drawing/2014/main" id="{04D0C4EE-B241-2750-32EE-BEFB8E294C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11" name="Line 36">
                    <a:extLst>
                      <a:ext uri="{FF2B5EF4-FFF2-40B4-BE49-F238E27FC236}">
                        <a16:creationId xmlns:a16="http://schemas.microsoft.com/office/drawing/2014/main" id="{1C594EC8-F854-1B38-6F21-B69D520E54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12" name="Line 37">
                    <a:extLst>
                      <a:ext uri="{FF2B5EF4-FFF2-40B4-BE49-F238E27FC236}">
                        <a16:creationId xmlns:a16="http://schemas.microsoft.com/office/drawing/2014/main" id="{39A7253C-ABCD-1882-517B-D84D2286F6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13" name="Line 38">
                    <a:extLst>
                      <a:ext uri="{FF2B5EF4-FFF2-40B4-BE49-F238E27FC236}">
                        <a16:creationId xmlns:a16="http://schemas.microsoft.com/office/drawing/2014/main" id="{96B463CF-6763-9FF9-162F-44AC7AC176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21" name="Text Box 40">
                <a:extLst>
                  <a:ext uri="{FF2B5EF4-FFF2-40B4-BE49-F238E27FC236}">
                    <a16:creationId xmlns:a16="http://schemas.microsoft.com/office/drawing/2014/main" id="{30496FA9-1003-7F39-C23B-4837D2ACB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0680" y="5348397"/>
                <a:ext cx="2124111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_tradnl" sz="11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[11:0]</a:t>
                </a:r>
              </a:p>
            </p:txBody>
          </p:sp>
          <p:sp>
            <p:nvSpPr>
              <p:cNvPr id="26" name="Text Box 41">
                <a:extLst>
                  <a:ext uri="{FF2B5EF4-FFF2-40B4-BE49-F238E27FC236}">
                    <a16:creationId xmlns:a16="http://schemas.microsoft.com/office/drawing/2014/main" id="{8D454AD2-E58A-563B-C16C-AAA3546D3B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2539" y="5366366"/>
                <a:ext cx="954005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funct3</a:t>
                </a:r>
              </a:p>
            </p:txBody>
          </p:sp>
          <p:sp>
            <p:nvSpPr>
              <p:cNvPr id="27" name="Line 42">
                <a:extLst>
                  <a:ext uri="{FF2B5EF4-FFF2-40B4-BE49-F238E27FC236}">
                    <a16:creationId xmlns:a16="http://schemas.microsoft.com/office/drawing/2014/main" id="{ED65F1DF-5978-80A9-B0D0-FF92C36E2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2890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Line 43">
                <a:extLst>
                  <a:ext uri="{FF2B5EF4-FFF2-40B4-BE49-F238E27FC236}">
                    <a16:creationId xmlns:a16="http://schemas.microsoft.com/office/drawing/2014/main" id="{64F61AEB-93FE-06E6-25E7-6911CF8B0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29181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Line 44">
                <a:extLst>
                  <a:ext uri="{FF2B5EF4-FFF2-40B4-BE49-F238E27FC236}">
                    <a16:creationId xmlns:a16="http://schemas.microsoft.com/office/drawing/2014/main" id="{C3565724-4A2A-11B6-072C-E0C6D928EB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83763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Text Box 46">
                <a:extLst>
                  <a:ext uri="{FF2B5EF4-FFF2-40B4-BE49-F238E27FC236}">
                    <a16:creationId xmlns:a16="http://schemas.microsoft.com/office/drawing/2014/main" id="{B0721C7A-FFF4-AD9B-2AB0-01049E5D9F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166" y="5350964"/>
                <a:ext cx="701009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rs1</a:t>
                </a:r>
              </a:p>
            </p:txBody>
          </p:sp>
          <p:sp>
            <p:nvSpPr>
              <p:cNvPr id="63" name="Text Box 47">
                <a:extLst>
                  <a:ext uri="{FF2B5EF4-FFF2-40B4-BE49-F238E27FC236}">
                    <a16:creationId xmlns:a16="http://schemas.microsoft.com/office/drawing/2014/main" id="{E4E7AE0E-DD34-59CA-0CBC-9F0173C35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6062" y="5341979"/>
                <a:ext cx="1163078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opcode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9" name="Line 153">
                <a:extLst>
                  <a:ext uri="{FF2B5EF4-FFF2-40B4-BE49-F238E27FC236}">
                    <a16:creationId xmlns:a16="http://schemas.microsoft.com/office/drawing/2014/main" id="{54E27CCE-2ACE-DDC0-0B79-1814B89A76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31659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Line 11">
                <a:extLst>
                  <a:ext uri="{FF2B5EF4-FFF2-40B4-BE49-F238E27FC236}">
                    <a16:creationId xmlns:a16="http://schemas.microsoft.com/office/drawing/2014/main" id="{85271C82-CAA0-0DCD-0E05-2C21CA36B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213" y="5639516"/>
                <a:ext cx="0" cy="1227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Text Box 41">
                <a:extLst>
                  <a:ext uri="{FF2B5EF4-FFF2-40B4-BE49-F238E27FC236}">
                    <a16:creationId xmlns:a16="http://schemas.microsoft.com/office/drawing/2014/main" id="{C2A351E0-F5B0-5F5D-60FD-9CAB689CE3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8033" y="5332163"/>
                <a:ext cx="655589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rd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02" name="Text Box 48">
              <a:extLst>
                <a:ext uri="{FF2B5EF4-FFF2-40B4-BE49-F238E27FC236}">
                  <a16:creationId xmlns:a16="http://schemas.microsoft.com/office/drawing/2014/main" id="{6A86CE46-4ADC-CA1A-FCF2-7B2A99481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7" y="5707747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07" name="Text Box 49">
              <a:extLst>
                <a:ext uri="{FF2B5EF4-FFF2-40B4-BE49-F238E27FC236}">
                  <a16:creationId xmlns:a16="http://schemas.microsoft.com/office/drawing/2014/main" id="{133989A9-BD46-FFDA-7BA7-DBC97C60E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2" y="5709349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08" name="Text Box 50">
              <a:extLst>
                <a:ext uri="{FF2B5EF4-FFF2-40B4-BE49-F238E27FC236}">
                  <a16:creationId xmlns:a16="http://schemas.microsoft.com/office/drawing/2014/main" id="{BC7ED86B-23A0-B4C7-7B34-6178A25C3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10" y="5712552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72" name="Text Box 51">
              <a:extLst>
                <a:ext uri="{FF2B5EF4-FFF2-40B4-BE49-F238E27FC236}">
                  <a16:creationId xmlns:a16="http://schemas.microsoft.com/office/drawing/2014/main" id="{0C8B58AD-5DDD-C64A-B791-E7732ADA3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8" y="5712552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73" name="Text Box 52">
              <a:extLst>
                <a:ext uri="{FF2B5EF4-FFF2-40B4-BE49-F238E27FC236}">
                  <a16:creationId xmlns:a16="http://schemas.microsoft.com/office/drawing/2014/main" id="{B74CFA02-DFEF-61BB-8BEB-2F1415585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5" y="5707747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74" name="Text Box 53">
              <a:extLst>
                <a:ext uri="{FF2B5EF4-FFF2-40B4-BE49-F238E27FC236}">
                  <a16:creationId xmlns:a16="http://schemas.microsoft.com/office/drawing/2014/main" id="{2F6B4A77-6E3E-AF9C-6689-E8B863374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90" y="5715755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75" name="Text Box 154">
              <a:extLst>
                <a:ext uri="{FF2B5EF4-FFF2-40B4-BE49-F238E27FC236}">
                  <a16:creationId xmlns:a16="http://schemas.microsoft.com/office/drawing/2014/main" id="{0363ADE2-F3C8-73A7-0A24-D64232B3C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40" y="5710950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76" name="Line 11">
              <a:extLst>
                <a:ext uri="{FF2B5EF4-FFF2-40B4-BE49-F238E27FC236}">
                  <a16:creationId xmlns:a16="http://schemas.microsoft.com/office/drawing/2014/main" id="{74A1BE6D-C3BB-862F-2C33-3348AB542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731" y="5605840"/>
              <a:ext cx="0" cy="153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139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94B7-45EE-D9FD-9E64-E269F2FC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0">
            <a:extLst>
              <a:ext uri="{FF2B5EF4-FFF2-40B4-BE49-F238E27FC236}">
                <a16:creationId xmlns:a16="http://schemas.microsoft.com/office/drawing/2014/main" id="{7002844F-FFA4-C77F-AC72-CB64A4EBE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296" y="1048913"/>
            <a:ext cx="5764068" cy="118008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77" name="Group 5">
            <a:extLst>
              <a:ext uri="{FF2B5EF4-FFF2-40B4-BE49-F238E27FC236}">
                <a16:creationId xmlns:a16="http://schemas.microsoft.com/office/drawing/2014/main" id="{3F937520-881C-EC1C-D10C-585FF78BFD1F}"/>
              </a:ext>
            </a:extLst>
          </p:cNvPr>
          <p:cNvGrpSpPr>
            <a:grpSpLocks/>
          </p:cNvGrpSpPr>
          <p:nvPr/>
        </p:nvGrpSpPr>
        <p:grpSpPr bwMode="auto">
          <a:xfrm>
            <a:off x="2799516" y="1200562"/>
            <a:ext cx="5359032" cy="538085"/>
            <a:chOff x="982" y="1296"/>
            <a:chExt cx="3050" cy="336"/>
          </a:xfrm>
        </p:grpSpPr>
        <p:sp>
          <p:nvSpPr>
            <p:cNvPr id="198" name="Rectangle 6">
              <a:extLst>
                <a:ext uri="{FF2B5EF4-FFF2-40B4-BE49-F238E27FC236}">
                  <a16:creationId xmlns:a16="http://schemas.microsoft.com/office/drawing/2014/main" id="{084A2DF0-D0A1-2FC4-9D27-522F42498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1296"/>
              <a:ext cx="305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b="1" noProof="0" dirty="0">
                <a:solidFill>
                  <a:srgbClr val="4F271C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199" name="Group 7">
              <a:extLst>
                <a:ext uri="{FF2B5EF4-FFF2-40B4-BE49-F238E27FC236}">
                  <a16:creationId xmlns:a16="http://schemas.microsoft.com/office/drawing/2014/main" id="{28346F00-9825-2750-85F9-28F10E4F2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2784" cy="96"/>
              <a:chOff x="1152" y="1536"/>
              <a:chExt cx="2784" cy="96"/>
            </a:xfrm>
          </p:grpSpPr>
          <p:sp>
            <p:nvSpPr>
              <p:cNvPr id="200" name="Line 9">
                <a:extLst>
                  <a:ext uri="{FF2B5EF4-FFF2-40B4-BE49-F238E27FC236}">
                    <a16:creationId xmlns:a16="http://schemas.microsoft.com/office/drawing/2014/main" id="{AC475B00-37B0-930A-B1CF-2DE3C21B7E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1" name="Line 10">
                <a:extLst>
                  <a:ext uri="{FF2B5EF4-FFF2-40B4-BE49-F238E27FC236}">
                    <a16:creationId xmlns:a16="http://schemas.microsoft.com/office/drawing/2014/main" id="{846BBBBD-9370-2ACC-2E1C-5F35D31476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2" name="Line 11">
                <a:extLst>
                  <a:ext uri="{FF2B5EF4-FFF2-40B4-BE49-F238E27FC236}">
                    <a16:creationId xmlns:a16="http://schemas.microsoft.com/office/drawing/2014/main" id="{85B34AAD-CD81-D5C1-FB5B-839BF632C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3" name="Line 12">
                <a:extLst>
                  <a:ext uri="{FF2B5EF4-FFF2-40B4-BE49-F238E27FC236}">
                    <a16:creationId xmlns:a16="http://schemas.microsoft.com/office/drawing/2014/main" id="{CE2EEC7D-BD1B-748C-DE9E-B48A9BC92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4" name="Line 13">
                <a:extLst>
                  <a:ext uri="{FF2B5EF4-FFF2-40B4-BE49-F238E27FC236}">
                    <a16:creationId xmlns:a16="http://schemas.microsoft.com/office/drawing/2014/main" id="{0B816809-6969-DBE0-15B5-3EBAE39106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5" name="Line 14">
                <a:extLst>
                  <a:ext uri="{FF2B5EF4-FFF2-40B4-BE49-F238E27FC236}">
                    <a16:creationId xmlns:a16="http://schemas.microsoft.com/office/drawing/2014/main" id="{3F2E7AC8-7C16-B192-020A-5D591018B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6" name="Line 15">
                <a:extLst>
                  <a:ext uri="{FF2B5EF4-FFF2-40B4-BE49-F238E27FC236}">
                    <a16:creationId xmlns:a16="http://schemas.microsoft.com/office/drawing/2014/main" id="{3DC29A58-C02D-9C0D-3C0C-011C9736AE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7" name="Line 16">
                <a:extLst>
                  <a:ext uri="{FF2B5EF4-FFF2-40B4-BE49-F238E27FC236}">
                    <a16:creationId xmlns:a16="http://schemas.microsoft.com/office/drawing/2014/main" id="{EC06D06C-BAFA-3367-F7AB-BED4C741A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8" name="Line 17">
                <a:extLst>
                  <a:ext uri="{FF2B5EF4-FFF2-40B4-BE49-F238E27FC236}">
                    <a16:creationId xmlns:a16="http://schemas.microsoft.com/office/drawing/2014/main" id="{2690F935-EAC9-E5D5-5AFF-22ED5752D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9" name="Line 18">
                <a:extLst>
                  <a:ext uri="{FF2B5EF4-FFF2-40B4-BE49-F238E27FC236}">
                    <a16:creationId xmlns:a16="http://schemas.microsoft.com/office/drawing/2014/main" id="{6351398C-89ED-60C6-B355-1F1666D54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0" name="Line 19">
                <a:extLst>
                  <a:ext uri="{FF2B5EF4-FFF2-40B4-BE49-F238E27FC236}">
                    <a16:creationId xmlns:a16="http://schemas.microsoft.com/office/drawing/2014/main" id="{76B36575-CCEF-D615-4FD9-269CA98E6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1" name="Line 20">
                <a:extLst>
                  <a:ext uri="{FF2B5EF4-FFF2-40B4-BE49-F238E27FC236}">
                    <a16:creationId xmlns:a16="http://schemas.microsoft.com/office/drawing/2014/main" id="{32080DC9-162A-3DAC-6A81-EC9991C90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2" name="Line 21">
                <a:extLst>
                  <a:ext uri="{FF2B5EF4-FFF2-40B4-BE49-F238E27FC236}">
                    <a16:creationId xmlns:a16="http://schemas.microsoft.com/office/drawing/2014/main" id="{DA90C690-BA07-3765-BE54-3BB479DBF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3" name="Line 22">
                <a:extLst>
                  <a:ext uri="{FF2B5EF4-FFF2-40B4-BE49-F238E27FC236}">
                    <a16:creationId xmlns:a16="http://schemas.microsoft.com/office/drawing/2014/main" id="{F3C4EFE5-8212-C7B0-81C0-6C4C865D6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4" name="Line 23">
                <a:extLst>
                  <a:ext uri="{FF2B5EF4-FFF2-40B4-BE49-F238E27FC236}">
                    <a16:creationId xmlns:a16="http://schemas.microsoft.com/office/drawing/2014/main" id="{D5A4FFB4-A049-8615-E05E-84BDF57EF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5" name="Line 24">
                <a:extLst>
                  <a:ext uri="{FF2B5EF4-FFF2-40B4-BE49-F238E27FC236}">
                    <a16:creationId xmlns:a16="http://schemas.microsoft.com/office/drawing/2014/main" id="{0517959E-303E-1DFA-F535-4DDF79FDAE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6" name="Line 25">
                <a:extLst>
                  <a:ext uri="{FF2B5EF4-FFF2-40B4-BE49-F238E27FC236}">
                    <a16:creationId xmlns:a16="http://schemas.microsoft.com/office/drawing/2014/main" id="{592A2C8F-8804-6EB6-9130-39A6D2480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7" name="Line 26">
                <a:extLst>
                  <a:ext uri="{FF2B5EF4-FFF2-40B4-BE49-F238E27FC236}">
                    <a16:creationId xmlns:a16="http://schemas.microsoft.com/office/drawing/2014/main" id="{FE25DF63-9F32-82BA-3750-33DBCCBA2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8" name="Line 27">
                <a:extLst>
                  <a:ext uri="{FF2B5EF4-FFF2-40B4-BE49-F238E27FC236}">
                    <a16:creationId xmlns:a16="http://schemas.microsoft.com/office/drawing/2014/main" id="{92E63001-65E0-0925-35F3-F73DCB498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9" name="Line 28">
                <a:extLst>
                  <a:ext uri="{FF2B5EF4-FFF2-40B4-BE49-F238E27FC236}">
                    <a16:creationId xmlns:a16="http://schemas.microsoft.com/office/drawing/2014/main" id="{8C8FF5EF-7DAC-80F3-131D-7C0762F2D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0" name="Line 29">
                <a:extLst>
                  <a:ext uri="{FF2B5EF4-FFF2-40B4-BE49-F238E27FC236}">
                    <a16:creationId xmlns:a16="http://schemas.microsoft.com/office/drawing/2014/main" id="{A1FFA161-634E-C9B8-BD23-989240A4D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1" name="Line 30">
                <a:extLst>
                  <a:ext uri="{FF2B5EF4-FFF2-40B4-BE49-F238E27FC236}">
                    <a16:creationId xmlns:a16="http://schemas.microsoft.com/office/drawing/2014/main" id="{B4126DD8-5C73-3276-8C62-64B54B8C5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2" name="Line 31">
                <a:extLst>
                  <a:ext uri="{FF2B5EF4-FFF2-40B4-BE49-F238E27FC236}">
                    <a16:creationId xmlns:a16="http://schemas.microsoft.com/office/drawing/2014/main" id="{F19532CC-5681-17C9-11F7-4F6CA0EB23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3" name="Line 32">
                <a:extLst>
                  <a:ext uri="{FF2B5EF4-FFF2-40B4-BE49-F238E27FC236}">
                    <a16:creationId xmlns:a16="http://schemas.microsoft.com/office/drawing/2014/main" id="{DE3776E4-0BEE-D359-A632-E7CC27070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4" name="Line 33">
                <a:extLst>
                  <a:ext uri="{FF2B5EF4-FFF2-40B4-BE49-F238E27FC236}">
                    <a16:creationId xmlns:a16="http://schemas.microsoft.com/office/drawing/2014/main" id="{919AB5EA-AE64-EC07-7294-EDBD33062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5" name="Line 34">
                <a:extLst>
                  <a:ext uri="{FF2B5EF4-FFF2-40B4-BE49-F238E27FC236}">
                    <a16:creationId xmlns:a16="http://schemas.microsoft.com/office/drawing/2014/main" id="{A482BCDA-852B-CCE3-F51D-8B9C44F5F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6" name="Line 35">
                <a:extLst>
                  <a:ext uri="{FF2B5EF4-FFF2-40B4-BE49-F238E27FC236}">
                    <a16:creationId xmlns:a16="http://schemas.microsoft.com/office/drawing/2014/main" id="{650EF068-7ADE-134C-66F2-E4F71DF5F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7" name="Line 36">
                <a:extLst>
                  <a:ext uri="{FF2B5EF4-FFF2-40B4-BE49-F238E27FC236}">
                    <a16:creationId xmlns:a16="http://schemas.microsoft.com/office/drawing/2014/main" id="{E9472232-B77E-E16A-CC70-8420B15E9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8" name="Line 37">
                <a:extLst>
                  <a:ext uri="{FF2B5EF4-FFF2-40B4-BE49-F238E27FC236}">
                    <a16:creationId xmlns:a16="http://schemas.microsoft.com/office/drawing/2014/main" id="{029446AC-58CB-859A-E427-2E3FB9694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9" name="Line 38">
                <a:extLst>
                  <a:ext uri="{FF2B5EF4-FFF2-40B4-BE49-F238E27FC236}">
                    <a16:creationId xmlns:a16="http://schemas.microsoft.com/office/drawing/2014/main" id="{54694812-3644-685F-4C70-AC2D5F837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153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</p:grpSp>
      <p:sp>
        <p:nvSpPr>
          <p:cNvPr id="178" name="Line 39">
            <a:extLst>
              <a:ext uri="{FF2B5EF4-FFF2-40B4-BE49-F238E27FC236}">
                <a16:creationId xmlns:a16="http://schemas.microsoft.com/office/drawing/2014/main" id="{33E9C989-C33F-66DB-B6C9-56B74D1D64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1605" y="1179743"/>
            <a:ext cx="0" cy="5380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9" name="Text Box 40">
            <a:extLst>
              <a:ext uri="{FF2B5EF4-FFF2-40B4-BE49-F238E27FC236}">
                <a16:creationId xmlns:a16="http://schemas.microsoft.com/office/drawing/2014/main" id="{F5DCA46B-6B84-C5DB-896E-86512BA94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369" y="1271025"/>
            <a:ext cx="989225" cy="26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funct7</a:t>
            </a:r>
          </a:p>
        </p:txBody>
      </p:sp>
      <p:sp>
        <p:nvSpPr>
          <p:cNvPr id="180" name="Text Box 41">
            <a:extLst>
              <a:ext uri="{FF2B5EF4-FFF2-40B4-BE49-F238E27FC236}">
                <a16:creationId xmlns:a16="http://schemas.microsoft.com/office/drawing/2014/main" id="{2C4F58E1-1B02-A6CD-020B-01D24C0E4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1721" y="1271025"/>
            <a:ext cx="954083" cy="26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funct3</a:t>
            </a:r>
          </a:p>
        </p:txBody>
      </p:sp>
      <p:sp>
        <p:nvSpPr>
          <p:cNvPr id="181" name="Line 42">
            <a:extLst>
              <a:ext uri="{FF2B5EF4-FFF2-40B4-BE49-F238E27FC236}">
                <a16:creationId xmlns:a16="http://schemas.microsoft.com/office/drawing/2014/main" id="{87CE8EA7-5420-FB8E-E266-D0CC52D7E1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2022" y="1194156"/>
            <a:ext cx="0" cy="5380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Line 43">
            <a:extLst>
              <a:ext uri="{FF2B5EF4-FFF2-40B4-BE49-F238E27FC236}">
                <a16:creationId xmlns:a16="http://schemas.microsoft.com/office/drawing/2014/main" id="{2C9BE6A4-4342-B605-27E7-DC6ACE13E5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8382" y="1216576"/>
            <a:ext cx="0" cy="5380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3" name="Line 44">
            <a:extLst>
              <a:ext uri="{FF2B5EF4-FFF2-40B4-BE49-F238E27FC236}">
                <a16:creationId xmlns:a16="http://schemas.microsoft.com/office/drawing/2014/main" id="{E4E3E145-C45E-8D6D-2A65-3C1DE1C27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83075" y="1197359"/>
            <a:ext cx="0" cy="5380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Text Box 45">
            <a:extLst>
              <a:ext uri="{FF2B5EF4-FFF2-40B4-BE49-F238E27FC236}">
                <a16:creationId xmlns:a16="http://schemas.microsoft.com/office/drawing/2014/main" id="{9AD7A5C5-1279-6937-AF7B-C22B874EE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0260" y="1271025"/>
            <a:ext cx="792434" cy="26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</a:p>
        </p:txBody>
      </p:sp>
      <p:sp>
        <p:nvSpPr>
          <p:cNvPr id="185" name="Text Box 46">
            <a:extLst>
              <a:ext uri="{FF2B5EF4-FFF2-40B4-BE49-F238E27FC236}">
                <a16:creationId xmlns:a16="http://schemas.microsoft.com/office/drawing/2014/main" id="{ED28BABE-8B79-FB0C-7C99-A634A332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304" y="1271025"/>
            <a:ext cx="701067" cy="26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</p:txBody>
      </p:sp>
      <p:sp>
        <p:nvSpPr>
          <p:cNvPr id="186" name="Text Box 47">
            <a:extLst>
              <a:ext uri="{FF2B5EF4-FFF2-40B4-BE49-F238E27FC236}">
                <a16:creationId xmlns:a16="http://schemas.microsoft.com/office/drawing/2014/main" id="{6D76DCAA-A437-AB71-138D-DBE779418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374" y="1271025"/>
            <a:ext cx="1163173" cy="26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endParaRPr lang="es-ES_tradnl" sz="1100" noProof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7" name="Text Box 48">
            <a:extLst>
              <a:ext uri="{FF2B5EF4-FFF2-40B4-BE49-F238E27FC236}">
                <a16:creationId xmlns:a16="http://schemas.microsoft.com/office/drawing/2014/main" id="{A6635B25-80C6-644D-4035-B853E40EF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0296" y="1682596"/>
            <a:ext cx="513061" cy="26103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</p:txBody>
      </p:sp>
      <p:sp>
        <p:nvSpPr>
          <p:cNvPr id="188" name="Text Box 49">
            <a:extLst>
              <a:ext uri="{FF2B5EF4-FFF2-40B4-BE49-F238E27FC236}">
                <a16:creationId xmlns:a16="http://schemas.microsoft.com/office/drawing/2014/main" id="{F68018F5-3143-A4F1-F60F-5E4AA4CF4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831" y="1684198"/>
            <a:ext cx="354926" cy="26103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</p:txBody>
      </p:sp>
      <p:sp>
        <p:nvSpPr>
          <p:cNvPr id="189" name="Text Box 50">
            <a:extLst>
              <a:ext uri="{FF2B5EF4-FFF2-40B4-BE49-F238E27FC236}">
                <a16:creationId xmlns:a16="http://schemas.microsoft.com/office/drawing/2014/main" id="{7E74D215-C7E2-131F-76B0-1CB15B6BB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649" y="1687401"/>
            <a:ext cx="354926" cy="2626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</p:txBody>
      </p:sp>
      <p:sp>
        <p:nvSpPr>
          <p:cNvPr id="190" name="Text Box 51">
            <a:extLst>
              <a:ext uri="{FF2B5EF4-FFF2-40B4-BE49-F238E27FC236}">
                <a16:creationId xmlns:a16="http://schemas.microsoft.com/office/drawing/2014/main" id="{9324C16D-263D-CB35-07D0-24BDC8BEE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337" y="1687401"/>
            <a:ext cx="354926" cy="26103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191" name="Text Box 52">
            <a:extLst>
              <a:ext uri="{FF2B5EF4-FFF2-40B4-BE49-F238E27FC236}">
                <a16:creationId xmlns:a16="http://schemas.microsoft.com/office/drawing/2014/main" id="{BDEF3641-7F4C-3607-E384-94032266A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14" y="1682596"/>
            <a:ext cx="439265" cy="26103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</a:t>
            </a:r>
          </a:p>
        </p:txBody>
      </p:sp>
      <p:sp>
        <p:nvSpPr>
          <p:cNvPr id="192" name="Text Box 53">
            <a:extLst>
              <a:ext uri="{FF2B5EF4-FFF2-40B4-BE49-F238E27FC236}">
                <a16:creationId xmlns:a16="http://schemas.microsoft.com/office/drawing/2014/main" id="{00A93FBC-E769-0329-F1FB-B29B75EF8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729" y="1690604"/>
            <a:ext cx="268830" cy="26103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93" name="Line 153">
            <a:extLst>
              <a:ext uri="{FF2B5EF4-FFF2-40B4-BE49-F238E27FC236}">
                <a16:creationId xmlns:a16="http://schemas.microsoft.com/office/drawing/2014/main" id="{26B08CD0-6E27-3525-28C7-C4E585DCD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0901" y="1179743"/>
            <a:ext cx="0" cy="5380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4" name="Text Box 154">
            <a:extLst>
              <a:ext uri="{FF2B5EF4-FFF2-40B4-BE49-F238E27FC236}">
                <a16:creationId xmlns:a16="http://schemas.microsoft.com/office/drawing/2014/main" id="{33C86F06-79F7-5416-BF89-3F64D274F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179" y="1685799"/>
            <a:ext cx="708095" cy="26103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b="1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195" name="Text Box 41">
            <a:extLst>
              <a:ext uri="{FF2B5EF4-FFF2-40B4-BE49-F238E27FC236}">
                <a16:creationId xmlns:a16="http://schemas.microsoft.com/office/drawing/2014/main" id="{363A3C08-B924-2006-0A84-C24AC3B5C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292" y="1244221"/>
            <a:ext cx="660987" cy="261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s-ES_tradnl" sz="1100" noProof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100" noProof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6" name="Line 11">
            <a:extLst>
              <a:ext uri="{FF2B5EF4-FFF2-40B4-BE49-F238E27FC236}">
                <a16:creationId xmlns:a16="http://schemas.microsoft.com/office/drawing/2014/main" id="{A900B010-5705-186A-C363-DBB3E00F0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6770" y="1580689"/>
            <a:ext cx="0" cy="15313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s-ES_tradnl" sz="1100" noProof="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7D91845-22A4-791D-7086-D37D7CB566FA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_tradnl" sz="20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S: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rs2,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(rs1)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2 operandos fuente (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rs1, rs2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), sin operando destino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Huecos: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funct7+rd 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(12 bits) para el inmediato</a:t>
            </a:r>
          </a:p>
          <a:p>
            <a:pPr marL="82550" indent="0">
              <a:buNone/>
            </a:pP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6A71B9F-536F-9CEA-CA0D-CE336319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4" name="Flecha abajo 113">
            <a:extLst>
              <a:ext uri="{FF2B5EF4-FFF2-40B4-BE49-F238E27FC236}">
                <a16:creationId xmlns:a16="http://schemas.microsoft.com/office/drawing/2014/main" id="{E3B8BF49-AC12-E650-382D-2A0D574D31B2}"/>
              </a:ext>
            </a:extLst>
          </p:cNvPr>
          <p:cNvSpPr/>
          <p:nvPr/>
        </p:nvSpPr>
        <p:spPr>
          <a:xfrm>
            <a:off x="5254453" y="4122432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7018D8AE-9829-830A-653E-FFE7FF324B0C}"/>
              </a:ext>
            </a:extLst>
          </p:cNvPr>
          <p:cNvSpPr/>
          <p:nvPr/>
        </p:nvSpPr>
        <p:spPr>
          <a:xfrm>
            <a:off x="2814236" y="1202661"/>
            <a:ext cx="1131429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C26D81-5504-E609-03F0-AC8171FB7E0E}"/>
              </a:ext>
            </a:extLst>
          </p:cNvPr>
          <p:cNvSpPr/>
          <p:nvPr/>
        </p:nvSpPr>
        <p:spPr>
          <a:xfrm>
            <a:off x="6156176" y="1205724"/>
            <a:ext cx="818276" cy="530674"/>
          </a:xfrm>
          <a:prstGeom prst="rect">
            <a:avLst/>
          </a:prstGeom>
          <a:solidFill>
            <a:schemeClr val="bg1">
              <a:lumMod val="85000"/>
              <a:alpha val="7924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61069E7-6B8E-838D-496A-C6C6A9849F09}"/>
              </a:ext>
            </a:extLst>
          </p:cNvPr>
          <p:cNvGrpSpPr/>
          <p:nvPr/>
        </p:nvGrpSpPr>
        <p:grpSpPr>
          <a:xfrm>
            <a:off x="2629256" y="5013629"/>
            <a:ext cx="5759169" cy="1215450"/>
            <a:chOff x="2629256" y="5013629"/>
            <a:chExt cx="5759169" cy="121545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8CE3CE9-5C8A-8560-4560-6D4C25CA763F}"/>
                </a:ext>
              </a:extLst>
            </p:cNvPr>
            <p:cNvGrpSpPr/>
            <p:nvPr/>
          </p:nvGrpSpPr>
          <p:grpSpPr>
            <a:xfrm>
              <a:off x="2631142" y="5013629"/>
              <a:ext cx="5757283" cy="1215450"/>
              <a:chOff x="3110623" y="5917230"/>
              <a:chExt cx="3343970" cy="802350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55126D68-D648-E3DA-E4DC-6BA9637AA9E6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14" name="Group 9">
                  <a:extLst>
                    <a:ext uri="{FF2B5EF4-FFF2-40B4-BE49-F238E27FC236}">
                      <a16:creationId xmlns:a16="http://schemas.microsoft.com/office/drawing/2014/main" id="{1988E5AE-1089-09D4-CE6A-BD2E4D8CD9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16" name="Rectangle 10">
                    <a:extLst>
                      <a:ext uri="{FF2B5EF4-FFF2-40B4-BE49-F238E27FC236}">
                        <a16:creationId xmlns:a16="http://schemas.microsoft.com/office/drawing/2014/main" id="{11FE606B-8E05-A45D-4417-0BE75B3BB4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9" name="Group 155">
                    <a:extLst>
                      <a:ext uri="{FF2B5EF4-FFF2-40B4-BE49-F238E27FC236}">
                        <a16:creationId xmlns:a16="http://schemas.microsoft.com/office/drawing/2014/main" id="{E0E501E2-D9C1-7006-3C30-6C77C24DF43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48"/>
                    <a:ext cx="2420" cy="231"/>
                    <a:chOff x="1201" y="1263"/>
                    <a:chExt cx="3119" cy="379"/>
                  </a:xfrm>
                </p:grpSpPr>
                <p:grpSp>
                  <p:nvGrpSpPr>
                    <p:cNvPr id="22" name="Group 5">
                      <a:extLst>
                        <a:ext uri="{FF2B5EF4-FFF2-40B4-BE49-F238E27FC236}">
                          <a16:creationId xmlns:a16="http://schemas.microsoft.com/office/drawing/2014/main" id="{1D9C3381-99E0-30BB-7CD6-2A2E6CEE506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42" name="Rectangle 6">
                        <a:extLst>
                          <a:ext uri="{FF2B5EF4-FFF2-40B4-BE49-F238E27FC236}">
                            <a16:creationId xmlns:a16="http://schemas.microsoft.com/office/drawing/2014/main" id="{3AE42DC7-8963-380C-A7D5-95C70CA613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43" name="Group 7">
                        <a:extLst>
                          <a:ext uri="{FF2B5EF4-FFF2-40B4-BE49-F238E27FC236}">
                            <a16:creationId xmlns:a16="http://schemas.microsoft.com/office/drawing/2014/main" id="{E658922E-B881-A18B-3062-8B19ED27111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44" name="Line 9">
                          <a:extLst>
                            <a:ext uri="{FF2B5EF4-FFF2-40B4-BE49-F238E27FC236}">
                              <a16:creationId xmlns:a16="http://schemas.microsoft.com/office/drawing/2014/main" id="{58620539-96B5-99AE-F10A-A3015A933D4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5" name="Line 10">
                          <a:extLst>
                            <a:ext uri="{FF2B5EF4-FFF2-40B4-BE49-F238E27FC236}">
                              <a16:creationId xmlns:a16="http://schemas.microsoft.com/office/drawing/2014/main" id="{DB00D7F6-BBC5-CB4A-566B-7E90A6A62F2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6" name="Line 11">
                          <a:extLst>
                            <a:ext uri="{FF2B5EF4-FFF2-40B4-BE49-F238E27FC236}">
                              <a16:creationId xmlns:a16="http://schemas.microsoft.com/office/drawing/2014/main" id="{E722E1A7-5B8D-B4F7-7B20-AD41D1F04B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7" name="Line 12">
                          <a:extLst>
                            <a:ext uri="{FF2B5EF4-FFF2-40B4-BE49-F238E27FC236}">
                              <a16:creationId xmlns:a16="http://schemas.microsoft.com/office/drawing/2014/main" id="{AAAF882C-2D1B-AA2F-B2D7-C4F13CB3AB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8" name="Line 13">
                          <a:extLst>
                            <a:ext uri="{FF2B5EF4-FFF2-40B4-BE49-F238E27FC236}">
                              <a16:creationId xmlns:a16="http://schemas.microsoft.com/office/drawing/2014/main" id="{3F370808-C987-5F29-2869-83BE8384E0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9" name="Line 14">
                          <a:extLst>
                            <a:ext uri="{FF2B5EF4-FFF2-40B4-BE49-F238E27FC236}">
                              <a16:creationId xmlns:a16="http://schemas.microsoft.com/office/drawing/2014/main" id="{8B73C14B-06A5-F455-371C-5BA62813881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0" name="Line 15">
                          <a:extLst>
                            <a:ext uri="{FF2B5EF4-FFF2-40B4-BE49-F238E27FC236}">
                              <a16:creationId xmlns:a16="http://schemas.microsoft.com/office/drawing/2014/main" id="{350D0622-A3F6-B40F-3C17-F1159414557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1" name="Line 16">
                          <a:extLst>
                            <a:ext uri="{FF2B5EF4-FFF2-40B4-BE49-F238E27FC236}">
                              <a16:creationId xmlns:a16="http://schemas.microsoft.com/office/drawing/2014/main" id="{2B31B8D6-CDD1-FE54-89F2-8EF366DA241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2" name="Line 17">
                          <a:extLst>
                            <a:ext uri="{FF2B5EF4-FFF2-40B4-BE49-F238E27FC236}">
                              <a16:creationId xmlns:a16="http://schemas.microsoft.com/office/drawing/2014/main" id="{E02445B2-51E0-E6F6-9CE3-A40B20EB6B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3" name="Line 18">
                          <a:extLst>
                            <a:ext uri="{FF2B5EF4-FFF2-40B4-BE49-F238E27FC236}">
                              <a16:creationId xmlns:a16="http://schemas.microsoft.com/office/drawing/2014/main" id="{DC2CF297-8385-2A3F-73FB-E10ED773DFE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4" name="Line 19">
                          <a:extLst>
                            <a:ext uri="{FF2B5EF4-FFF2-40B4-BE49-F238E27FC236}">
                              <a16:creationId xmlns:a16="http://schemas.microsoft.com/office/drawing/2014/main" id="{8BA179A9-A8EF-322B-768D-98F40EC845F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5" name="Line 20">
                          <a:extLst>
                            <a:ext uri="{FF2B5EF4-FFF2-40B4-BE49-F238E27FC236}">
                              <a16:creationId xmlns:a16="http://schemas.microsoft.com/office/drawing/2014/main" id="{A178A65B-7CF8-8E14-D1B8-625F68A90B8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6" name="Line 21">
                          <a:extLst>
                            <a:ext uri="{FF2B5EF4-FFF2-40B4-BE49-F238E27FC236}">
                              <a16:creationId xmlns:a16="http://schemas.microsoft.com/office/drawing/2014/main" id="{ED9A8849-20AF-BAEB-403E-270E3F3C04F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8" name="Line 22">
                          <a:extLst>
                            <a:ext uri="{FF2B5EF4-FFF2-40B4-BE49-F238E27FC236}">
                              <a16:creationId xmlns:a16="http://schemas.microsoft.com/office/drawing/2014/main" id="{BC84749C-10D5-7B0A-B437-A91C3909F84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9" name="Line 23">
                          <a:extLst>
                            <a:ext uri="{FF2B5EF4-FFF2-40B4-BE49-F238E27FC236}">
                              <a16:creationId xmlns:a16="http://schemas.microsoft.com/office/drawing/2014/main" id="{BD4E5999-B1D8-1255-6A20-CEFD465BF04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0" name="Line 24">
                          <a:extLst>
                            <a:ext uri="{FF2B5EF4-FFF2-40B4-BE49-F238E27FC236}">
                              <a16:creationId xmlns:a16="http://schemas.microsoft.com/office/drawing/2014/main" id="{E093B2DD-664B-5479-3F19-9B7EE66B3E8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6" name="Line 25">
                          <a:extLst>
                            <a:ext uri="{FF2B5EF4-FFF2-40B4-BE49-F238E27FC236}">
                              <a16:creationId xmlns:a16="http://schemas.microsoft.com/office/drawing/2014/main" id="{7A15B1E3-544E-FCEA-D0AA-69C9FD92733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3" name="Line 26">
                          <a:extLst>
                            <a:ext uri="{FF2B5EF4-FFF2-40B4-BE49-F238E27FC236}">
                              <a16:creationId xmlns:a16="http://schemas.microsoft.com/office/drawing/2014/main" id="{5D78AB85-E4E7-7A55-ECBE-C724DABB8AF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5" name="Line 27">
                          <a:extLst>
                            <a:ext uri="{FF2B5EF4-FFF2-40B4-BE49-F238E27FC236}">
                              <a16:creationId xmlns:a16="http://schemas.microsoft.com/office/drawing/2014/main" id="{067DDB13-7B24-015E-4494-DA89AE7A74F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6" name="Line 28">
                          <a:extLst>
                            <a:ext uri="{FF2B5EF4-FFF2-40B4-BE49-F238E27FC236}">
                              <a16:creationId xmlns:a16="http://schemas.microsoft.com/office/drawing/2014/main" id="{1DC876F7-D9CA-2A1E-CABD-14D06749CC6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7" name="Line 29">
                          <a:extLst>
                            <a:ext uri="{FF2B5EF4-FFF2-40B4-BE49-F238E27FC236}">
                              <a16:creationId xmlns:a16="http://schemas.microsoft.com/office/drawing/2014/main" id="{578F3C98-40F5-FBAB-C43A-EADA7CD811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8" name="Line 30">
                          <a:extLst>
                            <a:ext uri="{FF2B5EF4-FFF2-40B4-BE49-F238E27FC236}">
                              <a16:creationId xmlns:a16="http://schemas.microsoft.com/office/drawing/2014/main" id="{0354832A-1114-887D-9926-1DE1C1CFBA3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9" name="Line 31">
                          <a:extLst>
                            <a:ext uri="{FF2B5EF4-FFF2-40B4-BE49-F238E27FC236}">
                              <a16:creationId xmlns:a16="http://schemas.microsoft.com/office/drawing/2014/main" id="{25476C2A-DC3D-2A47-CA39-2C8CF8C0A9D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0" name="Line 32">
                          <a:extLst>
                            <a:ext uri="{FF2B5EF4-FFF2-40B4-BE49-F238E27FC236}">
                              <a16:creationId xmlns:a16="http://schemas.microsoft.com/office/drawing/2014/main" id="{B00D9424-AF08-5551-B964-21C15A0DD4F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1" name="Line 33">
                          <a:extLst>
                            <a:ext uri="{FF2B5EF4-FFF2-40B4-BE49-F238E27FC236}">
                              <a16:creationId xmlns:a16="http://schemas.microsoft.com/office/drawing/2014/main" id="{132B40D2-51C3-5BBE-E839-25C323545D3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2" name="Line 34">
                          <a:extLst>
                            <a:ext uri="{FF2B5EF4-FFF2-40B4-BE49-F238E27FC236}">
                              <a16:creationId xmlns:a16="http://schemas.microsoft.com/office/drawing/2014/main" id="{175FBE75-3F44-16FA-FD02-759F6B66D23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7" name="Line 35">
                          <a:extLst>
                            <a:ext uri="{FF2B5EF4-FFF2-40B4-BE49-F238E27FC236}">
                              <a16:creationId xmlns:a16="http://schemas.microsoft.com/office/drawing/2014/main" id="{83185AFC-C2E2-7028-3A43-ED2590E1CCA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8" name="Line 36">
                          <a:extLst>
                            <a:ext uri="{FF2B5EF4-FFF2-40B4-BE49-F238E27FC236}">
                              <a16:creationId xmlns:a16="http://schemas.microsoft.com/office/drawing/2014/main" id="{EDF4610F-6D91-EFAF-25BD-FADE94C8A47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72" name="Line 37">
                          <a:extLst>
                            <a:ext uri="{FF2B5EF4-FFF2-40B4-BE49-F238E27FC236}">
                              <a16:creationId xmlns:a16="http://schemas.microsoft.com/office/drawing/2014/main" id="{E2975AC6-217C-E41F-35A1-2E8FFADAC43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73" name="Line 38">
                          <a:extLst>
                            <a:ext uri="{FF2B5EF4-FFF2-40B4-BE49-F238E27FC236}">
                              <a16:creationId xmlns:a16="http://schemas.microsoft.com/office/drawing/2014/main" id="{9AD61D5B-42D3-1D6A-9189-0506A8A5075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23" name="Line 39">
                      <a:extLst>
                        <a:ext uri="{FF2B5EF4-FFF2-40B4-BE49-F238E27FC236}">
                          <a16:creationId xmlns:a16="http://schemas.microsoft.com/office/drawing/2014/main" id="{8E4BA076-5E19-020D-35B2-F754454BCDD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4" name="Text Box 40">
                      <a:extLst>
                        <a:ext uri="{FF2B5EF4-FFF2-40B4-BE49-F238E27FC236}">
                          <a16:creationId xmlns:a16="http://schemas.microsoft.com/office/drawing/2014/main" id="{6D214688-D450-A858-E132-7662B372EDB4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[11:5]</a:t>
                      </a:r>
                    </a:p>
                  </p:txBody>
                </p:sp>
                <p:sp>
                  <p:nvSpPr>
                    <p:cNvPr id="25" name="Text Box 41">
                      <a:extLst>
                        <a:ext uri="{FF2B5EF4-FFF2-40B4-BE49-F238E27FC236}">
                          <a16:creationId xmlns:a16="http://schemas.microsoft.com/office/drawing/2014/main" id="{E21B8B8C-025A-BDC1-0E44-73F3859DF64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43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28" name="Line 42">
                      <a:extLst>
                        <a:ext uri="{FF2B5EF4-FFF2-40B4-BE49-F238E27FC236}">
                          <a16:creationId xmlns:a16="http://schemas.microsoft.com/office/drawing/2014/main" id="{8A72ED6F-24C4-6A39-90CE-CA2142EA2A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" name="Line 43">
                      <a:extLst>
                        <a:ext uri="{FF2B5EF4-FFF2-40B4-BE49-F238E27FC236}">
                          <a16:creationId xmlns:a16="http://schemas.microsoft.com/office/drawing/2014/main" id="{0B704779-BDC4-EC4A-60D8-3C086B539C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0" name="Line 44">
                      <a:extLst>
                        <a:ext uri="{FF2B5EF4-FFF2-40B4-BE49-F238E27FC236}">
                          <a16:creationId xmlns:a16="http://schemas.microsoft.com/office/drawing/2014/main" id="{08180575-6E14-130D-C74E-16ED3D272B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1" name="Text Box 45">
                      <a:extLst>
                        <a:ext uri="{FF2B5EF4-FFF2-40B4-BE49-F238E27FC236}">
                          <a16:creationId xmlns:a16="http://schemas.microsoft.com/office/drawing/2014/main" id="{467A6EF9-9E53-BEE0-2490-27CA750109AE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2" name="Text Box 46">
                      <a:extLst>
                        <a:ext uri="{FF2B5EF4-FFF2-40B4-BE49-F238E27FC236}">
                          <a16:creationId xmlns:a16="http://schemas.microsoft.com/office/drawing/2014/main" id="{D7C52C59-F464-696E-9D66-418F37106CAE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33" name="Text Box 47">
                      <a:extLst>
                        <a:ext uri="{FF2B5EF4-FFF2-40B4-BE49-F238E27FC236}">
                          <a16:creationId xmlns:a16="http://schemas.microsoft.com/office/drawing/2014/main" id="{2E571A0D-4741-F4FB-3F3D-B1571FFACDA4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0" name="Line 153">
                      <a:extLst>
                        <a:ext uri="{FF2B5EF4-FFF2-40B4-BE49-F238E27FC236}">
                          <a16:creationId xmlns:a16="http://schemas.microsoft.com/office/drawing/2014/main" id="{C2B1AEAC-0BCD-D17C-D444-9F9C52D49C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5" name="Text Box 41">
                  <a:extLst>
                    <a:ext uri="{FF2B5EF4-FFF2-40B4-BE49-F238E27FC236}">
                      <a16:creationId xmlns:a16="http://schemas.microsoft.com/office/drawing/2014/main" id="{884218F9-FB87-1F92-11A5-A134729D3C5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6089920"/>
                  <a:ext cx="737522" cy="1676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050" b="1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1050" b="1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[4:0]</a:t>
                  </a:r>
                  <a:endParaRPr lang="es-ES_tradnl" sz="10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30E6BD45-3E67-27C5-18EF-4E045B7ED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30" name="Text Box 48">
              <a:extLst>
                <a:ext uri="{FF2B5EF4-FFF2-40B4-BE49-F238E27FC236}">
                  <a16:creationId xmlns:a16="http://schemas.microsoft.com/office/drawing/2014/main" id="{94A45E7A-120F-4F5C-C2B1-A081F506B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6" y="5714098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231" name="Text Box 49">
              <a:extLst>
                <a:ext uri="{FF2B5EF4-FFF2-40B4-BE49-F238E27FC236}">
                  <a16:creationId xmlns:a16="http://schemas.microsoft.com/office/drawing/2014/main" id="{F2561F82-8C82-E308-BC1C-25E65DA94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1" y="5715700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232" name="Text Box 50">
              <a:extLst>
                <a:ext uri="{FF2B5EF4-FFF2-40B4-BE49-F238E27FC236}">
                  <a16:creationId xmlns:a16="http://schemas.microsoft.com/office/drawing/2014/main" id="{74489358-2DDA-9DFD-8D55-C5B9581ED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09" y="5718903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233" name="Text Box 51">
              <a:extLst>
                <a:ext uri="{FF2B5EF4-FFF2-40B4-BE49-F238E27FC236}">
                  <a16:creationId xmlns:a16="http://schemas.microsoft.com/office/drawing/2014/main" id="{681532C1-3D08-6D4B-C1B5-15F153FF5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7" y="5718903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234" name="Text Box 52">
              <a:extLst>
                <a:ext uri="{FF2B5EF4-FFF2-40B4-BE49-F238E27FC236}">
                  <a16:creationId xmlns:a16="http://schemas.microsoft.com/office/drawing/2014/main" id="{9F92F392-6E22-34D9-D895-A52C25D81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4" y="5714098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235" name="Text Box 53">
              <a:extLst>
                <a:ext uri="{FF2B5EF4-FFF2-40B4-BE49-F238E27FC236}">
                  <a16:creationId xmlns:a16="http://schemas.microsoft.com/office/drawing/2014/main" id="{871C36D2-F40F-DE84-303F-FA599E103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89" y="5722106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236" name="Text Box 154">
              <a:extLst>
                <a:ext uri="{FF2B5EF4-FFF2-40B4-BE49-F238E27FC236}">
                  <a16:creationId xmlns:a16="http://schemas.microsoft.com/office/drawing/2014/main" id="{752842CC-C9D6-F4A8-80FD-B2CD0BAFA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39" y="5717301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7135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E9180-9ADC-839B-1B11-1FC1E3FC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71EA103-A563-8A91-7A31-4DDEC2DCEB5A}"/>
              </a:ext>
            </a:extLst>
          </p:cNvPr>
          <p:cNvSpPr txBox="1">
            <a:spLocks/>
          </p:cNvSpPr>
          <p:nvPr/>
        </p:nvSpPr>
        <p:spPr>
          <a:xfrm>
            <a:off x="684213" y="1125538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550" indent="0">
              <a:buNone/>
            </a:pPr>
            <a:r>
              <a:rPr lang="es-ES_tradnl" sz="20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Formato B</a:t>
            </a:r>
            <a:r>
              <a:rPr lang="es-ES_tradnl" sz="2000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rs1, rs2,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endParaRPr lang="es-ES_trad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2 operandos fuente (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rs1, rs2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), sin operando destino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Huecos: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funct7+rd 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(12 bits) para el inmediato</a:t>
            </a:r>
          </a:p>
          <a:p>
            <a:pPr marL="82550" indent="0">
              <a:buNone/>
            </a:pP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76DED88-F512-A762-6BD5-45170BBF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14" name="Flecha abajo 113">
            <a:extLst>
              <a:ext uri="{FF2B5EF4-FFF2-40B4-BE49-F238E27FC236}">
                <a16:creationId xmlns:a16="http://schemas.microsoft.com/office/drawing/2014/main" id="{9D16ED7C-3C9E-A2E7-5E51-CF8ADE2B22FB}"/>
              </a:ext>
            </a:extLst>
          </p:cNvPr>
          <p:cNvSpPr/>
          <p:nvPr/>
        </p:nvSpPr>
        <p:spPr>
          <a:xfrm>
            <a:off x="5254453" y="4122432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E56469FC-DBD2-6398-5A8B-6CA5AF949500}"/>
              </a:ext>
            </a:extLst>
          </p:cNvPr>
          <p:cNvGrpSpPr/>
          <p:nvPr/>
        </p:nvGrpSpPr>
        <p:grpSpPr>
          <a:xfrm>
            <a:off x="2620296" y="1048913"/>
            <a:ext cx="5764068" cy="1180085"/>
            <a:chOff x="2620296" y="1048913"/>
            <a:chExt cx="5764068" cy="1180085"/>
          </a:xfrm>
        </p:grpSpPr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90CFDB2E-559A-B531-CBDE-0627EF50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296" y="1048913"/>
              <a:ext cx="5764068" cy="118008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20" name="Group 5">
              <a:extLst>
                <a:ext uri="{FF2B5EF4-FFF2-40B4-BE49-F238E27FC236}">
                  <a16:creationId xmlns:a16="http://schemas.microsoft.com/office/drawing/2014/main" id="{C595D098-AD72-1879-6D1A-BCBC208FC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9516" y="1200562"/>
              <a:ext cx="5359032" cy="538085"/>
              <a:chOff x="982" y="1296"/>
              <a:chExt cx="3050" cy="336"/>
            </a:xfrm>
          </p:grpSpPr>
          <p:sp>
            <p:nvSpPr>
              <p:cNvPr id="74" name="Rectangle 6">
                <a:extLst>
                  <a:ext uri="{FF2B5EF4-FFF2-40B4-BE49-F238E27FC236}">
                    <a16:creationId xmlns:a16="http://schemas.microsoft.com/office/drawing/2014/main" id="{F847A698-91C1-2D98-438B-2AF8A5DE6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2" y="1296"/>
                <a:ext cx="3050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b="1" noProof="0" dirty="0">
                  <a:solidFill>
                    <a:srgbClr val="4F271C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75" name="Group 7">
                <a:extLst>
                  <a:ext uri="{FF2B5EF4-FFF2-40B4-BE49-F238E27FC236}">
                    <a16:creationId xmlns:a16="http://schemas.microsoft.com/office/drawing/2014/main" id="{4DD92EC5-992B-343F-5C0D-6366F5391A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536"/>
                <a:ext cx="2784" cy="96"/>
                <a:chOff x="1152" y="1536"/>
                <a:chExt cx="2784" cy="96"/>
              </a:xfrm>
            </p:grpSpPr>
            <p:sp>
              <p:nvSpPr>
                <p:cNvPr id="77" name="Line 9">
                  <a:extLst>
                    <a:ext uri="{FF2B5EF4-FFF2-40B4-BE49-F238E27FC236}">
                      <a16:creationId xmlns:a16="http://schemas.microsoft.com/office/drawing/2014/main" id="{E5458E3B-F83A-0E1A-928B-786DE123A9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8" name="Line 10">
                  <a:extLst>
                    <a:ext uri="{FF2B5EF4-FFF2-40B4-BE49-F238E27FC236}">
                      <a16:creationId xmlns:a16="http://schemas.microsoft.com/office/drawing/2014/main" id="{BCC023E9-FF66-B086-5858-8D8FB598B6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79" name="Line 11">
                  <a:extLst>
                    <a:ext uri="{FF2B5EF4-FFF2-40B4-BE49-F238E27FC236}">
                      <a16:creationId xmlns:a16="http://schemas.microsoft.com/office/drawing/2014/main" id="{69D7EDD3-B990-673B-41B0-C98612A531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0" name="Line 12">
                  <a:extLst>
                    <a:ext uri="{FF2B5EF4-FFF2-40B4-BE49-F238E27FC236}">
                      <a16:creationId xmlns:a16="http://schemas.microsoft.com/office/drawing/2014/main" id="{A6F589D3-8488-EB66-534E-7FD8425AAC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1" name="Line 13">
                  <a:extLst>
                    <a:ext uri="{FF2B5EF4-FFF2-40B4-BE49-F238E27FC236}">
                      <a16:creationId xmlns:a16="http://schemas.microsoft.com/office/drawing/2014/main" id="{6CB5D46C-B784-6A27-7EA9-38817D0FB9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2" name="Line 14">
                  <a:extLst>
                    <a:ext uri="{FF2B5EF4-FFF2-40B4-BE49-F238E27FC236}">
                      <a16:creationId xmlns:a16="http://schemas.microsoft.com/office/drawing/2014/main" id="{56708C27-BCE2-CDC9-DE6C-0758F1FCD6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3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3" name="Line 15">
                  <a:extLst>
                    <a:ext uri="{FF2B5EF4-FFF2-40B4-BE49-F238E27FC236}">
                      <a16:creationId xmlns:a16="http://schemas.microsoft.com/office/drawing/2014/main" id="{75984E42-BB4E-4DFE-8FB7-480EAC70CC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4" name="Line 16">
                  <a:extLst>
                    <a:ext uri="{FF2B5EF4-FFF2-40B4-BE49-F238E27FC236}">
                      <a16:creationId xmlns:a16="http://schemas.microsoft.com/office/drawing/2014/main" id="{B38A164C-C462-D7F2-195F-5EBC99868C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5" name="Line 17">
                  <a:extLst>
                    <a:ext uri="{FF2B5EF4-FFF2-40B4-BE49-F238E27FC236}">
                      <a16:creationId xmlns:a16="http://schemas.microsoft.com/office/drawing/2014/main" id="{679F738C-3E03-3F69-50A5-AAF014D8BD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6" name="Line 18">
                  <a:extLst>
                    <a:ext uri="{FF2B5EF4-FFF2-40B4-BE49-F238E27FC236}">
                      <a16:creationId xmlns:a16="http://schemas.microsoft.com/office/drawing/2014/main" id="{E52B9DD3-0594-553A-D9AA-79750F7707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7" name="Line 19">
                  <a:extLst>
                    <a:ext uri="{FF2B5EF4-FFF2-40B4-BE49-F238E27FC236}">
                      <a16:creationId xmlns:a16="http://schemas.microsoft.com/office/drawing/2014/main" id="{2552A89B-1700-9124-5115-F0C30A5048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8" name="Line 20">
                  <a:extLst>
                    <a:ext uri="{FF2B5EF4-FFF2-40B4-BE49-F238E27FC236}">
                      <a16:creationId xmlns:a16="http://schemas.microsoft.com/office/drawing/2014/main" id="{7E35F9FF-C03C-F2AC-6E1C-6092A5F97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89" name="Line 21">
                  <a:extLst>
                    <a:ext uri="{FF2B5EF4-FFF2-40B4-BE49-F238E27FC236}">
                      <a16:creationId xmlns:a16="http://schemas.microsoft.com/office/drawing/2014/main" id="{D001D5CE-0DD0-4062-A952-CCAF5F982A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0" name="Line 22">
                  <a:extLst>
                    <a:ext uri="{FF2B5EF4-FFF2-40B4-BE49-F238E27FC236}">
                      <a16:creationId xmlns:a16="http://schemas.microsoft.com/office/drawing/2014/main" id="{827B9F9A-4B73-078C-CDFA-7B34D71C19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1" name="Line 23">
                  <a:extLst>
                    <a:ext uri="{FF2B5EF4-FFF2-40B4-BE49-F238E27FC236}">
                      <a16:creationId xmlns:a16="http://schemas.microsoft.com/office/drawing/2014/main" id="{045BB82B-8599-9EDD-8404-8E4FA399FD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2" name="Line 24">
                  <a:extLst>
                    <a:ext uri="{FF2B5EF4-FFF2-40B4-BE49-F238E27FC236}">
                      <a16:creationId xmlns:a16="http://schemas.microsoft.com/office/drawing/2014/main" id="{AC81B814-FE97-32AB-6C5B-5C33B88FE7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94" name="Line 25">
                  <a:extLst>
                    <a:ext uri="{FF2B5EF4-FFF2-40B4-BE49-F238E27FC236}">
                      <a16:creationId xmlns:a16="http://schemas.microsoft.com/office/drawing/2014/main" id="{28E65ACE-31F8-0A5B-6442-D700250767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3" name="Line 26">
                  <a:extLst>
                    <a:ext uri="{FF2B5EF4-FFF2-40B4-BE49-F238E27FC236}">
                      <a16:creationId xmlns:a16="http://schemas.microsoft.com/office/drawing/2014/main" id="{8334DE11-E6B7-EDF6-5914-CACB90BEF5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4" name="Line 27">
                  <a:extLst>
                    <a:ext uri="{FF2B5EF4-FFF2-40B4-BE49-F238E27FC236}">
                      <a16:creationId xmlns:a16="http://schemas.microsoft.com/office/drawing/2014/main" id="{CD2B12BA-70E4-A301-CE8A-8BBB5FBAC9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5" name="Line 28">
                  <a:extLst>
                    <a:ext uri="{FF2B5EF4-FFF2-40B4-BE49-F238E27FC236}">
                      <a16:creationId xmlns:a16="http://schemas.microsoft.com/office/drawing/2014/main" id="{895B7F1E-7DEA-DF4E-C297-9F22FFB5F6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6" name="Line 29">
                  <a:extLst>
                    <a:ext uri="{FF2B5EF4-FFF2-40B4-BE49-F238E27FC236}">
                      <a16:creationId xmlns:a16="http://schemas.microsoft.com/office/drawing/2014/main" id="{0D77A06A-26BC-4839-F211-B29716E0BB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09" name="Line 30">
                  <a:extLst>
                    <a:ext uri="{FF2B5EF4-FFF2-40B4-BE49-F238E27FC236}">
                      <a16:creationId xmlns:a16="http://schemas.microsoft.com/office/drawing/2014/main" id="{FCBD82DD-BC2E-8820-2A2F-3AF8AA9C7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10" name="Line 31">
                  <a:extLst>
                    <a:ext uri="{FF2B5EF4-FFF2-40B4-BE49-F238E27FC236}">
                      <a16:creationId xmlns:a16="http://schemas.microsoft.com/office/drawing/2014/main" id="{BF07717E-DDB4-A0BA-6FB7-00E6CCB7EC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11" name="Line 32">
                  <a:extLst>
                    <a:ext uri="{FF2B5EF4-FFF2-40B4-BE49-F238E27FC236}">
                      <a16:creationId xmlns:a16="http://schemas.microsoft.com/office/drawing/2014/main" id="{2BE9E85F-0662-8DBC-3E9D-DE2AA62034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12" name="Line 33">
                  <a:extLst>
                    <a:ext uri="{FF2B5EF4-FFF2-40B4-BE49-F238E27FC236}">
                      <a16:creationId xmlns:a16="http://schemas.microsoft.com/office/drawing/2014/main" id="{6D8992C0-0565-B87B-55A4-C82BDBFE1D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13" name="Line 34">
                  <a:extLst>
                    <a:ext uri="{FF2B5EF4-FFF2-40B4-BE49-F238E27FC236}">
                      <a16:creationId xmlns:a16="http://schemas.microsoft.com/office/drawing/2014/main" id="{CC698E45-BA7F-7519-5816-72F03C70F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4" name="Line 35">
                  <a:extLst>
                    <a:ext uri="{FF2B5EF4-FFF2-40B4-BE49-F238E27FC236}">
                      <a16:creationId xmlns:a16="http://schemas.microsoft.com/office/drawing/2014/main" id="{23FC6752-63FE-22C0-38E4-D03BF69E5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5" name="Line 36">
                  <a:extLst>
                    <a:ext uri="{FF2B5EF4-FFF2-40B4-BE49-F238E27FC236}">
                      <a16:creationId xmlns:a16="http://schemas.microsoft.com/office/drawing/2014/main" id="{F357A41C-19E7-861B-D7CF-91D99523E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44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6" name="Line 37">
                  <a:extLst>
                    <a:ext uri="{FF2B5EF4-FFF2-40B4-BE49-F238E27FC236}">
                      <a16:creationId xmlns:a16="http://schemas.microsoft.com/office/drawing/2014/main" id="{1AECBCD4-592B-AABB-A177-607F102D9C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0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77" name="Line 38">
                  <a:extLst>
                    <a:ext uri="{FF2B5EF4-FFF2-40B4-BE49-F238E27FC236}">
                      <a16:creationId xmlns:a16="http://schemas.microsoft.com/office/drawing/2014/main" id="{E5DB1DDD-E3D6-7F09-B6E4-567B7CE290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153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21" name="Line 39">
              <a:extLst>
                <a:ext uri="{FF2B5EF4-FFF2-40B4-BE49-F238E27FC236}">
                  <a16:creationId xmlns:a16="http://schemas.microsoft.com/office/drawing/2014/main" id="{2722DC90-9F57-D327-5BD0-878FE0A91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1605" y="1179743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 Box 40">
              <a:extLst>
                <a:ext uri="{FF2B5EF4-FFF2-40B4-BE49-F238E27FC236}">
                  <a16:creationId xmlns:a16="http://schemas.microsoft.com/office/drawing/2014/main" id="{E1961EA4-1A60-D363-D3FB-124E5E41B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369" y="1271025"/>
              <a:ext cx="989225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funct7</a:t>
              </a:r>
            </a:p>
          </p:txBody>
        </p:sp>
        <p:sp>
          <p:nvSpPr>
            <p:cNvPr id="27" name="Text Box 41">
              <a:extLst>
                <a:ext uri="{FF2B5EF4-FFF2-40B4-BE49-F238E27FC236}">
                  <a16:creationId xmlns:a16="http://schemas.microsoft.com/office/drawing/2014/main" id="{AF50C727-FF6D-0748-AB00-439ABDAA4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1721" y="1271025"/>
              <a:ext cx="954083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funct3</a:t>
              </a:r>
            </a:p>
          </p:txBody>
        </p:sp>
        <p:sp>
          <p:nvSpPr>
            <p:cNvPr id="57" name="Line 42">
              <a:extLst>
                <a:ext uri="{FF2B5EF4-FFF2-40B4-BE49-F238E27FC236}">
                  <a16:creationId xmlns:a16="http://schemas.microsoft.com/office/drawing/2014/main" id="{E0187030-B688-1535-4118-DFBBDE921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2022" y="1194156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1" name="Line 43">
              <a:extLst>
                <a:ext uri="{FF2B5EF4-FFF2-40B4-BE49-F238E27FC236}">
                  <a16:creationId xmlns:a16="http://schemas.microsoft.com/office/drawing/2014/main" id="{B564CFF6-9A1C-D825-ABC3-FEA40BBA77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8382" y="1216576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Line 44">
              <a:extLst>
                <a:ext uri="{FF2B5EF4-FFF2-40B4-BE49-F238E27FC236}">
                  <a16:creationId xmlns:a16="http://schemas.microsoft.com/office/drawing/2014/main" id="{5983AF95-7AC2-3624-DF48-A5DC5C136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3075" y="1197359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Text Box 45">
              <a:extLst>
                <a:ext uri="{FF2B5EF4-FFF2-40B4-BE49-F238E27FC236}">
                  <a16:creationId xmlns:a16="http://schemas.microsoft.com/office/drawing/2014/main" id="{E08D6D92-BECE-5595-EF2F-9920DBE7D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260" y="1271025"/>
              <a:ext cx="792434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rs2</a:t>
              </a:r>
            </a:p>
          </p:txBody>
        </p:sp>
        <p:sp>
          <p:nvSpPr>
            <p:cNvPr id="64" name="Text Box 46">
              <a:extLst>
                <a:ext uri="{FF2B5EF4-FFF2-40B4-BE49-F238E27FC236}">
                  <a16:creationId xmlns:a16="http://schemas.microsoft.com/office/drawing/2014/main" id="{3932468E-8104-CC38-B785-686F622CB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2304" y="1271025"/>
              <a:ext cx="701067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rs1</a:t>
              </a:r>
            </a:p>
          </p:txBody>
        </p:sp>
        <p:sp>
          <p:nvSpPr>
            <p:cNvPr id="65" name="Text Box 47">
              <a:extLst>
                <a:ext uri="{FF2B5EF4-FFF2-40B4-BE49-F238E27FC236}">
                  <a16:creationId xmlns:a16="http://schemas.microsoft.com/office/drawing/2014/main" id="{0F6EAF50-BA50-F88B-952B-DA4B163C5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5374" y="1271025"/>
              <a:ext cx="1163173" cy="261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opcode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6" name="Text Box 48">
              <a:extLst>
                <a:ext uri="{FF2B5EF4-FFF2-40B4-BE49-F238E27FC236}">
                  <a16:creationId xmlns:a16="http://schemas.microsoft.com/office/drawing/2014/main" id="{EA1E4EBF-6E9B-EB99-C932-5D905D9E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296" y="1682596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67" name="Text Box 49">
              <a:extLst>
                <a:ext uri="{FF2B5EF4-FFF2-40B4-BE49-F238E27FC236}">
                  <a16:creationId xmlns:a16="http://schemas.microsoft.com/office/drawing/2014/main" id="{BC44AA9B-8A84-B0CD-1DF2-77F298D63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831" y="1684198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68" name="Text Box 50">
              <a:extLst>
                <a:ext uri="{FF2B5EF4-FFF2-40B4-BE49-F238E27FC236}">
                  <a16:creationId xmlns:a16="http://schemas.microsoft.com/office/drawing/2014/main" id="{2536684F-B9FD-C8FF-4B6B-F0E0C8014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649" y="1687401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69" name="Text Box 51">
              <a:extLst>
                <a:ext uri="{FF2B5EF4-FFF2-40B4-BE49-F238E27FC236}">
                  <a16:creationId xmlns:a16="http://schemas.microsoft.com/office/drawing/2014/main" id="{F9CC5F7F-DA5A-C313-E5D6-8DC85A5D3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8337" y="1687401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70" name="Text Box 52">
              <a:extLst>
                <a:ext uri="{FF2B5EF4-FFF2-40B4-BE49-F238E27FC236}">
                  <a16:creationId xmlns:a16="http://schemas.microsoft.com/office/drawing/2014/main" id="{C4E0DA93-1F2E-6041-438E-94F6FB960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6414" y="1682596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71" name="Text Box 53">
              <a:extLst>
                <a:ext uri="{FF2B5EF4-FFF2-40B4-BE49-F238E27FC236}">
                  <a16:creationId xmlns:a16="http://schemas.microsoft.com/office/drawing/2014/main" id="{67058798-E339-C4F4-B606-EB76AE92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4729" y="1690604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72" name="Line 153">
              <a:extLst>
                <a:ext uri="{FF2B5EF4-FFF2-40B4-BE49-F238E27FC236}">
                  <a16:creationId xmlns:a16="http://schemas.microsoft.com/office/drawing/2014/main" id="{79035EA4-F532-3F0C-602F-FEF1837F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30901" y="1179743"/>
              <a:ext cx="0" cy="5380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3" name="Text Box 154">
              <a:extLst>
                <a:ext uri="{FF2B5EF4-FFF2-40B4-BE49-F238E27FC236}">
                  <a16:creationId xmlns:a16="http://schemas.microsoft.com/office/drawing/2014/main" id="{AE484409-B3F9-4D9C-3A76-536A450C3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2179" y="1685799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2" name="Text Box 41">
              <a:extLst>
                <a:ext uri="{FF2B5EF4-FFF2-40B4-BE49-F238E27FC236}">
                  <a16:creationId xmlns:a16="http://schemas.microsoft.com/office/drawing/2014/main" id="{8EB5BD8F-C57D-336A-30B9-60E41A292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0292" y="1244221"/>
              <a:ext cx="660987" cy="261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B0D460B-3078-960D-58E5-0AD624C50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6770" y="1580689"/>
              <a:ext cx="0" cy="153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B206BDB1-1E15-0257-E55F-1A250D0CE3DC}"/>
                </a:ext>
              </a:extLst>
            </p:cNvPr>
            <p:cNvSpPr/>
            <p:nvPr/>
          </p:nvSpPr>
          <p:spPr>
            <a:xfrm>
              <a:off x="2805271" y="1211623"/>
              <a:ext cx="1131429" cy="530674"/>
            </a:xfrm>
            <a:prstGeom prst="rect">
              <a:avLst/>
            </a:prstGeom>
            <a:solidFill>
              <a:schemeClr val="bg1">
                <a:lumMod val="85000"/>
                <a:alpha val="79247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04BBE14-36DE-00F8-025C-F31084393D33}"/>
                </a:ext>
              </a:extLst>
            </p:cNvPr>
            <p:cNvSpPr/>
            <p:nvPr/>
          </p:nvSpPr>
          <p:spPr>
            <a:xfrm>
              <a:off x="6150594" y="1196753"/>
              <a:ext cx="818276" cy="530674"/>
            </a:xfrm>
            <a:prstGeom prst="rect">
              <a:avLst/>
            </a:prstGeom>
            <a:solidFill>
              <a:schemeClr val="bg1">
                <a:lumMod val="85000"/>
                <a:alpha val="79247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9429C899-5EBB-91DB-AA07-18D1DE032155}"/>
              </a:ext>
            </a:extLst>
          </p:cNvPr>
          <p:cNvGrpSpPr/>
          <p:nvPr/>
        </p:nvGrpSpPr>
        <p:grpSpPr>
          <a:xfrm>
            <a:off x="2629258" y="5013629"/>
            <a:ext cx="5759167" cy="1215450"/>
            <a:chOff x="2629258" y="5013629"/>
            <a:chExt cx="5759167" cy="121545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71F8000-5610-D6D4-EED5-3643862BE2A5}"/>
                </a:ext>
              </a:extLst>
            </p:cNvPr>
            <p:cNvGrpSpPr/>
            <p:nvPr/>
          </p:nvGrpSpPr>
          <p:grpSpPr>
            <a:xfrm>
              <a:off x="2631142" y="5013629"/>
              <a:ext cx="5757283" cy="1215450"/>
              <a:chOff x="3110623" y="5917230"/>
              <a:chExt cx="3343970" cy="802350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792EADC6-7DFF-ABB5-3D55-69BFAA4327C5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14" name="Group 9">
                  <a:extLst>
                    <a:ext uri="{FF2B5EF4-FFF2-40B4-BE49-F238E27FC236}">
                      <a16:creationId xmlns:a16="http://schemas.microsoft.com/office/drawing/2014/main" id="{97B91B3C-D5A9-8377-167D-5A76C3D37C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16" name="Rectangle 10">
                    <a:extLst>
                      <a:ext uri="{FF2B5EF4-FFF2-40B4-BE49-F238E27FC236}">
                        <a16:creationId xmlns:a16="http://schemas.microsoft.com/office/drawing/2014/main" id="{985C61E2-026D-1654-5654-0F2A995C28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9" name="Group 155">
                    <a:extLst>
                      <a:ext uri="{FF2B5EF4-FFF2-40B4-BE49-F238E27FC236}">
                        <a16:creationId xmlns:a16="http://schemas.microsoft.com/office/drawing/2014/main" id="{C26D852F-BAA5-654E-90A8-8FE3E03535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48"/>
                    <a:ext cx="2420" cy="231"/>
                    <a:chOff x="1201" y="1263"/>
                    <a:chExt cx="3119" cy="379"/>
                  </a:xfrm>
                </p:grpSpPr>
                <p:grpSp>
                  <p:nvGrpSpPr>
                    <p:cNvPr id="22" name="Group 5">
                      <a:extLst>
                        <a:ext uri="{FF2B5EF4-FFF2-40B4-BE49-F238E27FC236}">
                          <a16:creationId xmlns:a16="http://schemas.microsoft.com/office/drawing/2014/main" id="{F72BC211-7560-CFCF-5DA2-06D4DAD8F3A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42" name="Rectangle 6">
                        <a:extLst>
                          <a:ext uri="{FF2B5EF4-FFF2-40B4-BE49-F238E27FC236}">
                            <a16:creationId xmlns:a16="http://schemas.microsoft.com/office/drawing/2014/main" id="{4F7F3816-6A56-4ACD-910C-B72B10A6DF5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43" name="Group 7">
                        <a:extLst>
                          <a:ext uri="{FF2B5EF4-FFF2-40B4-BE49-F238E27FC236}">
                            <a16:creationId xmlns:a16="http://schemas.microsoft.com/office/drawing/2014/main" id="{731989A6-356F-1CC0-003C-B5FD4D4A8AF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44" name="Line 9">
                          <a:extLst>
                            <a:ext uri="{FF2B5EF4-FFF2-40B4-BE49-F238E27FC236}">
                              <a16:creationId xmlns:a16="http://schemas.microsoft.com/office/drawing/2014/main" id="{48A1ABF6-9AB4-2BCE-2E01-9C90C88103E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5" name="Line 10">
                          <a:extLst>
                            <a:ext uri="{FF2B5EF4-FFF2-40B4-BE49-F238E27FC236}">
                              <a16:creationId xmlns:a16="http://schemas.microsoft.com/office/drawing/2014/main" id="{A1A40885-2786-7A88-1832-2D595B68E3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6" name="Line 11">
                          <a:extLst>
                            <a:ext uri="{FF2B5EF4-FFF2-40B4-BE49-F238E27FC236}">
                              <a16:creationId xmlns:a16="http://schemas.microsoft.com/office/drawing/2014/main" id="{E3418687-EB6B-CAE8-6D9F-EEA1157174D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7" name="Line 12">
                          <a:extLst>
                            <a:ext uri="{FF2B5EF4-FFF2-40B4-BE49-F238E27FC236}">
                              <a16:creationId xmlns:a16="http://schemas.microsoft.com/office/drawing/2014/main" id="{3627A7F8-C9C3-1F89-2F93-2D8366B0200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8" name="Line 13">
                          <a:extLst>
                            <a:ext uri="{FF2B5EF4-FFF2-40B4-BE49-F238E27FC236}">
                              <a16:creationId xmlns:a16="http://schemas.microsoft.com/office/drawing/2014/main" id="{06196045-6641-3372-F78C-C661C6EC59D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9" name="Line 14">
                          <a:extLst>
                            <a:ext uri="{FF2B5EF4-FFF2-40B4-BE49-F238E27FC236}">
                              <a16:creationId xmlns:a16="http://schemas.microsoft.com/office/drawing/2014/main" id="{EA391022-783C-6EED-B2DA-4E1E6024761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0" name="Line 15">
                          <a:extLst>
                            <a:ext uri="{FF2B5EF4-FFF2-40B4-BE49-F238E27FC236}">
                              <a16:creationId xmlns:a16="http://schemas.microsoft.com/office/drawing/2014/main" id="{09E9296C-33B2-D98A-2E84-D0660A778A9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1" name="Line 16">
                          <a:extLst>
                            <a:ext uri="{FF2B5EF4-FFF2-40B4-BE49-F238E27FC236}">
                              <a16:creationId xmlns:a16="http://schemas.microsoft.com/office/drawing/2014/main" id="{CC74B919-BD81-D6CF-A243-F855AAFFC54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2" name="Line 17">
                          <a:extLst>
                            <a:ext uri="{FF2B5EF4-FFF2-40B4-BE49-F238E27FC236}">
                              <a16:creationId xmlns:a16="http://schemas.microsoft.com/office/drawing/2014/main" id="{C8C62F32-1959-7A5B-140E-6A42FD4547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3" name="Line 18">
                          <a:extLst>
                            <a:ext uri="{FF2B5EF4-FFF2-40B4-BE49-F238E27FC236}">
                              <a16:creationId xmlns:a16="http://schemas.microsoft.com/office/drawing/2014/main" id="{2EAF5439-0C30-405C-C3CF-3242062C78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4" name="Line 19">
                          <a:extLst>
                            <a:ext uri="{FF2B5EF4-FFF2-40B4-BE49-F238E27FC236}">
                              <a16:creationId xmlns:a16="http://schemas.microsoft.com/office/drawing/2014/main" id="{A35D010C-F274-CFE8-56B1-43CA8363CB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5" name="Line 20">
                          <a:extLst>
                            <a:ext uri="{FF2B5EF4-FFF2-40B4-BE49-F238E27FC236}">
                              <a16:creationId xmlns:a16="http://schemas.microsoft.com/office/drawing/2014/main" id="{CA5EC524-A4E5-D61E-CB4B-A4CA8B32A2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6" name="Line 21">
                          <a:extLst>
                            <a:ext uri="{FF2B5EF4-FFF2-40B4-BE49-F238E27FC236}">
                              <a16:creationId xmlns:a16="http://schemas.microsoft.com/office/drawing/2014/main" id="{6B1C5309-9714-EA21-6107-9C6C867C12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8" name="Line 22">
                          <a:extLst>
                            <a:ext uri="{FF2B5EF4-FFF2-40B4-BE49-F238E27FC236}">
                              <a16:creationId xmlns:a16="http://schemas.microsoft.com/office/drawing/2014/main" id="{8E167C52-DBCF-D5CA-FC31-0A3705AA06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9" name="Line 23">
                          <a:extLst>
                            <a:ext uri="{FF2B5EF4-FFF2-40B4-BE49-F238E27FC236}">
                              <a16:creationId xmlns:a16="http://schemas.microsoft.com/office/drawing/2014/main" id="{FAADFE2E-EF76-08A6-1A3A-359AC3687C4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0" name="Line 24">
                          <a:extLst>
                            <a:ext uri="{FF2B5EF4-FFF2-40B4-BE49-F238E27FC236}">
                              <a16:creationId xmlns:a16="http://schemas.microsoft.com/office/drawing/2014/main" id="{FD19DC84-B7CF-E6C3-3BA8-386DE775750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6" name="Line 25">
                          <a:extLst>
                            <a:ext uri="{FF2B5EF4-FFF2-40B4-BE49-F238E27FC236}">
                              <a16:creationId xmlns:a16="http://schemas.microsoft.com/office/drawing/2014/main" id="{45DAC92C-F797-781A-F713-6CC5F5F70C1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3" name="Line 26">
                          <a:extLst>
                            <a:ext uri="{FF2B5EF4-FFF2-40B4-BE49-F238E27FC236}">
                              <a16:creationId xmlns:a16="http://schemas.microsoft.com/office/drawing/2014/main" id="{3B345E22-2008-CE4A-C183-252152559F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5" name="Line 27">
                          <a:extLst>
                            <a:ext uri="{FF2B5EF4-FFF2-40B4-BE49-F238E27FC236}">
                              <a16:creationId xmlns:a16="http://schemas.microsoft.com/office/drawing/2014/main" id="{88753F2A-B140-0399-38FE-C02C064AC2F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6" name="Line 28">
                          <a:extLst>
                            <a:ext uri="{FF2B5EF4-FFF2-40B4-BE49-F238E27FC236}">
                              <a16:creationId xmlns:a16="http://schemas.microsoft.com/office/drawing/2014/main" id="{CC82DD9C-4554-07D6-17CD-5D1EAB4E6C4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7" name="Line 29">
                          <a:extLst>
                            <a:ext uri="{FF2B5EF4-FFF2-40B4-BE49-F238E27FC236}">
                              <a16:creationId xmlns:a16="http://schemas.microsoft.com/office/drawing/2014/main" id="{B9FB3923-4AC3-C67C-6DA6-7BD12BB8E55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8" name="Line 30">
                          <a:extLst>
                            <a:ext uri="{FF2B5EF4-FFF2-40B4-BE49-F238E27FC236}">
                              <a16:creationId xmlns:a16="http://schemas.microsoft.com/office/drawing/2014/main" id="{263B7EFC-A82D-2B61-D2CF-C54AFEF2FD5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9" name="Line 31">
                          <a:extLst>
                            <a:ext uri="{FF2B5EF4-FFF2-40B4-BE49-F238E27FC236}">
                              <a16:creationId xmlns:a16="http://schemas.microsoft.com/office/drawing/2014/main" id="{FAEA80FB-C482-6681-2C80-D463155CCEF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0" name="Line 32">
                          <a:extLst>
                            <a:ext uri="{FF2B5EF4-FFF2-40B4-BE49-F238E27FC236}">
                              <a16:creationId xmlns:a16="http://schemas.microsoft.com/office/drawing/2014/main" id="{A5C8A7DD-514F-75E0-9137-D4ADF1B9449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1" name="Line 33">
                          <a:extLst>
                            <a:ext uri="{FF2B5EF4-FFF2-40B4-BE49-F238E27FC236}">
                              <a16:creationId xmlns:a16="http://schemas.microsoft.com/office/drawing/2014/main" id="{E6B807FC-BF11-6D3E-8F1B-95DD6618F5D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2" name="Line 34">
                          <a:extLst>
                            <a:ext uri="{FF2B5EF4-FFF2-40B4-BE49-F238E27FC236}">
                              <a16:creationId xmlns:a16="http://schemas.microsoft.com/office/drawing/2014/main" id="{66B3CC9F-BC22-8752-A8BE-8A0E47E8CBA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7" name="Line 35">
                          <a:extLst>
                            <a:ext uri="{FF2B5EF4-FFF2-40B4-BE49-F238E27FC236}">
                              <a16:creationId xmlns:a16="http://schemas.microsoft.com/office/drawing/2014/main" id="{A32AE676-97E1-4C2F-E961-8887110DA4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8" name="Line 36">
                          <a:extLst>
                            <a:ext uri="{FF2B5EF4-FFF2-40B4-BE49-F238E27FC236}">
                              <a16:creationId xmlns:a16="http://schemas.microsoft.com/office/drawing/2014/main" id="{B15CA4C0-371A-5188-4A3B-D31B9BFAD8C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72" name="Line 37">
                          <a:extLst>
                            <a:ext uri="{FF2B5EF4-FFF2-40B4-BE49-F238E27FC236}">
                              <a16:creationId xmlns:a16="http://schemas.microsoft.com/office/drawing/2014/main" id="{4DB7AEF9-DA34-7623-3376-A1BB6301ED0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73" name="Line 38">
                          <a:extLst>
                            <a:ext uri="{FF2B5EF4-FFF2-40B4-BE49-F238E27FC236}">
                              <a16:creationId xmlns:a16="http://schemas.microsoft.com/office/drawing/2014/main" id="{957D38C9-36BC-98C8-E009-0DBC249F033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23" name="Line 39">
                      <a:extLst>
                        <a:ext uri="{FF2B5EF4-FFF2-40B4-BE49-F238E27FC236}">
                          <a16:creationId xmlns:a16="http://schemas.microsoft.com/office/drawing/2014/main" id="{EAF244BF-B667-7AF0-64F7-FCB7122ECBD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4" name="Text Box 40">
                      <a:extLst>
                        <a:ext uri="{FF2B5EF4-FFF2-40B4-BE49-F238E27FC236}">
                          <a16:creationId xmlns:a16="http://schemas.microsoft.com/office/drawing/2014/main" id="{D5290B57-5A84-53B7-1F4F-ABF8CEEE4269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[12|10:5]</a:t>
                      </a:r>
                    </a:p>
                  </p:txBody>
                </p:sp>
                <p:sp>
                  <p:nvSpPr>
                    <p:cNvPr id="25" name="Text Box 41">
                      <a:extLst>
                        <a:ext uri="{FF2B5EF4-FFF2-40B4-BE49-F238E27FC236}">
                          <a16:creationId xmlns:a16="http://schemas.microsoft.com/office/drawing/2014/main" id="{B9286976-7D00-027C-01B0-1F9D18A22D1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43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28" name="Line 42">
                      <a:extLst>
                        <a:ext uri="{FF2B5EF4-FFF2-40B4-BE49-F238E27FC236}">
                          <a16:creationId xmlns:a16="http://schemas.microsoft.com/office/drawing/2014/main" id="{CA4C42C0-1A65-5E42-29AA-692A67D7B6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" name="Line 43">
                      <a:extLst>
                        <a:ext uri="{FF2B5EF4-FFF2-40B4-BE49-F238E27FC236}">
                          <a16:creationId xmlns:a16="http://schemas.microsoft.com/office/drawing/2014/main" id="{BE822007-463B-7025-13B9-2F5EBD7363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0" name="Line 44">
                      <a:extLst>
                        <a:ext uri="{FF2B5EF4-FFF2-40B4-BE49-F238E27FC236}">
                          <a16:creationId xmlns:a16="http://schemas.microsoft.com/office/drawing/2014/main" id="{3892619D-E641-F8A8-40A1-52E4E43E05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1" name="Text Box 45">
                      <a:extLst>
                        <a:ext uri="{FF2B5EF4-FFF2-40B4-BE49-F238E27FC236}">
                          <a16:creationId xmlns:a16="http://schemas.microsoft.com/office/drawing/2014/main" id="{63299B49-8185-00F0-1F61-16A46830A52A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2" name="Text Box 46">
                      <a:extLst>
                        <a:ext uri="{FF2B5EF4-FFF2-40B4-BE49-F238E27FC236}">
                          <a16:creationId xmlns:a16="http://schemas.microsoft.com/office/drawing/2014/main" id="{CB6FE4C8-2450-2042-3D86-BBC160104E4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33" name="Text Box 47">
                      <a:extLst>
                        <a:ext uri="{FF2B5EF4-FFF2-40B4-BE49-F238E27FC236}">
                          <a16:creationId xmlns:a16="http://schemas.microsoft.com/office/drawing/2014/main" id="{9507B19F-BE53-2B54-AF8B-365EF261544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0" name="Line 153">
                      <a:extLst>
                        <a:ext uri="{FF2B5EF4-FFF2-40B4-BE49-F238E27FC236}">
                          <a16:creationId xmlns:a16="http://schemas.microsoft.com/office/drawing/2014/main" id="{69A18B24-C677-EC8B-9F63-4182ED31D8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5" name="Text Box 41">
                  <a:extLst>
                    <a:ext uri="{FF2B5EF4-FFF2-40B4-BE49-F238E27FC236}">
                      <a16:creationId xmlns:a16="http://schemas.microsoft.com/office/drawing/2014/main" id="{1580FC3C-AC65-DD24-E4A7-6705989B1FB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6089920"/>
                  <a:ext cx="737522" cy="1676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050" b="1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1050" b="1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[4:1|11]</a:t>
                  </a:r>
                  <a:endParaRPr lang="es-ES_tradnl" sz="10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2EA5D751-DD0A-5B28-C429-08368F32E2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78" name="Text Box 48">
              <a:extLst>
                <a:ext uri="{FF2B5EF4-FFF2-40B4-BE49-F238E27FC236}">
                  <a16:creationId xmlns:a16="http://schemas.microsoft.com/office/drawing/2014/main" id="{F95D2493-0152-0244-484A-D102CD51F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8" y="5720454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79" name="Text Box 49">
              <a:extLst>
                <a:ext uri="{FF2B5EF4-FFF2-40B4-BE49-F238E27FC236}">
                  <a16:creationId xmlns:a16="http://schemas.microsoft.com/office/drawing/2014/main" id="{DF593A7D-8D6A-1F39-D2F6-E1328A1B7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3" y="5722056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80" name="Text Box 50">
              <a:extLst>
                <a:ext uri="{FF2B5EF4-FFF2-40B4-BE49-F238E27FC236}">
                  <a16:creationId xmlns:a16="http://schemas.microsoft.com/office/drawing/2014/main" id="{47331D86-3BBB-7BEA-78E8-AE57C9D8F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11" y="5725259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81" name="Text Box 51">
              <a:extLst>
                <a:ext uri="{FF2B5EF4-FFF2-40B4-BE49-F238E27FC236}">
                  <a16:creationId xmlns:a16="http://schemas.microsoft.com/office/drawing/2014/main" id="{01CF1860-D557-D94E-9258-27FA7D2E8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9" y="5725259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82" name="Text Box 52">
              <a:extLst>
                <a:ext uri="{FF2B5EF4-FFF2-40B4-BE49-F238E27FC236}">
                  <a16:creationId xmlns:a16="http://schemas.microsoft.com/office/drawing/2014/main" id="{9436165B-E9C3-05FC-3D2F-48A681224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6" y="5720454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83" name="Text Box 53">
              <a:extLst>
                <a:ext uri="{FF2B5EF4-FFF2-40B4-BE49-F238E27FC236}">
                  <a16:creationId xmlns:a16="http://schemas.microsoft.com/office/drawing/2014/main" id="{F96C5771-73B3-CE51-9FC4-1F8B0404C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91" y="5728462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84" name="Text Box 154">
              <a:extLst>
                <a:ext uri="{FF2B5EF4-FFF2-40B4-BE49-F238E27FC236}">
                  <a16:creationId xmlns:a16="http://schemas.microsoft.com/office/drawing/2014/main" id="{73256063-2D0B-C348-8147-686D3C7C1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41" y="5723657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5512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5D6E-394D-2FDD-951D-535593CA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D4F869A-9857-A87B-0F73-CD7BD400AC05}"/>
              </a:ext>
            </a:extLst>
          </p:cNvPr>
          <p:cNvSpPr txBox="1">
            <a:spLocks/>
          </p:cNvSpPr>
          <p:nvPr/>
        </p:nvSpPr>
        <p:spPr>
          <a:xfrm>
            <a:off x="684213" y="1125116"/>
            <a:ext cx="8250237" cy="5256212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¿Por qué una distribución tan especial de los bits del operando inmediato en el formato B?</a:t>
            </a:r>
          </a:p>
          <a:p>
            <a:pPr marL="285750" indent="-285750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RISC-V da soporte a </a:t>
            </a:r>
            <a:r>
              <a:rPr lang="es-ES_tradnl" sz="1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CPUs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 de 16 bits → Los inmediatos se codifican como múltiplos de 2 bytes → No hay bit 0</a:t>
            </a:r>
          </a:p>
          <a:p>
            <a:pPr marL="285750" indent="-285750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El bit de signo se mantiene en la posición 31 para facilitar su extensión</a:t>
            </a:r>
          </a:p>
          <a:p>
            <a:pPr marL="285750" indent="-285750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Los formatos I y B mantienen en las mismas posiciones el </a:t>
            </a:r>
            <a:r>
              <a:rPr lang="es-ES_tradnl" sz="18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 de bits comunes: 10:5 y 4:1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, para simplificar la descodificación</a:t>
            </a:r>
          </a:p>
          <a:p>
            <a:pPr marL="82550" indent="0">
              <a:buNone/>
            </a:pP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39C33E3-A542-E524-8E8F-BE48B2F1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16632"/>
            <a:ext cx="8250120" cy="864096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Arquitectura RISC-V:  Formato de las instrucciones</a:t>
            </a:r>
          </a:p>
        </p:txBody>
      </p:sp>
      <p:sp>
        <p:nvSpPr>
          <p:cNvPr id="177" name="Marcador de contenido 2">
            <a:extLst>
              <a:ext uri="{FF2B5EF4-FFF2-40B4-BE49-F238E27FC236}">
                <a16:creationId xmlns:a16="http://schemas.microsoft.com/office/drawing/2014/main" id="{4B5014FB-577F-E3BE-62CF-BC57693AE6DE}"/>
              </a:ext>
            </a:extLst>
          </p:cNvPr>
          <p:cNvSpPr txBox="1">
            <a:spLocks/>
          </p:cNvSpPr>
          <p:nvPr/>
        </p:nvSpPr>
        <p:spPr>
          <a:xfrm>
            <a:off x="827585" y="4149080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B: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Marcador de contenido 2">
            <a:extLst>
              <a:ext uri="{FF2B5EF4-FFF2-40B4-BE49-F238E27FC236}">
                <a16:creationId xmlns:a16="http://schemas.microsoft.com/office/drawing/2014/main" id="{D555D299-D1F3-796A-25C5-84993E5E9265}"/>
              </a:ext>
            </a:extLst>
          </p:cNvPr>
          <p:cNvSpPr txBox="1">
            <a:spLocks/>
          </p:cNvSpPr>
          <p:nvPr/>
        </p:nvSpPr>
        <p:spPr>
          <a:xfrm>
            <a:off x="827584" y="5445224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I: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3FDAF3A-3480-8578-6988-316F4A8DC050}"/>
              </a:ext>
            </a:extLst>
          </p:cNvPr>
          <p:cNvGrpSpPr/>
          <p:nvPr/>
        </p:nvGrpSpPr>
        <p:grpSpPr>
          <a:xfrm>
            <a:off x="2611327" y="5545978"/>
            <a:ext cx="5781064" cy="1216189"/>
            <a:chOff x="2629257" y="5017061"/>
            <a:chExt cx="5781064" cy="1216189"/>
          </a:xfrm>
        </p:grpSpPr>
        <p:grpSp>
          <p:nvGrpSpPr>
            <p:cNvPr id="114" name="Grupo 113">
              <a:extLst>
                <a:ext uri="{FF2B5EF4-FFF2-40B4-BE49-F238E27FC236}">
                  <a16:creationId xmlns:a16="http://schemas.microsoft.com/office/drawing/2014/main" id="{DB38BBE3-2E27-C4D5-486E-11C02F8A694E}"/>
                </a:ext>
              </a:extLst>
            </p:cNvPr>
            <p:cNvGrpSpPr/>
            <p:nvPr/>
          </p:nvGrpSpPr>
          <p:grpSpPr>
            <a:xfrm>
              <a:off x="2650774" y="5017061"/>
              <a:ext cx="5759547" cy="1216189"/>
              <a:chOff x="2650774" y="5017061"/>
              <a:chExt cx="5759547" cy="1216189"/>
            </a:xfrm>
          </p:grpSpPr>
          <p:sp>
            <p:nvSpPr>
              <p:cNvPr id="123" name="Rectangle 10">
                <a:extLst>
                  <a:ext uri="{FF2B5EF4-FFF2-40B4-BE49-F238E27FC236}">
                    <a16:creationId xmlns:a16="http://schemas.microsoft.com/office/drawing/2014/main" id="{73954BD6-A34A-8FAC-B5D2-EC2256A7A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0774" y="5017061"/>
                <a:ext cx="5759547" cy="121618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24" name="Group 5">
                <a:extLst>
                  <a:ext uri="{FF2B5EF4-FFF2-40B4-BE49-F238E27FC236}">
                    <a16:creationId xmlns:a16="http://schemas.microsoft.com/office/drawing/2014/main" id="{235F6C55-7DAB-AA19-4D7E-BBADB5E5B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0547" y="5213626"/>
                <a:ext cx="5358593" cy="558336"/>
                <a:chOff x="982" y="1197"/>
                <a:chExt cx="3050" cy="435"/>
              </a:xfrm>
            </p:grpSpPr>
            <p:sp>
              <p:nvSpPr>
                <p:cNvPr id="135" name="Rectangle 6">
                  <a:extLst>
                    <a:ext uri="{FF2B5EF4-FFF2-40B4-BE49-F238E27FC236}">
                      <a16:creationId xmlns:a16="http://schemas.microsoft.com/office/drawing/2014/main" id="{89FE0564-4B78-038F-63BE-49522DE525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197"/>
                  <a:ext cx="3050" cy="42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500" b="1" noProof="0" dirty="0">
                    <a:solidFill>
                      <a:srgbClr val="4F271C"/>
                    </a:solidFill>
                  </a:endParaRPr>
                </a:p>
              </p:txBody>
            </p:sp>
            <p:grpSp>
              <p:nvGrpSpPr>
                <p:cNvPr id="136" name="Group 7">
                  <a:extLst>
                    <a:ext uri="{FF2B5EF4-FFF2-40B4-BE49-F238E27FC236}">
                      <a16:creationId xmlns:a16="http://schemas.microsoft.com/office/drawing/2014/main" id="{1E2C2ACA-6CEE-0D97-BB71-4937FA9D88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52" y="1536"/>
                  <a:ext cx="2784" cy="96"/>
                  <a:chOff x="1152" y="1536"/>
                  <a:chExt cx="2784" cy="96"/>
                </a:xfrm>
              </p:grpSpPr>
              <p:sp>
                <p:nvSpPr>
                  <p:cNvPr id="137" name="Line 9">
                    <a:extLst>
                      <a:ext uri="{FF2B5EF4-FFF2-40B4-BE49-F238E27FC236}">
                        <a16:creationId xmlns:a16="http://schemas.microsoft.com/office/drawing/2014/main" id="{578F1BE3-27EB-D910-D9AB-A737C1008D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38" name="Line 10">
                    <a:extLst>
                      <a:ext uri="{FF2B5EF4-FFF2-40B4-BE49-F238E27FC236}">
                        <a16:creationId xmlns:a16="http://schemas.microsoft.com/office/drawing/2014/main" id="{F2F44A81-317C-8466-4D32-EDC0A9069C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39" name="Line 11">
                    <a:extLst>
                      <a:ext uri="{FF2B5EF4-FFF2-40B4-BE49-F238E27FC236}">
                        <a16:creationId xmlns:a16="http://schemas.microsoft.com/office/drawing/2014/main" id="{E717E194-8EF7-F065-E26C-503F62794D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0" name="Line 12">
                    <a:extLst>
                      <a:ext uri="{FF2B5EF4-FFF2-40B4-BE49-F238E27FC236}">
                        <a16:creationId xmlns:a16="http://schemas.microsoft.com/office/drawing/2014/main" id="{28CB216A-5A6C-1E69-220F-0085281121C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1" name="Line 13">
                    <a:extLst>
                      <a:ext uri="{FF2B5EF4-FFF2-40B4-BE49-F238E27FC236}">
                        <a16:creationId xmlns:a16="http://schemas.microsoft.com/office/drawing/2014/main" id="{2D012109-4B35-623B-74A9-817BD2C238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2" name="Line 14">
                    <a:extLst>
                      <a:ext uri="{FF2B5EF4-FFF2-40B4-BE49-F238E27FC236}">
                        <a16:creationId xmlns:a16="http://schemas.microsoft.com/office/drawing/2014/main" id="{D0582368-A605-2671-8224-17402B06D1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3" name="Line 15">
                    <a:extLst>
                      <a:ext uri="{FF2B5EF4-FFF2-40B4-BE49-F238E27FC236}">
                        <a16:creationId xmlns:a16="http://schemas.microsoft.com/office/drawing/2014/main" id="{F9D23F03-C006-1209-0842-2B34AD5430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4" name="Line 16">
                    <a:extLst>
                      <a:ext uri="{FF2B5EF4-FFF2-40B4-BE49-F238E27FC236}">
                        <a16:creationId xmlns:a16="http://schemas.microsoft.com/office/drawing/2014/main" id="{6976B2F4-C6E1-E03B-B719-9229CD04E0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5" name="Line 17">
                    <a:extLst>
                      <a:ext uri="{FF2B5EF4-FFF2-40B4-BE49-F238E27FC236}">
                        <a16:creationId xmlns:a16="http://schemas.microsoft.com/office/drawing/2014/main" id="{3B9B375B-D7CF-FCA1-1285-743A8F3D3D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6" name="Line 18">
                    <a:extLst>
                      <a:ext uri="{FF2B5EF4-FFF2-40B4-BE49-F238E27FC236}">
                        <a16:creationId xmlns:a16="http://schemas.microsoft.com/office/drawing/2014/main" id="{67AF8145-E0C5-4CCF-409E-D40C42E2EC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1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7" name="Line 19">
                    <a:extLst>
                      <a:ext uri="{FF2B5EF4-FFF2-40B4-BE49-F238E27FC236}">
                        <a16:creationId xmlns:a16="http://schemas.microsoft.com/office/drawing/2014/main" id="{63C9FF30-BA4E-EAB5-5F54-BDBB801E63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8" name="Line 20">
                    <a:extLst>
                      <a:ext uri="{FF2B5EF4-FFF2-40B4-BE49-F238E27FC236}">
                        <a16:creationId xmlns:a16="http://schemas.microsoft.com/office/drawing/2014/main" id="{709AF277-C4F5-CDE5-8EAF-A2C73EE611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49" name="Line 21">
                    <a:extLst>
                      <a:ext uri="{FF2B5EF4-FFF2-40B4-BE49-F238E27FC236}">
                        <a16:creationId xmlns:a16="http://schemas.microsoft.com/office/drawing/2014/main" id="{2E0B536B-A42E-951B-C88F-82E6DDD936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0" name="Line 22">
                    <a:extLst>
                      <a:ext uri="{FF2B5EF4-FFF2-40B4-BE49-F238E27FC236}">
                        <a16:creationId xmlns:a16="http://schemas.microsoft.com/office/drawing/2014/main" id="{159AF684-D644-4D73-3946-8E8E031F24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1" name="Line 23">
                    <a:extLst>
                      <a:ext uri="{FF2B5EF4-FFF2-40B4-BE49-F238E27FC236}">
                        <a16:creationId xmlns:a16="http://schemas.microsoft.com/office/drawing/2014/main" id="{EB3EF8A9-BC9B-09BE-20B6-22A6B2FA1D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2" name="Line 24">
                    <a:extLst>
                      <a:ext uri="{FF2B5EF4-FFF2-40B4-BE49-F238E27FC236}">
                        <a16:creationId xmlns:a16="http://schemas.microsoft.com/office/drawing/2014/main" id="{8CC278E5-C2DD-21C6-BCB8-6EB93B7300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3" name="Line 25">
                    <a:extLst>
                      <a:ext uri="{FF2B5EF4-FFF2-40B4-BE49-F238E27FC236}">
                        <a16:creationId xmlns:a16="http://schemas.microsoft.com/office/drawing/2014/main" id="{83605499-3389-9E78-7B79-93D3D6D736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4" name="Line 26">
                    <a:extLst>
                      <a:ext uri="{FF2B5EF4-FFF2-40B4-BE49-F238E27FC236}">
                        <a16:creationId xmlns:a16="http://schemas.microsoft.com/office/drawing/2014/main" id="{07C23DF3-A18B-DF50-B78C-3F337C13E3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8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5" name="Line 27">
                    <a:extLst>
                      <a:ext uri="{FF2B5EF4-FFF2-40B4-BE49-F238E27FC236}">
                        <a16:creationId xmlns:a16="http://schemas.microsoft.com/office/drawing/2014/main" id="{9A745A55-58CC-6450-FB17-EA567DFE1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6" name="Line 28">
                    <a:extLst>
                      <a:ext uri="{FF2B5EF4-FFF2-40B4-BE49-F238E27FC236}">
                        <a16:creationId xmlns:a16="http://schemas.microsoft.com/office/drawing/2014/main" id="{374470A8-ECA7-2631-5768-165F7EF878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7" name="Line 29">
                    <a:extLst>
                      <a:ext uri="{FF2B5EF4-FFF2-40B4-BE49-F238E27FC236}">
                        <a16:creationId xmlns:a16="http://schemas.microsoft.com/office/drawing/2014/main" id="{1CD60F88-832E-1464-EA7A-DC46EE92BC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8" name="Line 30">
                    <a:extLst>
                      <a:ext uri="{FF2B5EF4-FFF2-40B4-BE49-F238E27FC236}">
                        <a16:creationId xmlns:a16="http://schemas.microsoft.com/office/drawing/2014/main" id="{26E44596-DBB6-E606-90FE-82CD6156AF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9" name="Line 31">
                    <a:extLst>
                      <a:ext uri="{FF2B5EF4-FFF2-40B4-BE49-F238E27FC236}">
                        <a16:creationId xmlns:a16="http://schemas.microsoft.com/office/drawing/2014/main" id="{52386CCD-A4A2-1025-A66C-DD521954BB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6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0" name="Line 32">
                    <a:extLst>
                      <a:ext uri="{FF2B5EF4-FFF2-40B4-BE49-F238E27FC236}">
                        <a16:creationId xmlns:a16="http://schemas.microsoft.com/office/drawing/2014/main" id="{6F385EF2-A277-7F67-4C82-0B7D197D87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1" name="Line 33">
                    <a:extLst>
                      <a:ext uri="{FF2B5EF4-FFF2-40B4-BE49-F238E27FC236}">
                        <a16:creationId xmlns:a16="http://schemas.microsoft.com/office/drawing/2014/main" id="{277D721A-0810-DE2F-BA4D-E84DE865A8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2" name="Line 34">
                    <a:extLst>
                      <a:ext uri="{FF2B5EF4-FFF2-40B4-BE49-F238E27FC236}">
                        <a16:creationId xmlns:a16="http://schemas.microsoft.com/office/drawing/2014/main" id="{7DA29C92-761A-6C2D-D898-6265E3256A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3" name="Line 35">
                    <a:extLst>
                      <a:ext uri="{FF2B5EF4-FFF2-40B4-BE49-F238E27FC236}">
                        <a16:creationId xmlns:a16="http://schemas.microsoft.com/office/drawing/2014/main" id="{B3363323-E478-7599-ABF7-EBD6E2AC14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4" name="Line 36">
                    <a:extLst>
                      <a:ext uri="{FF2B5EF4-FFF2-40B4-BE49-F238E27FC236}">
                        <a16:creationId xmlns:a16="http://schemas.microsoft.com/office/drawing/2014/main" id="{FC28EB5D-7180-31AB-C8AE-9BAA15971D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5" name="Line 37">
                    <a:extLst>
                      <a:ext uri="{FF2B5EF4-FFF2-40B4-BE49-F238E27FC236}">
                        <a16:creationId xmlns:a16="http://schemas.microsoft.com/office/drawing/2014/main" id="{4581208D-EC00-7452-D67C-CEAD76CCF3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66" name="Line 38">
                    <a:extLst>
                      <a:ext uri="{FF2B5EF4-FFF2-40B4-BE49-F238E27FC236}">
                        <a16:creationId xmlns:a16="http://schemas.microsoft.com/office/drawing/2014/main" id="{D1662346-0012-8C40-848E-3A5E234AFC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125" name="Text Box 40">
                <a:extLst>
                  <a:ext uri="{FF2B5EF4-FFF2-40B4-BE49-F238E27FC236}">
                    <a16:creationId xmlns:a16="http://schemas.microsoft.com/office/drawing/2014/main" id="{CAFC53BF-22A2-9049-46C8-5521FF453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0680" y="5348397"/>
                <a:ext cx="2124111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_tradnl" sz="11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[11:0]</a:t>
                </a:r>
              </a:p>
            </p:txBody>
          </p:sp>
          <p:sp>
            <p:nvSpPr>
              <p:cNvPr id="126" name="Text Box 41">
                <a:extLst>
                  <a:ext uri="{FF2B5EF4-FFF2-40B4-BE49-F238E27FC236}">
                    <a16:creationId xmlns:a16="http://schemas.microsoft.com/office/drawing/2014/main" id="{423816AD-8003-02C1-DA08-2B9ACFF676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2539" y="5366366"/>
                <a:ext cx="954005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funct3</a:t>
                </a:r>
              </a:p>
            </p:txBody>
          </p:sp>
          <p:sp>
            <p:nvSpPr>
              <p:cNvPr id="127" name="Line 42">
                <a:extLst>
                  <a:ext uri="{FF2B5EF4-FFF2-40B4-BE49-F238E27FC236}">
                    <a16:creationId xmlns:a16="http://schemas.microsoft.com/office/drawing/2014/main" id="{2CFF1518-5931-7D41-11E8-2C93A81E6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2890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Line 43">
                <a:extLst>
                  <a:ext uri="{FF2B5EF4-FFF2-40B4-BE49-F238E27FC236}">
                    <a16:creationId xmlns:a16="http://schemas.microsoft.com/office/drawing/2014/main" id="{B9DE9A33-9327-FB92-3FEB-42C961029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29181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Line 44">
                <a:extLst>
                  <a:ext uri="{FF2B5EF4-FFF2-40B4-BE49-F238E27FC236}">
                    <a16:creationId xmlns:a16="http://schemas.microsoft.com/office/drawing/2014/main" id="{AE8A89C6-F7B4-4304-47C4-BC33F6983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83763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Text Box 46">
                <a:extLst>
                  <a:ext uri="{FF2B5EF4-FFF2-40B4-BE49-F238E27FC236}">
                    <a16:creationId xmlns:a16="http://schemas.microsoft.com/office/drawing/2014/main" id="{EA379990-17EB-D90E-5AA2-CC6DE8057D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166" y="5350964"/>
                <a:ext cx="701009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rs1</a:t>
                </a:r>
              </a:p>
            </p:txBody>
          </p:sp>
          <p:sp>
            <p:nvSpPr>
              <p:cNvPr id="131" name="Text Box 47">
                <a:extLst>
                  <a:ext uri="{FF2B5EF4-FFF2-40B4-BE49-F238E27FC236}">
                    <a16:creationId xmlns:a16="http://schemas.microsoft.com/office/drawing/2014/main" id="{CA44BA58-B604-058D-03C6-6C0E9F2FA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6062" y="5341979"/>
                <a:ext cx="1163078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opcode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2" name="Line 153">
                <a:extLst>
                  <a:ext uri="{FF2B5EF4-FFF2-40B4-BE49-F238E27FC236}">
                    <a16:creationId xmlns:a16="http://schemas.microsoft.com/office/drawing/2014/main" id="{8F32A795-26E1-FC6C-4E9B-284404379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31659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Line 11">
                <a:extLst>
                  <a:ext uri="{FF2B5EF4-FFF2-40B4-BE49-F238E27FC236}">
                    <a16:creationId xmlns:a16="http://schemas.microsoft.com/office/drawing/2014/main" id="{5A00B44C-BE9F-4EF1-DBA7-EC02F4836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213" y="5639516"/>
                <a:ext cx="0" cy="1227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Text Box 41">
                <a:extLst>
                  <a:ext uri="{FF2B5EF4-FFF2-40B4-BE49-F238E27FC236}">
                    <a16:creationId xmlns:a16="http://schemas.microsoft.com/office/drawing/2014/main" id="{D44AE1D7-D38C-A8D8-8758-1F231F98F4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8033" y="5332163"/>
                <a:ext cx="655589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rd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15" name="Text Box 48">
              <a:extLst>
                <a:ext uri="{FF2B5EF4-FFF2-40B4-BE49-F238E27FC236}">
                  <a16:creationId xmlns:a16="http://schemas.microsoft.com/office/drawing/2014/main" id="{C9F58DF7-3975-322A-BE17-EAC9687557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7" y="5707747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16" name="Text Box 49">
              <a:extLst>
                <a:ext uri="{FF2B5EF4-FFF2-40B4-BE49-F238E27FC236}">
                  <a16:creationId xmlns:a16="http://schemas.microsoft.com/office/drawing/2014/main" id="{FE185BB1-A115-A053-C84C-155136250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2" y="5709349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17" name="Text Box 50">
              <a:extLst>
                <a:ext uri="{FF2B5EF4-FFF2-40B4-BE49-F238E27FC236}">
                  <a16:creationId xmlns:a16="http://schemas.microsoft.com/office/drawing/2014/main" id="{43F0D8AE-896C-07E2-6A48-52FCCCA60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10" y="5712552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18" name="Text Box 51">
              <a:extLst>
                <a:ext uri="{FF2B5EF4-FFF2-40B4-BE49-F238E27FC236}">
                  <a16:creationId xmlns:a16="http://schemas.microsoft.com/office/drawing/2014/main" id="{3657B4A1-524F-91FB-74E7-49116265C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8" y="5712552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19" name="Text Box 52">
              <a:extLst>
                <a:ext uri="{FF2B5EF4-FFF2-40B4-BE49-F238E27FC236}">
                  <a16:creationId xmlns:a16="http://schemas.microsoft.com/office/drawing/2014/main" id="{A21E1B7C-715F-830F-BD48-9EAE72E83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5" y="5707747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20" name="Text Box 53">
              <a:extLst>
                <a:ext uri="{FF2B5EF4-FFF2-40B4-BE49-F238E27FC236}">
                  <a16:creationId xmlns:a16="http://schemas.microsoft.com/office/drawing/2014/main" id="{C2A84CB7-4774-38D0-C9A9-AC887576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90" y="5715755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21" name="Text Box 154">
              <a:extLst>
                <a:ext uri="{FF2B5EF4-FFF2-40B4-BE49-F238E27FC236}">
                  <a16:creationId xmlns:a16="http://schemas.microsoft.com/office/drawing/2014/main" id="{278EE9DE-174F-9FF0-1FBE-0AE16C77A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40" y="5710950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22" name="Line 11">
              <a:extLst>
                <a:ext uri="{FF2B5EF4-FFF2-40B4-BE49-F238E27FC236}">
                  <a16:creationId xmlns:a16="http://schemas.microsoft.com/office/drawing/2014/main" id="{8388FD6A-DBFE-08F7-9722-948DBE316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731" y="5605840"/>
              <a:ext cx="0" cy="153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D01F34A7-0EC3-375C-C2AB-D1589120E10A}"/>
              </a:ext>
            </a:extLst>
          </p:cNvPr>
          <p:cNvGrpSpPr/>
          <p:nvPr/>
        </p:nvGrpSpPr>
        <p:grpSpPr>
          <a:xfrm>
            <a:off x="2629258" y="4188865"/>
            <a:ext cx="5759167" cy="1215450"/>
            <a:chOff x="2629258" y="5013629"/>
            <a:chExt cx="5759167" cy="1215450"/>
          </a:xfrm>
        </p:grpSpPr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487A4E4F-B57A-D05B-2F91-EF04F45FD462}"/>
                </a:ext>
              </a:extLst>
            </p:cNvPr>
            <p:cNvGrpSpPr/>
            <p:nvPr/>
          </p:nvGrpSpPr>
          <p:grpSpPr>
            <a:xfrm>
              <a:off x="2631142" y="5013629"/>
              <a:ext cx="5757283" cy="1215450"/>
              <a:chOff x="3110623" y="5917230"/>
              <a:chExt cx="3343970" cy="802350"/>
            </a:xfrm>
          </p:grpSpPr>
          <p:grpSp>
            <p:nvGrpSpPr>
              <p:cNvPr id="183" name="Grupo 182">
                <a:extLst>
                  <a:ext uri="{FF2B5EF4-FFF2-40B4-BE49-F238E27FC236}">
                    <a16:creationId xmlns:a16="http://schemas.microsoft.com/office/drawing/2014/main" id="{9CEB271F-7874-C215-5D57-7041915D7A4E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185" name="Group 9">
                  <a:extLst>
                    <a:ext uri="{FF2B5EF4-FFF2-40B4-BE49-F238E27FC236}">
                      <a16:creationId xmlns:a16="http://schemas.microsoft.com/office/drawing/2014/main" id="{9F7AF05B-88D9-41DD-FFDD-9E817BE925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187" name="Rectangle 10">
                    <a:extLst>
                      <a:ext uri="{FF2B5EF4-FFF2-40B4-BE49-F238E27FC236}">
                        <a16:creationId xmlns:a16="http://schemas.microsoft.com/office/drawing/2014/main" id="{DACCDA69-B9AB-A902-9382-6F561865D5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88" name="Group 155">
                    <a:extLst>
                      <a:ext uri="{FF2B5EF4-FFF2-40B4-BE49-F238E27FC236}">
                        <a16:creationId xmlns:a16="http://schemas.microsoft.com/office/drawing/2014/main" id="{041BE6C4-B8BF-5829-C946-2471476E019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48"/>
                    <a:ext cx="2420" cy="231"/>
                    <a:chOff x="1201" y="1263"/>
                    <a:chExt cx="3119" cy="379"/>
                  </a:xfrm>
                </p:grpSpPr>
                <p:grpSp>
                  <p:nvGrpSpPr>
                    <p:cNvPr id="189" name="Group 5">
                      <a:extLst>
                        <a:ext uri="{FF2B5EF4-FFF2-40B4-BE49-F238E27FC236}">
                          <a16:creationId xmlns:a16="http://schemas.microsoft.com/office/drawing/2014/main" id="{9F7ADBBB-AAFE-1C26-61EB-4CA859BA04D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200" name="Rectangle 6">
                        <a:extLst>
                          <a:ext uri="{FF2B5EF4-FFF2-40B4-BE49-F238E27FC236}">
                            <a16:creationId xmlns:a16="http://schemas.microsoft.com/office/drawing/2014/main" id="{B00013B0-6887-0B91-855C-68B3451D7AA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201" name="Group 7">
                        <a:extLst>
                          <a:ext uri="{FF2B5EF4-FFF2-40B4-BE49-F238E27FC236}">
                            <a16:creationId xmlns:a16="http://schemas.microsoft.com/office/drawing/2014/main" id="{03DAA287-05A7-BD38-9444-D0ADC4A30B1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202" name="Line 9">
                          <a:extLst>
                            <a:ext uri="{FF2B5EF4-FFF2-40B4-BE49-F238E27FC236}">
                              <a16:creationId xmlns:a16="http://schemas.microsoft.com/office/drawing/2014/main" id="{E491F508-23F8-7590-288F-A3E17719577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3" name="Line 10">
                          <a:extLst>
                            <a:ext uri="{FF2B5EF4-FFF2-40B4-BE49-F238E27FC236}">
                              <a16:creationId xmlns:a16="http://schemas.microsoft.com/office/drawing/2014/main" id="{0496DD71-46FC-BCCB-DCD6-D3F8D62DB42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4" name="Line 11">
                          <a:extLst>
                            <a:ext uri="{FF2B5EF4-FFF2-40B4-BE49-F238E27FC236}">
                              <a16:creationId xmlns:a16="http://schemas.microsoft.com/office/drawing/2014/main" id="{6CB27F5D-41B8-0A4D-044F-D83F69058C3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5" name="Line 12">
                          <a:extLst>
                            <a:ext uri="{FF2B5EF4-FFF2-40B4-BE49-F238E27FC236}">
                              <a16:creationId xmlns:a16="http://schemas.microsoft.com/office/drawing/2014/main" id="{7D00FC9F-BB32-21D1-6260-354156DCBC0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6" name="Line 13">
                          <a:extLst>
                            <a:ext uri="{FF2B5EF4-FFF2-40B4-BE49-F238E27FC236}">
                              <a16:creationId xmlns:a16="http://schemas.microsoft.com/office/drawing/2014/main" id="{1AB541D6-270D-46E0-AF22-DBA2138E24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7" name="Line 14">
                          <a:extLst>
                            <a:ext uri="{FF2B5EF4-FFF2-40B4-BE49-F238E27FC236}">
                              <a16:creationId xmlns:a16="http://schemas.microsoft.com/office/drawing/2014/main" id="{ECA49F21-F2A0-E2FD-5BC5-EEC647D162B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8" name="Line 15">
                          <a:extLst>
                            <a:ext uri="{FF2B5EF4-FFF2-40B4-BE49-F238E27FC236}">
                              <a16:creationId xmlns:a16="http://schemas.microsoft.com/office/drawing/2014/main" id="{048772E7-F03E-5E6F-0C45-B42D1046745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09" name="Line 16">
                          <a:extLst>
                            <a:ext uri="{FF2B5EF4-FFF2-40B4-BE49-F238E27FC236}">
                              <a16:creationId xmlns:a16="http://schemas.microsoft.com/office/drawing/2014/main" id="{A507159F-2BEB-49FF-B398-08837513F86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0" name="Line 17">
                          <a:extLst>
                            <a:ext uri="{FF2B5EF4-FFF2-40B4-BE49-F238E27FC236}">
                              <a16:creationId xmlns:a16="http://schemas.microsoft.com/office/drawing/2014/main" id="{CE6FE93D-0FCE-DD36-23AD-53EEA7F0AC2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1" name="Line 18">
                          <a:extLst>
                            <a:ext uri="{FF2B5EF4-FFF2-40B4-BE49-F238E27FC236}">
                              <a16:creationId xmlns:a16="http://schemas.microsoft.com/office/drawing/2014/main" id="{397B681B-0611-6C29-0757-794FCFBC76F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2" name="Line 19">
                          <a:extLst>
                            <a:ext uri="{FF2B5EF4-FFF2-40B4-BE49-F238E27FC236}">
                              <a16:creationId xmlns:a16="http://schemas.microsoft.com/office/drawing/2014/main" id="{D5C00A73-136C-A2F0-F169-B422CDE164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3" name="Line 20">
                          <a:extLst>
                            <a:ext uri="{FF2B5EF4-FFF2-40B4-BE49-F238E27FC236}">
                              <a16:creationId xmlns:a16="http://schemas.microsoft.com/office/drawing/2014/main" id="{E0B09267-BCBA-DDB3-38BC-45C9A508570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4" name="Line 21">
                          <a:extLst>
                            <a:ext uri="{FF2B5EF4-FFF2-40B4-BE49-F238E27FC236}">
                              <a16:creationId xmlns:a16="http://schemas.microsoft.com/office/drawing/2014/main" id="{FAA948B6-89EA-5FD9-6D74-54ACF4D18ED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5" name="Line 22">
                          <a:extLst>
                            <a:ext uri="{FF2B5EF4-FFF2-40B4-BE49-F238E27FC236}">
                              <a16:creationId xmlns:a16="http://schemas.microsoft.com/office/drawing/2014/main" id="{4098AEC2-B336-0BB4-B306-2B652A24E5C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6" name="Line 23">
                          <a:extLst>
                            <a:ext uri="{FF2B5EF4-FFF2-40B4-BE49-F238E27FC236}">
                              <a16:creationId xmlns:a16="http://schemas.microsoft.com/office/drawing/2014/main" id="{B16C6B64-5FCD-CF2B-E67A-2AB4153154F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7" name="Line 24">
                          <a:extLst>
                            <a:ext uri="{FF2B5EF4-FFF2-40B4-BE49-F238E27FC236}">
                              <a16:creationId xmlns:a16="http://schemas.microsoft.com/office/drawing/2014/main" id="{35286C7E-60B9-3756-A5CB-09736E84D90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8" name="Line 25">
                          <a:extLst>
                            <a:ext uri="{FF2B5EF4-FFF2-40B4-BE49-F238E27FC236}">
                              <a16:creationId xmlns:a16="http://schemas.microsoft.com/office/drawing/2014/main" id="{6CCF56E6-477C-BB76-C42E-6B270CE4920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19" name="Line 26">
                          <a:extLst>
                            <a:ext uri="{FF2B5EF4-FFF2-40B4-BE49-F238E27FC236}">
                              <a16:creationId xmlns:a16="http://schemas.microsoft.com/office/drawing/2014/main" id="{33D81357-3754-64E7-42D0-58C66737F7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0" name="Line 27">
                          <a:extLst>
                            <a:ext uri="{FF2B5EF4-FFF2-40B4-BE49-F238E27FC236}">
                              <a16:creationId xmlns:a16="http://schemas.microsoft.com/office/drawing/2014/main" id="{DCD57035-044D-3CC2-42DE-C21C0DA09D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1" name="Line 28">
                          <a:extLst>
                            <a:ext uri="{FF2B5EF4-FFF2-40B4-BE49-F238E27FC236}">
                              <a16:creationId xmlns:a16="http://schemas.microsoft.com/office/drawing/2014/main" id="{E3A0D155-65B6-9A4E-708C-1630816D605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2" name="Line 29">
                          <a:extLst>
                            <a:ext uri="{FF2B5EF4-FFF2-40B4-BE49-F238E27FC236}">
                              <a16:creationId xmlns:a16="http://schemas.microsoft.com/office/drawing/2014/main" id="{81861249-B497-1CBB-7BC9-80D4788D30D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3" name="Line 30">
                          <a:extLst>
                            <a:ext uri="{FF2B5EF4-FFF2-40B4-BE49-F238E27FC236}">
                              <a16:creationId xmlns:a16="http://schemas.microsoft.com/office/drawing/2014/main" id="{8F861927-A51F-6D8F-5007-984DCBEF6D9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4" name="Line 31">
                          <a:extLst>
                            <a:ext uri="{FF2B5EF4-FFF2-40B4-BE49-F238E27FC236}">
                              <a16:creationId xmlns:a16="http://schemas.microsoft.com/office/drawing/2014/main" id="{07AFAE09-ECDB-1F0B-7E75-1DE1FD460B3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5" name="Line 32">
                          <a:extLst>
                            <a:ext uri="{FF2B5EF4-FFF2-40B4-BE49-F238E27FC236}">
                              <a16:creationId xmlns:a16="http://schemas.microsoft.com/office/drawing/2014/main" id="{F9FD75EC-104D-43F6-B3D6-F51325C3EB8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6" name="Line 33">
                          <a:extLst>
                            <a:ext uri="{FF2B5EF4-FFF2-40B4-BE49-F238E27FC236}">
                              <a16:creationId xmlns:a16="http://schemas.microsoft.com/office/drawing/2014/main" id="{FD469452-F02C-A60D-715D-BAD0305E0BD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7" name="Line 34">
                          <a:extLst>
                            <a:ext uri="{FF2B5EF4-FFF2-40B4-BE49-F238E27FC236}">
                              <a16:creationId xmlns:a16="http://schemas.microsoft.com/office/drawing/2014/main" id="{759AA555-69D1-C305-7DFB-686B34A83CF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8" name="Line 35">
                          <a:extLst>
                            <a:ext uri="{FF2B5EF4-FFF2-40B4-BE49-F238E27FC236}">
                              <a16:creationId xmlns:a16="http://schemas.microsoft.com/office/drawing/2014/main" id="{57E444D6-605E-5CEC-91FA-0067C0934C1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29" name="Line 36">
                          <a:extLst>
                            <a:ext uri="{FF2B5EF4-FFF2-40B4-BE49-F238E27FC236}">
                              <a16:creationId xmlns:a16="http://schemas.microsoft.com/office/drawing/2014/main" id="{85E54B1A-A675-9B1E-BC79-437A11F314B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30" name="Line 37">
                          <a:extLst>
                            <a:ext uri="{FF2B5EF4-FFF2-40B4-BE49-F238E27FC236}">
                              <a16:creationId xmlns:a16="http://schemas.microsoft.com/office/drawing/2014/main" id="{32ECD823-58DC-252A-6725-7AFEB74619C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31" name="Line 38">
                          <a:extLst>
                            <a:ext uri="{FF2B5EF4-FFF2-40B4-BE49-F238E27FC236}">
                              <a16:creationId xmlns:a16="http://schemas.microsoft.com/office/drawing/2014/main" id="{A691BE4E-897F-B356-6AFE-5D47907949A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190" name="Line 39">
                      <a:extLst>
                        <a:ext uri="{FF2B5EF4-FFF2-40B4-BE49-F238E27FC236}">
                          <a16:creationId xmlns:a16="http://schemas.microsoft.com/office/drawing/2014/main" id="{A296E477-6F61-FAAE-63D1-2D1DB4E0B9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91" name="Text Box 40">
                      <a:extLst>
                        <a:ext uri="{FF2B5EF4-FFF2-40B4-BE49-F238E27FC236}">
                          <a16:creationId xmlns:a16="http://schemas.microsoft.com/office/drawing/2014/main" id="{2D6A7016-10AF-66C8-5A2D-6534BF4CC63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[12|10:5]</a:t>
                      </a:r>
                    </a:p>
                  </p:txBody>
                </p:sp>
                <p:sp>
                  <p:nvSpPr>
                    <p:cNvPr id="192" name="Text Box 41">
                      <a:extLst>
                        <a:ext uri="{FF2B5EF4-FFF2-40B4-BE49-F238E27FC236}">
                          <a16:creationId xmlns:a16="http://schemas.microsoft.com/office/drawing/2014/main" id="{B756E809-72D3-01EC-1BE0-B725910F1B2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43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193" name="Line 42">
                      <a:extLst>
                        <a:ext uri="{FF2B5EF4-FFF2-40B4-BE49-F238E27FC236}">
                          <a16:creationId xmlns:a16="http://schemas.microsoft.com/office/drawing/2014/main" id="{5B174F2A-453B-7545-9A8F-33AC3B193B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94" name="Line 43">
                      <a:extLst>
                        <a:ext uri="{FF2B5EF4-FFF2-40B4-BE49-F238E27FC236}">
                          <a16:creationId xmlns:a16="http://schemas.microsoft.com/office/drawing/2014/main" id="{F181E54F-4DDF-ECD1-75AB-BCC15D38D1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95" name="Line 44">
                      <a:extLst>
                        <a:ext uri="{FF2B5EF4-FFF2-40B4-BE49-F238E27FC236}">
                          <a16:creationId xmlns:a16="http://schemas.microsoft.com/office/drawing/2014/main" id="{A3C549A4-FD37-B78E-62F7-9149742EB4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96" name="Text Box 45">
                      <a:extLst>
                        <a:ext uri="{FF2B5EF4-FFF2-40B4-BE49-F238E27FC236}">
                          <a16:creationId xmlns:a16="http://schemas.microsoft.com/office/drawing/2014/main" id="{E5853216-A471-D03C-1FB9-3106B1463ED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7" name="Text Box 46">
                      <a:extLst>
                        <a:ext uri="{FF2B5EF4-FFF2-40B4-BE49-F238E27FC236}">
                          <a16:creationId xmlns:a16="http://schemas.microsoft.com/office/drawing/2014/main" id="{E665F823-2E15-19C6-EBB1-D277AB77AAA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198" name="Text Box 47">
                      <a:extLst>
                        <a:ext uri="{FF2B5EF4-FFF2-40B4-BE49-F238E27FC236}">
                          <a16:creationId xmlns:a16="http://schemas.microsoft.com/office/drawing/2014/main" id="{86E5AAF9-EE3A-946C-BF3F-51723436C4A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99" name="Line 153">
                      <a:extLst>
                        <a:ext uri="{FF2B5EF4-FFF2-40B4-BE49-F238E27FC236}">
                          <a16:creationId xmlns:a16="http://schemas.microsoft.com/office/drawing/2014/main" id="{23A43CE4-C35C-CA7A-4BA8-79B4EA39505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86" name="Text Box 41">
                  <a:extLst>
                    <a:ext uri="{FF2B5EF4-FFF2-40B4-BE49-F238E27FC236}">
                      <a16:creationId xmlns:a16="http://schemas.microsoft.com/office/drawing/2014/main" id="{1E1D8CB7-117D-C20E-E929-3F385BE8309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6089920"/>
                  <a:ext cx="737522" cy="1676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050" b="1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1050" b="1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[4:1|11]</a:t>
                  </a:r>
                  <a:endParaRPr lang="es-ES_tradnl" sz="10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84" name="Line 11">
                <a:extLst>
                  <a:ext uri="{FF2B5EF4-FFF2-40B4-BE49-F238E27FC236}">
                    <a16:creationId xmlns:a16="http://schemas.microsoft.com/office/drawing/2014/main" id="{D69D2EAA-7882-337A-7A9B-357E28D13C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69" name="Text Box 48">
              <a:extLst>
                <a:ext uri="{FF2B5EF4-FFF2-40B4-BE49-F238E27FC236}">
                  <a16:creationId xmlns:a16="http://schemas.microsoft.com/office/drawing/2014/main" id="{3FACA3CD-95A9-D71B-59C0-92A1978CC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8" y="5743604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70" name="Text Box 49">
              <a:extLst>
                <a:ext uri="{FF2B5EF4-FFF2-40B4-BE49-F238E27FC236}">
                  <a16:creationId xmlns:a16="http://schemas.microsoft.com/office/drawing/2014/main" id="{D952422A-B559-48E0-EBFB-B33639ABA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3" y="5745206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71" name="Text Box 50">
              <a:extLst>
                <a:ext uri="{FF2B5EF4-FFF2-40B4-BE49-F238E27FC236}">
                  <a16:creationId xmlns:a16="http://schemas.microsoft.com/office/drawing/2014/main" id="{7171D2C9-B25E-DA87-3D5B-0938FADB3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11" y="5748409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79" name="Text Box 51">
              <a:extLst>
                <a:ext uri="{FF2B5EF4-FFF2-40B4-BE49-F238E27FC236}">
                  <a16:creationId xmlns:a16="http://schemas.microsoft.com/office/drawing/2014/main" id="{BB1FD559-9914-7787-86C7-FA45969D6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9" y="5748409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80" name="Text Box 52">
              <a:extLst>
                <a:ext uri="{FF2B5EF4-FFF2-40B4-BE49-F238E27FC236}">
                  <a16:creationId xmlns:a16="http://schemas.microsoft.com/office/drawing/2014/main" id="{2C368FF4-2900-2A22-3227-4843AA348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6" y="5743604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81" name="Text Box 53">
              <a:extLst>
                <a:ext uri="{FF2B5EF4-FFF2-40B4-BE49-F238E27FC236}">
                  <a16:creationId xmlns:a16="http://schemas.microsoft.com/office/drawing/2014/main" id="{48EF9970-4145-3D2E-90DC-F4A973F97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91" y="5751612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82" name="Text Box 154">
              <a:extLst>
                <a:ext uri="{FF2B5EF4-FFF2-40B4-BE49-F238E27FC236}">
                  <a16:creationId xmlns:a16="http://schemas.microsoft.com/office/drawing/2014/main" id="{22B434C7-AE3F-0985-4815-803DA64FF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41" y="5746807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3049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 err="1"/>
              <a:t>Pseudoinstrucciones</a:t>
            </a:r>
            <a:endParaRPr lang="es-ES_tradnl" noProof="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0" dirty="0"/>
              <a:t>Se utilizan para facilitar la programación en ensamblador. No son instrucciones máquina.</a:t>
            </a:r>
          </a:p>
          <a:p>
            <a:r>
              <a:rPr lang="es-ES_tradnl" noProof="0" dirty="0"/>
              <a:t>Son traducidas por el Programa Ensamblador a un conjunto de instrucciones máquina equivalente.</a:t>
            </a:r>
          </a:p>
          <a:p>
            <a:r>
              <a:rPr lang="es-ES_tradnl" noProof="0" dirty="0"/>
              <a:t>Ejemplos: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_tradnl" noProof="0" dirty="0"/>
              <a:t>Curso 2011-2012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29</a:t>
            </a:fld>
            <a:endParaRPr lang="es-ES_tradnl" noProof="0" dirty="0"/>
          </a:p>
        </p:txBody>
      </p:sp>
      <p:sp>
        <p:nvSpPr>
          <p:cNvPr id="6" name="5 CuadroTexto"/>
          <p:cNvSpPr txBox="1"/>
          <p:nvPr/>
        </p:nvSpPr>
        <p:spPr>
          <a:xfrm>
            <a:off x="1576136" y="3347787"/>
            <a:ext cx="5913522" cy="9140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</a:t>
            </a:r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endParaRPr lang="es-ES_tradnl" sz="15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_tradnl" sz="16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la t1, 0x10002000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_tradnl" sz="16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lui  t1, 0x10002</a:t>
            </a:r>
          </a:p>
          <a:p>
            <a:pPr algn="l"/>
            <a:r>
              <a:rPr lang="es-ES_tradnl" sz="16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		      </a:t>
            </a:r>
            <a:r>
              <a:rPr lang="es-ES_tradnl" sz="16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addi</a:t>
            </a:r>
            <a:r>
              <a:rPr lang="es-ES_tradnl" sz="16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t1, t1, 0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1554491" y="4490076"/>
            <a:ext cx="5913522" cy="618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endParaRPr lang="es-ES_tradnl" sz="15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mv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x1, x3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x1, x3, </a:t>
            </a:r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1575449" y="5332431"/>
            <a:ext cx="5913522" cy="8956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Inmediate</a:t>
            </a:r>
          </a:p>
          <a:p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x1, 0x12345001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lui x1, 0x12345</a:t>
            </a:r>
            <a:endParaRPr lang="es-ES_tradnl" sz="1500" baseline="-25000" noProof="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s-ES_tradnl" sz="1500" noProof="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15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x1, x1, 1</a:t>
            </a:r>
          </a:p>
        </p:txBody>
      </p:sp>
    </p:spTree>
    <p:extLst>
      <p:ext uri="{BB962C8B-B14F-4D97-AF65-F5344CB8AC3E}">
        <p14:creationId xmlns:p14="http://schemas.microsoft.com/office/powerpoint/2010/main" val="3384613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Ejemplo: Codificación, ensamblado y carga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30</a:t>
            </a:fld>
            <a:endParaRPr lang="es-ES_tradnl" noProof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3276600" y="2590800"/>
            <a:ext cx="2647279" cy="28315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.data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a:  .byte 0x40, 0xFF, 0x10, 0x00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c:  .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word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.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text</a:t>
            </a:r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la  t0, a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lb  x1, 0(t0)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lb  x2, 2(t0)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x3, x1, x2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sb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x3, 3(t0)</a:t>
            </a:r>
          </a:p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x1, 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zero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</a:t>
            </a:r>
            <a:r>
              <a:rPr lang="es-ES_tradnl" sz="10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zero</a:t>
            </a:r>
            <a:endParaRPr lang="es-ES_tradnl" sz="10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7" name="Llamada rectangular redondeada 6"/>
          <p:cNvSpPr/>
          <p:nvPr/>
        </p:nvSpPr>
        <p:spPr bwMode="auto">
          <a:xfrm>
            <a:off x="3124200" y="1447800"/>
            <a:ext cx="2667000" cy="609600"/>
          </a:xfrm>
          <a:prstGeom prst="wedgeRoundRectCallout">
            <a:avLst>
              <a:gd name="adj1" fmla="val 11836"/>
              <a:gd name="adj2" fmla="val 145370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Definición de segmento de datos. Asumimos inicio en dirección 0x10002000</a:t>
            </a:r>
          </a:p>
        </p:txBody>
      </p:sp>
      <p:sp>
        <p:nvSpPr>
          <p:cNvPr id="8" name="Llamada rectangular redondeada 7"/>
          <p:cNvSpPr/>
          <p:nvPr/>
        </p:nvSpPr>
        <p:spPr bwMode="auto">
          <a:xfrm>
            <a:off x="6324600" y="1143000"/>
            <a:ext cx="2438400" cy="2057400"/>
          </a:xfrm>
          <a:prstGeom prst="wedgeRoundRectCallout">
            <a:avLst>
              <a:gd name="adj1" fmla="val -69931"/>
              <a:gd name="adj2" fmla="val 38837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Reserva e inicialización de posiciones de memoria 0x10002000 – 0x10002007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0x10002000: 0x40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0x10002001: 0xFF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0x10002002: 0x10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0x10002003: 0x00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0x10002004: 0xFFFFFFFF</a:t>
            </a:r>
          </a:p>
        </p:txBody>
      </p:sp>
      <p:sp>
        <p:nvSpPr>
          <p:cNvPr id="10" name="Llamada rectangular redondeada 9"/>
          <p:cNvSpPr/>
          <p:nvPr/>
        </p:nvSpPr>
        <p:spPr bwMode="auto">
          <a:xfrm>
            <a:off x="609600" y="1905000"/>
            <a:ext cx="2438400" cy="914400"/>
          </a:xfrm>
          <a:prstGeom prst="wedgeRoundRectCallout">
            <a:avLst>
              <a:gd name="adj1" fmla="val 57848"/>
              <a:gd name="adj2" fmla="val 66204"/>
              <a:gd name="adj3" fmla="val 166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Definición de etiquetas de datos: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a: 0x10002000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c: 0x10002004</a:t>
            </a:r>
          </a:p>
        </p:txBody>
      </p:sp>
      <p:sp>
        <p:nvSpPr>
          <p:cNvPr id="11" name="Llamada rectangular redondeada 10"/>
          <p:cNvSpPr/>
          <p:nvPr/>
        </p:nvSpPr>
        <p:spPr bwMode="auto">
          <a:xfrm>
            <a:off x="6172200" y="3505200"/>
            <a:ext cx="2743200" cy="685800"/>
          </a:xfrm>
          <a:prstGeom prst="wedgeRoundRectCallout">
            <a:avLst>
              <a:gd name="adj1" fmla="val -123893"/>
              <a:gd name="adj2" fmla="val 48276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Definición de segmento de código. Asumimos inicio en dirección 0x00400000</a:t>
            </a:r>
          </a:p>
        </p:txBody>
      </p:sp>
      <p:sp>
        <p:nvSpPr>
          <p:cNvPr id="12" name="Llamada rectangular redondeada 11"/>
          <p:cNvSpPr/>
          <p:nvPr/>
        </p:nvSpPr>
        <p:spPr bwMode="auto">
          <a:xfrm>
            <a:off x="6172200" y="4191000"/>
            <a:ext cx="2743200" cy="685800"/>
          </a:xfrm>
          <a:prstGeom prst="wedgeRoundRectCallout">
            <a:avLst>
              <a:gd name="adj1" fmla="val -111366"/>
              <a:gd name="adj2" fmla="val -25772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Carga de registro t0 con el valor de la etiqueta a (0x10002000)</a:t>
            </a:r>
          </a:p>
        </p:txBody>
      </p:sp>
      <p:sp>
        <p:nvSpPr>
          <p:cNvPr id="13" name="Llamada rectangular redondeada 12"/>
          <p:cNvSpPr/>
          <p:nvPr/>
        </p:nvSpPr>
        <p:spPr bwMode="auto">
          <a:xfrm>
            <a:off x="6172200" y="4876800"/>
            <a:ext cx="2743200" cy="685800"/>
          </a:xfrm>
          <a:prstGeom prst="wedgeRoundRectCallout">
            <a:avLst>
              <a:gd name="adj1" fmla="val -104837"/>
              <a:gd name="adj2" fmla="val -87630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Lectura de 2 bytes de memoria, en las direcciones 0+t0 y 2+t0, cargándolos en x1 y x2, </a:t>
            </a:r>
            <a:r>
              <a:rPr lang="es-ES_tradnl" sz="1200" noProof="0" dirty="0" err="1">
                <a:solidFill>
                  <a:schemeClr val="tx1"/>
                </a:solidFill>
              </a:rPr>
              <a:t>resp</a:t>
            </a:r>
            <a:r>
              <a:rPr lang="es-ES_tradnl" sz="1200" noProof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Llamada rectangular redondeada 13"/>
          <p:cNvSpPr/>
          <p:nvPr/>
        </p:nvSpPr>
        <p:spPr bwMode="auto">
          <a:xfrm>
            <a:off x="609600" y="4419600"/>
            <a:ext cx="2514600" cy="685800"/>
          </a:xfrm>
          <a:prstGeom prst="wedgeRoundRectCallout">
            <a:avLst>
              <a:gd name="adj1" fmla="val 68374"/>
              <a:gd name="adj2" fmla="val 21141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Suma de x1 y x2, y deja el resultado en x3</a:t>
            </a:r>
          </a:p>
        </p:txBody>
      </p:sp>
      <p:sp>
        <p:nvSpPr>
          <p:cNvPr id="15" name="Llamada rectangular redondeada 14"/>
          <p:cNvSpPr/>
          <p:nvPr/>
        </p:nvSpPr>
        <p:spPr bwMode="auto">
          <a:xfrm>
            <a:off x="609600" y="5105400"/>
            <a:ext cx="2514600" cy="838200"/>
          </a:xfrm>
          <a:prstGeom prst="wedgeRoundRectCallout">
            <a:avLst>
              <a:gd name="adj1" fmla="val 70387"/>
              <a:gd name="adj2" fmla="val -45095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Almacena el byte de menor peso de x3 en memoria, en la dirección resultado de sumar t0 y 3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También inicializa x1 a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31</a:t>
            </a:fld>
            <a:endParaRPr lang="es-ES_tradnl" noProof="0" dirty="0"/>
          </a:p>
        </p:txBody>
      </p:sp>
      <p:sp>
        <p:nvSpPr>
          <p:cNvPr id="47" name="CuadroTexto 46"/>
          <p:cNvSpPr txBox="1"/>
          <p:nvPr/>
        </p:nvSpPr>
        <p:spPr>
          <a:xfrm>
            <a:off x="685800" y="1192103"/>
            <a:ext cx="2647279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  <a:r>
              <a:rPr lang="es-ES_tradnl" sz="1000" noProof="0" dirty="0">
                <a:solidFill>
                  <a:srgbClr val="0070C0"/>
                </a:solidFill>
                <a:latin typeface="Courier New"/>
                <a:cs typeface="Courier New"/>
              </a:rPr>
              <a:t>.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data #Asumido en 0x10002000</a:t>
            </a:r>
            <a:endParaRPr lang="es-ES_tradnl" sz="1000" noProof="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noProof="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0" dirty="0">
                <a:solidFill>
                  <a:srgbClr val="0070C0"/>
                </a:solidFill>
                <a:latin typeface="Courier New"/>
                <a:cs typeface="Courier New"/>
              </a:rPr>
              <a:t>c:  .</a:t>
            </a:r>
            <a:r>
              <a:rPr lang="es-ES_tradnl" sz="1000" noProof="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noProof="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noProof="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noProof="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noProof="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  <a:endParaRPr lang="es-ES_tradnl" sz="1000" noProof="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la t0, a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x1, 0(t0)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x2, 2(t0)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x1, x2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sb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3(t0)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x1,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zero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,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zero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</p:txBody>
      </p:sp>
      <p:grpSp>
        <p:nvGrpSpPr>
          <p:cNvPr id="2" name="134 Grupo"/>
          <p:cNvGrpSpPr/>
          <p:nvPr/>
        </p:nvGrpSpPr>
        <p:grpSpPr>
          <a:xfrm>
            <a:off x="3660483" y="3398227"/>
            <a:ext cx="3137520" cy="2911093"/>
            <a:chOff x="3491880" y="914400"/>
            <a:chExt cx="3137520" cy="2911093"/>
          </a:xfrm>
        </p:grpSpPr>
        <p:grpSp>
          <p:nvGrpSpPr>
            <p:cNvPr id="3" name="131 Grupo"/>
            <p:cNvGrpSpPr/>
            <p:nvPr/>
          </p:nvGrpSpPr>
          <p:grpSpPr>
            <a:xfrm>
              <a:off x="3491880" y="914400"/>
              <a:ext cx="3137520" cy="2911093"/>
              <a:chOff x="3491880" y="914400"/>
              <a:chExt cx="3137520" cy="2911093"/>
            </a:xfrm>
          </p:grpSpPr>
          <p:sp>
            <p:nvSpPr>
              <p:cNvPr id="73" name="Rectángulo redondeado 72"/>
              <p:cNvSpPr/>
              <p:nvPr/>
            </p:nvSpPr>
            <p:spPr bwMode="auto">
              <a:xfrm>
                <a:off x="4343400" y="1219200"/>
                <a:ext cx="2286000" cy="2606293"/>
              </a:xfrm>
              <a:prstGeom prst="roundRect">
                <a:avLst/>
              </a:prstGeom>
              <a:noFill/>
              <a:ln w="19050"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r>
                  <a:rPr lang="es-ES_tradnl" sz="1050" noProof="0" dirty="0">
                    <a:solidFill>
                      <a:srgbClr val="000000"/>
                    </a:solidFill>
                    <a:latin typeface="Courier"/>
                    <a:cs typeface="Courier"/>
                  </a:rPr>
                  <a:t>Dirección	 Contenido</a:t>
                </a:r>
              </a:p>
              <a:p>
                <a:pPr algn="l"/>
                <a:r>
                  <a:rPr lang="es-ES_tradnl" sz="1050" noProof="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0x00400000  </a:t>
                </a:r>
                <a:r>
                  <a:rPr lang="es-ES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0x100022B7</a:t>
                </a:r>
                <a:endParaRPr lang="es-ES_tradnl" sz="1050" dirty="0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0x00400004  </a:t>
                </a:r>
                <a:r>
                  <a:rPr lang="es-ES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0x00028083</a:t>
                </a:r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  </a:t>
                </a: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0x00400008  </a:t>
                </a:r>
                <a:r>
                  <a:rPr lang="es-ES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0x00228103</a:t>
                </a:r>
                <a:endParaRPr lang="es-ES_tradnl" sz="1050" dirty="0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0x0040000C  </a:t>
                </a:r>
                <a:r>
                  <a:rPr lang="es-ES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0x002081B3</a:t>
                </a:r>
                <a:endParaRPr lang="es-ES_tradnl" sz="1050" dirty="0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0x00400010  </a:t>
                </a:r>
                <a:r>
                  <a:rPr lang="es-ES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0x003281A3 </a:t>
                </a:r>
                <a:endParaRPr lang="es-ES_tradnl" sz="1050" dirty="0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0x00400014  </a:t>
                </a:r>
                <a:r>
                  <a:rPr lang="es-ES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0x000000B3</a:t>
                </a:r>
                <a:endParaRPr lang="es-ES_tradnl" sz="1050" dirty="0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...</a:t>
                </a:r>
              </a:p>
              <a:p>
                <a:pPr algn="l"/>
                <a:endParaRPr lang="es-ES_tradnl" sz="1050" noProof="0" dirty="0">
                  <a:solidFill>
                    <a:srgbClr val="000000"/>
                  </a:solidFill>
                  <a:latin typeface="Courier"/>
                  <a:cs typeface="Courier"/>
                </a:endParaRP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0x10002000  0x0010FF40</a:t>
                </a:r>
              </a:p>
              <a:p>
                <a:pPr algn="l"/>
                <a:r>
                  <a:rPr lang="es-ES_tradnl" sz="1050" dirty="0">
                    <a:solidFill>
                      <a:srgbClr val="000000"/>
                    </a:solidFill>
                    <a:latin typeface="Courier"/>
                    <a:cs typeface="Courier"/>
                  </a:rPr>
                  <a:t>0x10002004  0xFFFFFFFF</a:t>
                </a:r>
              </a:p>
              <a:p>
                <a:pPr algn="l"/>
                <a:r>
                  <a:rPr lang="es-ES_tradnl" sz="1050" noProof="0" dirty="0">
                    <a:solidFill>
                      <a:srgbClr val="000000"/>
                    </a:solidFill>
                    <a:latin typeface="Courier"/>
                    <a:cs typeface="Courier"/>
                  </a:rPr>
                  <a:t>...</a:t>
                </a:r>
              </a:p>
            </p:txBody>
          </p:sp>
          <p:sp>
            <p:nvSpPr>
              <p:cNvPr id="74" name="CuadroTexto 73"/>
              <p:cNvSpPr txBox="1"/>
              <p:nvPr/>
            </p:nvSpPr>
            <p:spPr>
              <a:xfrm>
                <a:off x="4267200" y="914400"/>
                <a:ext cx="17514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noProof="0" dirty="0">
                    <a:solidFill>
                      <a:schemeClr val="accent1">
                        <a:lumMod val="75000"/>
                      </a:schemeClr>
                    </a:solidFill>
                  </a:rPr>
                  <a:t>Contenido memoria</a:t>
                </a:r>
              </a:p>
            </p:txBody>
          </p:sp>
          <p:sp>
            <p:nvSpPr>
              <p:cNvPr id="51" name="CuadroTexto 50"/>
              <p:cNvSpPr txBox="1"/>
              <p:nvPr/>
            </p:nvSpPr>
            <p:spPr>
              <a:xfrm>
                <a:off x="3491880" y="1809269"/>
                <a:ext cx="6719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noProof="0" dirty="0">
                    <a:solidFill>
                      <a:srgbClr val="FF0000"/>
                    </a:solidFill>
                  </a:rPr>
                  <a:t>Carga</a:t>
                </a:r>
              </a:p>
            </p:txBody>
          </p:sp>
        </p:grpSp>
        <p:sp>
          <p:nvSpPr>
            <p:cNvPr id="49" name="Flecha derecha 48"/>
            <p:cNvSpPr/>
            <p:nvPr/>
          </p:nvSpPr>
          <p:spPr bwMode="auto">
            <a:xfrm>
              <a:off x="3491880" y="2204864"/>
              <a:ext cx="762000" cy="609600"/>
            </a:xfrm>
            <a:prstGeom prst="rightArrow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sp>
        <p:nvSpPr>
          <p:cNvPr id="56" name="Llamada rectangular redondeada 55"/>
          <p:cNvSpPr/>
          <p:nvPr/>
        </p:nvSpPr>
        <p:spPr bwMode="auto">
          <a:xfrm>
            <a:off x="6363979" y="1916832"/>
            <a:ext cx="2799502" cy="1692789"/>
          </a:xfrm>
          <a:prstGeom prst="wedgeRoundRectCallout">
            <a:avLst>
              <a:gd name="adj1" fmla="val -48013"/>
              <a:gd name="adj2" fmla="val 1146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s-ES_tradnl" sz="800" noProof="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80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800" dirty="0">
                <a:solidFill>
                  <a:schemeClr val="tx1"/>
                </a:solidFill>
                <a:latin typeface="Courier New"/>
                <a:cs typeface="Courier New"/>
              </a:rPr>
              <a:t> x3, x1, x2</a:t>
            </a:r>
          </a:p>
          <a:p>
            <a:pPr algn="l"/>
            <a:r>
              <a:rPr lang="es-ES_tradnl" sz="800" noProof="0" dirty="0">
                <a:solidFill>
                  <a:schemeClr val="tx1"/>
                </a:solidFill>
                <a:latin typeface="Courier New"/>
                <a:cs typeface="Courier New"/>
              </a:rPr>
              <a:t>0x002081B3</a:t>
            </a:r>
          </a:p>
          <a:p>
            <a:pPr algn="l"/>
            <a:r>
              <a:rPr lang="es-ES" sz="800" dirty="0">
                <a:solidFill>
                  <a:schemeClr val="tx1"/>
                </a:solidFill>
                <a:latin typeface="Courier New"/>
                <a:cs typeface="Courier New"/>
              </a:rPr>
              <a:t>0000000 00010 00001 000 00011 0110011</a:t>
            </a:r>
            <a:endParaRPr lang="es-ES_tradnl" sz="800" noProof="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algn="l"/>
            <a:endParaRPr lang="es-ES_tradnl" sz="800" noProof="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800" noProof="0" dirty="0">
                <a:solidFill>
                  <a:schemeClr val="tx1"/>
                </a:solidFill>
                <a:latin typeface="Courier New"/>
                <a:cs typeface="Courier New"/>
              </a:rPr>
              <a:t>Instrucción con formato R</a:t>
            </a:r>
          </a:p>
          <a:p>
            <a:pPr algn="l"/>
            <a:r>
              <a:rPr lang="es-ES_tradnl" sz="800" noProof="0" dirty="0" err="1">
                <a:solidFill>
                  <a:schemeClr val="tx1"/>
                </a:solidFill>
                <a:latin typeface="Courier New"/>
                <a:cs typeface="Courier New"/>
              </a:rPr>
              <a:t>C.op</a:t>
            </a:r>
            <a:r>
              <a:rPr lang="es-ES_tradnl" sz="800" noProof="0" dirty="0">
                <a:solidFill>
                  <a:schemeClr val="tx1"/>
                </a:solidFill>
                <a:latin typeface="Courier New"/>
                <a:cs typeface="Courier New"/>
              </a:rPr>
              <a:t>:   bits 6-0: 0110011</a:t>
            </a:r>
          </a:p>
          <a:p>
            <a:pPr algn="l"/>
            <a:r>
              <a:rPr lang="es-ES_tradnl" sz="800" dirty="0" err="1">
                <a:solidFill>
                  <a:schemeClr val="tx1"/>
                </a:solidFill>
                <a:latin typeface="Courier New"/>
                <a:cs typeface="Courier New"/>
              </a:rPr>
              <a:t>rd</a:t>
            </a:r>
            <a:r>
              <a:rPr lang="es-ES_tradnl" sz="800" dirty="0">
                <a:solidFill>
                  <a:schemeClr val="tx1"/>
                </a:solidFill>
                <a:latin typeface="Courier New"/>
                <a:cs typeface="Courier New"/>
              </a:rPr>
              <a:t>:     bits 11:7: 00011 -&gt; x3</a:t>
            </a:r>
          </a:p>
          <a:p>
            <a:pPr algn="l"/>
            <a:r>
              <a:rPr lang="es-ES_tradnl" sz="800" dirty="0">
                <a:solidFill>
                  <a:schemeClr val="tx1"/>
                </a:solidFill>
                <a:latin typeface="Courier New"/>
                <a:cs typeface="Courier New"/>
              </a:rPr>
              <a:t>r</a:t>
            </a:r>
            <a:r>
              <a:rPr lang="es-ES_tradnl" sz="800" noProof="0" dirty="0">
                <a:solidFill>
                  <a:schemeClr val="tx1"/>
                </a:solidFill>
                <a:latin typeface="Courier New"/>
                <a:cs typeface="Courier New"/>
              </a:rPr>
              <a:t>s1:    bits 19-15: 00001 -&gt; x1</a:t>
            </a:r>
          </a:p>
          <a:p>
            <a:pPr algn="l"/>
            <a:r>
              <a:rPr lang="es-ES_tradnl" sz="800" noProof="0" dirty="0">
                <a:solidFill>
                  <a:schemeClr val="tx1"/>
                </a:solidFill>
                <a:latin typeface="Courier New"/>
                <a:cs typeface="Courier New"/>
              </a:rPr>
              <a:t>rs2:    bits 24-20: 00010 -&gt; x2</a:t>
            </a:r>
          </a:p>
          <a:p>
            <a:pPr algn="l"/>
            <a:r>
              <a:rPr lang="es-ES_tradnl" sz="800" noProof="0" dirty="0">
                <a:solidFill>
                  <a:schemeClr val="tx1"/>
                </a:solidFill>
                <a:latin typeface="Courier New"/>
                <a:cs typeface="Courier New"/>
              </a:rPr>
              <a:t>funct3: bits 14-12: 000</a:t>
            </a:r>
          </a:p>
          <a:p>
            <a:pPr algn="l"/>
            <a:r>
              <a:rPr lang="es-ES_tradnl" sz="800" dirty="0">
                <a:solidFill>
                  <a:schemeClr val="tx1"/>
                </a:solidFill>
                <a:latin typeface="Courier New"/>
                <a:cs typeface="Courier New"/>
              </a:rPr>
              <a:t>funct7: bits 31-25: 0000000 –&gt; </a:t>
            </a:r>
            <a:r>
              <a:rPr lang="es-ES_tradnl" sz="80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endParaRPr lang="es-ES_tradnl" sz="800" noProof="0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algn="l"/>
            <a:endParaRPr lang="es-ES_tradnl" sz="800" noProof="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grpSp>
        <p:nvGrpSpPr>
          <p:cNvPr id="12" name="130 Grupo"/>
          <p:cNvGrpSpPr/>
          <p:nvPr/>
        </p:nvGrpSpPr>
        <p:grpSpPr>
          <a:xfrm>
            <a:off x="1" y="1984189"/>
            <a:ext cx="3714743" cy="4685171"/>
            <a:chOff x="-27111" y="5620072"/>
            <a:chExt cx="3714743" cy="4685171"/>
          </a:xfrm>
          <a:solidFill>
            <a:schemeClr val="bg1"/>
          </a:solidFill>
        </p:grpSpPr>
        <p:sp>
          <p:nvSpPr>
            <p:cNvPr id="45" name="CuadroTexto 44"/>
            <p:cNvSpPr txBox="1"/>
            <p:nvPr/>
          </p:nvSpPr>
          <p:spPr>
            <a:xfrm>
              <a:off x="656456" y="8027696"/>
              <a:ext cx="2647279" cy="2277547"/>
            </a:xfrm>
            <a:prstGeom prst="rect">
              <a:avLst/>
            </a:prstGeom>
            <a:grpFill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es-ES_tradnl" sz="1000" noProof="0" dirty="0">
                  <a:solidFill>
                    <a:srgbClr val="0070C0"/>
                  </a:solidFill>
                  <a:latin typeface="Courier New"/>
                  <a:cs typeface="Courier New"/>
                </a:rPr>
                <a:t>    .data #Asumido en 0x10002000</a:t>
              </a:r>
            </a:p>
            <a:p>
              <a:pPr algn="l"/>
              <a:r>
                <a:rPr lang="es-ES_tradnl" sz="1000" noProof="0" dirty="0">
                  <a:solidFill>
                    <a:srgbClr val="0070C0"/>
                  </a:solidFill>
                  <a:latin typeface="Courier New"/>
                  <a:cs typeface="Courier New"/>
                </a:rPr>
                <a:t>a:  .byte 0x40, 0xFF, 0x10, 0x00</a:t>
              </a:r>
            </a:p>
            <a:p>
              <a:pPr algn="l"/>
              <a:r>
                <a:rPr lang="es-ES_tradnl" sz="1000" noProof="0" dirty="0">
                  <a:solidFill>
                    <a:srgbClr val="0070C0"/>
                  </a:solidFill>
                  <a:latin typeface="Courier New"/>
                  <a:cs typeface="Courier New"/>
                </a:rPr>
                <a:t>b:  .</a:t>
              </a:r>
              <a:r>
                <a:rPr lang="es-ES_tradnl" sz="1000" noProof="0" dirty="0" err="1">
                  <a:solidFill>
                    <a:srgbClr val="0070C0"/>
                  </a:solidFill>
                  <a:latin typeface="Courier New"/>
                  <a:cs typeface="Courier New"/>
                </a:rPr>
                <a:t>word</a:t>
              </a:r>
              <a:r>
                <a:rPr lang="es-ES_tradnl" sz="1000" noProof="0" dirty="0">
                  <a:solidFill>
                    <a:srgbClr val="0070C0"/>
                  </a:solidFill>
                  <a:latin typeface="Courier New"/>
                  <a:cs typeface="Courier New"/>
                </a:rPr>
                <a:t> -1</a:t>
              </a:r>
            </a:p>
            <a:p>
              <a:pPr algn="l"/>
              <a:endParaRPr lang="es-ES_tradnl" sz="1000" noProof="0" dirty="0">
                <a:solidFill>
                  <a:srgbClr val="0070C0"/>
                </a:solidFill>
                <a:latin typeface="Courier New"/>
                <a:cs typeface="Courier New"/>
              </a:endParaRPr>
            </a:p>
            <a:p>
              <a:pPr algn="l"/>
              <a:r>
                <a:rPr lang="es-ES_tradnl" sz="1000" noProof="0" dirty="0">
                  <a:solidFill>
                    <a:srgbClr val="0070C0"/>
                  </a:solidFill>
                  <a:latin typeface="Courier New"/>
                  <a:cs typeface="Courier New"/>
                </a:rPr>
                <a:t>    .</a:t>
              </a:r>
              <a:r>
                <a:rPr lang="es-ES_tradnl" sz="1000" noProof="0" dirty="0" err="1">
                  <a:solidFill>
                    <a:srgbClr val="0070C0"/>
                  </a:solidFill>
                  <a:latin typeface="Courier New"/>
                  <a:cs typeface="Courier New"/>
                </a:rPr>
                <a:t>text</a:t>
              </a:r>
              <a:r>
                <a:rPr lang="es-ES_tradnl" sz="1000" noProof="0" dirty="0">
                  <a:solidFill>
                    <a:srgbClr val="0070C0"/>
                  </a:solidFill>
                  <a:latin typeface="Courier New"/>
                  <a:cs typeface="Courier New"/>
                </a:rPr>
                <a:t> #Asumido en 0x00400000</a:t>
              </a:r>
            </a:p>
            <a:p>
              <a:pPr algn="l"/>
              <a:r>
                <a:rPr lang="es-ES_tradnl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   </a:t>
              </a:r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lui x5, 0x10002 </a:t>
              </a:r>
            </a:p>
            <a:p>
              <a:pPr algn="l"/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   lb x1, 0(x5) </a:t>
              </a:r>
            </a:p>
            <a:p>
              <a:pPr algn="l"/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   lb x2, 2(x5) </a:t>
              </a:r>
            </a:p>
            <a:p>
              <a:pPr algn="l"/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   </a:t>
              </a:r>
              <a:r>
                <a:rPr lang="es-ES" sz="1000" dirty="0" err="1">
                  <a:solidFill>
                    <a:srgbClr val="0070C0"/>
                  </a:solidFill>
                  <a:latin typeface="Courier New"/>
                  <a:cs typeface="Courier New"/>
                </a:rPr>
                <a:t>add</a:t>
              </a:r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x3, x1, x2 </a:t>
              </a:r>
            </a:p>
            <a:p>
              <a:pPr algn="l"/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   </a:t>
              </a:r>
              <a:r>
                <a:rPr lang="es-ES" sz="1000" dirty="0" err="1">
                  <a:solidFill>
                    <a:srgbClr val="0070C0"/>
                  </a:solidFill>
                  <a:latin typeface="Courier New"/>
                  <a:cs typeface="Courier New"/>
                </a:rPr>
                <a:t>sb</a:t>
              </a:r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x3, 3(x5)</a:t>
              </a:r>
            </a:p>
            <a:p>
              <a:pPr algn="l"/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   </a:t>
              </a:r>
              <a:r>
                <a:rPr lang="es-ES" sz="1000" dirty="0" err="1">
                  <a:solidFill>
                    <a:srgbClr val="0070C0"/>
                  </a:solidFill>
                  <a:latin typeface="Courier New"/>
                  <a:cs typeface="Courier New"/>
                </a:rPr>
                <a:t>add</a:t>
              </a:r>
              <a:r>
                <a:rPr lang="es-ES" sz="1000" dirty="0">
                  <a:solidFill>
                    <a:srgbClr val="0070C0"/>
                  </a:solidFill>
                  <a:latin typeface="Courier New"/>
                  <a:cs typeface="Courier New"/>
                </a:rPr>
                <a:t> x1, x0, x0</a:t>
              </a:r>
              <a:endParaRPr lang="es-ES_tradnl" sz="1000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l"/>
              <a:r>
                <a:rPr lang="es-ES_tradnl" sz="1000" noProof="0" dirty="0">
                  <a:solidFill>
                    <a:srgbClr val="006699"/>
                  </a:solidFill>
                  <a:latin typeface="Courier New"/>
                  <a:cs typeface="Courier New"/>
                </a:rPr>
                <a:t>    </a:t>
              </a:r>
            </a:p>
          </p:txBody>
        </p:sp>
        <p:sp>
          <p:nvSpPr>
            <p:cNvPr id="72" name="Flecha derecha 71"/>
            <p:cNvSpPr/>
            <p:nvPr/>
          </p:nvSpPr>
          <p:spPr bwMode="auto">
            <a:xfrm>
              <a:off x="-27111" y="5620072"/>
              <a:ext cx="990600" cy="533400"/>
            </a:xfrm>
            <a:prstGeom prst="rightArrow">
              <a:avLst/>
            </a:prstGeom>
            <a:grpFill/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00" noProof="0" dirty="0"/>
                <a:t>Pseudo instrucción </a:t>
              </a:r>
            </a:p>
          </p:txBody>
        </p:sp>
        <p:sp>
          <p:nvSpPr>
            <p:cNvPr id="79" name="Flecha derecha 78"/>
            <p:cNvSpPr/>
            <p:nvPr/>
          </p:nvSpPr>
          <p:spPr bwMode="auto">
            <a:xfrm flipH="1">
              <a:off x="2302834" y="6234608"/>
              <a:ext cx="1384798" cy="609600"/>
            </a:xfrm>
            <a:prstGeom prst="rightArrow">
              <a:avLst/>
            </a:prstGeom>
            <a:grpFill/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000" noProof="0" dirty="0"/>
                <a:t>Alias en nombre de los registros</a:t>
              </a:r>
            </a:p>
          </p:txBody>
        </p:sp>
      </p:grpSp>
      <p:sp>
        <p:nvSpPr>
          <p:cNvPr id="50" name="CuadroTexto 49"/>
          <p:cNvSpPr txBox="1"/>
          <p:nvPr/>
        </p:nvSpPr>
        <p:spPr>
          <a:xfrm>
            <a:off x="556169" y="3377996"/>
            <a:ext cx="1451038" cy="86177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rgbClr val="FF0000"/>
                </a:solidFill>
              </a:rPr>
              <a:t>Ensamblado:</a:t>
            </a:r>
          </a:p>
          <a:p>
            <a:pPr>
              <a:buFont typeface="Arial" pitchFamily="34" charset="0"/>
              <a:buChar char="•"/>
            </a:pPr>
            <a:r>
              <a:rPr lang="es-ES_tradnl" sz="1000" noProof="0" dirty="0" err="1">
                <a:solidFill>
                  <a:srgbClr val="FF0000"/>
                </a:solidFill>
              </a:rPr>
              <a:t>Pseudoinstrucciones</a:t>
            </a:r>
            <a:endParaRPr lang="es-ES_tradnl" sz="1000" noProof="0" dirty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ES_tradnl" sz="1000" noProof="0" dirty="0">
                <a:solidFill>
                  <a:srgbClr val="FF0000"/>
                </a:solidFill>
              </a:rPr>
              <a:t>Nombres de registros</a:t>
            </a:r>
          </a:p>
          <a:p>
            <a:pPr>
              <a:buFont typeface="Arial" pitchFamily="34" charset="0"/>
              <a:buChar char="•"/>
            </a:pPr>
            <a:r>
              <a:rPr lang="es-ES_tradnl" sz="1000" noProof="0" dirty="0">
                <a:solidFill>
                  <a:srgbClr val="FF0000"/>
                </a:solidFill>
              </a:rPr>
              <a:t>Cálculos de valores</a:t>
            </a:r>
          </a:p>
        </p:txBody>
      </p:sp>
      <p:sp>
        <p:nvSpPr>
          <p:cNvPr id="48" name="Flecha arriba 47"/>
          <p:cNvSpPr/>
          <p:nvPr/>
        </p:nvSpPr>
        <p:spPr bwMode="auto">
          <a:xfrm rot="10800000">
            <a:off x="2123729" y="3377996"/>
            <a:ext cx="533400" cy="899766"/>
          </a:xfrm>
          <a:prstGeom prst="upArrow">
            <a:avLst/>
          </a:prstGeom>
          <a:solidFill>
            <a:schemeClr val="bg1"/>
          </a:solidFill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98" name="Título 14"/>
          <p:cNvSpPr txBox="1">
            <a:spLocks/>
          </p:cNvSpPr>
          <p:nvPr/>
        </p:nvSpPr>
        <p:spPr>
          <a:xfrm>
            <a:off x="683568" y="116632"/>
            <a:ext cx="8136904" cy="93610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0" i="0" u="none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Arquitectura RISC-V: ejemplo de ejecución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lamada rectangular redondeada 31">
            <a:extLst>
              <a:ext uri="{FF2B5EF4-FFF2-40B4-BE49-F238E27FC236}">
                <a16:creationId xmlns:a16="http://schemas.microsoft.com/office/drawing/2014/main" id="{4B799A13-9712-4AD3-D5C9-18B3465EC8A7}"/>
              </a:ext>
            </a:extLst>
          </p:cNvPr>
          <p:cNvSpPr/>
          <p:nvPr/>
        </p:nvSpPr>
        <p:spPr bwMode="auto">
          <a:xfrm>
            <a:off x="1268214" y="1486503"/>
            <a:ext cx="1503586" cy="1295428"/>
          </a:xfrm>
          <a:prstGeom prst="wedgeRoundRectCallout">
            <a:avLst>
              <a:gd name="adj1" fmla="val -34308"/>
              <a:gd name="adj2" fmla="val 15078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lui x5, 0x10002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-&gt;</a:t>
            </a:r>
          </a:p>
          <a:p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x5 = 0x10002000</a:t>
            </a:r>
          </a:p>
        </p:txBody>
      </p:sp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821531" y="157380"/>
            <a:ext cx="4114800" cy="936104"/>
          </a:xfrm>
        </p:spPr>
        <p:txBody>
          <a:bodyPr/>
          <a:lstStyle/>
          <a:p>
            <a:r>
              <a:rPr lang="es-ES_tradnl" sz="1800" noProof="0" dirty="0"/>
              <a:t>Ejemplo: Ejecución instrucción 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32</a:t>
            </a:fld>
            <a:endParaRPr lang="es-ES_tradnl" noProof="0" dirty="0"/>
          </a:p>
        </p:txBody>
      </p:sp>
      <p:grpSp>
        <p:nvGrpSpPr>
          <p:cNvPr id="2" name="Agrupar 44"/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/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/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/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/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/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/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/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79" name="Flecha izquierda 78"/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1" name="CuadroTexto 40"/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/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4" name="Rectángulo redondeado 73"/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/>
          <p:cNvSpPr txBox="1"/>
          <p:nvPr/>
        </p:nvSpPr>
        <p:spPr>
          <a:xfrm>
            <a:off x="2195736" y="6284063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0" dirty="0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/>
          <p:cNvSpPr/>
          <p:nvPr/>
        </p:nvSpPr>
        <p:spPr bwMode="auto">
          <a:xfrm>
            <a:off x="1386427" y="555792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/>
          <p:cNvSpPr/>
          <p:nvPr/>
        </p:nvSpPr>
        <p:spPr bwMode="auto">
          <a:xfrm>
            <a:off x="1893412" y="5558696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3" name="Llamada rectangular redondeada 62"/>
          <p:cNvSpPr/>
          <p:nvPr/>
        </p:nvSpPr>
        <p:spPr bwMode="auto">
          <a:xfrm>
            <a:off x="4950698" y="378554"/>
            <a:ext cx="1524000" cy="381000"/>
          </a:xfrm>
          <a:prstGeom prst="wedgeRoundRectCallout">
            <a:avLst>
              <a:gd name="adj1" fmla="val 148022"/>
              <a:gd name="adj2" fmla="val 136585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lui x5, 0x10002</a:t>
            </a:r>
          </a:p>
        </p:txBody>
      </p:sp>
      <p:sp>
        <p:nvSpPr>
          <p:cNvPr id="48" name="Llamada rectangular redondeada 47"/>
          <p:cNvSpPr/>
          <p:nvPr/>
        </p:nvSpPr>
        <p:spPr bwMode="auto">
          <a:xfrm>
            <a:off x="6368481" y="5645696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0x00400000</a:t>
            </a:r>
          </a:p>
        </p:txBody>
      </p:sp>
      <p:sp>
        <p:nvSpPr>
          <p:cNvPr id="49" name="Flecha izquierda 48"/>
          <p:cNvSpPr/>
          <p:nvPr/>
        </p:nvSpPr>
        <p:spPr bwMode="auto">
          <a:xfrm>
            <a:off x="5105400" y="4896757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3" name="Llamada rectangular redondeada 52"/>
          <p:cNvSpPr/>
          <p:nvPr/>
        </p:nvSpPr>
        <p:spPr bwMode="auto">
          <a:xfrm>
            <a:off x="597770" y="6203776"/>
            <a:ext cx="1447800" cy="609600"/>
          </a:xfrm>
          <a:prstGeom prst="wedgeRoundRectCallout">
            <a:avLst>
              <a:gd name="adj1" fmla="val 35651"/>
              <a:gd name="adj2" fmla="val -1112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PC = 0x00400000</a:t>
            </a:r>
          </a:p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RI = 0x100022B7</a:t>
            </a:r>
          </a:p>
        </p:txBody>
      </p:sp>
      <p:sp>
        <p:nvSpPr>
          <p:cNvPr id="54" name="CuadroTexto 53"/>
          <p:cNvSpPr txBox="1"/>
          <p:nvPr/>
        </p:nvSpPr>
        <p:spPr>
          <a:xfrm>
            <a:off x="3419873" y="980728"/>
            <a:ext cx="2819400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.data #Asumido en 0x10002000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b: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lui x5, 0x10002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x1, 0(x5)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x2, 2(x5)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x1, x2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sb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3(x5)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x1, x0, x0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D6A644-FBD4-BFBB-A331-B6AD9F06AE51}"/>
              </a:ext>
            </a:extLst>
          </p:cNvPr>
          <p:cNvSpPr/>
          <p:nvPr/>
        </p:nvSpPr>
        <p:spPr bwMode="auto">
          <a:xfrm>
            <a:off x="1083204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98EDDF5-D34A-FF8A-DA14-47F7D11EB03E}"/>
              </a:ext>
            </a:extLst>
          </p:cNvPr>
          <p:cNvSpPr/>
          <p:nvPr/>
        </p:nvSpPr>
        <p:spPr bwMode="auto">
          <a:xfrm>
            <a:off x="1083204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085F588-53C6-8F5A-CFF4-86E620D792A3}"/>
              </a:ext>
            </a:extLst>
          </p:cNvPr>
          <p:cNvSpPr/>
          <p:nvPr/>
        </p:nvSpPr>
        <p:spPr bwMode="auto">
          <a:xfrm>
            <a:off x="1083204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66534F-7C2C-716F-A73F-E55DFD799796}"/>
              </a:ext>
            </a:extLst>
          </p:cNvPr>
          <p:cNvSpPr txBox="1"/>
          <p:nvPr/>
        </p:nvSpPr>
        <p:spPr>
          <a:xfrm>
            <a:off x="1048311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5B957124-BB4B-6802-E77F-18965B9AEF49}"/>
              </a:ext>
            </a:extLst>
          </p:cNvPr>
          <p:cNvSpPr/>
          <p:nvPr/>
        </p:nvSpPr>
        <p:spPr bwMode="auto">
          <a:xfrm>
            <a:off x="1487868" y="4941386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AFD2E70-2494-95A7-C76B-2E6991E08855}"/>
              </a:ext>
            </a:extLst>
          </p:cNvPr>
          <p:cNvSpPr txBox="1"/>
          <p:nvPr/>
        </p:nvSpPr>
        <p:spPr>
          <a:xfrm rot="16200000">
            <a:off x="2133819" y="4950648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07336FC6-5DFB-6491-15DC-FE7915231C26}"/>
              </a:ext>
            </a:extLst>
          </p:cNvPr>
          <p:cNvSpPr/>
          <p:nvPr/>
        </p:nvSpPr>
        <p:spPr bwMode="auto">
          <a:xfrm>
            <a:off x="702204" y="3264986"/>
            <a:ext cx="2357628" cy="278639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2962830-9404-BDBA-B1E0-A75C04DEF27D}"/>
              </a:ext>
            </a:extLst>
          </p:cNvPr>
          <p:cNvSpPr txBox="1"/>
          <p:nvPr/>
        </p:nvSpPr>
        <p:spPr>
          <a:xfrm>
            <a:off x="704488" y="2960186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A27EAB4-A95B-F2C0-F353-8FA538211558}"/>
              </a:ext>
            </a:extLst>
          </p:cNvPr>
          <p:cNvSpPr/>
          <p:nvPr/>
        </p:nvSpPr>
        <p:spPr bwMode="auto">
          <a:xfrm>
            <a:off x="2017820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CB3B09C-D11E-7244-78E9-89246BE2FDE1}"/>
              </a:ext>
            </a:extLst>
          </p:cNvPr>
          <p:cNvSpPr/>
          <p:nvPr/>
        </p:nvSpPr>
        <p:spPr bwMode="auto">
          <a:xfrm>
            <a:off x="2017820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52A16EA-00F7-0B2D-8288-C5A95B2DE1E5}"/>
              </a:ext>
            </a:extLst>
          </p:cNvPr>
          <p:cNvSpPr/>
          <p:nvPr/>
        </p:nvSpPr>
        <p:spPr bwMode="auto">
          <a:xfrm>
            <a:off x="2017820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9DEAF51-7509-F993-FE5B-77C75F3760E7}"/>
              </a:ext>
            </a:extLst>
          </p:cNvPr>
          <p:cNvSpPr txBox="1"/>
          <p:nvPr/>
        </p:nvSpPr>
        <p:spPr>
          <a:xfrm>
            <a:off x="1982927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E073-0E72-1765-AD21-460FA89C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BC0FA581-725A-32DD-2C0F-EB764680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1" y="157380"/>
            <a:ext cx="4114800" cy="936104"/>
          </a:xfrm>
        </p:spPr>
        <p:txBody>
          <a:bodyPr/>
          <a:lstStyle/>
          <a:p>
            <a:r>
              <a:rPr lang="es-ES_tradnl" sz="1800" noProof="0" dirty="0"/>
              <a:t>Ejemplo: Ejecución instrucción 2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949915-24E7-946E-7C5D-73FC8003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33</a:t>
            </a:fld>
            <a:endParaRPr lang="es-ES_tradnl" noProof="0" dirty="0"/>
          </a:p>
        </p:txBody>
      </p:sp>
      <p:grpSp>
        <p:nvGrpSpPr>
          <p:cNvPr id="2" name="Agrupar 44">
            <a:extLst>
              <a:ext uri="{FF2B5EF4-FFF2-40B4-BE49-F238E27FC236}">
                <a16:creationId xmlns:a16="http://schemas.microsoft.com/office/drawing/2014/main" id="{976B6079-8697-C1B2-448B-BC0F7ABDA907}"/>
              </a:ext>
            </a:extLst>
          </p:cNvPr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F2424DBA-101C-2F02-103D-0F828E7B23E4}"/>
                </a:ext>
              </a:extLst>
            </p:cNvPr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C018EEB6-C62F-7559-EAA7-BE8AC74AD9E0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41ED7FBE-B0DF-C9F7-4F08-C01B35BA8362}"/>
                </a:ext>
              </a:extLst>
            </p:cNvPr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9E5A5F03-105B-9BA6-BDF8-FB6393CC6D48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517FAD9C-B95B-D801-70F8-E7637E5CCDB7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DDAE7D64-A3C6-EAF9-CBDA-3D37DBBB33EE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D4792923-E8E7-0951-A7C7-4C0F16958960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79" name="Flecha izquierda 78">
            <a:extLst>
              <a:ext uri="{FF2B5EF4-FFF2-40B4-BE49-F238E27FC236}">
                <a16:creationId xmlns:a16="http://schemas.microsoft.com/office/drawing/2014/main" id="{FE61B092-AB0A-4117-02FE-A346DE6600AB}"/>
              </a:ext>
            </a:extLst>
          </p:cNvPr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F5E4BC7-86F0-0083-F175-1C54AE9739FF}"/>
              </a:ext>
            </a:extLst>
          </p:cNvPr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>
            <a:extLst>
              <a:ext uri="{FF2B5EF4-FFF2-40B4-BE49-F238E27FC236}">
                <a16:creationId xmlns:a16="http://schemas.microsoft.com/office/drawing/2014/main" id="{C75749B4-0A51-C242-606B-6253E6FB8369}"/>
              </a:ext>
            </a:extLst>
          </p:cNvPr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3" name="Llamada rectangular redondeada 72">
            <a:extLst>
              <a:ext uri="{FF2B5EF4-FFF2-40B4-BE49-F238E27FC236}">
                <a16:creationId xmlns:a16="http://schemas.microsoft.com/office/drawing/2014/main" id="{BCA88A05-022B-5983-A533-FE6490B764E4}"/>
              </a:ext>
            </a:extLst>
          </p:cNvPr>
          <p:cNvSpPr/>
          <p:nvPr/>
        </p:nvSpPr>
        <p:spPr bwMode="auto">
          <a:xfrm>
            <a:off x="1268214" y="1486503"/>
            <a:ext cx="1503586" cy="1295428"/>
          </a:xfrm>
          <a:prstGeom prst="wedgeRoundRectCallout">
            <a:avLst>
              <a:gd name="adj1" fmla="val -34308"/>
              <a:gd name="adj2" fmla="val 15078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lb x1, 0(x5) 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-&gt;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x1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 = 0x00000010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(16 en decimal)</a:t>
            </a:r>
            <a:endParaRPr lang="es-ES_tradnl" sz="1050" noProof="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4" name="Rectángulo redondeado 73">
            <a:extLst>
              <a:ext uri="{FF2B5EF4-FFF2-40B4-BE49-F238E27FC236}">
                <a16:creationId xmlns:a16="http://schemas.microsoft.com/office/drawing/2014/main" id="{A7E64ABB-45B5-C9C0-067A-C1C108F957E5}"/>
              </a:ext>
            </a:extLst>
          </p:cNvPr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</a:t>
            </a:r>
            <a:r>
              <a:rPr lang="es-ES_tradnl" sz="1050" dirty="0">
                <a:solidFill>
                  <a:srgbClr val="FF0000"/>
                </a:solidFill>
                <a:latin typeface="Courier"/>
                <a:cs typeface="Courier"/>
              </a:rPr>
              <a:t>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A58850B-16DD-17BC-7C33-E39201B3CB48}"/>
              </a:ext>
            </a:extLst>
          </p:cNvPr>
          <p:cNvSpPr txBox="1"/>
          <p:nvPr/>
        </p:nvSpPr>
        <p:spPr>
          <a:xfrm>
            <a:off x="2195736" y="6284063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0" dirty="0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889B76B-882E-C46E-A235-4FB0FDC4DA58}"/>
              </a:ext>
            </a:extLst>
          </p:cNvPr>
          <p:cNvSpPr/>
          <p:nvPr/>
        </p:nvSpPr>
        <p:spPr bwMode="auto">
          <a:xfrm>
            <a:off x="1386427" y="555792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9AE2C29D-EF06-6B42-ED96-5EEBEB2B542A}"/>
              </a:ext>
            </a:extLst>
          </p:cNvPr>
          <p:cNvSpPr/>
          <p:nvPr/>
        </p:nvSpPr>
        <p:spPr bwMode="auto">
          <a:xfrm>
            <a:off x="1893412" y="5558696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3" name="Llamada rectangular redondeada 62">
            <a:extLst>
              <a:ext uri="{FF2B5EF4-FFF2-40B4-BE49-F238E27FC236}">
                <a16:creationId xmlns:a16="http://schemas.microsoft.com/office/drawing/2014/main" id="{D3A923EC-0491-F4E1-A5C8-EFA1E564A16E}"/>
              </a:ext>
            </a:extLst>
          </p:cNvPr>
          <p:cNvSpPr/>
          <p:nvPr/>
        </p:nvSpPr>
        <p:spPr bwMode="auto">
          <a:xfrm>
            <a:off x="4950698" y="378554"/>
            <a:ext cx="1524000" cy="381000"/>
          </a:xfrm>
          <a:prstGeom prst="wedgeRoundRectCallout">
            <a:avLst>
              <a:gd name="adj1" fmla="val 148436"/>
              <a:gd name="adj2" fmla="val 191205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lb x1, 0(x5)</a:t>
            </a:r>
          </a:p>
        </p:txBody>
      </p:sp>
      <p:sp>
        <p:nvSpPr>
          <p:cNvPr id="48" name="Llamada rectangular redondeada 47">
            <a:extLst>
              <a:ext uri="{FF2B5EF4-FFF2-40B4-BE49-F238E27FC236}">
                <a16:creationId xmlns:a16="http://schemas.microsoft.com/office/drawing/2014/main" id="{A0CE1928-46D9-CAFC-8033-FC05E134CDD4}"/>
              </a:ext>
            </a:extLst>
          </p:cNvPr>
          <p:cNvSpPr/>
          <p:nvPr/>
        </p:nvSpPr>
        <p:spPr bwMode="auto">
          <a:xfrm>
            <a:off x="6368481" y="5645696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0x00400004</a:t>
            </a:r>
          </a:p>
        </p:txBody>
      </p:sp>
      <p:sp>
        <p:nvSpPr>
          <p:cNvPr id="49" name="Flecha izquierda 48">
            <a:extLst>
              <a:ext uri="{FF2B5EF4-FFF2-40B4-BE49-F238E27FC236}">
                <a16:creationId xmlns:a16="http://schemas.microsoft.com/office/drawing/2014/main" id="{299D130B-84DD-F54D-C23F-F460AAD821DD}"/>
              </a:ext>
            </a:extLst>
          </p:cNvPr>
          <p:cNvSpPr/>
          <p:nvPr/>
        </p:nvSpPr>
        <p:spPr bwMode="auto">
          <a:xfrm>
            <a:off x="5105400" y="4896757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3" name="Llamada rectangular redondeada 52">
            <a:extLst>
              <a:ext uri="{FF2B5EF4-FFF2-40B4-BE49-F238E27FC236}">
                <a16:creationId xmlns:a16="http://schemas.microsoft.com/office/drawing/2014/main" id="{43D07F1A-1A33-8687-1078-AFC130B21BB7}"/>
              </a:ext>
            </a:extLst>
          </p:cNvPr>
          <p:cNvSpPr/>
          <p:nvPr/>
        </p:nvSpPr>
        <p:spPr bwMode="auto">
          <a:xfrm>
            <a:off x="597770" y="6203776"/>
            <a:ext cx="1447800" cy="609600"/>
          </a:xfrm>
          <a:prstGeom prst="wedgeRoundRectCallout">
            <a:avLst>
              <a:gd name="adj1" fmla="val 35651"/>
              <a:gd name="adj2" fmla="val -1112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PC = 0x00400004</a:t>
            </a:r>
          </a:p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RI = 0x00028083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891AFDF-3688-C0AC-5D43-0468B970820E}"/>
              </a:ext>
            </a:extLst>
          </p:cNvPr>
          <p:cNvSpPr txBox="1"/>
          <p:nvPr/>
        </p:nvSpPr>
        <p:spPr>
          <a:xfrm>
            <a:off x="3419873" y="980728"/>
            <a:ext cx="2819400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.data #Asumido en 0x10002000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b: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lui x5, 0x10002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lb x1, 0(x5)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x2, 2(x5)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x1, x2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sb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3(x5)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x1, x0, x0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A86416-A591-2B09-755F-2619FF3B5266}"/>
              </a:ext>
            </a:extLst>
          </p:cNvPr>
          <p:cNvSpPr/>
          <p:nvPr/>
        </p:nvSpPr>
        <p:spPr bwMode="auto">
          <a:xfrm>
            <a:off x="1083204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8944D5-BB8B-140B-2B05-C590473D48F5}"/>
              </a:ext>
            </a:extLst>
          </p:cNvPr>
          <p:cNvSpPr/>
          <p:nvPr/>
        </p:nvSpPr>
        <p:spPr bwMode="auto">
          <a:xfrm>
            <a:off x="1083204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707E83B-8D16-A128-DC52-F90C8176681D}"/>
              </a:ext>
            </a:extLst>
          </p:cNvPr>
          <p:cNvSpPr/>
          <p:nvPr/>
        </p:nvSpPr>
        <p:spPr bwMode="auto">
          <a:xfrm>
            <a:off x="1083204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9A9BD96-C005-5635-9B84-51DE75788862}"/>
              </a:ext>
            </a:extLst>
          </p:cNvPr>
          <p:cNvSpPr txBox="1"/>
          <p:nvPr/>
        </p:nvSpPr>
        <p:spPr>
          <a:xfrm>
            <a:off x="1048311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1EE2D1FA-7F3E-C5BF-6EFE-27283BBBCCC1}"/>
              </a:ext>
            </a:extLst>
          </p:cNvPr>
          <p:cNvSpPr/>
          <p:nvPr/>
        </p:nvSpPr>
        <p:spPr bwMode="auto">
          <a:xfrm>
            <a:off x="1487868" y="4941386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0CBC95C-5F9C-C5DD-2973-9E8990156F84}"/>
              </a:ext>
            </a:extLst>
          </p:cNvPr>
          <p:cNvSpPr txBox="1"/>
          <p:nvPr/>
        </p:nvSpPr>
        <p:spPr>
          <a:xfrm rot="16200000">
            <a:off x="2133819" y="4950648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04129BD9-CA28-DD60-839D-7CFAD5C0DA45}"/>
              </a:ext>
            </a:extLst>
          </p:cNvPr>
          <p:cNvSpPr/>
          <p:nvPr/>
        </p:nvSpPr>
        <p:spPr bwMode="auto">
          <a:xfrm>
            <a:off x="702204" y="3264986"/>
            <a:ext cx="2357628" cy="278639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00C415B-1DDA-DF77-F7EE-4279EFD19CED}"/>
              </a:ext>
            </a:extLst>
          </p:cNvPr>
          <p:cNvSpPr txBox="1"/>
          <p:nvPr/>
        </p:nvSpPr>
        <p:spPr>
          <a:xfrm>
            <a:off x="704488" y="2960186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D89C01C-33BC-A63B-7D0C-55958B92588E}"/>
              </a:ext>
            </a:extLst>
          </p:cNvPr>
          <p:cNvSpPr/>
          <p:nvPr/>
        </p:nvSpPr>
        <p:spPr bwMode="auto">
          <a:xfrm>
            <a:off x="2017820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94F208F-EA9C-5326-5237-F671C471C1AE}"/>
              </a:ext>
            </a:extLst>
          </p:cNvPr>
          <p:cNvSpPr/>
          <p:nvPr/>
        </p:nvSpPr>
        <p:spPr bwMode="auto">
          <a:xfrm>
            <a:off x="2017820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6B2B605-7A30-4F08-70A8-A96B0D1833BE}"/>
              </a:ext>
            </a:extLst>
          </p:cNvPr>
          <p:cNvSpPr/>
          <p:nvPr/>
        </p:nvSpPr>
        <p:spPr bwMode="auto">
          <a:xfrm>
            <a:off x="2017820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E1C0996-B026-7701-620B-1BF792E9D4DE}"/>
              </a:ext>
            </a:extLst>
          </p:cNvPr>
          <p:cNvSpPr txBox="1"/>
          <p:nvPr/>
        </p:nvSpPr>
        <p:spPr>
          <a:xfrm>
            <a:off x="1982927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</p:spTree>
    <p:extLst>
      <p:ext uri="{BB962C8B-B14F-4D97-AF65-F5344CB8AC3E}">
        <p14:creationId xmlns:p14="http://schemas.microsoft.com/office/powerpoint/2010/main" val="258022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99CF-C522-5537-0E3E-F2224FBD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032B4159-5DE6-B123-2A43-944A6E03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1" y="157380"/>
            <a:ext cx="4114800" cy="936104"/>
          </a:xfrm>
        </p:spPr>
        <p:txBody>
          <a:bodyPr/>
          <a:lstStyle/>
          <a:p>
            <a:r>
              <a:rPr lang="es-ES_tradnl" sz="1800" noProof="0" dirty="0"/>
              <a:t>Ejemplo: Ejecución instrucción 3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76D70A-64FB-173C-5107-99779079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34</a:t>
            </a:fld>
            <a:endParaRPr lang="es-ES_tradnl" noProof="0" dirty="0"/>
          </a:p>
        </p:txBody>
      </p:sp>
      <p:grpSp>
        <p:nvGrpSpPr>
          <p:cNvPr id="2" name="Agrupar 44">
            <a:extLst>
              <a:ext uri="{FF2B5EF4-FFF2-40B4-BE49-F238E27FC236}">
                <a16:creationId xmlns:a16="http://schemas.microsoft.com/office/drawing/2014/main" id="{233C291F-4CE8-8A0E-9C30-B2CEC635E461}"/>
              </a:ext>
            </a:extLst>
          </p:cNvPr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2E18094D-1F94-4E6D-9642-6922532194AC}"/>
                </a:ext>
              </a:extLst>
            </p:cNvPr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559FDC08-A616-7F72-0B58-F5EB79820775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934646AE-75E1-0ECA-332D-3FAAE079DC33}"/>
                </a:ext>
              </a:extLst>
            </p:cNvPr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B1613DE0-9A39-65A2-02B0-D8CDAEA8631A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D07A7FD1-8E31-63C7-ADAB-9E40CFEEC4BB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F481314F-491E-7100-1AF3-80EE7F0BB6E6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D56D4244-96F6-4F42-7DBC-E4C7F3278FEE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79" name="Flecha izquierda 78">
            <a:extLst>
              <a:ext uri="{FF2B5EF4-FFF2-40B4-BE49-F238E27FC236}">
                <a16:creationId xmlns:a16="http://schemas.microsoft.com/office/drawing/2014/main" id="{17BABBB9-DF41-B3B1-38F5-3ED73E88F139}"/>
              </a:ext>
            </a:extLst>
          </p:cNvPr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2C8316D-17B2-B3F6-BA45-315C3C92C2D6}"/>
              </a:ext>
            </a:extLst>
          </p:cNvPr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>
            <a:extLst>
              <a:ext uri="{FF2B5EF4-FFF2-40B4-BE49-F238E27FC236}">
                <a16:creationId xmlns:a16="http://schemas.microsoft.com/office/drawing/2014/main" id="{7AEB9B18-2E1C-6DEC-B5E8-5621BD4F5B8D}"/>
              </a:ext>
            </a:extLst>
          </p:cNvPr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3" name="Llamada rectangular redondeada 72">
            <a:extLst>
              <a:ext uri="{FF2B5EF4-FFF2-40B4-BE49-F238E27FC236}">
                <a16:creationId xmlns:a16="http://schemas.microsoft.com/office/drawing/2014/main" id="{53E94942-F008-72D3-7040-56554CB11503}"/>
              </a:ext>
            </a:extLst>
          </p:cNvPr>
          <p:cNvSpPr/>
          <p:nvPr/>
        </p:nvSpPr>
        <p:spPr bwMode="auto">
          <a:xfrm>
            <a:off x="1268214" y="1486503"/>
            <a:ext cx="1503586" cy="1295428"/>
          </a:xfrm>
          <a:prstGeom prst="wedgeRoundRectCallout">
            <a:avLst>
              <a:gd name="adj1" fmla="val -34308"/>
              <a:gd name="adj2" fmla="val 15078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lb x2, 2(x5) 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-&gt;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x2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 = 0x00000040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(64 en decimal)</a:t>
            </a:r>
            <a:endParaRPr lang="es-ES_tradnl" sz="1050" noProof="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4" name="Rectángulo redondeado 73">
            <a:extLst>
              <a:ext uri="{FF2B5EF4-FFF2-40B4-BE49-F238E27FC236}">
                <a16:creationId xmlns:a16="http://schemas.microsoft.com/office/drawing/2014/main" id="{07D30681-BA9B-EB3D-351F-7F29FD1C01CC}"/>
              </a:ext>
            </a:extLst>
          </p:cNvPr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</a:t>
            </a:r>
            <a:r>
              <a:rPr lang="es-ES_tradnl" sz="1050" dirty="0">
                <a:solidFill>
                  <a:srgbClr val="FF0000"/>
                </a:solidFill>
                <a:latin typeface="Courier"/>
                <a:cs typeface="Courier"/>
              </a:rPr>
              <a:t>10</a:t>
            </a:r>
            <a:r>
              <a:rPr lang="es-ES_tradnl" sz="1050" dirty="0">
                <a:solidFill>
                  <a:schemeClr val="tx1"/>
                </a:solidFill>
                <a:latin typeface="Courier"/>
                <a:cs typeface="Courier"/>
              </a:rPr>
              <a:t>FF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8E829E7-9E79-24BE-F652-53A616078B36}"/>
              </a:ext>
            </a:extLst>
          </p:cNvPr>
          <p:cNvSpPr txBox="1"/>
          <p:nvPr/>
        </p:nvSpPr>
        <p:spPr>
          <a:xfrm>
            <a:off x="2195736" y="6284063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0" dirty="0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824F8C7-4149-658E-AE7B-E1994DE238F6}"/>
              </a:ext>
            </a:extLst>
          </p:cNvPr>
          <p:cNvSpPr/>
          <p:nvPr/>
        </p:nvSpPr>
        <p:spPr bwMode="auto">
          <a:xfrm>
            <a:off x="1386427" y="555792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A336A87F-6994-D219-44C6-B7B4AC9752A3}"/>
              </a:ext>
            </a:extLst>
          </p:cNvPr>
          <p:cNvSpPr/>
          <p:nvPr/>
        </p:nvSpPr>
        <p:spPr bwMode="auto">
          <a:xfrm>
            <a:off x="1893412" y="5558696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3" name="Llamada rectangular redondeada 62">
            <a:extLst>
              <a:ext uri="{FF2B5EF4-FFF2-40B4-BE49-F238E27FC236}">
                <a16:creationId xmlns:a16="http://schemas.microsoft.com/office/drawing/2014/main" id="{5B01FDD3-BE3F-BB3C-8C3F-DA646A62DBE6}"/>
              </a:ext>
            </a:extLst>
          </p:cNvPr>
          <p:cNvSpPr/>
          <p:nvPr/>
        </p:nvSpPr>
        <p:spPr bwMode="auto">
          <a:xfrm>
            <a:off x="4950698" y="378554"/>
            <a:ext cx="1524000" cy="381000"/>
          </a:xfrm>
          <a:prstGeom prst="wedgeRoundRectCallout">
            <a:avLst>
              <a:gd name="adj1" fmla="val 148022"/>
              <a:gd name="adj2" fmla="val 240860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lb x2, </a:t>
            </a:r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(x5)</a:t>
            </a:r>
          </a:p>
        </p:txBody>
      </p:sp>
      <p:sp>
        <p:nvSpPr>
          <p:cNvPr id="48" name="Llamada rectangular redondeada 47">
            <a:extLst>
              <a:ext uri="{FF2B5EF4-FFF2-40B4-BE49-F238E27FC236}">
                <a16:creationId xmlns:a16="http://schemas.microsoft.com/office/drawing/2014/main" id="{44591B6C-4A23-EF70-12EC-BB0CF0FD372B}"/>
              </a:ext>
            </a:extLst>
          </p:cNvPr>
          <p:cNvSpPr/>
          <p:nvPr/>
        </p:nvSpPr>
        <p:spPr bwMode="auto">
          <a:xfrm>
            <a:off x="6368481" y="5645696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0x00400008</a:t>
            </a:r>
          </a:p>
        </p:txBody>
      </p:sp>
      <p:sp>
        <p:nvSpPr>
          <p:cNvPr id="49" name="Flecha izquierda 48">
            <a:extLst>
              <a:ext uri="{FF2B5EF4-FFF2-40B4-BE49-F238E27FC236}">
                <a16:creationId xmlns:a16="http://schemas.microsoft.com/office/drawing/2014/main" id="{94C3B1CD-5FB4-8540-0F71-ADBCF93656E0}"/>
              </a:ext>
            </a:extLst>
          </p:cNvPr>
          <p:cNvSpPr/>
          <p:nvPr/>
        </p:nvSpPr>
        <p:spPr bwMode="auto">
          <a:xfrm>
            <a:off x="5105400" y="4896757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3" name="Llamada rectangular redondeada 52">
            <a:extLst>
              <a:ext uri="{FF2B5EF4-FFF2-40B4-BE49-F238E27FC236}">
                <a16:creationId xmlns:a16="http://schemas.microsoft.com/office/drawing/2014/main" id="{E143372E-F7EF-9E3A-E768-60AF6C1FAD59}"/>
              </a:ext>
            </a:extLst>
          </p:cNvPr>
          <p:cNvSpPr/>
          <p:nvPr/>
        </p:nvSpPr>
        <p:spPr bwMode="auto">
          <a:xfrm>
            <a:off x="597770" y="6203776"/>
            <a:ext cx="1447800" cy="609600"/>
          </a:xfrm>
          <a:prstGeom prst="wedgeRoundRectCallout">
            <a:avLst>
              <a:gd name="adj1" fmla="val 35651"/>
              <a:gd name="adj2" fmla="val -1112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PC = 0x00400008</a:t>
            </a:r>
          </a:p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RI = 0x00028103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C98665C-E2A8-4516-B319-3DE55CEA6DBB}"/>
              </a:ext>
            </a:extLst>
          </p:cNvPr>
          <p:cNvSpPr txBox="1"/>
          <p:nvPr/>
        </p:nvSpPr>
        <p:spPr>
          <a:xfrm>
            <a:off x="3419873" y="980728"/>
            <a:ext cx="2819400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.data #Asumido en 0x10002000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b: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lui x5, 0x10002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x1, 0(x5)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lb x2, 2(x5)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x1, x2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sb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3(x5)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x1, x0, x0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3F3227-1DB4-6B64-6B70-02068DCBB467}"/>
              </a:ext>
            </a:extLst>
          </p:cNvPr>
          <p:cNvSpPr/>
          <p:nvPr/>
        </p:nvSpPr>
        <p:spPr bwMode="auto">
          <a:xfrm>
            <a:off x="1083204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F814526-1F6D-8F64-4269-73D43BC88F6A}"/>
              </a:ext>
            </a:extLst>
          </p:cNvPr>
          <p:cNvSpPr/>
          <p:nvPr/>
        </p:nvSpPr>
        <p:spPr bwMode="auto">
          <a:xfrm>
            <a:off x="1083204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786EA85-BF76-198F-4BCE-D961DDED90BB}"/>
              </a:ext>
            </a:extLst>
          </p:cNvPr>
          <p:cNvSpPr/>
          <p:nvPr/>
        </p:nvSpPr>
        <p:spPr bwMode="auto">
          <a:xfrm>
            <a:off x="1083204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ECE3761-5E09-1817-9210-34D5E76907FE}"/>
              </a:ext>
            </a:extLst>
          </p:cNvPr>
          <p:cNvSpPr txBox="1"/>
          <p:nvPr/>
        </p:nvSpPr>
        <p:spPr>
          <a:xfrm>
            <a:off x="1048311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B3A340B1-195B-59EE-ECF5-78A8F0C3E65B}"/>
              </a:ext>
            </a:extLst>
          </p:cNvPr>
          <p:cNvSpPr/>
          <p:nvPr/>
        </p:nvSpPr>
        <p:spPr bwMode="auto">
          <a:xfrm>
            <a:off x="1487868" y="4941386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3D7FB64-5EFC-E26F-1AD1-46A3DC02C2D3}"/>
              </a:ext>
            </a:extLst>
          </p:cNvPr>
          <p:cNvSpPr txBox="1"/>
          <p:nvPr/>
        </p:nvSpPr>
        <p:spPr>
          <a:xfrm rot="16200000">
            <a:off x="2133819" y="4950648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7F69C773-47AB-7473-A4AA-0B5ECA249D7F}"/>
              </a:ext>
            </a:extLst>
          </p:cNvPr>
          <p:cNvSpPr/>
          <p:nvPr/>
        </p:nvSpPr>
        <p:spPr bwMode="auto">
          <a:xfrm>
            <a:off x="702204" y="3264986"/>
            <a:ext cx="2357628" cy="278639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4F7CE4F-6928-6A5F-76E6-2847A58C08E2}"/>
              </a:ext>
            </a:extLst>
          </p:cNvPr>
          <p:cNvSpPr txBox="1"/>
          <p:nvPr/>
        </p:nvSpPr>
        <p:spPr>
          <a:xfrm>
            <a:off x="704488" y="2960186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293983E-2DC5-66EA-1B62-2E6100731A3C}"/>
              </a:ext>
            </a:extLst>
          </p:cNvPr>
          <p:cNvSpPr/>
          <p:nvPr/>
        </p:nvSpPr>
        <p:spPr bwMode="auto">
          <a:xfrm>
            <a:off x="2017820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3958E70-BEA5-7FF3-05CF-41A2CB55D1B6}"/>
              </a:ext>
            </a:extLst>
          </p:cNvPr>
          <p:cNvSpPr/>
          <p:nvPr/>
        </p:nvSpPr>
        <p:spPr bwMode="auto">
          <a:xfrm>
            <a:off x="2017820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C0BD023-730F-357B-2F8E-04AA5D0E7F13}"/>
              </a:ext>
            </a:extLst>
          </p:cNvPr>
          <p:cNvSpPr/>
          <p:nvPr/>
        </p:nvSpPr>
        <p:spPr bwMode="auto">
          <a:xfrm>
            <a:off x="2017820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94B5BDC-6D67-DB49-320D-C2C156A4A962}"/>
              </a:ext>
            </a:extLst>
          </p:cNvPr>
          <p:cNvSpPr txBox="1"/>
          <p:nvPr/>
        </p:nvSpPr>
        <p:spPr>
          <a:xfrm>
            <a:off x="1982927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</p:spTree>
    <p:extLst>
      <p:ext uri="{BB962C8B-B14F-4D97-AF65-F5344CB8AC3E}">
        <p14:creationId xmlns:p14="http://schemas.microsoft.com/office/powerpoint/2010/main" val="99026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9C2A-C9C7-4154-1EAB-9378FCF4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C7CE64C1-BB09-FF07-968C-CEBE00D3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1" y="157380"/>
            <a:ext cx="4114800" cy="936104"/>
          </a:xfrm>
        </p:spPr>
        <p:txBody>
          <a:bodyPr/>
          <a:lstStyle/>
          <a:p>
            <a:r>
              <a:rPr lang="es-ES_tradnl" sz="1800" noProof="0" dirty="0"/>
              <a:t>Ejemplo: Ejecución instrucción 4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B3B6A9-7207-EB78-3E2E-2ACAD7E2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35</a:t>
            </a:fld>
            <a:endParaRPr lang="es-ES_tradnl" noProof="0" dirty="0"/>
          </a:p>
        </p:txBody>
      </p:sp>
      <p:grpSp>
        <p:nvGrpSpPr>
          <p:cNvPr id="2" name="Agrupar 44">
            <a:extLst>
              <a:ext uri="{FF2B5EF4-FFF2-40B4-BE49-F238E27FC236}">
                <a16:creationId xmlns:a16="http://schemas.microsoft.com/office/drawing/2014/main" id="{2A8D92D5-0B7A-228E-BB92-9DD1D9D5B074}"/>
              </a:ext>
            </a:extLst>
          </p:cNvPr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FED24AD4-48DF-F32B-293D-BAD2A0E58280}"/>
                </a:ext>
              </a:extLst>
            </p:cNvPr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5DAAD194-306C-64CB-D609-8800181A1B58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3CA9E303-F1DA-5555-5428-997BED2BB36D}"/>
                </a:ext>
              </a:extLst>
            </p:cNvPr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57CFC377-BAB5-FAC3-ED00-638BBCB8B0A5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AE23F5F4-DFB9-93C1-25D2-3520ED844957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D7999C54-7707-6947-C73A-8A4EAA6DB13A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8CCF4474-BB50-EA05-1266-F03F10166086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79" name="Flecha izquierda 78">
            <a:extLst>
              <a:ext uri="{FF2B5EF4-FFF2-40B4-BE49-F238E27FC236}">
                <a16:creationId xmlns:a16="http://schemas.microsoft.com/office/drawing/2014/main" id="{FC3E0C7A-BFB1-FB92-2617-090D867BE265}"/>
              </a:ext>
            </a:extLst>
          </p:cNvPr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EF3D517-7682-6CBB-9195-3A16C231E8E8}"/>
              </a:ext>
            </a:extLst>
          </p:cNvPr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>
            <a:extLst>
              <a:ext uri="{FF2B5EF4-FFF2-40B4-BE49-F238E27FC236}">
                <a16:creationId xmlns:a16="http://schemas.microsoft.com/office/drawing/2014/main" id="{47DF5704-A242-50E1-C37A-5D260B7FDC8A}"/>
              </a:ext>
            </a:extLst>
          </p:cNvPr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3" name="Llamada rectangular redondeada 72">
            <a:extLst>
              <a:ext uri="{FF2B5EF4-FFF2-40B4-BE49-F238E27FC236}">
                <a16:creationId xmlns:a16="http://schemas.microsoft.com/office/drawing/2014/main" id="{3B9FF25D-39BE-CBB2-4AD0-2CB83214C209}"/>
              </a:ext>
            </a:extLst>
          </p:cNvPr>
          <p:cNvSpPr/>
          <p:nvPr/>
        </p:nvSpPr>
        <p:spPr bwMode="auto">
          <a:xfrm>
            <a:off x="1268214" y="1486503"/>
            <a:ext cx="1503586" cy="1295428"/>
          </a:xfrm>
          <a:prstGeom prst="wedgeRoundRectCallout">
            <a:avLst>
              <a:gd name="adj1" fmla="val -34308"/>
              <a:gd name="adj2" fmla="val 15078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 x3, x1, x2 -&gt;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x3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 = 0x00000050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(80 = 16 + 64 en decimal)</a:t>
            </a:r>
            <a:endParaRPr lang="es-ES_tradnl" sz="1050" noProof="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4" name="Rectángulo redondeado 73">
            <a:extLst>
              <a:ext uri="{FF2B5EF4-FFF2-40B4-BE49-F238E27FC236}">
                <a16:creationId xmlns:a16="http://schemas.microsoft.com/office/drawing/2014/main" id="{8B7E4867-2516-044F-D09C-AF9A1D11DB3A}"/>
              </a:ext>
            </a:extLst>
          </p:cNvPr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BACA376-1BDF-4BAC-900C-BF352EB75506}"/>
              </a:ext>
            </a:extLst>
          </p:cNvPr>
          <p:cNvSpPr txBox="1"/>
          <p:nvPr/>
        </p:nvSpPr>
        <p:spPr>
          <a:xfrm>
            <a:off x="2195736" y="6284063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0" dirty="0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69761AE-4B5C-F9DB-8B63-5694B48E2BB2}"/>
              </a:ext>
            </a:extLst>
          </p:cNvPr>
          <p:cNvSpPr/>
          <p:nvPr/>
        </p:nvSpPr>
        <p:spPr bwMode="auto">
          <a:xfrm>
            <a:off x="1386427" y="555792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3320027-9A41-AF99-460D-9354119CE0DD}"/>
              </a:ext>
            </a:extLst>
          </p:cNvPr>
          <p:cNvSpPr/>
          <p:nvPr/>
        </p:nvSpPr>
        <p:spPr bwMode="auto">
          <a:xfrm>
            <a:off x="1893412" y="5558696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3" name="Llamada rectangular redondeada 62">
            <a:extLst>
              <a:ext uri="{FF2B5EF4-FFF2-40B4-BE49-F238E27FC236}">
                <a16:creationId xmlns:a16="http://schemas.microsoft.com/office/drawing/2014/main" id="{B86A0E6B-4320-F5AD-7456-4E08FF5210A6}"/>
              </a:ext>
            </a:extLst>
          </p:cNvPr>
          <p:cNvSpPr/>
          <p:nvPr/>
        </p:nvSpPr>
        <p:spPr bwMode="auto">
          <a:xfrm>
            <a:off x="4950698" y="378554"/>
            <a:ext cx="1524000" cy="381000"/>
          </a:xfrm>
          <a:prstGeom prst="wedgeRoundRectCallout">
            <a:avLst>
              <a:gd name="adj1" fmla="val 149263"/>
              <a:gd name="adj2" fmla="val 28223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 x3, x1, x2</a:t>
            </a:r>
          </a:p>
        </p:txBody>
      </p:sp>
      <p:sp>
        <p:nvSpPr>
          <p:cNvPr id="48" name="Llamada rectangular redondeada 47">
            <a:extLst>
              <a:ext uri="{FF2B5EF4-FFF2-40B4-BE49-F238E27FC236}">
                <a16:creationId xmlns:a16="http://schemas.microsoft.com/office/drawing/2014/main" id="{45DC23C0-1EDF-A7B3-2EDC-7A5D4664F060}"/>
              </a:ext>
            </a:extLst>
          </p:cNvPr>
          <p:cNvSpPr/>
          <p:nvPr/>
        </p:nvSpPr>
        <p:spPr bwMode="auto">
          <a:xfrm>
            <a:off x="6368481" y="5645696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0x0040000C</a:t>
            </a:r>
          </a:p>
        </p:txBody>
      </p:sp>
      <p:sp>
        <p:nvSpPr>
          <p:cNvPr id="49" name="Flecha izquierda 48">
            <a:extLst>
              <a:ext uri="{FF2B5EF4-FFF2-40B4-BE49-F238E27FC236}">
                <a16:creationId xmlns:a16="http://schemas.microsoft.com/office/drawing/2014/main" id="{BE575080-22BC-4360-8567-333FAFFD92B0}"/>
              </a:ext>
            </a:extLst>
          </p:cNvPr>
          <p:cNvSpPr/>
          <p:nvPr/>
        </p:nvSpPr>
        <p:spPr bwMode="auto">
          <a:xfrm>
            <a:off x="5105400" y="4896757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3" name="Llamada rectangular redondeada 52">
            <a:extLst>
              <a:ext uri="{FF2B5EF4-FFF2-40B4-BE49-F238E27FC236}">
                <a16:creationId xmlns:a16="http://schemas.microsoft.com/office/drawing/2014/main" id="{AFBFEB5C-F00A-2B57-EB57-1E9CD4B9BB04}"/>
              </a:ext>
            </a:extLst>
          </p:cNvPr>
          <p:cNvSpPr/>
          <p:nvPr/>
        </p:nvSpPr>
        <p:spPr bwMode="auto">
          <a:xfrm>
            <a:off x="597770" y="6203776"/>
            <a:ext cx="1447800" cy="609600"/>
          </a:xfrm>
          <a:prstGeom prst="wedgeRoundRectCallout">
            <a:avLst>
              <a:gd name="adj1" fmla="val 35651"/>
              <a:gd name="adj2" fmla="val -1112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PC = 0x0040000C</a:t>
            </a:r>
          </a:p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RI = 0x002081B3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D1B710B-97F4-D85F-F3F0-F8BF4200B266}"/>
              </a:ext>
            </a:extLst>
          </p:cNvPr>
          <p:cNvSpPr txBox="1"/>
          <p:nvPr/>
        </p:nvSpPr>
        <p:spPr>
          <a:xfrm>
            <a:off x="3419873" y="980728"/>
            <a:ext cx="2819400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.data #Asumido en 0x10002000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b: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lui x5, 0x10002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x1, 0(x5)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x2, 2(x5)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b="1" dirty="0" err="1">
                <a:solidFill>
                  <a:srgbClr val="FF0000"/>
                </a:solidFill>
                <a:latin typeface="Courier New"/>
                <a:cs typeface="Courier New"/>
              </a:rPr>
              <a:t>add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 x3, x1, x2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sb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3(x5)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x1, x0, x0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04D7DF-0A9F-04B7-4A21-CD089E061FD1}"/>
              </a:ext>
            </a:extLst>
          </p:cNvPr>
          <p:cNvSpPr/>
          <p:nvPr/>
        </p:nvSpPr>
        <p:spPr bwMode="auto">
          <a:xfrm>
            <a:off x="1083204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AD5991-956D-6D90-E581-538BA306E567}"/>
              </a:ext>
            </a:extLst>
          </p:cNvPr>
          <p:cNvSpPr/>
          <p:nvPr/>
        </p:nvSpPr>
        <p:spPr bwMode="auto">
          <a:xfrm>
            <a:off x="1083204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92183F-F4CE-C365-6D07-A6356975C064}"/>
              </a:ext>
            </a:extLst>
          </p:cNvPr>
          <p:cNvSpPr/>
          <p:nvPr/>
        </p:nvSpPr>
        <p:spPr bwMode="auto">
          <a:xfrm>
            <a:off x="1083204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D5DA52D-ABA1-2749-56A8-423A7B8D0CB6}"/>
              </a:ext>
            </a:extLst>
          </p:cNvPr>
          <p:cNvSpPr txBox="1"/>
          <p:nvPr/>
        </p:nvSpPr>
        <p:spPr>
          <a:xfrm>
            <a:off x="1048311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A4BED0B4-05F8-6C49-CC03-2E6398715CFF}"/>
              </a:ext>
            </a:extLst>
          </p:cNvPr>
          <p:cNvSpPr/>
          <p:nvPr/>
        </p:nvSpPr>
        <p:spPr bwMode="auto">
          <a:xfrm>
            <a:off x="1487868" y="4941386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717830-A8AD-D66B-036E-D00E7023F6C9}"/>
              </a:ext>
            </a:extLst>
          </p:cNvPr>
          <p:cNvSpPr txBox="1"/>
          <p:nvPr/>
        </p:nvSpPr>
        <p:spPr>
          <a:xfrm rot="16200000">
            <a:off x="2133819" y="4950648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BC57DF18-D391-0040-740A-53A5C5F116F1}"/>
              </a:ext>
            </a:extLst>
          </p:cNvPr>
          <p:cNvSpPr/>
          <p:nvPr/>
        </p:nvSpPr>
        <p:spPr bwMode="auto">
          <a:xfrm>
            <a:off x="702204" y="3264986"/>
            <a:ext cx="2357628" cy="278639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5339A0B-E98D-BAE6-55B8-73F83F1502AC}"/>
              </a:ext>
            </a:extLst>
          </p:cNvPr>
          <p:cNvSpPr txBox="1"/>
          <p:nvPr/>
        </p:nvSpPr>
        <p:spPr>
          <a:xfrm>
            <a:off x="704488" y="2960186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7C169B3-67AE-EC59-C5CD-8E30464BB1B5}"/>
              </a:ext>
            </a:extLst>
          </p:cNvPr>
          <p:cNvSpPr/>
          <p:nvPr/>
        </p:nvSpPr>
        <p:spPr bwMode="auto">
          <a:xfrm>
            <a:off x="2017820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CEE4B7F-AD65-AC57-D86A-6C23F4C1282E}"/>
              </a:ext>
            </a:extLst>
          </p:cNvPr>
          <p:cNvSpPr/>
          <p:nvPr/>
        </p:nvSpPr>
        <p:spPr bwMode="auto">
          <a:xfrm>
            <a:off x="2017820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466543B-4C62-D06D-843C-351B4D29489C}"/>
              </a:ext>
            </a:extLst>
          </p:cNvPr>
          <p:cNvSpPr/>
          <p:nvPr/>
        </p:nvSpPr>
        <p:spPr bwMode="auto">
          <a:xfrm>
            <a:off x="2017820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7677536-003A-0732-A40F-C10A3544BB8E}"/>
              </a:ext>
            </a:extLst>
          </p:cNvPr>
          <p:cNvSpPr txBox="1"/>
          <p:nvPr/>
        </p:nvSpPr>
        <p:spPr>
          <a:xfrm>
            <a:off x="1982927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</p:spTree>
    <p:extLst>
      <p:ext uri="{BB962C8B-B14F-4D97-AF65-F5344CB8AC3E}">
        <p14:creationId xmlns:p14="http://schemas.microsoft.com/office/powerpoint/2010/main" val="303934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B999-DA2D-DF81-22C1-EC16FFDF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DAAE82F-8CBD-8C67-FE49-C97DBC71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1" y="157380"/>
            <a:ext cx="4114800" cy="936104"/>
          </a:xfrm>
        </p:spPr>
        <p:txBody>
          <a:bodyPr/>
          <a:lstStyle/>
          <a:p>
            <a:r>
              <a:rPr lang="es-ES_tradnl" sz="1800" noProof="0" dirty="0"/>
              <a:t>Ejemplo: Ejecución instrucción 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3810FC-B437-3324-1C2B-FCB44FD9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36</a:t>
            </a:fld>
            <a:endParaRPr lang="es-ES_tradnl" noProof="0" dirty="0"/>
          </a:p>
        </p:txBody>
      </p:sp>
      <p:grpSp>
        <p:nvGrpSpPr>
          <p:cNvPr id="2" name="Agrupar 44">
            <a:extLst>
              <a:ext uri="{FF2B5EF4-FFF2-40B4-BE49-F238E27FC236}">
                <a16:creationId xmlns:a16="http://schemas.microsoft.com/office/drawing/2014/main" id="{8FCA0BC7-84B9-703C-81CE-F0F3EC638BCA}"/>
              </a:ext>
            </a:extLst>
          </p:cNvPr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74BE5B48-E2E2-18A6-B5BD-0C382CDBDEC1}"/>
                </a:ext>
              </a:extLst>
            </p:cNvPr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D60C6609-5DE8-E245-90EE-DAA715B5A72D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E361A53-9A07-FF0F-06B3-569E18C4688F}"/>
                </a:ext>
              </a:extLst>
            </p:cNvPr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3C6B6189-3EE9-177E-90EC-FC52E15BE064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0BA8E122-C86B-9873-1949-394EE93BD4F7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7A9D1C3E-B641-D04C-6B0E-255CA69ED0F8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5C4315DB-F0E3-2853-5EAE-5C60572B064B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79" name="Flecha izquierda 78">
            <a:extLst>
              <a:ext uri="{FF2B5EF4-FFF2-40B4-BE49-F238E27FC236}">
                <a16:creationId xmlns:a16="http://schemas.microsoft.com/office/drawing/2014/main" id="{AD8B0DC3-37CE-95DB-56A8-F3F3355E2ADE}"/>
              </a:ext>
            </a:extLst>
          </p:cNvPr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393CB82-E996-ABB4-2E5F-8D43917A836A}"/>
              </a:ext>
            </a:extLst>
          </p:cNvPr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>
            <a:extLst>
              <a:ext uri="{FF2B5EF4-FFF2-40B4-BE49-F238E27FC236}">
                <a16:creationId xmlns:a16="http://schemas.microsoft.com/office/drawing/2014/main" id="{D6A8AA64-59CD-390F-C06D-5FF1536F7AE5}"/>
              </a:ext>
            </a:extLst>
          </p:cNvPr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3" name="Llamada rectangular redondeada 72">
            <a:extLst>
              <a:ext uri="{FF2B5EF4-FFF2-40B4-BE49-F238E27FC236}">
                <a16:creationId xmlns:a16="http://schemas.microsoft.com/office/drawing/2014/main" id="{BF6079A5-3455-571E-2289-4C68542C0204}"/>
              </a:ext>
            </a:extLst>
          </p:cNvPr>
          <p:cNvSpPr/>
          <p:nvPr/>
        </p:nvSpPr>
        <p:spPr bwMode="auto">
          <a:xfrm>
            <a:off x="1268214" y="1486503"/>
            <a:ext cx="1503586" cy="1295428"/>
          </a:xfrm>
          <a:prstGeom prst="wedgeRoundRectCallout">
            <a:avLst>
              <a:gd name="adj1" fmla="val -34308"/>
              <a:gd name="adj2" fmla="val 15078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dirty="0" err="1">
                <a:solidFill>
                  <a:schemeClr val="tx1"/>
                </a:solidFill>
                <a:latin typeface="Courier New"/>
                <a:cs typeface="Courier New"/>
              </a:rPr>
              <a:t>sb</a:t>
            </a:r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 x3, 3(x5)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-&gt;</a:t>
            </a:r>
          </a:p>
          <a:p>
            <a:pPr algn="ctr"/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Almacena byte 0x50 en memoria</a:t>
            </a:r>
            <a:endParaRPr lang="es-ES_tradnl" sz="1050" noProof="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74" name="Rectángulo redondeado 73">
            <a:extLst>
              <a:ext uri="{FF2B5EF4-FFF2-40B4-BE49-F238E27FC236}">
                <a16:creationId xmlns:a16="http://schemas.microsoft.com/office/drawing/2014/main" id="{AF347F8F-09C6-4E42-0BB3-65A51DC083FC}"/>
              </a:ext>
            </a:extLst>
          </p:cNvPr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89533DB-65EC-5F0C-4F33-A30C3FCBF77A}"/>
              </a:ext>
            </a:extLst>
          </p:cNvPr>
          <p:cNvSpPr txBox="1"/>
          <p:nvPr/>
        </p:nvSpPr>
        <p:spPr>
          <a:xfrm>
            <a:off x="2195736" y="6284063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0" dirty="0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642D899-F5DC-D585-4C9E-3B7EEEA1D5AF}"/>
              </a:ext>
            </a:extLst>
          </p:cNvPr>
          <p:cNvSpPr/>
          <p:nvPr/>
        </p:nvSpPr>
        <p:spPr bwMode="auto">
          <a:xfrm>
            <a:off x="1386427" y="555792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F72F14D8-9D01-D466-93E1-C8669EB0BF6A}"/>
              </a:ext>
            </a:extLst>
          </p:cNvPr>
          <p:cNvSpPr/>
          <p:nvPr/>
        </p:nvSpPr>
        <p:spPr bwMode="auto">
          <a:xfrm>
            <a:off x="1893412" y="5558696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3" name="Llamada rectangular redondeada 62">
            <a:extLst>
              <a:ext uri="{FF2B5EF4-FFF2-40B4-BE49-F238E27FC236}">
                <a16:creationId xmlns:a16="http://schemas.microsoft.com/office/drawing/2014/main" id="{FB868811-5E07-88FF-542D-BBC34BD403B2}"/>
              </a:ext>
            </a:extLst>
          </p:cNvPr>
          <p:cNvSpPr/>
          <p:nvPr/>
        </p:nvSpPr>
        <p:spPr bwMode="auto">
          <a:xfrm>
            <a:off x="4950698" y="378554"/>
            <a:ext cx="1524000" cy="381000"/>
          </a:xfrm>
          <a:prstGeom prst="wedgeRoundRectCallout">
            <a:avLst>
              <a:gd name="adj1" fmla="val 148022"/>
              <a:gd name="adj2" fmla="val 340170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 err="1">
                <a:solidFill>
                  <a:schemeClr val="tx1"/>
                </a:solidFill>
                <a:latin typeface="Courier New"/>
                <a:cs typeface="Courier New"/>
              </a:rPr>
              <a:t>sb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 x3, 3(x5)</a:t>
            </a:r>
          </a:p>
        </p:txBody>
      </p:sp>
      <p:sp>
        <p:nvSpPr>
          <p:cNvPr id="48" name="Llamada rectangular redondeada 47">
            <a:extLst>
              <a:ext uri="{FF2B5EF4-FFF2-40B4-BE49-F238E27FC236}">
                <a16:creationId xmlns:a16="http://schemas.microsoft.com/office/drawing/2014/main" id="{31ADF7A1-6406-A527-A827-26127E448EE9}"/>
              </a:ext>
            </a:extLst>
          </p:cNvPr>
          <p:cNvSpPr/>
          <p:nvPr/>
        </p:nvSpPr>
        <p:spPr bwMode="auto">
          <a:xfrm>
            <a:off x="6368481" y="5645696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0x0040000C</a:t>
            </a:r>
          </a:p>
        </p:txBody>
      </p:sp>
      <p:sp>
        <p:nvSpPr>
          <p:cNvPr id="49" name="Flecha izquierda 48">
            <a:extLst>
              <a:ext uri="{FF2B5EF4-FFF2-40B4-BE49-F238E27FC236}">
                <a16:creationId xmlns:a16="http://schemas.microsoft.com/office/drawing/2014/main" id="{64E5CD0C-7166-ACAB-E923-51E19EAEE6EC}"/>
              </a:ext>
            </a:extLst>
          </p:cNvPr>
          <p:cNvSpPr/>
          <p:nvPr/>
        </p:nvSpPr>
        <p:spPr bwMode="auto">
          <a:xfrm>
            <a:off x="5105400" y="4896757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3" name="Llamada rectangular redondeada 52">
            <a:extLst>
              <a:ext uri="{FF2B5EF4-FFF2-40B4-BE49-F238E27FC236}">
                <a16:creationId xmlns:a16="http://schemas.microsoft.com/office/drawing/2014/main" id="{A86DF6AF-F6A3-DCDB-1A41-88C7FD19458B}"/>
              </a:ext>
            </a:extLst>
          </p:cNvPr>
          <p:cNvSpPr/>
          <p:nvPr/>
        </p:nvSpPr>
        <p:spPr bwMode="auto">
          <a:xfrm>
            <a:off x="597770" y="6203776"/>
            <a:ext cx="1447800" cy="609600"/>
          </a:xfrm>
          <a:prstGeom prst="wedgeRoundRectCallout">
            <a:avLst>
              <a:gd name="adj1" fmla="val 35651"/>
              <a:gd name="adj2" fmla="val -1112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PC = 0x00400010</a:t>
            </a:r>
          </a:p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RI = 0x003281A3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932B93F-1ADF-24CF-60D7-60A8A4C27418}"/>
              </a:ext>
            </a:extLst>
          </p:cNvPr>
          <p:cNvSpPr txBox="1"/>
          <p:nvPr/>
        </p:nvSpPr>
        <p:spPr>
          <a:xfrm>
            <a:off x="3419873" y="980728"/>
            <a:ext cx="2819400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.data #Asumido en 0x10002000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b: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lui x5, 0x10002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x1, 0(x5)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x2, 2(x5)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x1, x2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b="1" dirty="0" err="1">
                <a:solidFill>
                  <a:srgbClr val="FF0000"/>
                </a:solidFill>
                <a:latin typeface="Courier New"/>
                <a:cs typeface="Courier New"/>
              </a:rPr>
              <a:t>sb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 x3, 3(x5)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x1, x0, x0</a:t>
            </a:r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06B7B5-7577-46CF-CA63-BFE1B3775168}"/>
              </a:ext>
            </a:extLst>
          </p:cNvPr>
          <p:cNvSpPr/>
          <p:nvPr/>
        </p:nvSpPr>
        <p:spPr bwMode="auto">
          <a:xfrm>
            <a:off x="1083204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669E1F-553E-E860-BD50-CAAE163AEA0E}"/>
              </a:ext>
            </a:extLst>
          </p:cNvPr>
          <p:cNvSpPr/>
          <p:nvPr/>
        </p:nvSpPr>
        <p:spPr bwMode="auto">
          <a:xfrm>
            <a:off x="1083204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E848134-E4D8-1177-FE74-BE59FB85CB21}"/>
              </a:ext>
            </a:extLst>
          </p:cNvPr>
          <p:cNvSpPr/>
          <p:nvPr/>
        </p:nvSpPr>
        <p:spPr bwMode="auto">
          <a:xfrm>
            <a:off x="1083204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BDF2904-E1D4-CB2C-3D6A-87F1E2E8900D}"/>
              </a:ext>
            </a:extLst>
          </p:cNvPr>
          <p:cNvSpPr txBox="1"/>
          <p:nvPr/>
        </p:nvSpPr>
        <p:spPr>
          <a:xfrm>
            <a:off x="1048311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D1F060D8-BCD4-6848-E0D5-2BCAB4A808D0}"/>
              </a:ext>
            </a:extLst>
          </p:cNvPr>
          <p:cNvSpPr/>
          <p:nvPr/>
        </p:nvSpPr>
        <p:spPr bwMode="auto">
          <a:xfrm>
            <a:off x="1487868" y="4941386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5CE4A26-840E-674F-9142-796895A4480A}"/>
              </a:ext>
            </a:extLst>
          </p:cNvPr>
          <p:cNvSpPr txBox="1"/>
          <p:nvPr/>
        </p:nvSpPr>
        <p:spPr>
          <a:xfrm rot="16200000">
            <a:off x="2133819" y="4950648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F8F7F822-3F1E-C49A-7924-DB3D4FC7955C}"/>
              </a:ext>
            </a:extLst>
          </p:cNvPr>
          <p:cNvSpPr/>
          <p:nvPr/>
        </p:nvSpPr>
        <p:spPr bwMode="auto">
          <a:xfrm>
            <a:off x="702204" y="3264986"/>
            <a:ext cx="2357628" cy="278639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2303E43-ED63-C0D3-D69D-178FE419CCC4}"/>
              </a:ext>
            </a:extLst>
          </p:cNvPr>
          <p:cNvSpPr txBox="1"/>
          <p:nvPr/>
        </p:nvSpPr>
        <p:spPr>
          <a:xfrm>
            <a:off x="704488" y="2960186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67C5850-BF11-782D-5091-5C76A9192A96}"/>
              </a:ext>
            </a:extLst>
          </p:cNvPr>
          <p:cNvSpPr/>
          <p:nvPr/>
        </p:nvSpPr>
        <p:spPr bwMode="auto">
          <a:xfrm>
            <a:off x="2017820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1A2B126-B2CC-439E-A18C-A507206166F2}"/>
              </a:ext>
            </a:extLst>
          </p:cNvPr>
          <p:cNvSpPr/>
          <p:nvPr/>
        </p:nvSpPr>
        <p:spPr bwMode="auto">
          <a:xfrm>
            <a:off x="2017820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20E382A-6F4F-0EA5-CDD1-E8CDCF29688E}"/>
              </a:ext>
            </a:extLst>
          </p:cNvPr>
          <p:cNvSpPr/>
          <p:nvPr/>
        </p:nvSpPr>
        <p:spPr bwMode="auto">
          <a:xfrm>
            <a:off x="2017820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8E303D4-8ECF-9BB3-D50D-1A6C1F7BF552}"/>
              </a:ext>
            </a:extLst>
          </p:cNvPr>
          <p:cNvSpPr txBox="1"/>
          <p:nvPr/>
        </p:nvSpPr>
        <p:spPr>
          <a:xfrm>
            <a:off x="1982927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</p:spTree>
    <p:extLst>
      <p:ext uri="{BB962C8B-B14F-4D97-AF65-F5344CB8AC3E}">
        <p14:creationId xmlns:p14="http://schemas.microsoft.com/office/powerpoint/2010/main" val="94651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73820-805E-CE8A-725C-1A087687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EB945BF6-3EA4-9706-B2AD-E9625A957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1" y="157380"/>
            <a:ext cx="4114800" cy="936104"/>
          </a:xfrm>
        </p:spPr>
        <p:txBody>
          <a:bodyPr/>
          <a:lstStyle/>
          <a:p>
            <a:r>
              <a:rPr lang="es-ES_tradnl" sz="1800" noProof="0" dirty="0"/>
              <a:t>Ejemplo: Ejecución instrucción 6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C930B3-44AB-EA8D-DFAC-2434AE70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37</a:t>
            </a:fld>
            <a:endParaRPr lang="es-ES_tradnl" noProof="0" dirty="0"/>
          </a:p>
        </p:txBody>
      </p:sp>
      <p:grpSp>
        <p:nvGrpSpPr>
          <p:cNvPr id="2" name="Agrupar 44">
            <a:extLst>
              <a:ext uri="{FF2B5EF4-FFF2-40B4-BE49-F238E27FC236}">
                <a16:creationId xmlns:a16="http://schemas.microsoft.com/office/drawing/2014/main" id="{4A9A346D-BEFC-820C-42A0-598EA162CC7F}"/>
              </a:ext>
            </a:extLst>
          </p:cNvPr>
          <p:cNvGrpSpPr/>
          <p:nvPr/>
        </p:nvGrpSpPr>
        <p:grpSpPr>
          <a:xfrm>
            <a:off x="4114800" y="3962400"/>
            <a:ext cx="2819400" cy="2590800"/>
            <a:chOff x="4724400" y="1600200"/>
            <a:chExt cx="3810000" cy="3200400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CDB2F314-F296-9927-4679-FB8087A49A06}"/>
                </a:ext>
              </a:extLst>
            </p:cNvPr>
            <p:cNvSpPr/>
            <p:nvPr/>
          </p:nvSpPr>
          <p:spPr bwMode="auto">
            <a:xfrm>
              <a:off x="4724400" y="1600200"/>
              <a:ext cx="1390141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Procesador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AEC105E7-211A-B600-7B5A-8BB136258EFC}"/>
                </a:ext>
              </a:extLst>
            </p:cNvPr>
            <p:cNvSpPr/>
            <p:nvPr/>
          </p:nvSpPr>
          <p:spPr bwMode="auto">
            <a:xfrm>
              <a:off x="7315200" y="1600200"/>
              <a:ext cx="114300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Memoria</a:t>
              </a: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14F18D6E-2A74-A599-62C9-9FFE9DF17179}"/>
                </a:ext>
              </a:extLst>
            </p:cNvPr>
            <p:cNvSpPr/>
            <p:nvPr/>
          </p:nvSpPr>
          <p:spPr bwMode="auto">
            <a:xfrm>
              <a:off x="6019800" y="3733800"/>
              <a:ext cx="1446270" cy="1066800"/>
            </a:xfrm>
            <a:prstGeom prst="roundRect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chemeClr val="tx1"/>
                  </a:solidFill>
                </a:rPr>
                <a:t>Entrada/Salida</a:t>
              </a:r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4ABD3A39-2A3E-15C0-8B42-6007ECEA0554}"/>
                </a:ext>
              </a:extLst>
            </p:cNvPr>
            <p:cNvSpPr/>
            <p:nvPr/>
          </p:nvSpPr>
          <p:spPr bwMode="auto">
            <a:xfrm>
              <a:off x="4724400" y="2895600"/>
              <a:ext cx="3810000" cy="609600"/>
            </a:xfrm>
            <a:prstGeom prst="leftRight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900" noProof="0" dirty="0">
                  <a:solidFill>
                    <a:srgbClr val="000000"/>
                  </a:solidFill>
                </a:rPr>
                <a:t>Bus de interconexión</a:t>
              </a:r>
            </a:p>
          </p:txBody>
        </p:sp>
        <p:sp>
          <p:nvSpPr>
            <p:cNvPr id="10" name="Flecha arriba y abajo 9">
              <a:extLst>
                <a:ext uri="{FF2B5EF4-FFF2-40B4-BE49-F238E27FC236}">
                  <a16:creationId xmlns:a16="http://schemas.microsoft.com/office/drawing/2014/main" id="{05E442DD-E262-65ED-1B94-19C13448E710}"/>
                </a:ext>
              </a:extLst>
            </p:cNvPr>
            <p:cNvSpPr/>
            <p:nvPr/>
          </p:nvSpPr>
          <p:spPr bwMode="auto">
            <a:xfrm>
              <a:off x="51816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2" name="Flecha arriba y abajo 11">
              <a:extLst>
                <a:ext uri="{FF2B5EF4-FFF2-40B4-BE49-F238E27FC236}">
                  <a16:creationId xmlns:a16="http://schemas.microsoft.com/office/drawing/2014/main" id="{E74C6D59-ACE2-552A-0EAE-59FEB277CC0D}"/>
                </a:ext>
              </a:extLst>
            </p:cNvPr>
            <p:cNvSpPr/>
            <p:nvPr/>
          </p:nvSpPr>
          <p:spPr bwMode="auto">
            <a:xfrm>
              <a:off x="7772400" y="26670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  <p:sp>
          <p:nvSpPr>
            <p:cNvPr id="13" name="Flecha arriba y abajo 12">
              <a:extLst>
                <a:ext uri="{FF2B5EF4-FFF2-40B4-BE49-F238E27FC236}">
                  <a16:creationId xmlns:a16="http://schemas.microsoft.com/office/drawing/2014/main" id="{25D2FD4A-E5AE-E032-0A49-7812C2F4C12F}"/>
                </a:ext>
              </a:extLst>
            </p:cNvPr>
            <p:cNvSpPr/>
            <p:nvPr/>
          </p:nvSpPr>
          <p:spPr bwMode="auto">
            <a:xfrm>
              <a:off x="6477000" y="3352800"/>
              <a:ext cx="304800" cy="381000"/>
            </a:xfrm>
            <a:prstGeom prst="upDownArrow">
              <a:avLst/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100" noProof="0" dirty="0"/>
            </a:p>
          </p:txBody>
        </p:sp>
      </p:grpSp>
      <p:sp>
        <p:nvSpPr>
          <p:cNvPr id="79" name="Flecha izquierda 78">
            <a:extLst>
              <a:ext uri="{FF2B5EF4-FFF2-40B4-BE49-F238E27FC236}">
                <a16:creationId xmlns:a16="http://schemas.microsoft.com/office/drawing/2014/main" id="{C529EEA3-E728-8612-43CE-9CCE35A79A9B}"/>
              </a:ext>
            </a:extLst>
          </p:cNvPr>
          <p:cNvSpPr/>
          <p:nvPr/>
        </p:nvSpPr>
        <p:spPr bwMode="auto">
          <a:xfrm>
            <a:off x="3352800" y="4267200"/>
            <a:ext cx="685800" cy="3810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3D11229-9E61-407F-13B2-A4C964E640E0}"/>
              </a:ext>
            </a:extLst>
          </p:cNvPr>
          <p:cNvSpPr txBox="1"/>
          <p:nvPr/>
        </p:nvSpPr>
        <p:spPr>
          <a:xfrm>
            <a:off x="7010401" y="381002"/>
            <a:ext cx="1751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Contenido memoria</a:t>
            </a:r>
          </a:p>
        </p:txBody>
      </p:sp>
      <p:sp>
        <p:nvSpPr>
          <p:cNvPr id="42" name="Flecha curva 41">
            <a:extLst>
              <a:ext uri="{FF2B5EF4-FFF2-40B4-BE49-F238E27FC236}">
                <a16:creationId xmlns:a16="http://schemas.microsoft.com/office/drawing/2014/main" id="{8695E881-DDB7-11A8-1626-79CE89EEADFC}"/>
              </a:ext>
            </a:extLst>
          </p:cNvPr>
          <p:cNvSpPr/>
          <p:nvPr/>
        </p:nvSpPr>
        <p:spPr bwMode="auto">
          <a:xfrm rot="5400000" flipH="1">
            <a:off x="6972300" y="3619500"/>
            <a:ext cx="762000" cy="838200"/>
          </a:xfrm>
          <a:prstGeom prst="bent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>
              <a:solidFill>
                <a:schemeClr val="tx1"/>
              </a:solidFill>
            </a:endParaRPr>
          </a:p>
        </p:txBody>
      </p:sp>
      <p:sp>
        <p:nvSpPr>
          <p:cNvPr id="73" name="Llamada rectangular redondeada 72">
            <a:extLst>
              <a:ext uri="{FF2B5EF4-FFF2-40B4-BE49-F238E27FC236}">
                <a16:creationId xmlns:a16="http://schemas.microsoft.com/office/drawing/2014/main" id="{1160CC01-03DF-A7B8-511D-AAFE446C1CB3}"/>
              </a:ext>
            </a:extLst>
          </p:cNvPr>
          <p:cNvSpPr/>
          <p:nvPr/>
        </p:nvSpPr>
        <p:spPr bwMode="auto">
          <a:xfrm>
            <a:off x="1268214" y="1486503"/>
            <a:ext cx="1503586" cy="1295428"/>
          </a:xfrm>
          <a:prstGeom prst="wedgeRoundRectCallout">
            <a:avLst>
              <a:gd name="adj1" fmla="val -34308"/>
              <a:gd name="adj2" fmla="val 15078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05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 x1, x0, x0</a:t>
            </a:r>
          </a:p>
          <a:p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-&gt;</a:t>
            </a:r>
          </a:p>
          <a:p>
            <a:r>
              <a:rPr lang="es-ES_tradnl" sz="1050" dirty="0">
                <a:solidFill>
                  <a:schemeClr val="tx1"/>
                </a:solidFill>
                <a:latin typeface="Courier New"/>
                <a:cs typeface="Courier New"/>
              </a:rPr>
              <a:t>x1 = 0x00000000</a:t>
            </a:r>
          </a:p>
        </p:txBody>
      </p:sp>
      <p:sp>
        <p:nvSpPr>
          <p:cNvPr id="74" name="Rectángulo redondeado 73">
            <a:extLst>
              <a:ext uri="{FF2B5EF4-FFF2-40B4-BE49-F238E27FC236}">
                <a16:creationId xmlns:a16="http://schemas.microsoft.com/office/drawing/2014/main" id="{29AA16F1-75FF-9CF3-D6CA-A0EA8E188CC0}"/>
              </a:ext>
            </a:extLst>
          </p:cNvPr>
          <p:cNvSpPr/>
          <p:nvPr/>
        </p:nvSpPr>
        <p:spPr bwMode="auto">
          <a:xfrm>
            <a:off x="6858000" y="685800"/>
            <a:ext cx="2286000" cy="335280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Dirección	 Contenido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0x100022B7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0x00028083</a:t>
            </a:r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  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0x00400008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0x00228103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0x0040000C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0x002081B3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0x00400010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0x003281A3 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0x00400014  </a:t>
            </a:r>
            <a:r>
              <a:rPr lang="es-ES" sz="1050" dirty="0">
                <a:solidFill>
                  <a:srgbClr val="000000"/>
                </a:solidFill>
                <a:latin typeface="Courier"/>
                <a:cs typeface="Courier"/>
              </a:rPr>
              <a:t>0x000000B3</a:t>
            </a:r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algn="l"/>
            <a:endParaRPr lang="es-ES_tradnl" sz="1050" dirty="0">
              <a:solidFill>
                <a:srgbClr val="000000"/>
              </a:solidFill>
              <a:latin typeface="Courier"/>
              <a:cs typeface="Courier"/>
            </a:endParaRP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0x10002000  0x0010FF40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0x10002004  0xFFFFFFFF</a:t>
            </a:r>
          </a:p>
          <a:p>
            <a:pPr algn="l"/>
            <a:r>
              <a:rPr lang="es-ES_tradnl" sz="1050" dirty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B626D59-D953-1705-DA05-4A9E87B0ED6C}"/>
              </a:ext>
            </a:extLst>
          </p:cNvPr>
          <p:cNvSpPr txBox="1"/>
          <p:nvPr/>
        </p:nvSpPr>
        <p:spPr>
          <a:xfrm>
            <a:off x="2195736" y="6284063"/>
            <a:ext cx="1994456" cy="46474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rgbClr val="FF0000"/>
                </a:solidFill>
              </a:rPr>
              <a:t>La instrucción leída se ubica en </a:t>
            </a:r>
          </a:p>
          <a:p>
            <a:r>
              <a:rPr lang="es-ES_tradnl" sz="1100" noProof="0" dirty="0">
                <a:solidFill>
                  <a:srgbClr val="FF0000"/>
                </a:solidFill>
              </a:rPr>
              <a:t>el registro de instrucción RI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321E63A-B189-DC53-DB5C-16422A53AC1A}"/>
              </a:ext>
            </a:extLst>
          </p:cNvPr>
          <p:cNvSpPr/>
          <p:nvPr/>
        </p:nvSpPr>
        <p:spPr bwMode="auto">
          <a:xfrm>
            <a:off x="1386427" y="5557922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PC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78BEEE0-3625-3082-EFC9-E7F37D4B738A}"/>
              </a:ext>
            </a:extLst>
          </p:cNvPr>
          <p:cNvSpPr/>
          <p:nvPr/>
        </p:nvSpPr>
        <p:spPr bwMode="auto">
          <a:xfrm>
            <a:off x="1893412" y="5558696"/>
            <a:ext cx="457200" cy="2286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RI</a:t>
            </a:r>
          </a:p>
        </p:txBody>
      </p:sp>
      <p:sp>
        <p:nvSpPr>
          <p:cNvPr id="63" name="Llamada rectangular redondeada 62">
            <a:extLst>
              <a:ext uri="{FF2B5EF4-FFF2-40B4-BE49-F238E27FC236}">
                <a16:creationId xmlns:a16="http://schemas.microsoft.com/office/drawing/2014/main" id="{3E70168D-9C2E-3BF5-E35D-77F4131EBA39}"/>
              </a:ext>
            </a:extLst>
          </p:cNvPr>
          <p:cNvSpPr/>
          <p:nvPr/>
        </p:nvSpPr>
        <p:spPr bwMode="auto">
          <a:xfrm>
            <a:off x="4950698" y="378554"/>
            <a:ext cx="1524000" cy="381000"/>
          </a:xfrm>
          <a:prstGeom prst="wedgeRoundRectCallout">
            <a:avLst>
              <a:gd name="adj1" fmla="val 147194"/>
              <a:gd name="adj2" fmla="val 378239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 x1, x0, x0</a:t>
            </a:r>
          </a:p>
        </p:txBody>
      </p:sp>
      <p:sp>
        <p:nvSpPr>
          <p:cNvPr id="48" name="Llamada rectangular redondeada 47">
            <a:extLst>
              <a:ext uri="{FF2B5EF4-FFF2-40B4-BE49-F238E27FC236}">
                <a16:creationId xmlns:a16="http://schemas.microsoft.com/office/drawing/2014/main" id="{6AEEA9FD-0B41-494F-57AE-2F210636AD58}"/>
              </a:ext>
            </a:extLst>
          </p:cNvPr>
          <p:cNvSpPr/>
          <p:nvPr/>
        </p:nvSpPr>
        <p:spPr bwMode="auto">
          <a:xfrm>
            <a:off x="6368481" y="5645696"/>
            <a:ext cx="1981200" cy="609600"/>
          </a:xfrm>
          <a:prstGeom prst="wedgeRoundRectCallout">
            <a:avLst>
              <a:gd name="adj1" fmla="val -75633"/>
              <a:gd name="adj2" fmla="val -133397"/>
              <a:gd name="adj3" fmla="val 16667"/>
            </a:avLst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Lectura de la instrucción ubicada en 0x0040000C</a:t>
            </a:r>
          </a:p>
        </p:txBody>
      </p:sp>
      <p:sp>
        <p:nvSpPr>
          <p:cNvPr id="49" name="Flecha izquierda 48">
            <a:extLst>
              <a:ext uri="{FF2B5EF4-FFF2-40B4-BE49-F238E27FC236}">
                <a16:creationId xmlns:a16="http://schemas.microsoft.com/office/drawing/2014/main" id="{8DC05BCC-DFE9-6EC6-47B0-AA7FA7BE9588}"/>
              </a:ext>
            </a:extLst>
          </p:cNvPr>
          <p:cNvSpPr/>
          <p:nvPr/>
        </p:nvSpPr>
        <p:spPr bwMode="auto">
          <a:xfrm>
            <a:off x="5105400" y="4896757"/>
            <a:ext cx="838200" cy="228600"/>
          </a:xfrm>
          <a:prstGeom prst="leftArrow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3" name="Llamada rectangular redondeada 52">
            <a:extLst>
              <a:ext uri="{FF2B5EF4-FFF2-40B4-BE49-F238E27FC236}">
                <a16:creationId xmlns:a16="http://schemas.microsoft.com/office/drawing/2014/main" id="{99CF2C3D-13FA-3AAF-31E6-DCC36823677A}"/>
              </a:ext>
            </a:extLst>
          </p:cNvPr>
          <p:cNvSpPr/>
          <p:nvPr/>
        </p:nvSpPr>
        <p:spPr bwMode="auto">
          <a:xfrm>
            <a:off x="597770" y="6203776"/>
            <a:ext cx="1447800" cy="609600"/>
          </a:xfrm>
          <a:prstGeom prst="wedgeRoundRectCallout">
            <a:avLst>
              <a:gd name="adj1" fmla="val 35651"/>
              <a:gd name="adj2" fmla="val -111218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PC = 0x00400014</a:t>
            </a:r>
          </a:p>
          <a:p>
            <a:pPr algn="ctr"/>
            <a:r>
              <a:rPr lang="es-ES_tradnl" sz="1050" noProof="0" dirty="0">
                <a:solidFill>
                  <a:schemeClr val="tx1"/>
                </a:solidFill>
                <a:latin typeface="Courier New"/>
                <a:cs typeface="Courier New"/>
              </a:rPr>
              <a:t>RI </a:t>
            </a:r>
            <a:r>
              <a:rPr lang="es-ES_tradnl" sz="1050" noProof="0">
                <a:solidFill>
                  <a:schemeClr val="tx1"/>
                </a:solidFill>
                <a:latin typeface="Courier New"/>
                <a:cs typeface="Courier New"/>
              </a:rPr>
              <a:t>= 0x000000B3</a:t>
            </a:r>
            <a:endParaRPr lang="es-ES_tradnl" sz="1050" noProof="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EE1307F-4453-DBBE-9E08-8703BBE5AF20}"/>
              </a:ext>
            </a:extLst>
          </p:cNvPr>
          <p:cNvSpPr txBox="1"/>
          <p:nvPr/>
        </p:nvSpPr>
        <p:spPr>
          <a:xfrm>
            <a:off x="3419873" y="980728"/>
            <a:ext cx="2819400" cy="209288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000" noProof="0" dirty="0">
                <a:solidFill>
                  <a:srgbClr val="006699"/>
                </a:solidFill>
                <a:latin typeface="Courier New"/>
                <a:cs typeface="Courier New"/>
              </a:rPr>
              <a:t>    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.data #Asumido en 0x10002000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a:  .byte </a:t>
            </a:r>
            <a:r>
              <a:rPr lang="es-ES_tradnl" sz="100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0x40, 0xFF, 0x10, 0x00</a:t>
            </a:r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b: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word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-1</a:t>
            </a:r>
          </a:p>
          <a:p>
            <a:pPr algn="l"/>
            <a:endParaRPr lang="es-ES_tradnl" sz="10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.</a:t>
            </a:r>
            <a:r>
              <a:rPr lang="es-ES_tradnl" sz="1000" dirty="0" err="1">
                <a:solidFill>
                  <a:srgbClr val="0070C0"/>
                </a:solidFill>
                <a:latin typeface="Courier New"/>
                <a:cs typeface="Courier New"/>
              </a:rPr>
              <a:t>text</a:t>
            </a:r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#Asumido en 0x00400000</a:t>
            </a:r>
          </a:p>
          <a:p>
            <a:pPr algn="l"/>
            <a:r>
              <a:rPr lang="es-ES_tradnl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lui x5, 0x10002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x1, 0(x5)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lb x2, 2(x5) 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add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x1, x2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</a:p>
          <a:p>
            <a:pPr algn="l"/>
            <a:r>
              <a:rPr lang="es-ES" sz="1000" b="1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dirty="0" err="1">
                <a:solidFill>
                  <a:srgbClr val="0070C0"/>
                </a:solidFill>
                <a:latin typeface="Courier New"/>
                <a:cs typeface="Courier New"/>
              </a:rPr>
              <a:t>sb</a:t>
            </a:r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x3, 3(x5)</a:t>
            </a:r>
          </a:p>
          <a:p>
            <a:pPr algn="l"/>
            <a:r>
              <a:rPr lang="es-ES" sz="1000" dirty="0">
                <a:solidFill>
                  <a:srgbClr val="0070C0"/>
                </a:solidFill>
                <a:latin typeface="Courier New"/>
                <a:cs typeface="Courier New"/>
              </a:rPr>
              <a:t>    </a:t>
            </a:r>
            <a:r>
              <a:rPr lang="es-ES" sz="1000" b="1" dirty="0" err="1">
                <a:solidFill>
                  <a:srgbClr val="FF0000"/>
                </a:solidFill>
                <a:latin typeface="Courier New"/>
                <a:cs typeface="Courier New"/>
              </a:rPr>
              <a:t>add</a:t>
            </a:r>
            <a:r>
              <a:rPr lang="es-ES" sz="1000" b="1" dirty="0">
                <a:solidFill>
                  <a:srgbClr val="FF0000"/>
                </a:solidFill>
                <a:latin typeface="Courier New"/>
                <a:cs typeface="Courier New"/>
              </a:rPr>
              <a:t> x1, x0, x0</a:t>
            </a:r>
            <a:r>
              <a:rPr lang="es-ES_tradnl" sz="1000" b="1" noProof="0" dirty="0">
                <a:solidFill>
                  <a:srgbClr val="FF0000"/>
                </a:solidFill>
                <a:latin typeface="Courier New"/>
                <a:cs typeface="Courier New"/>
              </a:rPr>
              <a:t>   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85438B9-BE7C-A8F6-1DD7-45FC05BA5334}"/>
              </a:ext>
            </a:extLst>
          </p:cNvPr>
          <p:cNvSpPr/>
          <p:nvPr/>
        </p:nvSpPr>
        <p:spPr bwMode="auto">
          <a:xfrm>
            <a:off x="1083204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8B8F9D-8172-8526-6869-38BAAFE643A6}"/>
              </a:ext>
            </a:extLst>
          </p:cNvPr>
          <p:cNvSpPr/>
          <p:nvPr/>
        </p:nvSpPr>
        <p:spPr bwMode="auto">
          <a:xfrm>
            <a:off x="1083204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x31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942A7F1-4947-A63D-294F-349D08C5D3BF}"/>
              </a:ext>
            </a:extLst>
          </p:cNvPr>
          <p:cNvSpPr/>
          <p:nvPr/>
        </p:nvSpPr>
        <p:spPr bwMode="auto">
          <a:xfrm>
            <a:off x="1083204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A2D69C-4F4A-3135-F5A2-735B1A76AB5D}"/>
              </a:ext>
            </a:extLst>
          </p:cNvPr>
          <p:cNvSpPr txBox="1"/>
          <p:nvPr/>
        </p:nvSpPr>
        <p:spPr>
          <a:xfrm>
            <a:off x="1048311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024E0053-AD76-C8F9-1BD8-F0F650E22BB7}"/>
              </a:ext>
            </a:extLst>
          </p:cNvPr>
          <p:cNvSpPr/>
          <p:nvPr/>
        </p:nvSpPr>
        <p:spPr bwMode="auto">
          <a:xfrm>
            <a:off x="1487868" y="4941386"/>
            <a:ext cx="762000" cy="384763"/>
          </a:xfrm>
          <a:custGeom>
            <a:avLst/>
            <a:gdLst>
              <a:gd name="connsiteX0" fmla="*/ 0 w 1006593"/>
              <a:gd name="connsiteY0" fmla="*/ 0 h 460963"/>
              <a:gd name="connsiteX1" fmla="*/ 376297 w 1006593"/>
              <a:gd name="connsiteY1" fmla="*/ 9408 h 460963"/>
              <a:gd name="connsiteX2" fmla="*/ 526815 w 1006593"/>
              <a:gd name="connsiteY2" fmla="*/ 254000 h 460963"/>
              <a:gd name="connsiteX3" fmla="*/ 696148 w 1006593"/>
              <a:gd name="connsiteY3" fmla="*/ 9408 h 460963"/>
              <a:gd name="connsiteX4" fmla="*/ 1006593 w 1006593"/>
              <a:gd name="connsiteY4" fmla="*/ 0 h 460963"/>
              <a:gd name="connsiteX5" fmla="*/ 677334 w 1006593"/>
              <a:gd name="connsiteY5" fmla="*/ 460963 h 460963"/>
              <a:gd name="connsiteX6" fmla="*/ 366889 w 1006593"/>
              <a:gd name="connsiteY6" fmla="*/ 451556 h 460963"/>
              <a:gd name="connsiteX7" fmla="*/ 0 w 1006593"/>
              <a:gd name="connsiteY7" fmla="*/ 0 h 46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593" h="460963">
                <a:moveTo>
                  <a:pt x="0" y="0"/>
                </a:moveTo>
                <a:lnTo>
                  <a:pt x="376297" y="9408"/>
                </a:lnTo>
                <a:lnTo>
                  <a:pt x="526815" y="254000"/>
                </a:lnTo>
                <a:lnTo>
                  <a:pt x="696148" y="9408"/>
                </a:lnTo>
                <a:lnTo>
                  <a:pt x="1006593" y="0"/>
                </a:lnTo>
                <a:lnTo>
                  <a:pt x="677334" y="460963"/>
                </a:lnTo>
                <a:lnTo>
                  <a:pt x="366889" y="451556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CC4A550-3D54-2B69-5132-A40EDC32CBE2}"/>
              </a:ext>
            </a:extLst>
          </p:cNvPr>
          <p:cNvSpPr txBox="1"/>
          <p:nvPr/>
        </p:nvSpPr>
        <p:spPr>
          <a:xfrm rot="16200000">
            <a:off x="2133819" y="4950648"/>
            <a:ext cx="533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ALU 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950BE220-C2F5-FD59-612F-32798C3F4887}"/>
              </a:ext>
            </a:extLst>
          </p:cNvPr>
          <p:cNvSpPr/>
          <p:nvPr/>
        </p:nvSpPr>
        <p:spPr bwMode="auto">
          <a:xfrm>
            <a:off x="702204" y="3264986"/>
            <a:ext cx="2357628" cy="2786390"/>
          </a:xfrm>
          <a:prstGeom prst="round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31F0F5C-1C52-1412-8B07-3797E9E32CDE}"/>
              </a:ext>
            </a:extLst>
          </p:cNvPr>
          <p:cNvSpPr txBox="1"/>
          <p:nvPr/>
        </p:nvSpPr>
        <p:spPr>
          <a:xfrm>
            <a:off x="704488" y="2960186"/>
            <a:ext cx="56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9872BC4-3124-355F-760F-229A87148006}"/>
              </a:ext>
            </a:extLst>
          </p:cNvPr>
          <p:cNvSpPr/>
          <p:nvPr/>
        </p:nvSpPr>
        <p:spPr bwMode="auto">
          <a:xfrm>
            <a:off x="2017820" y="36459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D969DE6-BB48-1798-5484-B92B74A44AC8}"/>
              </a:ext>
            </a:extLst>
          </p:cNvPr>
          <p:cNvSpPr/>
          <p:nvPr/>
        </p:nvSpPr>
        <p:spPr bwMode="auto">
          <a:xfrm>
            <a:off x="2017820" y="4484186"/>
            <a:ext cx="762000" cy="228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f31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2E3631-751B-DF1C-0064-EC57B7BFA3C7}"/>
              </a:ext>
            </a:extLst>
          </p:cNvPr>
          <p:cNvSpPr/>
          <p:nvPr/>
        </p:nvSpPr>
        <p:spPr bwMode="auto">
          <a:xfrm>
            <a:off x="2017820" y="3874586"/>
            <a:ext cx="762000" cy="609600"/>
          </a:xfrm>
          <a:prstGeom prst="rect">
            <a:avLst/>
          </a:prstGeom>
          <a:noFill/>
          <a:ln w="19050"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algn="ctr"/>
            <a:endParaRPr lang="es-ES_tradnl" sz="1400" noProof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14544F6-1EDD-BF47-ADFE-BF4C0A41F959}"/>
              </a:ext>
            </a:extLst>
          </p:cNvPr>
          <p:cNvSpPr txBox="1"/>
          <p:nvPr/>
        </p:nvSpPr>
        <p:spPr>
          <a:xfrm>
            <a:off x="1982927" y="3338209"/>
            <a:ext cx="873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</p:txBody>
      </p:sp>
    </p:spTree>
    <p:extLst>
      <p:ext uri="{BB962C8B-B14F-4D97-AF65-F5344CB8AC3E}">
        <p14:creationId xmlns:p14="http://schemas.microsoft.com/office/powerpoint/2010/main" val="209513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4F62-DBD5-A982-21ED-9F66A878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9">
            <a:extLst>
              <a:ext uri="{FF2B5EF4-FFF2-40B4-BE49-F238E27FC236}">
                <a16:creationId xmlns:a16="http://schemas.microsoft.com/office/drawing/2014/main" id="{BB97CE4B-C3A1-22EA-D57F-C5460A62A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12787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Contenido y bibliografía</a:t>
            </a:r>
          </a:p>
        </p:txBody>
      </p:sp>
      <p:sp>
        <p:nvSpPr>
          <p:cNvPr id="13315" name="Rectangle 10">
            <a:extLst>
              <a:ext uri="{FF2B5EF4-FFF2-40B4-BE49-F238E27FC236}">
                <a16:creationId xmlns:a16="http://schemas.microsoft.com/office/drawing/2014/main" id="{6EACDCA8-2486-952E-DBBC-0DBE03B5F3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1" y="687388"/>
            <a:ext cx="8534400" cy="5256212"/>
          </a:xfrm>
        </p:spPr>
        <p:txBody>
          <a:bodyPr/>
          <a:lstStyle/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1 – Arquitectura RISC-V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 y Definición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Características básicas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Ejemplo de ejecución</a:t>
            </a:r>
          </a:p>
          <a:p>
            <a:pPr marL="82550" indent="0">
              <a:buNone/>
            </a:pPr>
            <a:r>
              <a:rPr lang="es-ES_tradnl" sz="20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– La ruta de datos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 ruta de datos básica</a:t>
            </a:r>
          </a:p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3 – La unidad de control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 unidad de control</a:t>
            </a:r>
          </a:p>
          <a:p>
            <a:pPr lvl="2">
              <a:buNone/>
            </a:pPr>
            <a:endParaRPr lang="es-ES_tradnl" sz="1600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s-ES_tradnl" sz="16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: Patterson, D.A., Hennessy, J.L., “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Organizationand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RISC-V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Edition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: The Hardware-Software Interface,” 2ª edición, Ed. MK, 2020</a:t>
            </a:r>
          </a:p>
          <a:p>
            <a:pPr lvl="1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2" name="Rectangle 4">
            <a:extLst>
              <a:ext uri="{FF2B5EF4-FFF2-40B4-BE49-F238E27FC236}">
                <a16:creationId xmlns:a16="http://schemas.microsoft.com/office/drawing/2014/main" id="{830BCAAA-DD57-E370-AF0A-B95C5696FD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35E7AC4-CF51-4D8E-9049-04CC0E2A541C}" type="slidenum">
              <a:rPr lang="es-ES_tradnl" noProof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38</a:t>
            </a:fld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2AC79C7F-5A67-A98B-EAC5-9CBE1D7F1047}"/>
              </a:ext>
            </a:extLst>
          </p:cNvPr>
          <p:cNvSpPr/>
          <p:nvPr/>
        </p:nvSpPr>
        <p:spPr bwMode="auto">
          <a:xfrm>
            <a:off x="4788024" y="838200"/>
            <a:ext cx="241176" cy="1676400"/>
          </a:xfrm>
          <a:prstGeom prst="rightBrace">
            <a:avLst>
              <a:gd name="adj1" fmla="val 8333"/>
              <a:gd name="adj2" fmla="val 51001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77C0ED-7D4F-FA6C-A6D9-1B2A3F0E6E29}"/>
              </a:ext>
            </a:extLst>
          </p:cNvPr>
          <p:cNvSpPr txBox="1"/>
          <p:nvPr/>
        </p:nvSpPr>
        <p:spPr>
          <a:xfrm>
            <a:off x="5425868" y="1447800"/>
            <a:ext cx="1228221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Introductorio </a:t>
            </a:r>
          </a:p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(Tema 0)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8AAAB94-0302-E228-F2D2-0E13026C87D7}"/>
              </a:ext>
            </a:extLst>
          </p:cNvPr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485585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 del procesador MONOCICLO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del procesador monociclo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Elección del juego de instrucciones a ejecutar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Subconjunto del juego de instrucciones del RISC-V</a:t>
            </a:r>
          </a:p>
          <a:p>
            <a:pPr lvl="3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Carga/almacenamiento: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endParaRPr lang="es-ES_tradnl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Aritméticas y comparación: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sub, and,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400" dirty="0">
                <a:latin typeface="Arial" panose="020B0604020202020204" pitchFamily="34" charset="0"/>
                <a:cs typeface="Arial" panose="020B0604020202020204" pitchFamily="34" charset="0"/>
              </a:rPr>
              <a:t>(y variantes con un operando </a:t>
            </a:r>
            <a:r>
              <a:rPr lang="es-ES_tradnl" sz="1400" dirty="0" err="1">
                <a:latin typeface="Arial" panose="020B0604020202020204" pitchFamily="34" charset="0"/>
                <a:cs typeface="Arial" panose="020B0604020202020204" pitchFamily="34" charset="0"/>
              </a:rPr>
              <a:t>inmediado</a:t>
            </a:r>
            <a:r>
              <a:rPr lang="es-ES_tradnl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3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Salto: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endParaRPr lang="es-ES_tradnl" sz="1400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Ciclo único de reloj  → </a:t>
            </a:r>
            <a:r>
              <a:rPr lang="es-ES_tradnl" i="1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Monociclo</a:t>
            </a:r>
            <a:endParaRPr lang="es-ES_tradnl" sz="1800" i="1" noProof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Combinación de elementos lógicos sencillos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Circuitos: puertas, descodificadores, multiplexores,  ALU,…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Circuitos secuenciales: biestables, registros, banco de registros, memoria,…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_tradnl" sz="18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prestaciones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 dependen del número de instrucciones que ejecuta por unidad de tiempo y de la duración del ciclo de reloj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Objetivo inicial: Ejecutar una instrucción por ciclo y reducir el ciclo de reloj</a:t>
            </a:r>
          </a:p>
          <a:p>
            <a:pPr lvl="2">
              <a:buNone/>
            </a:pPr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39</a:t>
            </a:fld>
            <a:endParaRPr lang="es-ES_tradnl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El procesador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Etapas en el diseño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Diseñar la ruta de datos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Seleccionar los elementos necesarios para la ejecución de las instrucciones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Interconectar los elementos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Diseñar la unidad de control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Identificar las señales de control necesarias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Diseñar la lógica asociada a cada señal</a:t>
            </a:r>
          </a:p>
          <a:p>
            <a:pPr lvl="2">
              <a:buNone/>
            </a:pPr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40</a:t>
            </a:fld>
            <a:endParaRPr lang="es-ES_tradnl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2227262"/>
          </a:xfrm>
        </p:spPr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Combinación de elementos combinacionales, secuenciales y su interconexión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Permite el flujo de la información que debe transformarse como consecuencia de la ejecución de una instrucción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41</a:t>
            </a:fld>
            <a:endParaRPr lang="es-ES_tradnl" noProof="0" dirty="0"/>
          </a:p>
        </p:txBody>
      </p:sp>
      <p:grpSp>
        <p:nvGrpSpPr>
          <p:cNvPr id="6" name="Agrupar 5"/>
          <p:cNvGrpSpPr/>
          <p:nvPr/>
        </p:nvGrpSpPr>
        <p:grpSpPr>
          <a:xfrm>
            <a:off x="5029200" y="3352800"/>
            <a:ext cx="2939732" cy="2725540"/>
            <a:chOff x="5334000" y="2667000"/>
            <a:chExt cx="2939732" cy="2725540"/>
          </a:xfrm>
        </p:grpSpPr>
        <p:sp>
          <p:nvSpPr>
            <p:cNvPr id="7" name="Freeform 7"/>
            <p:cNvSpPr>
              <a:spLocks/>
            </p:cNvSpPr>
            <p:nvPr/>
          </p:nvSpPr>
          <p:spPr bwMode="auto">
            <a:xfrm rot="16200000">
              <a:off x="6248400" y="2667000"/>
              <a:ext cx="457200" cy="1371600"/>
            </a:xfrm>
            <a:custGeom>
              <a:avLst/>
              <a:gdLst>
                <a:gd name="T0" fmla="*/ 0 w 528"/>
                <a:gd name="T1" fmla="*/ 2147483647 h 960"/>
                <a:gd name="T2" fmla="*/ 0 w 528"/>
                <a:gd name="T3" fmla="*/ 2147483647 h 960"/>
                <a:gd name="T4" fmla="*/ 2147483647 w 528"/>
                <a:gd name="T5" fmla="*/ 2147483647 h 960"/>
                <a:gd name="T6" fmla="*/ 2147483647 w 528"/>
                <a:gd name="T7" fmla="*/ 2147483647 h 960"/>
                <a:gd name="T8" fmla="*/ 0 w 528"/>
                <a:gd name="T9" fmla="*/ 0 h 960"/>
                <a:gd name="T10" fmla="*/ 0 w 528"/>
                <a:gd name="T11" fmla="*/ 2147483647 h 960"/>
                <a:gd name="T12" fmla="*/ 2147483647 w 528"/>
                <a:gd name="T13" fmla="*/ 2147483647 h 960"/>
                <a:gd name="T14" fmla="*/ 0 w 528"/>
                <a:gd name="T15" fmla="*/ 2147483647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9200" prstMaterial="legacyMatte">
              <a:bevelT w="13500" h="13500" prst="angle"/>
              <a:bevelB w="13500" h="13500" prst="angle"/>
              <a:extrusionClr>
                <a:srgbClr val="DDDDDD"/>
              </a:extrusionClr>
            </a:sp3d>
          </p:spPr>
          <p:txBody>
            <a:bodyPr wrap="none" anchor="ctr">
              <a:prstTxWarp prst="textNoShape">
                <a:avLst/>
              </a:prstTxWarp>
              <a:flatTx/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8" name="Rectangle 126"/>
            <p:cNvSpPr>
              <a:spLocks noChangeArrowheads="1"/>
            </p:cNvSpPr>
            <p:nvPr/>
          </p:nvSpPr>
          <p:spPr bwMode="auto">
            <a:xfrm>
              <a:off x="5791200" y="4114800"/>
              <a:ext cx="609600" cy="914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9" name="Line 127"/>
            <p:cNvSpPr>
              <a:spLocks noChangeShapeType="1"/>
            </p:cNvSpPr>
            <p:nvPr/>
          </p:nvSpPr>
          <p:spPr bwMode="auto">
            <a:xfrm flipV="1">
              <a:off x="6477000" y="2667000"/>
              <a:ext cx="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0" name="Line 128"/>
            <p:cNvSpPr>
              <a:spLocks noChangeShapeType="1"/>
            </p:cNvSpPr>
            <p:nvPr/>
          </p:nvSpPr>
          <p:spPr bwMode="auto">
            <a:xfrm flipH="1">
              <a:off x="5334000" y="2667000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1" name="Line 129"/>
            <p:cNvSpPr>
              <a:spLocks noChangeShapeType="1"/>
            </p:cNvSpPr>
            <p:nvPr/>
          </p:nvSpPr>
          <p:spPr bwMode="auto">
            <a:xfrm>
              <a:off x="5334000" y="2667000"/>
              <a:ext cx="0" cy="2590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2" name="Line 130"/>
            <p:cNvSpPr>
              <a:spLocks noChangeShapeType="1"/>
            </p:cNvSpPr>
            <p:nvPr/>
          </p:nvSpPr>
          <p:spPr bwMode="auto">
            <a:xfrm>
              <a:off x="5334000" y="52578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3" name="Line 131"/>
            <p:cNvSpPr>
              <a:spLocks noChangeShapeType="1"/>
            </p:cNvSpPr>
            <p:nvPr/>
          </p:nvSpPr>
          <p:spPr bwMode="auto">
            <a:xfrm flipV="1">
              <a:off x="6096000" y="5029200"/>
              <a:ext cx="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4" name="AutoShape 133"/>
            <p:cNvSpPr>
              <a:spLocks noChangeArrowheads="1"/>
            </p:cNvSpPr>
            <p:nvPr/>
          </p:nvSpPr>
          <p:spPr bwMode="auto">
            <a:xfrm>
              <a:off x="6553200" y="3733800"/>
              <a:ext cx="609600" cy="1524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5" name="Line 134"/>
            <p:cNvSpPr>
              <a:spLocks noChangeShapeType="1"/>
            </p:cNvSpPr>
            <p:nvPr/>
          </p:nvSpPr>
          <p:spPr bwMode="auto">
            <a:xfrm flipV="1">
              <a:off x="6096000" y="3581400"/>
              <a:ext cx="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6" name="Line 135"/>
            <p:cNvSpPr>
              <a:spLocks noChangeShapeType="1"/>
            </p:cNvSpPr>
            <p:nvPr/>
          </p:nvSpPr>
          <p:spPr bwMode="auto">
            <a:xfrm flipV="1">
              <a:off x="6858000" y="3581400"/>
              <a:ext cx="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7" name="Line 137"/>
            <p:cNvSpPr>
              <a:spLocks noChangeShapeType="1"/>
            </p:cNvSpPr>
            <p:nvPr/>
          </p:nvSpPr>
          <p:spPr bwMode="auto">
            <a:xfrm>
              <a:off x="6096000" y="40386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8" name="Line 138"/>
            <p:cNvSpPr>
              <a:spLocks noChangeShapeType="1"/>
            </p:cNvSpPr>
            <p:nvPr/>
          </p:nvSpPr>
          <p:spPr bwMode="auto">
            <a:xfrm flipV="1">
              <a:off x="6781800" y="3886200"/>
              <a:ext cx="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9" name="Line 139"/>
            <p:cNvSpPr>
              <a:spLocks noChangeShapeType="1"/>
            </p:cNvSpPr>
            <p:nvPr/>
          </p:nvSpPr>
          <p:spPr bwMode="auto">
            <a:xfrm flipV="1">
              <a:off x="7010400" y="3886200"/>
              <a:ext cx="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0" name="Line 140"/>
            <p:cNvSpPr>
              <a:spLocks noChangeShapeType="1"/>
            </p:cNvSpPr>
            <p:nvPr/>
          </p:nvSpPr>
          <p:spPr bwMode="auto">
            <a:xfrm>
              <a:off x="5791200" y="44958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1" name="Line 141"/>
            <p:cNvSpPr>
              <a:spLocks noChangeShapeType="1"/>
            </p:cNvSpPr>
            <p:nvPr/>
          </p:nvSpPr>
          <p:spPr bwMode="auto">
            <a:xfrm>
              <a:off x="5791200" y="46482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2" name="Line 142"/>
            <p:cNvSpPr>
              <a:spLocks noChangeShapeType="1"/>
            </p:cNvSpPr>
            <p:nvPr/>
          </p:nvSpPr>
          <p:spPr bwMode="auto">
            <a:xfrm>
              <a:off x="5791200" y="4800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3" name="Line 143"/>
            <p:cNvSpPr>
              <a:spLocks noChangeShapeType="1"/>
            </p:cNvSpPr>
            <p:nvPr/>
          </p:nvSpPr>
          <p:spPr bwMode="auto">
            <a:xfrm>
              <a:off x="5791200" y="43434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4" name="Text Box 145"/>
            <p:cNvSpPr txBox="1">
              <a:spLocks noChangeArrowheads="1"/>
            </p:cNvSpPr>
            <p:nvPr/>
          </p:nvSpPr>
          <p:spPr bwMode="auto">
            <a:xfrm>
              <a:off x="6215949" y="3116263"/>
              <a:ext cx="60465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0" dirty="0">
                  <a:cs typeface="Arial" panose="020B0604020202020204" pitchFamily="34" charset="0"/>
                </a:rPr>
                <a:t>ALU</a:t>
              </a:r>
            </a:p>
          </p:txBody>
        </p:sp>
        <p:sp>
          <p:nvSpPr>
            <p:cNvPr id="25" name="Text Box 146"/>
            <p:cNvSpPr txBox="1">
              <a:spLocks noChangeArrowheads="1"/>
            </p:cNvSpPr>
            <p:nvPr/>
          </p:nvSpPr>
          <p:spPr bwMode="auto">
            <a:xfrm>
              <a:off x="6107984" y="5084763"/>
              <a:ext cx="142859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0" dirty="0">
                  <a:cs typeface="Arial" panose="020B0604020202020204" pitchFamily="34" charset="0"/>
                </a:rPr>
                <a:t>Banco registros</a:t>
              </a:r>
            </a:p>
          </p:txBody>
        </p:sp>
        <p:sp>
          <p:nvSpPr>
            <p:cNvPr id="26" name="Text Box 147"/>
            <p:cNvSpPr txBox="1">
              <a:spLocks noChangeArrowheads="1"/>
            </p:cNvSpPr>
            <p:nvPr/>
          </p:nvSpPr>
          <p:spPr bwMode="auto">
            <a:xfrm>
              <a:off x="7223443" y="3636963"/>
              <a:ext cx="105028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0" dirty="0">
                  <a:cs typeface="Arial" panose="020B0604020202020204" pitchFamily="34" charset="0"/>
                </a:rPr>
                <a:t>multiplexor</a:t>
              </a:r>
            </a:p>
          </p:txBody>
        </p:sp>
        <p:sp>
          <p:nvSpPr>
            <p:cNvPr id="27" name="Text Box 148"/>
            <p:cNvSpPr txBox="1">
              <a:spLocks noChangeArrowheads="1"/>
            </p:cNvSpPr>
            <p:nvPr/>
          </p:nvSpPr>
          <p:spPr bwMode="auto">
            <a:xfrm>
              <a:off x="6966610" y="4435475"/>
              <a:ext cx="979756" cy="566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0" dirty="0">
                  <a:cs typeface="Arial" panose="020B0604020202020204" pitchFamily="34" charset="0"/>
                </a:rPr>
                <a:t>Operando</a:t>
              </a:r>
            </a:p>
            <a:p>
              <a:r>
                <a:rPr lang="es-ES_tradnl" sz="1400" noProof="0" dirty="0">
                  <a:cs typeface="Arial" panose="020B0604020202020204" pitchFamily="34" charset="0"/>
                </a:rPr>
                <a:t>inmediato</a:t>
              </a:r>
            </a:p>
          </p:txBody>
        </p:sp>
      </p:grpSp>
      <p:sp>
        <p:nvSpPr>
          <p:cNvPr id="28" name="CuadroTexto 27"/>
          <p:cNvSpPr txBox="1"/>
          <p:nvPr/>
        </p:nvSpPr>
        <p:spPr>
          <a:xfrm>
            <a:off x="5022942" y="6172200"/>
            <a:ext cx="2749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Ejemplo de ruta de datos simple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Sincronización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1" y="1125538"/>
            <a:ext cx="8610600" cy="5256212"/>
          </a:xfrm>
        </p:spPr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Sincronización: cuándo pueden leerse y escribirse la información en los elementos de almacenamiento del procesador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Cuándo y cómo deben activarse las señales de control responsables de estas acciones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Asumimos sincronización </a:t>
            </a:r>
            <a:r>
              <a:rPr lang="es-ES_tradnl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por flanco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Cualquier valor almacenado se actualiza únicamente en un flanco de reloj</a:t>
            </a:r>
          </a:p>
          <a:p>
            <a:r>
              <a:rPr lang="es-ES_tradnl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Ciclo de reloj 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define el tiempo de propagación necesario entre dos elementos</a:t>
            </a:r>
          </a:p>
          <a:p>
            <a:pPr lvl="1">
              <a:buNone/>
            </a:pPr>
            <a:endParaRPr lang="es-ES_tradnl" noProof="0" dirty="0"/>
          </a:p>
          <a:p>
            <a:pPr lvl="1"/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sz="900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42</a:t>
            </a:fld>
            <a:endParaRPr lang="es-ES_tradnl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Line 51"/>
          <p:cNvSpPr>
            <a:spLocks noChangeShapeType="1"/>
          </p:cNvSpPr>
          <p:nvPr/>
        </p:nvSpPr>
        <p:spPr bwMode="auto">
          <a:xfrm>
            <a:off x="6629400" y="5029200"/>
            <a:ext cx="62388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8" name="Oval 44"/>
          <p:cNvSpPr>
            <a:spLocks noChangeArrowheads="1"/>
          </p:cNvSpPr>
          <p:nvPr/>
        </p:nvSpPr>
        <p:spPr bwMode="blackWhite">
          <a:xfrm>
            <a:off x="2895600" y="4572000"/>
            <a:ext cx="2146300" cy="876300"/>
          </a:xfrm>
          <a:prstGeom prst="ellipse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>
            <a:outerShdw blurRad="63500" dist="107763" dir="13500000" sx="75000" sy="75000" algn="tl" rotWithShape="0">
              <a:schemeClr val="bg2">
                <a:alpha val="50000"/>
              </a:scheme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s-ES_tradnl" sz="1400" b="1" i="1" noProof="0" dirty="0">
                <a:cs typeface="Arial" panose="020B0604020202020204" pitchFamily="34" charset="0"/>
              </a:rPr>
              <a:t>Circuito</a:t>
            </a:r>
          </a:p>
          <a:p>
            <a:pPr algn="ctr" eaLnBrk="0" hangingPunct="0">
              <a:defRPr/>
            </a:pPr>
            <a:r>
              <a:rPr lang="es-ES_tradnl" sz="1400" b="1" i="1" noProof="0" dirty="0">
                <a:cs typeface="Arial" panose="020B0604020202020204" pitchFamily="34" charset="0"/>
              </a:rPr>
              <a:t>combinacional</a:t>
            </a:r>
            <a:endParaRPr lang="es-ES_tradnl" sz="1400" noProof="0" dirty="0">
              <a:cs typeface="Arial" panose="020B0604020202020204" pitchFamily="34" charset="0"/>
            </a:endParaRPr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blackWhite">
          <a:xfrm>
            <a:off x="5672138" y="4724400"/>
            <a:ext cx="1241425" cy="10001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blurRad="63500" dist="107763" dir="13500000" sx="75000" sy="75000" algn="tl" rotWithShape="0">
              <a:schemeClr val="bg2">
                <a:alpha val="50000"/>
              </a:scheme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s-ES_tradnl" sz="1400" b="1" i="1" noProof="0" dirty="0">
                <a:cs typeface="Arial" panose="020B0604020202020204" pitchFamily="34" charset="0"/>
              </a:rPr>
              <a:t>Elemento </a:t>
            </a:r>
          </a:p>
          <a:p>
            <a:pPr algn="ctr" eaLnBrk="0" hangingPunct="0">
              <a:defRPr/>
            </a:pPr>
            <a:r>
              <a:rPr lang="es-ES_tradnl" sz="1400" b="1" i="1" noProof="0" dirty="0">
                <a:cs typeface="Arial" panose="020B0604020202020204" pitchFamily="34" charset="0"/>
              </a:rPr>
              <a:t> 2</a:t>
            </a:r>
            <a:endParaRPr lang="es-ES_tradnl" sz="1400" noProof="0" dirty="0">
              <a:cs typeface="Arial" panose="020B0604020202020204" pitchFamily="34" charset="0"/>
            </a:endParaRPr>
          </a:p>
        </p:txBody>
      </p:sp>
      <p:sp>
        <p:nvSpPr>
          <p:cNvPr id="10" name="Line 46"/>
          <p:cNvSpPr>
            <a:spLocks noChangeShapeType="1"/>
          </p:cNvSpPr>
          <p:nvPr/>
        </p:nvSpPr>
        <p:spPr bwMode="auto">
          <a:xfrm>
            <a:off x="2438400" y="5029200"/>
            <a:ext cx="4079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038725" y="5013325"/>
            <a:ext cx="6238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12" name="Text Box 54"/>
          <p:cNvSpPr txBox="1">
            <a:spLocks noChangeArrowheads="1"/>
          </p:cNvSpPr>
          <p:nvPr/>
        </p:nvSpPr>
        <p:spPr bwMode="auto">
          <a:xfrm>
            <a:off x="7162800" y="4648200"/>
            <a:ext cx="152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i="1" noProof="0" dirty="0">
                <a:cs typeface="Arial" panose="020B0604020202020204" pitchFamily="34" charset="0"/>
              </a:rPr>
              <a:t>Resultado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i="1" noProof="0" dirty="0">
                <a:cs typeface="Arial" panose="020B0604020202020204" pitchFamily="34" charset="0"/>
              </a:rPr>
              <a:t>disponible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i="1" noProof="0" dirty="0">
                <a:cs typeface="Arial" panose="020B0604020202020204" pitchFamily="34" charset="0"/>
              </a:rPr>
              <a:t>tras flanco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572000" y="6288088"/>
            <a:ext cx="2711450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-103" charset="2"/>
              <a:buNone/>
            </a:pPr>
            <a:r>
              <a:rPr lang="es-ES_tradnl" sz="1400" b="1" noProof="0" dirty="0">
                <a:cs typeface="Arial" panose="020B0604020202020204" pitchFamily="34" charset="0"/>
              </a:rPr>
              <a:t>Ciclo de reloj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438400" y="6553200"/>
            <a:ext cx="41608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 flipH="1">
            <a:off x="1746250" y="6099175"/>
            <a:ext cx="5434013" cy="341313"/>
          </a:xfrm>
          <a:custGeom>
            <a:avLst/>
            <a:gdLst>
              <a:gd name="T0" fmla="*/ 0 w 3888"/>
              <a:gd name="T1" fmla="*/ 341313 h 528"/>
              <a:gd name="T2" fmla="*/ 603779 w 3888"/>
              <a:gd name="T3" fmla="*/ 341313 h 528"/>
              <a:gd name="T4" fmla="*/ 603779 w 3888"/>
              <a:gd name="T5" fmla="*/ 0 h 528"/>
              <a:gd name="T6" fmla="*/ 2750550 w 3888"/>
              <a:gd name="T7" fmla="*/ 0 h 528"/>
              <a:gd name="T8" fmla="*/ 2750550 w 3888"/>
              <a:gd name="T9" fmla="*/ 341313 h 528"/>
              <a:gd name="T10" fmla="*/ 4763147 w 3888"/>
              <a:gd name="T11" fmla="*/ 341313 h 528"/>
              <a:gd name="T12" fmla="*/ 4763147 w 3888"/>
              <a:gd name="T13" fmla="*/ 0 h 528"/>
              <a:gd name="T14" fmla="*/ 5434013 w 3888"/>
              <a:gd name="T15" fmla="*/ 0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88"/>
              <a:gd name="T25" fmla="*/ 0 h 528"/>
              <a:gd name="T26" fmla="*/ 3888 w 3888"/>
              <a:gd name="T27" fmla="*/ 528 h 52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88" h="528">
                <a:moveTo>
                  <a:pt x="0" y="528"/>
                </a:moveTo>
                <a:lnTo>
                  <a:pt x="432" y="528"/>
                </a:lnTo>
                <a:lnTo>
                  <a:pt x="432" y="0"/>
                </a:lnTo>
                <a:lnTo>
                  <a:pt x="1968" y="0"/>
                </a:lnTo>
                <a:lnTo>
                  <a:pt x="1968" y="528"/>
                </a:lnTo>
                <a:lnTo>
                  <a:pt x="3408" y="528"/>
                </a:lnTo>
                <a:lnTo>
                  <a:pt x="3408" y="0"/>
                </a:lnTo>
                <a:lnTo>
                  <a:pt x="3888" y="0"/>
                </a:lnTo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sz="1800" noProof="0" dirty="0">
              <a:cs typeface="Arial" panose="020B0604020202020204" pitchFamily="34" charset="0"/>
            </a:endParaRPr>
          </a:p>
        </p:txBody>
      </p:sp>
      <p:sp>
        <p:nvSpPr>
          <p:cNvPr id="16" name="Text Box 50"/>
          <p:cNvSpPr txBox="1">
            <a:spLocks noChangeArrowheads="1"/>
          </p:cNvSpPr>
          <p:nvPr/>
        </p:nvSpPr>
        <p:spPr bwMode="auto">
          <a:xfrm>
            <a:off x="1066800" y="6097588"/>
            <a:ext cx="1082675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_tradnl" sz="1400" b="1" noProof="0" dirty="0">
                <a:cs typeface="Arial" panose="020B0604020202020204" pitchFamily="34" charset="0"/>
              </a:rPr>
              <a:t>Reloj</a:t>
            </a: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blackWhite">
          <a:xfrm>
            <a:off x="990600" y="4800599"/>
            <a:ext cx="1447800" cy="9239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blurRad="63500" dist="107763" dir="13500000" sx="75000" sy="75000" algn="tl" rotWithShape="0">
              <a:schemeClr val="bg2">
                <a:alpha val="50000"/>
              </a:scheme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s-ES_tradnl" sz="1400" b="1" i="1" noProof="0" dirty="0">
                <a:cs typeface="Arial" panose="020B0604020202020204" pitchFamily="34" charset="0"/>
              </a:rPr>
              <a:t>Elemento </a:t>
            </a:r>
          </a:p>
          <a:p>
            <a:pPr algn="ctr" eaLnBrk="0" hangingPunct="0">
              <a:defRPr/>
            </a:pPr>
            <a:r>
              <a:rPr lang="es-ES_tradnl" sz="1400" b="1" i="1" noProof="0" dirty="0"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Sincronización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1" y="1049338"/>
            <a:ext cx="8610600" cy="1008062"/>
          </a:xfrm>
        </p:spPr>
        <p:txBody>
          <a:bodyPr/>
          <a:lstStyle/>
          <a:p>
            <a:r>
              <a:rPr lang="es-ES_tradnl" noProof="0" dirty="0"/>
              <a:t>Un elemento puede ser leído y escrito en el mismo ciclo de reloj</a:t>
            </a:r>
          </a:p>
          <a:p>
            <a:endParaRPr lang="es-ES_tradnl" noProof="0" dirty="0"/>
          </a:p>
          <a:p>
            <a:endParaRPr lang="es-ES_tradnl" noProof="0" dirty="0"/>
          </a:p>
          <a:p>
            <a:endParaRPr lang="es-ES_tradnl" noProof="0" dirty="0"/>
          </a:p>
          <a:p>
            <a:endParaRPr lang="es-ES_tradnl" noProof="0" dirty="0"/>
          </a:p>
          <a:p>
            <a:r>
              <a:rPr lang="es-ES_tradnl" noProof="0" dirty="0"/>
              <a:t>Ejemplo de funcionamiento</a:t>
            </a:r>
          </a:p>
          <a:p>
            <a:pPr lvl="1">
              <a:buNone/>
            </a:pPr>
            <a:endParaRPr lang="es-ES_tradnl" noProof="0" dirty="0"/>
          </a:p>
          <a:p>
            <a:pPr lvl="1"/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43</a:t>
            </a:fld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Agrupar 53"/>
          <p:cNvGrpSpPr/>
          <p:nvPr/>
        </p:nvGrpSpPr>
        <p:grpSpPr>
          <a:xfrm>
            <a:off x="2590800" y="1971675"/>
            <a:ext cx="4876800" cy="1152525"/>
            <a:chOff x="2438400" y="2428875"/>
            <a:chExt cx="4876800" cy="1152525"/>
          </a:xfrm>
        </p:grpSpPr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438400" y="2895600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2438400" y="2895600"/>
              <a:ext cx="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2438400" y="3581400"/>
              <a:ext cx="487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7315200" y="28194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 flipH="1">
              <a:off x="6858000" y="2819400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4114800" y="2895600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3" name="Oval 44"/>
            <p:cNvSpPr>
              <a:spLocks noChangeArrowheads="1"/>
            </p:cNvSpPr>
            <p:nvPr/>
          </p:nvSpPr>
          <p:spPr bwMode="blackWhite">
            <a:xfrm>
              <a:off x="4724400" y="2438400"/>
              <a:ext cx="2146300" cy="876300"/>
            </a:xfrm>
            <a:prstGeom prst="ellipse">
              <a:avLst/>
            </a:prstGeom>
            <a:solidFill>
              <a:srgbClr val="FFC000"/>
            </a:solidFill>
            <a:ln w="9525">
              <a:noFill/>
              <a:round/>
              <a:headEnd/>
              <a:tailEnd/>
            </a:ln>
            <a:effectLst>
              <a:outerShdw blurRad="63500" dist="107763" dir="13500000" sx="75000" sy="75000" algn="tl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s-ES_tradnl" sz="1600" b="1" i="1" noProof="0" dirty="0">
                  <a:cs typeface="Arial" panose="020B0604020202020204" pitchFamily="34" charset="0"/>
                </a:rPr>
                <a:t>Circuito</a:t>
              </a:r>
            </a:p>
            <a:p>
              <a:pPr algn="ctr" eaLnBrk="0" hangingPunct="0">
                <a:defRPr/>
              </a:pPr>
              <a:r>
                <a:rPr lang="es-ES_tradnl" sz="1600" b="1" i="1" noProof="0" dirty="0">
                  <a:cs typeface="Arial" panose="020B0604020202020204" pitchFamily="34" charset="0"/>
                </a:rPr>
                <a:t>combinacional</a:t>
              </a:r>
              <a:endParaRPr lang="es-ES_tradnl" sz="1600" noProof="0" dirty="0">
                <a:cs typeface="Arial" panose="020B0604020202020204" pitchFamily="34" charset="0"/>
              </a:endParaRPr>
            </a:p>
          </p:txBody>
        </p:sp>
        <p:sp>
          <p:nvSpPr>
            <p:cNvPr id="24" name="Text Box 43"/>
            <p:cNvSpPr txBox="1">
              <a:spLocks noChangeArrowheads="1"/>
            </p:cNvSpPr>
            <p:nvPr/>
          </p:nvSpPr>
          <p:spPr bwMode="blackWhite">
            <a:xfrm>
              <a:off x="2895600" y="2428875"/>
              <a:ext cx="1222375" cy="923925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>
              <a:outerShdw blurRad="63500" dist="107763" dir="13500000" sx="75000" sy="75000" algn="tl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>
                <a:defRPr/>
              </a:pPr>
              <a:r>
                <a:rPr lang="es-ES_tradnl" sz="1600" b="1" i="1" noProof="0" dirty="0">
                  <a:cs typeface="Arial" panose="020B0604020202020204" pitchFamily="34" charset="0"/>
                </a:rPr>
                <a:t>Elemento </a:t>
              </a:r>
            </a:p>
            <a:p>
              <a:pPr algn="ctr" eaLnBrk="0" hangingPunct="0">
                <a:defRPr/>
              </a:pPr>
              <a:r>
                <a:rPr lang="es-ES_tradnl" sz="1600" b="1" i="1" noProof="0" dirty="0">
                  <a:cs typeface="Arial" panose="020B0604020202020204" pitchFamily="34" charset="0"/>
                </a:rPr>
                <a:t>de estado</a:t>
              </a:r>
              <a:endParaRPr lang="es-ES_tradnl" sz="1600" noProof="0" dirty="0">
                <a:cs typeface="Arial" panose="020B0604020202020204" pitchFamily="34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27D56018-73D2-4D66-AAFE-D028635E5573}"/>
              </a:ext>
            </a:extLst>
          </p:cNvPr>
          <p:cNvGrpSpPr/>
          <p:nvPr/>
        </p:nvGrpSpPr>
        <p:grpSpPr>
          <a:xfrm>
            <a:off x="1619672" y="3824034"/>
            <a:ext cx="6999310" cy="2766814"/>
            <a:chOff x="1763690" y="3810000"/>
            <a:chExt cx="6999310" cy="2766814"/>
          </a:xfrm>
        </p:grpSpPr>
        <p:sp>
          <p:nvSpPr>
            <p:cNvPr id="25" name="Text Box 532"/>
            <p:cNvSpPr txBox="1">
              <a:spLocks noChangeArrowheads="1"/>
            </p:cNvSpPr>
            <p:nvPr/>
          </p:nvSpPr>
          <p:spPr bwMode="auto">
            <a:xfrm>
              <a:off x="2124075" y="5064125"/>
              <a:ext cx="96361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s-ES_tradnl" sz="1400" b="1" noProof="0" dirty="0">
                  <a:cs typeface="Arial" panose="020B0604020202020204" pitchFamily="34" charset="0"/>
                </a:rPr>
                <a:t>Reloj</a:t>
              </a:r>
            </a:p>
          </p:txBody>
        </p:sp>
        <p:sp>
          <p:nvSpPr>
            <p:cNvPr id="26" name="Text Box 522"/>
            <p:cNvSpPr txBox="1">
              <a:spLocks noChangeArrowheads="1"/>
            </p:cNvSpPr>
            <p:nvPr/>
          </p:nvSpPr>
          <p:spPr bwMode="auto">
            <a:xfrm>
              <a:off x="2190750" y="4635500"/>
              <a:ext cx="1135063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s-ES_tradnl" sz="1400" b="1" noProof="0" dirty="0">
                  <a:cs typeface="Arial" panose="020B0604020202020204" pitchFamily="34" charset="0"/>
                </a:rPr>
                <a:t>Escritura</a:t>
              </a:r>
              <a:endParaRPr lang="es-ES_tradnl" sz="1400" b="1" baseline="-25000" noProof="0" dirty="0">
                <a:cs typeface="Arial" panose="020B0604020202020204" pitchFamily="34" charset="0"/>
              </a:endParaRPr>
            </a:p>
          </p:txBody>
        </p:sp>
        <p:sp>
          <p:nvSpPr>
            <p:cNvPr id="27" name="Freeform 523"/>
            <p:cNvSpPr>
              <a:spLocks/>
            </p:cNvSpPr>
            <p:nvPr/>
          </p:nvSpPr>
          <p:spPr bwMode="auto">
            <a:xfrm>
              <a:off x="2979738" y="5049837"/>
              <a:ext cx="1414462" cy="0"/>
            </a:xfrm>
            <a:custGeom>
              <a:avLst/>
              <a:gdLst>
                <a:gd name="T0" fmla="*/ 0 w 1136"/>
                <a:gd name="T1" fmla="*/ 0 h 1"/>
                <a:gd name="T2" fmla="*/ 1414462 w 1136"/>
                <a:gd name="T3" fmla="*/ 0 h 1"/>
                <a:gd name="T4" fmla="*/ 0 60000 65536"/>
                <a:gd name="T5" fmla="*/ 0 60000 65536"/>
                <a:gd name="T6" fmla="*/ 0 w 1136"/>
                <a:gd name="T7" fmla="*/ 0 h 1"/>
                <a:gd name="T8" fmla="*/ 1136 w 1136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36" h="1">
                  <a:moveTo>
                    <a:pt x="0" y="0"/>
                  </a:moveTo>
                  <a:lnTo>
                    <a:pt x="113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8" name="Freeform 529"/>
            <p:cNvSpPr>
              <a:spLocks/>
            </p:cNvSpPr>
            <p:nvPr/>
          </p:nvSpPr>
          <p:spPr bwMode="auto">
            <a:xfrm>
              <a:off x="1763690" y="5513387"/>
              <a:ext cx="1304948" cy="298450"/>
            </a:xfrm>
            <a:custGeom>
              <a:avLst/>
              <a:gdLst>
                <a:gd name="T0" fmla="*/ 0 w 1996"/>
                <a:gd name="T1" fmla="*/ 298450 h 297"/>
                <a:gd name="T2" fmla="*/ 16713 w 1996"/>
                <a:gd name="T3" fmla="*/ 298450 h 297"/>
                <a:gd name="T4" fmla="*/ 204078 w 1996"/>
                <a:gd name="T5" fmla="*/ 297445 h 297"/>
                <a:gd name="T6" fmla="*/ 204078 w 1996"/>
                <a:gd name="T7" fmla="*/ 8039 h 297"/>
                <a:gd name="T8" fmla="*/ 438944 w 1996"/>
                <a:gd name="T9" fmla="*/ 8039 h 297"/>
                <a:gd name="T10" fmla="*/ 438944 w 1996"/>
                <a:gd name="T11" fmla="*/ 283377 h 297"/>
                <a:gd name="T12" fmla="*/ 660175 w 1996"/>
                <a:gd name="T13" fmla="*/ 283377 h 297"/>
                <a:gd name="T14" fmla="*/ 660175 w 1996"/>
                <a:gd name="T15" fmla="*/ 0 h 297"/>
                <a:gd name="T16" fmla="*/ 877888 w 1996"/>
                <a:gd name="T17" fmla="*/ 8039 h 297"/>
                <a:gd name="T18" fmla="*/ 877888 w 1996"/>
                <a:gd name="T19" fmla="*/ 283377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96"/>
                <a:gd name="T31" fmla="*/ 0 h 297"/>
                <a:gd name="T32" fmla="*/ 1996 w 1996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96" h="297">
                  <a:moveTo>
                    <a:pt x="0" y="297"/>
                  </a:moveTo>
                  <a:lnTo>
                    <a:pt x="38" y="297"/>
                  </a:lnTo>
                  <a:lnTo>
                    <a:pt x="464" y="296"/>
                  </a:lnTo>
                  <a:lnTo>
                    <a:pt x="464" y="8"/>
                  </a:lnTo>
                  <a:lnTo>
                    <a:pt x="998" y="8"/>
                  </a:lnTo>
                  <a:lnTo>
                    <a:pt x="998" y="282"/>
                  </a:lnTo>
                  <a:lnTo>
                    <a:pt x="1501" y="282"/>
                  </a:lnTo>
                  <a:lnTo>
                    <a:pt x="1501" y="0"/>
                  </a:lnTo>
                  <a:lnTo>
                    <a:pt x="1996" y="8"/>
                  </a:lnTo>
                  <a:lnTo>
                    <a:pt x="1996" y="28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29" name="Line 530"/>
            <p:cNvSpPr>
              <a:spLocks noChangeShapeType="1"/>
            </p:cNvSpPr>
            <p:nvPr/>
          </p:nvSpPr>
          <p:spPr bwMode="auto">
            <a:xfrm rot="10800000" flipV="1">
              <a:off x="3070225" y="5522912"/>
              <a:ext cx="0" cy="2889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30" name="Text Box 533"/>
            <p:cNvSpPr txBox="1">
              <a:spLocks noChangeArrowheads="1"/>
            </p:cNvSpPr>
            <p:nvPr/>
          </p:nvSpPr>
          <p:spPr bwMode="auto">
            <a:xfrm>
              <a:off x="4943475" y="4635698"/>
              <a:ext cx="67310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0" dirty="0">
                  <a:cs typeface="Arial" panose="020B0604020202020204" pitchFamily="34" charset="0"/>
                  <a:sym typeface="Symbol" pitchFamily="-103" charset="2"/>
                </a:rPr>
                <a:t>1 </a:t>
              </a:r>
              <a:r>
                <a:rPr lang="es-ES_tradnl" sz="2000" b="1" noProof="0" dirty="0">
                  <a:cs typeface="Arial" panose="020B0604020202020204" pitchFamily="34" charset="0"/>
                </a:rPr>
                <a:t> </a:t>
              </a:r>
              <a:r>
                <a:rPr lang="es-ES_tradnl" sz="1400" b="1" noProof="0" dirty="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1" name="Text Box 534"/>
            <p:cNvSpPr txBox="1">
              <a:spLocks noChangeArrowheads="1"/>
            </p:cNvSpPr>
            <p:nvPr/>
          </p:nvSpPr>
          <p:spPr bwMode="auto">
            <a:xfrm>
              <a:off x="3489325" y="5070475"/>
              <a:ext cx="6731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0" dirty="0">
                  <a:cs typeface="Arial" panose="020B0604020202020204" pitchFamily="34" charset="0"/>
                  <a:sym typeface="Symbol" pitchFamily="-103" charset="2"/>
                </a:rPr>
                <a:t>1 </a:t>
              </a:r>
              <a:r>
                <a:rPr lang="es-ES_tradnl" sz="1400" b="1" noProof="0" dirty="0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2" name="Text Box 535"/>
            <p:cNvSpPr txBox="1">
              <a:spLocks noChangeArrowheads="1"/>
            </p:cNvSpPr>
            <p:nvPr/>
          </p:nvSpPr>
          <p:spPr bwMode="auto">
            <a:xfrm>
              <a:off x="3624263" y="4703762"/>
              <a:ext cx="4191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0" dirty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" name="Freeform 537"/>
            <p:cNvSpPr>
              <a:spLocks/>
            </p:cNvSpPr>
            <p:nvPr/>
          </p:nvSpPr>
          <p:spPr bwMode="blackWhite">
            <a:xfrm>
              <a:off x="4413250" y="4948237"/>
              <a:ext cx="665163" cy="484188"/>
            </a:xfrm>
            <a:custGeom>
              <a:avLst/>
              <a:gdLst>
                <a:gd name="T0" fmla="*/ 457338 w 1069"/>
                <a:gd name="T1" fmla="*/ 484188 h 758"/>
                <a:gd name="T2" fmla="*/ 0 w 1069"/>
                <a:gd name="T3" fmla="*/ 484188 h 758"/>
                <a:gd name="T4" fmla="*/ 0 w 1069"/>
                <a:gd name="T5" fmla="*/ 484188 h 758"/>
                <a:gd name="T6" fmla="*/ 0 w 1069"/>
                <a:gd name="T7" fmla="*/ 447778 h 758"/>
                <a:gd name="T8" fmla="*/ 622 w 1069"/>
                <a:gd name="T9" fmla="*/ 414562 h 758"/>
                <a:gd name="T10" fmla="*/ 622 w 1069"/>
                <a:gd name="T11" fmla="*/ 381985 h 758"/>
                <a:gd name="T12" fmla="*/ 622 w 1069"/>
                <a:gd name="T13" fmla="*/ 351963 h 758"/>
                <a:gd name="T14" fmla="*/ 622 w 1069"/>
                <a:gd name="T15" fmla="*/ 321940 h 758"/>
                <a:gd name="T16" fmla="*/ 622 w 1069"/>
                <a:gd name="T17" fmla="*/ 293834 h 758"/>
                <a:gd name="T18" fmla="*/ 622 w 1069"/>
                <a:gd name="T19" fmla="*/ 266367 h 758"/>
                <a:gd name="T20" fmla="*/ 1244 w 1069"/>
                <a:gd name="T21" fmla="*/ 238900 h 758"/>
                <a:gd name="T22" fmla="*/ 622 w 1069"/>
                <a:gd name="T23" fmla="*/ 211433 h 758"/>
                <a:gd name="T24" fmla="*/ 622 w 1069"/>
                <a:gd name="T25" fmla="*/ 184605 h 758"/>
                <a:gd name="T26" fmla="*/ 622 w 1069"/>
                <a:gd name="T27" fmla="*/ 157138 h 758"/>
                <a:gd name="T28" fmla="*/ 622 w 1069"/>
                <a:gd name="T29" fmla="*/ 127754 h 758"/>
                <a:gd name="T30" fmla="*/ 622 w 1069"/>
                <a:gd name="T31" fmla="*/ 99009 h 758"/>
                <a:gd name="T32" fmla="*/ 622 w 1069"/>
                <a:gd name="T33" fmla="*/ 67071 h 758"/>
                <a:gd name="T34" fmla="*/ 0 w 1069"/>
                <a:gd name="T35" fmla="*/ 34494 h 758"/>
                <a:gd name="T36" fmla="*/ 0 w 1069"/>
                <a:gd name="T37" fmla="*/ 0 h 758"/>
                <a:gd name="T38" fmla="*/ 457338 w 1069"/>
                <a:gd name="T39" fmla="*/ 0 h 758"/>
                <a:gd name="T40" fmla="*/ 457338 w 1069"/>
                <a:gd name="T41" fmla="*/ 0 h 758"/>
                <a:gd name="T42" fmla="*/ 483472 w 1069"/>
                <a:gd name="T43" fmla="*/ 639 h 758"/>
                <a:gd name="T44" fmla="*/ 507117 w 1069"/>
                <a:gd name="T45" fmla="*/ 5110 h 758"/>
                <a:gd name="T46" fmla="*/ 529517 w 1069"/>
                <a:gd name="T47" fmla="*/ 11498 h 758"/>
                <a:gd name="T48" fmla="*/ 550051 w 1069"/>
                <a:gd name="T49" fmla="*/ 19163 h 758"/>
                <a:gd name="T50" fmla="*/ 569340 w 1069"/>
                <a:gd name="T51" fmla="*/ 30022 h 758"/>
                <a:gd name="T52" fmla="*/ 586140 w 1069"/>
                <a:gd name="T53" fmla="*/ 42159 h 758"/>
                <a:gd name="T54" fmla="*/ 601073 w 1069"/>
                <a:gd name="T55" fmla="*/ 56212 h 758"/>
                <a:gd name="T56" fmla="*/ 614762 w 1069"/>
                <a:gd name="T57" fmla="*/ 72181 h 758"/>
                <a:gd name="T58" fmla="*/ 626585 w 1069"/>
                <a:gd name="T59" fmla="*/ 90067 h 758"/>
                <a:gd name="T60" fmla="*/ 637163 w 1069"/>
                <a:gd name="T61" fmla="*/ 108591 h 758"/>
                <a:gd name="T62" fmla="*/ 645874 w 1069"/>
                <a:gd name="T63" fmla="*/ 129032 h 758"/>
                <a:gd name="T64" fmla="*/ 652718 w 1069"/>
                <a:gd name="T65" fmla="*/ 150111 h 758"/>
                <a:gd name="T66" fmla="*/ 658318 w 1069"/>
                <a:gd name="T67" fmla="*/ 171190 h 758"/>
                <a:gd name="T68" fmla="*/ 662052 w 1069"/>
                <a:gd name="T69" fmla="*/ 194186 h 758"/>
                <a:gd name="T70" fmla="*/ 664541 w 1069"/>
                <a:gd name="T71" fmla="*/ 217821 h 758"/>
                <a:gd name="T72" fmla="*/ 665163 w 1069"/>
                <a:gd name="T73" fmla="*/ 241455 h 758"/>
                <a:gd name="T74" fmla="*/ 665163 w 1069"/>
                <a:gd name="T75" fmla="*/ 241455 h 758"/>
                <a:gd name="T76" fmla="*/ 664541 w 1069"/>
                <a:gd name="T77" fmla="*/ 265729 h 758"/>
                <a:gd name="T78" fmla="*/ 660807 w 1069"/>
                <a:gd name="T79" fmla="*/ 289363 h 758"/>
                <a:gd name="T80" fmla="*/ 655830 w 1069"/>
                <a:gd name="T81" fmla="*/ 312359 h 758"/>
                <a:gd name="T82" fmla="*/ 648985 w 1069"/>
                <a:gd name="T83" fmla="*/ 334077 h 758"/>
                <a:gd name="T84" fmla="*/ 639652 w 1069"/>
                <a:gd name="T85" fmla="*/ 354518 h 758"/>
                <a:gd name="T86" fmla="*/ 629074 w 1069"/>
                <a:gd name="T87" fmla="*/ 374958 h 758"/>
                <a:gd name="T88" fmla="*/ 616629 w 1069"/>
                <a:gd name="T89" fmla="*/ 393483 h 758"/>
                <a:gd name="T90" fmla="*/ 602940 w 1069"/>
                <a:gd name="T91" fmla="*/ 410729 h 758"/>
                <a:gd name="T92" fmla="*/ 587384 w 1069"/>
                <a:gd name="T93" fmla="*/ 426699 h 758"/>
                <a:gd name="T94" fmla="*/ 570584 w 1069"/>
                <a:gd name="T95" fmla="*/ 440752 h 758"/>
                <a:gd name="T96" fmla="*/ 553784 w 1069"/>
                <a:gd name="T97" fmla="*/ 454166 h 758"/>
                <a:gd name="T98" fmla="*/ 535739 w 1069"/>
                <a:gd name="T99" fmla="*/ 464386 h 758"/>
                <a:gd name="T100" fmla="*/ 516450 w 1069"/>
                <a:gd name="T101" fmla="*/ 472690 h 758"/>
                <a:gd name="T102" fmla="*/ 497783 w 1069"/>
                <a:gd name="T103" fmla="*/ 479078 h 758"/>
                <a:gd name="T104" fmla="*/ 477872 w 1069"/>
                <a:gd name="T105" fmla="*/ 482910 h 758"/>
                <a:gd name="T106" fmla="*/ 457338 w 1069"/>
                <a:gd name="T107" fmla="*/ 484188 h 7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069"/>
                <a:gd name="T163" fmla="*/ 0 h 758"/>
                <a:gd name="T164" fmla="*/ 1069 w 1069"/>
                <a:gd name="T165" fmla="*/ 758 h 75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069" h="758">
                  <a:moveTo>
                    <a:pt x="735" y="758"/>
                  </a:moveTo>
                  <a:lnTo>
                    <a:pt x="0" y="758"/>
                  </a:lnTo>
                  <a:lnTo>
                    <a:pt x="0" y="701"/>
                  </a:lnTo>
                  <a:lnTo>
                    <a:pt x="1" y="649"/>
                  </a:lnTo>
                  <a:lnTo>
                    <a:pt x="1" y="598"/>
                  </a:lnTo>
                  <a:lnTo>
                    <a:pt x="1" y="551"/>
                  </a:lnTo>
                  <a:lnTo>
                    <a:pt x="1" y="504"/>
                  </a:lnTo>
                  <a:lnTo>
                    <a:pt x="1" y="460"/>
                  </a:lnTo>
                  <a:lnTo>
                    <a:pt x="1" y="417"/>
                  </a:lnTo>
                  <a:lnTo>
                    <a:pt x="2" y="374"/>
                  </a:lnTo>
                  <a:lnTo>
                    <a:pt x="1" y="331"/>
                  </a:lnTo>
                  <a:lnTo>
                    <a:pt x="1" y="289"/>
                  </a:lnTo>
                  <a:lnTo>
                    <a:pt x="1" y="246"/>
                  </a:lnTo>
                  <a:lnTo>
                    <a:pt x="1" y="200"/>
                  </a:lnTo>
                  <a:lnTo>
                    <a:pt x="1" y="155"/>
                  </a:lnTo>
                  <a:lnTo>
                    <a:pt x="1" y="105"/>
                  </a:lnTo>
                  <a:lnTo>
                    <a:pt x="0" y="54"/>
                  </a:lnTo>
                  <a:lnTo>
                    <a:pt x="0" y="0"/>
                  </a:lnTo>
                  <a:lnTo>
                    <a:pt x="735" y="0"/>
                  </a:lnTo>
                  <a:lnTo>
                    <a:pt x="777" y="1"/>
                  </a:lnTo>
                  <a:lnTo>
                    <a:pt x="815" y="8"/>
                  </a:lnTo>
                  <a:lnTo>
                    <a:pt x="851" y="18"/>
                  </a:lnTo>
                  <a:lnTo>
                    <a:pt x="884" y="30"/>
                  </a:lnTo>
                  <a:lnTo>
                    <a:pt x="915" y="47"/>
                  </a:lnTo>
                  <a:lnTo>
                    <a:pt x="942" y="66"/>
                  </a:lnTo>
                  <a:lnTo>
                    <a:pt x="966" y="88"/>
                  </a:lnTo>
                  <a:lnTo>
                    <a:pt x="988" y="113"/>
                  </a:lnTo>
                  <a:lnTo>
                    <a:pt x="1007" y="141"/>
                  </a:lnTo>
                  <a:lnTo>
                    <a:pt x="1024" y="170"/>
                  </a:lnTo>
                  <a:lnTo>
                    <a:pt x="1038" y="202"/>
                  </a:lnTo>
                  <a:lnTo>
                    <a:pt x="1049" y="235"/>
                  </a:lnTo>
                  <a:lnTo>
                    <a:pt x="1058" y="268"/>
                  </a:lnTo>
                  <a:lnTo>
                    <a:pt x="1064" y="304"/>
                  </a:lnTo>
                  <a:lnTo>
                    <a:pt x="1068" y="341"/>
                  </a:lnTo>
                  <a:lnTo>
                    <a:pt x="1069" y="378"/>
                  </a:lnTo>
                  <a:lnTo>
                    <a:pt x="1068" y="416"/>
                  </a:lnTo>
                  <a:lnTo>
                    <a:pt x="1062" y="453"/>
                  </a:lnTo>
                  <a:lnTo>
                    <a:pt x="1054" y="489"/>
                  </a:lnTo>
                  <a:lnTo>
                    <a:pt x="1043" y="523"/>
                  </a:lnTo>
                  <a:lnTo>
                    <a:pt x="1028" y="555"/>
                  </a:lnTo>
                  <a:lnTo>
                    <a:pt x="1011" y="587"/>
                  </a:lnTo>
                  <a:lnTo>
                    <a:pt x="991" y="616"/>
                  </a:lnTo>
                  <a:lnTo>
                    <a:pt x="969" y="643"/>
                  </a:lnTo>
                  <a:lnTo>
                    <a:pt x="944" y="668"/>
                  </a:lnTo>
                  <a:lnTo>
                    <a:pt x="917" y="690"/>
                  </a:lnTo>
                  <a:lnTo>
                    <a:pt x="890" y="711"/>
                  </a:lnTo>
                  <a:lnTo>
                    <a:pt x="861" y="727"/>
                  </a:lnTo>
                  <a:lnTo>
                    <a:pt x="830" y="740"/>
                  </a:lnTo>
                  <a:lnTo>
                    <a:pt x="800" y="750"/>
                  </a:lnTo>
                  <a:lnTo>
                    <a:pt x="768" y="756"/>
                  </a:lnTo>
                  <a:lnTo>
                    <a:pt x="735" y="758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34" name="Text Box 538"/>
            <p:cNvSpPr txBox="1">
              <a:spLocks noChangeArrowheads="1"/>
            </p:cNvSpPr>
            <p:nvPr/>
          </p:nvSpPr>
          <p:spPr bwMode="blackWhite">
            <a:xfrm>
              <a:off x="4391025" y="5035550"/>
              <a:ext cx="6826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ES_tradnl" sz="1400" b="1" noProof="0" dirty="0"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35" name="Rectangle 539"/>
            <p:cNvSpPr>
              <a:spLocks noChangeArrowheads="1"/>
            </p:cNvSpPr>
            <p:nvPr/>
          </p:nvSpPr>
          <p:spPr bwMode="auto">
            <a:xfrm>
              <a:off x="3386138" y="4308475"/>
              <a:ext cx="5376862" cy="165258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prstDash val="sysDot"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>
                <a:lnSpc>
                  <a:spcPct val="50000"/>
                </a:lnSpc>
                <a:spcBef>
                  <a:spcPct val="50000"/>
                </a:spcBef>
              </a:pPr>
              <a:endParaRPr lang="es-ES_tradnl" b="1" noProof="0" dirty="0">
                <a:cs typeface="Arial" panose="020B0604020202020204" pitchFamily="34" charset="0"/>
              </a:endParaRPr>
            </a:p>
          </p:txBody>
        </p:sp>
        <p:sp>
          <p:nvSpPr>
            <p:cNvPr id="36" name="Freeform 540"/>
            <p:cNvSpPr>
              <a:spLocks/>
            </p:cNvSpPr>
            <p:nvPr/>
          </p:nvSpPr>
          <p:spPr bwMode="auto">
            <a:xfrm flipV="1">
              <a:off x="5095875" y="5202237"/>
              <a:ext cx="322263" cy="74613"/>
            </a:xfrm>
            <a:custGeom>
              <a:avLst/>
              <a:gdLst>
                <a:gd name="T0" fmla="*/ 3021 w 320"/>
                <a:gd name="T1" fmla="*/ 0 h 3"/>
                <a:gd name="T2" fmla="*/ 0 w 320"/>
                <a:gd name="T3" fmla="*/ 74613 h 3"/>
                <a:gd name="T4" fmla="*/ 322263 w 320"/>
                <a:gd name="T5" fmla="*/ 74613 h 3"/>
                <a:gd name="T6" fmla="*/ 0 60000 65536"/>
                <a:gd name="T7" fmla="*/ 0 60000 65536"/>
                <a:gd name="T8" fmla="*/ 0 60000 65536"/>
                <a:gd name="T9" fmla="*/ 0 w 320"/>
                <a:gd name="T10" fmla="*/ 0 h 3"/>
                <a:gd name="T11" fmla="*/ 320 w 320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0" h="3">
                  <a:moveTo>
                    <a:pt x="3" y="0"/>
                  </a:moveTo>
                  <a:lnTo>
                    <a:pt x="0" y="3"/>
                  </a:lnTo>
                  <a:lnTo>
                    <a:pt x="320" y="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37" name="Freeform 542"/>
            <p:cNvSpPr>
              <a:spLocks/>
            </p:cNvSpPr>
            <p:nvPr/>
          </p:nvSpPr>
          <p:spPr bwMode="auto">
            <a:xfrm>
              <a:off x="2967038" y="5367337"/>
              <a:ext cx="1414462" cy="1588"/>
            </a:xfrm>
            <a:custGeom>
              <a:avLst/>
              <a:gdLst>
                <a:gd name="T0" fmla="*/ 0 w 1136"/>
                <a:gd name="T1" fmla="*/ 0 h 1"/>
                <a:gd name="T2" fmla="*/ 1414462 w 1136"/>
                <a:gd name="T3" fmla="*/ 0 h 1"/>
                <a:gd name="T4" fmla="*/ 0 60000 65536"/>
                <a:gd name="T5" fmla="*/ 0 60000 65536"/>
                <a:gd name="T6" fmla="*/ 0 w 1136"/>
                <a:gd name="T7" fmla="*/ 0 h 1"/>
                <a:gd name="T8" fmla="*/ 1136 w 113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36" h="1">
                  <a:moveTo>
                    <a:pt x="0" y="0"/>
                  </a:moveTo>
                  <a:lnTo>
                    <a:pt x="113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39" name="Freeform 552"/>
            <p:cNvSpPr>
              <a:spLocks/>
            </p:cNvSpPr>
            <p:nvPr/>
          </p:nvSpPr>
          <p:spPr bwMode="auto">
            <a:xfrm>
              <a:off x="2201863" y="4351337"/>
              <a:ext cx="1773237" cy="290513"/>
            </a:xfrm>
            <a:custGeom>
              <a:avLst/>
              <a:gdLst>
                <a:gd name="T0" fmla="*/ 0 w 1425"/>
                <a:gd name="T1" fmla="*/ 290513 h 228"/>
                <a:gd name="T2" fmla="*/ 33598 w 1425"/>
                <a:gd name="T3" fmla="*/ 290513 h 228"/>
                <a:gd name="T4" fmla="*/ 411889 w 1425"/>
                <a:gd name="T5" fmla="*/ 289239 h 228"/>
                <a:gd name="T6" fmla="*/ 411889 w 1425"/>
                <a:gd name="T7" fmla="*/ 0 h 228"/>
                <a:gd name="T8" fmla="*/ 887241 w 1425"/>
                <a:gd name="T9" fmla="*/ 0 h 228"/>
                <a:gd name="T10" fmla="*/ 887241 w 1425"/>
                <a:gd name="T11" fmla="*/ 275223 h 228"/>
                <a:gd name="T12" fmla="*/ 1773237 w 1425"/>
                <a:gd name="T13" fmla="*/ 275223 h 2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25"/>
                <a:gd name="T22" fmla="*/ 0 h 228"/>
                <a:gd name="T23" fmla="*/ 1425 w 1425"/>
                <a:gd name="T24" fmla="*/ 228 h 2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25" h="228">
                  <a:moveTo>
                    <a:pt x="0" y="228"/>
                  </a:moveTo>
                  <a:lnTo>
                    <a:pt x="27" y="228"/>
                  </a:lnTo>
                  <a:lnTo>
                    <a:pt x="331" y="227"/>
                  </a:lnTo>
                  <a:lnTo>
                    <a:pt x="331" y="0"/>
                  </a:lnTo>
                  <a:lnTo>
                    <a:pt x="713" y="0"/>
                  </a:lnTo>
                  <a:lnTo>
                    <a:pt x="713" y="216"/>
                  </a:lnTo>
                  <a:lnTo>
                    <a:pt x="1425" y="21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0" name="Rectangle 59"/>
            <p:cNvSpPr>
              <a:spLocks noChangeArrowheads="1"/>
            </p:cNvSpPr>
            <p:nvPr/>
          </p:nvSpPr>
          <p:spPr bwMode="auto">
            <a:xfrm>
              <a:off x="5553075" y="4821237"/>
              <a:ext cx="2362200" cy="8382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135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1" name="Oval 61"/>
            <p:cNvSpPr>
              <a:spLocks noChangeArrowheads="1"/>
            </p:cNvSpPr>
            <p:nvPr/>
          </p:nvSpPr>
          <p:spPr bwMode="auto">
            <a:xfrm>
              <a:off x="5400675" y="5126037"/>
              <a:ext cx="152400" cy="1524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2" name="AutoShape 62"/>
            <p:cNvSpPr>
              <a:spLocks noChangeArrowheads="1"/>
            </p:cNvSpPr>
            <p:nvPr/>
          </p:nvSpPr>
          <p:spPr bwMode="auto">
            <a:xfrm rot="5663923">
              <a:off x="5591175" y="5084762"/>
              <a:ext cx="228600" cy="30480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3" name="AutoShape 64"/>
            <p:cNvSpPr>
              <a:spLocks noChangeArrowheads="1"/>
            </p:cNvSpPr>
            <p:nvPr/>
          </p:nvSpPr>
          <p:spPr bwMode="auto">
            <a:xfrm rot="10800000">
              <a:off x="6467475" y="4211637"/>
              <a:ext cx="457200" cy="609600"/>
            </a:xfrm>
            <a:prstGeom prst="upArrow">
              <a:avLst>
                <a:gd name="adj1" fmla="val 50000"/>
                <a:gd name="adj2" fmla="val 33333"/>
              </a:avLst>
            </a:prstGeom>
            <a:solidFill>
              <a:srgbClr val="26697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4" name="AutoShape 65"/>
            <p:cNvSpPr>
              <a:spLocks noChangeArrowheads="1"/>
            </p:cNvSpPr>
            <p:nvPr/>
          </p:nvSpPr>
          <p:spPr bwMode="auto">
            <a:xfrm rot="10800000">
              <a:off x="6467475" y="5659437"/>
              <a:ext cx="457200" cy="609600"/>
            </a:xfrm>
            <a:prstGeom prst="upArrow">
              <a:avLst>
                <a:gd name="adj1" fmla="val 50000"/>
                <a:gd name="adj2" fmla="val 33333"/>
              </a:avLst>
            </a:prstGeom>
            <a:solidFill>
              <a:srgbClr val="26697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5" name="Text Box 66"/>
            <p:cNvSpPr txBox="1">
              <a:spLocks noChangeArrowheads="1"/>
            </p:cNvSpPr>
            <p:nvPr/>
          </p:nvSpPr>
          <p:spPr bwMode="auto">
            <a:xfrm>
              <a:off x="5744257" y="5126037"/>
              <a:ext cx="48282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200" noProof="0" dirty="0">
                  <a:cs typeface="Arial" panose="020B0604020202020204" pitchFamily="34" charset="0"/>
                </a:rPr>
                <a:t>CLK</a:t>
              </a:r>
            </a:p>
          </p:txBody>
        </p:sp>
        <p:sp>
          <p:nvSpPr>
            <p:cNvPr id="46" name="Text Box 67"/>
            <p:cNvSpPr txBox="1">
              <a:spLocks noChangeArrowheads="1"/>
            </p:cNvSpPr>
            <p:nvPr/>
          </p:nvSpPr>
          <p:spPr bwMode="auto">
            <a:xfrm>
              <a:off x="6131156" y="5049837"/>
              <a:ext cx="17251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0" dirty="0">
                  <a:cs typeface="Arial" panose="020B0604020202020204" pitchFamily="34" charset="0"/>
                </a:rPr>
                <a:t>Memoria/registro</a:t>
              </a:r>
            </a:p>
          </p:txBody>
        </p:sp>
        <p:sp>
          <p:nvSpPr>
            <p:cNvPr id="47" name="Line 68"/>
            <p:cNvSpPr>
              <a:spLocks noChangeShapeType="1"/>
            </p:cNvSpPr>
            <p:nvPr/>
          </p:nvSpPr>
          <p:spPr bwMode="auto">
            <a:xfrm flipV="1">
              <a:off x="6467475" y="4440237"/>
              <a:ext cx="5334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8" name="Line 69"/>
            <p:cNvSpPr>
              <a:spLocks noChangeShapeType="1"/>
            </p:cNvSpPr>
            <p:nvPr/>
          </p:nvSpPr>
          <p:spPr bwMode="auto">
            <a:xfrm flipV="1">
              <a:off x="6391275" y="5811837"/>
              <a:ext cx="5334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  <p:sp>
          <p:nvSpPr>
            <p:cNvPr id="49" name="Text Box 70"/>
            <p:cNvSpPr txBox="1">
              <a:spLocks noChangeArrowheads="1"/>
            </p:cNvSpPr>
            <p:nvPr/>
          </p:nvSpPr>
          <p:spPr bwMode="auto">
            <a:xfrm>
              <a:off x="6974676" y="4287837"/>
              <a:ext cx="7889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0" dirty="0">
                  <a:cs typeface="Arial" panose="020B0604020202020204" pitchFamily="34" charset="0"/>
                </a:rPr>
                <a:t>32 bits</a:t>
              </a:r>
            </a:p>
          </p:txBody>
        </p:sp>
        <p:sp>
          <p:nvSpPr>
            <p:cNvPr id="50" name="Text Box 71"/>
            <p:cNvSpPr txBox="1">
              <a:spLocks noChangeArrowheads="1"/>
            </p:cNvSpPr>
            <p:nvPr/>
          </p:nvSpPr>
          <p:spPr bwMode="auto">
            <a:xfrm>
              <a:off x="6898476" y="5659437"/>
              <a:ext cx="78899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600" noProof="0" dirty="0">
                  <a:cs typeface="Arial" panose="020B0604020202020204" pitchFamily="34" charset="0"/>
                </a:rPr>
                <a:t>32 bits</a:t>
              </a:r>
            </a:p>
          </p:txBody>
        </p:sp>
        <p:sp>
          <p:nvSpPr>
            <p:cNvPr id="51" name="Text Box 72"/>
            <p:cNvSpPr txBox="1">
              <a:spLocks noChangeArrowheads="1"/>
            </p:cNvSpPr>
            <p:nvPr/>
          </p:nvSpPr>
          <p:spPr bwMode="auto">
            <a:xfrm>
              <a:off x="6045065" y="3810000"/>
              <a:ext cx="130837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0" dirty="0">
                  <a:cs typeface="Arial" panose="020B0604020202020204" pitchFamily="34" charset="0"/>
                </a:rPr>
                <a:t>Datos entrada</a:t>
              </a:r>
            </a:p>
          </p:txBody>
        </p:sp>
        <p:sp>
          <p:nvSpPr>
            <p:cNvPr id="52" name="Text Box 73"/>
            <p:cNvSpPr txBox="1">
              <a:spLocks noChangeArrowheads="1"/>
            </p:cNvSpPr>
            <p:nvPr/>
          </p:nvSpPr>
          <p:spPr bwMode="auto">
            <a:xfrm>
              <a:off x="6107644" y="6269037"/>
              <a:ext cx="117051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sz="1400" noProof="0" dirty="0">
                  <a:cs typeface="Arial" panose="020B0604020202020204" pitchFamily="34" charset="0"/>
                </a:rPr>
                <a:t>Datos salida</a:t>
              </a:r>
            </a:p>
          </p:txBody>
        </p:sp>
        <p:sp>
          <p:nvSpPr>
            <p:cNvPr id="55" name="Freeform 529">
              <a:extLst>
                <a:ext uri="{FF2B5EF4-FFF2-40B4-BE49-F238E27FC236}">
                  <a16:creationId xmlns:a16="http://schemas.microsoft.com/office/drawing/2014/main" id="{1420ABF9-2E32-4665-9BF9-131717D86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0" y="5503863"/>
              <a:ext cx="1304948" cy="298450"/>
            </a:xfrm>
            <a:custGeom>
              <a:avLst/>
              <a:gdLst>
                <a:gd name="T0" fmla="*/ 0 w 1996"/>
                <a:gd name="T1" fmla="*/ 298450 h 297"/>
                <a:gd name="T2" fmla="*/ 16713 w 1996"/>
                <a:gd name="T3" fmla="*/ 298450 h 297"/>
                <a:gd name="T4" fmla="*/ 204078 w 1996"/>
                <a:gd name="T5" fmla="*/ 297445 h 297"/>
                <a:gd name="T6" fmla="*/ 204078 w 1996"/>
                <a:gd name="T7" fmla="*/ 8039 h 297"/>
                <a:gd name="T8" fmla="*/ 438944 w 1996"/>
                <a:gd name="T9" fmla="*/ 8039 h 297"/>
                <a:gd name="T10" fmla="*/ 438944 w 1996"/>
                <a:gd name="T11" fmla="*/ 283377 h 297"/>
                <a:gd name="T12" fmla="*/ 660175 w 1996"/>
                <a:gd name="T13" fmla="*/ 283377 h 297"/>
                <a:gd name="T14" fmla="*/ 660175 w 1996"/>
                <a:gd name="T15" fmla="*/ 0 h 297"/>
                <a:gd name="T16" fmla="*/ 877888 w 1996"/>
                <a:gd name="T17" fmla="*/ 8039 h 297"/>
                <a:gd name="T18" fmla="*/ 877888 w 1996"/>
                <a:gd name="T19" fmla="*/ 283377 h 2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96"/>
                <a:gd name="T31" fmla="*/ 0 h 297"/>
                <a:gd name="T32" fmla="*/ 1996 w 1996"/>
                <a:gd name="T33" fmla="*/ 297 h 2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96" h="297">
                  <a:moveTo>
                    <a:pt x="0" y="297"/>
                  </a:moveTo>
                  <a:lnTo>
                    <a:pt x="38" y="297"/>
                  </a:lnTo>
                  <a:lnTo>
                    <a:pt x="464" y="296"/>
                  </a:lnTo>
                  <a:lnTo>
                    <a:pt x="464" y="8"/>
                  </a:lnTo>
                  <a:lnTo>
                    <a:pt x="998" y="8"/>
                  </a:lnTo>
                  <a:lnTo>
                    <a:pt x="998" y="282"/>
                  </a:lnTo>
                  <a:lnTo>
                    <a:pt x="1501" y="282"/>
                  </a:lnTo>
                  <a:lnTo>
                    <a:pt x="1501" y="0"/>
                  </a:lnTo>
                  <a:lnTo>
                    <a:pt x="1996" y="8"/>
                  </a:lnTo>
                  <a:lnTo>
                    <a:pt x="1996" y="28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noProof="0" dirty="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B3C6-1EEB-4457-E7F8-CADC7075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Marcador de contenido 5">
            <a:extLst>
              <a:ext uri="{FF2B5EF4-FFF2-40B4-BE49-F238E27FC236}">
                <a16:creationId xmlns:a16="http://schemas.microsoft.com/office/drawing/2014/main" id="{A9F8C9B2-7AAB-6AB3-2B74-23960FE16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9984829"/>
              </p:ext>
            </p:extLst>
          </p:nvPr>
        </p:nvGraphicFramePr>
        <p:xfrm>
          <a:off x="1055167" y="1022863"/>
          <a:ext cx="7765304" cy="1916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Operación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Formato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+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s-ES_tradnl" sz="1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 – rs2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rs1&lt;rs2,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1;</a:t>
                      </a:r>
                    </a:p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24274266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B4144BDB-D1B2-CDCB-21F9-98024F66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La ruta de datos: Selección de instrucciones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AD8C51D-3ED2-7365-D9BD-739C4814954C}"/>
              </a:ext>
            </a:extLst>
          </p:cNvPr>
          <p:cNvGrpSpPr/>
          <p:nvPr/>
        </p:nvGrpSpPr>
        <p:grpSpPr>
          <a:xfrm>
            <a:off x="1687969" y="3729354"/>
            <a:ext cx="5764068" cy="1180085"/>
            <a:chOff x="975305" y="4921594"/>
            <a:chExt cx="3345284" cy="753875"/>
          </a:xfrm>
        </p:grpSpPr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96742453-8291-02F6-8FE5-6035EC1197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7BC719-F6D3-CA28-F1DB-B74864CE9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12" name="Group 155">
                <a:extLst>
                  <a:ext uri="{FF2B5EF4-FFF2-40B4-BE49-F238E27FC236}">
                    <a16:creationId xmlns:a16="http://schemas.microsoft.com/office/drawing/2014/main" id="{66CDB2A3-4AF1-C138-5799-BB540D809A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295"/>
                <a:chOff x="1168" y="1293"/>
                <a:chExt cx="3189" cy="482"/>
              </a:xfrm>
            </p:grpSpPr>
            <p:grpSp>
              <p:nvGrpSpPr>
                <p:cNvPr id="13" name="Group 5">
                  <a:extLst>
                    <a:ext uri="{FF2B5EF4-FFF2-40B4-BE49-F238E27FC236}">
                      <a16:creationId xmlns:a16="http://schemas.microsoft.com/office/drawing/2014/main" id="{6573F1D8-891D-EB9F-C03A-948F893822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31" name="Rectangle 6">
                    <a:extLst>
                      <a:ext uri="{FF2B5EF4-FFF2-40B4-BE49-F238E27FC236}">
                        <a16:creationId xmlns:a16="http://schemas.microsoft.com/office/drawing/2014/main" id="{A033FC57-680A-2F4D-3F04-CAAC1EE5ED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b="1" noProof="0" dirty="0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32" name="Group 7">
                    <a:extLst>
                      <a:ext uri="{FF2B5EF4-FFF2-40B4-BE49-F238E27FC236}">
                        <a16:creationId xmlns:a16="http://schemas.microsoft.com/office/drawing/2014/main" id="{02046002-2315-72CA-D133-599E380C60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33" name="Line 9">
                      <a:extLst>
                        <a:ext uri="{FF2B5EF4-FFF2-40B4-BE49-F238E27FC236}">
                          <a16:creationId xmlns:a16="http://schemas.microsoft.com/office/drawing/2014/main" id="{94B8619B-273B-32F9-42AE-20E80DE8A80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4" name="Line 10">
                      <a:extLst>
                        <a:ext uri="{FF2B5EF4-FFF2-40B4-BE49-F238E27FC236}">
                          <a16:creationId xmlns:a16="http://schemas.microsoft.com/office/drawing/2014/main" id="{75A7645B-2698-B892-A04A-305BE22203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5" name="Line 11">
                      <a:extLst>
                        <a:ext uri="{FF2B5EF4-FFF2-40B4-BE49-F238E27FC236}">
                          <a16:creationId xmlns:a16="http://schemas.microsoft.com/office/drawing/2014/main" id="{264D85E0-4504-C506-C385-E1985F624A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6" name="Line 12">
                      <a:extLst>
                        <a:ext uri="{FF2B5EF4-FFF2-40B4-BE49-F238E27FC236}">
                          <a16:creationId xmlns:a16="http://schemas.microsoft.com/office/drawing/2014/main" id="{BC35A574-B0C6-22C1-99E0-7CF40364152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7" name="Line 13">
                      <a:extLst>
                        <a:ext uri="{FF2B5EF4-FFF2-40B4-BE49-F238E27FC236}">
                          <a16:creationId xmlns:a16="http://schemas.microsoft.com/office/drawing/2014/main" id="{93409F72-096D-7BB4-86DD-253D96F5D7E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8" name="Line 14">
                      <a:extLst>
                        <a:ext uri="{FF2B5EF4-FFF2-40B4-BE49-F238E27FC236}">
                          <a16:creationId xmlns:a16="http://schemas.microsoft.com/office/drawing/2014/main" id="{C8DB1242-573E-540C-2442-7152734EC8B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9" name="Line 15">
                      <a:extLst>
                        <a:ext uri="{FF2B5EF4-FFF2-40B4-BE49-F238E27FC236}">
                          <a16:creationId xmlns:a16="http://schemas.microsoft.com/office/drawing/2014/main" id="{CA42EA5A-5622-5944-083F-637CD5813F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0" name="Line 16">
                      <a:extLst>
                        <a:ext uri="{FF2B5EF4-FFF2-40B4-BE49-F238E27FC236}">
                          <a16:creationId xmlns:a16="http://schemas.microsoft.com/office/drawing/2014/main" id="{5BA56E0B-025B-E2A4-61E3-A3BBA91763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1" name="Line 17">
                      <a:extLst>
                        <a:ext uri="{FF2B5EF4-FFF2-40B4-BE49-F238E27FC236}">
                          <a16:creationId xmlns:a16="http://schemas.microsoft.com/office/drawing/2014/main" id="{3E8626CF-4A7B-DFEE-7B41-0476110450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2" name="Line 18">
                      <a:extLst>
                        <a:ext uri="{FF2B5EF4-FFF2-40B4-BE49-F238E27FC236}">
                          <a16:creationId xmlns:a16="http://schemas.microsoft.com/office/drawing/2014/main" id="{A844CA92-C252-2EF5-C0BB-7225EAE606E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3" name="Line 19">
                      <a:extLst>
                        <a:ext uri="{FF2B5EF4-FFF2-40B4-BE49-F238E27FC236}">
                          <a16:creationId xmlns:a16="http://schemas.microsoft.com/office/drawing/2014/main" id="{AF6EF86F-44AA-A3AE-3794-4D1C1C6145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4" name="Line 20">
                      <a:extLst>
                        <a:ext uri="{FF2B5EF4-FFF2-40B4-BE49-F238E27FC236}">
                          <a16:creationId xmlns:a16="http://schemas.microsoft.com/office/drawing/2014/main" id="{D20576FB-640E-CB6E-4157-DE2E759F13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5" name="Line 21">
                      <a:extLst>
                        <a:ext uri="{FF2B5EF4-FFF2-40B4-BE49-F238E27FC236}">
                          <a16:creationId xmlns:a16="http://schemas.microsoft.com/office/drawing/2014/main" id="{8E168D0C-E843-9C85-C9BC-9057CED0A21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6" name="Line 22">
                      <a:extLst>
                        <a:ext uri="{FF2B5EF4-FFF2-40B4-BE49-F238E27FC236}">
                          <a16:creationId xmlns:a16="http://schemas.microsoft.com/office/drawing/2014/main" id="{34544D58-9B49-F566-4B7C-C4B27B717E2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7" name="Line 23">
                      <a:extLst>
                        <a:ext uri="{FF2B5EF4-FFF2-40B4-BE49-F238E27FC236}">
                          <a16:creationId xmlns:a16="http://schemas.microsoft.com/office/drawing/2014/main" id="{4BB2A09A-AAAD-7BFE-3DBB-D69623B514C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8" name="Line 24">
                      <a:extLst>
                        <a:ext uri="{FF2B5EF4-FFF2-40B4-BE49-F238E27FC236}">
                          <a16:creationId xmlns:a16="http://schemas.microsoft.com/office/drawing/2014/main" id="{44E8448E-9E37-25C5-E9B9-A86070C215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49" name="Line 25">
                      <a:extLst>
                        <a:ext uri="{FF2B5EF4-FFF2-40B4-BE49-F238E27FC236}">
                          <a16:creationId xmlns:a16="http://schemas.microsoft.com/office/drawing/2014/main" id="{0844B2D9-A9B1-3626-F18F-CAFFBAAD11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0" name="Line 26">
                      <a:extLst>
                        <a:ext uri="{FF2B5EF4-FFF2-40B4-BE49-F238E27FC236}">
                          <a16:creationId xmlns:a16="http://schemas.microsoft.com/office/drawing/2014/main" id="{73A431F9-E489-8604-81CF-6703C8B607F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1" name="Line 27">
                      <a:extLst>
                        <a:ext uri="{FF2B5EF4-FFF2-40B4-BE49-F238E27FC236}">
                          <a16:creationId xmlns:a16="http://schemas.microsoft.com/office/drawing/2014/main" id="{6257E5F7-3A02-433E-9A73-E5527A2417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2" name="Line 28">
                      <a:extLst>
                        <a:ext uri="{FF2B5EF4-FFF2-40B4-BE49-F238E27FC236}">
                          <a16:creationId xmlns:a16="http://schemas.microsoft.com/office/drawing/2014/main" id="{251A4A07-184A-0DD0-B43B-B7EB8C644D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3" name="Line 29">
                      <a:extLst>
                        <a:ext uri="{FF2B5EF4-FFF2-40B4-BE49-F238E27FC236}">
                          <a16:creationId xmlns:a16="http://schemas.microsoft.com/office/drawing/2014/main" id="{D3CC6E5F-4CC9-D1E8-E679-5F6EC44B55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4" name="Line 30">
                      <a:extLst>
                        <a:ext uri="{FF2B5EF4-FFF2-40B4-BE49-F238E27FC236}">
                          <a16:creationId xmlns:a16="http://schemas.microsoft.com/office/drawing/2014/main" id="{D4844A29-9601-A08E-FE85-A28C6C4689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5" name="Line 31">
                      <a:extLst>
                        <a:ext uri="{FF2B5EF4-FFF2-40B4-BE49-F238E27FC236}">
                          <a16:creationId xmlns:a16="http://schemas.microsoft.com/office/drawing/2014/main" id="{3DF33435-F4B1-1683-C56B-96A8FA5FBB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6" name="Line 32">
                      <a:extLst>
                        <a:ext uri="{FF2B5EF4-FFF2-40B4-BE49-F238E27FC236}">
                          <a16:creationId xmlns:a16="http://schemas.microsoft.com/office/drawing/2014/main" id="{8B749F8C-5704-0139-AC8A-5648B7EC037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7" name="Line 33">
                      <a:extLst>
                        <a:ext uri="{FF2B5EF4-FFF2-40B4-BE49-F238E27FC236}">
                          <a16:creationId xmlns:a16="http://schemas.microsoft.com/office/drawing/2014/main" id="{0DA2C5D2-FF53-C405-6E29-E7638B966A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8" name="Line 34">
                      <a:extLst>
                        <a:ext uri="{FF2B5EF4-FFF2-40B4-BE49-F238E27FC236}">
                          <a16:creationId xmlns:a16="http://schemas.microsoft.com/office/drawing/2014/main" id="{988C1AF1-B292-80EA-6148-FD2EECA7E80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9" name="Line 35">
                      <a:extLst>
                        <a:ext uri="{FF2B5EF4-FFF2-40B4-BE49-F238E27FC236}">
                          <a16:creationId xmlns:a16="http://schemas.microsoft.com/office/drawing/2014/main" id="{9BC72B8B-4712-6B2B-AE1D-AF5115D6D30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0" name="Line 36">
                      <a:extLst>
                        <a:ext uri="{FF2B5EF4-FFF2-40B4-BE49-F238E27FC236}">
                          <a16:creationId xmlns:a16="http://schemas.microsoft.com/office/drawing/2014/main" id="{633844C0-D90B-267A-58CA-337C9E68A5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1" name="Line 37">
                      <a:extLst>
                        <a:ext uri="{FF2B5EF4-FFF2-40B4-BE49-F238E27FC236}">
                          <a16:creationId xmlns:a16="http://schemas.microsoft.com/office/drawing/2014/main" id="{BFA78D16-66E3-B4B4-B05A-AA41A0F2884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63" name="Line 38">
                      <a:extLst>
                        <a:ext uri="{FF2B5EF4-FFF2-40B4-BE49-F238E27FC236}">
                          <a16:creationId xmlns:a16="http://schemas.microsoft.com/office/drawing/2014/main" id="{549C9E4F-4F2C-E646-3165-E152C24959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4" name="Line 39">
                  <a:extLst>
                    <a:ext uri="{FF2B5EF4-FFF2-40B4-BE49-F238E27FC236}">
                      <a16:creationId xmlns:a16="http://schemas.microsoft.com/office/drawing/2014/main" id="{55272936-034A-E256-1891-F405004367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5" name="Text Box 40">
                  <a:extLst>
                    <a:ext uri="{FF2B5EF4-FFF2-40B4-BE49-F238E27FC236}">
                      <a16:creationId xmlns:a16="http://schemas.microsoft.com/office/drawing/2014/main" id="{89F8D198-9116-89CA-0837-10D6564550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</a:p>
              </p:txBody>
            </p:sp>
            <p:sp>
              <p:nvSpPr>
                <p:cNvPr id="16" name="Text Box 41">
                  <a:extLst>
                    <a:ext uri="{FF2B5EF4-FFF2-40B4-BE49-F238E27FC236}">
                      <a16:creationId xmlns:a16="http://schemas.microsoft.com/office/drawing/2014/main" id="{1C9B26EE-8A5E-AC76-E1B8-372525C6B7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</a:p>
              </p:txBody>
            </p:sp>
            <p:sp>
              <p:nvSpPr>
                <p:cNvPr id="17" name="Line 42">
                  <a:extLst>
                    <a:ext uri="{FF2B5EF4-FFF2-40B4-BE49-F238E27FC236}">
                      <a16:creationId xmlns:a16="http://schemas.microsoft.com/office/drawing/2014/main" id="{9E08F473-67CE-8FA6-E551-03FB1273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8" name="Line 43">
                  <a:extLst>
                    <a:ext uri="{FF2B5EF4-FFF2-40B4-BE49-F238E27FC236}">
                      <a16:creationId xmlns:a16="http://schemas.microsoft.com/office/drawing/2014/main" id="{04247127-8C98-92ED-86A8-073F4848CE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19" name="Line 44">
                  <a:extLst>
                    <a:ext uri="{FF2B5EF4-FFF2-40B4-BE49-F238E27FC236}">
                      <a16:creationId xmlns:a16="http://schemas.microsoft.com/office/drawing/2014/main" id="{A29289CB-62A7-0B42-DC1F-87A38D7871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0" name="Text Box 45">
                  <a:extLst>
                    <a:ext uri="{FF2B5EF4-FFF2-40B4-BE49-F238E27FC236}">
                      <a16:creationId xmlns:a16="http://schemas.microsoft.com/office/drawing/2014/main" id="{BE0AB8AE-5607-E4C4-28FB-A1456FC1FC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</a:p>
              </p:txBody>
            </p:sp>
            <p:sp>
              <p:nvSpPr>
                <p:cNvPr id="21" name="Text Box 46">
                  <a:extLst>
                    <a:ext uri="{FF2B5EF4-FFF2-40B4-BE49-F238E27FC236}">
                      <a16:creationId xmlns:a16="http://schemas.microsoft.com/office/drawing/2014/main" id="{0A242559-EC7A-1956-3B40-7D078EFEEC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</a:p>
              </p:txBody>
            </p:sp>
            <p:sp>
              <p:nvSpPr>
                <p:cNvPr id="22" name="Text Box 47">
                  <a:extLst>
                    <a:ext uri="{FF2B5EF4-FFF2-40B4-BE49-F238E27FC236}">
                      <a16:creationId xmlns:a16="http://schemas.microsoft.com/office/drawing/2014/main" id="{B3483206-EBB5-7F02-341E-62A5D8C08D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23" name="Text Box 48">
                  <a:extLst>
                    <a:ext uri="{FF2B5EF4-FFF2-40B4-BE49-F238E27FC236}">
                      <a16:creationId xmlns:a16="http://schemas.microsoft.com/office/drawing/2014/main" id="{8311F16B-1FB4-9C67-2F2C-F088C472C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</a:p>
              </p:txBody>
            </p:sp>
            <p:sp>
              <p:nvSpPr>
                <p:cNvPr id="24" name="Text Box 49">
                  <a:extLst>
                    <a:ext uri="{FF2B5EF4-FFF2-40B4-BE49-F238E27FC236}">
                      <a16:creationId xmlns:a16="http://schemas.microsoft.com/office/drawing/2014/main" id="{D079FBBD-307E-5965-4BF4-01C4D21969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" y="1608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25</a:t>
                  </a:r>
                </a:p>
              </p:txBody>
            </p:sp>
            <p:sp>
              <p:nvSpPr>
                <p:cNvPr id="25" name="Text Box 50">
                  <a:extLst>
                    <a:ext uri="{FF2B5EF4-FFF2-40B4-BE49-F238E27FC236}">
                      <a16:creationId xmlns:a16="http://schemas.microsoft.com/office/drawing/2014/main" id="{279AC2CE-D992-26BB-F704-FA6B9D211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5" y="1610"/>
                  <a:ext cx="202" cy="16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26" name="Text Box 51">
                  <a:extLst>
                    <a:ext uri="{FF2B5EF4-FFF2-40B4-BE49-F238E27FC236}">
                      <a16:creationId xmlns:a16="http://schemas.microsoft.com/office/drawing/2014/main" id="{95AC4F5A-B0CF-B120-9511-6C16DD1AE5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2" y="1610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15</a:t>
                  </a:r>
                </a:p>
              </p:txBody>
            </p:sp>
            <p:sp>
              <p:nvSpPr>
                <p:cNvPr id="27" name="Text Box 52">
                  <a:extLst>
                    <a:ext uri="{FF2B5EF4-FFF2-40B4-BE49-F238E27FC236}">
                      <a16:creationId xmlns:a16="http://schemas.microsoft.com/office/drawing/2014/main" id="{E94B5BCB-D500-047C-C3C5-3CCE6C716C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 </a:t>
                  </a:r>
                </a:p>
              </p:txBody>
            </p:sp>
            <p:sp>
              <p:nvSpPr>
                <p:cNvPr id="28" name="Text Box 53">
                  <a:extLst>
                    <a:ext uri="{FF2B5EF4-FFF2-40B4-BE49-F238E27FC236}">
                      <a16:creationId xmlns:a16="http://schemas.microsoft.com/office/drawing/2014/main" id="{83508644-BDE5-F645-92B0-927D93270A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29" name="Line 153">
                  <a:extLst>
                    <a:ext uri="{FF2B5EF4-FFF2-40B4-BE49-F238E27FC236}">
                      <a16:creationId xmlns:a16="http://schemas.microsoft.com/office/drawing/2014/main" id="{11747EC2-5409-7FB0-588A-44184505B5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0" name="Text Box 154">
                  <a:extLst>
                    <a:ext uri="{FF2B5EF4-FFF2-40B4-BE49-F238E27FC236}">
                      <a16:creationId xmlns:a16="http://schemas.microsoft.com/office/drawing/2014/main" id="{599E9FF6-861E-F493-1CE4-021A5A06C4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1609"/>
                  <a:ext cx="40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12</a:t>
                  </a:r>
                </a:p>
              </p:txBody>
            </p:sp>
          </p:grpSp>
        </p:grpSp>
        <p:sp>
          <p:nvSpPr>
            <p:cNvPr id="9" name="Text Box 41">
              <a:extLst>
                <a:ext uri="{FF2B5EF4-FFF2-40B4-BE49-F238E27FC236}">
                  <a16:creationId xmlns:a16="http://schemas.microsoft.com/office/drawing/2014/main" id="{E97F823B-6051-700E-7B0D-CEB6F2D85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C3620818-03B7-21E4-52F9-E3DC00389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28" name="Marcador de contenido 2">
            <a:extLst>
              <a:ext uri="{FF2B5EF4-FFF2-40B4-BE49-F238E27FC236}">
                <a16:creationId xmlns:a16="http://schemas.microsoft.com/office/drawing/2014/main" id="{7BADB6C3-45A0-8A4D-3CCF-F1C3CF01E628}"/>
              </a:ext>
            </a:extLst>
          </p:cNvPr>
          <p:cNvSpPr txBox="1">
            <a:spLocks/>
          </p:cNvSpPr>
          <p:nvPr/>
        </p:nvSpPr>
        <p:spPr>
          <a:xfrm>
            <a:off x="785136" y="3300425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R: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6872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B6B9-EC75-B5B0-A936-4512F242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Marcador de contenido 5">
            <a:extLst>
              <a:ext uri="{FF2B5EF4-FFF2-40B4-BE49-F238E27FC236}">
                <a16:creationId xmlns:a16="http://schemas.microsoft.com/office/drawing/2014/main" id="{063C27F4-019C-1C65-D7DB-0F1F21E36A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93199"/>
              </p:ext>
            </p:extLst>
          </p:nvPr>
        </p:nvGraphicFramePr>
        <p:xfrm>
          <a:off x="1055167" y="1022863"/>
          <a:ext cx="7765304" cy="1974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Operación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Formato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497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addi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+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684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andi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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ori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rs1 </a:t>
                      </a:r>
                      <a:r>
                        <a:rPr lang="es-ES_tradnl" sz="1400" b="1" kern="1200" noProof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Symbol"/>
                        </a:rPr>
                        <a:t></a:t>
                      </a:r>
                      <a:r>
                        <a:rPr lang="es-ES_tradnl" sz="1400" noProof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66307887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slti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rs1,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1;</a:t>
                      </a:r>
                    </a:p>
                    <a:p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 </a:t>
                      </a:r>
                      <a:r>
                        <a:rPr lang="es-ES_tradnl" sz="140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05075792"/>
                  </a:ext>
                </a:extLst>
              </a:tr>
              <a:tr h="296788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[rs1+inm]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10E6F8D-0B46-0E19-EDCB-6DE38E8E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La ruta de datos: Selección de instrucciones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C142ADB-BC59-E92A-EE8E-A6B41FC80EB4}"/>
              </a:ext>
            </a:extLst>
          </p:cNvPr>
          <p:cNvGrpSpPr/>
          <p:nvPr/>
        </p:nvGrpSpPr>
        <p:grpSpPr>
          <a:xfrm>
            <a:off x="1681468" y="3733801"/>
            <a:ext cx="5781064" cy="1216189"/>
            <a:chOff x="2629257" y="5017061"/>
            <a:chExt cx="5781064" cy="1216189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07FB90B5-C210-7E79-80B1-D9359BDEA977}"/>
                </a:ext>
              </a:extLst>
            </p:cNvPr>
            <p:cNvGrpSpPr/>
            <p:nvPr/>
          </p:nvGrpSpPr>
          <p:grpSpPr>
            <a:xfrm>
              <a:off x="2650774" y="5017061"/>
              <a:ext cx="5759547" cy="1216189"/>
              <a:chOff x="2650774" y="5017061"/>
              <a:chExt cx="5759547" cy="1216189"/>
            </a:xfrm>
          </p:grpSpPr>
          <p:sp>
            <p:nvSpPr>
              <p:cNvPr id="17" name="Rectangle 10">
                <a:extLst>
                  <a:ext uri="{FF2B5EF4-FFF2-40B4-BE49-F238E27FC236}">
                    <a16:creationId xmlns:a16="http://schemas.microsoft.com/office/drawing/2014/main" id="{43336562-CDFB-E923-C4BE-7D4B85B53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0774" y="5017061"/>
                <a:ext cx="5759547" cy="121618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8" name="Group 5">
                <a:extLst>
                  <a:ext uri="{FF2B5EF4-FFF2-40B4-BE49-F238E27FC236}">
                    <a16:creationId xmlns:a16="http://schemas.microsoft.com/office/drawing/2014/main" id="{BF1D5B91-0321-604E-3AB0-CF8BDC755F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0547" y="5213626"/>
                <a:ext cx="5358593" cy="558336"/>
                <a:chOff x="982" y="1197"/>
                <a:chExt cx="3050" cy="435"/>
              </a:xfrm>
            </p:grpSpPr>
            <p:sp>
              <p:nvSpPr>
                <p:cNvPr id="29" name="Rectangle 6">
                  <a:extLst>
                    <a:ext uri="{FF2B5EF4-FFF2-40B4-BE49-F238E27FC236}">
                      <a16:creationId xmlns:a16="http://schemas.microsoft.com/office/drawing/2014/main" id="{EF7163E0-9C7E-E162-4DC5-4B9D2D653F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197"/>
                  <a:ext cx="3050" cy="42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500" b="1" noProof="0" dirty="0">
                    <a:solidFill>
                      <a:srgbClr val="4F271C"/>
                    </a:solidFill>
                  </a:endParaRPr>
                </a:p>
              </p:txBody>
            </p:sp>
            <p:grpSp>
              <p:nvGrpSpPr>
                <p:cNvPr id="30" name="Group 7">
                  <a:extLst>
                    <a:ext uri="{FF2B5EF4-FFF2-40B4-BE49-F238E27FC236}">
                      <a16:creationId xmlns:a16="http://schemas.microsoft.com/office/drawing/2014/main" id="{78E12E64-0167-9F53-305C-B8CFD176CC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52" y="1536"/>
                  <a:ext cx="2784" cy="96"/>
                  <a:chOff x="1152" y="1536"/>
                  <a:chExt cx="2784" cy="96"/>
                </a:xfrm>
              </p:grpSpPr>
              <p:sp>
                <p:nvSpPr>
                  <p:cNvPr id="31" name="Line 9">
                    <a:extLst>
                      <a:ext uri="{FF2B5EF4-FFF2-40B4-BE49-F238E27FC236}">
                        <a16:creationId xmlns:a16="http://schemas.microsoft.com/office/drawing/2014/main" id="{4BD36FDC-4A96-9B32-078F-41CFEA8F4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2" name="Line 10">
                    <a:extLst>
                      <a:ext uri="{FF2B5EF4-FFF2-40B4-BE49-F238E27FC236}">
                        <a16:creationId xmlns:a16="http://schemas.microsoft.com/office/drawing/2014/main" id="{BFE27C4F-8499-C179-2833-BA4318C3B6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3" name="Line 11">
                    <a:extLst>
                      <a:ext uri="{FF2B5EF4-FFF2-40B4-BE49-F238E27FC236}">
                        <a16:creationId xmlns:a16="http://schemas.microsoft.com/office/drawing/2014/main" id="{6D1CF8B1-74B5-5652-1C40-58BDE31FE6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4" name="Line 12">
                    <a:extLst>
                      <a:ext uri="{FF2B5EF4-FFF2-40B4-BE49-F238E27FC236}">
                        <a16:creationId xmlns:a16="http://schemas.microsoft.com/office/drawing/2014/main" id="{34B6775E-9DD4-87B7-1A91-D34914D6F3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" name="Line 13">
                    <a:extLst>
                      <a:ext uri="{FF2B5EF4-FFF2-40B4-BE49-F238E27FC236}">
                        <a16:creationId xmlns:a16="http://schemas.microsoft.com/office/drawing/2014/main" id="{69DAB59D-E115-5341-572E-77834F4FDF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" name="Line 14">
                    <a:extLst>
                      <a:ext uri="{FF2B5EF4-FFF2-40B4-BE49-F238E27FC236}">
                        <a16:creationId xmlns:a16="http://schemas.microsoft.com/office/drawing/2014/main" id="{915492CB-ED28-5FE9-9CF9-83363A46F0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7" name="Line 15">
                    <a:extLst>
                      <a:ext uri="{FF2B5EF4-FFF2-40B4-BE49-F238E27FC236}">
                        <a16:creationId xmlns:a16="http://schemas.microsoft.com/office/drawing/2014/main" id="{EEA76994-7C0F-3A3E-16E5-7CC9C1161F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8" name="Line 16">
                    <a:extLst>
                      <a:ext uri="{FF2B5EF4-FFF2-40B4-BE49-F238E27FC236}">
                        <a16:creationId xmlns:a16="http://schemas.microsoft.com/office/drawing/2014/main" id="{E0B1F105-A68D-FC73-B7BF-5EDC828AA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9" name="Line 17">
                    <a:extLst>
                      <a:ext uri="{FF2B5EF4-FFF2-40B4-BE49-F238E27FC236}">
                        <a16:creationId xmlns:a16="http://schemas.microsoft.com/office/drawing/2014/main" id="{8C3052B8-9630-E47A-957E-51202F11C1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0" name="Line 18">
                    <a:extLst>
                      <a:ext uri="{FF2B5EF4-FFF2-40B4-BE49-F238E27FC236}">
                        <a16:creationId xmlns:a16="http://schemas.microsoft.com/office/drawing/2014/main" id="{309C24BA-4B7E-40EA-F2D3-C1DA27407C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1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" name="Line 19">
                    <a:extLst>
                      <a:ext uri="{FF2B5EF4-FFF2-40B4-BE49-F238E27FC236}">
                        <a16:creationId xmlns:a16="http://schemas.microsoft.com/office/drawing/2014/main" id="{D458EAEF-946C-30B7-E611-A9BFC69E63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2" name="Line 20">
                    <a:extLst>
                      <a:ext uri="{FF2B5EF4-FFF2-40B4-BE49-F238E27FC236}">
                        <a16:creationId xmlns:a16="http://schemas.microsoft.com/office/drawing/2014/main" id="{3F51DB05-689B-4325-4FD5-9D32C504C0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3" name="Line 21">
                    <a:extLst>
                      <a:ext uri="{FF2B5EF4-FFF2-40B4-BE49-F238E27FC236}">
                        <a16:creationId xmlns:a16="http://schemas.microsoft.com/office/drawing/2014/main" id="{F949F443-07A9-B22A-78C4-0088D20237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4" name="Line 22">
                    <a:extLst>
                      <a:ext uri="{FF2B5EF4-FFF2-40B4-BE49-F238E27FC236}">
                        <a16:creationId xmlns:a16="http://schemas.microsoft.com/office/drawing/2014/main" id="{5CFC21C2-64C2-EC4A-76AF-ACFB107DEE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5" name="Line 23">
                    <a:extLst>
                      <a:ext uri="{FF2B5EF4-FFF2-40B4-BE49-F238E27FC236}">
                        <a16:creationId xmlns:a16="http://schemas.microsoft.com/office/drawing/2014/main" id="{6353155C-2152-2F84-5A54-9BF882B102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6" name="Line 24">
                    <a:extLst>
                      <a:ext uri="{FF2B5EF4-FFF2-40B4-BE49-F238E27FC236}">
                        <a16:creationId xmlns:a16="http://schemas.microsoft.com/office/drawing/2014/main" id="{F90583F5-06A6-6CA7-F66D-BD522E6BE6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7" name="Line 25">
                    <a:extLst>
                      <a:ext uri="{FF2B5EF4-FFF2-40B4-BE49-F238E27FC236}">
                        <a16:creationId xmlns:a16="http://schemas.microsoft.com/office/drawing/2014/main" id="{8BBD3D70-BF9A-0559-9335-9A62D158F9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8" name="Line 26">
                    <a:extLst>
                      <a:ext uri="{FF2B5EF4-FFF2-40B4-BE49-F238E27FC236}">
                        <a16:creationId xmlns:a16="http://schemas.microsoft.com/office/drawing/2014/main" id="{33795545-C92B-4759-7F24-094411EC40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8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9" name="Line 27">
                    <a:extLst>
                      <a:ext uri="{FF2B5EF4-FFF2-40B4-BE49-F238E27FC236}">
                        <a16:creationId xmlns:a16="http://schemas.microsoft.com/office/drawing/2014/main" id="{B665C08E-7BFB-52DA-B495-D64A2A5A03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0" name="Line 28">
                    <a:extLst>
                      <a:ext uri="{FF2B5EF4-FFF2-40B4-BE49-F238E27FC236}">
                        <a16:creationId xmlns:a16="http://schemas.microsoft.com/office/drawing/2014/main" id="{11EBA59F-B8C2-755C-4AE3-A9AE7168C3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1" name="Line 29">
                    <a:extLst>
                      <a:ext uri="{FF2B5EF4-FFF2-40B4-BE49-F238E27FC236}">
                        <a16:creationId xmlns:a16="http://schemas.microsoft.com/office/drawing/2014/main" id="{8D7624BB-9B5E-A3BA-E23B-D87341AD45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2" name="Line 30">
                    <a:extLst>
                      <a:ext uri="{FF2B5EF4-FFF2-40B4-BE49-F238E27FC236}">
                        <a16:creationId xmlns:a16="http://schemas.microsoft.com/office/drawing/2014/main" id="{7CF6B8CF-B96F-BDB4-ED31-63D8DB03AFC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3" name="Line 31">
                    <a:extLst>
                      <a:ext uri="{FF2B5EF4-FFF2-40B4-BE49-F238E27FC236}">
                        <a16:creationId xmlns:a16="http://schemas.microsoft.com/office/drawing/2014/main" id="{9CD17D69-8A00-2045-CF44-CFD83E0FA98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6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4" name="Line 32">
                    <a:extLst>
                      <a:ext uri="{FF2B5EF4-FFF2-40B4-BE49-F238E27FC236}">
                        <a16:creationId xmlns:a16="http://schemas.microsoft.com/office/drawing/2014/main" id="{FB79E0B5-34FB-CA17-D435-BC139779D7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5" name="Line 33">
                    <a:extLst>
                      <a:ext uri="{FF2B5EF4-FFF2-40B4-BE49-F238E27FC236}">
                        <a16:creationId xmlns:a16="http://schemas.microsoft.com/office/drawing/2014/main" id="{9266C877-C668-DD35-539B-C9E52D3F48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6" name="Line 34">
                    <a:extLst>
                      <a:ext uri="{FF2B5EF4-FFF2-40B4-BE49-F238E27FC236}">
                        <a16:creationId xmlns:a16="http://schemas.microsoft.com/office/drawing/2014/main" id="{4A379415-3C47-534D-A918-73B9D5C86B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" name="Line 35">
                    <a:extLst>
                      <a:ext uri="{FF2B5EF4-FFF2-40B4-BE49-F238E27FC236}">
                        <a16:creationId xmlns:a16="http://schemas.microsoft.com/office/drawing/2014/main" id="{4DC91BCF-A1E3-A79F-B9FE-19AACCBD96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8" name="Line 36">
                    <a:extLst>
                      <a:ext uri="{FF2B5EF4-FFF2-40B4-BE49-F238E27FC236}">
                        <a16:creationId xmlns:a16="http://schemas.microsoft.com/office/drawing/2014/main" id="{052CE4D9-E289-8712-7EAF-DFDB76CB98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" name="Line 37">
                    <a:extLst>
                      <a:ext uri="{FF2B5EF4-FFF2-40B4-BE49-F238E27FC236}">
                        <a16:creationId xmlns:a16="http://schemas.microsoft.com/office/drawing/2014/main" id="{7D020B92-BB52-A57F-1125-9220F2E6D4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60" name="Line 38">
                    <a:extLst>
                      <a:ext uri="{FF2B5EF4-FFF2-40B4-BE49-F238E27FC236}">
                        <a16:creationId xmlns:a16="http://schemas.microsoft.com/office/drawing/2014/main" id="{143E4702-4B5C-04B3-BA5C-6376D427B9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19" name="Text Box 40">
                <a:extLst>
                  <a:ext uri="{FF2B5EF4-FFF2-40B4-BE49-F238E27FC236}">
                    <a16:creationId xmlns:a16="http://schemas.microsoft.com/office/drawing/2014/main" id="{3B673AD7-52D0-7CD3-E222-5F66429932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0680" y="5348397"/>
                <a:ext cx="2124111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inm</a:t>
                </a:r>
                <a:r>
                  <a:rPr lang="es-ES_tradnl" sz="11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[11:0]</a:t>
                </a:r>
              </a:p>
            </p:txBody>
          </p:sp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2FEA6439-B422-D31D-925D-894DF4DB5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02539" y="5366366"/>
                <a:ext cx="954005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funct3</a:t>
                </a:r>
              </a:p>
            </p:txBody>
          </p:sp>
          <p:sp>
            <p:nvSpPr>
              <p:cNvPr id="21" name="Line 42">
                <a:extLst>
                  <a:ext uri="{FF2B5EF4-FFF2-40B4-BE49-F238E27FC236}">
                    <a16:creationId xmlns:a16="http://schemas.microsoft.com/office/drawing/2014/main" id="{D401BC87-916F-E59B-8F96-04E7D1069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92890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Line 43">
                <a:extLst>
                  <a:ext uri="{FF2B5EF4-FFF2-40B4-BE49-F238E27FC236}">
                    <a16:creationId xmlns:a16="http://schemas.microsoft.com/office/drawing/2014/main" id="{94776739-9136-DAC8-EB6B-CDDDC0639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29181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Line 44">
                <a:extLst>
                  <a:ext uri="{FF2B5EF4-FFF2-40B4-BE49-F238E27FC236}">
                    <a16:creationId xmlns:a16="http://schemas.microsoft.com/office/drawing/2014/main" id="{AF599460-494E-4BB7-4FE4-5C1B1C0AA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83763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Text Box 46">
                <a:extLst>
                  <a:ext uri="{FF2B5EF4-FFF2-40B4-BE49-F238E27FC236}">
                    <a16:creationId xmlns:a16="http://schemas.microsoft.com/office/drawing/2014/main" id="{D5533597-A6B0-E47A-553A-1B535A522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166" y="5350964"/>
                <a:ext cx="701009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rs1</a:t>
                </a:r>
              </a:p>
            </p:txBody>
          </p:sp>
          <p:sp>
            <p:nvSpPr>
              <p:cNvPr id="25" name="Text Box 47">
                <a:extLst>
                  <a:ext uri="{FF2B5EF4-FFF2-40B4-BE49-F238E27FC236}">
                    <a16:creationId xmlns:a16="http://schemas.microsoft.com/office/drawing/2014/main" id="{337CF365-947D-28CF-3F43-3F8B94ABC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6062" y="5341979"/>
                <a:ext cx="1163078" cy="261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opcode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6" name="Line 153">
                <a:extLst>
                  <a:ext uri="{FF2B5EF4-FFF2-40B4-BE49-F238E27FC236}">
                    <a16:creationId xmlns:a16="http://schemas.microsoft.com/office/drawing/2014/main" id="{1D736D60-C2FE-E15D-C432-6109ED4FB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31659" y="5250848"/>
                <a:ext cx="0" cy="431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Line 11">
                <a:extLst>
                  <a:ext uri="{FF2B5EF4-FFF2-40B4-BE49-F238E27FC236}">
                    <a16:creationId xmlns:a16="http://schemas.microsoft.com/office/drawing/2014/main" id="{38F4A25A-C931-85ED-2A90-2B686F4CF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8213" y="5639516"/>
                <a:ext cx="0" cy="1227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Text Box 41">
                <a:extLst>
                  <a:ext uri="{FF2B5EF4-FFF2-40B4-BE49-F238E27FC236}">
                    <a16:creationId xmlns:a16="http://schemas.microsoft.com/office/drawing/2014/main" id="{9A2F907A-2032-72D1-DA2E-29C99B1FC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8033" y="5332163"/>
                <a:ext cx="655589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rd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9" name="Text Box 48">
              <a:extLst>
                <a:ext uri="{FF2B5EF4-FFF2-40B4-BE49-F238E27FC236}">
                  <a16:creationId xmlns:a16="http://schemas.microsoft.com/office/drawing/2014/main" id="{B054B4AD-4C25-2394-F925-4ABBB5BC4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7" y="5707747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0" name="Text Box 49">
              <a:extLst>
                <a:ext uri="{FF2B5EF4-FFF2-40B4-BE49-F238E27FC236}">
                  <a16:creationId xmlns:a16="http://schemas.microsoft.com/office/drawing/2014/main" id="{ED8FDE53-5D17-9D42-F414-73541EDDF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2" y="5709349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1" name="Text Box 50">
              <a:extLst>
                <a:ext uri="{FF2B5EF4-FFF2-40B4-BE49-F238E27FC236}">
                  <a16:creationId xmlns:a16="http://schemas.microsoft.com/office/drawing/2014/main" id="{32296F0F-F7CC-8D6B-6238-6950A5A76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10" y="5712552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2" name="Text Box 51">
              <a:extLst>
                <a:ext uri="{FF2B5EF4-FFF2-40B4-BE49-F238E27FC236}">
                  <a16:creationId xmlns:a16="http://schemas.microsoft.com/office/drawing/2014/main" id="{1F59EC9B-69F9-DC9D-CBCB-1E08235AB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8" y="5712552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3" name="Text Box 52">
              <a:extLst>
                <a:ext uri="{FF2B5EF4-FFF2-40B4-BE49-F238E27FC236}">
                  <a16:creationId xmlns:a16="http://schemas.microsoft.com/office/drawing/2014/main" id="{61E736FB-96BB-A3B5-E134-C7ABA271E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5" y="5707747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4" name="Text Box 53">
              <a:extLst>
                <a:ext uri="{FF2B5EF4-FFF2-40B4-BE49-F238E27FC236}">
                  <a16:creationId xmlns:a16="http://schemas.microsoft.com/office/drawing/2014/main" id="{92B8859F-49EE-C999-906F-4E5B30214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90" y="5715755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5" name="Text Box 154">
              <a:extLst>
                <a:ext uri="{FF2B5EF4-FFF2-40B4-BE49-F238E27FC236}">
                  <a16:creationId xmlns:a16="http://schemas.microsoft.com/office/drawing/2014/main" id="{81B4129E-20B1-118C-2B12-E6DB64D17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40" y="5710950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8DD06F24-3A92-281A-AC22-85E4E460B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5731" y="5605840"/>
              <a:ext cx="0" cy="1531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61" name="Marcador de contenido 2">
            <a:extLst>
              <a:ext uri="{FF2B5EF4-FFF2-40B4-BE49-F238E27FC236}">
                <a16:creationId xmlns:a16="http://schemas.microsoft.com/office/drawing/2014/main" id="{DAB2C340-6110-9210-A55D-DA26A2796659}"/>
              </a:ext>
            </a:extLst>
          </p:cNvPr>
          <p:cNvSpPr txBox="1">
            <a:spLocks/>
          </p:cNvSpPr>
          <p:nvPr/>
        </p:nvSpPr>
        <p:spPr>
          <a:xfrm>
            <a:off x="785136" y="3300425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I: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5784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Marcador de contenido 5">
            <a:extLst>
              <a:ext uri="{FF2B5EF4-FFF2-40B4-BE49-F238E27FC236}">
                <a16:creationId xmlns:a16="http://schemas.microsoft.com/office/drawing/2014/main" id="{CCEFD0B1-4C62-A54F-F45F-32645DA13E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623150"/>
              </p:ext>
            </p:extLst>
          </p:nvPr>
        </p:nvGraphicFramePr>
        <p:xfrm>
          <a:off x="1055167" y="1022863"/>
          <a:ext cx="7765304" cy="1173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45"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Operación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Arial Narrow"/>
                          <a:cs typeface="Arial Narrow"/>
                        </a:rPr>
                        <a:t>Formato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600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rs2,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(rs1)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[rs1+inm]</a:t>
                      </a:r>
                      <a:r>
                        <a:rPr lang="es-ES_tradnl" sz="1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rs2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281">
                <a:tc>
                  <a:txBody>
                    <a:bodyPr/>
                    <a:lstStyle/>
                    <a:p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rs1, rs2,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endParaRPr lang="es-ES_tradnl" sz="1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 rs1==rs2, PC = </a:t>
                      </a:r>
                      <a:r>
                        <a:rPr lang="es-ES_tradnl" sz="1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etiq</a:t>
                      </a:r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sino PC = PC+4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La ruta de datos: Selección de instrucciones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A21F077-7D60-4BD1-9C33-0950FCD58A0C}"/>
              </a:ext>
            </a:extLst>
          </p:cNvPr>
          <p:cNvGrpSpPr/>
          <p:nvPr/>
        </p:nvGrpSpPr>
        <p:grpSpPr>
          <a:xfrm>
            <a:off x="1692415" y="3722712"/>
            <a:ext cx="5759169" cy="1215450"/>
            <a:chOff x="2629256" y="5013629"/>
            <a:chExt cx="5759169" cy="1215450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9D0749B6-2149-D2DF-50EE-D93DAAB244BE}"/>
                </a:ext>
              </a:extLst>
            </p:cNvPr>
            <p:cNvGrpSpPr/>
            <p:nvPr/>
          </p:nvGrpSpPr>
          <p:grpSpPr>
            <a:xfrm>
              <a:off x="2631142" y="5013629"/>
              <a:ext cx="5757283" cy="1215450"/>
              <a:chOff x="3110623" y="5917230"/>
              <a:chExt cx="3343970" cy="802350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82AA87D-4BB2-3D16-85F8-5F6225766F01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18" name="Group 9">
                  <a:extLst>
                    <a:ext uri="{FF2B5EF4-FFF2-40B4-BE49-F238E27FC236}">
                      <a16:creationId xmlns:a16="http://schemas.microsoft.com/office/drawing/2014/main" id="{EF9EB59D-92FF-BBAD-12CB-518319F8F0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20" name="Rectangle 10">
                    <a:extLst>
                      <a:ext uri="{FF2B5EF4-FFF2-40B4-BE49-F238E27FC236}">
                        <a16:creationId xmlns:a16="http://schemas.microsoft.com/office/drawing/2014/main" id="{E7963649-36C8-5373-94EB-DBDA8BA1D0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21" name="Group 155">
                    <a:extLst>
                      <a:ext uri="{FF2B5EF4-FFF2-40B4-BE49-F238E27FC236}">
                        <a16:creationId xmlns:a16="http://schemas.microsoft.com/office/drawing/2014/main" id="{1B110EED-B6A4-2792-7499-E03C441B06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48"/>
                    <a:ext cx="2420" cy="231"/>
                    <a:chOff x="1201" y="1263"/>
                    <a:chExt cx="3119" cy="379"/>
                  </a:xfrm>
                </p:grpSpPr>
                <p:grpSp>
                  <p:nvGrpSpPr>
                    <p:cNvPr id="22" name="Group 5">
                      <a:extLst>
                        <a:ext uri="{FF2B5EF4-FFF2-40B4-BE49-F238E27FC236}">
                          <a16:creationId xmlns:a16="http://schemas.microsoft.com/office/drawing/2014/main" id="{60ED2720-41ED-6461-8BFE-81C32A6A95B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33" name="Rectangle 6">
                        <a:extLst>
                          <a:ext uri="{FF2B5EF4-FFF2-40B4-BE49-F238E27FC236}">
                            <a16:creationId xmlns:a16="http://schemas.microsoft.com/office/drawing/2014/main" id="{42F9A8CF-82BF-F894-286F-DBF709F588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34" name="Group 7">
                        <a:extLst>
                          <a:ext uri="{FF2B5EF4-FFF2-40B4-BE49-F238E27FC236}">
                            <a16:creationId xmlns:a16="http://schemas.microsoft.com/office/drawing/2014/main" id="{A6CEF349-7D97-A0A4-8446-310A3C5AE41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35" name="Line 9">
                          <a:extLst>
                            <a:ext uri="{FF2B5EF4-FFF2-40B4-BE49-F238E27FC236}">
                              <a16:creationId xmlns:a16="http://schemas.microsoft.com/office/drawing/2014/main" id="{9E2F5148-96F8-D3C5-BCD5-EB8D0C21E74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6" name="Line 10">
                          <a:extLst>
                            <a:ext uri="{FF2B5EF4-FFF2-40B4-BE49-F238E27FC236}">
                              <a16:creationId xmlns:a16="http://schemas.microsoft.com/office/drawing/2014/main" id="{A9EC9736-E5DE-04DE-F218-ABC37CB835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7" name="Line 11">
                          <a:extLst>
                            <a:ext uri="{FF2B5EF4-FFF2-40B4-BE49-F238E27FC236}">
                              <a16:creationId xmlns:a16="http://schemas.microsoft.com/office/drawing/2014/main" id="{A1D8C26A-B45F-9260-FC73-A8DF120CA05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8" name="Line 12">
                          <a:extLst>
                            <a:ext uri="{FF2B5EF4-FFF2-40B4-BE49-F238E27FC236}">
                              <a16:creationId xmlns:a16="http://schemas.microsoft.com/office/drawing/2014/main" id="{81D3FC78-D0E6-5C7B-6B6A-F072D3CE14B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9" name="Line 13">
                          <a:extLst>
                            <a:ext uri="{FF2B5EF4-FFF2-40B4-BE49-F238E27FC236}">
                              <a16:creationId xmlns:a16="http://schemas.microsoft.com/office/drawing/2014/main" id="{B0A2E029-0292-D157-BBED-6D6D2A109B4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0" name="Line 14">
                          <a:extLst>
                            <a:ext uri="{FF2B5EF4-FFF2-40B4-BE49-F238E27FC236}">
                              <a16:creationId xmlns:a16="http://schemas.microsoft.com/office/drawing/2014/main" id="{162DFBCC-F8D5-773C-8DE4-2A8DE063438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1" name="Line 15">
                          <a:extLst>
                            <a:ext uri="{FF2B5EF4-FFF2-40B4-BE49-F238E27FC236}">
                              <a16:creationId xmlns:a16="http://schemas.microsoft.com/office/drawing/2014/main" id="{E7866A28-DB61-5B38-B590-3BC1BE4C34A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2" name="Line 16">
                          <a:extLst>
                            <a:ext uri="{FF2B5EF4-FFF2-40B4-BE49-F238E27FC236}">
                              <a16:creationId xmlns:a16="http://schemas.microsoft.com/office/drawing/2014/main" id="{725F6662-26C0-9D4B-D520-FE5A6D6A19A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3" name="Line 17">
                          <a:extLst>
                            <a:ext uri="{FF2B5EF4-FFF2-40B4-BE49-F238E27FC236}">
                              <a16:creationId xmlns:a16="http://schemas.microsoft.com/office/drawing/2014/main" id="{F52B98F9-5903-097E-BFDA-AADC4F440B0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4" name="Line 18">
                          <a:extLst>
                            <a:ext uri="{FF2B5EF4-FFF2-40B4-BE49-F238E27FC236}">
                              <a16:creationId xmlns:a16="http://schemas.microsoft.com/office/drawing/2014/main" id="{A9B7BD79-C614-B88E-6889-1C828A7DA20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5" name="Line 19">
                          <a:extLst>
                            <a:ext uri="{FF2B5EF4-FFF2-40B4-BE49-F238E27FC236}">
                              <a16:creationId xmlns:a16="http://schemas.microsoft.com/office/drawing/2014/main" id="{8CB75893-4B18-2F0B-3B9E-4BE83300902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6" name="Line 20">
                          <a:extLst>
                            <a:ext uri="{FF2B5EF4-FFF2-40B4-BE49-F238E27FC236}">
                              <a16:creationId xmlns:a16="http://schemas.microsoft.com/office/drawing/2014/main" id="{415FB4B6-14FA-3D6F-D294-A70A6F9A1B0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7" name="Line 21">
                          <a:extLst>
                            <a:ext uri="{FF2B5EF4-FFF2-40B4-BE49-F238E27FC236}">
                              <a16:creationId xmlns:a16="http://schemas.microsoft.com/office/drawing/2014/main" id="{39477850-C31F-B47A-A8D6-BDFE477AAC4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8" name="Line 22">
                          <a:extLst>
                            <a:ext uri="{FF2B5EF4-FFF2-40B4-BE49-F238E27FC236}">
                              <a16:creationId xmlns:a16="http://schemas.microsoft.com/office/drawing/2014/main" id="{8C031D3A-C403-0804-3253-B254DBA72BE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9" name="Line 23">
                          <a:extLst>
                            <a:ext uri="{FF2B5EF4-FFF2-40B4-BE49-F238E27FC236}">
                              <a16:creationId xmlns:a16="http://schemas.microsoft.com/office/drawing/2014/main" id="{EE0F6A16-A7D4-8C7F-482E-D4D06259C71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0" name="Line 24">
                          <a:extLst>
                            <a:ext uri="{FF2B5EF4-FFF2-40B4-BE49-F238E27FC236}">
                              <a16:creationId xmlns:a16="http://schemas.microsoft.com/office/drawing/2014/main" id="{1690F093-0287-6810-BA8A-906CC5C9D58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1" name="Line 25">
                          <a:extLst>
                            <a:ext uri="{FF2B5EF4-FFF2-40B4-BE49-F238E27FC236}">
                              <a16:creationId xmlns:a16="http://schemas.microsoft.com/office/drawing/2014/main" id="{05378D57-3D26-BB81-5BA3-BCDB430F7F7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2" name="Line 26">
                          <a:extLst>
                            <a:ext uri="{FF2B5EF4-FFF2-40B4-BE49-F238E27FC236}">
                              <a16:creationId xmlns:a16="http://schemas.microsoft.com/office/drawing/2014/main" id="{E15FB38E-EC79-3FAA-3FB7-0AAD4D6024E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3" name="Line 27">
                          <a:extLst>
                            <a:ext uri="{FF2B5EF4-FFF2-40B4-BE49-F238E27FC236}">
                              <a16:creationId xmlns:a16="http://schemas.microsoft.com/office/drawing/2014/main" id="{8EDFC5D4-ED54-90D4-4CAC-D0FD3F3F48D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4" name="Line 28">
                          <a:extLst>
                            <a:ext uri="{FF2B5EF4-FFF2-40B4-BE49-F238E27FC236}">
                              <a16:creationId xmlns:a16="http://schemas.microsoft.com/office/drawing/2014/main" id="{35C60F6B-BCAB-D841-D341-D08D5F2A183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5" name="Line 29">
                          <a:extLst>
                            <a:ext uri="{FF2B5EF4-FFF2-40B4-BE49-F238E27FC236}">
                              <a16:creationId xmlns:a16="http://schemas.microsoft.com/office/drawing/2014/main" id="{EB58A236-9A82-1DCE-A5AA-50502DC042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6" name="Line 30">
                          <a:extLst>
                            <a:ext uri="{FF2B5EF4-FFF2-40B4-BE49-F238E27FC236}">
                              <a16:creationId xmlns:a16="http://schemas.microsoft.com/office/drawing/2014/main" id="{5AA48700-B67B-B0B5-DA03-448C43A5EB4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7" name="Line 31">
                          <a:extLst>
                            <a:ext uri="{FF2B5EF4-FFF2-40B4-BE49-F238E27FC236}">
                              <a16:creationId xmlns:a16="http://schemas.microsoft.com/office/drawing/2014/main" id="{4AC2B6E2-E900-E711-CDAF-23BA9DCC13A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8" name="Line 32">
                          <a:extLst>
                            <a:ext uri="{FF2B5EF4-FFF2-40B4-BE49-F238E27FC236}">
                              <a16:creationId xmlns:a16="http://schemas.microsoft.com/office/drawing/2014/main" id="{F84E35F0-2BA8-07FF-3AA3-FB7E465DAF5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9" name="Line 33">
                          <a:extLst>
                            <a:ext uri="{FF2B5EF4-FFF2-40B4-BE49-F238E27FC236}">
                              <a16:creationId xmlns:a16="http://schemas.microsoft.com/office/drawing/2014/main" id="{90C4262C-52A0-A2FC-FCED-57B8D33D902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0" name="Line 34">
                          <a:extLst>
                            <a:ext uri="{FF2B5EF4-FFF2-40B4-BE49-F238E27FC236}">
                              <a16:creationId xmlns:a16="http://schemas.microsoft.com/office/drawing/2014/main" id="{A1D93B29-431E-2294-8B0E-5A953180DD6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1" name="Line 35">
                          <a:extLst>
                            <a:ext uri="{FF2B5EF4-FFF2-40B4-BE49-F238E27FC236}">
                              <a16:creationId xmlns:a16="http://schemas.microsoft.com/office/drawing/2014/main" id="{3330C121-F912-C1E1-8A1A-8BAE12D592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3" name="Line 36">
                          <a:extLst>
                            <a:ext uri="{FF2B5EF4-FFF2-40B4-BE49-F238E27FC236}">
                              <a16:creationId xmlns:a16="http://schemas.microsoft.com/office/drawing/2014/main" id="{E4CC186F-0BA7-ABB8-279D-4642D05C661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28" name="Line 37">
                          <a:extLst>
                            <a:ext uri="{FF2B5EF4-FFF2-40B4-BE49-F238E27FC236}">
                              <a16:creationId xmlns:a16="http://schemas.microsoft.com/office/drawing/2014/main" id="{375C1B42-797F-0CA2-10FA-DBF2DA456D1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29" name="Line 38">
                          <a:extLst>
                            <a:ext uri="{FF2B5EF4-FFF2-40B4-BE49-F238E27FC236}">
                              <a16:creationId xmlns:a16="http://schemas.microsoft.com/office/drawing/2014/main" id="{D86A3CC8-AD83-8A28-FFAD-71A5D5937E6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23" name="Line 39">
                      <a:extLst>
                        <a:ext uri="{FF2B5EF4-FFF2-40B4-BE49-F238E27FC236}">
                          <a16:creationId xmlns:a16="http://schemas.microsoft.com/office/drawing/2014/main" id="{250F6DD7-B09B-9CB6-B3DF-0530FC24A7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4" name="Text Box 40">
                      <a:extLst>
                        <a:ext uri="{FF2B5EF4-FFF2-40B4-BE49-F238E27FC236}">
                          <a16:creationId xmlns:a16="http://schemas.microsoft.com/office/drawing/2014/main" id="{E410C8FD-462E-B819-BC63-242D8A0465D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[11:5]</a:t>
                      </a:r>
                    </a:p>
                  </p:txBody>
                </p:sp>
                <p:sp>
                  <p:nvSpPr>
                    <p:cNvPr id="25" name="Text Box 41">
                      <a:extLst>
                        <a:ext uri="{FF2B5EF4-FFF2-40B4-BE49-F238E27FC236}">
                          <a16:creationId xmlns:a16="http://schemas.microsoft.com/office/drawing/2014/main" id="{5C3BB3D4-5A10-7B16-1A14-485403B88EB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43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26" name="Line 42">
                      <a:extLst>
                        <a:ext uri="{FF2B5EF4-FFF2-40B4-BE49-F238E27FC236}">
                          <a16:creationId xmlns:a16="http://schemas.microsoft.com/office/drawing/2014/main" id="{3E219CC4-C49D-6B74-8814-40C7D85058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" name="Line 43">
                      <a:extLst>
                        <a:ext uri="{FF2B5EF4-FFF2-40B4-BE49-F238E27FC236}">
                          <a16:creationId xmlns:a16="http://schemas.microsoft.com/office/drawing/2014/main" id="{0F3A472F-F817-4B31-EA96-0431A4097B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" name="Line 44">
                      <a:extLst>
                        <a:ext uri="{FF2B5EF4-FFF2-40B4-BE49-F238E27FC236}">
                          <a16:creationId xmlns:a16="http://schemas.microsoft.com/office/drawing/2014/main" id="{34D1D39A-750C-B71F-5746-DAD888D187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" name="Text Box 45">
                      <a:extLst>
                        <a:ext uri="{FF2B5EF4-FFF2-40B4-BE49-F238E27FC236}">
                          <a16:creationId xmlns:a16="http://schemas.microsoft.com/office/drawing/2014/main" id="{B1460E27-F6EE-6095-F3CD-04B10AA397C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0" name="Text Box 46">
                      <a:extLst>
                        <a:ext uri="{FF2B5EF4-FFF2-40B4-BE49-F238E27FC236}">
                          <a16:creationId xmlns:a16="http://schemas.microsoft.com/office/drawing/2014/main" id="{882D1489-FE9C-531B-6142-32AFA23A59CA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31" name="Text Box 47">
                      <a:extLst>
                        <a:ext uri="{FF2B5EF4-FFF2-40B4-BE49-F238E27FC236}">
                          <a16:creationId xmlns:a16="http://schemas.microsoft.com/office/drawing/2014/main" id="{C67BF512-EB51-4135-435E-629D0D46908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2" name="Line 153">
                      <a:extLst>
                        <a:ext uri="{FF2B5EF4-FFF2-40B4-BE49-F238E27FC236}">
                          <a16:creationId xmlns:a16="http://schemas.microsoft.com/office/drawing/2014/main" id="{36E1050F-A5D6-AFC0-F6B2-061DF04710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9" name="Text Box 41">
                  <a:extLst>
                    <a:ext uri="{FF2B5EF4-FFF2-40B4-BE49-F238E27FC236}">
                      <a16:creationId xmlns:a16="http://schemas.microsoft.com/office/drawing/2014/main" id="{B0F53198-1FAC-894A-8A7F-CF323E8B116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6089920"/>
                  <a:ext cx="737522" cy="1676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050" b="1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1050" b="1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[4:0]</a:t>
                  </a:r>
                  <a:endParaRPr lang="es-ES_tradnl" sz="10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B9A269CB-F8D7-0E2E-14D0-54C171E51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9" name="Text Box 48">
              <a:extLst>
                <a:ext uri="{FF2B5EF4-FFF2-40B4-BE49-F238E27FC236}">
                  <a16:creationId xmlns:a16="http://schemas.microsoft.com/office/drawing/2014/main" id="{51BE1AA0-800A-2521-1107-7A5C4D3F8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6" y="5725673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0" name="Text Box 49">
              <a:extLst>
                <a:ext uri="{FF2B5EF4-FFF2-40B4-BE49-F238E27FC236}">
                  <a16:creationId xmlns:a16="http://schemas.microsoft.com/office/drawing/2014/main" id="{03DB4550-F74C-459C-90CF-6F2778C7E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1" y="5727275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1" name="Text Box 50">
              <a:extLst>
                <a:ext uri="{FF2B5EF4-FFF2-40B4-BE49-F238E27FC236}">
                  <a16:creationId xmlns:a16="http://schemas.microsoft.com/office/drawing/2014/main" id="{96444856-CC1B-CDBF-C05A-0066C583F0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09" y="5730478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2" name="Text Box 51">
              <a:extLst>
                <a:ext uri="{FF2B5EF4-FFF2-40B4-BE49-F238E27FC236}">
                  <a16:creationId xmlns:a16="http://schemas.microsoft.com/office/drawing/2014/main" id="{C980B38A-4277-1CD1-7D02-62F59F854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7" y="5730478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3" name="Text Box 52">
              <a:extLst>
                <a:ext uri="{FF2B5EF4-FFF2-40B4-BE49-F238E27FC236}">
                  <a16:creationId xmlns:a16="http://schemas.microsoft.com/office/drawing/2014/main" id="{A54B6C3F-30F8-33A9-8863-116A234D1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4" y="5725673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4" name="Text Box 53">
              <a:extLst>
                <a:ext uri="{FF2B5EF4-FFF2-40B4-BE49-F238E27FC236}">
                  <a16:creationId xmlns:a16="http://schemas.microsoft.com/office/drawing/2014/main" id="{4C5189B0-C1A8-0099-B1D9-44B9D8213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89" y="5733681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5" name="Text Box 154">
              <a:extLst>
                <a:ext uri="{FF2B5EF4-FFF2-40B4-BE49-F238E27FC236}">
                  <a16:creationId xmlns:a16="http://schemas.microsoft.com/office/drawing/2014/main" id="{0F02D014-CC15-F550-3EFC-328BA4AA2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39" y="5728876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C8B66E2C-5374-77D5-7A29-443C8F4E6DEA}"/>
              </a:ext>
            </a:extLst>
          </p:cNvPr>
          <p:cNvGrpSpPr/>
          <p:nvPr/>
        </p:nvGrpSpPr>
        <p:grpSpPr>
          <a:xfrm>
            <a:off x="1696924" y="5452887"/>
            <a:ext cx="5759167" cy="1215450"/>
            <a:chOff x="2629258" y="5013629"/>
            <a:chExt cx="5759167" cy="1215450"/>
          </a:xfrm>
        </p:grpSpPr>
        <p:grpSp>
          <p:nvGrpSpPr>
            <p:cNvPr id="131" name="Grupo 130">
              <a:extLst>
                <a:ext uri="{FF2B5EF4-FFF2-40B4-BE49-F238E27FC236}">
                  <a16:creationId xmlns:a16="http://schemas.microsoft.com/office/drawing/2014/main" id="{19CD076D-5599-FAA9-F714-B3C3EFA53267}"/>
                </a:ext>
              </a:extLst>
            </p:cNvPr>
            <p:cNvGrpSpPr/>
            <p:nvPr/>
          </p:nvGrpSpPr>
          <p:grpSpPr>
            <a:xfrm>
              <a:off x="2631142" y="5013629"/>
              <a:ext cx="5757283" cy="1215450"/>
              <a:chOff x="3110623" y="5917230"/>
              <a:chExt cx="3343970" cy="802350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27C95FFF-E129-3AC9-C514-022EE93A678C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141" name="Group 9">
                  <a:extLst>
                    <a:ext uri="{FF2B5EF4-FFF2-40B4-BE49-F238E27FC236}">
                      <a16:creationId xmlns:a16="http://schemas.microsoft.com/office/drawing/2014/main" id="{DF1FD7C0-0547-5305-8DCC-C74B2D5A54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143" name="Rectangle 10">
                    <a:extLst>
                      <a:ext uri="{FF2B5EF4-FFF2-40B4-BE49-F238E27FC236}">
                        <a16:creationId xmlns:a16="http://schemas.microsoft.com/office/drawing/2014/main" id="{D0105196-DDCA-36E7-80BD-090132FDD4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44" name="Group 155">
                    <a:extLst>
                      <a:ext uri="{FF2B5EF4-FFF2-40B4-BE49-F238E27FC236}">
                        <a16:creationId xmlns:a16="http://schemas.microsoft.com/office/drawing/2014/main" id="{C7350E2E-7758-B25A-CA16-4FD86EC2B73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48"/>
                    <a:ext cx="2420" cy="231"/>
                    <a:chOff x="1201" y="1263"/>
                    <a:chExt cx="3119" cy="379"/>
                  </a:xfrm>
                </p:grpSpPr>
                <p:grpSp>
                  <p:nvGrpSpPr>
                    <p:cNvPr id="145" name="Group 5">
                      <a:extLst>
                        <a:ext uri="{FF2B5EF4-FFF2-40B4-BE49-F238E27FC236}">
                          <a16:creationId xmlns:a16="http://schemas.microsoft.com/office/drawing/2014/main" id="{FF4D8792-7720-F64D-CC68-228A93799B1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156" name="Rectangle 6">
                        <a:extLst>
                          <a:ext uri="{FF2B5EF4-FFF2-40B4-BE49-F238E27FC236}">
                            <a16:creationId xmlns:a16="http://schemas.microsoft.com/office/drawing/2014/main" id="{A46BCA7B-6BE4-32A2-2611-1852595CB4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157" name="Group 7">
                        <a:extLst>
                          <a:ext uri="{FF2B5EF4-FFF2-40B4-BE49-F238E27FC236}">
                            <a16:creationId xmlns:a16="http://schemas.microsoft.com/office/drawing/2014/main" id="{2E90C4F2-0B77-C0AF-43F5-6E1F1004DD4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158" name="Line 9">
                          <a:extLst>
                            <a:ext uri="{FF2B5EF4-FFF2-40B4-BE49-F238E27FC236}">
                              <a16:creationId xmlns:a16="http://schemas.microsoft.com/office/drawing/2014/main" id="{DC0EE7B8-2BF1-6C02-9A7A-6BA7FD4F9E0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59" name="Line 10">
                          <a:extLst>
                            <a:ext uri="{FF2B5EF4-FFF2-40B4-BE49-F238E27FC236}">
                              <a16:creationId xmlns:a16="http://schemas.microsoft.com/office/drawing/2014/main" id="{C150FC91-7C3B-6A8A-8BEC-366409A05D8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26" name="Line 11">
                          <a:extLst>
                            <a:ext uri="{FF2B5EF4-FFF2-40B4-BE49-F238E27FC236}">
                              <a16:creationId xmlns:a16="http://schemas.microsoft.com/office/drawing/2014/main" id="{75549ADB-A4CD-8FA1-0FA4-7536A2CE819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27" name="Line 12">
                          <a:extLst>
                            <a:ext uri="{FF2B5EF4-FFF2-40B4-BE49-F238E27FC236}">
                              <a16:creationId xmlns:a16="http://schemas.microsoft.com/office/drawing/2014/main" id="{298F0F75-A6FE-30D4-D6FB-5F291BE5199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28" name="Line 13">
                          <a:extLst>
                            <a:ext uri="{FF2B5EF4-FFF2-40B4-BE49-F238E27FC236}">
                              <a16:creationId xmlns:a16="http://schemas.microsoft.com/office/drawing/2014/main" id="{29107F0B-D031-96BD-64C4-544A8EEA7B9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29" name="Line 14">
                          <a:extLst>
                            <a:ext uri="{FF2B5EF4-FFF2-40B4-BE49-F238E27FC236}">
                              <a16:creationId xmlns:a16="http://schemas.microsoft.com/office/drawing/2014/main" id="{5632BA69-AFC9-03E8-50BC-86BC731DE92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0" name="Line 15">
                          <a:extLst>
                            <a:ext uri="{FF2B5EF4-FFF2-40B4-BE49-F238E27FC236}">
                              <a16:creationId xmlns:a16="http://schemas.microsoft.com/office/drawing/2014/main" id="{D83F170E-EFBC-B799-DD6F-50AE1BA1F16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1" name="Line 16">
                          <a:extLst>
                            <a:ext uri="{FF2B5EF4-FFF2-40B4-BE49-F238E27FC236}">
                              <a16:creationId xmlns:a16="http://schemas.microsoft.com/office/drawing/2014/main" id="{B63D391E-C785-8342-1F86-735B8AB6E30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2" name="Line 17">
                          <a:extLst>
                            <a:ext uri="{FF2B5EF4-FFF2-40B4-BE49-F238E27FC236}">
                              <a16:creationId xmlns:a16="http://schemas.microsoft.com/office/drawing/2014/main" id="{0089D91C-6865-8BF9-7B83-65506F71B29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3" name="Line 18">
                          <a:extLst>
                            <a:ext uri="{FF2B5EF4-FFF2-40B4-BE49-F238E27FC236}">
                              <a16:creationId xmlns:a16="http://schemas.microsoft.com/office/drawing/2014/main" id="{31488317-B82C-458E-EFCC-707DFE7D281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4" name="Line 19">
                          <a:extLst>
                            <a:ext uri="{FF2B5EF4-FFF2-40B4-BE49-F238E27FC236}">
                              <a16:creationId xmlns:a16="http://schemas.microsoft.com/office/drawing/2014/main" id="{8FA7C9DE-8412-EF4C-07A7-A37943B1FF6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5" name="Line 20">
                          <a:extLst>
                            <a:ext uri="{FF2B5EF4-FFF2-40B4-BE49-F238E27FC236}">
                              <a16:creationId xmlns:a16="http://schemas.microsoft.com/office/drawing/2014/main" id="{9DE91EE7-0B44-CAD5-2E85-51B9B35B194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6" name="Line 21">
                          <a:extLst>
                            <a:ext uri="{FF2B5EF4-FFF2-40B4-BE49-F238E27FC236}">
                              <a16:creationId xmlns:a16="http://schemas.microsoft.com/office/drawing/2014/main" id="{9609A6EE-D284-8024-51A3-65986CDC9C8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7" name="Line 22">
                          <a:extLst>
                            <a:ext uri="{FF2B5EF4-FFF2-40B4-BE49-F238E27FC236}">
                              <a16:creationId xmlns:a16="http://schemas.microsoft.com/office/drawing/2014/main" id="{0CA179FC-75F2-8EDF-47D9-03BC28479B6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8" name="Line 23">
                          <a:extLst>
                            <a:ext uri="{FF2B5EF4-FFF2-40B4-BE49-F238E27FC236}">
                              <a16:creationId xmlns:a16="http://schemas.microsoft.com/office/drawing/2014/main" id="{BD33A82B-E317-65EB-42AE-194B00F9E9E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39" name="Line 24">
                          <a:extLst>
                            <a:ext uri="{FF2B5EF4-FFF2-40B4-BE49-F238E27FC236}">
                              <a16:creationId xmlns:a16="http://schemas.microsoft.com/office/drawing/2014/main" id="{D5FE5916-9CBF-F24A-66F6-C48CAD1C6A6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0" name="Line 25">
                          <a:extLst>
                            <a:ext uri="{FF2B5EF4-FFF2-40B4-BE49-F238E27FC236}">
                              <a16:creationId xmlns:a16="http://schemas.microsoft.com/office/drawing/2014/main" id="{B535BFDF-15D0-E594-C3DA-16C5F1B50F4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1" name="Line 26">
                          <a:extLst>
                            <a:ext uri="{FF2B5EF4-FFF2-40B4-BE49-F238E27FC236}">
                              <a16:creationId xmlns:a16="http://schemas.microsoft.com/office/drawing/2014/main" id="{954C85EC-6332-4BBE-FAB1-4D8E396F699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2" name="Line 27">
                          <a:extLst>
                            <a:ext uri="{FF2B5EF4-FFF2-40B4-BE49-F238E27FC236}">
                              <a16:creationId xmlns:a16="http://schemas.microsoft.com/office/drawing/2014/main" id="{77A441A1-43EA-230E-5591-91A870CFA6E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3" name="Line 28">
                          <a:extLst>
                            <a:ext uri="{FF2B5EF4-FFF2-40B4-BE49-F238E27FC236}">
                              <a16:creationId xmlns:a16="http://schemas.microsoft.com/office/drawing/2014/main" id="{86C50282-C5F3-AF40-06D5-4A88BB86AFE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4" name="Line 29">
                          <a:extLst>
                            <a:ext uri="{FF2B5EF4-FFF2-40B4-BE49-F238E27FC236}">
                              <a16:creationId xmlns:a16="http://schemas.microsoft.com/office/drawing/2014/main" id="{0CE6CC01-6249-FD72-2E0D-B42DA40B89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5" name="Line 30">
                          <a:extLst>
                            <a:ext uri="{FF2B5EF4-FFF2-40B4-BE49-F238E27FC236}">
                              <a16:creationId xmlns:a16="http://schemas.microsoft.com/office/drawing/2014/main" id="{A8A4E6C2-0AD5-8B95-6ACD-5A5026A34A5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6" name="Line 31">
                          <a:extLst>
                            <a:ext uri="{FF2B5EF4-FFF2-40B4-BE49-F238E27FC236}">
                              <a16:creationId xmlns:a16="http://schemas.microsoft.com/office/drawing/2014/main" id="{5CE61AE1-F29D-9B40-66F9-8E72B9AA131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7" name="Line 32">
                          <a:extLst>
                            <a:ext uri="{FF2B5EF4-FFF2-40B4-BE49-F238E27FC236}">
                              <a16:creationId xmlns:a16="http://schemas.microsoft.com/office/drawing/2014/main" id="{C8B769A3-97FF-8F6C-F3E0-2FCFDE50903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8" name="Line 33">
                          <a:extLst>
                            <a:ext uri="{FF2B5EF4-FFF2-40B4-BE49-F238E27FC236}">
                              <a16:creationId xmlns:a16="http://schemas.microsoft.com/office/drawing/2014/main" id="{AEB3DA53-FAF4-5BE8-93C6-7C53BB8BF52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49" name="Line 34">
                          <a:extLst>
                            <a:ext uri="{FF2B5EF4-FFF2-40B4-BE49-F238E27FC236}">
                              <a16:creationId xmlns:a16="http://schemas.microsoft.com/office/drawing/2014/main" id="{19719543-65B7-E027-D2CB-2E233B04A5B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50" name="Line 35">
                          <a:extLst>
                            <a:ext uri="{FF2B5EF4-FFF2-40B4-BE49-F238E27FC236}">
                              <a16:creationId xmlns:a16="http://schemas.microsoft.com/office/drawing/2014/main" id="{2B7B834A-671B-E887-B4D2-72F208132E6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51" name="Line 36">
                          <a:extLst>
                            <a:ext uri="{FF2B5EF4-FFF2-40B4-BE49-F238E27FC236}">
                              <a16:creationId xmlns:a16="http://schemas.microsoft.com/office/drawing/2014/main" id="{D1F093CD-E3F6-3F91-76EC-87CF1331BFE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52" name="Line 37">
                          <a:extLst>
                            <a:ext uri="{FF2B5EF4-FFF2-40B4-BE49-F238E27FC236}">
                              <a16:creationId xmlns:a16="http://schemas.microsoft.com/office/drawing/2014/main" id="{ED423217-4771-8471-F5E3-79498246E51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353" name="Line 38">
                          <a:extLst>
                            <a:ext uri="{FF2B5EF4-FFF2-40B4-BE49-F238E27FC236}">
                              <a16:creationId xmlns:a16="http://schemas.microsoft.com/office/drawing/2014/main" id="{CDBB51F8-4F30-9AAA-2EE8-9B71FAB9E9B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146" name="Line 39">
                      <a:extLst>
                        <a:ext uri="{FF2B5EF4-FFF2-40B4-BE49-F238E27FC236}">
                          <a16:creationId xmlns:a16="http://schemas.microsoft.com/office/drawing/2014/main" id="{972F4256-46C0-9BDC-653E-21DF8BBE4E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47" name="Text Box 40">
                      <a:extLst>
                        <a:ext uri="{FF2B5EF4-FFF2-40B4-BE49-F238E27FC236}">
                          <a16:creationId xmlns:a16="http://schemas.microsoft.com/office/drawing/2014/main" id="{BC1EC928-2274-8F7B-56BA-DD7EAC023EC9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[12|10:5]</a:t>
                      </a:r>
                    </a:p>
                  </p:txBody>
                </p:sp>
                <p:sp>
                  <p:nvSpPr>
                    <p:cNvPr id="148" name="Text Box 41">
                      <a:extLst>
                        <a:ext uri="{FF2B5EF4-FFF2-40B4-BE49-F238E27FC236}">
                          <a16:creationId xmlns:a16="http://schemas.microsoft.com/office/drawing/2014/main" id="{6FD0D072-2249-68B4-D7E1-478174A31BAC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43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149" name="Line 42">
                      <a:extLst>
                        <a:ext uri="{FF2B5EF4-FFF2-40B4-BE49-F238E27FC236}">
                          <a16:creationId xmlns:a16="http://schemas.microsoft.com/office/drawing/2014/main" id="{4E9A8D3E-90AF-0B61-A419-DF5BA8D3AA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0" name="Line 43">
                      <a:extLst>
                        <a:ext uri="{FF2B5EF4-FFF2-40B4-BE49-F238E27FC236}">
                          <a16:creationId xmlns:a16="http://schemas.microsoft.com/office/drawing/2014/main" id="{4564C837-2F74-B412-E96E-BBC34EDAC8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1" name="Line 44">
                      <a:extLst>
                        <a:ext uri="{FF2B5EF4-FFF2-40B4-BE49-F238E27FC236}">
                          <a16:creationId xmlns:a16="http://schemas.microsoft.com/office/drawing/2014/main" id="{9F1B9118-A7C2-10DA-F9A2-D9BFC2C982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2" name="Text Box 45">
                      <a:extLst>
                        <a:ext uri="{FF2B5EF4-FFF2-40B4-BE49-F238E27FC236}">
                          <a16:creationId xmlns:a16="http://schemas.microsoft.com/office/drawing/2014/main" id="{89337BF2-BEAC-AF9B-6B4D-4AEE5C0F9E58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3" name="Text Box 46">
                      <a:extLst>
                        <a:ext uri="{FF2B5EF4-FFF2-40B4-BE49-F238E27FC236}">
                          <a16:creationId xmlns:a16="http://schemas.microsoft.com/office/drawing/2014/main" id="{57E8F0B9-D6B0-06B3-73AE-22D607467F35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154" name="Text Box 47">
                      <a:extLst>
                        <a:ext uri="{FF2B5EF4-FFF2-40B4-BE49-F238E27FC236}">
                          <a16:creationId xmlns:a16="http://schemas.microsoft.com/office/drawing/2014/main" id="{55A7A58B-C69B-CDFF-55ED-86EF8CEE4D20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5" name="Line 153">
                      <a:extLst>
                        <a:ext uri="{FF2B5EF4-FFF2-40B4-BE49-F238E27FC236}">
                          <a16:creationId xmlns:a16="http://schemas.microsoft.com/office/drawing/2014/main" id="{F007BF73-8E5B-A041-7371-FFAEF9F71B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6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42" name="Text Box 41">
                  <a:extLst>
                    <a:ext uri="{FF2B5EF4-FFF2-40B4-BE49-F238E27FC236}">
                      <a16:creationId xmlns:a16="http://schemas.microsoft.com/office/drawing/2014/main" id="{27A3E141-11AE-8E11-54D4-4A1FBC5F6FC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6089920"/>
                  <a:ext cx="737522" cy="1676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050" b="1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1050" b="1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[4:1|11]</a:t>
                  </a:r>
                  <a:endParaRPr lang="es-ES_tradnl" sz="10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40" name="Line 11">
                <a:extLst>
                  <a:ext uri="{FF2B5EF4-FFF2-40B4-BE49-F238E27FC236}">
                    <a16:creationId xmlns:a16="http://schemas.microsoft.com/office/drawing/2014/main" id="{A7CF635E-9487-6286-A0C9-5C32BF3CE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32" name="Text Box 48">
              <a:extLst>
                <a:ext uri="{FF2B5EF4-FFF2-40B4-BE49-F238E27FC236}">
                  <a16:creationId xmlns:a16="http://schemas.microsoft.com/office/drawing/2014/main" id="{B686EE4F-CE4E-C072-E4A4-1244D94E2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58" y="5743604"/>
              <a:ext cx="513061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31</a:t>
              </a:r>
            </a:p>
          </p:txBody>
        </p:sp>
        <p:sp>
          <p:nvSpPr>
            <p:cNvPr id="133" name="Text Box 49">
              <a:extLst>
                <a:ext uri="{FF2B5EF4-FFF2-40B4-BE49-F238E27FC236}">
                  <a16:creationId xmlns:a16="http://schemas.microsoft.com/office/drawing/2014/main" id="{847D27A4-43FB-359D-C6C1-F159ECF7C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793" y="5745206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25</a:t>
              </a:r>
            </a:p>
          </p:txBody>
        </p:sp>
        <p:sp>
          <p:nvSpPr>
            <p:cNvPr id="134" name="Text Box 50">
              <a:extLst>
                <a:ext uri="{FF2B5EF4-FFF2-40B4-BE49-F238E27FC236}">
                  <a16:creationId xmlns:a16="http://schemas.microsoft.com/office/drawing/2014/main" id="{5936AE11-73EF-2D30-BB9A-D6A9BA2C6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611" y="5748409"/>
              <a:ext cx="354926" cy="26263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20</a:t>
              </a:r>
            </a:p>
          </p:txBody>
        </p:sp>
        <p:sp>
          <p:nvSpPr>
            <p:cNvPr id="135" name="Text Box 51">
              <a:extLst>
                <a:ext uri="{FF2B5EF4-FFF2-40B4-BE49-F238E27FC236}">
                  <a16:creationId xmlns:a16="http://schemas.microsoft.com/office/drawing/2014/main" id="{2570AB75-239E-C2AA-EA45-2B98C2265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7299" y="5748409"/>
              <a:ext cx="354926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</a:t>
              </a:r>
            </a:p>
          </p:txBody>
        </p:sp>
        <p:sp>
          <p:nvSpPr>
            <p:cNvPr id="136" name="Text Box 52">
              <a:extLst>
                <a:ext uri="{FF2B5EF4-FFF2-40B4-BE49-F238E27FC236}">
                  <a16:creationId xmlns:a16="http://schemas.microsoft.com/office/drawing/2014/main" id="{C0A0C9F8-DEAA-CCD4-3028-2B9B7402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376" y="5743604"/>
              <a:ext cx="43926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  </a:t>
              </a:r>
            </a:p>
          </p:txBody>
        </p:sp>
        <p:sp>
          <p:nvSpPr>
            <p:cNvPr id="137" name="Text Box 53">
              <a:extLst>
                <a:ext uri="{FF2B5EF4-FFF2-40B4-BE49-F238E27FC236}">
                  <a16:creationId xmlns:a16="http://schemas.microsoft.com/office/drawing/2014/main" id="{53F9023A-D528-2F42-187F-CBEE50284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691" y="5751612"/>
              <a:ext cx="268830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  <p:sp>
          <p:nvSpPr>
            <p:cNvPr id="138" name="Text Box 154">
              <a:extLst>
                <a:ext uri="{FF2B5EF4-FFF2-40B4-BE49-F238E27FC236}">
                  <a16:creationId xmlns:a16="http://schemas.microsoft.com/office/drawing/2014/main" id="{7FC1DF5B-112C-AEBE-1545-1FE6F119D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141" y="5746807"/>
              <a:ext cx="708095" cy="26103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b="1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</a:t>
              </a:r>
            </a:p>
          </p:txBody>
        </p:sp>
      </p:grpSp>
      <p:sp>
        <p:nvSpPr>
          <p:cNvPr id="354" name="Marcador de contenido 2">
            <a:extLst>
              <a:ext uri="{FF2B5EF4-FFF2-40B4-BE49-F238E27FC236}">
                <a16:creationId xmlns:a16="http://schemas.microsoft.com/office/drawing/2014/main" id="{2DD695A9-C7BE-13FE-B47C-0D5FEE75E799}"/>
              </a:ext>
            </a:extLst>
          </p:cNvPr>
          <p:cNvSpPr txBox="1">
            <a:spLocks/>
          </p:cNvSpPr>
          <p:nvPr/>
        </p:nvSpPr>
        <p:spPr>
          <a:xfrm>
            <a:off x="785136" y="3300425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</a:t>
            </a: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5" name="Marcador de contenido 2">
            <a:extLst>
              <a:ext uri="{FF2B5EF4-FFF2-40B4-BE49-F238E27FC236}">
                <a16:creationId xmlns:a16="http://schemas.microsoft.com/office/drawing/2014/main" id="{5BC8469E-E009-193E-2BBC-6E216CDE5813}"/>
              </a:ext>
            </a:extLst>
          </p:cNvPr>
          <p:cNvSpPr txBox="1">
            <a:spLocks/>
          </p:cNvSpPr>
          <p:nvPr/>
        </p:nvSpPr>
        <p:spPr>
          <a:xfrm>
            <a:off x="785131" y="5012688"/>
            <a:ext cx="1634454" cy="459161"/>
          </a:xfrm>
          <a:prstGeom prst="rect">
            <a:avLst/>
          </a:prstGeom>
        </p:spPr>
        <p:txBody>
          <a:bodyPr/>
          <a:lstStyle>
            <a:lvl1pPr marL="365125" indent="-282575" algn="l" rtl="0" eaLnBrk="0" fontAlgn="base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36538" algn="l" rtl="0" eaLnBrk="0" fontAlgn="base" hangingPunct="0">
              <a:lnSpc>
                <a:spcPts val="3000"/>
              </a:lnSpc>
              <a:spcBef>
                <a:spcPts val="550"/>
              </a:spcBef>
              <a:spcAft>
                <a:spcPct val="0"/>
              </a:spcAft>
              <a:buClr>
                <a:srgbClr val="C58D01"/>
              </a:buClr>
              <a:buSzPct val="85000"/>
              <a:buFont typeface="Wingdings" pitchFamily="2" charset="2"/>
              <a:buChar char="ü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5825" indent="-228600" algn="l" rtl="0" eaLnBrk="0" fontAlgn="base" hangingPunct="0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Font typeface="Wingdings 2" pitchFamily="18" charset="2"/>
              <a:buChar char=""/>
              <a:defRPr lang="es-E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9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lang="es-E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Formato B:</a:t>
            </a:r>
            <a:endParaRPr lang="es-ES_tradnl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8459787" cy="865187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Fases de ejecución instrucciones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47</a:t>
            </a:fld>
            <a:endParaRPr lang="es-ES_tradnl" noProof="0" dirty="0"/>
          </a:p>
        </p:txBody>
      </p:sp>
      <p:sp>
        <p:nvSpPr>
          <p:cNvPr id="50" name="Rectángulo redondeado 49"/>
          <p:cNvSpPr/>
          <p:nvPr/>
        </p:nvSpPr>
        <p:spPr bwMode="auto">
          <a:xfrm>
            <a:off x="3657600" y="9891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Lectura en </a:t>
            </a:r>
            <a:r>
              <a:rPr lang="es-ES_tradnl" sz="1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Mem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. Instrucciones</a:t>
            </a:r>
          </a:p>
        </p:txBody>
      </p:sp>
      <p:sp>
        <p:nvSpPr>
          <p:cNvPr id="51" name="Rectángulo redondeado 50"/>
          <p:cNvSpPr/>
          <p:nvPr/>
        </p:nvSpPr>
        <p:spPr bwMode="auto">
          <a:xfrm>
            <a:off x="3657600" y="17511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Descodificación</a:t>
            </a:r>
          </a:p>
        </p:txBody>
      </p:sp>
      <p:sp>
        <p:nvSpPr>
          <p:cNvPr id="52" name="Rectángulo redondeado 51"/>
          <p:cNvSpPr/>
          <p:nvPr/>
        </p:nvSpPr>
        <p:spPr bwMode="auto">
          <a:xfrm>
            <a:off x="4648200" y="2589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ángulo redondeado 52"/>
          <p:cNvSpPr/>
          <p:nvPr/>
        </p:nvSpPr>
        <p:spPr bwMode="auto">
          <a:xfrm>
            <a:off x="2743200" y="2589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ángulo redondeado 53"/>
          <p:cNvSpPr/>
          <p:nvPr/>
        </p:nvSpPr>
        <p:spPr bwMode="auto">
          <a:xfrm>
            <a:off x="6553200" y="2589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endParaRPr lang="es-ES_tradnl" sz="1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ángulo redondeado 54"/>
          <p:cNvSpPr/>
          <p:nvPr/>
        </p:nvSpPr>
        <p:spPr bwMode="auto">
          <a:xfrm>
            <a:off x="762000" y="2589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Lectura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ángulo redondeado 55"/>
          <p:cNvSpPr/>
          <p:nvPr/>
        </p:nvSpPr>
        <p:spPr bwMode="auto">
          <a:xfrm>
            <a:off x="762000" y="3351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Cálculo resultado</a:t>
            </a:r>
          </a:p>
        </p:txBody>
      </p:sp>
      <p:sp>
        <p:nvSpPr>
          <p:cNvPr id="57" name="Rectángulo redondeado 56"/>
          <p:cNvSpPr/>
          <p:nvPr/>
        </p:nvSpPr>
        <p:spPr bwMode="auto">
          <a:xfrm>
            <a:off x="2743200" y="3351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Cálculo dirección memoria</a:t>
            </a:r>
          </a:p>
        </p:txBody>
      </p:sp>
      <p:sp>
        <p:nvSpPr>
          <p:cNvPr id="58" name="Rectángulo redondeado 57"/>
          <p:cNvSpPr/>
          <p:nvPr/>
        </p:nvSpPr>
        <p:spPr bwMode="auto">
          <a:xfrm>
            <a:off x="4648200" y="3351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Cálculo dirección memoria</a:t>
            </a:r>
          </a:p>
        </p:txBody>
      </p:sp>
      <p:sp>
        <p:nvSpPr>
          <p:cNvPr id="59" name="Rectángulo redondeado 58"/>
          <p:cNvSpPr/>
          <p:nvPr/>
        </p:nvSpPr>
        <p:spPr bwMode="auto">
          <a:xfrm>
            <a:off x="6553200" y="3351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Cálculo dirección salto y condición</a:t>
            </a:r>
          </a:p>
        </p:txBody>
      </p:sp>
      <p:sp>
        <p:nvSpPr>
          <p:cNvPr id="60" name="Rectángulo redondeado 59"/>
          <p:cNvSpPr/>
          <p:nvPr/>
        </p:nvSpPr>
        <p:spPr bwMode="auto">
          <a:xfrm>
            <a:off x="762000" y="4875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Escritura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ángulo redondeado 60"/>
          <p:cNvSpPr/>
          <p:nvPr/>
        </p:nvSpPr>
        <p:spPr bwMode="auto">
          <a:xfrm>
            <a:off x="2743200" y="4113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Lectura en </a:t>
            </a:r>
            <a:r>
              <a:rPr lang="es-ES_tradnl" sz="1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Mem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. datos</a:t>
            </a:r>
          </a:p>
        </p:txBody>
      </p:sp>
      <p:sp>
        <p:nvSpPr>
          <p:cNvPr id="62" name="Rectángulo redondeado 61"/>
          <p:cNvSpPr/>
          <p:nvPr/>
        </p:nvSpPr>
        <p:spPr bwMode="auto">
          <a:xfrm>
            <a:off x="4648200" y="4113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Escritura en </a:t>
            </a:r>
            <a:r>
              <a:rPr lang="es-ES_tradnl" sz="1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Mem</a:t>
            </a:r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. datos</a:t>
            </a:r>
          </a:p>
        </p:txBody>
      </p:sp>
      <p:sp>
        <p:nvSpPr>
          <p:cNvPr id="63" name="Rectángulo redondeado 62"/>
          <p:cNvSpPr/>
          <p:nvPr/>
        </p:nvSpPr>
        <p:spPr bwMode="auto">
          <a:xfrm>
            <a:off x="2743200" y="4875312"/>
            <a:ext cx="1752600" cy="533400"/>
          </a:xfrm>
          <a:prstGeom prst="round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Escritura </a:t>
            </a:r>
            <a:r>
              <a:rPr lang="es-ES_tradnl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Conector recto de flecha 64"/>
          <p:cNvCxnSpPr>
            <a:stCxn id="50" idx="2"/>
            <a:endCxn id="51" idx="0"/>
          </p:cNvCxnSpPr>
          <p:nvPr/>
        </p:nvCxnSpPr>
        <p:spPr bwMode="auto">
          <a:xfrm rot="5400000">
            <a:off x="4419600" y="16368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angular 66"/>
          <p:cNvCxnSpPr>
            <a:stCxn id="51" idx="2"/>
            <a:endCxn id="55" idx="0"/>
          </p:cNvCxnSpPr>
          <p:nvPr/>
        </p:nvCxnSpPr>
        <p:spPr bwMode="auto">
          <a:xfrm rot="5400000">
            <a:off x="2933700" y="989112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angular 67"/>
          <p:cNvCxnSpPr>
            <a:stCxn id="51" idx="2"/>
            <a:endCxn id="53" idx="0"/>
          </p:cNvCxnSpPr>
          <p:nvPr/>
        </p:nvCxnSpPr>
        <p:spPr bwMode="auto">
          <a:xfrm rot="5400000">
            <a:off x="3924300" y="1979712"/>
            <a:ext cx="304800" cy="9144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Conector angular 70"/>
          <p:cNvCxnSpPr>
            <a:stCxn id="51" idx="2"/>
            <a:endCxn id="52" idx="0"/>
          </p:cNvCxnSpPr>
          <p:nvPr/>
        </p:nvCxnSpPr>
        <p:spPr bwMode="auto">
          <a:xfrm rot="16200000" flipH="1">
            <a:off x="4876800" y="1941612"/>
            <a:ext cx="304800" cy="990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ector angular 73"/>
          <p:cNvCxnSpPr>
            <a:stCxn id="51" idx="2"/>
            <a:endCxn id="54" idx="0"/>
          </p:cNvCxnSpPr>
          <p:nvPr/>
        </p:nvCxnSpPr>
        <p:spPr bwMode="auto">
          <a:xfrm rot="16200000" flipH="1">
            <a:off x="5829300" y="989112"/>
            <a:ext cx="304800" cy="2895600"/>
          </a:xfrm>
          <a:prstGeom prst="bentConnector3">
            <a:avLst>
              <a:gd name="adj1" fmla="val 50000"/>
            </a:avLst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ector recto de flecha 76"/>
          <p:cNvCxnSpPr>
            <a:stCxn id="55" idx="2"/>
            <a:endCxn id="56" idx="0"/>
          </p:cNvCxnSpPr>
          <p:nvPr/>
        </p:nvCxnSpPr>
        <p:spPr bwMode="auto">
          <a:xfrm rot="5400000">
            <a:off x="1524000" y="3237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ector recto de flecha 79"/>
          <p:cNvCxnSpPr>
            <a:stCxn id="53" idx="2"/>
            <a:endCxn id="57" idx="0"/>
          </p:cNvCxnSpPr>
          <p:nvPr/>
        </p:nvCxnSpPr>
        <p:spPr bwMode="auto">
          <a:xfrm rot="5400000">
            <a:off x="3505200" y="3237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ector recto de flecha 82"/>
          <p:cNvCxnSpPr>
            <a:stCxn id="52" idx="2"/>
            <a:endCxn id="58" idx="0"/>
          </p:cNvCxnSpPr>
          <p:nvPr/>
        </p:nvCxnSpPr>
        <p:spPr bwMode="auto">
          <a:xfrm rot="5400000">
            <a:off x="5410200" y="3237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onector recto de flecha 85"/>
          <p:cNvCxnSpPr>
            <a:stCxn id="54" idx="2"/>
            <a:endCxn id="59" idx="0"/>
          </p:cNvCxnSpPr>
          <p:nvPr/>
        </p:nvCxnSpPr>
        <p:spPr bwMode="auto">
          <a:xfrm rot="5400000">
            <a:off x="7315200" y="3237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de flecha 88"/>
          <p:cNvCxnSpPr>
            <a:stCxn id="56" idx="2"/>
            <a:endCxn id="60" idx="0"/>
          </p:cNvCxnSpPr>
          <p:nvPr/>
        </p:nvCxnSpPr>
        <p:spPr bwMode="auto">
          <a:xfrm rot="5400000">
            <a:off x="1143000" y="4380012"/>
            <a:ext cx="990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onector recto de flecha 91"/>
          <p:cNvCxnSpPr>
            <a:stCxn id="57" idx="2"/>
            <a:endCxn id="61" idx="0"/>
          </p:cNvCxnSpPr>
          <p:nvPr/>
        </p:nvCxnSpPr>
        <p:spPr bwMode="auto">
          <a:xfrm rot="5400000">
            <a:off x="3505200" y="3999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ector recto de flecha 94"/>
          <p:cNvCxnSpPr>
            <a:stCxn id="58" idx="2"/>
            <a:endCxn id="62" idx="0"/>
          </p:cNvCxnSpPr>
          <p:nvPr/>
        </p:nvCxnSpPr>
        <p:spPr bwMode="auto">
          <a:xfrm rot="5400000">
            <a:off x="5410200" y="3999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ector recto de flecha 97"/>
          <p:cNvCxnSpPr>
            <a:stCxn id="61" idx="2"/>
            <a:endCxn id="63" idx="0"/>
          </p:cNvCxnSpPr>
          <p:nvPr/>
        </p:nvCxnSpPr>
        <p:spPr bwMode="auto">
          <a:xfrm rot="5400000">
            <a:off x="3505200" y="4761012"/>
            <a:ext cx="228600" cy="1588"/>
          </a:xfrm>
          <a:prstGeom prst="straightConnector1">
            <a:avLst/>
          </a:prstGeom>
          <a:ln w="127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CuadroTexto 100"/>
          <p:cNvSpPr txBox="1"/>
          <p:nvPr/>
        </p:nvSpPr>
        <p:spPr>
          <a:xfrm>
            <a:off x="724983" y="5642992"/>
            <a:ext cx="1672253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add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rd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rs1, rs2</a:t>
            </a:r>
          </a:p>
        </p:txBody>
      </p:sp>
      <p:sp>
        <p:nvSpPr>
          <p:cNvPr id="102" name="CuadroTexto 101"/>
          <p:cNvSpPr txBox="1"/>
          <p:nvPr/>
        </p:nvSpPr>
        <p:spPr>
          <a:xfrm>
            <a:off x="2830853" y="5642992"/>
            <a:ext cx="1579278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lw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rd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,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inm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(rs1)</a:t>
            </a:r>
          </a:p>
        </p:txBody>
      </p:sp>
      <p:sp>
        <p:nvSpPr>
          <p:cNvPr id="103" name="CuadroTexto 102"/>
          <p:cNvSpPr txBox="1"/>
          <p:nvPr/>
        </p:nvSpPr>
        <p:spPr>
          <a:xfrm>
            <a:off x="4673506" y="5642992"/>
            <a:ext cx="1672253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sw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rs2,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inm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(rs1)</a:t>
            </a:r>
          </a:p>
        </p:txBody>
      </p:sp>
      <p:sp>
        <p:nvSpPr>
          <p:cNvPr id="104" name="CuadroTexto 103"/>
          <p:cNvSpPr txBox="1"/>
          <p:nvPr/>
        </p:nvSpPr>
        <p:spPr>
          <a:xfrm>
            <a:off x="6515268" y="5642992"/>
            <a:ext cx="1858201" cy="27699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beq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 rs1, rs2,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etiq</a:t>
            </a:r>
            <a:endParaRPr lang="es-ES_tradnl" sz="1200" noProof="0" dirty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8255001" y="2470780"/>
            <a:ext cx="780470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Banco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 (lectura)</a:t>
            </a:r>
          </a:p>
        </p:txBody>
      </p:sp>
      <p:sp>
        <p:nvSpPr>
          <p:cNvPr id="108" name="CuadroTexto 107"/>
          <p:cNvSpPr txBox="1"/>
          <p:nvPr/>
        </p:nvSpPr>
        <p:spPr>
          <a:xfrm>
            <a:off x="8383884" y="3503712"/>
            <a:ext cx="47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ALU</a:t>
            </a:r>
          </a:p>
        </p:txBody>
      </p:sp>
      <p:sp>
        <p:nvSpPr>
          <p:cNvPr id="111" name="CuadroTexto 110"/>
          <p:cNvSpPr txBox="1"/>
          <p:nvPr/>
        </p:nvSpPr>
        <p:spPr>
          <a:xfrm>
            <a:off x="8209084" y="4875312"/>
            <a:ext cx="858716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Banco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Registros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 (escritura)</a:t>
            </a:r>
          </a:p>
        </p:txBody>
      </p:sp>
      <p:sp>
        <p:nvSpPr>
          <p:cNvPr id="119" name="CuadroTexto 118"/>
          <p:cNvSpPr txBox="1"/>
          <p:nvPr/>
        </p:nvSpPr>
        <p:spPr>
          <a:xfrm>
            <a:off x="8258244" y="4181969"/>
            <a:ext cx="733356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121" name="Conector recto 120"/>
          <p:cNvCxnSpPr/>
          <p:nvPr/>
        </p:nvCxnSpPr>
        <p:spPr bwMode="auto">
          <a:xfrm>
            <a:off x="609600" y="1674912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/>
          <p:cNvCxnSpPr/>
          <p:nvPr/>
        </p:nvCxnSpPr>
        <p:spPr bwMode="auto">
          <a:xfrm>
            <a:off x="609600" y="3198912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Conector recto 124"/>
          <p:cNvCxnSpPr/>
          <p:nvPr/>
        </p:nvCxnSpPr>
        <p:spPr bwMode="auto">
          <a:xfrm>
            <a:off x="609600" y="3960912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Conector recto 125"/>
          <p:cNvCxnSpPr/>
          <p:nvPr/>
        </p:nvCxnSpPr>
        <p:spPr bwMode="auto">
          <a:xfrm>
            <a:off x="609600" y="4721324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Conector recto 126"/>
          <p:cNvCxnSpPr/>
          <p:nvPr/>
        </p:nvCxnSpPr>
        <p:spPr bwMode="auto">
          <a:xfrm>
            <a:off x="609600" y="836712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Conector recto 131"/>
          <p:cNvCxnSpPr/>
          <p:nvPr/>
        </p:nvCxnSpPr>
        <p:spPr bwMode="auto">
          <a:xfrm>
            <a:off x="609600" y="2359124"/>
            <a:ext cx="8382000" cy="1588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CuadroTexto 132"/>
          <p:cNvSpPr txBox="1"/>
          <p:nvPr/>
        </p:nvSpPr>
        <p:spPr>
          <a:xfrm>
            <a:off x="8117043" y="1065312"/>
            <a:ext cx="1015760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Memoria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Instrucciones</a:t>
            </a:r>
          </a:p>
        </p:txBody>
      </p:sp>
      <p:sp>
        <p:nvSpPr>
          <p:cNvPr id="134" name="CuadroTexto 133"/>
          <p:cNvSpPr txBox="1"/>
          <p:nvPr/>
        </p:nvSpPr>
        <p:spPr>
          <a:xfrm>
            <a:off x="8171190" y="1819769"/>
            <a:ext cx="827789" cy="46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Unidad de </a:t>
            </a:r>
          </a:p>
          <a:p>
            <a:r>
              <a:rPr lang="es-ES_tradnl" sz="1100" noProof="0" dirty="0">
                <a:solidFill>
                  <a:schemeClr val="accent1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9B8153-8F74-4292-074B-4E84511317E1}"/>
              </a:ext>
            </a:extLst>
          </p:cNvPr>
          <p:cNvSpPr txBox="1"/>
          <p:nvPr/>
        </p:nvSpPr>
        <p:spPr>
          <a:xfrm>
            <a:off x="724983" y="6349408"/>
            <a:ext cx="5950691" cy="30777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_tradnl" dirty="0"/>
              <a:t>¿</a:t>
            </a:r>
            <a:r>
              <a:rPr lang="es-ES_tradnl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fases se ejecutan para una operación </a:t>
            </a:r>
            <a:r>
              <a:rPr lang="es-ES_tradnl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rs1, </a:t>
            </a:r>
            <a:r>
              <a:rPr lang="es-ES_tradnl" dirty="0" err="1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Seleccionar recursos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Multiplexores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El uso de los recursos (memorias,  ALUs, registros, …) será diferente en función de la 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instruccion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 ejecutándose</a:t>
            </a:r>
          </a:p>
          <a:p>
            <a:pPr lvl="1"/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Utilizaremos varios multiplexores para seleccionar los caminos de la ruta de datos a utilizar, en función de la instrucción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0" smtClean="0"/>
              <a:pPr/>
              <a:t>48</a:t>
            </a:fld>
            <a:endParaRPr lang="es-ES_tradnl" noProof="0" dirty="0"/>
          </a:p>
        </p:txBody>
      </p:sp>
      <p:sp>
        <p:nvSpPr>
          <p:cNvPr id="34" name="Rectángulo 33"/>
          <p:cNvSpPr/>
          <p:nvPr/>
        </p:nvSpPr>
        <p:spPr bwMode="auto">
          <a:xfrm>
            <a:off x="1786468" y="3733800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" name="Conector recto de flecha 35"/>
          <p:cNvCxnSpPr/>
          <p:nvPr/>
        </p:nvCxnSpPr>
        <p:spPr bwMode="auto">
          <a:xfrm>
            <a:off x="1295400" y="40386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Conector recto de flecha 36"/>
          <p:cNvCxnSpPr/>
          <p:nvPr/>
        </p:nvCxnSpPr>
        <p:spPr bwMode="auto">
          <a:xfrm>
            <a:off x="1295400" y="47244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Conector recto de flecha 37"/>
          <p:cNvCxnSpPr>
            <a:stCxn id="34" idx="3"/>
          </p:cNvCxnSpPr>
          <p:nvPr/>
        </p:nvCxnSpPr>
        <p:spPr bwMode="auto">
          <a:xfrm>
            <a:off x="2167468" y="4343400"/>
            <a:ext cx="423332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de flecha 38"/>
          <p:cNvCxnSpPr>
            <a:endCxn id="34" idx="2"/>
          </p:cNvCxnSpPr>
          <p:nvPr/>
        </p:nvCxnSpPr>
        <p:spPr bwMode="auto">
          <a:xfrm rot="16200000" flipV="1">
            <a:off x="1750484" y="5179484"/>
            <a:ext cx="457200" cy="4232"/>
          </a:xfrm>
          <a:prstGeom prst="straightConnector1">
            <a:avLst/>
          </a:prstGeom>
          <a:ln w="38100" cmpd="sng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CuadroTexto 50"/>
          <p:cNvSpPr txBox="1"/>
          <p:nvPr/>
        </p:nvSpPr>
        <p:spPr>
          <a:xfrm>
            <a:off x="1662915" y="5410200"/>
            <a:ext cx="6495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0" dirty="0" err="1">
                <a:solidFill>
                  <a:srgbClr val="FF6600"/>
                </a:solidFill>
              </a:rPr>
              <a:t>MxALU</a:t>
            </a:r>
            <a:endParaRPr lang="es-ES_tradnl" sz="1050" b="1" noProof="0" dirty="0">
              <a:solidFill>
                <a:srgbClr val="FF6600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1518010" y="3581400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CuadroTexto 54"/>
          <p:cNvSpPr txBox="1"/>
          <p:nvPr/>
        </p:nvSpPr>
        <p:spPr>
          <a:xfrm>
            <a:off x="1524000" y="434042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Rectángulo 55"/>
          <p:cNvSpPr/>
          <p:nvPr/>
        </p:nvSpPr>
        <p:spPr bwMode="auto">
          <a:xfrm>
            <a:off x="3810000" y="3733800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57" name="Conector recto de flecha 56"/>
          <p:cNvCxnSpPr/>
          <p:nvPr/>
        </p:nvCxnSpPr>
        <p:spPr bwMode="auto">
          <a:xfrm>
            <a:off x="3318932" y="40386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Conector recto de flecha 57"/>
          <p:cNvCxnSpPr/>
          <p:nvPr/>
        </p:nvCxnSpPr>
        <p:spPr bwMode="auto">
          <a:xfrm>
            <a:off x="3318932" y="47244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Conector recto de flecha 58"/>
          <p:cNvCxnSpPr>
            <a:stCxn id="56" idx="3"/>
          </p:cNvCxnSpPr>
          <p:nvPr/>
        </p:nvCxnSpPr>
        <p:spPr bwMode="auto">
          <a:xfrm>
            <a:off x="4191000" y="4343400"/>
            <a:ext cx="423332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Conector recto de flecha 59"/>
          <p:cNvCxnSpPr>
            <a:endCxn id="56" idx="2"/>
          </p:cNvCxnSpPr>
          <p:nvPr/>
        </p:nvCxnSpPr>
        <p:spPr bwMode="auto">
          <a:xfrm rot="16200000" flipV="1">
            <a:off x="3774016" y="5179484"/>
            <a:ext cx="457200" cy="4232"/>
          </a:xfrm>
          <a:prstGeom prst="straightConnector1">
            <a:avLst/>
          </a:prstGeom>
          <a:ln w="38100" cmpd="sng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CuadroTexto 60"/>
          <p:cNvSpPr txBox="1"/>
          <p:nvPr/>
        </p:nvSpPr>
        <p:spPr>
          <a:xfrm>
            <a:off x="3731829" y="5410200"/>
            <a:ext cx="5587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0" dirty="0" err="1">
                <a:solidFill>
                  <a:srgbClr val="FF6600"/>
                </a:solidFill>
              </a:rPr>
              <a:t>MxER</a:t>
            </a:r>
            <a:endParaRPr lang="es-ES_tradnl" sz="1050" b="1" noProof="0" dirty="0">
              <a:solidFill>
                <a:srgbClr val="FF6600"/>
              </a:solidFill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3541542" y="3581400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3547532" y="434042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5" name="Rectángulo 64"/>
          <p:cNvSpPr/>
          <p:nvPr/>
        </p:nvSpPr>
        <p:spPr bwMode="auto">
          <a:xfrm>
            <a:off x="5562600" y="3733800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66" name="Conector recto de flecha 65"/>
          <p:cNvCxnSpPr/>
          <p:nvPr/>
        </p:nvCxnSpPr>
        <p:spPr bwMode="auto">
          <a:xfrm>
            <a:off x="5071532" y="40386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de flecha 66"/>
          <p:cNvCxnSpPr/>
          <p:nvPr/>
        </p:nvCxnSpPr>
        <p:spPr bwMode="auto">
          <a:xfrm>
            <a:off x="5071532" y="4724400"/>
            <a:ext cx="457200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recto de flecha 67"/>
          <p:cNvCxnSpPr>
            <a:stCxn id="65" idx="3"/>
          </p:cNvCxnSpPr>
          <p:nvPr/>
        </p:nvCxnSpPr>
        <p:spPr bwMode="auto">
          <a:xfrm>
            <a:off x="5943600" y="4343400"/>
            <a:ext cx="423332" cy="158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de flecha 68"/>
          <p:cNvCxnSpPr>
            <a:endCxn id="65" idx="2"/>
          </p:cNvCxnSpPr>
          <p:nvPr/>
        </p:nvCxnSpPr>
        <p:spPr bwMode="auto">
          <a:xfrm rot="16200000" flipV="1">
            <a:off x="5526616" y="5179484"/>
            <a:ext cx="457200" cy="4232"/>
          </a:xfrm>
          <a:prstGeom prst="straightConnector1">
            <a:avLst/>
          </a:prstGeom>
          <a:ln w="38100" cmpd="sng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CuadroTexto 69"/>
          <p:cNvSpPr txBox="1"/>
          <p:nvPr/>
        </p:nvSpPr>
        <p:spPr>
          <a:xfrm>
            <a:off x="5528816" y="5410200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0" dirty="0" err="1">
                <a:solidFill>
                  <a:srgbClr val="FF6600"/>
                </a:solidFill>
              </a:rPr>
              <a:t>MxB</a:t>
            </a:r>
            <a:endParaRPr lang="es-ES_tradnl" sz="1050" b="1" noProof="0" dirty="0">
              <a:solidFill>
                <a:srgbClr val="FF6600"/>
              </a:solidFill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5294142" y="3581400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5300132" y="4340423"/>
            <a:ext cx="284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3" name="CuadroTexto 102"/>
          <p:cNvSpPr txBox="1"/>
          <p:nvPr/>
        </p:nvSpPr>
        <p:spPr>
          <a:xfrm>
            <a:off x="6548479" y="4612396"/>
            <a:ext cx="5597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50" b="1" noProof="0" dirty="0" err="1">
                <a:solidFill>
                  <a:srgbClr val="FF6600"/>
                </a:solidFill>
              </a:rPr>
              <a:t>MxPC</a:t>
            </a:r>
            <a:endParaRPr lang="es-ES_tradnl" sz="1050" b="1" noProof="0" dirty="0">
              <a:solidFill>
                <a:srgbClr val="FF6600"/>
              </a:solidFill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98B581F-947F-42AB-821F-EAB82E149F43}"/>
              </a:ext>
            </a:extLst>
          </p:cNvPr>
          <p:cNvGrpSpPr/>
          <p:nvPr/>
        </p:nvGrpSpPr>
        <p:grpSpPr>
          <a:xfrm rot="5400000">
            <a:off x="7046802" y="3587332"/>
            <a:ext cx="1295400" cy="1816938"/>
            <a:chOff x="7052732" y="3593262"/>
            <a:chExt cx="1295400" cy="1816938"/>
          </a:xfrm>
        </p:grpSpPr>
        <p:cxnSp>
          <p:nvCxnSpPr>
            <p:cNvPr id="99" name="Conector recto de flecha 98"/>
            <p:cNvCxnSpPr/>
            <p:nvPr/>
          </p:nvCxnSpPr>
          <p:spPr bwMode="auto">
            <a:xfrm>
              <a:off x="7052732" y="4038600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0" name="Conector recto de flecha 99"/>
            <p:cNvCxnSpPr/>
            <p:nvPr/>
          </p:nvCxnSpPr>
          <p:spPr bwMode="auto">
            <a:xfrm>
              <a:off x="7052732" y="4724400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1" name="Conector recto de flecha 100"/>
            <p:cNvCxnSpPr>
              <a:cxnSpLocks/>
            </p:cNvCxnSpPr>
            <p:nvPr/>
          </p:nvCxnSpPr>
          <p:spPr bwMode="auto">
            <a:xfrm>
              <a:off x="7924800" y="4343400"/>
              <a:ext cx="423332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Conector recto de flecha 101"/>
            <p:cNvCxnSpPr>
              <a:cxnSpLocks/>
            </p:cNvCxnSpPr>
            <p:nvPr/>
          </p:nvCxnSpPr>
          <p:spPr bwMode="auto">
            <a:xfrm rot="16200000" flipV="1">
              <a:off x="7507816" y="5179484"/>
              <a:ext cx="457200" cy="4232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/>
            <p:cNvSpPr txBox="1"/>
            <p:nvPr/>
          </p:nvSpPr>
          <p:spPr>
            <a:xfrm rot="16200000">
              <a:off x="7275575" y="358139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5" name="CuadroTexto 104"/>
            <p:cNvSpPr txBox="1"/>
            <p:nvPr/>
          </p:nvSpPr>
          <p:spPr>
            <a:xfrm rot="16200000">
              <a:off x="7281565" y="434042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</p:grpSp>
      <p:cxnSp>
        <p:nvCxnSpPr>
          <p:cNvPr id="6" name="5 Conector recto de flecha"/>
          <p:cNvCxnSpPr>
            <a:endCxn id="34" idx="3"/>
          </p:cNvCxnSpPr>
          <p:nvPr/>
        </p:nvCxnSpPr>
        <p:spPr bwMode="auto">
          <a:xfrm>
            <a:off x="1708297" y="4041776"/>
            <a:ext cx="459171" cy="301624"/>
          </a:xfrm>
          <a:prstGeom prst="straightConnector1">
            <a:avLst/>
          </a:prstGeom>
          <a:ln w="38100" cmpd="sng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41 Conector recto de flecha"/>
          <p:cNvCxnSpPr>
            <a:endCxn id="34" idx="3"/>
          </p:cNvCxnSpPr>
          <p:nvPr/>
        </p:nvCxnSpPr>
        <p:spPr bwMode="auto">
          <a:xfrm flipV="1">
            <a:off x="1752600" y="4343400"/>
            <a:ext cx="414868" cy="368626"/>
          </a:xfrm>
          <a:prstGeom prst="straightConnector1">
            <a:avLst/>
          </a:prstGeom>
          <a:ln w="38100" cmpd="sng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Botón de acción: en blanco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7DB7BC5-2875-41D5-879B-AD627A78078C}"/>
              </a:ext>
            </a:extLst>
          </p:cNvPr>
          <p:cNvSpPr/>
          <p:nvPr/>
        </p:nvSpPr>
        <p:spPr bwMode="auto">
          <a:xfrm>
            <a:off x="1556164" y="5689670"/>
            <a:ext cx="360040" cy="251508"/>
          </a:xfrm>
          <a:prstGeom prst="actionButtonBlank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3" name="Botón de acción: en blanco 4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F74DB67-73EF-494C-9BE4-64CB1EDF2BB9}"/>
              </a:ext>
            </a:extLst>
          </p:cNvPr>
          <p:cNvSpPr/>
          <p:nvPr/>
        </p:nvSpPr>
        <p:spPr bwMode="auto">
          <a:xfrm>
            <a:off x="2023792" y="5689670"/>
            <a:ext cx="360040" cy="251508"/>
          </a:xfrm>
          <a:prstGeom prst="actionButtonBlank">
            <a:avLst/>
          </a:prstGeom>
          <a:ln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CD360F-4E2E-8332-4E63-AA4FDDB754E1}"/>
              </a:ext>
            </a:extLst>
          </p:cNvPr>
          <p:cNvSpPr/>
          <p:nvPr/>
        </p:nvSpPr>
        <p:spPr bwMode="auto">
          <a:xfrm>
            <a:off x="3220072" y="6426116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860FA8-7FB0-6CAD-77B0-C13D7B4FB00C}"/>
              </a:ext>
            </a:extLst>
          </p:cNvPr>
          <p:cNvSpPr/>
          <p:nvPr/>
        </p:nvSpPr>
        <p:spPr bwMode="auto">
          <a:xfrm rot="5400000">
            <a:off x="7662333" y="3901722"/>
            <a:ext cx="381000" cy="121920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0"/>
            <a:ext cx="8459787" cy="865187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Seleccionar recursos necesarios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1" y="762000"/>
            <a:ext cx="8686800" cy="2734843"/>
          </a:xfrm>
        </p:spPr>
        <p:txBody>
          <a:bodyPr/>
          <a:lstStyle/>
          <a:p>
            <a:r>
              <a:rPr lang="es-ES_tradnl" sz="20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Multiplexores</a:t>
            </a:r>
          </a:p>
          <a:p>
            <a:pPr lvl="1"/>
            <a:r>
              <a:rPr lang="es-ES_tradnl" sz="1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Conforme avanza el diseño se hacen necesarios nuevos caminos en la ruta de datos, por lo que se necesita ampliar los multiplexores</a:t>
            </a:r>
          </a:p>
          <a:p>
            <a:pPr lvl="1"/>
            <a:r>
              <a:rPr lang="es-ES_tradnl" sz="1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pueden usar multiplexores de 4-1 o 8-1</a:t>
            </a:r>
          </a:p>
          <a:p>
            <a:pPr lvl="1" algn="just"/>
            <a:r>
              <a:rPr lang="es-ES_tradnl" sz="1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multiplexor de 4-1 de la figura la señal de control es de 2 bits y se indica la combinación de esos dos bits para activar la entrada correspondiente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49</a:t>
            </a:fld>
            <a:endParaRPr lang="es-ES_tradnl" noProof="0" dirty="0"/>
          </a:p>
        </p:txBody>
      </p:sp>
      <p:grpSp>
        <p:nvGrpSpPr>
          <p:cNvPr id="22" name="21 Grupo"/>
          <p:cNvGrpSpPr/>
          <p:nvPr/>
        </p:nvGrpSpPr>
        <p:grpSpPr>
          <a:xfrm>
            <a:off x="2974148" y="3597014"/>
            <a:ext cx="1405397" cy="2842874"/>
            <a:chOff x="3310619" y="2983118"/>
            <a:chExt cx="1405397" cy="2842874"/>
          </a:xfrm>
        </p:grpSpPr>
        <p:cxnSp>
          <p:nvCxnSpPr>
            <p:cNvPr id="57" name="Conector recto de flecha 56"/>
            <p:cNvCxnSpPr/>
            <p:nvPr/>
          </p:nvCxnSpPr>
          <p:spPr bwMode="auto">
            <a:xfrm>
              <a:off x="3310619" y="3859569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Conector recto de flecha 57"/>
            <p:cNvCxnSpPr/>
            <p:nvPr/>
          </p:nvCxnSpPr>
          <p:spPr bwMode="auto">
            <a:xfrm>
              <a:off x="3318932" y="4864724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Conector recto de flecha 58"/>
            <p:cNvCxnSpPr>
              <a:cxnSpLocks/>
            </p:cNvCxnSpPr>
            <p:nvPr/>
          </p:nvCxnSpPr>
          <p:spPr bwMode="auto">
            <a:xfrm>
              <a:off x="4191000" y="4082988"/>
              <a:ext cx="525016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Conector recto de flecha 59"/>
            <p:cNvCxnSpPr>
              <a:cxnSpLocks/>
              <a:stCxn id="61" idx="0"/>
            </p:cNvCxnSpPr>
            <p:nvPr/>
          </p:nvCxnSpPr>
          <p:spPr bwMode="auto">
            <a:xfrm flipV="1">
              <a:off x="4000500" y="4953000"/>
              <a:ext cx="0" cy="619076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1" name="CuadroTexto 60"/>
            <p:cNvSpPr txBox="1"/>
            <p:nvPr/>
          </p:nvSpPr>
          <p:spPr>
            <a:xfrm>
              <a:off x="3814391" y="5572076"/>
              <a:ext cx="37221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50" b="1" noProof="0" dirty="0">
                  <a:solidFill>
                    <a:srgbClr val="FF6600"/>
                  </a:solidFill>
                </a:rPr>
                <a:t>Mx</a:t>
              </a:r>
            </a:p>
          </p:txBody>
        </p:sp>
        <p:sp>
          <p:nvSpPr>
            <p:cNvPr id="62" name="CuadroTexto 61"/>
            <p:cNvSpPr txBox="1"/>
            <p:nvPr/>
          </p:nvSpPr>
          <p:spPr>
            <a:xfrm>
              <a:off x="3426562" y="3490321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01</a:t>
              </a:r>
            </a:p>
          </p:txBody>
        </p:sp>
        <p:sp>
          <p:nvSpPr>
            <p:cNvPr id="64" name="CuadroTexto 63"/>
            <p:cNvSpPr txBox="1"/>
            <p:nvPr/>
          </p:nvSpPr>
          <p:spPr>
            <a:xfrm>
              <a:off x="3433231" y="4504726"/>
              <a:ext cx="3701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11</a:t>
              </a:r>
            </a:p>
          </p:txBody>
        </p:sp>
        <p:cxnSp>
          <p:nvCxnSpPr>
            <p:cNvPr id="44" name="Conector recto de flecha 56"/>
            <p:cNvCxnSpPr/>
            <p:nvPr/>
          </p:nvCxnSpPr>
          <p:spPr bwMode="auto">
            <a:xfrm>
              <a:off x="3352800" y="3356992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57"/>
            <p:cNvCxnSpPr/>
            <p:nvPr/>
          </p:nvCxnSpPr>
          <p:spPr bwMode="auto">
            <a:xfrm>
              <a:off x="3312045" y="4362146"/>
              <a:ext cx="457200" cy="158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61"/>
            <p:cNvSpPr txBox="1"/>
            <p:nvPr/>
          </p:nvSpPr>
          <p:spPr>
            <a:xfrm>
              <a:off x="3426562" y="2983118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00</a:t>
              </a:r>
            </a:p>
          </p:txBody>
        </p:sp>
        <p:sp>
          <p:nvSpPr>
            <p:cNvPr id="47" name="CuadroTexto 63"/>
            <p:cNvSpPr txBox="1"/>
            <p:nvPr/>
          </p:nvSpPr>
          <p:spPr>
            <a:xfrm>
              <a:off x="3426562" y="3997524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cxnSp>
          <p:nvCxnSpPr>
            <p:cNvPr id="12" name="11 Conector recto"/>
            <p:cNvCxnSpPr/>
            <p:nvPr/>
          </p:nvCxnSpPr>
          <p:spPr bwMode="auto">
            <a:xfrm flipV="1">
              <a:off x="3825106" y="5181601"/>
              <a:ext cx="365894" cy="59804"/>
            </a:xfrm>
            <a:prstGeom prst="lin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4186608" y="50178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26" name="25 Grupo"/>
          <p:cNvGrpSpPr/>
          <p:nvPr/>
        </p:nvGrpSpPr>
        <p:grpSpPr>
          <a:xfrm>
            <a:off x="4776589" y="4025385"/>
            <a:ext cx="2757433" cy="1405397"/>
            <a:chOff x="4211960" y="3461867"/>
            <a:chExt cx="2757433" cy="1405397"/>
          </a:xfrm>
        </p:grpSpPr>
        <p:cxnSp>
          <p:nvCxnSpPr>
            <p:cNvPr id="74" name="Conector recto de flecha 59"/>
            <p:cNvCxnSpPr>
              <a:cxnSpLocks/>
              <a:stCxn id="75" idx="0"/>
            </p:cNvCxnSpPr>
            <p:nvPr/>
          </p:nvCxnSpPr>
          <p:spPr bwMode="auto">
            <a:xfrm>
              <a:off x="4398069" y="4151747"/>
              <a:ext cx="616444" cy="0"/>
            </a:xfrm>
            <a:prstGeom prst="straightConnector1">
              <a:avLst/>
            </a:prstGeom>
            <a:ln w="38100" cmpd="sng"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5" name="CuadroTexto 60"/>
            <p:cNvSpPr txBox="1"/>
            <p:nvPr/>
          </p:nvSpPr>
          <p:spPr>
            <a:xfrm>
              <a:off x="4211960" y="4151747"/>
              <a:ext cx="37221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50" b="1" noProof="0" dirty="0">
                  <a:solidFill>
                    <a:srgbClr val="FF6600"/>
                  </a:solidFill>
                </a:rPr>
                <a:t>Mx</a:t>
              </a:r>
            </a:p>
          </p:txBody>
        </p:sp>
        <p:grpSp>
          <p:nvGrpSpPr>
            <p:cNvPr id="23" name="22 Grupo"/>
            <p:cNvGrpSpPr/>
            <p:nvPr/>
          </p:nvGrpSpPr>
          <p:grpSpPr>
            <a:xfrm rot="5400000">
              <a:off x="5332599" y="3230471"/>
              <a:ext cx="1405397" cy="1868190"/>
              <a:chOff x="5296755" y="3194627"/>
              <a:chExt cx="1405397" cy="1868190"/>
            </a:xfrm>
          </p:grpSpPr>
          <p:cxnSp>
            <p:nvCxnSpPr>
              <p:cNvPr id="71" name="Conector recto de flecha 56"/>
              <p:cNvCxnSpPr/>
              <p:nvPr/>
            </p:nvCxnSpPr>
            <p:spPr bwMode="auto">
              <a:xfrm>
                <a:off x="5296755" y="4056074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Conector recto de flecha 57"/>
              <p:cNvCxnSpPr/>
              <p:nvPr/>
            </p:nvCxnSpPr>
            <p:spPr bwMode="auto">
              <a:xfrm>
                <a:off x="5305068" y="5061229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Conector recto de flecha 58"/>
              <p:cNvCxnSpPr>
                <a:cxnSpLocks/>
              </p:cNvCxnSpPr>
              <p:nvPr/>
            </p:nvCxnSpPr>
            <p:spPr bwMode="auto">
              <a:xfrm>
                <a:off x="6177136" y="4279493"/>
                <a:ext cx="525016" cy="0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6" name="CuadroTexto 61"/>
              <p:cNvSpPr txBox="1"/>
              <p:nvPr/>
            </p:nvSpPr>
            <p:spPr>
              <a:xfrm>
                <a:off x="5404364" y="3695162"/>
                <a:ext cx="400110" cy="291105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0" dirty="0">
                    <a:solidFill>
                      <a:schemeClr val="accent1">
                        <a:lumMod val="75000"/>
                      </a:schemeClr>
                    </a:solidFill>
                  </a:rPr>
                  <a:t>10</a:t>
                </a:r>
              </a:p>
            </p:txBody>
          </p:sp>
          <p:sp>
            <p:nvSpPr>
              <p:cNvPr id="77" name="CuadroTexto 63"/>
              <p:cNvSpPr txBox="1"/>
              <p:nvPr/>
            </p:nvSpPr>
            <p:spPr>
              <a:xfrm>
                <a:off x="5404364" y="4709566"/>
                <a:ext cx="400110" cy="291105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0" dirty="0">
                    <a:solidFill>
                      <a:schemeClr val="accent1">
                        <a:lumMod val="75000"/>
                      </a:schemeClr>
                    </a:solidFill>
                  </a:rPr>
                  <a:t>00</a:t>
                </a:r>
              </a:p>
            </p:txBody>
          </p:sp>
          <p:cxnSp>
            <p:nvCxnSpPr>
              <p:cNvPr id="78" name="Conector recto de flecha 56"/>
              <p:cNvCxnSpPr/>
              <p:nvPr/>
            </p:nvCxnSpPr>
            <p:spPr bwMode="auto">
              <a:xfrm>
                <a:off x="5296755" y="3551482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" name="Conector recto de flecha 57"/>
              <p:cNvCxnSpPr/>
              <p:nvPr/>
            </p:nvCxnSpPr>
            <p:spPr bwMode="auto">
              <a:xfrm>
                <a:off x="5298181" y="4558651"/>
                <a:ext cx="457200" cy="1588"/>
              </a:xfrm>
              <a:prstGeom prst="straightConnector1">
                <a:avLst/>
              </a:prstGeom>
              <a:ln w="38100" cmpd="sng">
                <a:tailEnd type="arrow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0" name="CuadroTexto 61"/>
              <p:cNvSpPr txBox="1"/>
              <p:nvPr/>
            </p:nvSpPr>
            <p:spPr>
              <a:xfrm>
                <a:off x="5404363" y="3194627"/>
                <a:ext cx="400110" cy="277768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0" dirty="0">
                    <a:solidFill>
                      <a:schemeClr val="accent1">
                        <a:lumMod val="75000"/>
                      </a:schemeClr>
                    </a:solidFill>
                  </a:rPr>
                  <a:t>11</a:t>
                </a:r>
              </a:p>
            </p:txBody>
          </p:sp>
          <p:sp>
            <p:nvSpPr>
              <p:cNvPr id="81" name="CuadroTexto 63"/>
              <p:cNvSpPr txBox="1"/>
              <p:nvPr/>
            </p:nvSpPr>
            <p:spPr>
              <a:xfrm>
                <a:off x="5404364" y="4202365"/>
                <a:ext cx="400110" cy="291105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s-ES_tradnl" sz="1400" noProof="0" dirty="0">
                    <a:solidFill>
                      <a:schemeClr val="accent1">
                        <a:lumMod val="75000"/>
                      </a:schemeClr>
                    </a:solidFill>
                  </a:rPr>
                  <a:t>01</a:t>
                </a:r>
              </a:p>
            </p:txBody>
          </p:sp>
        </p:grpSp>
        <p:cxnSp>
          <p:nvCxnSpPr>
            <p:cNvPr id="82" name="81 Conector recto"/>
            <p:cNvCxnSpPr>
              <a:endCxn id="83" idx="2"/>
            </p:cNvCxnSpPr>
            <p:nvPr/>
          </p:nvCxnSpPr>
          <p:spPr bwMode="auto">
            <a:xfrm flipV="1">
              <a:off x="4648619" y="4045500"/>
              <a:ext cx="73192" cy="240331"/>
            </a:xfrm>
            <a:prstGeom prst="lin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82 CuadroTexto"/>
            <p:cNvSpPr txBox="1"/>
            <p:nvPr/>
          </p:nvSpPr>
          <p:spPr>
            <a:xfrm>
              <a:off x="4579785" y="37377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89F72BC-AF67-2889-7C43-5DBE1A1B3932}"/>
              </a:ext>
            </a:extLst>
          </p:cNvPr>
          <p:cNvSpPr/>
          <p:nvPr/>
        </p:nvSpPr>
        <p:spPr bwMode="auto">
          <a:xfrm>
            <a:off x="3447932" y="3756842"/>
            <a:ext cx="381000" cy="1806878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380765-3E0A-52C0-974E-D6E8899D2FD2}"/>
              </a:ext>
            </a:extLst>
          </p:cNvPr>
          <p:cNvSpPr/>
          <p:nvPr/>
        </p:nvSpPr>
        <p:spPr bwMode="auto">
          <a:xfrm rot="5400000">
            <a:off x="6394339" y="3691096"/>
            <a:ext cx="381000" cy="198251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7644967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115888"/>
            <a:ext cx="8459787" cy="865187"/>
          </a:xfrm>
        </p:spPr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Seleccionar recursos necesarios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5538"/>
            <a:ext cx="8250237" cy="3446462"/>
          </a:xfrm>
        </p:spPr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Búsqueda de la instrucción y descodificación: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Todas las instrucciones constan de esta fase común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Requiere:</a:t>
            </a:r>
          </a:p>
          <a:p>
            <a:pPr lvl="2">
              <a:buNone/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1) Leer la instrucción de la memoria</a:t>
            </a:r>
          </a:p>
          <a:p>
            <a:pPr lvl="3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La dirección la facilita el </a:t>
            </a:r>
            <a:r>
              <a:rPr lang="es-ES_tradnl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Contador de Programa (PC: </a:t>
            </a:r>
            <a:r>
              <a:rPr lang="es-ES_tradnl" sz="14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s-ES_tradnl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Counter)</a:t>
            </a:r>
          </a:p>
          <a:p>
            <a:pPr lvl="2" algn="r">
              <a:buNone/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2) Incrementar el PC para que apunte a la siguiente instrucción (PC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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PC + 4)</a:t>
            </a:r>
          </a:p>
          <a:p>
            <a:pPr lvl="2">
              <a:buNone/>
            </a:pP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3) Descodificar la instrucción</a:t>
            </a:r>
          </a:p>
          <a:p>
            <a:pPr lvl="3"/>
            <a:r>
              <a:rPr lang="es-ES_tradnl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Realizado por la </a:t>
            </a:r>
            <a:r>
              <a:rPr lang="es-ES_tradnl" sz="1400" b="1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de CONTROL</a:t>
            </a:r>
            <a:endParaRPr lang="es-ES_tradnl" b="1" noProof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50</a:t>
            </a:fld>
            <a:endParaRPr lang="es-ES_tradnl" noProof="0" dirty="0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0CA2235C-4BA1-629C-C80F-02D26E754379}"/>
              </a:ext>
            </a:extLst>
          </p:cNvPr>
          <p:cNvGrpSpPr/>
          <p:nvPr/>
        </p:nvGrpSpPr>
        <p:grpSpPr>
          <a:xfrm>
            <a:off x="1701100" y="4293391"/>
            <a:ext cx="2527826" cy="2116880"/>
            <a:chOff x="1701100" y="4293391"/>
            <a:chExt cx="2527826" cy="2116880"/>
          </a:xfrm>
        </p:grpSpPr>
        <p:sp>
          <p:nvSpPr>
            <p:cNvPr id="7" name="Text Box 18"/>
            <p:cNvSpPr txBox="1">
              <a:spLocks noChangeArrowheads="1"/>
            </p:cNvSpPr>
            <p:nvPr/>
          </p:nvSpPr>
          <p:spPr bwMode="blackWhite">
            <a:xfrm>
              <a:off x="3430413" y="5330732"/>
              <a:ext cx="798513" cy="2127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400" noProof="0" dirty="0">
                  <a:latin typeface="Calibri" pitchFamily="-103" charset="0"/>
                </a:rPr>
                <a:t>instrucción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blackWhite">
            <a:xfrm>
              <a:off x="2123728" y="4293391"/>
              <a:ext cx="663575" cy="21272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400" noProof="0" dirty="0">
                  <a:latin typeface="Calibri" pitchFamily="-103" charset="0"/>
                </a:rPr>
                <a:t>dirección</a:t>
              </a:r>
            </a:p>
          </p:txBody>
        </p:sp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245DEA40-29C7-2815-E728-95924D662E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84971" y="4581128"/>
              <a:ext cx="0" cy="39214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007286BA-626C-BCA5-5A08-F38552090BCC}"/>
                </a:ext>
              </a:extLst>
            </p:cNvPr>
            <p:cNvCxnSpPr>
              <a:cxnSpLocks/>
              <a:stCxn id="29" idx="3"/>
            </p:cNvCxnSpPr>
            <p:nvPr/>
          </p:nvCxnSpPr>
          <p:spPr bwMode="auto">
            <a:xfrm>
              <a:off x="2937040" y="5454696"/>
              <a:ext cx="410824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EEC5B0E3-8E54-2755-F510-AC6D5FDF6CD4}"/>
                </a:ext>
              </a:extLst>
            </p:cNvPr>
            <p:cNvCxnSpPr/>
            <p:nvPr/>
          </p:nvCxnSpPr>
          <p:spPr bwMode="auto">
            <a:xfrm rot="5400000" flipH="1" flipV="1">
              <a:off x="2359921" y="6096944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B40BF77-F09B-3D2C-AE2B-3733EAAC298D}"/>
                </a:ext>
              </a:extLst>
            </p:cNvPr>
            <p:cNvSpPr txBox="1"/>
            <p:nvPr/>
          </p:nvSpPr>
          <p:spPr>
            <a:xfrm>
              <a:off x="2214215" y="6134136"/>
              <a:ext cx="55180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50BD3ACB-09B2-EDC0-CDEB-B5B3ADEB4EC5}"/>
                </a:ext>
              </a:extLst>
            </p:cNvPr>
            <p:cNvSpPr/>
            <p:nvPr/>
          </p:nvSpPr>
          <p:spPr bwMode="auto">
            <a:xfrm>
              <a:off x="1701100" y="4960940"/>
              <a:ext cx="1235940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Instrucciones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C80ABEFB-7287-5F50-B379-0BE06F12294E}"/>
              </a:ext>
            </a:extLst>
          </p:cNvPr>
          <p:cNvGrpSpPr/>
          <p:nvPr/>
        </p:nvGrpSpPr>
        <p:grpSpPr>
          <a:xfrm>
            <a:off x="5508104" y="4077072"/>
            <a:ext cx="1408836" cy="2669666"/>
            <a:chOff x="5508104" y="4077072"/>
            <a:chExt cx="1408836" cy="2669666"/>
          </a:xfrm>
        </p:grpSpPr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E4C38E27-3BCA-7CFA-6765-EB2926A481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7055" y="5139191"/>
              <a:ext cx="0" cy="91155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FCD6FABE-350D-14E4-5747-9BB713A96DEE}"/>
                </a:ext>
              </a:extLst>
            </p:cNvPr>
            <p:cNvSpPr/>
            <p:nvPr/>
          </p:nvSpPr>
          <p:spPr bwMode="auto">
            <a:xfrm>
              <a:off x="6079424" y="6050741"/>
              <a:ext cx="837516" cy="30385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476236F6-9DF1-51C1-D118-51747D217CCB}"/>
                </a:ext>
              </a:extLst>
            </p:cNvPr>
            <p:cNvCxnSpPr>
              <a:cxnSpLocks/>
              <a:stCxn id="31" idx="2"/>
            </p:cNvCxnSpPr>
            <p:nvPr/>
          </p:nvCxnSpPr>
          <p:spPr bwMode="auto">
            <a:xfrm>
              <a:off x="6498182" y="6354591"/>
              <a:ext cx="0" cy="39214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Freeform 42">
              <a:extLst>
                <a:ext uri="{FF2B5EF4-FFF2-40B4-BE49-F238E27FC236}">
                  <a16:creationId xmlns:a16="http://schemas.microsoft.com/office/drawing/2014/main" id="{DD7CDF30-28D5-978A-9EA5-01CBFE6BDBA7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6168683" y="4568597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/>
                <a:t>+</a:t>
              </a:r>
            </a:p>
          </p:txBody>
        </p:sp>
        <p:cxnSp>
          <p:nvCxnSpPr>
            <p:cNvPr id="34" name="Conector angular 33">
              <a:extLst>
                <a:ext uri="{FF2B5EF4-FFF2-40B4-BE49-F238E27FC236}">
                  <a16:creationId xmlns:a16="http://schemas.microsoft.com/office/drawing/2014/main" id="{C531F571-5701-2956-E669-C10AE0E4B027}"/>
                </a:ext>
              </a:extLst>
            </p:cNvPr>
            <p:cNvCxnSpPr/>
            <p:nvPr/>
          </p:nvCxnSpPr>
          <p:spPr bwMode="auto">
            <a:xfrm rot="16200000" flipV="1">
              <a:off x="4994984" y="4977218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D09BD7E0-B59D-F298-457B-257070E79BA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08104" y="4455995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737279E5-E8C0-C49F-6BFA-C69A0C3BDBE7}"/>
                </a:ext>
              </a:extLst>
            </p:cNvPr>
            <p:cNvCxnSpPr/>
            <p:nvPr/>
          </p:nvCxnSpPr>
          <p:spPr bwMode="auto">
            <a:xfrm rot="16200000" flipH="1">
              <a:off x="6401327" y="4565244"/>
              <a:ext cx="379812" cy="846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79604C3D-F986-E27C-D20C-5404E5892EFE}"/>
                </a:ext>
              </a:extLst>
            </p:cNvPr>
            <p:cNvSpPr txBox="1"/>
            <p:nvPr/>
          </p:nvSpPr>
          <p:spPr>
            <a:xfrm>
              <a:off x="6454995" y="4077072"/>
              <a:ext cx="284283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BE86E288-E459-BB68-A50C-16E3A64AC57A}"/>
                </a:ext>
              </a:extLst>
            </p:cNvPr>
            <p:cNvSpPr txBox="1"/>
            <p:nvPr/>
          </p:nvSpPr>
          <p:spPr>
            <a:xfrm rot="16200000">
              <a:off x="5463396" y="5998791"/>
              <a:ext cx="533529" cy="27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9E9AD6F3-92AA-83A6-18D2-B65F0A112431}"/>
                </a:ext>
              </a:extLst>
            </p:cNvPr>
            <p:cNvSpPr/>
            <p:nvPr/>
          </p:nvSpPr>
          <p:spPr bwMode="auto">
            <a:xfrm>
              <a:off x="6457080" y="6464312"/>
              <a:ext cx="76138" cy="75962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43" name="Conector recto 253">
              <a:extLst>
                <a:ext uri="{FF2B5EF4-FFF2-40B4-BE49-F238E27FC236}">
                  <a16:creationId xmlns:a16="http://schemas.microsoft.com/office/drawing/2014/main" id="{B14A3F06-AD71-21F7-B12D-FE0237541033}"/>
                </a:ext>
              </a:extLst>
            </p:cNvPr>
            <p:cNvCxnSpPr/>
            <p:nvPr/>
          </p:nvCxnSpPr>
          <p:spPr bwMode="auto">
            <a:xfrm rot="10800000" flipH="1">
              <a:off x="5855992" y="6202666"/>
              <a:ext cx="226827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" name="142 Triángulo isósceles">
              <a:extLst>
                <a:ext uri="{FF2B5EF4-FFF2-40B4-BE49-F238E27FC236}">
                  <a16:creationId xmlns:a16="http://schemas.microsoft.com/office/drawing/2014/main" id="{943EF28D-CFA4-C54D-9AE3-C8F5F62701A7}"/>
                </a:ext>
              </a:extLst>
            </p:cNvPr>
            <p:cNvSpPr/>
            <p:nvPr/>
          </p:nvSpPr>
          <p:spPr bwMode="auto">
            <a:xfrm rot="5400000">
              <a:off x="6078877" y="6153189"/>
              <a:ext cx="117331" cy="117638"/>
            </a:xfrm>
            <a:prstGeom prst="triangle">
              <a:avLst/>
            </a:prstGeom>
            <a:noFill/>
            <a:ln w="9525">
              <a:solidFill>
                <a:srgbClr val="C0000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914F-0527-EF56-625B-31155E48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3273A9B-4782-2E07-672F-BE483443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Búsqueda y descodificación</a:t>
            </a:r>
            <a:endParaRPr lang="es-ES_tradnl" sz="2800" noProof="0" dirty="0"/>
          </a:p>
        </p:txBody>
      </p: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E76D2DB4-727E-6299-B4BA-C5DC46F638AE}"/>
              </a:ext>
            </a:extLst>
          </p:cNvPr>
          <p:cNvGrpSpPr/>
          <p:nvPr/>
        </p:nvGrpSpPr>
        <p:grpSpPr>
          <a:xfrm>
            <a:off x="1028192" y="1021617"/>
            <a:ext cx="5829759" cy="5441581"/>
            <a:chOff x="1028192" y="1021617"/>
            <a:chExt cx="5829759" cy="5441581"/>
          </a:xfrm>
        </p:grpSpPr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98B38150-1B61-093A-F99E-82610E1D95D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5"/>
              <a:ext cx="0" cy="91155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BA4811-7D12-DADA-9019-A85883E7467A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39A383DD-2434-21A6-D314-941DA5D669C2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D0EF612-1711-3359-44E5-5931D276CCFD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1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4EC4BF16-B59A-58B9-0BBE-25E86C75BA8A}"/>
                </a:ext>
              </a:extLst>
            </p:cNvPr>
            <p:cNvCxnSpPr/>
            <p:nvPr/>
          </p:nvCxnSpPr>
          <p:spPr bwMode="auto">
            <a:xfrm rot="16200000" flipV="1">
              <a:off x="515072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8C7B3DB9-7CC0-D8F6-2860-FE475481DF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DC03286B-88C1-D45E-5A82-435B26FB4B8C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86C91C4-5D70-E363-1249-045EAF885F30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BB96A73A-109F-6B25-A8EA-DCA7D1758F1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F54549C0-300B-FA55-A863-F1FA22544FCE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5AD3FA67-45C6-7370-2507-C24C72C07D4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794C6BF5-6617-6D17-E28F-C028E48ECFA7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86F88118-A699-8A80-BFF9-9E78CC9CAC7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CB5589CB-0C79-4736-F909-DCB3182788E7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F021AFC1-EA10-DB4D-78DF-2F4076886036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F99EC9D3-AA2A-75D0-ACBA-C5302E429241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B05E9002-1366-020F-6BE7-2EE1E07BA0FB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D4BF7796-EF0D-F5C4-DD6A-00D44263CE63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b="1" noProof="0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68BF801-FA23-822A-229C-3D719822FBB5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3171A604-AB3E-D60A-0D2C-FDA1D1465CC2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97B733D5-F3E8-90C2-1F5D-DD16B7C9BDFD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D0C9492F-4DD2-D977-D712-7D87F54FFC27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0299948E-4E45-60E1-9CF7-2B4E6E90F653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09CE05FD-F8BE-FA0F-97A4-502C884C10B5}"/>
                </a:ext>
              </a:extLst>
            </p:cNvPr>
            <p:cNvSpPr/>
            <p:nvPr/>
          </p:nvSpPr>
          <p:spPr bwMode="auto">
            <a:xfrm>
              <a:off x="1977168" y="4743776"/>
              <a:ext cx="76138" cy="75962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40C6B851-8C48-A844-9664-37801660A56A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CA2FA113-468E-2AE0-4AB8-548A07D63239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rgbClr val="C0000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8C0E74C-CA46-B016-B4DF-A26B70CA56AF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Instrucciones</a:t>
              </a:r>
            </a:p>
          </p:txBody>
        </p:sp>
      </p:grpSp>
      <p:cxnSp>
        <p:nvCxnSpPr>
          <p:cNvPr id="100" name="42 Conector recto">
            <a:extLst>
              <a:ext uri="{FF2B5EF4-FFF2-40B4-BE49-F238E27FC236}">
                <a16:creationId xmlns:a16="http://schemas.microsoft.com/office/drawing/2014/main" id="{B7808C62-9452-2DD8-D0E4-DED3C875F2D2}"/>
              </a:ext>
            </a:extLst>
          </p:cNvPr>
          <p:cNvCxnSpPr/>
          <p:nvPr/>
        </p:nvCxnSpPr>
        <p:spPr>
          <a:xfrm rot="5400000" flipH="1" flipV="1">
            <a:off x="7343875" y="2715742"/>
            <a:ext cx="357190" cy="1466"/>
          </a:xfrm>
          <a:prstGeom prst="line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43 Rectángulo">
            <a:extLst>
              <a:ext uri="{FF2B5EF4-FFF2-40B4-BE49-F238E27FC236}">
                <a16:creationId xmlns:a16="http://schemas.microsoft.com/office/drawing/2014/main" id="{627A4634-9B03-FEE5-5A67-0B8A58E10F87}"/>
              </a:ext>
            </a:extLst>
          </p:cNvPr>
          <p:cNvSpPr/>
          <p:nvPr/>
        </p:nvSpPr>
        <p:spPr>
          <a:xfrm>
            <a:off x="5539520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2" name="46 Rectángulo">
            <a:extLst>
              <a:ext uri="{FF2B5EF4-FFF2-40B4-BE49-F238E27FC236}">
                <a16:creationId xmlns:a16="http://schemas.microsoft.com/office/drawing/2014/main" id="{B769F78C-204E-136E-CCDD-F7DD39F03AD4}"/>
              </a:ext>
            </a:extLst>
          </p:cNvPr>
          <p:cNvSpPr/>
          <p:nvPr/>
        </p:nvSpPr>
        <p:spPr>
          <a:xfrm>
            <a:off x="5267227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3" name="47 Rectángulo">
            <a:extLst>
              <a:ext uri="{FF2B5EF4-FFF2-40B4-BE49-F238E27FC236}">
                <a16:creationId xmlns:a16="http://schemas.microsoft.com/office/drawing/2014/main" id="{93B094D0-0966-479D-A710-0F8934D0D4E1}"/>
              </a:ext>
            </a:extLst>
          </p:cNvPr>
          <p:cNvSpPr/>
          <p:nvPr/>
        </p:nvSpPr>
        <p:spPr>
          <a:xfrm>
            <a:off x="4753955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4" name="48 Rectángulo">
            <a:extLst>
              <a:ext uri="{FF2B5EF4-FFF2-40B4-BE49-F238E27FC236}">
                <a16:creationId xmlns:a16="http://schemas.microsoft.com/office/drawing/2014/main" id="{5459655F-17C3-F320-874B-84A6195647EF}"/>
              </a:ext>
            </a:extLst>
          </p:cNvPr>
          <p:cNvSpPr/>
          <p:nvPr/>
        </p:nvSpPr>
        <p:spPr>
          <a:xfrm>
            <a:off x="5017726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5" name="59 Rectángulo">
            <a:extLst>
              <a:ext uri="{FF2B5EF4-FFF2-40B4-BE49-F238E27FC236}">
                <a16:creationId xmlns:a16="http://schemas.microsoft.com/office/drawing/2014/main" id="{BE0A52A6-9A2B-B7E4-AE4A-BC09D2961758}"/>
              </a:ext>
            </a:extLst>
          </p:cNvPr>
          <p:cNvSpPr/>
          <p:nvPr/>
        </p:nvSpPr>
        <p:spPr>
          <a:xfrm>
            <a:off x="4226413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6" name="60 Rectángulo">
            <a:extLst>
              <a:ext uri="{FF2B5EF4-FFF2-40B4-BE49-F238E27FC236}">
                <a16:creationId xmlns:a16="http://schemas.microsoft.com/office/drawing/2014/main" id="{818A908F-AB80-476D-2BD5-880FD470E3EB}"/>
              </a:ext>
            </a:extLst>
          </p:cNvPr>
          <p:cNvSpPr/>
          <p:nvPr/>
        </p:nvSpPr>
        <p:spPr>
          <a:xfrm>
            <a:off x="6104112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grpSp>
        <p:nvGrpSpPr>
          <p:cNvPr id="107" name="121 Grupo">
            <a:extLst>
              <a:ext uri="{FF2B5EF4-FFF2-40B4-BE49-F238E27FC236}">
                <a16:creationId xmlns:a16="http://schemas.microsoft.com/office/drawing/2014/main" id="{ECA016B0-703E-6050-80C5-13BBC1D68BDF}"/>
              </a:ext>
            </a:extLst>
          </p:cNvPr>
          <p:cNvGrpSpPr/>
          <p:nvPr/>
        </p:nvGrpSpPr>
        <p:grpSpPr>
          <a:xfrm>
            <a:off x="3697056" y="2537880"/>
            <a:ext cx="3824681" cy="857256"/>
            <a:chOff x="4452934" y="285728"/>
            <a:chExt cx="4143404" cy="857256"/>
          </a:xfrm>
        </p:grpSpPr>
        <p:cxnSp>
          <p:nvCxnSpPr>
            <p:cNvPr id="108" name="62 Conector recto">
              <a:extLst>
                <a:ext uri="{FF2B5EF4-FFF2-40B4-BE49-F238E27FC236}">
                  <a16:creationId xmlns:a16="http://schemas.microsoft.com/office/drawing/2014/main" id="{88EB1036-3D80-58ED-4EE5-751643314842}"/>
                </a:ext>
              </a:extLst>
            </p:cNvPr>
            <p:cNvCxnSpPr/>
            <p:nvPr/>
          </p:nvCxnSpPr>
          <p:spPr>
            <a:xfrm>
              <a:off x="4452934" y="642918"/>
              <a:ext cx="571504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63 Conector recto">
              <a:extLst>
                <a:ext uri="{FF2B5EF4-FFF2-40B4-BE49-F238E27FC236}">
                  <a16:creationId xmlns:a16="http://schemas.microsoft.com/office/drawing/2014/main" id="{AD072D8A-42B5-726A-C279-D82088048BCF}"/>
                </a:ext>
              </a:extLst>
            </p:cNvPr>
            <p:cNvCxnSpPr/>
            <p:nvPr/>
          </p:nvCxnSpPr>
          <p:spPr>
            <a:xfrm>
              <a:off x="5024438" y="285728"/>
              <a:ext cx="1928826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64 Conector recto">
              <a:extLst>
                <a:ext uri="{FF2B5EF4-FFF2-40B4-BE49-F238E27FC236}">
                  <a16:creationId xmlns:a16="http://schemas.microsoft.com/office/drawing/2014/main" id="{CE276145-D7DA-2DD3-7553-B8577E3D9512}"/>
                </a:ext>
              </a:extLst>
            </p:cNvPr>
            <p:cNvCxnSpPr/>
            <p:nvPr/>
          </p:nvCxnSpPr>
          <p:spPr>
            <a:xfrm>
              <a:off x="6953264" y="642918"/>
              <a:ext cx="1643074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65 Conector recto">
              <a:extLst>
                <a:ext uri="{FF2B5EF4-FFF2-40B4-BE49-F238E27FC236}">
                  <a16:creationId xmlns:a16="http://schemas.microsoft.com/office/drawing/2014/main" id="{E39A5A7C-2BFB-5038-A509-402D512A010D}"/>
                </a:ext>
              </a:extLst>
            </p:cNvPr>
            <p:cNvCxnSpPr/>
            <p:nvPr/>
          </p:nvCxnSpPr>
          <p:spPr>
            <a:xfrm rot="5400000" flipH="1" flipV="1">
              <a:off x="6775463" y="463529"/>
              <a:ext cx="357190" cy="1588"/>
            </a:xfrm>
            <a:prstGeom prst="line">
              <a:avLst/>
            </a:prstGeom>
            <a:ln w="317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66 Conector recto">
              <a:extLst>
                <a:ext uri="{FF2B5EF4-FFF2-40B4-BE49-F238E27FC236}">
                  <a16:creationId xmlns:a16="http://schemas.microsoft.com/office/drawing/2014/main" id="{13FD1692-288E-9411-99BD-F55203CED5F2}"/>
                </a:ext>
              </a:extLst>
            </p:cNvPr>
            <p:cNvCxnSpPr/>
            <p:nvPr/>
          </p:nvCxnSpPr>
          <p:spPr>
            <a:xfrm rot="5400000" flipH="1" flipV="1">
              <a:off x="4596604" y="714356"/>
              <a:ext cx="856462" cy="794"/>
            </a:xfrm>
            <a:prstGeom prst="line">
              <a:avLst/>
            </a:prstGeom>
            <a:ln w="317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67 Rectángulo">
            <a:extLst>
              <a:ext uri="{FF2B5EF4-FFF2-40B4-BE49-F238E27FC236}">
                <a16:creationId xmlns:a16="http://schemas.microsoft.com/office/drawing/2014/main" id="{F7C0CB23-1BAC-3267-F945-3F498E61B6FB}"/>
              </a:ext>
            </a:extLst>
          </p:cNvPr>
          <p:cNvSpPr/>
          <p:nvPr/>
        </p:nvSpPr>
        <p:spPr>
          <a:xfrm>
            <a:off x="5820397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grpSp>
        <p:nvGrpSpPr>
          <p:cNvPr id="114" name="68 Grupo">
            <a:extLst>
              <a:ext uri="{FF2B5EF4-FFF2-40B4-BE49-F238E27FC236}">
                <a16:creationId xmlns:a16="http://schemas.microsoft.com/office/drawing/2014/main" id="{633601F2-77D4-5001-1B29-29C1293A032E}"/>
              </a:ext>
            </a:extLst>
          </p:cNvPr>
          <p:cNvGrpSpPr/>
          <p:nvPr/>
        </p:nvGrpSpPr>
        <p:grpSpPr>
          <a:xfrm>
            <a:off x="6384989" y="3106201"/>
            <a:ext cx="2311092" cy="1717168"/>
            <a:chOff x="6832908" y="854576"/>
            <a:chExt cx="2311092" cy="1717168"/>
          </a:xfrm>
        </p:grpSpPr>
        <p:sp>
          <p:nvSpPr>
            <p:cNvPr id="115" name="74 Rectángulo">
              <a:extLst>
                <a:ext uri="{FF2B5EF4-FFF2-40B4-BE49-F238E27FC236}">
                  <a16:creationId xmlns:a16="http://schemas.microsoft.com/office/drawing/2014/main" id="{660C4980-49E3-C53A-3A59-B06D01632A17}"/>
                </a:ext>
              </a:extLst>
            </p:cNvPr>
            <p:cNvSpPr/>
            <p:nvPr/>
          </p:nvSpPr>
          <p:spPr>
            <a:xfrm>
              <a:off x="6832908" y="854576"/>
              <a:ext cx="1090016" cy="2143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16" name="72 Llamada de nube">
              <a:extLst>
                <a:ext uri="{FF2B5EF4-FFF2-40B4-BE49-F238E27FC236}">
                  <a16:creationId xmlns:a16="http://schemas.microsoft.com/office/drawing/2014/main" id="{CA223F00-C3BD-4B3C-C4FA-6B1B98FB8169}"/>
                </a:ext>
              </a:extLst>
            </p:cNvPr>
            <p:cNvSpPr/>
            <p:nvPr/>
          </p:nvSpPr>
          <p:spPr bwMode="auto">
            <a:xfrm>
              <a:off x="7429520" y="1500174"/>
              <a:ext cx="1714480" cy="1071570"/>
            </a:xfrm>
            <a:prstGeom prst="cloudCallout">
              <a:avLst>
                <a:gd name="adj1" fmla="val -56628"/>
                <a:gd name="adj2" fmla="val -85792"/>
              </a:avLst>
            </a:prstGeom>
            <a:noFill/>
            <a:ln w="19050"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17" name="73 CuadroTexto">
              <a:extLst>
                <a:ext uri="{FF2B5EF4-FFF2-40B4-BE49-F238E27FC236}">
                  <a16:creationId xmlns:a16="http://schemas.microsoft.com/office/drawing/2014/main" id="{0FDE3E8B-051B-54F7-A0CD-01C0F5239AF7}"/>
                </a:ext>
              </a:extLst>
            </p:cNvPr>
            <p:cNvSpPr txBox="1"/>
            <p:nvPr/>
          </p:nvSpPr>
          <p:spPr>
            <a:xfrm>
              <a:off x="7775848" y="1644190"/>
              <a:ext cx="12241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Tiempo para ejecutar la instrucción</a:t>
              </a:r>
            </a:p>
          </p:txBody>
        </p:sp>
      </p:grpSp>
      <p:sp>
        <p:nvSpPr>
          <p:cNvPr id="118" name="76 Llamada ovalada">
            <a:extLst>
              <a:ext uri="{FF2B5EF4-FFF2-40B4-BE49-F238E27FC236}">
                <a16:creationId xmlns:a16="http://schemas.microsoft.com/office/drawing/2014/main" id="{C7DF81EB-49F2-8A34-6058-B0443D3C8313}"/>
              </a:ext>
            </a:extLst>
          </p:cNvPr>
          <p:cNvSpPr/>
          <p:nvPr/>
        </p:nvSpPr>
        <p:spPr>
          <a:xfrm>
            <a:off x="6216608" y="1754188"/>
            <a:ext cx="2814024" cy="536519"/>
          </a:xfrm>
          <a:prstGeom prst="wedgeEllipseCallout">
            <a:avLst>
              <a:gd name="adj1" fmla="val -24954"/>
              <a:gd name="adj2" fmla="val -79527"/>
            </a:avLst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x2, x3, x4</a:t>
            </a:r>
            <a:endParaRPr lang="es-ES_tradnl" sz="2000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9" name="77 Rectángulo">
            <a:extLst>
              <a:ext uri="{FF2B5EF4-FFF2-40B4-BE49-F238E27FC236}">
                <a16:creationId xmlns:a16="http://schemas.microsoft.com/office/drawing/2014/main" id="{92BBBA37-09F9-A1E9-8E36-CB5A1A92461E}"/>
              </a:ext>
            </a:extLst>
          </p:cNvPr>
          <p:cNvSpPr/>
          <p:nvPr/>
        </p:nvSpPr>
        <p:spPr>
          <a:xfrm>
            <a:off x="4490182" y="3110384"/>
            <a:ext cx="263771" cy="2143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FD5C1BC7-7C33-A5F5-9124-95E69044CA91}"/>
              </a:ext>
            </a:extLst>
          </p:cNvPr>
          <p:cNvSpPr txBox="1"/>
          <p:nvPr/>
        </p:nvSpPr>
        <p:spPr>
          <a:xfrm>
            <a:off x="3830657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24B19310-966E-9B1C-E9B4-FE3709ABA6DD}"/>
              </a:ext>
            </a:extLst>
          </p:cNvPr>
          <p:cNvSpPr txBox="1"/>
          <p:nvPr/>
        </p:nvSpPr>
        <p:spPr>
          <a:xfrm>
            <a:off x="4769010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91D5CF01-A0FC-3AAC-6442-5CA28C3CF5D4}"/>
              </a:ext>
            </a:extLst>
          </p:cNvPr>
          <p:cNvSpPr txBox="1"/>
          <p:nvPr/>
        </p:nvSpPr>
        <p:spPr>
          <a:xfrm>
            <a:off x="5508104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2D7B12C3-F451-3D5E-BA7E-951F6E763275}"/>
              </a:ext>
            </a:extLst>
          </p:cNvPr>
          <p:cNvSpPr txBox="1"/>
          <p:nvPr/>
        </p:nvSpPr>
        <p:spPr>
          <a:xfrm>
            <a:off x="6159115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1229A22A-8BB4-C308-7AF2-DA5EA10FFE61}"/>
              </a:ext>
            </a:extLst>
          </p:cNvPr>
          <p:cNvSpPr txBox="1"/>
          <p:nvPr/>
        </p:nvSpPr>
        <p:spPr>
          <a:xfrm>
            <a:off x="6879195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740AECC-C3F3-FC16-FACE-C2180ABBF9BC}"/>
              </a:ext>
            </a:extLst>
          </p:cNvPr>
          <p:cNvSpPr txBox="1"/>
          <p:nvPr/>
        </p:nvSpPr>
        <p:spPr>
          <a:xfrm>
            <a:off x="7743291" y="5262305"/>
            <a:ext cx="86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51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942589E-CF6D-38DC-AE60-CB3624B7825F}"/>
              </a:ext>
            </a:extLst>
          </p:cNvPr>
          <p:cNvGrpSpPr/>
          <p:nvPr/>
        </p:nvGrpSpPr>
        <p:grpSpPr>
          <a:xfrm>
            <a:off x="3346444" y="5531267"/>
            <a:ext cx="5764068" cy="1180085"/>
            <a:chOff x="975305" y="4921594"/>
            <a:chExt cx="3345284" cy="753875"/>
          </a:xfrm>
        </p:grpSpPr>
        <p:grpSp>
          <p:nvGrpSpPr>
            <p:cNvPr id="3" name="Group 9">
              <a:extLst>
                <a:ext uri="{FF2B5EF4-FFF2-40B4-BE49-F238E27FC236}">
                  <a16:creationId xmlns:a16="http://schemas.microsoft.com/office/drawing/2014/main" id="{00D062FA-78C1-0B13-1F37-49643FC4A2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4"/>
              <a:ext cx="3345284" cy="753875"/>
              <a:chOff x="143" y="720"/>
              <a:chExt cx="2545" cy="451"/>
            </a:xfrm>
          </p:grpSpPr>
          <p:sp>
            <p:nvSpPr>
              <p:cNvPr id="7" name="Rectangle 10">
                <a:extLst>
                  <a:ext uri="{FF2B5EF4-FFF2-40B4-BE49-F238E27FC236}">
                    <a16:creationId xmlns:a16="http://schemas.microsoft.com/office/drawing/2014/main" id="{2E50F376-76DF-47AA-CF8A-446EB8CA5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8" name="Group 155">
                <a:extLst>
                  <a:ext uri="{FF2B5EF4-FFF2-40B4-BE49-F238E27FC236}">
                    <a16:creationId xmlns:a16="http://schemas.microsoft.com/office/drawing/2014/main" id="{BF6B8A3B-C4F5-8A70-2946-89E28A6B95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70"/>
                <a:ext cx="2474" cy="295"/>
                <a:chOff x="1168" y="1293"/>
                <a:chExt cx="3189" cy="482"/>
              </a:xfrm>
            </p:grpSpPr>
            <p:grpSp>
              <p:nvGrpSpPr>
                <p:cNvPr id="9" name="Group 5">
                  <a:extLst>
                    <a:ext uri="{FF2B5EF4-FFF2-40B4-BE49-F238E27FC236}">
                      <a16:creationId xmlns:a16="http://schemas.microsoft.com/office/drawing/2014/main" id="{A3FE5153-CDE9-8DCC-C208-EB39BC457E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63" name="Rectangle 6">
                    <a:extLst>
                      <a:ext uri="{FF2B5EF4-FFF2-40B4-BE49-F238E27FC236}">
                        <a16:creationId xmlns:a16="http://schemas.microsoft.com/office/drawing/2014/main" id="{AC118546-6583-9106-67A2-7CAD1D9CF9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b="1" noProof="0" dirty="0">
                      <a:solidFill>
                        <a:srgbClr val="4F271C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grpSp>
                <p:nvGrpSpPr>
                  <p:cNvPr id="64" name="Group 7">
                    <a:extLst>
                      <a:ext uri="{FF2B5EF4-FFF2-40B4-BE49-F238E27FC236}">
                        <a16:creationId xmlns:a16="http://schemas.microsoft.com/office/drawing/2014/main" id="{61D3AC92-2813-CE1E-641E-FE5A3085996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98" name="Line 9">
                      <a:extLst>
                        <a:ext uri="{FF2B5EF4-FFF2-40B4-BE49-F238E27FC236}">
                          <a16:creationId xmlns:a16="http://schemas.microsoft.com/office/drawing/2014/main" id="{AE444314-2DF4-E5A5-0A4D-C3BA1C02751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6" name="Line 10">
                      <a:extLst>
                        <a:ext uri="{FF2B5EF4-FFF2-40B4-BE49-F238E27FC236}">
                          <a16:creationId xmlns:a16="http://schemas.microsoft.com/office/drawing/2014/main" id="{77F3A482-FD4F-A9FC-9415-D8C672BBB6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8" name="Line 11">
                      <a:extLst>
                        <a:ext uri="{FF2B5EF4-FFF2-40B4-BE49-F238E27FC236}">
                          <a16:creationId xmlns:a16="http://schemas.microsoft.com/office/drawing/2014/main" id="{360D547C-E54B-51A6-7CB3-479AFB4FBB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29" name="Line 12">
                      <a:extLst>
                        <a:ext uri="{FF2B5EF4-FFF2-40B4-BE49-F238E27FC236}">
                          <a16:creationId xmlns:a16="http://schemas.microsoft.com/office/drawing/2014/main" id="{99B3DC2C-B973-32CA-5BC1-AB1E79CC95D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0" name="Line 13">
                      <a:extLst>
                        <a:ext uri="{FF2B5EF4-FFF2-40B4-BE49-F238E27FC236}">
                          <a16:creationId xmlns:a16="http://schemas.microsoft.com/office/drawing/2014/main" id="{4B8D7AEF-AFDC-56D0-FBA9-A69660C7CBE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1" name="Line 14">
                      <a:extLst>
                        <a:ext uri="{FF2B5EF4-FFF2-40B4-BE49-F238E27FC236}">
                          <a16:creationId xmlns:a16="http://schemas.microsoft.com/office/drawing/2014/main" id="{2F38401A-2365-8FAA-431D-BE81FE23FD5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2" name="Line 15">
                      <a:extLst>
                        <a:ext uri="{FF2B5EF4-FFF2-40B4-BE49-F238E27FC236}">
                          <a16:creationId xmlns:a16="http://schemas.microsoft.com/office/drawing/2014/main" id="{0D897269-3D7F-1C30-D27A-0475EF147B4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3" name="Line 16">
                      <a:extLst>
                        <a:ext uri="{FF2B5EF4-FFF2-40B4-BE49-F238E27FC236}">
                          <a16:creationId xmlns:a16="http://schemas.microsoft.com/office/drawing/2014/main" id="{DE88FE14-E175-B4E5-0722-F569810548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4" name="Line 17">
                      <a:extLst>
                        <a:ext uri="{FF2B5EF4-FFF2-40B4-BE49-F238E27FC236}">
                          <a16:creationId xmlns:a16="http://schemas.microsoft.com/office/drawing/2014/main" id="{44FDA2B0-2C60-8C39-B572-3807BADB0B8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5" name="Line 18">
                      <a:extLst>
                        <a:ext uri="{FF2B5EF4-FFF2-40B4-BE49-F238E27FC236}">
                          <a16:creationId xmlns:a16="http://schemas.microsoft.com/office/drawing/2014/main" id="{60E9A557-F693-0757-B16B-D48A902939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6" name="Line 19">
                      <a:extLst>
                        <a:ext uri="{FF2B5EF4-FFF2-40B4-BE49-F238E27FC236}">
                          <a16:creationId xmlns:a16="http://schemas.microsoft.com/office/drawing/2014/main" id="{3E1C594D-C567-C9E4-B306-0FDCCB0CEB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8" name="Line 20">
                      <a:extLst>
                        <a:ext uri="{FF2B5EF4-FFF2-40B4-BE49-F238E27FC236}">
                          <a16:creationId xmlns:a16="http://schemas.microsoft.com/office/drawing/2014/main" id="{3FCE8850-8927-8058-2FBA-9687CDFC8FA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39" name="Line 21">
                      <a:extLst>
                        <a:ext uri="{FF2B5EF4-FFF2-40B4-BE49-F238E27FC236}">
                          <a16:creationId xmlns:a16="http://schemas.microsoft.com/office/drawing/2014/main" id="{6F55A936-5933-43A5-8C23-F4D8D5CF36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1" name="Line 22">
                      <a:extLst>
                        <a:ext uri="{FF2B5EF4-FFF2-40B4-BE49-F238E27FC236}">
                          <a16:creationId xmlns:a16="http://schemas.microsoft.com/office/drawing/2014/main" id="{FB0FEBCA-625A-79F8-D59B-5340121E7A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4" name="Line 23">
                      <a:extLst>
                        <a:ext uri="{FF2B5EF4-FFF2-40B4-BE49-F238E27FC236}">
                          <a16:creationId xmlns:a16="http://schemas.microsoft.com/office/drawing/2014/main" id="{CCEB4F2F-45A2-864F-EF8C-F87F4650D0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5" name="Line 24">
                      <a:extLst>
                        <a:ext uri="{FF2B5EF4-FFF2-40B4-BE49-F238E27FC236}">
                          <a16:creationId xmlns:a16="http://schemas.microsoft.com/office/drawing/2014/main" id="{DC60A44B-F72E-1AB7-9A1F-070A3FF620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6" name="Line 25">
                      <a:extLst>
                        <a:ext uri="{FF2B5EF4-FFF2-40B4-BE49-F238E27FC236}">
                          <a16:creationId xmlns:a16="http://schemas.microsoft.com/office/drawing/2014/main" id="{970E73B4-40ED-3EBE-D2D5-BDA78E601AF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7" name="Line 26">
                      <a:extLst>
                        <a:ext uri="{FF2B5EF4-FFF2-40B4-BE49-F238E27FC236}">
                          <a16:creationId xmlns:a16="http://schemas.microsoft.com/office/drawing/2014/main" id="{43907118-36CF-07C7-1CA2-D56F762879A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8" name="Line 27">
                      <a:extLst>
                        <a:ext uri="{FF2B5EF4-FFF2-40B4-BE49-F238E27FC236}">
                          <a16:creationId xmlns:a16="http://schemas.microsoft.com/office/drawing/2014/main" id="{2EF5E5BB-1774-4A41-B36A-96DFAEFAD43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49" name="Line 28">
                      <a:extLst>
                        <a:ext uri="{FF2B5EF4-FFF2-40B4-BE49-F238E27FC236}">
                          <a16:creationId xmlns:a16="http://schemas.microsoft.com/office/drawing/2014/main" id="{6CFEFBC6-BD46-F6CC-40BD-AFBF3913BF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0" name="Line 29">
                      <a:extLst>
                        <a:ext uri="{FF2B5EF4-FFF2-40B4-BE49-F238E27FC236}">
                          <a16:creationId xmlns:a16="http://schemas.microsoft.com/office/drawing/2014/main" id="{2B95CD7C-9A47-3C1C-F783-3FA7F7CA92D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1" name="Line 30">
                      <a:extLst>
                        <a:ext uri="{FF2B5EF4-FFF2-40B4-BE49-F238E27FC236}">
                          <a16:creationId xmlns:a16="http://schemas.microsoft.com/office/drawing/2014/main" id="{FE9212AB-4E2A-3D17-6F29-5FD2152003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2" name="Line 31">
                      <a:extLst>
                        <a:ext uri="{FF2B5EF4-FFF2-40B4-BE49-F238E27FC236}">
                          <a16:creationId xmlns:a16="http://schemas.microsoft.com/office/drawing/2014/main" id="{2C5259B5-CCF2-13DF-7480-080AC4845D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3" name="Line 32">
                      <a:extLst>
                        <a:ext uri="{FF2B5EF4-FFF2-40B4-BE49-F238E27FC236}">
                          <a16:creationId xmlns:a16="http://schemas.microsoft.com/office/drawing/2014/main" id="{0BA18489-F252-EA3E-6E86-8E371A7A9B6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4" name="Line 33">
                      <a:extLst>
                        <a:ext uri="{FF2B5EF4-FFF2-40B4-BE49-F238E27FC236}">
                          <a16:creationId xmlns:a16="http://schemas.microsoft.com/office/drawing/2014/main" id="{AA8D0708-2F87-A345-E8AE-42659AB7C44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5" name="Line 34">
                      <a:extLst>
                        <a:ext uri="{FF2B5EF4-FFF2-40B4-BE49-F238E27FC236}">
                          <a16:creationId xmlns:a16="http://schemas.microsoft.com/office/drawing/2014/main" id="{02555BB8-B5CF-8EB6-E2AC-10CECDC4DFC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6" name="Line 35">
                      <a:extLst>
                        <a:ext uri="{FF2B5EF4-FFF2-40B4-BE49-F238E27FC236}">
                          <a16:creationId xmlns:a16="http://schemas.microsoft.com/office/drawing/2014/main" id="{0B785757-730F-69F0-19F7-24FEC87849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7" name="Line 36">
                      <a:extLst>
                        <a:ext uri="{FF2B5EF4-FFF2-40B4-BE49-F238E27FC236}">
                          <a16:creationId xmlns:a16="http://schemas.microsoft.com/office/drawing/2014/main" id="{85E46814-C379-4CEA-92EF-E92AFD7B63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8" name="Line 37">
                      <a:extLst>
                        <a:ext uri="{FF2B5EF4-FFF2-40B4-BE49-F238E27FC236}">
                          <a16:creationId xmlns:a16="http://schemas.microsoft.com/office/drawing/2014/main" id="{0689F534-5C9F-904C-19F8-87AF4B4735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159" name="Line 38">
                      <a:extLst>
                        <a:ext uri="{FF2B5EF4-FFF2-40B4-BE49-F238E27FC236}">
                          <a16:creationId xmlns:a16="http://schemas.microsoft.com/office/drawing/2014/main" id="{E49BFADB-7C34-9450-5D36-F00FE171F4C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100" noProof="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p:grpSp>
            </p:grpSp>
            <p:sp>
              <p:nvSpPr>
                <p:cNvPr id="10" name="Line 39">
                  <a:extLst>
                    <a:ext uri="{FF2B5EF4-FFF2-40B4-BE49-F238E27FC236}">
                      <a16:creationId xmlns:a16="http://schemas.microsoft.com/office/drawing/2014/main" id="{5FC2A06C-6E85-9D18-EC73-2738172E91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2" name="Text Box 40">
                  <a:extLst>
                    <a:ext uri="{FF2B5EF4-FFF2-40B4-BE49-F238E27FC236}">
                      <a16:creationId xmlns:a16="http://schemas.microsoft.com/office/drawing/2014/main" id="{F85360F6-5E84-432F-D4E9-0C3FDFC9D0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50"/>
                  <a:ext cx="56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funct7</a:t>
                  </a:r>
                </a:p>
              </p:txBody>
            </p:sp>
            <p:sp>
              <p:nvSpPr>
                <p:cNvPr id="33" name="Text Box 41">
                  <a:extLst>
                    <a:ext uri="{FF2B5EF4-FFF2-40B4-BE49-F238E27FC236}">
                      <a16:creationId xmlns:a16="http://schemas.microsoft.com/office/drawing/2014/main" id="{8D9DDC5E-D6D3-E7EA-47CB-114A02A5A9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50"/>
                  <a:ext cx="543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funct3</a:t>
                  </a:r>
                </a:p>
              </p:txBody>
            </p:sp>
            <p:sp>
              <p:nvSpPr>
                <p:cNvPr id="34" name="Line 42">
                  <a:extLst>
                    <a:ext uri="{FF2B5EF4-FFF2-40B4-BE49-F238E27FC236}">
                      <a16:creationId xmlns:a16="http://schemas.microsoft.com/office/drawing/2014/main" id="{E9958F90-4841-8D46-0025-3C7CEFB07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6" name="Line 43">
                  <a:extLst>
                    <a:ext uri="{FF2B5EF4-FFF2-40B4-BE49-F238E27FC236}">
                      <a16:creationId xmlns:a16="http://schemas.microsoft.com/office/drawing/2014/main" id="{F5FC3A5A-437E-824B-B9DF-D2325F5ECE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7" name="Line 44">
                  <a:extLst>
                    <a:ext uri="{FF2B5EF4-FFF2-40B4-BE49-F238E27FC236}">
                      <a16:creationId xmlns:a16="http://schemas.microsoft.com/office/drawing/2014/main" id="{28B1B241-AE1C-0687-DC4A-EB43C4BF8B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38" name="Text Box 45">
                  <a:extLst>
                    <a:ext uri="{FF2B5EF4-FFF2-40B4-BE49-F238E27FC236}">
                      <a16:creationId xmlns:a16="http://schemas.microsoft.com/office/drawing/2014/main" id="{20C2C8CE-0280-08CF-703B-B6D947937F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50"/>
                  <a:ext cx="451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rs2</a:t>
                  </a:r>
                </a:p>
              </p:txBody>
            </p:sp>
            <p:sp>
              <p:nvSpPr>
                <p:cNvPr id="41" name="Text Box 46">
                  <a:extLst>
                    <a:ext uri="{FF2B5EF4-FFF2-40B4-BE49-F238E27FC236}">
                      <a16:creationId xmlns:a16="http://schemas.microsoft.com/office/drawing/2014/main" id="{5B302304-2F0E-ACDF-26B1-226B8B00B0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50"/>
                  <a:ext cx="39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rs1</a:t>
                  </a:r>
                </a:p>
              </p:txBody>
            </p:sp>
            <p:sp>
              <p:nvSpPr>
                <p:cNvPr id="42" name="Text Box 47">
                  <a:extLst>
                    <a:ext uri="{FF2B5EF4-FFF2-40B4-BE49-F238E27FC236}">
                      <a16:creationId xmlns:a16="http://schemas.microsoft.com/office/drawing/2014/main" id="{3403908F-BE64-EB78-832F-7B4AD13A5D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50"/>
                  <a:ext cx="662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opcode</a:t>
                  </a:r>
                  <a:endPara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9" name="Text Box 48">
                  <a:extLst>
                    <a:ext uri="{FF2B5EF4-FFF2-40B4-BE49-F238E27FC236}">
                      <a16:creationId xmlns:a16="http://schemas.microsoft.com/office/drawing/2014/main" id="{8836F47E-1665-6F95-3908-989A60C3E1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</a:t>
                  </a:r>
                </a:p>
              </p:txBody>
            </p:sp>
            <p:sp>
              <p:nvSpPr>
                <p:cNvPr id="50" name="Text Box 49">
                  <a:extLst>
                    <a:ext uri="{FF2B5EF4-FFF2-40B4-BE49-F238E27FC236}">
                      <a16:creationId xmlns:a16="http://schemas.microsoft.com/office/drawing/2014/main" id="{2E51B0B9-E822-4D41-FBA4-974F5F02EB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" y="1608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25</a:t>
                  </a:r>
                </a:p>
              </p:txBody>
            </p:sp>
            <p:sp>
              <p:nvSpPr>
                <p:cNvPr id="51" name="Text Box 50">
                  <a:extLst>
                    <a:ext uri="{FF2B5EF4-FFF2-40B4-BE49-F238E27FC236}">
                      <a16:creationId xmlns:a16="http://schemas.microsoft.com/office/drawing/2014/main" id="{71531B0F-407C-9DC7-FEFA-645C537B9D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5" y="1610"/>
                  <a:ext cx="202" cy="16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20</a:t>
                  </a:r>
                </a:p>
              </p:txBody>
            </p:sp>
            <p:sp>
              <p:nvSpPr>
                <p:cNvPr id="52" name="Text Box 51">
                  <a:extLst>
                    <a:ext uri="{FF2B5EF4-FFF2-40B4-BE49-F238E27FC236}">
                      <a16:creationId xmlns:a16="http://schemas.microsoft.com/office/drawing/2014/main" id="{A77CFA13-F224-07EC-BDCB-76383FCDB5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2" y="1610"/>
                  <a:ext cx="202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15</a:t>
                  </a:r>
                </a:p>
              </p:txBody>
            </p:sp>
            <p:sp>
              <p:nvSpPr>
                <p:cNvPr id="53" name="Text Box 52">
                  <a:extLst>
                    <a:ext uri="{FF2B5EF4-FFF2-40B4-BE49-F238E27FC236}">
                      <a16:creationId xmlns:a16="http://schemas.microsoft.com/office/drawing/2014/main" id="{971FBC22-056F-A005-D13C-75054ACF39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2" y="1607"/>
                  <a:ext cx="250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  </a:t>
                  </a:r>
                </a:p>
              </p:txBody>
            </p:sp>
            <p:sp>
              <p:nvSpPr>
                <p:cNvPr id="54" name="Text Box 53">
                  <a:extLst>
                    <a:ext uri="{FF2B5EF4-FFF2-40B4-BE49-F238E27FC236}">
                      <a16:creationId xmlns:a16="http://schemas.microsoft.com/office/drawing/2014/main" id="{880B6D76-638F-7A5E-5755-FDB828A18A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04" y="1612"/>
                  <a:ext cx="15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0</a:t>
                  </a:r>
                </a:p>
              </p:txBody>
            </p:sp>
            <p:sp>
              <p:nvSpPr>
                <p:cNvPr id="57" name="Line 153">
                  <a:extLst>
                    <a:ext uri="{FF2B5EF4-FFF2-40B4-BE49-F238E27FC236}">
                      <a16:creationId xmlns:a16="http://schemas.microsoft.com/office/drawing/2014/main" id="{41775B4A-04D7-12EB-A9F7-42530F9AD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58" name="Text Box 154">
                  <a:extLst>
                    <a:ext uri="{FF2B5EF4-FFF2-40B4-BE49-F238E27FC236}">
                      <a16:creationId xmlns:a16="http://schemas.microsoft.com/office/drawing/2014/main" id="{7B834D52-1123-F79A-FC8D-62365BCB83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1609"/>
                  <a:ext cx="403" cy="16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100" b="1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12</a:t>
                  </a:r>
                </a:p>
              </p:txBody>
            </p:sp>
          </p:grpSp>
        </p:grpSp>
        <p:sp>
          <p:nvSpPr>
            <p:cNvPr id="5" name="Text Box 41">
              <a:extLst>
                <a:ext uri="{FF2B5EF4-FFF2-40B4-BE49-F238E27FC236}">
                  <a16:creationId xmlns:a16="http://schemas.microsoft.com/office/drawing/2014/main" id="{BFFFF023-A048-B499-A1DC-74EE24778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46363"/>
              <a:ext cx="383616" cy="167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_tradnl" sz="1100" noProof="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endParaRPr lang="es-ES_tradnl" sz="11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Line 11">
              <a:extLst>
                <a:ext uri="{FF2B5EF4-FFF2-40B4-BE49-F238E27FC236}">
                  <a16:creationId xmlns:a16="http://schemas.microsoft.com/office/drawing/2014/main" id="{83CFB2CC-29EF-4825-E31D-A3583DD51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s-ES_tradnl" sz="1100" noProof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941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04" grpId="0" animBg="1"/>
      <p:bldP spid="106" grpId="0" animBg="1"/>
      <p:bldP spid="113" grpId="0" animBg="1"/>
      <p:bldP spid="1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Lectura de operandos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Las instrucciones utilizan el BANCO DE REGISTROS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Disponemos de 32 registros de 32 bits (</a:t>
            </a:r>
            <a:r>
              <a:rPr lang="es-ES_trad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x0-x31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Necesitamos dos puertos de lectura y un puerto de escritura</a:t>
            </a: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Los puertos de lectura son activados simultáneamente por la misma señal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Lreg</a:t>
            </a: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El puerto de escritura se activa con la señal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EReg</a:t>
            </a: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0" smtClean="0"/>
              <a:pPr/>
              <a:t>52</a:t>
            </a:fld>
            <a:endParaRPr lang="es-ES_tradnl" noProof="0" dirty="0"/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7DB70911-DBB0-FADA-6303-6D95330D0A8B}"/>
              </a:ext>
            </a:extLst>
          </p:cNvPr>
          <p:cNvGrpSpPr/>
          <p:nvPr/>
        </p:nvGrpSpPr>
        <p:grpSpPr>
          <a:xfrm>
            <a:off x="1927344" y="3789040"/>
            <a:ext cx="3663056" cy="2088232"/>
            <a:chOff x="1927344" y="3789040"/>
            <a:chExt cx="3663056" cy="2088232"/>
          </a:xfrm>
        </p:grpSpPr>
        <p:sp>
          <p:nvSpPr>
            <p:cNvPr id="43" name="Text Box 21"/>
            <p:cNvSpPr txBox="1">
              <a:spLocks noChangeArrowheads="1"/>
            </p:cNvSpPr>
            <p:nvPr/>
          </p:nvSpPr>
          <p:spPr bwMode="blackWhite">
            <a:xfrm>
              <a:off x="2151793" y="4475280"/>
              <a:ext cx="765138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0" dirty="0">
                  <a:solidFill>
                    <a:schemeClr val="tx2"/>
                  </a:solidFill>
                  <a:latin typeface="Calibri" pitchFamily="-103" charset="0"/>
                </a:rPr>
                <a:t>lectura</a:t>
              </a:r>
            </a:p>
          </p:txBody>
        </p:sp>
        <p:sp>
          <p:nvSpPr>
            <p:cNvPr id="44" name="Line 22"/>
            <p:cNvSpPr>
              <a:spLocks noChangeShapeType="1"/>
            </p:cNvSpPr>
            <p:nvPr/>
          </p:nvSpPr>
          <p:spPr bwMode="blackWhite">
            <a:xfrm flipH="1">
              <a:off x="3289530" y="4395980"/>
              <a:ext cx="202350" cy="1691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45" name="Line 23"/>
            <p:cNvSpPr>
              <a:spLocks noChangeShapeType="1"/>
            </p:cNvSpPr>
            <p:nvPr/>
          </p:nvSpPr>
          <p:spPr bwMode="blackWhite">
            <a:xfrm flipH="1">
              <a:off x="3289530" y="4772010"/>
              <a:ext cx="202350" cy="1691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46" name="Text Box 24"/>
            <p:cNvSpPr txBox="1">
              <a:spLocks noChangeArrowheads="1"/>
            </p:cNvSpPr>
            <p:nvPr/>
          </p:nvSpPr>
          <p:spPr bwMode="blackWhite">
            <a:xfrm>
              <a:off x="3283207" y="4165754"/>
              <a:ext cx="137007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0" dirty="0">
                  <a:solidFill>
                    <a:schemeClr val="tx2"/>
                  </a:solidFill>
                  <a:latin typeface="Calibri" pitchFamily="-103" charset="0"/>
                </a:rPr>
                <a:t>5</a:t>
              </a:r>
            </a:p>
          </p:txBody>
        </p:sp>
        <p:sp>
          <p:nvSpPr>
            <p:cNvPr id="47" name="Text Box 25"/>
            <p:cNvSpPr txBox="1">
              <a:spLocks noChangeArrowheads="1"/>
            </p:cNvSpPr>
            <p:nvPr/>
          </p:nvSpPr>
          <p:spPr bwMode="blackWhite">
            <a:xfrm>
              <a:off x="3283207" y="4581128"/>
              <a:ext cx="137007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0" dirty="0">
                  <a:solidFill>
                    <a:schemeClr val="tx2"/>
                  </a:solidFill>
                  <a:latin typeface="Calibri" pitchFamily="-103" charset="0"/>
                </a:rPr>
                <a:t>5</a:t>
              </a:r>
            </a:p>
          </p:txBody>
        </p:sp>
        <p:sp>
          <p:nvSpPr>
            <p:cNvPr id="48" name="Text Box 26"/>
            <p:cNvSpPr txBox="1">
              <a:spLocks noChangeArrowheads="1"/>
            </p:cNvSpPr>
            <p:nvPr/>
          </p:nvSpPr>
          <p:spPr bwMode="blackWhite">
            <a:xfrm>
              <a:off x="3283207" y="4941168"/>
              <a:ext cx="137007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0" dirty="0">
                  <a:solidFill>
                    <a:schemeClr val="tx2"/>
                  </a:solidFill>
                  <a:latin typeface="Calibri" pitchFamily="-103" charset="0"/>
                </a:rPr>
                <a:t>5</a:t>
              </a:r>
            </a:p>
          </p:txBody>
        </p:sp>
        <p:sp>
          <p:nvSpPr>
            <p:cNvPr id="49" name="Line 27"/>
            <p:cNvSpPr>
              <a:spLocks noChangeShapeType="1"/>
            </p:cNvSpPr>
            <p:nvPr/>
          </p:nvSpPr>
          <p:spPr bwMode="blackWhite">
            <a:xfrm flipH="1">
              <a:off x="3289530" y="5132050"/>
              <a:ext cx="202350" cy="16915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blackWhite">
            <a:xfrm>
              <a:off x="3213648" y="5605914"/>
              <a:ext cx="274016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0" dirty="0">
                  <a:latin typeface="Calibri" pitchFamily="-103" charset="0"/>
                </a:rPr>
                <a:t>32</a:t>
              </a:r>
            </a:p>
          </p:txBody>
        </p:sp>
        <p:sp>
          <p:nvSpPr>
            <p:cNvPr id="51" name="Line 29"/>
            <p:cNvSpPr>
              <a:spLocks noChangeShapeType="1"/>
            </p:cNvSpPr>
            <p:nvPr/>
          </p:nvSpPr>
          <p:spPr bwMode="blackWhite">
            <a:xfrm flipH="1">
              <a:off x="3289530" y="5445224"/>
              <a:ext cx="202350" cy="169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57" name="Text Box 35"/>
            <p:cNvSpPr txBox="1">
              <a:spLocks noChangeArrowheads="1"/>
            </p:cNvSpPr>
            <p:nvPr/>
          </p:nvSpPr>
          <p:spPr bwMode="blackWhite">
            <a:xfrm>
              <a:off x="1927344" y="5245874"/>
              <a:ext cx="965380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s-ES_tradnl" sz="1600" noProof="0" dirty="0">
                  <a:solidFill>
                    <a:schemeClr val="tx2"/>
                  </a:solidFill>
                  <a:latin typeface="Calibri" pitchFamily="-103" charset="0"/>
                </a:rPr>
                <a:t>escritura</a:t>
              </a:r>
            </a:p>
          </p:txBody>
        </p:sp>
        <p:sp>
          <p:nvSpPr>
            <p:cNvPr id="59" name="AutoShape 34"/>
            <p:cNvSpPr>
              <a:spLocks/>
            </p:cNvSpPr>
            <p:nvPr/>
          </p:nvSpPr>
          <p:spPr bwMode="blackWhite">
            <a:xfrm>
              <a:off x="2940117" y="4361930"/>
              <a:ext cx="202350" cy="592054"/>
            </a:xfrm>
            <a:prstGeom prst="leftBrace">
              <a:avLst>
                <a:gd name="adj1" fmla="val 28316"/>
                <a:gd name="adj2" fmla="val 50000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endParaRPr lang="es-ES_tradnl" sz="2000" b="1" noProof="0" dirty="0">
                <a:solidFill>
                  <a:schemeClr val="tx2"/>
                </a:solidFill>
              </a:endParaRP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F256F423-6B1C-743F-8E6F-697CFEB7913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06729" y="5212360"/>
              <a:ext cx="627629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AB8D28F8-13F9-1D9B-3735-7283BE4CA369}"/>
                </a:ext>
              </a:extLst>
            </p:cNvPr>
            <p:cNvSpPr/>
            <p:nvPr/>
          </p:nvSpPr>
          <p:spPr bwMode="auto">
            <a:xfrm>
              <a:off x="3840129" y="4284884"/>
              <a:ext cx="989791" cy="1367324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B693F64-AA90-70EB-6FE4-754817452EE3}"/>
                </a:ext>
              </a:extLst>
            </p:cNvPr>
            <p:cNvCxnSpPr/>
            <p:nvPr/>
          </p:nvCxnSpPr>
          <p:spPr bwMode="auto">
            <a:xfrm>
              <a:off x="3213359" y="446064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4565753-F23F-9656-A22A-480FAFBEFDA7}"/>
                </a:ext>
              </a:extLst>
            </p:cNvPr>
            <p:cNvCxnSpPr/>
            <p:nvPr/>
          </p:nvCxnSpPr>
          <p:spPr bwMode="auto">
            <a:xfrm rot="16200000" flipH="1">
              <a:off x="3974998" y="41602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77F8905-4916-5894-5224-BB8CC465FD6E}"/>
                </a:ext>
              </a:extLst>
            </p:cNvPr>
            <p:cNvCxnSpPr/>
            <p:nvPr/>
          </p:nvCxnSpPr>
          <p:spPr bwMode="auto">
            <a:xfrm>
              <a:off x="3213359" y="483887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DC05BB7-274D-3894-DCCC-58737BAAD5A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12253" y="4460647"/>
              <a:ext cx="775168" cy="710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511E8638-573A-7A36-B821-7C7087942B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12253" y="4840460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582244F-0D3A-F42B-A896-93A7412715ED}"/>
                </a:ext>
              </a:extLst>
            </p:cNvPr>
            <p:cNvSpPr txBox="1"/>
            <p:nvPr/>
          </p:nvSpPr>
          <p:spPr>
            <a:xfrm>
              <a:off x="3800780" y="3789040"/>
              <a:ext cx="568922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0" name="140 Triángulo isósceles">
              <a:extLst>
                <a:ext uri="{FF2B5EF4-FFF2-40B4-BE49-F238E27FC236}">
                  <a16:creationId xmlns:a16="http://schemas.microsoft.com/office/drawing/2014/main" id="{555AD98F-EA84-F446-B747-FAA613C8CDC9}"/>
                </a:ext>
              </a:extLst>
            </p:cNvPr>
            <p:cNvSpPr/>
            <p:nvPr/>
          </p:nvSpPr>
          <p:spPr bwMode="auto">
            <a:xfrm rot="10800000">
              <a:off x="4450487" y="4288040"/>
              <a:ext cx="117602" cy="117367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DDAA2A16-A1AE-988A-976C-71AF2A7ED127}"/>
                </a:ext>
              </a:extLst>
            </p:cNvPr>
            <p:cNvSpPr txBox="1"/>
            <p:nvPr/>
          </p:nvSpPr>
          <p:spPr>
            <a:xfrm>
              <a:off x="4211960" y="3789040"/>
              <a:ext cx="577556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EReg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3364443-26D0-2C05-F54C-EB1792C89E87}"/>
                </a:ext>
              </a:extLst>
            </p:cNvPr>
            <p:cNvCxnSpPr/>
            <p:nvPr/>
          </p:nvCxnSpPr>
          <p:spPr bwMode="auto">
            <a:xfrm rot="16200000" flipH="1">
              <a:off x="4386046" y="418943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AC7B9149-9E83-D97A-9928-4565CF75495F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047915" y="4957842"/>
              <a:ext cx="274016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0" dirty="0">
                  <a:latin typeface="Calibri" pitchFamily="-103" charset="0"/>
                </a:rPr>
                <a:t>32</a:t>
              </a:r>
            </a:p>
          </p:txBody>
        </p:sp>
        <p:sp>
          <p:nvSpPr>
            <p:cNvPr id="60" name="Line 31">
              <a:extLst>
                <a:ext uri="{FF2B5EF4-FFF2-40B4-BE49-F238E27FC236}">
                  <a16:creationId xmlns:a16="http://schemas.microsoft.com/office/drawing/2014/main" id="{503923B1-CEE3-3757-C9F1-8F8AB2AA303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4997328" y="4788683"/>
              <a:ext cx="160194" cy="169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61" name="Text Box 32">
              <a:extLst>
                <a:ext uri="{FF2B5EF4-FFF2-40B4-BE49-F238E27FC236}">
                  <a16:creationId xmlns:a16="http://schemas.microsoft.com/office/drawing/2014/main" id="{A07162EF-5FEE-E1E7-6A60-C0C40FDE5BA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5090072" y="4077072"/>
              <a:ext cx="274016" cy="27135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b="1" noProof="0" dirty="0">
                  <a:latin typeface="Calibri" pitchFamily="-103" charset="0"/>
                </a:rPr>
                <a:t>32</a:t>
              </a:r>
            </a:p>
          </p:txBody>
        </p:sp>
        <p:sp>
          <p:nvSpPr>
            <p:cNvPr id="62" name="Line 33">
              <a:extLst>
                <a:ext uri="{FF2B5EF4-FFF2-40B4-BE49-F238E27FC236}">
                  <a16:creationId xmlns:a16="http://schemas.microsoft.com/office/drawing/2014/main" id="{4B990142-81A0-6C2F-8D21-2523495544A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4997328" y="4348430"/>
              <a:ext cx="160194" cy="1691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E6837416-C37E-EBDD-C97A-C93BEE60D6E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06729" y="5517232"/>
              <a:ext cx="60985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1" name="AutoShape 34">
              <a:extLst>
                <a:ext uri="{FF2B5EF4-FFF2-40B4-BE49-F238E27FC236}">
                  <a16:creationId xmlns:a16="http://schemas.microsoft.com/office/drawing/2014/main" id="{1ADFC83D-D74F-5F69-32FF-C27080AF7D51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2915816" y="5085184"/>
              <a:ext cx="202350" cy="592054"/>
            </a:xfrm>
            <a:prstGeom prst="leftBrace">
              <a:avLst>
                <a:gd name="adj1" fmla="val 28316"/>
                <a:gd name="adj2" fmla="val 50000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square" lIns="0" tIns="0" rIns="0" bIns="0" anchor="ctr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endParaRPr lang="es-ES_tradnl" sz="2000" b="1" noProof="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Generador de inmediatos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3568" y="1125538"/>
            <a:ext cx="8250237" cy="5256212"/>
          </a:xfrm>
        </p:spPr>
        <p:txBody>
          <a:bodyPr/>
          <a:lstStyle/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Las instrucciones de tipo I, S y B disponen de un operando inmediato de 12 bits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Hay que extender dicho operando a 32 bits para poder trabajar con él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Siempre se extiende el bit de signo, incluso para instrucciones lógicas como </a:t>
            </a:r>
            <a:r>
              <a:rPr lang="es-ES_trad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andi</a:t>
            </a: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_trad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ori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El bit de signo siempre está en la misma posición de la instrucción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El funcionamiento del generador de inmediatos depende solo de </a:t>
            </a:r>
            <a:r>
              <a:rPr lang="es-ES_tradnl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endParaRPr lang="es-ES_tradnl" sz="1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Ejemplo: en las instrucciones load y store</a:t>
            </a:r>
          </a:p>
          <a:p>
            <a:pPr marL="657225" lvl="2" indent="0" algn="just">
              <a:buNone/>
            </a:pP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t1, -2(t0) # -2 está codificado en Ca2 de 12 bits </a:t>
            </a:r>
          </a:p>
          <a:p>
            <a:pPr marL="657225" lvl="2" indent="0" algn="just">
              <a:buNone/>
            </a:pP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    # La suma -2+t0 debe hacerse en Ca2 de 32 bits</a:t>
            </a:r>
          </a:p>
          <a:p>
            <a:pPr lvl="1" algn="just"/>
            <a:endParaRPr lang="es-ES_tradnl" sz="1400" dirty="0">
              <a:solidFill>
                <a:schemeClr val="accent1">
                  <a:lumMod val="75000"/>
                </a:schemeClr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0" smtClean="0"/>
              <a:pPr/>
              <a:t>53</a:t>
            </a:fld>
            <a:endParaRPr lang="es-ES_tradnl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BF46300-962B-448F-8672-D098AA392E86}"/>
              </a:ext>
            </a:extLst>
          </p:cNvPr>
          <p:cNvGrpSpPr/>
          <p:nvPr/>
        </p:nvGrpSpPr>
        <p:grpSpPr>
          <a:xfrm>
            <a:off x="2915817" y="5733264"/>
            <a:ext cx="4320633" cy="936096"/>
            <a:chOff x="2972652" y="4776739"/>
            <a:chExt cx="4320633" cy="936096"/>
          </a:xfrm>
        </p:grpSpPr>
        <p:grpSp>
          <p:nvGrpSpPr>
            <p:cNvPr id="71" name="Group 143"/>
            <p:cNvGrpSpPr>
              <a:grpSpLocks/>
            </p:cNvGrpSpPr>
            <p:nvPr/>
          </p:nvGrpSpPr>
          <p:grpSpPr bwMode="auto">
            <a:xfrm>
              <a:off x="2972652" y="4776739"/>
              <a:ext cx="2533593" cy="431961"/>
              <a:chOff x="375" y="2976"/>
              <a:chExt cx="1320" cy="212"/>
            </a:xfrm>
          </p:grpSpPr>
          <p:sp>
            <p:nvSpPr>
              <p:cNvPr id="75" name="Line 63"/>
              <p:cNvSpPr>
                <a:spLocks noChangeShapeType="1"/>
              </p:cNvSpPr>
              <p:nvPr/>
            </p:nvSpPr>
            <p:spPr bwMode="blackWhite">
              <a:xfrm flipH="1">
                <a:off x="397" y="3092"/>
                <a:ext cx="48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76" name="Line 64"/>
              <p:cNvSpPr>
                <a:spLocks noChangeShapeType="1"/>
              </p:cNvSpPr>
              <p:nvPr/>
            </p:nvSpPr>
            <p:spPr bwMode="blackWhite">
              <a:xfrm flipH="1">
                <a:off x="1579" y="3092"/>
                <a:ext cx="48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 anchor="ctr">
                <a:prstTxWarp prst="textNoShape">
                  <a:avLst/>
                </a:prstTxWarp>
                <a:spAutoFit/>
              </a:bodyPr>
              <a:lstStyle/>
              <a:p>
                <a:endParaRPr lang="es-ES_tradnl" noProof="0" dirty="0"/>
              </a:p>
            </p:txBody>
          </p:sp>
          <p:sp>
            <p:nvSpPr>
              <p:cNvPr id="77" name="Text Box 65"/>
              <p:cNvSpPr txBox="1">
                <a:spLocks noChangeArrowheads="1"/>
              </p:cNvSpPr>
              <p:nvPr/>
            </p:nvSpPr>
            <p:spPr bwMode="blackWhite">
              <a:xfrm>
                <a:off x="375" y="2980"/>
                <a:ext cx="109" cy="12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s-ES_tradnl" sz="1600" dirty="0">
                    <a:solidFill>
                      <a:schemeClr val="tx2"/>
                    </a:solidFill>
                    <a:latin typeface="Calibri" pitchFamily="-103" charset="0"/>
                  </a:rPr>
                  <a:t>3</a:t>
                </a:r>
                <a:r>
                  <a:rPr lang="es-ES_tradnl" sz="1600" noProof="0" dirty="0">
                    <a:solidFill>
                      <a:schemeClr val="tx2"/>
                    </a:solidFill>
                    <a:latin typeface="Calibri" pitchFamily="-103" charset="0"/>
                  </a:rPr>
                  <a:t>2</a:t>
                </a:r>
              </a:p>
            </p:txBody>
          </p:sp>
          <p:sp>
            <p:nvSpPr>
              <p:cNvPr id="78" name="Text Box 66"/>
              <p:cNvSpPr txBox="1">
                <a:spLocks noChangeArrowheads="1"/>
              </p:cNvSpPr>
              <p:nvPr/>
            </p:nvSpPr>
            <p:spPr bwMode="blackWhite">
              <a:xfrm>
                <a:off x="1565" y="2976"/>
                <a:ext cx="130" cy="154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s-ES_tradnl" sz="1600" noProof="0" dirty="0">
                    <a:solidFill>
                      <a:schemeClr val="tx2"/>
                    </a:solidFill>
                    <a:latin typeface="Calibri" pitchFamily="-103" charset="0"/>
                  </a:rPr>
                  <a:t>32</a:t>
                </a:r>
              </a:p>
            </p:txBody>
          </p: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3292EB6-C287-460C-9F04-555972FF0207}"/>
                </a:ext>
              </a:extLst>
            </p:cNvPr>
            <p:cNvSpPr txBox="1"/>
            <p:nvPr/>
          </p:nvSpPr>
          <p:spPr>
            <a:xfrm>
              <a:off x="3179016" y="5405058"/>
              <a:ext cx="27735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</a:t>
              </a:r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nm</a:t>
              </a:r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 en RI = -2 = 0xFFE (12 bits)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253597C3-7B25-4141-AAA3-37B6ED061AD8}"/>
                </a:ext>
              </a:extLst>
            </p:cNvPr>
            <p:cNvSpPr txBox="1"/>
            <p:nvPr/>
          </p:nvSpPr>
          <p:spPr>
            <a:xfrm>
              <a:off x="5673931" y="5014053"/>
              <a:ext cx="16193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-2 = 0xFFFFFFFE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6DB86DC-0709-1331-88A3-70D2B24FA8C6}"/>
              </a:ext>
            </a:extLst>
          </p:cNvPr>
          <p:cNvGrpSpPr/>
          <p:nvPr/>
        </p:nvGrpSpPr>
        <p:grpSpPr>
          <a:xfrm>
            <a:off x="2284264" y="5853545"/>
            <a:ext cx="3295848" cy="455775"/>
            <a:chOff x="2284264" y="5277481"/>
            <a:chExt cx="3295848" cy="455775"/>
          </a:xfrm>
        </p:grpSpPr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B1183465-8A96-C957-A84D-DE4F9E23C4FF}"/>
                </a:ext>
              </a:extLst>
            </p:cNvPr>
            <p:cNvCxnSpPr>
              <a:cxnSpLocks/>
              <a:stCxn id="7" idx="2"/>
            </p:cNvCxnSpPr>
            <p:nvPr/>
          </p:nvCxnSpPr>
          <p:spPr bwMode="auto">
            <a:xfrm>
              <a:off x="2284264" y="5517231"/>
              <a:ext cx="1660448" cy="1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CFD94FCF-C9A2-8EDE-DF17-D039D543AAE2}"/>
                </a:ext>
              </a:extLst>
            </p:cNvPr>
            <p:cNvSpPr/>
            <p:nvPr/>
          </p:nvSpPr>
          <p:spPr bwMode="auto">
            <a:xfrm>
              <a:off x="3949979" y="5277481"/>
              <a:ext cx="1084964" cy="455775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28D460C-0E80-CF25-A2EF-94008328AB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53065" y="5517232"/>
              <a:ext cx="5270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B547A7E6-6041-C7BD-1E79-1C0BD897E667}"/>
              </a:ext>
            </a:extLst>
          </p:cNvPr>
          <p:cNvSpPr/>
          <p:nvPr/>
        </p:nvSpPr>
        <p:spPr bwMode="auto">
          <a:xfrm rot="16200000">
            <a:off x="1714195" y="5941020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</p:spTree>
    <p:extLst>
      <p:ext uri="{BB962C8B-B14F-4D97-AF65-F5344CB8AC3E}">
        <p14:creationId xmlns:p14="http://schemas.microsoft.com/office/powerpoint/2010/main" val="1026079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19EA938-11F0-E69A-77B1-E584D0A3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Lectura de operandos y generación de inmediato</a:t>
            </a:r>
            <a:endParaRPr lang="es-ES_tradnl" noProof="0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2236CE08-9A62-5A7D-39C3-C194EED96BCF}"/>
              </a:ext>
            </a:extLst>
          </p:cNvPr>
          <p:cNvGrpSpPr/>
          <p:nvPr/>
        </p:nvGrpSpPr>
        <p:grpSpPr>
          <a:xfrm>
            <a:off x="1028192" y="1021617"/>
            <a:ext cx="5829759" cy="5441581"/>
            <a:chOff x="1028192" y="1021617"/>
            <a:chExt cx="5829759" cy="5441581"/>
          </a:xfrm>
        </p:grpSpPr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1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2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7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/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b="1" noProof="0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528377"/>
              <a:ext cx="775168" cy="710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908190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5123589"/>
              <a:ext cx="283363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7"/>
              <a:ext cx="0" cy="871352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6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5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Instrucciones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E54EF5E1-40DF-7FEE-CE79-4E0FB2BD6BF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5"/>
              <a:ext cx="0" cy="891593"/>
            </a:xfrm>
            <a:prstGeom prst="straightConnector1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Llamada rectangular redondeada 1">
            <a:extLst>
              <a:ext uri="{FF2B5EF4-FFF2-40B4-BE49-F238E27FC236}">
                <a16:creationId xmlns:a16="http://schemas.microsoft.com/office/drawing/2014/main" id="{DB487532-BE9F-F550-1AF2-D6A2DAE8D333}"/>
              </a:ext>
            </a:extLst>
          </p:cNvPr>
          <p:cNvSpPr/>
          <p:nvPr/>
        </p:nvSpPr>
        <p:spPr bwMode="auto">
          <a:xfrm>
            <a:off x="3707157" y="6120298"/>
            <a:ext cx="3958010" cy="685800"/>
          </a:xfrm>
          <a:prstGeom prst="wedgeRoundRectCallout">
            <a:avLst>
              <a:gd name="adj1" fmla="val -57518"/>
              <a:gd name="adj2" fmla="val -194208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Por simplicidad indicamos que se pasa la instrucción completa al generador, que se encargará de generar el operando inmediato de 32 bits a partir del valor de </a:t>
            </a:r>
            <a:r>
              <a:rPr lang="es-ES_tradnl" sz="1100" dirty="0" err="1">
                <a:solidFill>
                  <a:schemeClr val="tx1"/>
                </a:solidFill>
                <a:latin typeface="Courier New"/>
                <a:cs typeface="Courier New"/>
              </a:rPr>
              <a:t>opcode</a:t>
            </a:r>
            <a:r>
              <a:rPr lang="es-ES_tradnl" sz="1200" noProof="0" dirty="0">
                <a:solidFill>
                  <a:schemeClr val="tx1"/>
                </a:solidFill>
              </a:rPr>
              <a:t> y el inmediato de 12 bits en la instrucción</a:t>
            </a:r>
          </a:p>
        </p:txBody>
      </p:sp>
    </p:spTree>
    <p:extLst>
      <p:ext uri="{BB962C8B-B14F-4D97-AF65-F5344CB8AC3E}">
        <p14:creationId xmlns:p14="http://schemas.microsoft.com/office/powerpoint/2010/main" val="41707644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13D3-3A6B-457B-C27E-16DBF2B2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3EF93-9110-F3BB-6955-292F5DB7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</a:t>
            </a:r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La Unidad Aritmético Lógica</a:t>
            </a:r>
            <a:endParaRPr lang="es-ES_tradnl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E97EF0-58A0-C49F-FB6F-9B1E92A0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0" smtClean="0"/>
              <a:pPr/>
              <a:t>55</a:t>
            </a:fld>
            <a:endParaRPr lang="es-ES_tradn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A6A88B-2FF7-36B2-E3C1-3EBEBAD7C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66" y="924671"/>
            <a:ext cx="8204090" cy="37251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Prácticamente todas las instrucciones utilizan un operador aritmético-lógico (ALU)</a:t>
            </a:r>
          </a:p>
          <a:p>
            <a:pPr lvl="1">
              <a:lnSpc>
                <a:spcPct val="100000"/>
              </a:lnSpc>
            </a:pPr>
            <a:r>
              <a:rPr lang="es-ES_tradnl" sz="16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Utilizamos una ALU para soportar las operaciones requeridas por el juego de instrucciones (formatos R, I, S y B)</a:t>
            </a:r>
          </a:p>
          <a:p>
            <a:pPr lvl="2">
              <a:lnSpc>
                <a:spcPct val="100000"/>
              </a:lnSpc>
            </a:pP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Dispone de dos entradas y una salida, todas de 32 bits.</a:t>
            </a:r>
          </a:p>
          <a:p>
            <a:pPr lvl="2">
              <a:lnSpc>
                <a:spcPct val="100000"/>
              </a:lnSpc>
            </a:pP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entrada superior debe llegar el contenido del registro </a:t>
            </a:r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</a:t>
            </a:r>
          </a:p>
          <a:p>
            <a:pPr lvl="2">
              <a:lnSpc>
                <a:spcPct val="100000"/>
              </a:lnSpc>
            </a:pP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entrada inferior pueden llegar: el contenido del registro </a:t>
            </a:r>
            <a:r>
              <a:rPr lang="es-ES_tradnl" sz="1400" noProof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rs2</a:t>
            </a: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un operando inmediato. Por eso se necesita un multiplexor (</a:t>
            </a:r>
            <a:r>
              <a:rPr lang="es-ES_tradnl" sz="1400" noProof="0" dirty="0" err="1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MxB</a:t>
            </a: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>
              <a:lnSpc>
                <a:spcPct val="100000"/>
              </a:lnSpc>
            </a:pP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ampliemos la ruta de datos para incluir instrucciones de salto, veremos que también hay que escoger entre dos opciones para la entrada superior de la ALU (</a:t>
            </a:r>
            <a:r>
              <a:rPr lang="es-ES_tradnl" sz="1400" noProof="0" dirty="0" err="1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MxA</a:t>
            </a:r>
            <a:r>
              <a:rPr lang="es-ES_tradnl" sz="14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4" name="7 Grupo">
            <a:extLst>
              <a:ext uri="{FF2B5EF4-FFF2-40B4-BE49-F238E27FC236}">
                <a16:creationId xmlns:a16="http://schemas.microsoft.com/office/drawing/2014/main" id="{0BA1AD4F-7397-1FD2-D2B2-B34FD7D53C53}"/>
              </a:ext>
            </a:extLst>
          </p:cNvPr>
          <p:cNvGrpSpPr/>
          <p:nvPr/>
        </p:nvGrpSpPr>
        <p:grpSpPr>
          <a:xfrm>
            <a:off x="5868144" y="4077072"/>
            <a:ext cx="2590800" cy="1673027"/>
            <a:chOff x="6159398" y="4303500"/>
            <a:chExt cx="2590800" cy="1673027"/>
          </a:xfrm>
        </p:grpSpPr>
        <p:sp>
          <p:nvSpPr>
            <p:cNvPr id="6" name="Rectangle 168">
              <a:extLst>
                <a:ext uri="{FF2B5EF4-FFF2-40B4-BE49-F238E27FC236}">
                  <a16:creationId xmlns:a16="http://schemas.microsoft.com/office/drawing/2014/main" id="{ECBC66C2-6590-1EE0-56C4-2ABD12E55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9398" y="4591532"/>
              <a:ext cx="2590800" cy="138499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s-ES_tradnl" sz="1200" b="1" noProof="0" dirty="0" err="1">
                  <a:solidFill>
                    <a:srgbClr val="FF6600"/>
                  </a:solidFill>
                  <a:latin typeface="Calibri" pitchFamily="-103" charset="0"/>
                </a:rPr>
                <a:t>OpALU</a:t>
              </a:r>
              <a:r>
                <a:rPr lang="es-ES_tradnl" sz="1200" noProof="0" dirty="0">
                  <a:solidFill>
                    <a:schemeClr val="tx2"/>
                  </a:solidFill>
                  <a:latin typeface="Calibri" pitchFamily="-103" charset="0"/>
                </a:rPr>
                <a:t>	</a:t>
              </a:r>
              <a:r>
                <a:rPr lang="es-ES_tradnl" sz="1200" b="1" noProof="0" dirty="0">
                  <a:solidFill>
                    <a:schemeClr val="tx2"/>
                  </a:solidFill>
                  <a:latin typeface="Calibri" pitchFamily="-103" charset="0"/>
                </a:rPr>
                <a:t>Operación</a:t>
              </a:r>
            </a:p>
            <a:p>
              <a:pPr algn="l"/>
              <a:r>
                <a:rPr lang="es-ES_tradnl" sz="1200" noProof="0" dirty="0">
                  <a:latin typeface="Calibri" pitchFamily="-103" charset="0"/>
                </a:rPr>
                <a:t>000	a </a:t>
              </a:r>
              <a:r>
                <a:rPr lang="es-ES_tradnl" sz="1200" b="1" noProof="0" dirty="0">
                  <a:latin typeface="Calibri" pitchFamily="-103" charset="0"/>
                  <a:sym typeface="Symbol" pitchFamily="-103" charset="2"/>
                </a:rPr>
                <a:t> </a:t>
              </a:r>
              <a:r>
                <a:rPr lang="es-ES_tradnl" sz="1200" noProof="0" dirty="0">
                  <a:latin typeface="Calibri" pitchFamily="-103" charset="0"/>
                  <a:sym typeface="Symbol" pitchFamily="-103" charset="2"/>
                </a:rPr>
                <a:t>b</a:t>
              </a:r>
              <a:r>
                <a:rPr lang="es-ES_tradnl" sz="1200" b="1" noProof="0" dirty="0">
                  <a:latin typeface="Calibri" pitchFamily="-103" charset="0"/>
                  <a:sym typeface="Symbol" pitchFamily="-103" charset="2"/>
                </a:rPr>
                <a:t> </a:t>
              </a:r>
              <a:r>
                <a:rPr lang="es-ES_tradnl" sz="1200" noProof="0" dirty="0">
                  <a:latin typeface="Calibri" pitchFamily="-103" charset="0"/>
                  <a:sym typeface="Symbol" pitchFamily="-103" charset="2"/>
                </a:rPr>
                <a:t>(and)</a:t>
              </a:r>
              <a:endParaRPr lang="es-ES_tradnl" sz="1200" noProof="0" dirty="0">
                <a:latin typeface="Calibri" pitchFamily="-103" charset="0"/>
              </a:endParaRPr>
            </a:p>
            <a:p>
              <a:pPr algn="l"/>
              <a:r>
                <a:rPr lang="es-ES_tradnl" sz="1200" noProof="0" dirty="0">
                  <a:latin typeface="Calibri" pitchFamily="-103" charset="0"/>
                </a:rPr>
                <a:t>001	a </a:t>
              </a:r>
              <a:r>
                <a:rPr lang="es-ES_tradnl" sz="1200" b="1" noProof="0" dirty="0">
                  <a:latin typeface="Calibri" pitchFamily="-103" charset="0"/>
                  <a:sym typeface="Symbol" pitchFamily="-103" charset="2"/>
                </a:rPr>
                <a:t></a:t>
              </a:r>
              <a:r>
                <a:rPr lang="es-ES_tradnl" sz="1200" noProof="0" dirty="0">
                  <a:latin typeface="Calibri" pitchFamily="-103" charset="0"/>
                </a:rPr>
                <a:t> b (</a:t>
              </a:r>
              <a:r>
                <a:rPr lang="es-ES_tradnl" sz="1200" noProof="0" dirty="0" err="1">
                  <a:latin typeface="Calibri" pitchFamily="-103" charset="0"/>
                </a:rPr>
                <a:t>or</a:t>
              </a:r>
              <a:r>
                <a:rPr lang="es-ES_tradnl" sz="1200" noProof="0" dirty="0">
                  <a:latin typeface="Calibri" pitchFamily="-103" charset="0"/>
                </a:rPr>
                <a:t>)</a:t>
              </a:r>
            </a:p>
            <a:p>
              <a:pPr algn="l"/>
              <a:r>
                <a:rPr lang="es-ES_tradnl" sz="1200" noProof="0" dirty="0">
                  <a:latin typeface="Calibri" pitchFamily="-103" charset="0"/>
                </a:rPr>
                <a:t>010	a + b (suma aritmética)</a:t>
              </a:r>
            </a:p>
            <a:p>
              <a:pPr algn="l"/>
              <a:r>
                <a:rPr lang="es-ES_tradnl" sz="1200" noProof="0" dirty="0">
                  <a:latin typeface="Calibri" pitchFamily="-103" charset="0"/>
                </a:rPr>
                <a:t>110	a </a:t>
              </a:r>
              <a:r>
                <a:rPr lang="es-ES_tradnl" sz="1200" noProof="0" dirty="0">
                  <a:latin typeface="Calibri" pitchFamily="-103" charset="0"/>
                  <a:sym typeface="Symbol" pitchFamily="-103" charset="2"/>
                </a:rPr>
                <a:t>– b (resta)</a:t>
              </a:r>
              <a:endParaRPr lang="es-ES_tradnl" sz="1200" noProof="0" dirty="0">
                <a:latin typeface="Calibri" pitchFamily="-103" charset="0"/>
              </a:endParaRPr>
            </a:p>
            <a:p>
              <a:pPr algn="l"/>
              <a:r>
                <a:rPr lang="es-ES_tradnl" sz="1200" i="1" noProof="0" dirty="0">
                  <a:solidFill>
                    <a:srgbClr val="FF6600"/>
                  </a:solidFill>
                  <a:latin typeface="Calibri" pitchFamily="-103" charset="0"/>
                </a:rPr>
                <a:t>111	a &lt; b (menor que)</a:t>
              </a:r>
            </a:p>
          </p:txBody>
        </p:sp>
        <p:sp>
          <p:nvSpPr>
            <p:cNvPr id="7" name="3 CuadroTexto">
              <a:extLst>
                <a:ext uri="{FF2B5EF4-FFF2-40B4-BE49-F238E27FC236}">
                  <a16:creationId xmlns:a16="http://schemas.microsoft.com/office/drawing/2014/main" id="{159E0613-3D62-A2DA-93DD-3940917D540D}"/>
                </a:ext>
              </a:extLst>
            </p:cNvPr>
            <p:cNvSpPr txBox="1"/>
            <p:nvPr/>
          </p:nvSpPr>
          <p:spPr>
            <a:xfrm>
              <a:off x="6441668" y="4303500"/>
              <a:ext cx="20262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Operaciones de la ALU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ABEF7421-9096-6C4F-52CC-0B62A6DE1F63}"/>
              </a:ext>
            </a:extLst>
          </p:cNvPr>
          <p:cNvGrpSpPr/>
          <p:nvPr/>
        </p:nvGrpSpPr>
        <p:grpSpPr>
          <a:xfrm>
            <a:off x="1926012" y="4184253"/>
            <a:ext cx="3222052" cy="1733571"/>
            <a:chOff x="1926012" y="4184253"/>
            <a:chExt cx="3222052" cy="1733571"/>
          </a:xfrm>
        </p:grpSpPr>
        <p:sp>
          <p:nvSpPr>
            <p:cNvPr id="9" name="Text Box 15">
              <a:extLst>
                <a:ext uri="{FF2B5EF4-FFF2-40B4-BE49-F238E27FC236}">
                  <a16:creationId xmlns:a16="http://schemas.microsoft.com/office/drawing/2014/main" id="{A651DFE3-2F74-F055-0CA9-350147105075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653657" y="4561544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0" dirty="0">
                  <a:latin typeface="Calibri" pitchFamily="-103" charset="0"/>
                </a:rPr>
                <a:t>32</a:t>
              </a:r>
            </a:p>
          </p:txBody>
        </p:sp>
        <p:sp>
          <p:nvSpPr>
            <p:cNvPr id="10" name="Line 16">
              <a:extLst>
                <a:ext uri="{FF2B5EF4-FFF2-40B4-BE49-F238E27FC236}">
                  <a16:creationId xmlns:a16="http://schemas.microsoft.com/office/drawing/2014/main" id="{9D310352-FEA7-E7EB-557F-D153CBE04C3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4617711" y="4788768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6A644A00-B1AF-83E2-07E8-304DFAB2E16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2771800" y="4184253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0" dirty="0">
                  <a:latin typeface="Calibri" pitchFamily="-103" charset="0"/>
                </a:rPr>
                <a:t>32</a:t>
              </a:r>
            </a:p>
          </p:txBody>
        </p:sp>
        <p:sp>
          <p:nvSpPr>
            <p:cNvPr id="12" name="Line 18">
              <a:extLst>
                <a:ext uri="{FF2B5EF4-FFF2-40B4-BE49-F238E27FC236}">
                  <a16:creationId xmlns:a16="http://schemas.microsoft.com/office/drawing/2014/main" id="{6C90A2A6-2FE3-690B-D3ED-618A73D24254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2782912" y="4428728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13" name="Text Box 19">
              <a:extLst>
                <a:ext uri="{FF2B5EF4-FFF2-40B4-BE49-F238E27FC236}">
                  <a16:creationId xmlns:a16="http://schemas.microsoft.com/office/drawing/2014/main" id="{D0DC280E-BC2E-0120-1469-953619743B7C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3645545" y="4904333"/>
              <a:ext cx="206375" cy="2444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s-ES_tradnl" sz="1600" noProof="0" dirty="0">
                  <a:latin typeface="Calibri" pitchFamily="-103" charset="0"/>
                </a:rPr>
                <a:t>32</a:t>
              </a:r>
            </a:p>
          </p:txBody>
        </p: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E40C8E53-18BD-548A-F9AC-38CA7756E3E5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3656657" y="5148808"/>
              <a:ext cx="1524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  <a:spAutoFit/>
            </a:bodyPr>
            <a:lstStyle/>
            <a:p>
              <a:endParaRPr lang="es-ES_tradnl" noProof="0" dirty="0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7CA2391-A33D-4111-5234-2F71B043F73E}"/>
                </a:ext>
              </a:extLst>
            </p:cNvPr>
            <p:cNvSpPr txBox="1"/>
            <p:nvPr/>
          </p:nvSpPr>
          <p:spPr>
            <a:xfrm>
              <a:off x="1926012" y="4837531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rs2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029444D6-EB6C-9CA0-14C3-77F64A1218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57503" y="5002002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E9B82B2-807B-E291-C23B-C71CAC211AD3}"/>
                </a:ext>
              </a:extLst>
            </p:cNvPr>
            <p:cNvSpPr/>
            <p:nvPr/>
          </p:nvSpPr>
          <p:spPr bwMode="auto">
            <a:xfrm rot="16200000">
              <a:off x="3130341" y="5099065"/>
              <a:ext cx="641459" cy="228413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766B215-DA2C-90E7-E814-B8A6BDFC038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57503" y="5378285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F39E2C9F-1895-642E-9FB8-DFEAFE4E46EE}"/>
                </a:ext>
              </a:extLst>
            </p:cNvPr>
            <p:cNvCxnSpPr>
              <a:cxnSpLocks/>
              <a:stCxn id="17" idx="2"/>
            </p:cNvCxnSpPr>
            <p:nvPr/>
          </p:nvCxnSpPr>
          <p:spPr bwMode="auto">
            <a:xfrm>
              <a:off x="3565277" y="5213271"/>
              <a:ext cx="437123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E11D77DA-8BBB-00F2-98FA-E96E81BA8B7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54607" y="5534002"/>
              <a:ext cx="0" cy="173229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2E3DB8B-5D47-9220-D937-46C28F4F333D}"/>
                </a:ext>
              </a:extLst>
            </p:cNvPr>
            <p:cNvCxnSpPr/>
            <p:nvPr/>
          </p:nvCxnSpPr>
          <p:spPr bwMode="auto">
            <a:xfrm rot="5400000" flipH="1" flipV="1">
              <a:off x="4206623" y="5328433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EDC2293-B88E-C05F-188D-FAAE52448D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01904" y="4851660"/>
              <a:ext cx="646160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D35FFBFE-1C13-1C8C-4733-DED88D8247FD}"/>
                </a:ext>
              </a:extLst>
            </p:cNvPr>
            <p:cNvSpPr txBox="1"/>
            <p:nvPr/>
          </p:nvSpPr>
          <p:spPr>
            <a:xfrm>
              <a:off x="3783836" y="5404397"/>
              <a:ext cx="714051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OpALU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D5AF571-C0D0-AE45-59AF-3B83F5D66234}"/>
                </a:ext>
              </a:extLst>
            </p:cNvPr>
            <p:cNvSpPr txBox="1"/>
            <p:nvPr/>
          </p:nvSpPr>
          <p:spPr>
            <a:xfrm>
              <a:off x="3157623" y="5640825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MxB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5" name="Freeform 42">
              <a:extLst>
                <a:ext uri="{FF2B5EF4-FFF2-40B4-BE49-F238E27FC236}">
                  <a16:creationId xmlns:a16="http://schemas.microsoft.com/office/drawing/2014/main" id="{3B9D8F0D-2D5D-1651-5722-88264CC17DE6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4008880" y="4308843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sz="1400" noProof="0" dirty="0"/>
                <a:t>ALU</a:t>
              </a:r>
              <a:endParaRPr lang="es-ES_tradnl" noProof="0" dirty="0"/>
            </a:p>
          </p:txBody>
        </p: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87CD4192-E16C-8C4A-D014-EF592F97AE6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57503" y="4522811"/>
              <a:ext cx="1457860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1A1D7A45-6F3C-0613-30DF-C38AAC2DE7C5}"/>
                </a:ext>
              </a:extLst>
            </p:cNvPr>
            <p:cNvSpPr txBox="1"/>
            <p:nvPr/>
          </p:nvSpPr>
          <p:spPr>
            <a:xfrm>
              <a:off x="1926012" y="4365104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rs1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AD1E4429-60B2-42A2-E461-C64923EE12CD}"/>
                </a:ext>
              </a:extLst>
            </p:cNvPr>
            <p:cNvSpPr txBox="1"/>
            <p:nvPr/>
          </p:nvSpPr>
          <p:spPr>
            <a:xfrm>
              <a:off x="1926012" y="5229200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 err="1">
                  <a:solidFill>
                    <a:schemeClr val="accent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inm</a:t>
              </a:r>
              <a:endParaRPr lang="es-ES_tradnl" sz="1400" noProof="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55289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7A64-6CA7-6566-5708-B6F30607E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BEE19-085A-E5D6-744A-9AD307DC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</a:t>
            </a:r>
            <a:r>
              <a:rPr lang="es-ES_tradnl" sz="2800" dirty="0">
                <a:latin typeface="Arial" panose="020B0604020202020204" pitchFamily="34" charset="0"/>
                <a:cs typeface="Arial" panose="020B0604020202020204" pitchFamily="34" charset="0"/>
              </a:rPr>
              <a:t>La Unidad Aritmético Lógica</a:t>
            </a:r>
            <a:endParaRPr lang="es-ES_tradnl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0ACE37-1364-5D80-32EC-3A36165A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0" smtClean="0"/>
              <a:pPr/>
              <a:t>56</a:t>
            </a:fld>
            <a:endParaRPr lang="es-ES_tradnl" noProof="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E3B8EFD-355F-919F-318D-5CA05F198F22}"/>
              </a:ext>
            </a:extLst>
          </p:cNvPr>
          <p:cNvGrpSpPr/>
          <p:nvPr/>
        </p:nvGrpSpPr>
        <p:grpSpPr>
          <a:xfrm>
            <a:off x="1028192" y="1021617"/>
            <a:ext cx="7279904" cy="5441581"/>
            <a:chOff x="1028192" y="1021617"/>
            <a:chExt cx="7279904" cy="5441581"/>
          </a:xfrm>
        </p:grpSpPr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A5F08287-8D96-B891-9F4C-4DF78040860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6"/>
              <a:ext cx="0" cy="911549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1583BBE-E942-FB01-09BE-BC894A1191DE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Banco de Registros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6121094-3D83-9C01-DE8B-872203C4B6D5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4DADE0B2-3B8D-F74F-9D27-3ADDC2A8241D}"/>
                </a:ext>
              </a:extLst>
            </p:cNvPr>
            <p:cNvCxnSpPr>
              <a:cxnSpLocks/>
              <a:stCxn id="7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Freeform 42">
              <a:extLst>
                <a:ext uri="{FF2B5EF4-FFF2-40B4-BE49-F238E27FC236}">
                  <a16:creationId xmlns:a16="http://schemas.microsoft.com/office/drawing/2014/main" id="{CD0FAA71-3376-AE7C-740E-52786E4B3E65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10" name="Conector angular 9">
              <a:extLst>
                <a:ext uri="{FF2B5EF4-FFF2-40B4-BE49-F238E27FC236}">
                  <a16:creationId xmlns:a16="http://schemas.microsoft.com/office/drawing/2014/main" id="{11DDEF66-C002-B79F-7822-0BB18E88EC01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Conector angular 10">
              <a:extLst>
                <a:ext uri="{FF2B5EF4-FFF2-40B4-BE49-F238E27FC236}">
                  <a16:creationId xmlns:a16="http://schemas.microsoft.com/office/drawing/2014/main" id="{F8ACE847-FC07-D024-0820-3ADC3AABAEE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3DD54FA2-72DF-F0FC-4DDC-A3C8EF2F9A8A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35D8634-A7D2-1C47-E97A-CD9E1F9336F8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/>
                <a:t>4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1AEC636-4736-9A4E-4B6C-183E947F9CC9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80F77184-F875-2200-BCA3-9040456BEC04}"/>
                </a:ext>
              </a:extLst>
            </p:cNvPr>
            <p:cNvCxnSpPr>
              <a:cxnSpLocks/>
              <a:stCxn id="57" idx="3"/>
              <a:endCxn id="14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42F86D9F-746E-0DC7-28B6-7672DED7EA2B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Descodificador y Unidad de Control</a:t>
              </a:r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9BE9DDF1-6D06-3A6A-1F90-2526A3ED659D}"/>
                </a:ext>
              </a:extLst>
            </p:cNvPr>
            <p:cNvCxnSpPr>
              <a:cxnSpLocks/>
              <a:stCxn id="14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AE28236-C0F7-84B0-63EC-C3D99BBEBA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E5884389-A8C5-17FB-EE5C-DBFB9CC216DF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60D88E7-9B41-F8BF-CA49-510BA7508EE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8D79550-0A6A-195D-7A31-7616C4B967F0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81222F1-B59D-2C0B-1FD5-E9CF2C948A53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C41FCE57-A644-454E-079A-A6C57AA132B3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_tradnl" sz="1400" b="1" noProof="0" dirty="0"/>
                <a:t>…</a:t>
              </a:r>
            </a:p>
          </p:txBody>
        </p:sp>
        <p:sp>
          <p:nvSpPr>
            <p:cNvPr id="24" name="Cerrar llave 205">
              <a:extLst>
                <a:ext uri="{FF2B5EF4-FFF2-40B4-BE49-F238E27FC236}">
                  <a16:creationId xmlns:a16="http://schemas.microsoft.com/office/drawing/2014/main" id="{BD032869-A9D2-EB4C-CB65-68F937F251BD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DD4FBD5-3809-DF19-78A9-78E1EA428693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C6DA06D5-26DF-7F6D-FE14-90F81A42EE63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17F8A1AA-F801-ADD6-DA6B-9C60FB0770CA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99B76D09-8266-CE3F-F0CD-17840141E5B5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DC804C06-947B-D9B3-6C6F-2523DC0E1912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6BF9920C-C17F-DC99-340F-0C3BB9F67D38}"/>
                </a:ext>
              </a:extLst>
            </p:cNvPr>
            <p:cNvSpPr txBox="1"/>
            <p:nvPr/>
          </p:nvSpPr>
          <p:spPr>
            <a:xfrm>
              <a:off x="3306246" y="3183547"/>
              <a:ext cx="80182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/>
                <a:t>19..15(rs1)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FB65F47C-FAEF-57A5-9435-32A3569409E5}"/>
                </a:ext>
              </a:extLst>
            </p:cNvPr>
            <p:cNvSpPr txBox="1"/>
            <p:nvPr/>
          </p:nvSpPr>
          <p:spPr>
            <a:xfrm>
              <a:off x="3306246" y="3620721"/>
              <a:ext cx="80182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/>
                <a:t>24..20(rs2)</a:t>
              </a:r>
            </a:p>
          </p:txBody>
        </p: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A830AA18-D5F2-D97A-80F7-C536A45CFE40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A3EE9216-22D7-1AC0-AEAB-285B454DC497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2AF82565-CCCE-F036-2C3A-482264A2C8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908190"/>
              <a:ext cx="778147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50BFC5C1-EA31-B408-52ED-F163982FCF1D}"/>
                </a:ext>
              </a:extLst>
            </p:cNvPr>
            <p:cNvCxnSpPr>
              <a:cxnSpLocks/>
              <a:stCxn id="38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75755413-1DC4-B398-3EC8-C68CAE20E035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/>
                <a:t>31..0</a:t>
              </a: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5D887AC2-E496-6291-10A2-C72BE10BEE0D}"/>
                </a:ext>
              </a:extLst>
            </p:cNvPr>
            <p:cNvCxnSpPr>
              <a:cxnSpLocks/>
              <a:stCxn id="55" idx="3"/>
            </p:cNvCxnSpPr>
            <p:nvPr/>
          </p:nvCxnSpPr>
          <p:spPr bwMode="auto">
            <a:xfrm>
              <a:off x="5034943" y="5089830"/>
              <a:ext cx="242542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9FA2BE28-1A83-7699-89DC-A5A2B046D13F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7C43F9C9-9AA9-6D2B-84A2-A76FAB640961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FB671154-3A4F-86CC-E7BA-C27B8E139E17}"/>
                </a:ext>
              </a:extLst>
            </p:cNvPr>
            <p:cNvSpPr/>
            <p:nvPr/>
          </p:nvSpPr>
          <p:spPr bwMode="auto">
            <a:xfrm rot="16200000">
              <a:off x="5547791" y="4005253"/>
              <a:ext cx="641459" cy="228413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F645AFE9-8F29-F2BA-4BD3-A12CF707DEA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1768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022CA56-2BFA-B62E-51B6-C856CD61801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EEF6BAC-3089-CAB7-E407-75C1CF154741}"/>
                </a:ext>
              </a:extLst>
            </p:cNvPr>
            <p:cNvCxnSpPr>
              <a:cxnSpLocks/>
              <a:stCxn id="40" idx="2"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D27244D5-662D-5C3E-F0E4-9316640FC5F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23D16A08-9842-9514-65DD-80D6DAE3AC4F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9B0A6364-426D-349C-50F8-A53C108AD1D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9354" y="3757848"/>
              <a:ext cx="13887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7D8881B7-BF6A-6DF7-066A-EE0FED0126FC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OpALU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44CF55CF-CCB3-2DD6-8809-857916CD93A0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MxB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2B88DDD1-0CEC-1951-1FCB-C6C62810FF4B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Conector recto 253">
              <a:extLst>
                <a:ext uri="{FF2B5EF4-FFF2-40B4-BE49-F238E27FC236}">
                  <a16:creationId xmlns:a16="http://schemas.microsoft.com/office/drawing/2014/main" id="{6A325030-2B45-0EFC-DAC0-2CA8C278143C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1" name="142 Triángulo isósceles">
              <a:extLst>
                <a:ext uri="{FF2B5EF4-FFF2-40B4-BE49-F238E27FC236}">
                  <a16:creationId xmlns:a16="http://schemas.microsoft.com/office/drawing/2014/main" id="{C04C3D12-60EC-32F5-EC82-56D18E6C4952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2" name="140 Triángulo isósceles">
              <a:extLst>
                <a:ext uri="{FF2B5EF4-FFF2-40B4-BE49-F238E27FC236}">
                  <a16:creationId xmlns:a16="http://schemas.microsoft.com/office/drawing/2014/main" id="{FDCC0BF3-4DBC-11E1-501D-1EA4A2FF40C3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172A4747-972B-1F15-2272-920176C2EFA8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A2A9288B-B2A2-42C6-76A1-779652941E8A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D471DEB3-F508-A640-6ED5-0352A3CEDF3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Generador de Inmediatos</a:t>
              </a: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4B3ACE82-FCE9-BB17-CCF8-78034CE205BF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sz="1400" noProof="0" dirty="0"/>
                <a:t>ALU</a:t>
              </a:r>
              <a:endParaRPr lang="es-ES_tradnl" noProof="0" dirty="0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A7A341D4-B960-B632-1104-73548DB40279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Instrucciones</a:t>
              </a:r>
            </a:p>
          </p:txBody>
        </p: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F97BFB61-3282-E4ED-8BD2-43D66D35D3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3418656"/>
              <a:ext cx="1441205" cy="10343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9" name="Llamada rectangular redondeada 58">
            <a:extLst>
              <a:ext uri="{FF2B5EF4-FFF2-40B4-BE49-F238E27FC236}">
                <a16:creationId xmlns:a16="http://schemas.microsoft.com/office/drawing/2014/main" id="{02CB8156-BF75-572D-A8A0-89A7E95DFFA8}"/>
              </a:ext>
            </a:extLst>
          </p:cNvPr>
          <p:cNvSpPr/>
          <p:nvPr/>
        </p:nvSpPr>
        <p:spPr bwMode="auto">
          <a:xfrm>
            <a:off x="5759152" y="5157192"/>
            <a:ext cx="1981200" cy="1219200"/>
          </a:xfrm>
          <a:prstGeom prst="wedgeRoundRectCallout">
            <a:avLst>
              <a:gd name="adj1" fmla="val -46711"/>
              <a:gd name="adj2" fmla="val -81143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Permite seleccionar el origen del segundo operando:</a:t>
            </a:r>
          </a:p>
          <a:p>
            <a:pPr algn="ctr"/>
            <a:r>
              <a:rPr lang="es-ES_tradnl" sz="1200" noProof="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1200" noProof="0" dirty="0">
                <a:solidFill>
                  <a:schemeClr val="tx1"/>
                </a:solidFill>
                <a:latin typeface="Courier New"/>
                <a:cs typeface="Courier New"/>
              </a:rPr>
              <a:t> t0, t1, t2   </a:t>
            </a:r>
            <a:r>
              <a:rPr lang="es-ES_tradnl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  <a:p>
            <a:pPr algn="ctr"/>
            <a:r>
              <a:rPr lang="es-ES_tradnl" sz="1200" noProof="0" dirty="0" err="1">
                <a:solidFill>
                  <a:schemeClr val="tx1"/>
                </a:solidFill>
                <a:latin typeface="Courier New"/>
                <a:cs typeface="Courier New"/>
              </a:rPr>
              <a:t>lw</a:t>
            </a:r>
            <a:r>
              <a:rPr lang="es-ES_tradnl" sz="1200" noProof="0" dirty="0">
                <a:solidFill>
                  <a:schemeClr val="tx1"/>
                </a:solidFill>
                <a:latin typeface="Courier New"/>
                <a:cs typeface="Courier New"/>
              </a:rPr>
              <a:t> t0, 0(t1)</a:t>
            </a:r>
          </a:p>
        </p:txBody>
      </p:sp>
    </p:spTree>
    <p:extLst>
      <p:ext uri="{BB962C8B-B14F-4D97-AF65-F5344CB8AC3E}">
        <p14:creationId xmlns:p14="http://schemas.microsoft.com/office/powerpoint/2010/main" val="2549670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1">
            <a:extLst>
              <a:ext uri="{FF2B5EF4-FFF2-40B4-BE49-F238E27FC236}">
                <a16:creationId xmlns:a16="http://schemas.microsoft.com/office/drawing/2014/main" id="{EE8FE1B2-B97C-E922-4D98-737C5655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115888"/>
            <a:ext cx="8250237" cy="865187"/>
          </a:xfrm>
        </p:spPr>
        <p:txBody>
          <a:bodyPr/>
          <a:lstStyle/>
          <a:p>
            <a:r>
              <a:rPr lang="es-ES_tradnl" noProof="0" dirty="0"/>
              <a:t>La ruta de datos: La memoria de datos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1331AAB-050A-3831-7CD5-B43ACBDC41DB}"/>
              </a:ext>
            </a:extLst>
          </p:cNvPr>
          <p:cNvGrpSpPr/>
          <p:nvPr/>
        </p:nvGrpSpPr>
        <p:grpSpPr>
          <a:xfrm>
            <a:off x="1028192" y="1021617"/>
            <a:ext cx="7296824" cy="5441581"/>
            <a:chOff x="1028192" y="1021617"/>
            <a:chExt cx="7296824" cy="5441581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5DB8653E-1F99-CD06-C302-1E13F2FBCE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3903870"/>
              <a:ext cx="0" cy="944355"/>
            </a:xfrm>
            <a:prstGeom prst="line">
              <a:avLst/>
            </a:prstGeom>
            <a:ln w="38100" cmpd="sng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/>
            <p:nvPr/>
          </p:nvCxnSpPr>
          <p:spPr bwMode="auto">
            <a:xfrm rot="16200000" flipH="1">
              <a:off x="1735218" y="3570581"/>
              <a:ext cx="303852" cy="2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_tradnl" sz="1400" b="1" noProof="0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429000"/>
              <a:ext cx="144489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  <a:stCxn id="80" idx="3"/>
            </p:cNvCxnSpPr>
            <p:nvPr/>
          </p:nvCxnSpPr>
          <p:spPr bwMode="auto">
            <a:xfrm flipV="1">
              <a:off x="5479811" y="3908190"/>
              <a:ext cx="273289" cy="526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5123589"/>
              <a:ext cx="28336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45B71AE5-0F43-7F89-DC63-20CE47521FB0}"/>
                </a:ext>
              </a:extLst>
            </p:cNvPr>
            <p:cNvSpPr/>
            <p:nvPr/>
          </p:nvSpPr>
          <p:spPr bwMode="auto">
            <a:xfrm rot="16200000">
              <a:off x="5547791" y="4005253"/>
              <a:ext cx="641459" cy="22841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71352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  <a:stCxn id="61" idx="2"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9354" y="3757848"/>
              <a:ext cx="13887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OpALU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MxB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6600" y="4439927"/>
              <a:ext cx="837516" cy="987512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8409" y="4895701"/>
              <a:ext cx="173997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92600" y="4098094"/>
              <a:ext cx="683662" cy="1587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4821322"/>
              <a:ext cx="1373786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4453" y="55397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7417" y="55397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32244" y="5623675"/>
              <a:ext cx="628760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LMem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41457" y="5623675"/>
              <a:ext cx="637394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>
                  <a:solidFill>
                    <a:srgbClr val="FF6600"/>
                  </a:solidFill>
                </a:rPr>
                <a:t>EMem</a:t>
              </a: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7325" y="4078579"/>
              <a:ext cx="517691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4989" y="4481083"/>
              <a:ext cx="836378" cy="793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300693" y="372336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8FCE9F96-1AAD-6C9E-25FA-85A50E931409}"/>
                </a:ext>
              </a:extLst>
            </p:cNvPr>
            <p:cNvCxnSpPr/>
            <p:nvPr/>
          </p:nvCxnSpPr>
          <p:spPr bwMode="auto">
            <a:xfrm rot="5400000">
              <a:off x="1830477" y="4138186"/>
              <a:ext cx="379812" cy="422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noFill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sz="1400" noProof="0" dirty="0"/>
                <a:t>ALU</a:t>
              </a:r>
              <a:endParaRPr lang="es-ES_tradnl" noProof="0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FA8C8F85-3D3E-C82D-BC32-E5A90B2DD548}"/>
                </a:ext>
              </a:extLst>
            </p:cNvPr>
            <p:cNvSpPr/>
            <p:nvPr/>
          </p:nvSpPr>
          <p:spPr bwMode="auto">
            <a:xfrm>
              <a:off x="5403673" y="3875472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1D07390-5BD4-6CD5-B3F3-C85A873AFDD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68144" y="4407899"/>
              <a:ext cx="0" cy="173229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E647E565-8731-B62A-4CCF-EF89015E259B}"/>
                </a:ext>
              </a:extLst>
            </p:cNvPr>
            <p:cNvCxnSpPr>
              <a:cxnSpLocks/>
              <a:stCxn id="80" idx="1"/>
            </p:cNvCxnSpPr>
            <p:nvPr/>
          </p:nvCxnSpPr>
          <p:spPr bwMode="auto">
            <a:xfrm flipH="1" flipV="1">
              <a:off x="4991608" y="3903870"/>
              <a:ext cx="412065" cy="9583"/>
            </a:xfrm>
            <a:prstGeom prst="line">
              <a:avLst/>
            </a:prstGeom>
            <a:ln w="38100" cmpd="sng"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" name="Conector recto 253">
            <a:extLst>
              <a:ext uri="{FF2B5EF4-FFF2-40B4-BE49-F238E27FC236}">
                <a16:creationId xmlns:a16="http://schemas.microsoft.com/office/drawing/2014/main" id="{2FA9CC84-0D43-2C6E-FB6E-AE106C02D876}"/>
              </a:ext>
            </a:extLst>
          </p:cNvPr>
          <p:cNvCxnSpPr/>
          <p:nvPr/>
        </p:nvCxnSpPr>
        <p:spPr bwMode="auto">
          <a:xfrm rot="10800000" flipH="1">
            <a:off x="1392845" y="4507537"/>
            <a:ext cx="226827" cy="1583"/>
          </a:xfrm>
          <a:prstGeom prst="line">
            <a:avLst/>
          </a:prstGeom>
          <a:ln w="38100" cmpd="sng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3764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 Almacenamiento del resultado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Algunas instrucciones escriben el resultado en un registro</a:t>
            </a:r>
          </a:p>
          <a:p>
            <a:pPr lvl="1" algn="just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El banco de registros dispone de un puerto de escritura con:</a:t>
            </a:r>
          </a:p>
          <a:p>
            <a:pPr lvl="2" algn="just"/>
            <a:r>
              <a:rPr lang="es-ES_tradnl" sz="1600" noProof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del registro 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(5 bits): Es el registro 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endParaRPr lang="es-ES_tradnl" sz="16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algn="just"/>
            <a:r>
              <a:rPr lang="es-ES_tradnl" sz="1600" noProof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(32 bits): Puede ser el resultado de una operación en la ALU o de una lectura de memoria. Hace falta un multiplexor (</a:t>
            </a:r>
            <a:r>
              <a:rPr lang="es-ES_tradnl" sz="1600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MxER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 para llevar a los bits de datos el valor a escribir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9608-B574-4B82-8EEF-626F712CB985}" type="slidenum">
              <a:rPr lang="es-ES_tradnl" noProof="0" smtClean="0"/>
              <a:pPr/>
              <a:t>58</a:t>
            </a:fld>
            <a:endParaRPr lang="es-ES_tradnl" noProof="0" dirty="0"/>
          </a:p>
        </p:txBody>
      </p:sp>
      <p:grpSp>
        <p:nvGrpSpPr>
          <p:cNvPr id="13" name="12 Grupo"/>
          <p:cNvGrpSpPr/>
          <p:nvPr/>
        </p:nvGrpSpPr>
        <p:grpSpPr>
          <a:xfrm>
            <a:off x="2555776" y="4005064"/>
            <a:ext cx="4103821" cy="2561983"/>
            <a:chOff x="2411760" y="3928584"/>
            <a:chExt cx="4103821" cy="2561983"/>
          </a:xfrm>
        </p:grpSpPr>
        <p:sp>
          <p:nvSpPr>
            <p:cNvPr id="28" name="Rectángulo 31"/>
            <p:cNvSpPr/>
            <p:nvPr/>
          </p:nvSpPr>
          <p:spPr bwMode="auto">
            <a:xfrm>
              <a:off x="4377331" y="4427396"/>
              <a:ext cx="1524000" cy="19595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noProof="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cxnSp>
          <p:nvCxnSpPr>
            <p:cNvPr id="29" name="Conector recto 32"/>
            <p:cNvCxnSpPr/>
            <p:nvPr/>
          </p:nvCxnSpPr>
          <p:spPr bwMode="auto">
            <a:xfrm>
              <a:off x="3767731" y="4988875"/>
              <a:ext cx="609600" cy="1588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Conector recto 40"/>
            <p:cNvCxnSpPr/>
            <p:nvPr/>
          </p:nvCxnSpPr>
          <p:spPr bwMode="auto">
            <a:xfrm>
              <a:off x="3767731" y="4626963"/>
              <a:ext cx="609600" cy="1588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Conector recto 48"/>
            <p:cNvCxnSpPr/>
            <p:nvPr/>
          </p:nvCxnSpPr>
          <p:spPr bwMode="auto">
            <a:xfrm flipV="1">
              <a:off x="5901331" y="4618871"/>
              <a:ext cx="614250" cy="8092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onector recto 49"/>
            <p:cNvCxnSpPr/>
            <p:nvPr/>
          </p:nvCxnSpPr>
          <p:spPr bwMode="auto">
            <a:xfrm>
              <a:off x="5901331" y="4988875"/>
              <a:ext cx="614250" cy="0"/>
            </a:xfrm>
            <a:prstGeom prst="line">
              <a:avLst/>
            </a:prstGeom>
            <a:ln w="38100" cmpd="sng">
              <a:solidFill>
                <a:schemeClr val="accent1">
                  <a:shade val="50000"/>
                  <a:alpha val="2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onector recto 97"/>
            <p:cNvCxnSpPr>
              <a:stCxn id="11" idx="3"/>
            </p:cNvCxnSpPr>
            <p:nvPr/>
          </p:nvCxnSpPr>
          <p:spPr bwMode="auto">
            <a:xfrm flipV="1">
              <a:off x="3767731" y="5850412"/>
              <a:ext cx="643461" cy="1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onector recto 102"/>
            <p:cNvCxnSpPr>
              <a:stCxn id="40" idx="3"/>
            </p:cNvCxnSpPr>
            <p:nvPr/>
          </p:nvCxnSpPr>
          <p:spPr bwMode="auto">
            <a:xfrm flipV="1">
              <a:off x="3733870" y="6166009"/>
              <a:ext cx="643461" cy="1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10 CuadroTexto"/>
            <p:cNvSpPr txBox="1"/>
            <p:nvPr/>
          </p:nvSpPr>
          <p:spPr>
            <a:xfrm>
              <a:off x="2445621" y="5696524"/>
              <a:ext cx="1322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0" dirty="0"/>
                <a:t>Dir. registro</a:t>
              </a: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2411760" y="6012121"/>
              <a:ext cx="1322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400" noProof="0" dirty="0"/>
                <a:t>Datos</a:t>
              </a: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4499357" y="5817306"/>
              <a:ext cx="9605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Puerto de</a:t>
              </a:r>
              <a:b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escritura</a:t>
              </a:r>
            </a:p>
          </p:txBody>
        </p:sp>
        <p:sp>
          <p:nvSpPr>
            <p:cNvPr id="50" name="49 Triángulo isósceles"/>
            <p:cNvSpPr/>
            <p:nvPr/>
          </p:nvSpPr>
          <p:spPr bwMode="auto">
            <a:xfrm rot="10800000">
              <a:off x="5407976" y="4444127"/>
              <a:ext cx="206744" cy="184424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51" name="Conector recto 73"/>
            <p:cNvCxnSpPr/>
            <p:nvPr/>
          </p:nvCxnSpPr>
          <p:spPr bwMode="auto">
            <a:xfrm rot="16200000" flipH="1">
              <a:off x="5398636" y="4329827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CuadroTexto 84"/>
            <p:cNvSpPr txBox="1"/>
            <p:nvPr/>
          </p:nvSpPr>
          <p:spPr>
            <a:xfrm>
              <a:off x="5222334" y="3928584"/>
              <a:ext cx="5780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EReg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6" name="5 Conector recto"/>
            <p:cNvCxnSpPr/>
            <p:nvPr/>
          </p:nvCxnSpPr>
          <p:spPr bwMode="auto">
            <a:xfrm flipH="1">
              <a:off x="3956829" y="5765194"/>
              <a:ext cx="65804" cy="1704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" name="6 CuadroTexto"/>
            <p:cNvSpPr txBox="1"/>
            <p:nvPr/>
          </p:nvSpPr>
          <p:spPr>
            <a:xfrm>
              <a:off x="3923887" y="5815333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/>
                <a:t>5</a:t>
              </a:r>
            </a:p>
          </p:txBody>
        </p:sp>
        <p:cxnSp>
          <p:nvCxnSpPr>
            <p:cNvPr id="27" name="26 Conector recto"/>
            <p:cNvCxnSpPr/>
            <p:nvPr/>
          </p:nvCxnSpPr>
          <p:spPr bwMode="auto">
            <a:xfrm flipH="1">
              <a:off x="3953664" y="6076943"/>
              <a:ext cx="65804" cy="178132"/>
            </a:xfrm>
            <a:prstGeom prst="line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" name="29 CuadroTexto"/>
            <p:cNvSpPr txBox="1"/>
            <p:nvPr/>
          </p:nvSpPr>
          <p:spPr>
            <a:xfrm>
              <a:off x="3845341" y="6213568"/>
              <a:ext cx="3545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noProof="0" dirty="0"/>
                <a:t>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4024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41A85B87-FFF6-8F3C-3C95-4066CFAB66CD}"/>
              </a:ext>
            </a:extLst>
          </p:cNvPr>
          <p:cNvSpPr txBox="1">
            <a:spLocks/>
          </p:cNvSpPr>
          <p:nvPr/>
        </p:nvSpPr>
        <p:spPr>
          <a:xfrm>
            <a:off x="684213" y="115888"/>
            <a:ext cx="8250237" cy="86518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s-ES" sz="3200" kern="12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572314"/>
                </a:solidFill>
                <a:latin typeface="Gill Sans MT" pitchFamily="34" charset="0"/>
              </a:defRPr>
            </a:lvl9pPr>
          </a:lstStyle>
          <a:p>
            <a:pPr>
              <a:buFontTx/>
            </a:pPr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 Almacenamiento del resultado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8F1C150-5117-1BB7-C5C3-D647F29C0413}"/>
              </a:ext>
            </a:extLst>
          </p:cNvPr>
          <p:cNvGrpSpPr/>
          <p:nvPr/>
        </p:nvGrpSpPr>
        <p:grpSpPr>
          <a:xfrm>
            <a:off x="1028192" y="1021617"/>
            <a:ext cx="7773194" cy="5564188"/>
            <a:chOff x="1028192" y="1021617"/>
            <a:chExt cx="7773194" cy="5564188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5DFA865-7668-A916-2FC0-1F72FE3096E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85964" y="1527005"/>
              <a:ext cx="0" cy="2718794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87143" y="3418656"/>
              <a:ext cx="0" cy="929911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C6130B9B-6FD9-A989-D18C-D70425B3CB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9429" y="4280090"/>
              <a:ext cx="627629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rgbClr val="2669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  <a:endCxn id="9" idx="2"/>
            </p:cNvCxnSpPr>
            <p:nvPr/>
          </p:nvCxnSpPr>
          <p:spPr bwMode="auto">
            <a:xfrm flipV="1">
              <a:off x="3375721" y="4310248"/>
              <a:ext cx="10243" cy="1214457"/>
            </a:xfrm>
            <a:prstGeom prst="line">
              <a:avLst/>
            </a:prstGeom>
            <a:ln w="38100" cmpd="sng">
              <a:solidFill>
                <a:srgbClr val="2669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_tradnl" sz="1400" b="1" noProof="0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4953" y="3908190"/>
              <a:ext cx="7781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2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5123589"/>
              <a:ext cx="28336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45B71AE5-0F43-7F89-DC63-20CE47521FB0}"/>
                </a:ext>
              </a:extLst>
            </p:cNvPr>
            <p:cNvSpPr/>
            <p:nvPr/>
          </p:nvSpPr>
          <p:spPr bwMode="auto">
            <a:xfrm rot="16200000">
              <a:off x="5547791" y="4005253"/>
              <a:ext cx="641459" cy="22841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71352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  <a:stCxn id="61" idx="2"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9354" y="3757848"/>
              <a:ext cx="13887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OpALU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MxB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6600" y="4439927"/>
              <a:ext cx="837516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8409" y="4895701"/>
              <a:ext cx="173997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92600" y="4098094"/>
              <a:ext cx="683662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4821322"/>
              <a:ext cx="1373786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4453" y="553979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7417" y="553979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32244" y="5623675"/>
              <a:ext cx="628760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LMem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41457" y="5623675"/>
              <a:ext cx="63739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>
                  <a:solidFill>
                    <a:srgbClr val="FF6600"/>
                  </a:solidFill>
                </a:rPr>
                <a:t>EMem</a:t>
              </a: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42B339BE-3101-126E-0C24-57E91030CA7A}"/>
                </a:ext>
              </a:extLst>
            </p:cNvPr>
            <p:cNvCxnSpPr/>
            <p:nvPr/>
          </p:nvCxnSpPr>
          <p:spPr bwMode="auto">
            <a:xfrm rot="16200000" flipH="1">
              <a:off x="4558043" y="3228027"/>
              <a:ext cx="226304" cy="1587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ACC943C9-E9EB-B4D9-9D33-17A76632EA01}"/>
                </a:ext>
              </a:extLst>
            </p:cNvPr>
            <p:cNvSpPr txBox="1"/>
            <p:nvPr/>
          </p:nvSpPr>
          <p:spPr>
            <a:xfrm>
              <a:off x="4420748" y="2878510"/>
              <a:ext cx="577556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EReg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34C702F-50D0-A7E7-CFF5-E3781BC88C01}"/>
                </a:ext>
              </a:extLst>
            </p:cNvPr>
            <p:cNvSpPr/>
            <p:nvPr/>
          </p:nvSpPr>
          <p:spPr bwMode="auto">
            <a:xfrm rot="16200000">
              <a:off x="8118494" y="3810863"/>
              <a:ext cx="641459" cy="228413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7325" y="4078579"/>
              <a:ext cx="517691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4989" y="4481083"/>
              <a:ext cx="836378" cy="793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DF8F9B35-B436-A80A-B3D6-86E091D60E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553430" y="3908190"/>
              <a:ext cx="247956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0E1D9292-209D-1E0B-5321-51566E1BA7A6}"/>
                </a:ext>
              </a:extLst>
            </p:cNvPr>
            <p:cNvCxnSpPr/>
            <p:nvPr/>
          </p:nvCxnSpPr>
          <p:spPr bwMode="auto">
            <a:xfrm rot="5400000">
              <a:off x="7453293" y="5237532"/>
              <a:ext cx="2657894" cy="793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532239C-4989-D979-24A7-FF9DC7695E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8335" y="6566875"/>
              <a:ext cx="5270672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9D99C29B-956C-3237-2A3D-934BE0EDABC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27541" y="4553810"/>
              <a:ext cx="0" cy="2031995"/>
            </a:xfrm>
            <a:prstGeom prst="line">
              <a:avLst/>
            </a:prstGeom>
            <a:ln w="38100" cmpd="sng">
              <a:solidFill>
                <a:srgbClr val="26697A"/>
              </a:solidFill>
              <a:prstDash val="solid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5ADCB208-4F0C-B00B-C232-7C2F18D83E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6463" y="4572072"/>
              <a:ext cx="468723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6AD2A95-BA4A-03A1-E6B2-4A02C80DA939}"/>
                </a:ext>
              </a:extLst>
            </p:cNvPr>
            <p:cNvSpPr txBox="1"/>
            <p:nvPr/>
          </p:nvSpPr>
          <p:spPr>
            <a:xfrm>
              <a:off x="6867522" y="6306081"/>
              <a:ext cx="552905" cy="260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>
                  <a:solidFill>
                    <a:schemeClr val="accent1">
                      <a:lumMod val="75000"/>
                    </a:schemeClr>
                  </a:solidFill>
                </a:rPr>
                <a:t>Datos</a:t>
              </a:r>
            </a:p>
          </p:txBody>
        </p: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DCBA28B-D9D5-788C-B08B-FDA89479ABE5}"/>
                </a:ext>
              </a:extLst>
            </p:cNvPr>
            <p:cNvCxnSpPr/>
            <p:nvPr/>
          </p:nvCxnSpPr>
          <p:spPr bwMode="auto">
            <a:xfrm rot="16200000" flipH="1">
              <a:off x="8321768" y="348881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09604B98-0189-D53C-6DE5-CE3E1AEBDC74}"/>
                </a:ext>
              </a:extLst>
            </p:cNvPr>
            <p:cNvSpPr txBox="1"/>
            <p:nvPr/>
          </p:nvSpPr>
          <p:spPr>
            <a:xfrm>
              <a:off x="8127347" y="3112978"/>
              <a:ext cx="611717" cy="276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MxER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300693" y="372336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_tradnl" sz="1400" noProof="0" dirty="0"/>
                <a:t>ALU</a:t>
              </a:r>
              <a:endParaRPr lang="es-ES_tradnl" noProof="0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6644A2C-08FF-B0BF-3710-646F4C829F74}"/>
                </a:ext>
              </a:extLst>
            </p:cNvPr>
            <p:cNvSpPr txBox="1"/>
            <p:nvPr/>
          </p:nvSpPr>
          <p:spPr>
            <a:xfrm>
              <a:off x="3320997" y="4007975"/>
              <a:ext cx="77713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11..7 (</a:t>
              </a:r>
              <a:r>
                <a:rPr lang="es-ES_tradnl" sz="1000" i="1" noProof="0" dirty="0" err="1">
                  <a:solidFill>
                    <a:schemeClr val="accent1">
                      <a:lumMod val="75000"/>
                    </a:schemeClr>
                  </a:solidFill>
                </a:rPr>
                <a:t>rd</a:t>
              </a:r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)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F3971B-F4CC-F915-2369-9744B2F17925}"/>
                </a:ext>
              </a:extLst>
            </p:cNvPr>
            <p:cNvSpPr/>
            <p:nvPr/>
          </p:nvSpPr>
          <p:spPr bwMode="auto">
            <a:xfrm>
              <a:off x="3347864" y="4234048"/>
              <a:ext cx="76200" cy="76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07392EC3-BC50-96C5-20BE-7BE3295A2C2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998304" y="3428999"/>
              <a:ext cx="1434509" cy="1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7498061E-4EC1-0C7D-8FDA-C3DF828642D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3903870"/>
              <a:ext cx="0" cy="944355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A48F4A4-92F8-1F78-134B-2EEB8B098BD9}"/>
                </a:ext>
              </a:extLst>
            </p:cNvPr>
            <p:cNvSpPr/>
            <p:nvPr/>
          </p:nvSpPr>
          <p:spPr bwMode="auto">
            <a:xfrm>
              <a:off x="5403673" y="3875472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sp>
        <p:nvSpPr>
          <p:cNvPr id="12" name="Llamada rectangular redondeada 11">
            <a:extLst>
              <a:ext uri="{FF2B5EF4-FFF2-40B4-BE49-F238E27FC236}">
                <a16:creationId xmlns:a16="http://schemas.microsoft.com/office/drawing/2014/main" id="{BC581D9D-5DDE-CDA8-B3DD-DC37808F909D}"/>
              </a:ext>
            </a:extLst>
          </p:cNvPr>
          <p:cNvSpPr/>
          <p:nvPr/>
        </p:nvSpPr>
        <p:spPr bwMode="auto">
          <a:xfrm>
            <a:off x="6983288" y="1524000"/>
            <a:ext cx="1981200" cy="1219200"/>
          </a:xfrm>
          <a:prstGeom prst="wedgeRoundRectCallout">
            <a:avLst>
              <a:gd name="adj1" fmla="val 21992"/>
              <a:gd name="adj2" fmla="val 85401"/>
              <a:gd name="adj3" fmla="val 16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 seleccionar el resultado a almacenar:</a:t>
            </a:r>
          </a:p>
          <a:p>
            <a:pPr algn="ctr"/>
            <a:r>
              <a:rPr lang="es-ES_tradnl" sz="1200" noProof="0" dirty="0" err="1">
                <a:solidFill>
                  <a:schemeClr val="tx1"/>
                </a:solidFill>
                <a:latin typeface="Courier New"/>
                <a:cs typeface="Courier New"/>
              </a:rPr>
              <a:t>add</a:t>
            </a:r>
            <a:r>
              <a:rPr lang="es-ES_tradnl" sz="1200" noProof="0" dirty="0">
                <a:solidFill>
                  <a:schemeClr val="tx1"/>
                </a:solidFill>
                <a:latin typeface="Courier New"/>
                <a:cs typeface="Courier New"/>
              </a:rPr>
              <a:t> t0, t1, t2 </a:t>
            </a:r>
          </a:p>
          <a:p>
            <a:pPr algn="ctr"/>
            <a:r>
              <a:rPr lang="es-ES_tradnl" sz="12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  <a:p>
            <a:pPr algn="ctr"/>
            <a:r>
              <a:rPr lang="es-ES_tradnl" sz="1200" noProof="0" dirty="0" err="1">
                <a:solidFill>
                  <a:schemeClr val="tx1"/>
                </a:solidFill>
                <a:latin typeface="Courier New"/>
                <a:cs typeface="Courier New"/>
              </a:rPr>
              <a:t>lw</a:t>
            </a:r>
            <a:r>
              <a:rPr lang="es-ES_tradnl" sz="1200" noProof="0" dirty="0">
                <a:solidFill>
                  <a:schemeClr val="tx1"/>
                </a:solidFill>
                <a:latin typeface="Courier New"/>
                <a:cs typeface="Courier New"/>
              </a:rPr>
              <a:t> t0, 0(t1)</a:t>
            </a:r>
          </a:p>
        </p:txBody>
      </p:sp>
    </p:spTree>
    <p:extLst>
      <p:ext uri="{BB962C8B-B14F-4D97-AF65-F5344CB8AC3E}">
        <p14:creationId xmlns:p14="http://schemas.microsoft.com/office/powerpoint/2010/main" val="212024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rs1, rs2, inm</a:t>
            </a:r>
            <a:r>
              <a:rPr lang="es-ES_tradnl" baseline="-25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pPr marL="603250" lvl="2" indent="0">
              <a:buNone/>
            </a:pPr>
            <a:r>
              <a:rPr lang="es-ES_trad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 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rs1==rs2, entonces PC = PC + 2 x (</a:t>
            </a:r>
            <a:r>
              <a:rPr lang="es-ES_tradnl" sz="16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_tradnl" sz="1600" baseline="-25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603250" lvl="2" indent="0">
              <a:buNone/>
            </a:pPr>
            <a:r>
              <a:rPr lang="es-ES_tradnl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sino PC = PC+4</a:t>
            </a:r>
          </a:p>
          <a:p>
            <a:pPr marL="603250" lvl="2" indent="0">
              <a:buNone/>
            </a:pPr>
            <a:endParaRPr lang="es-ES_tradnl" noProof="0" dirty="0"/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El ensamblador traduce la etiqueta del programa en un inmediato de 12 bits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La dirección de destino es la suma del contador de programa (PC) y el desplazamiento (positivo o negativo) indicado en la instrucción. Si se cumple la condición, se pone esa dirección en el PC con lo cual la siguiente instrucción a ejecutar es a la que hay en esa dirección (salto)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El inmediato se expresa en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(2 bytes) por lo que hay que “multiplicarlo por 2” para tenerlo en bytes. Esto es equivalente a añadir el bit 0. El resultado hay que extenderlo a 32 bits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Si no se cumple la condición, el contador de programa pasa a contener (PC+4), que es la dirección de la siguiente instrucción</a:t>
            </a:r>
            <a:endParaRPr lang="es-ES_tradnl" noProof="0" dirty="0"/>
          </a:p>
          <a:p>
            <a:pPr lvl="1" algn="just"/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60</a:t>
            </a:fld>
            <a:endParaRPr lang="es-ES_tradnl" noProof="0" dirty="0"/>
          </a:p>
        </p:txBody>
      </p:sp>
      <p:sp>
        <p:nvSpPr>
          <p:cNvPr id="3" name="Rectángulo 2"/>
          <p:cNvSpPr/>
          <p:nvPr/>
        </p:nvSpPr>
        <p:spPr bwMode="auto">
          <a:xfrm>
            <a:off x="1043608" y="1628800"/>
            <a:ext cx="7643192" cy="936104"/>
          </a:xfrm>
          <a:prstGeom prst="rect">
            <a:avLst/>
          </a:prstGeom>
          <a:noFill/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rs1, rs2, inm</a:t>
            </a:r>
            <a:r>
              <a:rPr lang="es-ES_tradnl" baseline="-25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endParaRPr lang="es-ES_tradnl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Cómo obtener la dirección de salto: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El inmediato hay que extenderlo a 32 bits: Generador de inmediatos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Además, hay que multiplicarlo por 2: poner un cero a su derecha (direcciones múltiplos de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Ese desplazamiento se suma a PC en la ALU</a:t>
            </a: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Cómo comprobar la condición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rs1==rs2:</a:t>
            </a:r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Se usa un circuito de resta en una unidad de evaluación saltos: </a:t>
            </a:r>
            <a:r>
              <a:rPr lang="es-ES_tradnl" sz="1600" b="1" noProof="0" dirty="0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. Se restan ambos registros y si el resultado es cero es que son iguales</a:t>
            </a: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Cómo llevar al contador de programa la dirección de salto:</a:t>
            </a:r>
          </a:p>
          <a:p>
            <a:pPr lvl="2" algn="just"/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Hace falta un nuevo multiplexor (</a:t>
            </a:r>
            <a:r>
              <a:rPr lang="es-ES_tradnl" sz="1600" noProof="0" dirty="0" err="1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MxPC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 algn="just"/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61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6772128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26BC-4246-B738-A4C4-E88AB82C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B6E99-4DCC-24F6-ADCA-ABDB24D2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3 Marcador de contenido">
            <a:extLst>
              <a:ext uri="{FF2B5EF4-FFF2-40B4-BE49-F238E27FC236}">
                <a16:creationId xmlns:a16="http://schemas.microsoft.com/office/drawing/2014/main" id="{3BC5FC2D-2327-D369-73F5-AF99EFE1C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rs1, rs2, inm</a:t>
            </a:r>
            <a:r>
              <a:rPr lang="es-ES_tradnl" baseline="-25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Cómo obtener la dirección de salto: Sumar PC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endParaRPr lang="es-ES_tradnl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_tradnl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Cómo comprobar la condición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rs1==rs2: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Si es un salto de tipo </a:t>
            </a:r>
            <a:r>
              <a:rPr lang="es-ES_trad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, restar </a:t>
            </a:r>
            <a:r>
              <a:rPr lang="es-ES_trad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rs1-rs2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y comprobar si el resultado es cero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83152C-90BA-89F5-0E34-09F5EF28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62</a:t>
            </a:fld>
            <a:endParaRPr lang="es-ES_tradnl" noProof="0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879031D-6120-83D7-DCBB-700D15305A88}"/>
              </a:ext>
            </a:extLst>
          </p:cNvPr>
          <p:cNvCxnSpPr>
            <a:cxnSpLocks/>
          </p:cNvCxnSpPr>
          <p:nvPr/>
        </p:nvCxnSpPr>
        <p:spPr bwMode="auto">
          <a:xfrm>
            <a:off x="4328228" y="3149698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8B5E0E6-6CBE-A36A-6C54-1E1D68A34926}"/>
              </a:ext>
            </a:extLst>
          </p:cNvPr>
          <p:cNvCxnSpPr>
            <a:cxnSpLocks/>
          </p:cNvCxnSpPr>
          <p:nvPr/>
        </p:nvCxnSpPr>
        <p:spPr bwMode="auto">
          <a:xfrm>
            <a:off x="2619502" y="2661649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AFFEB7D-F69C-9BF9-3613-5F92FD01A4BF}"/>
              </a:ext>
            </a:extLst>
          </p:cNvPr>
          <p:cNvCxnSpPr>
            <a:cxnSpLocks/>
          </p:cNvCxnSpPr>
          <p:nvPr/>
        </p:nvCxnSpPr>
        <p:spPr bwMode="auto">
          <a:xfrm>
            <a:off x="2619502" y="3662317"/>
            <a:ext cx="51960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7EA6FE8-AC09-357D-5435-6BB7015B683E}"/>
              </a:ext>
            </a:extLst>
          </p:cNvPr>
          <p:cNvSpPr txBox="1"/>
          <p:nvPr/>
        </p:nvSpPr>
        <p:spPr>
          <a:xfrm>
            <a:off x="2099896" y="2530302"/>
            <a:ext cx="519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</a:rPr>
              <a:t>PC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5D07EBF-AFFE-4433-2AC5-DFB88DA53B31}"/>
              </a:ext>
            </a:extLst>
          </p:cNvPr>
          <p:cNvSpPr txBox="1"/>
          <p:nvPr/>
        </p:nvSpPr>
        <p:spPr>
          <a:xfrm>
            <a:off x="3049733" y="5282784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905BB58-E4D2-8E27-DA99-FC5021EAB207}"/>
              </a:ext>
            </a:extLst>
          </p:cNvPr>
          <p:cNvSpPr txBox="1"/>
          <p:nvPr/>
        </p:nvSpPr>
        <p:spPr>
          <a:xfrm>
            <a:off x="3350650" y="5282783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BC9D26-E452-51BB-224A-6E7008B6D1DE}"/>
              </a:ext>
            </a:extLst>
          </p:cNvPr>
          <p:cNvSpPr txBox="1"/>
          <p:nvPr/>
        </p:nvSpPr>
        <p:spPr>
          <a:xfrm>
            <a:off x="4451774" y="3539206"/>
            <a:ext cx="747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Inmediato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169C839-00BB-3D68-1E4E-22C4006EB79E}"/>
              </a:ext>
            </a:extLst>
          </p:cNvPr>
          <p:cNvSpPr txBox="1"/>
          <p:nvPr/>
        </p:nvSpPr>
        <p:spPr>
          <a:xfrm>
            <a:off x="4838374" y="2966729"/>
            <a:ext cx="813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Dirección de salto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8F0DBC17-B9D5-7552-BE48-A3478A1307DF}"/>
              </a:ext>
            </a:extLst>
          </p:cNvPr>
          <p:cNvCxnSpPr>
            <a:cxnSpLocks/>
          </p:cNvCxnSpPr>
          <p:nvPr/>
        </p:nvCxnSpPr>
        <p:spPr bwMode="auto">
          <a:xfrm>
            <a:off x="3770076" y="6156172"/>
            <a:ext cx="51014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B2F97E0-1F29-EC71-7DE8-077CCE4A9ED8}"/>
              </a:ext>
            </a:extLst>
          </p:cNvPr>
          <p:cNvSpPr txBox="1"/>
          <p:nvPr/>
        </p:nvSpPr>
        <p:spPr>
          <a:xfrm>
            <a:off x="4280222" y="6033061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C84696D-50CE-DB6A-79F2-649F658D6BCD}"/>
              </a:ext>
            </a:extLst>
          </p:cNvPr>
          <p:cNvCxnSpPr>
            <a:cxnSpLocks/>
          </p:cNvCxnSpPr>
          <p:nvPr/>
        </p:nvCxnSpPr>
        <p:spPr bwMode="auto">
          <a:xfrm>
            <a:off x="2605100" y="2925118"/>
            <a:ext cx="516627" cy="357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3C14048-DAFC-A053-F567-BA133750F2A1}"/>
              </a:ext>
            </a:extLst>
          </p:cNvPr>
          <p:cNvCxnSpPr>
            <a:cxnSpLocks/>
          </p:cNvCxnSpPr>
          <p:nvPr/>
        </p:nvCxnSpPr>
        <p:spPr bwMode="auto">
          <a:xfrm>
            <a:off x="2605100" y="3335872"/>
            <a:ext cx="519606" cy="15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EC6254B-74E8-8AE0-16F5-472782856EA4}"/>
              </a:ext>
            </a:extLst>
          </p:cNvPr>
          <p:cNvSpPr txBox="1"/>
          <p:nvPr/>
        </p:nvSpPr>
        <p:spPr>
          <a:xfrm>
            <a:off x="2242466" y="2800667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</a:rPr>
              <a:t>rs1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2FBD7A1-63C0-D674-AAB4-BBC8920B5104}"/>
              </a:ext>
            </a:extLst>
          </p:cNvPr>
          <p:cNvSpPr txBox="1"/>
          <p:nvPr/>
        </p:nvSpPr>
        <p:spPr>
          <a:xfrm>
            <a:off x="2242466" y="3212761"/>
            <a:ext cx="359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000" noProof="0" dirty="0">
                <a:solidFill>
                  <a:schemeClr val="accent1">
                    <a:lumMod val="75000"/>
                  </a:schemeClr>
                </a:solidFill>
              </a:rPr>
              <a:t>rs2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536030E-EAF4-1531-F7B2-237DCDCC3D84}"/>
              </a:ext>
            </a:extLst>
          </p:cNvPr>
          <p:cNvSpPr/>
          <p:nvPr/>
        </p:nvSpPr>
        <p:spPr bwMode="auto">
          <a:xfrm rot="16200000">
            <a:off x="2962771" y="3373308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5A43168-6472-1FE7-EDE1-1FC5DE749B79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>
            <a:off x="3397707" y="3487514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D46738F-7F1F-5067-0D91-86B117E346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7037" y="3808245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4CB3A2F0-2141-FB25-FEB9-A9D0C8CE4646}"/>
              </a:ext>
            </a:extLst>
          </p:cNvPr>
          <p:cNvCxnSpPr/>
          <p:nvPr/>
        </p:nvCxnSpPr>
        <p:spPr bwMode="auto">
          <a:xfrm rot="5400000" flipH="1" flipV="1">
            <a:off x="4039053" y="3602676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57C99AA-F878-8F63-A3DD-89A1C80E3A98}"/>
              </a:ext>
            </a:extLst>
          </p:cNvPr>
          <p:cNvSpPr txBox="1"/>
          <p:nvPr/>
        </p:nvSpPr>
        <p:spPr>
          <a:xfrm>
            <a:off x="3616266" y="3678640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8EF934F-4F8B-E8FD-0D15-367D5409A8CF}"/>
              </a:ext>
            </a:extLst>
          </p:cNvPr>
          <p:cNvSpPr txBox="1"/>
          <p:nvPr/>
        </p:nvSpPr>
        <p:spPr>
          <a:xfrm>
            <a:off x="2990053" y="391506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41" name="Freeform 42">
            <a:extLst>
              <a:ext uri="{FF2B5EF4-FFF2-40B4-BE49-F238E27FC236}">
                <a16:creationId xmlns:a16="http://schemas.microsoft.com/office/drawing/2014/main" id="{C141C670-E63E-40CA-C541-669FA7FC1A04}"/>
              </a:ext>
            </a:extLst>
          </p:cNvPr>
          <p:cNvSpPr>
            <a:spLocks/>
          </p:cNvSpPr>
          <p:nvPr/>
        </p:nvSpPr>
        <p:spPr bwMode="blackWhite">
          <a:xfrm>
            <a:off x="3841310" y="2583086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C1711DA-1090-F2BF-A414-C27D4C27A8D1}"/>
              </a:ext>
            </a:extLst>
          </p:cNvPr>
          <p:cNvSpPr/>
          <p:nvPr/>
        </p:nvSpPr>
        <p:spPr bwMode="auto">
          <a:xfrm rot="16200000">
            <a:off x="2958578" y="2682848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C24B21F-5D0A-7F77-46BA-679E5BD30CE1}"/>
              </a:ext>
            </a:extLst>
          </p:cNvPr>
          <p:cNvCxnSpPr>
            <a:cxnSpLocks/>
            <a:stCxn id="43" idx="2"/>
          </p:cNvCxnSpPr>
          <p:nvPr/>
        </p:nvCxnSpPr>
        <p:spPr bwMode="auto">
          <a:xfrm>
            <a:off x="3393514" y="2797054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33BD679-C8CF-2F84-925A-490DA7A85CC5}"/>
              </a:ext>
            </a:extLst>
          </p:cNvPr>
          <p:cNvSpPr txBox="1"/>
          <p:nvPr/>
        </p:nvSpPr>
        <p:spPr>
          <a:xfrm>
            <a:off x="2993287" y="2075997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C9E77EA-A6F7-CEB2-ED20-3DC803FD5C29}"/>
              </a:ext>
            </a:extLst>
          </p:cNvPr>
          <p:cNvCxnSpPr>
            <a:cxnSpLocks/>
            <a:endCxn id="43" idx="3"/>
          </p:cNvCxnSpPr>
          <p:nvPr/>
        </p:nvCxnSpPr>
        <p:spPr bwMode="auto">
          <a:xfrm flipH="1">
            <a:off x="3279308" y="2324004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684B541C-76B8-7147-04CF-E8A3B8CF42C5}"/>
              </a:ext>
            </a:extLst>
          </p:cNvPr>
          <p:cNvCxnSpPr>
            <a:cxnSpLocks/>
          </p:cNvCxnSpPr>
          <p:nvPr/>
        </p:nvCxnSpPr>
        <p:spPr bwMode="auto">
          <a:xfrm>
            <a:off x="3539851" y="5529005"/>
            <a:ext cx="0" cy="40713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0658FEA-9A06-616E-3A2C-FECD805E808B}"/>
              </a:ext>
            </a:extLst>
          </p:cNvPr>
          <p:cNvSpPr/>
          <p:nvPr/>
        </p:nvSpPr>
        <p:spPr bwMode="auto">
          <a:xfrm>
            <a:off x="2889047" y="5923177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1" hangingPunct="1"/>
            <a:r>
              <a:rPr lang="es-ES_tradnl" sz="1400" noProof="0" dirty="0">
                <a:solidFill>
                  <a:srgbClr val="000000"/>
                </a:solidFill>
              </a:rPr>
              <a:t>Branch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B8770716-5DDA-7D1F-7B7E-C51FF91016AF}"/>
              </a:ext>
            </a:extLst>
          </p:cNvPr>
          <p:cNvCxnSpPr>
            <a:cxnSpLocks/>
          </p:cNvCxnSpPr>
          <p:nvPr/>
        </p:nvCxnSpPr>
        <p:spPr bwMode="auto">
          <a:xfrm>
            <a:off x="3229430" y="5529005"/>
            <a:ext cx="0" cy="394172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35B3A73-9829-3B02-52F8-C6FA97D281F5}"/>
              </a:ext>
            </a:extLst>
          </p:cNvPr>
          <p:cNvSpPr txBox="1"/>
          <p:nvPr/>
        </p:nvSpPr>
        <p:spPr>
          <a:xfrm>
            <a:off x="1547664" y="5970766"/>
            <a:ext cx="117770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_tradnl" sz="1600" b="1" noProof="0" dirty="0" err="1">
                <a:solidFill>
                  <a:srgbClr val="FF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TipoInst</a:t>
            </a:r>
            <a:endParaRPr lang="es-ES_tradnl" sz="1600" b="1" noProof="0" dirty="0">
              <a:solidFill>
                <a:srgbClr val="FF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91F06A03-A511-F740-052F-C5B6BD25D2D0}"/>
              </a:ext>
            </a:extLst>
          </p:cNvPr>
          <p:cNvCxnSpPr>
            <a:cxnSpLocks/>
            <a:endCxn id="49" idx="1"/>
          </p:cNvCxnSpPr>
          <p:nvPr/>
        </p:nvCxnSpPr>
        <p:spPr bwMode="auto">
          <a:xfrm>
            <a:off x="2668067" y="6152253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0524095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9DEA-350D-2DCA-02EA-C9383900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E2BBB-3446-E9DC-3B90-3F832629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3 Marcador de contenido">
            <a:extLst>
              <a:ext uri="{FF2B5EF4-FFF2-40B4-BE49-F238E27FC236}">
                <a16:creationId xmlns:a16="http://schemas.microsoft.com/office/drawing/2014/main" id="{6636FD3B-E384-9326-005E-4E05AA617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ctr">
              <a:buNone/>
            </a:pP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rs1, rs2, inm</a:t>
            </a:r>
            <a:r>
              <a:rPr lang="es-ES_tradnl" baseline="-25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Cómo </a:t>
            </a:r>
            <a:r>
              <a:rPr lang="es-ES_tradnl" sz="2000" dirty="0">
                <a:latin typeface="Arial" panose="020B0604020202020204" pitchFamily="34" charset="0"/>
                <a:cs typeface="Arial" panose="020B0604020202020204" pitchFamily="34" charset="0"/>
              </a:rPr>
              <a:t>llevar la dirección de salto al </a:t>
            </a: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contador de programa: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ACCB40-8E19-7A4E-EA27-EF8C3586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63</a:t>
            </a:fld>
            <a:endParaRPr lang="es-ES_tradnl" noProof="0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006377E-11BD-332B-C95D-3274EA46AEB3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40157DF-97B7-AD27-069F-22C6DDBA9EE3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F927850-C2E7-3B77-1A4C-16BE4A34CD41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Freeform 42">
            <a:extLst>
              <a:ext uri="{FF2B5EF4-FFF2-40B4-BE49-F238E27FC236}">
                <a16:creationId xmlns:a16="http://schemas.microsoft.com/office/drawing/2014/main" id="{B3D1215E-0959-9834-1538-827BDBC1148C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28882923-1BFB-6766-4249-5172FD997D8D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ector angular 40">
            <a:extLst>
              <a:ext uri="{FF2B5EF4-FFF2-40B4-BE49-F238E27FC236}">
                <a16:creationId xmlns:a16="http://schemas.microsoft.com/office/drawing/2014/main" id="{B1265CF3-DD17-2196-BCFD-2C1F401D2DF7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3042C5E-C462-F34A-37BB-EA1434CB02AC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4375816-808C-91A7-FAA8-9825E1D9C4B0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A09B431-44CB-2F17-AEA3-A95927BB967E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7D17AD8-35D6-02A9-BF3A-ACDA6A2E3429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BE485C9-EE04-D51B-863C-4413E3701EB4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1E10433D-3F77-5A4F-86AF-BC7931F1B54B}"/>
              </a:ext>
            </a:extLst>
          </p:cNvPr>
          <p:cNvCxnSpPr>
            <a:cxnSpLocks/>
            <a:stCxn id="101" idx="1"/>
          </p:cNvCxnSpPr>
          <p:nvPr/>
        </p:nvCxnSpPr>
        <p:spPr bwMode="auto">
          <a:xfrm flipH="1">
            <a:off x="6915337" y="3761349"/>
            <a:ext cx="3853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5DAD3431-AD96-839B-CF6E-49DBA32D145C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61953F02-F6A4-6015-979C-7C3FBC384DE0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22B67291-E5DA-5B46-283D-F2D70384F18D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0C8D8C61-322C-BD3C-0509-C15437983064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3CE17A6B-1AE4-7679-4202-3165A6F47B2E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7" name="Conector recto de flecha 106">
            <a:extLst>
              <a:ext uri="{FF2B5EF4-FFF2-40B4-BE49-F238E27FC236}">
                <a16:creationId xmlns:a16="http://schemas.microsoft.com/office/drawing/2014/main" id="{B544804B-5B16-C68D-A2F3-00B9D8296D6B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C5685E98-F7FE-CD19-C2F3-09E9DD1EDA00}"/>
              </a:ext>
            </a:extLst>
          </p:cNvPr>
          <p:cNvCxnSpPr>
            <a:cxnSpLocks/>
            <a:stCxn id="110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4A918B46-56D4-A660-49E7-48CE28B39768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A652680A-4994-354D-E578-846B5C3389F1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52D7D4E9-53D2-0352-1F29-FC11017089D9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112" name="Conector recto 253">
            <a:extLst>
              <a:ext uri="{FF2B5EF4-FFF2-40B4-BE49-F238E27FC236}">
                <a16:creationId xmlns:a16="http://schemas.microsoft.com/office/drawing/2014/main" id="{82898682-14A0-43AC-B844-94AD2F937E6B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142 Triángulo isósceles">
            <a:extLst>
              <a:ext uri="{FF2B5EF4-FFF2-40B4-BE49-F238E27FC236}">
                <a16:creationId xmlns:a16="http://schemas.microsoft.com/office/drawing/2014/main" id="{60C8231F-9E7D-C5DA-41A8-E14730C27B42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18" name="Freeform 42">
            <a:extLst>
              <a:ext uri="{FF2B5EF4-FFF2-40B4-BE49-F238E27FC236}">
                <a16:creationId xmlns:a16="http://schemas.microsoft.com/office/drawing/2014/main" id="{9BDEB359-8A9A-38F5-AF88-5645FD90674D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cxnSp>
        <p:nvCxnSpPr>
          <p:cNvPr id="135" name="Conector recto 134">
            <a:extLst>
              <a:ext uri="{FF2B5EF4-FFF2-40B4-BE49-F238E27FC236}">
                <a16:creationId xmlns:a16="http://schemas.microsoft.com/office/drawing/2014/main" id="{1A114E43-00B8-C5C8-F433-FE0BD5926C43}"/>
              </a:ext>
            </a:extLst>
          </p:cNvPr>
          <p:cNvCxnSpPr>
            <a:cxnSpLocks/>
            <a:endCxn id="101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785081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FB3362F-B33A-796A-A695-8D4CE1FA89D1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ítulo 7">
            <a:extLst>
              <a:ext uri="{FF2B5EF4-FFF2-40B4-BE49-F238E27FC236}">
                <a16:creationId xmlns:a16="http://schemas.microsoft.com/office/drawing/2014/main" id="{43B9F119-8F55-4562-55BC-8BFC165A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datos: Salto condicional (</a:t>
            </a:r>
            <a:r>
              <a:rPr lang="es-ES_tradnl" noProof="0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_tradnl" noProof="0" dirty="0"/>
          </a:p>
        </p:txBody>
      </p: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64168C08-7E86-4185-5F31-F79C03AD0498}"/>
              </a:ext>
            </a:extLst>
          </p:cNvPr>
          <p:cNvGrpSpPr/>
          <p:nvPr/>
        </p:nvGrpSpPr>
        <p:grpSpPr>
          <a:xfrm>
            <a:off x="1028192" y="1021617"/>
            <a:ext cx="7773194" cy="5564188"/>
            <a:chOff x="1028192" y="1021617"/>
            <a:chExt cx="7773194" cy="5564188"/>
          </a:xfrm>
        </p:grpSpPr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/>
            <p:nvPr/>
          </p:nvCxnSpPr>
          <p:spPr bwMode="auto">
            <a:xfrm rot="16200000" flipH="1">
              <a:off x="1735218" y="3570581"/>
              <a:ext cx="303852" cy="2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C6130B9B-6FD9-A989-D18C-D70425B3CB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9429" y="4280090"/>
              <a:ext cx="627629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4002829" y="3352614"/>
              <a:ext cx="989791" cy="136732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9512" y="4330205"/>
              <a:ext cx="837516" cy="30385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_tradnl" sz="1400" noProof="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8270" y="4634055"/>
              <a:ext cx="0" cy="392147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8771" y="2848062"/>
              <a:ext cx="379812" cy="76137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_tradnl" noProof="0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15071" y="3256682"/>
              <a:ext cx="2050986" cy="989791"/>
            </a:xfrm>
            <a:prstGeom prst="bentConnector3">
              <a:avLst>
                <a:gd name="adj1" fmla="val -206"/>
              </a:avLst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8192" y="2735459"/>
              <a:ext cx="620999" cy="301476"/>
            </a:xfrm>
            <a:prstGeom prst="bentConnector3">
              <a:avLst>
                <a:gd name="adj1" fmla="val 99808"/>
              </a:avLst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21415" y="2844708"/>
              <a:ext cx="379812" cy="8460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75083" y="2356536"/>
              <a:ext cx="284283" cy="306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400" noProof="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15645" y="5355347"/>
              <a:ext cx="835587" cy="30455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70339" y="5507623"/>
              <a:ext cx="410824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6748" y="1097579"/>
              <a:ext cx="1294343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85714" y="5507623"/>
              <a:ext cx="19000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75721" y="1536677"/>
              <a:ext cx="0" cy="3988028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6059" y="1553354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51091" y="1325467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51091" y="1781241"/>
              <a:ext cx="380689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13674" y="1398461"/>
              <a:ext cx="363905" cy="30681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_tradnl" sz="1400" b="1" noProof="0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7917" y="1021617"/>
              <a:ext cx="380689" cy="911549"/>
            </a:xfrm>
            <a:prstGeom prst="rightBrace">
              <a:avLst/>
            </a:prstGeom>
            <a:noFill/>
            <a:ln w="38100" cmpd="sng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8606" y="1246537"/>
              <a:ext cx="969345" cy="56454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_tradnl" sz="1400" i="1" noProof="0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93220" y="614987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7514" y="6187063"/>
              <a:ext cx="55180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83484" y="4278255"/>
              <a:ext cx="533529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PCin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6059" y="3528378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6183" y="3183547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6183" y="3620721"/>
              <a:ext cx="781948" cy="245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7698" y="322802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6059" y="3906607"/>
              <a:ext cx="609102" cy="158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  <a:stCxn id="4" idx="3"/>
            </p:cNvCxnSpPr>
            <p:nvPr/>
          </p:nvCxnSpPr>
          <p:spPr bwMode="auto">
            <a:xfrm>
              <a:off x="5171432" y="3535481"/>
              <a:ext cx="578689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  <a:stCxn id="31" idx="3"/>
            </p:cNvCxnSpPr>
            <p:nvPr/>
          </p:nvCxnSpPr>
          <p:spPr bwMode="auto">
            <a:xfrm flipV="1">
              <a:off x="5480347" y="3909847"/>
              <a:ext cx="275629" cy="2142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7665" y="5120060"/>
              <a:ext cx="52704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91551" y="4848225"/>
              <a:ext cx="49725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>
                  <a:solidFill>
                    <a:schemeClr val="accent1">
                      <a:lumMod val="75000"/>
                    </a:schemeClr>
                  </a:solidFill>
                </a:rPr>
                <a:t>31..0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  <a:stCxn id="51" idx="3"/>
            </p:cNvCxnSpPr>
            <p:nvPr/>
          </p:nvCxnSpPr>
          <p:spPr bwMode="auto">
            <a:xfrm>
              <a:off x="5034943" y="5089830"/>
              <a:ext cx="242677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41527" y="5082079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63480" y="2872811"/>
              <a:ext cx="568922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7485" y="4272148"/>
              <a:ext cx="0" cy="81768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5922" y="4284473"/>
              <a:ext cx="497178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82727" y="4119459"/>
              <a:ext cx="437123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72057" y="4440190"/>
              <a:ext cx="0" cy="173229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4073" y="423462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  <a:stCxn id="115" idx="3"/>
            </p:cNvCxnSpPr>
            <p:nvPr/>
          </p:nvCxnSpPr>
          <p:spPr bwMode="auto">
            <a:xfrm flipV="1">
              <a:off x="7376831" y="3757848"/>
              <a:ext cx="931265" cy="3501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201286" y="4310585"/>
              <a:ext cx="714051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OpALU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5073" y="4547013"/>
              <a:ext cx="4828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MxB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6600" y="4439927"/>
              <a:ext cx="837516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8409" y="4895701"/>
              <a:ext cx="173997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92600" y="4098094"/>
              <a:ext cx="683662" cy="1587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4182" y="4821322"/>
              <a:ext cx="1373786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4453" y="55397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7417" y="553979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32244" y="5623675"/>
              <a:ext cx="628760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LMem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41457" y="5623675"/>
              <a:ext cx="637394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>
                  <a:solidFill>
                    <a:srgbClr val="FF6600"/>
                  </a:solidFill>
                </a:rPr>
                <a:t>EMem</a:t>
              </a: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42B339BE-3101-126E-0C24-57E91030CA7A}"/>
                </a:ext>
              </a:extLst>
            </p:cNvPr>
            <p:cNvCxnSpPr/>
            <p:nvPr/>
          </p:nvCxnSpPr>
          <p:spPr bwMode="auto">
            <a:xfrm rot="16200000" flipH="1">
              <a:off x="4558043" y="3228027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ACC943C9-E9EB-B4D9-9D33-17A76632EA01}"/>
                </a:ext>
              </a:extLst>
            </p:cNvPr>
            <p:cNvSpPr txBox="1"/>
            <p:nvPr/>
          </p:nvSpPr>
          <p:spPr>
            <a:xfrm>
              <a:off x="4420748" y="2878510"/>
              <a:ext cx="577556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EReg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34C702F-50D0-A7E7-CFF5-E3781BC88C01}"/>
                </a:ext>
              </a:extLst>
            </p:cNvPr>
            <p:cNvSpPr/>
            <p:nvPr/>
          </p:nvSpPr>
          <p:spPr bwMode="auto">
            <a:xfrm rot="16200000">
              <a:off x="8118494" y="3810863"/>
              <a:ext cx="641459" cy="22841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7325" y="4078579"/>
              <a:ext cx="517691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4989" y="4481083"/>
              <a:ext cx="836378" cy="79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DF8F9B35-B436-A80A-B3D6-86E091D60E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553430" y="3908190"/>
              <a:ext cx="247956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0E1D9292-209D-1E0B-5321-51566E1BA7A6}"/>
                </a:ext>
              </a:extLst>
            </p:cNvPr>
            <p:cNvCxnSpPr/>
            <p:nvPr/>
          </p:nvCxnSpPr>
          <p:spPr bwMode="auto">
            <a:xfrm rot="5400000">
              <a:off x="7453293" y="5237532"/>
              <a:ext cx="2657894" cy="793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532239C-4989-D979-24A7-FF9DC7695E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8335" y="6566875"/>
              <a:ext cx="5270672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9D99C29B-956C-3237-2A3D-934BE0EDABC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27541" y="4553810"/>
              <a:ext cx="0" cy="2031995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prstDash val="solid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5ADCB208-4F0C-B00B-C232-7C2F18D83E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6463" y="4572072"/>
              <a:ext cx="468723" cy="0"/>
            </a:xfrm>
            <a:prstGeom prst="line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6AD2A95-BA4A-03A1-E6B2-4A02C80DA939}"/>
                </a:ext>
              </a:extLst>
            </p:cNvPr>
            <p:cNvSpPr txBox="1"/>
            <p:nvPr/>
          </p:nvSpPr>
          <p:spPr>
            <a:xfrm>
              <a:off x="6867522" y="6306081"/>
              <a:ext cx="552905" cy="260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i="1" noProof="0" dirty="0">
                  <a:solidFill>
                    <a:schemeClr val="accent1">
                      <a:lumMod val="75000"/>
                    </a:schemeClr>
                  </a:solidFill>
                </a:rPr>
                <a:t>Datos</a:t>
              </a:r>
            </a:p>
          </p:txBody>
        </p: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DCBA28B-D9D5-788C-B08B-FDA89479ABE5}"/>
                </a:ext>
              </a:extLst>
            </p:cNvPr>
            <p:cNvCxnSpPr/>
            <p:nvPr/>
          </p:nvCxnSpPr>
          <p:spPr bwMode="auto">
            <a:xfrm rot="16200000" flipH="1">
              <a:off x="8321768" y="3488811"/>
              <a:ext cx="226304" cy="1587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09604B98-0189-D53C-6DE5-CE3E1AEBDC74}"/>
                </a:ext>
              </a:extLst>
            </p:cNvPr>
            <p:cNvSpPr txBox="1"/>
            <p:nvPr/>
          </p:nvSpPr>
          <p:spPr>
            <a:xfrm>
              <a:off x="8127347" y="3112978"/>
              <a:ext cx="611717" cy="2761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MxER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300693" y="372336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04B3D1EF-697B-31DE-2D04-FD47434989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51093" y="2009129"/>
              <a:ext cx="2964195" cy="0"/>
            </a:xfrm>
            <a:prstGeom prst="line">
              <a:avLst/>
            </a:prstGeom>
            <a:ln w="38100" cmpd="sng">
              <a:solidFill>
                <a:srgbClr val="26697A"/>
              </a:solidFill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9" name="Rectángulo 128">
              <a:extLst>
                <a:ext uri="{FF2B5EF4-FFF2-40B4-BE49-F238E27FC236}">
                  <a16:creationId xmlns:a16="http://schemas.microsoft.com/office/drawing/2014/main" id="{0A883C23-4798-9EC4-4884-44512D29CE3E}"/>
                </a:ext>
              </a:extLst>
            </p:cNvPr>
            <p:cNvSpPr/>
            <p:nvPr/>
          </p:nvSpPr>
          <p:spPr bwMode="auto">
            <a:xfrm>
              <a:off x="1701026" y="3722505"/>
              <a:ext cx="642940" cy="227887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_tradnl" sz="1200" noProof="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7755FA51-9CE0-1472-A10E-783BEB90DD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57450" y="2470150"/>
              <a:ext cx="4881312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41828583-D2C7-EB56-A6BC-B8970F3021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2405" y="2476500"/>
              <a:ext cx="0" cy="748028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CE591FFD-6BB6-3AB8-1C46-DF3D29F5B1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15465" y="3226111"/>
              <a:ext cx="266482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Conector recto de flecha 134">
              <a:extLst>
                <a:ext uri="{FF2B5EF4-FFF2-40B4-BE49-F238E27FC236}">
                  <a16:creationId xmlns:a16="http://schemas.microsoft.com/office/drawing/2014/main" id="{C9E8B334-0CA2-001F-2622-4FE8C08225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33992" y="3233962"/>
              <a:ext cx="0" cy="481887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D342DD75-AC65-B127-ADE2-524BB0D2F294}"/>
                </a:ext>
              </a:extLst>
            </p:cNvPr>
            <p:cNvCxnSpPr>
              <a:cxnSpLocks/>
              <a:stCxn id="139" idx="2"/>
            </p:cNvCxnSpPr>
            <p:nvPr/>
          </p:nvCxnSpPr>
          <p:spPr bwMode="auto">
            <a:xfrm flipV="1">
              <a:off x="1402821" y="3844341"/>
              <a:ext cx="286036" cy="381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8FCE9F96-1AAD-6C9E-25FA-85A50E931409}"/>
                </a:ext>
              </a:extLst>
            </p:cNvPr>
            <p:cNvCxnSpPr/>
            <p:nvPr/>
          </p:nvCxnSpPr>
          <p:spPr bwMode="auto">
            <a:xfrm rot="5400000">
              <a:off x="1830477" y="4138186"/>
              <a:ext cx="379812" cy="4227"/>
            </a:xfrm>
            <a:prstGeom prst="straightConnector1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CuadroTexto 138">
              <a:extLst>
                <a:ext uri="{FF2B5EF4-FFF2-40B4-BE49-F238E27FC236}">
                  <a16:creationId xmlns:a16="http://schemas.microsoft.com/office/drawing/2014/main" id="{0E5BD531-8833-B323-A9C3-6F01F0A0987D}"/>
                </a:ext>
              </a:extLst>
            </p:cNvPr>
            <p:cNvSpPr txBox="1"/>
            <p:nvPr/>
          </p:nvSpPr>
          <p:spPr>
            <a:xfrm rot="16200000">
              <a:off x="959280" y="3706336"/>
              <a:ext cx="610308" cy="276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MxPC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76080" y="4482130"/>
              <a:ext cx="226827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8965" y="4432653"/>
              <a:ext cx="117331" cy="117638"/>
            </a:xfrm>
            <a:prstGeom prst="triangle">
              <a:avLst/>
            </a:prstGeom>
            <a:noFill/>
            <a:ln w="9525">
              <a:solidFill>
                <a:srgbClr val="C0000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13187" y="3355770"/>
              <a:ext cx="117602" cy="117367"/>
            </a:xfrm>
            <a:prstGeom prst="triangle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41527" y="386668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7652" y="3491616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9979" y="4861942"/>
              <a:ext cx="1084964" cy="45577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200" noProof="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6330" y="3215031"/>
              <a:ext cx="494896" cy="1165488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r>
                <a:rPr lang="es-ES_tradnl" sz="1400" noProof="0" dirty="0"/>
                <a:t>ALU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34399" y="5013867"/>
              <a:ext cx="1235940" cy="98751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_tradnl" sz="1400" noProof="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6644A2C-08FF-B0BF-3710-646F4C829F74}"/>
                </a:ext>
              </a:extLst>
            </p:cNvPr>
            <p:cNvSpPr txBox="1"/>
            <p:nvPr/>
          </p:nvSpPr>
          <p:spPr>
            <a:xfrm>
              <a:off x="3320997" y="4007975"/>
              <a:ext cx="77713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11..7 (</a:t>
              </a:r>
              <a:r>
                <a:rPr lang="es-ES_tradnl" sz="1000" i="1" noProof="0" dirty="0" err="1">
                  <a:solidFill>
                    <a:schemeClr val="accent1">
                      <a:lumMod val="75000"/>
                    </a:schemeClr>
                  </a:solidFill>
                </a:rPr>
                <a:t>rd</a:t>
              </a:r>
              <a:r>
                <a:rPr lang="es-ES_tradnl" sz="1000" i="1" noProof="0" dirty="0">
                  <a:solidFill>
                    <a:schemeClr val="accent1">
                      <a:lumMod val="75000"/>
                    </a:schemeClr>
                  </a:solidFill>
                </a:rPr>
                <a:t>)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F3971B-F4CC-F915-2369-9744B2F17925}"/>
                </a:ext>
              </a:extLst>
            </p:cNvPr>
            <p:cNvSpPr/>
            <p:nvPr/>
          </p:nvSpPr>
          <p:spPr bwMode="auto">
            <a:xfrm>
              <a:off x="3356717" y="4234048"/>
              <a:ext cx="76200" cy="76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167" name="Conector angular 34">
              <a:extLst>
                <a:ext uri="{FF2B5EF4-FFF2-40B4-BE49-F238E27FC236}">
                  <a16:creationId xmlns:a16="http://schemas.microsoft.com/office/drawing/2014/main" id="{364B2E2B-6A3F-F626-F3F1-EA9B3D6BF7EF}"/>
                </a:ext>
              </a:extLst>
            </p:cNvPr>
            <p:cNvCxnSpPr>
              <a:cxnSpLocks/>
              <a:stCxn id="140" idx="3"/>
            </p:cNvCxnSpPr>
            <p:nvPr/>
          </p:nvCxnSpPr>
          <p:spPr bwMode="auto">
            <a:xfrm flipV="1">
              <a:off x="2053306" y="2774950"/>
              <a:ext cx="940049" cy="2006808"/>
            </a:xfrm>
            <a:prstGeom prst="bentConnector2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D5707A8-27B9-774F-BA76-4139462276FD}"/>
                </a:ext>
              </a:extLst>
            </p:cNvPr>
            <p:cNvSpPr/>
            <p:nvPr/>
          </p:nvSpPr>
          <p:spPr bwMode="auto">
            <a:xfrm>
              <a:off x="4792980" y="5767388"/>
              <a:ext cx="881029" cy="458151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457200" eaLnBrk="1" hangingPunct="1"/>
              <a:r>
                <a:rPr lang="es-ES_tradnl" sz="1400" noProof="0" dirty="0">
                  <a:solidFill>
                    <a:srgbClr val="000000"/>
                  </a:solidFill>
                </a:rPr>
                <a:t>Branch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710D123D-900E-210C-23F1-675981960F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33363" y="3573462"/>
              <a:ext cx="0" cy="2193926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8960C0BA-88CE-B7F5-581F-DA8C98418B6D}"/>
                </a:ext>
              </a:extLst>
            </p:cNvPr>
            <p:cNvSpPr txBox="1"/>
            <p:nvPr/>
          </p:nvSpPr>
          <p:spPr>
            <a:xfrm>
              <a:off x="3851920" y="5857963"/>
              <a:ext cx="7830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TipoInst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741610FD-7CC7-42CA-4D32-7C029CF22DF7}"/>
                </a:ext>
              </a:extLst>
            </p:cNvPr>
            <p:cNvCxnSpPr>
              <a:cxnSpLocks/>
              <a:endCxn id="3" idx="1"/>
            </p:cNvCxnSpPr>
            <p:nvPr/>
          </p:nvCxnSpPr>
          <p:spPr bwMode="auto">
            <a:xfrm>
              <a:off x="4572000" y="5996464"/>
              <a:ext cx="220980" cy="0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B28175A1-3533-3C0C-BF60-00ED337D8A37}"/>
                </a:ext>
              </a:extLst>
            </p:cNvPr>
            <p:cNvCxnSpPr>
              <a:cxnSpLocks/>
              <a:stCxn id="3" idx="3"/>
            </p:cNvCxnSpPr>
            <p:nvPr/>
          </p:nvCxnSpPr>
          <p:spPr bwMode="auto">
            <a:xfrm>
              <a:off x="5674009" y="5996464"/>
              <a:ext cx="2341279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89D783EE-67E1-51D1-5DDF-D03D4851D6E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996238" y="1987550"/>
              <a:ext cx="0" cy="4008912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91C5B777-4995-CFD4-35C4-4BFED4D640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33494" y="3283805"/>
              <a:ext cx="516627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07392EC3-BC50-96C5-20BE-7BE3295A2C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78534" y="3428999"/>
              <a:ext cx="454279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Conector angular 34">
              <a:extLst>
                <a:ext uri="{FF2B5EF4-FFF2-40B4-BE49-F238E27FC236}">
                  <a16:creationId xmlns:a16="http://schemas.microsoft.com/office/drawing/2014/main" id="{6C30FB34-01EA-2503-B06F-A4A2F5208F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82141" y="2774950"/>
              <a:ext cx="2273781" cy="508855"/>
            </a:xfrm>
            <a:prstGeom prst="bentConnector3">
              <a:avLst>
                <a:gd name="adj1" fmla="val 94963"/>
              </a:avLst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4" name="Conector recto 183">
              <a:extLst>
                <a:ext uri="{FF2B5EF4-FFF2-40B4-BE49-F238E27FC236}">
                  <a16:creationId xmlns:a16="http://schemas.microsoft.com/office/drawing/2014/main" id="{F1287000-D2FC-8EFC-A2EB-C89F1AF56C85}"/>
                </a:ext>
              </a:extLst>
            </p:cNvPr>
            <p:cNvCxnSpPr>
              <a:cxnSpLocks/>
              <a:endCxn id="115" idx="0"/>
            </p:cNvCxnSpPr>
            <p:nvPr/>
          </p:nvCxnSpPr>
          <p:spPr bwMode="auto">
            <a:xfrm>
              <a:off x="7338762" y="2451100"/>
              <a:ext cx="0" cy="1272268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934A57D5-85D8-40F6-C283-FE071633789A}"/>
                </a:ext>
              </a:extLst>
            </p:cNvPr>
            <p:cNvSpPr txBox="1"/>
            <p:nvPr/>
          </p:nvSpPr>
          <p:spPr>
            <a:xfrm>
              <a:off x="5578307" y="2707942"/>
              <a:ext cx="4844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200" b="1" noProof="0" dirty="0" err="1">
                  <a:solidFill>
                    <a:srgbClr val="FF6600"/>
                  </a:solidFill>
                </a:rPr>
                <a:t>MxA</a:t>
              </a:r>
              <a:endParaRPr lang="es-ES_tradnl" sz="1200" b="1" noProof="0" dirty="0">
                <a:solidFill>
                  <a:srgbClr val="FF6600"/>
                </a:solidFill>
              </a:endParaRPr>
            </a:p>
          </p:txBody>
        </p:sp>
        <p:cxnSp>
          <p:nvCxnSpPr>
            <p:cNvPr id="216" name="Conector recto 215">
              <a:extLst>
                <a:ext uri="{FF2B5EF4-FFF2-40B4-BE49-F238E27FC236}">
                  <a16:creationId xmlns:a16="http://schemas.microsoft.com/office/drawing/2014/main" id="{BE22B97B-018A-F844-3B23-A4201D82F27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864328" y="2955949"/>
              <a:ext cx="8351" cy="152321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BCAC198B-629A-B0C8-883A-729282CCAD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91608" y="3535481"/>
              <a:ext cx="147854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69E4F25-1158-CDF5-A0D5-9F8570C40F5F}"/>
                </a:ext>
              </a:extLst>
            </p:cNvPr>
            <p:cNvSpPr/>
            <p:nvPr/>
          </p:nvSpPr>
          <p:spPr bwMode="auto">
            <a:xfrm>
              <a:off x="5095294" y="3497500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FBFCDB7F-0D78-EAB5-A81B-2C534D212154}"/>
                </a:ext>
              </a:extLst>
            </p:cNvPr>
            <p:cNvCxnSpPr>
              <a:cxnSpLocks/>
              <a:endCxn id="31" idx="1"/>
            </p:cNvCxnSpPr>
            <p:nvPr/>
          </p:nvCxnSpPr>
          <p:spPr bwMode="auto">
            <a:xfrm>
              <a:off x="5004048" y="3911989"/>
              <a:ext cx="400161" cy="0"/>
            </a:xfrm>
            <a:prstGeom prst="line">
              <a:avLst/>
            </a:prstGeom>
            <a:ln w="38100" cmpd="sng">
              <a:solidFill>
                <a:srgbClr val="26697A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5056487F-849D-0CD4-515E-5060A72FBB80}"/>
                </a:ext>
              </a:extLst>
            </p:cNvPr>
            <p:cNvSpPr/>
            <p:nvPr/>
          </p:nvSpPr>
          <p:spPr bwMode="auto">
            <a:xfrm>
              <a:off x="5404209" y="3874008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C343F058-46C1-4D07-4CC1-1060C05FA29D}"/>
                </a:ext>
              </a:extLst>
            </p:cNvPr>
            <p:cNvSpPr/>
            <p:nvPr/>
          </p:nvSpPr>
          <p:spPr bwMode="auto">
            <a:xfrm>
              <a:off x="5403568" y="4777071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7168" y="4743777"/>
              <a:ext cx="76138" cy="759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6697A"/>
              </a:solidFill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/>
            </a:p>
          </p:txBody>
        </p:sp>
      </p:grp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FEC8063A-F56A-2E2D-E328-CED3C2F6D43E}"/>
              </a:ext>
            </a:extLst>
          </p:cNvPr>
          <p:cNvCxnSpPr>
            <a:cxnSpLocks/>
            <a:endCxn id="115" idx="1"/>
          </p:cNvCxnSpPr>
          <p:nvPr/>
        </p:nvCxnSpPr>
        <p:spPr bwMode="auto">
          <a:xfrm>
            <a:off x="6948264" y="3761349"/>
            <a:ext cx="35242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8D31A537-F122-467C-2ACB-806299D8C6D6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83E13C-D7FD-E3FD-2A8C-C020904CA3E5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8F2EC95-D667-04B9-A1CC-B45255A5D1AF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  <p:extLst>
      <p:ext uri="{BB962C8B-B14F-4D97-AF65-F5344CB8AC3E}">
        <p14:creationId xmlns:p14="http://schemas.microsoft.com/office/powerpoint/2010/main" val="1076569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E2B59E34-856D-7344-CA46-14ED0D1AB7E5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7" name="Conector recto de flecha 136">
            <a:extLst>
              <a:ext uri="{FF2B5EF4-FFF2-40B4-BE49-F238E27FC236}">
                <a16:creationId xmlns:a16="http://schemas.microsoft.com/office/drawing/2014/main" id="{83189786-2CA6-EB3E-0157-333B929CC6AC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C6130B9B-6FD9-A989-D18C-D70425B3CB87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41AC572-37B5-D855-D931-3B36DFB15BC9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7277D75-E2AC-C061-0855-BA25D519F43C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B22A848-F831-69F9-0F65-0188800FB613}"/>
              </a:ext>
            </a:extLst>
          </p:cNvPr>
          <p:cNvCxnSpPr>
            <a:cxnSpLocks/>
            <a:stCxn id="15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Freeform 42">
            <a:extLst>
              <a:ext uri="{FF2B5EF4-FFF2-40B4-BE49-F238E27FC236}">
                <a16:creationId xmlns:a16="http://schemas.microsoft.com/office/drawing/2014/main" id="{5471C6B8-DC7F-0EC7-A202-7F1529577731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35" name="Conector angular 34">
            <a:extLst>
              <a:ext uri="{FF2B5EF4-FFF2-40B4-BE49-F238E27FC236}">
                <a16:creationId xmlns:a16="http://schemas.microsoft.com/office/drawing/2014/main" id="{930A7FDB-8D62-E372-1BDD-D4513AFF81CB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39">
            <a:extLst>
              <a:ext uri="{FF2B5EF4-FFF2-40B4-BE49-F238E27FC236}">
                <a16:creationId xmlns:a16="http://schemas.microsoft.com/office/drawing/2014/main" id="{6C42E503-8E05-19BA-BDF4-CE6BAA714C5B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23B391B-F79E-60D3-3A53-2ABF19289549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817F011-9DB8-680E-04A3-53C358FB76E9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4A9BF15-76C9-A22F-4FD5-E99560C8A376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17CB8F4-2757-9F40-7F4F-A90D70E344F2}"/>
              </a:ext>
            </a:extLst>
          </p:cNvPr>
          <p:cNvCxnSpPr>
            <a:cxnSpLocks/>
            <a:stCxn id="16" idx="3"/>
            <a:endCxn id="55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1D1F49A-3558-8500-DF3E-C6C1E39D5661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8F516FA7-E01A-D587-E2CE-03FCF89906FD}"/>
              </a:ext>
            </a:extLst>
          </p:cNvPr>
          <p:cNvCxnSpPr>
            <a:cxnSpLocks/>
            <a:stCxn id="55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D7718C62-0A10-9A68-E40C-BC4A51351358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33736943-E6CA-97F9-36E8-7E8149C1256A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0DE475AD-00D2-3ADF-5CDD-2AC080143387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ector recto 202">
            <a:extLst>
              <a:ext uri="{FF2B5EF4-FFF2-40B4-BE49-F238E27FC236}">
                <a16:creationId xmlns:a16="http://schemas.microsoft.com/office/drawing/2014/main" id="{CDAE3349-9A61-846D-3965-D6DF94818B96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C6821F47-012D-A91C-4780-017905652EB8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7B138CB0-D177-C59A-3BDF-D4E0FECD3D9F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solidFill>
                  <a:srgbClr val="FF6600"/>
                </a:solidFill>
              </a:rPr>
              <a:t>…</a:t>
            </a:r>
          </a:p>
        </p:txBody>
      </p:sp>
      <p:sp>
        <p:nvSpPr>
          <p:cNvPr id="206" name="Cerrar llave 205">
            <a:extLst>
              <a:ext uri="{FF2B5EF4-FFF2-40B4-BE49-F238E27FC236}">
                <a16:creationId xmlns:a16="http://schemas.microsoft.com/office/drawing/2014/main" id="{E75C61BD-8A35-47E7-946E-233E6C85081C}"/>
              </a:ext>
            </a:extLst>
          </p:cNvPr>
          <p:cNvSpPr/>
          <p:nvPr/>
        </p:nvSpPr>
        <p:spPr bwMode="auto">
          <a:xfrm>
            <a:off x="5507917" y="1021617"/>
            <a:ext cx="380689" cy="911549"/>
          </a:xfrm>
          <a:prstGeom prst="rightBrace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838DB37B-FE62-A0C0-BBF5-E03F36FDAC2C}"/>
              </a:ext>
            </a:extLst>
          </p:cNvPr>
          <p:cNvSpPr txBox="1"/>
          <p:nvPr/>
        </p:nvSpPr>
        <p:spPr>
          <a:xfrm>
            <a:off x="5888606" y="1246537"/>
            <a:ext cx="969345" cy="564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i="1" noProof="0" dirty="0">
                <a:solidFill>
                  <a:schemeClr val="accent1">
                    <a:lumMod val="75000"/>
                  </a:schemeClr>
                </a:solidFill>
              </a:rPr>
              <a:t>Señales </a:t>
            </a:r>
          </a:p>
          <a:p>
            <a:pPr algn="l"/>
            <a:r>
              <a:rPr lang="es-ES_tradnl" sz="1400" i="1" noProof="0" dirty="0">
                <a:solidFill>
                  <a:schemeClr val="accent1">
                    <a:lumMod val="75000"/>
                  </a:schemeClr>
                </a:solidFill>
              </a:rPr>
              <a:t>de control</a:t>
            </a:r>
          </a:p>
        </p:txBody>
      </p:sp>
      <p:cxnSp>
        <p:nvCxnSpPr>
          <p:cNvPr id="248" name="Conector recto 247">
            <a:extLst>
              <a:ext uri="{FF2B5EF4-FFF2-40B4-BE49-F238E27FC236}">
                <a16:creationId xmlns:a16="http://schemas.microsoft.com/office/drawing/2014/main" id="{A317397C-55E6-38D0-0D61-3957C83E9A5A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AE36DF52-46E8-D4B7-77B2-6CD07B474701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1D8F3621-EE83-727D-2D3C-37B97B69A43D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36DEFC6-6A8D-E17B-2D10-49D30B7AA563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53D61B2-F226-338F-8B25-2A9C4746A6CA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BA78225-8407-E36C-DCBD-B1B54AA3C376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71303BB-3F99-23ED-C79A-6F5A94342819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8C7298E-FA1C-F236-CA19-90A3FAD15061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FBF19A9-C3FB-B8AB-D53E-67D7591AE6CF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0409A140-60C1-32DD-D8B9-D63C619FF912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908190"/>
            <a:ext cx="7781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16EA189-FF99-FFE9-8124-DF8E35AF234E}"/>
              </a:ext>
            </a:extLst>
          </p:cNvPr>
          <p:cNvCxnSpPr>
            <a:cxnSpLocks/>
            <a:stCxn id="57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FC7BACD-3273-B4D7-508A-CFFFC377D608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4C2F09D4-AC2D-028D-6562-0626C0C594D5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9576CF2-645B-4248-5151-F5A1C1977D3D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1AB8ADC-B798-7887-04FD-1B7F48CE25A0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45B71AE5-0F43-7F89-DC63-20CE47521FB0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3DB021A-9ECD-AE12-F8D6-847A1B6A50B1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32A4780D-F136-595D-2103-9214B365DFE6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4C48EA8D-BE4C-9590-BEF6-9CCF7CB8F66E}"/>
              </a:ext>
            </a:extLst>
          </p:cNvPr>
          <p:cNvCxnSpPr>
            <a:cxnSpLocks/>
            <a:stCxn id="61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7284D47A-01C3-3ACA-4332-F2B531679D9E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1CE4C354-B46D-EC78-765F-41B0D906F6E9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90DB2E9C-AD61-A423-2694-5DAA9FA81C4F}"/>
              </a:ext>
            </a:extLst>
          </p:cNvPr>
          <p:cNvCxnSpPr>
            <a:cxnSpLocks/>
          </p:cNvCxnSpPr>
          <p:nvPr/>
        </p:nvCxnSpPr>
        <p:spPr bwMode="auto">
          <a:xfrm>
            <a:off x="6919354" y="3757848"/>
            <a:ext cx="1388742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10D0E82-D4D9-D47E-1C6C-EA8BFB56151A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CF6D6763-2708-952A-E18D-21CD1CF6964B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6E5A135-4F2E-E7C2-B82A-B8ADF971D4BF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183775A3-C8B0-7C3B-AE2A-24C235C4544E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6793F28E-3F8C-77AC-DE9C-1A095FA24636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D6F2569E-B426-BC80-B2BD-A34F6856881E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F8CA399E-6759-96D1-2D22-B3FB5B1D3C0E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FADB91F-CBB0-B818-D69C-7ACDB892E086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CuadroTexto 82">
            <a:extLst>
              <a:ext uri="{FF2B5EF4-FFF2-40B4-BE49-F238E27FC236}">
                <a16:creationId xmlns:a16="http://schemas.microsoft.com/office/drawing/2014/main" id="{6EAAB91E-F290-3E45-46BA-E8FAD1AA4A39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LMem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BA51E256-FDA4-54F3-BCC6-DB148AC6162C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42B339BE-3101-126E-0C24-57E91030CA7A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CC943C9-E9EB-B4D9-9D33-17A76632EA01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EReg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A34C702F-50D0-A7E7-CFF5-E3781BC88C01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F534C566-7E2E-DE62-AF3E-F2D7065C1228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D5123627-79DC-5362-A0C9-801988FBDE76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DF8F9B35-B436-A80A-B3D6-86E091D60E5D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0E1D9292-209D-1E0B-5321-51566E1BA7A6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6532239C-4989-D979-24A7-FF9DC7695E53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9D99C29B-956C-3237-2A3D-934BE0EDABC5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5ADCB208-4F0C-B00B-C232-7C2F18D83E34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E6AD2A95-BA4A-03A1-E6B2-4A02C80DA939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DCBA28B-D9D5-788C-B08B-FDA89479ABE5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09604B98-0189-D53C-6DE5-CE3E1AEBDC74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MxER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AE30DBF3-9903-2E9B-B6F8-37D81A2C4439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04B3D1EF-697B-31DE-2D04-FD47434989E8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0A883C23-4798-9EC4-4884-44512D29CE3E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7755FA51-9CE0-1472-A10E-783BEB90DD95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41828583-D2C7-EB56-A6BC-B8970F30219E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CE591FFD-6BB6-3AB8-1C46-DF3D29F5B148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Conector recto de flecha 134">
            <a:extLst>
              <a:ext uri="{FF2B5EF4-FFF2-40B4-BE49-F238E27FC236}">
                <a16:creationId xmlns:a16="http://schemas.microsoft.com/office/drawing/2014/main" id="{C9E8B334-0CA2-001F-2622-4FE8C08225F9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342DD75-AC65-B127-ADE2-524BB0D2F294}"/>
              </a:ext>
            </a:extLst>
          </p:cNvPr>
          <p:cNvCxnSpPr>
            <a:cxnSpLocks/>
            <a:stCxn id="139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Conector recto de flecha 137">
            <a:extLst>
              <a:ext uri="{FF2B5EF4-FFF2-40B4-BE49-F238E27FC236}">
                <a16:creationId xmlns:a16="http://schemas.microsoft.com/office/drawing/2014/main" id="{8FCE9F96-1AAD-6C9E-25FA-85A50E931409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0E5BD531-8833-B323-A9C3-6F01F0A0987D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DC72AC89-2602-1341-E752-39A8B6AFA312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142" name="Conector recto 253">
            <a:extLst>
              <a:ext uri="{FF2B5EF4-FFF2-40B4-BE49-F238E27FC236}">
                <a16:creationId xmlns:a16="http://schemas.microsoft.com/office/drawing/2014/main" id="{0B0865F8-79BF-E338-ACCC-C36059A316C2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142 Triángulo isósceles">
            <a:extLst>
              <a:ext uri="{FF2B5EF4-FFF2-40B4-BE49-F238E27FC236}">
                <a16:creationId xmlns:a16="http://schemas.microsoft.com/office/drawing/2014/main" id="{4F659965-FF98-03CC-9A4C-6D085607F43D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41" name="140 Triángulo isósceles">
            <a:extLst>
              <a:ext uri="{FF2B5EF4-FFF2-40B4-BE49-F238E27FC236}">
                <a16:creationId xmlns:a16="http://schemas.microsoft.com/office/drawing/2014/main" id="{07131531-FAD8-DE19-0431-F921528DEA5C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4D00049-9340-DD55-C195-99F3951CB405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3834CB5-5354-F4F0-0359-41E327D270B7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D4BEDFE-0BD9-02B6-3EC0-A22239102BD7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62" name="Freeform 42">
            <a:extLst>
              <a:ext uri="{FF2B5EF4-FFF2-40B4-BE49-F238E27FC236}">
                <a16:creationId xmlns:a16="http://schemas.microsoft.com/office/drawing/2014/main" id="{E2BB00E9-B406-DE36-3C39-146CFD3D8BFE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6A17B70-6890-06F0-25AD-0B9375D5A3CD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FA8C8F85-3D3E-C82D-BC32-E5A90B2DD548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644A2C-08FF-B0BF-3710-646F4C829F74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11..7 (</a:t>
            </a:r>
            <a:r>
              <a:rPr lang="es-ES_tradnl" sz="1000" i="1" noProof="0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F3971B-F4CC-F915-2369-9744B2F17925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167" name="Conector angular 34">
            <a:extLst>
              <a:ext uri="{FF2B5EF4-FFF2-40B4-BE49-F238E27FC236}">
                <a16:creationId xmlns:a16="http://schemas.microsoft.com/office/drawing/2014/main" id="{364B2E2B-6A3F-F626-F3F1-EA9B3D6BF7EF}"/>
              </a:ext>
            </a:extLst>
          </p:cNvPr>
          <p:cNvCxnSpPr>
            <a:cxnSpLocks/>
            <a:stCxn id="140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6D5707A8-27B9-774F-BA76-4139462276FD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9E4F25-1158-CDF5-A0D5-9F8570C40F5F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10D123D-900E-210C-23F1-675981960FFD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8960C0BA-88CE-B7F5-581F-DA8C98418B6D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TipoInst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741610FD-7CC7-42CA-4D32-7C029CF22DF7}"/>
              </a:ext>
            </a:extLst>
          </p:cNvPr>
          <p:cNvCxnSpPr>
            <a:cxnSpLocks/>
            <a:endCxn id="3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B28175A1-3533-3C0C-BF60-00ED337D8A37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89D783EE-67E1-51D1-5DDF-D03D4851D6E2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41678701-8EA1-35CC-E04B-9E82AB2764CA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91C5B777-4995-CFD4-35C4-4BFED4D64016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07392EC3-BC50-96C5-20BE-7BE3295A2C23}"/>
              </a:ext>
            </a:extLst>
          </p:cNvPr>
          <p:cNvCxnSpPr>
            <a:cxnSpLocks/>
            <a:stCxn id="163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angular 34">
            <a:extLst>
              <a:ext uri="{FF2B5EF4-FFF2-40B4-BE49-F238E27FC236}">
                <a16:creationId xmlns:a16="http://schemas.microsoft.com/office/drawing/2014/main" id="{6C30FB34-01EA-2503-B06F-A4A2F5208FB2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F1287000-D2FC-8EFC-A2EB-C89F1AF56C85}"/>
              </a:ext>
            </a:extLst>
          </p:cNvPr>
          <p:cNvCxnSpPr>
            <a:cxnSpLocks/>
            <a:endCxn id="11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934A57D5-85D8-40F6-C283-FE071633789A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BE22B97B-018A-F844-3B23-A4201D82F274}"/>
              </a:ext>
            </a:extLst>
          </p:cNvPr>
          <p:cNvCxnSpPr>
            <a:cxnSpLocks/>
            <a:endCxn id="163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ítulo 7">
            <a:extLst>
              <a:ext uri="{FF2B5EF4-FFF2-40B4-BE49-F238E27FC236}">
                <a16:creationId xmlns:a16="http://schemas.microsoft.com/office/drawing/2014/main" id="{56A5DC99-8B99-2B79-5D45-7268FE7F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La ruta de datos completa </a:t>
            </a:r>
            <a:b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(sin soporte para salto incondicional)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7696AB-5876-55D4-8E47-A88B17D02673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858643-0F0D-7F8A-2570-A0E366ADFD6C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  <p:extLst>
      <p:ext uri="{BB962C8B-B14F-4D97-AF65-F5344CB8AC3E}">
        <p14:creationId xmlns:p14="http://schemas.microsoft.com/office/powerpoint/2010/main" val="11389284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6563-199F-10D8-28BA-2A751F85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9">
            <a:extLst>
              <a:ext uri="{FF2B5EF4-FFF2-40B4-BE49-F238E27FC236}">
                <a16:creationId xmlns:a16="http://schemas.microsoft.com/office/drawing/2014/main" id="{B843ED68-B2CD-B7A4-D45A-77FCCE4D8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50237" cy="712787"/>
          </a:xfrm>
        </p:spPr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Contenido y bibliografía</a:t>
            </a:r>
          </a:p>
        </p:txBody>
      </p:sp>
      <p:sp>
        <p:nvSpPr>
          <p:cNvPr id="13315" name="Rectangle 10">
            <a:extLst>
              <a:ext uri="{FF2B5EF4-FFF2-40B4-BE49-F238E27FC236}">
                <a16:creationId xmlns:a16="http://schemas.microsoft.com/office/drawing/2014/main" id="{ACF54A9D-ABE4-1E86-CAF7-FD227EF8D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1" y="687388"/>
            <a:ext cx="8534400" cy="5256212"/>
          </a:xfrm>
        </p:spPr>
        <p:txBody>
          <a:bodyPr/>
          <a:lstStyle/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1 – Arquitectura RISC-V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 y Definición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Características básicas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Ejemplo de ejecución</a:t>
            </a:r>
          </a:p>
          <a:p>
            <a:pPr marL="82550" indent="0">
              <a:buNone/>
            </a:pPr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2 – La ruta de datos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 ruta de datos básica</a:t>
            </a:r>
          </a:p>
          <a:p>
            <a:pPr marL="82550" indent="0">
              <a:buNone/>
            </a:pPr>
            <a:r>
              <a:rPr lang="es-ES_tradnl" sz="20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– La unidad de control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Diseño de unidad de control</a:t>
            </a:r>
          </a:p>
          <a:p>
            <a:pPr lvl="2">
              <a:buNone/>
            </a:pPr>
            <a:endParaRPr lang="es-ES_tradnl" sz="1600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s-ES_tradnl" sz="16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Bibliografía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: Patterson, D.A., Hennessy, J.L., “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Computer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Organizationand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RISC-V </a:t>
            </a:r>
            <a:r>
              <a:rPr lang="es-ES_tradnl" sz="16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Edition</a:t>
            </a:r>
            <a:r>
              <a:rPr lang="es-ES_tradnl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: The Hardware-Software Interface,” 2ª edición, Ed. MK, 2020</a:t>
            </a:r>
          </a:p>
          <a:p>
            <a:pPr lvl="1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2" name="Rectangle 4">
            <a:extLst>
              <a:ext uri="{FF2B5EF4-FFF2-40B4-BE49-F238E27FC236}">
                <a16:creationId xmlns:a16="http://schemas.microsoft.com/office/drawing/2014/main" id="{BB7C908D-6D17-5681-69EF-42B3F4D959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B35E7AC4-CF51-4D8E-9049-04CC0E2A541C}" type="slidenum">
              <a:rPr lang="es-ES_tradnl" noProof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66</a:t>
            </a:fld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AA548F0A-9F26-DB04-BB35-53B51BD942A6}"/>
              </a:ext>
            </a:extLst>
          </p:cNvPr>
          <p:cNvSpPr/>
          <p:nvPr/>
        </p:nvSpPr>
        <p:spPr bwMode="auto">
          <a:xfrm>
            <a:off x="4788024" y="838200"/>
            <a:ext cx="241176" cy="1676400"/>
          </a:xfrm>
          <a:prstGeom prst="rightBrace">
            <a:avLst>
              <a:gd name="adj1" fmla="val 8333"/>
              <a:gd name="adj2" fmla="val 51001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97A5514-B0B3-631A-6C6E-34023E566770}"/>
              </a:ext>
            </a:extLst>
          </p:cNvPr>
          <p:cNvSpPr txBox="1"/>
          <p:nvPr/>
        </p:nvSpPr>
        <p:spPr>
          <a:xfrm>
            <a:off x="5425868" y="1447800"/>
            <a:ext cx="1228221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Introductorio </a:t>
            </a:r>
          </a:p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(Tema 0)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B5C1829-1C4B-47AE-308E-293925DDFDC3}"/>
              </a:ext>
            </a:extLst>
          </p:cNvPr>
          <p:cNvCxnSpPr/>
          <p:nvPr/>
        </p:nvCxnSpPr>
        <p:spPr bwMode="auto">
          <a:xfrm>
            <a:off x="685800" y="5713412"/>
            <a:ext cx="7620000" cy="1588"/>
          </a:xfrm>
          <a:prstGeom prst="lin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4236263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La unidad de control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1125538"/>
            <a:ext cx="8459787" cy="4056062"/>
          </a:xfrm>
        </p:spPr>
        <p:txBody>
          <a:bodyPr/>
          <a:lstStyle/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</a:p>
          <a:p>
            <a:pPr lvl="1"/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Indica a la ruta de datos que acciones debe realizar a lo largo del ciclo de instrucción para ejecutar cada instrucción</a:t>
            </a:r>
          </a:p>
          <a:p>
            <a:r>
              <a:rPr lang="es-ES_tradnl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</a:p>
          <a:p>
            <a:pPr lvl="1">
              <a:buNone/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1) Identificar las señales de control que deben actuar sobre la ruta de datos</a:t>
            </a:r>
          </a:p>
          <a:p>
            <a:pPr lvl="1">
              <a:buNone/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2) Relacionar la activación de cada señal con cada instrucción</a:t>
            </a:r>
          </a:p>
          <a:p>
            <a:pPr lvl="1">
              <a:buNone/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3) Obtener la expresión lógica que define cada señal de control</a:t>
            </a:r>
          </a:p>
          <a:p>
            <a:pPr lvl="1">
              <a:buNone/>
            </a:pPr>
            <a:r>
              <a:rPr lang="es-ES_tradnl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4) Implementar el circuito</a:t>
            </a:r>
          </a:p>
          <a:p>
            <a:pPr>
              <a:buNone/>
            </a:pPr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67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5781077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Ruta de datos para </a:t>
            </a:r>
            <a:b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instrucciones tipo R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68</a:t>
            </a:fld>
            <a:endParaRPr lang="es-ES_tradnl" noProof="0" dirty="0"/>
          </a:p>
        </p:txBody>
      </p:sp>
      <p:sp>
        <p:nvSpPr>
          <p:cNvPr id="211" name="CuadroTexto 210"/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Conf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MUXs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MxPC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0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MxA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MxB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0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MxER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0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123">
            <a:extLst>
              <a:ext uri="{FF2B5EF4-FFF2-40B4-BE49-F238E27FC236}">
                <a16:creationId xmlns:a16="http://schemas.microsoft.com/office/drawing/2014/main" id="{606DB9CA-157A-E513-56AE-072BA014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122" y="980728"/>
            <a:ext cx="3348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rs1, rs2 (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=rs1+rs2)</a:t>
            </a: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1F1A987-2541-38BC-E9C0-76DC7D0912CF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37E4F170-1A2E-E199-08B3-C0676434147E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748A09BC-C603-FF79-EAAD-1C42F898895A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2ADB7D88-7B63-EAC0-AEB7-BBC6DA7C552A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2C3E48CE-A732-4BFE-52CA-F444D39A2F41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5C3DD549-3780-626B-FCD6-9CD35843723B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DB8162AA-ABB1-EEC0-F2D2-AB50006FEBDE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1949612A-0C81-B920-FCFE-B682D2A0A89C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0A727866-3161-74B5-8AED-13FDD076A7AE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0E278C9D-74DF-4E43-8181-EADB5FBAB5CE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E20B7214-21C1-59A9-6696-97DB40009221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EB64A409-68E7-D30C-83AE-BF9482B004B8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E49629EB-A470-B190-3B62-915B65CCFCCB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50CAA7B7-2A01-DCF7-5DEC-AD5602ACB827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BA11D558-82DF-FAA7-3424-C63BF1D21B88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7B4C971B-F889-CC54-2BD6-856B33A843BF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D7109709-D389-C8F0-7908-566C83923C76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F46E13C-D5EC-AABD-4DCD-025BE7DA89F1}"/>
              </a:ext>
            </a:extLst>
          </p:cNvPr>
          <p:cNvGrpSpPr/>
          <p:nvPr/>
        </p:nvGrpSpPr>
        <p:grpSpPr>
          <a:xfrm>
            <a:off x="4928612" y="65545"/>
            <a:ext cx="4179892" cy="1109580"/>
            <a:chOff x="4928612" y="65545"/>
            <a:chExt cx="4179892" cy="1109580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5649282E-9996-3260-E2BE-A5B880C5A1B9}"/>
                </a:ext>
              </a:extLst>
            </p:cNvPr>
            <p:cNvGrpSpPr/>
            <p:nvPr/>
          </p:nvGrpSpPr>
          <p:grpSpPr>
            <a:xfrm>
              <a:off x="4928612" y="65545"/>
              <a:ext cx="4179892" cy="843175"/>
              <a:chOff x="4928612" y="65545"/>
              <a:chExt cx="4179892" cy="843175"/>
            </a:xfrm>
          </p:grpSpPr>
          <p:sp>
            <p:nvSpPr>
              <p:cNvPr id="17" name="Rectangle 10">
                <a:extLst>
                  <a:ext uri="{FF2B5EF4-FFF2-40B4-BE49-F238E27FC236}">
                    <a16:creationId xmlns:a16="http://schemas.microsoft.com/office/drawing/2014/main" id="{688E9672-7B9D-DC6E-C59E-1FFCB0A46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8612" y="65545"/>
                <a:ext cx="4179892" cy="8431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grpSp>
            <p:nvGrpSpPr>
              <p:cNvPr id="21" name="Group 5">
                <a:extLst>
                  <a:ext uri="{FF2B5EF4-FFF2-40B4-BE49-F238E27FC236}">
                    <a16:creationId xmlns:a16="http://schemas.microsoft.com/office/drawing/2014/main" id="{2630C6D3-0B62-8A69-072C-C1BEAB88F4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8576" y="172022"/>
                <a:ext cx="3886174" cy="384268"/>
                <a:chOff x="982" y="1296"/>
                <a:chExt cx="3050" cy="336"/>
              </a:xfrm>
            </p:grpSpPr>
            <p:sp>
              <p:nvSpPr>
                <p:cNvPr id="60" name="Rectangle 6">
                  <a:extLst>
                    <a:ext uri="{FF2B5EF4-FFF2-40B4-BE49-F238E27FC236}">
                      <a16:creationId xmlns:a16="http://schemas.microsoft.com/office/drawing/2014/main" id="{E7C6BFC2-ECAF-C8B6-6120-0C4E8B4DA1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296"/>
                  <a:ext cx="3050" cy="33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100" b="1" noProof="0" dirty="0">
                    <a:solidFill>
                      <a:srgbClr val="4F271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grpSp>
              <p:nvGrpSpPr>
                <p:cNvPr id="72" name="Group 7">
                  <a:extLst>
                    <a:ext uri="{FF2B5EF4-FFF2-40B4-BE49-F238E27FC236}">
                      <a16:creationId xmlns:a16="http://schemas.microsoft.com/office/drawing/2014/main" id="{952F5797-75F5-3C25-B4AA-2915B6C709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52" y="1536"/>
                  <a:ext cx="2784" cy="96"/>
                  <a:chOff x="1152" y="1536"/>
                  <a:chExt cx="2784" cy="96"/>
                </a:xfrm>
              </p:grpSpPr>
              <p:sp>
                <p:nvSpPr>
                  <p:cNvPr id="113" name="Line 9">
                    <a:extLst>
                      <a:ext uri="{FF2B5EF4-FFF2-40B4-BE49-F238E27FC236}">
                        <a16:creationId xmlns:a16="http://schemas.microsoft.com/office/drawing/2014/main" id="{A955F0F5-A21E-48BA-C2B4-97138E67B0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14" name="Line 10">
                    <a:extLst>
                      <a:ext uri="{FF2B5EF4-FFF2-40B4-BE49-F238E27FC236}">
                        <a16:creationId xmlns:a16="http://schemas.microsoft.com/office/drawing/2014/main" id="{92F44EA6-1DE4-F479-1D7A-391F77B118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5" name="Line 11">
                    <a:extLst>
                      <a:ext uri="{FF2B5EF4-FFF2-40B4-BE49-F238E27FC236}">
                        <a16:creationId xmlns:a16="http://schemas.microsoft.com/office/drawing/2014/main" id="{B31BA30B-599E-6C49-BC70-2FEC0D9B0F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6" name="Line 12">
                    <a:extLst>
                      <a:ext uri="{FF2B5EF4-FFF2-40B4-BE49-F238E27FC236}">
                        <a16:creationId xmlns:a16="http://schemas.microsoft.com/office/drawing/2014/main" id="{AC6D4D5A-AB81-8CAC-8C0C-CEDD27D4C3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7" name="Line 13">
                    <a:extLst>
                      <a:ext uri="{FF2B5EF4-FFF2-40B4-BE49-F238E27FC236}">
                        <a16:creationId xmlns:a16="http://schemas.microsoft.com/office/drawing/2014/main" id="{8C9A6909-C9F6-2CF1-5E7D-352366F0C6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8" name="Line 14">
                    <a:extLst>
                      <a:ext uri="{FF2B5EF4-FFF2-40B4-BE49-F238E27FC236}">
                        <a16:creationId xmlns:a16="http://schemas.microsoft.com/office/drawing/2014/main" id="{8F1C683A-5C61-F936-3B33-523C40AE3D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3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199" name="Line 15">
                    <a:extLst>
                      <a:ext uri="{FF2B5EF4-FFF2-40B4-BE49-F238E27FC236}">
                        <a16:creationId xmlns:a16="http://schemas.microsoft.com/office/drawing/2014/main" id="{41D600A5-8832-2465-4B2C-BD336A6DC5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72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0" name="Line 16">
                    <a:extLst>
                      <a:ext uri="{FF2B5EF4-FFF2-40B4-BE49-F238E27FC236}">
                        <a16:creationId xmlns:a16="http://schemas.microsoft.com/office/drawing/2014/main" id="{649EB862-615F-D7F2-FD68-DA7150504B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2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1" name="Line 17">
                    <a:extLst>
                      <a:ext uri="{FF2B5EF4-FFF2-40B4-BE49-F238E27FC236}">
                        <a16:creationId xmlns:a16="http://schemas.microsoft.com/office/drawing/2014/main" id="{D76F4342-9261-478A-6959-6617B3948E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8" name="Line 18">
                    <a:extLst>
                      <a:ext uri="{FF2B5EF4-FFF2-40B4-BE49-F238E27FC236}">
                        <a16:creationId xmlns:a16="http://schemas.microsoft.com/office/drawing/2014/main" id="{76F95C1F-C353-687A-2B3C-91F8F563C9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1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09" name="Line 19">
                    <a:extLst>
                      <a:ext uri="{FF2B5EF4-FFF2-40B4-BE49-F238E27FC236}">
                        <a16:creationId xmlns:a16="http://schemas.microsoft.com/office/drawing/2014/main" id="{9708117F-330C-8C47-F6CF-31B41C8626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1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0" name="Line 20">
                    <a:extLst>
                      <a:ext uri="{FF2B5EF4-FFF2-40B4-BE49-F238E27FC236}">
                        <a16:creationId xmlns:a16="http://schemas.microsoft.com/office/drawing/2014/main" id="{52CF00AB-4453-7C53-0366-5FC7226AD7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0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3" name="Line 21">
                    <a:extLst>
                      <a:ext uri="{FF2B5EF4-FFF2-40B4-BE49-F238E27FC236}">
                        <a16:creationId xmlns:a16="http://schemas.microsoft.com/office/drawing/2014/main" id="{3CDA3E3C-C101-1BA4-BE1F-53F0CD6303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0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4" name="Line 22">
                    <a:extLst>
                      <a:ext uri="{FF2B5EF4-FFF2-40B4-BE49-F238E27FC236}">
                        <a16:creationId xmlns:a16="http://schemas.microsoft.com/office/drawing/2014/main" id="{B54DED06-FFD8-0B1A-D83A-AD1C4FAB2F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5" name="Line 23">
                    <a:extLst>
                      <a:ext uri="{FF2B5EF4-FFF2-40B4-BE49-F238E27FC236}">
                        <a16:creationId xmlns:a16="http://schemas.microsoft.com/office/drawing/2014/main" id="{830D0B63-1FE2-E238-68F6-E78D2EC48D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9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6" name="Line 24">
                    <a:extLst>
                      <a:ext uri="{FF2B5EF4-FFF2-40B4-BE49-F238E27FC236}">
                        <a16:creationId xmlns:a16="http://schemas.microsoft.com/office/drawing/2014/main" id="{A3371464-D8D3-12C9-DD92-EECA6B6453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9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7" name="Line 25">
                    <a:extLst>
                      <a:ext uri="{FF2B5EF4-FFF2-40B4-BE49-F238E27FC236}">
                        <a16:creationId xmlns:a16="http://schemas.microsoft.com/office/drawing/2014/main" id="{F741860E-4BAF-31FF-E2C0-4CE04DA02B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8" name="Line 26">
                    <a:extLst>
                      <a:ext uri="{FF2B5EF4-FFF2-40B4-BE49-F238E27FC236}">
                        <a16:creationId xmlns:a16="http://schemas.microsoft.com/office/drawing/2014/main" id="{BE05E648-47F7-A1EB-F9E7-E469B9FBD5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8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19" name="Line 27">
                    <a:extLst>
                      <a:ext uri="{FF2B5EF4-FFF2-40B4-BE49-F238E27FC236}">
                        <a16:creationId xmlns:a16="http://schemas.microsoft.com/office/drawing/2014/main" id="{FAC73AD8-A524-8A6C-3CE8-8D3126EC63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1" name="Line 28">
                    <a:extLst>
                      <a:ext uri="{FF2B5EF4-FFF2-40B4-BE49-F238E27FC236}">
                        <a16:creationId xmlns:a16="http://schemas.microsoft.com/office/drawing/2014/main" id="{0864323C-4159-2FBA-19EC-065D862CF8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7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22" name="Line 29">
                    <a:extLst>
                      <a:ext uri="{FF2B5EF4-FFF2-40B4-BE49-F238E27FC236}">
                        <a16:creationId xmlns:a16="http://schemas.microsoft.com/office/drawing/2014/main" id="{B3DEF54F-AFE9-986D-497B-8C05C06749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38" name="Line 30">
                    <a:extLst>
                      <a:ext uri="{FF2B5EF4-FFF2-40B4-BE49-F238E27FC236}">
                        <a16:creationId xmlns:a16="http://schemas.microsoft.com/office/drawing/2014/main" id="{1B281135-02EC-A3D3-7BF8-233D375F71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39" name="Line 31">
                    <a:extLst>
                      <a:ext uri="{FF2B5EF4-FFF2-40B4-BE49-F238E27FC236}">
                        <a16:creationId xmlns:a16="http://schemas.microsoft.com/office/drawing/2014/main" id="{5DD60838-0C79-3BC1-161C-0A4A92751C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6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0" name="Line 32">
                    <a:extLst>
                      <a:ext uri="{FF2B5EF4-FFF2-40B4-BE49-F238E27FC236}">
                        <a16:creationId xmlns:a16="http://schemas.microsoft.com/office/drawing/2014/main" id="{E89B1865-4A5B-3541-7714-467DBE4377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1" name="Line 33">
                    <a:extLst>
                      <a:ext uri="{FF2B5EF4-FFF2-40B4-BE49-F238E27FC236}">
                        <a16:creationId xmlns:a16="http://schemas.microsoft.com/office/drawing/2014/main" id="{7B1A6217-3A9B-6758-A395-65378BF63D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2" name="Line 34">
                    <a:extLst>
                      <a:ext uri="{FF2B5EF4-FFF2-40B4-BE49-F238E27FC236}">
                        <a16:creationId xmlns:a16="http://schemas.microsoft.com/office/drawing/2014/main" id="{0B0E93E6-28FC-FF96-E4D3-3FAFF3036D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2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3" name="Line 35">
                    <a:extLst>
                      <a:ext uri="{FF2B5EF4-FFF2-40B4-BE49-F238E27FC236}">
                        <a16:creationId xmlns:a16="http://schemas.microsoft.com/office/drawing/2014/main" id="{A5D5D410-47AB-2FAD-A9AB-9A7B138D2C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4" name="Line 36">
                    <a:extLst>
                      <a:ext uri="{FF2B5EF4-FFF2-40B4-BE49-F238E27FC236}">
                        <a16:creationId xmlns:a16="http://schemas.microsoft.com/office/drawing/2014/main" id="{D9C956D7-8952-EE8C-5D50-D4950732D2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5" name="Line 37">
                    <a:extLst>
                      <a:ext uri="{FF2B5EF4-FFF2-40B4-BE49-F238E27FC236}">
                        <a16:creationId xmlns:a16="http://schemas.microsoft.com/office/drawing/2014/main" id="{B3DA5567-B694-72A1-4993-22184D9548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40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sp>
                <p:nvSpPr>
                  <p:cNvPr id="246" name="Line 38">
                    <a:extLst>
                      <a:ext uri="{FF2B5EF4-FFF2-40B4-BE49-F238E27FC236}">
                        <a16:creationId xmlns:a16="http://schemas.microsoft.com/office/drawing/2014/main" id="{B93C0090-BAA9-CA6A-FAE4-64100442F4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36" y="1536"/>
                    <a:ext cx="0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100" noProof="0" dirty="0">
                      <a:solidFill>
                        <a:prstClr val="black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22" name="Line 39">
                <a:extLst>
                  <a:ext uri="{FF2B5EF4-FFF2-40B4-BE49-F238E27FC236}">
                    <a16:creationId xmlns:a16="http://schemas.microsoft.com/office/drawing/2014/main" id="{FD7F4460-9BEC-B8DE-50D3-5D33D4BCD4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86777" y="157154"/>
                <a:ext cx="0" cy="3842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Text Box 40">
                <a:extLst>
                  <a:ext uri="{FF2B5EF4-FFF2-40B4-BE49-F238E27FC236}">
                    <a16:creationId xmlns:a16="http://schemas.microsoft.com/office/drawing/2014/main" id="{AA0CD3EF-0E74-04DA-CEE9-BC57AA5EFE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2284" y="222342"/>
                <a:ext cx="717350" cy="186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funct7</a:t>
                </a:r>
              </a:p>
            </p:txBody>
          </p:sp>
          <p:sp>
            <p:nvSpPr>
              <p:cNvPr id="24" name="Text Box 41">
                <a:extLst>
                  <a:ext uri="{FF2B5EF4-FFF2-40B4-BE49-F238E27FC236}">
                    <a16:creationId xmlns:a16="http://schemas.microsoft.com/office/drawing/2014/main" id="{5EF3EAAC-F5D1-9396-4848-B08ABB922E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45600" y="222342"/>
                <a:ext cx="691866" cy="186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funct3</a:t>
                </a:r>
              </a:p>
            </p:txBody>
          </p:sp>
          <p:sp>
            <p:nvSpPr>
              <p:cNvPr id="25" name="Line 42">
                <a:extLst>
                  <a:ext uri="{FF2B5EF4-FFF2-40B4-BE49-F238E27FC236}">
                    <a16:creationId xmlns:a16="http://schemas.microsoft.com/office/drawing/2014/main" id="{2BA6AAEA-D694-B71A-9D51-FAF34CA38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03468" y="167447"/>
                <a:ext cx="0" cy="3842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6" name="Line 43">
                <a:extLst>
                  <a:ext uri="{FF2B5EF4-FFF2-40B4-BE49-F238E27FC236}">
                    <a16:creationId xmlns:a16="http://schemas.microsoft.com/office/drawing/2014/main" id="{87B6694F-4280-A33E-D5C9-50A58F6FE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09966" y="183458"/>
                <a:ext cx="0" cy="3842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7" name="Line 44">
                <a:extLst>
                  <a:ext uri="{FF2B5EF4-FFF2-40B4-BE49-F238E27FC236}">
                    <a16:creationId xmlns:a16="http://schemas.microsoft.com/office/drawing/2014/main" id="{683A51B0-98F6-1381-96F4-6AB99F809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92340" y="169734"/>
                <a:ext cx="0" cy="3842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8" name="Text Box 45">
                <a:extLst>
                  <a:ext uri="{FF2B5EF4-FFF2-40B4-BE49-F238E27FC236}">
                    <a16:creationId xmlns:a16="http://schemas.microsoft.com/office/drawing/2014/main" id="{F8BD43B5-90DF-BFE3-1ACD-5B86FDFF5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4808" y="222342"/>
                <a:ext cx="574644" cy="186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rs2</a:t>
                </a:r>
              </a:p>
            </p:txBody>
          </p:sp>
          <p:sp>
            <p:nvSpPr>
              <p:cNvPr id="29" name="Text Box 46">
                <a:extLst>
                  <a:ext uri="{FF2B5EF4-FFF2-40B4-BE49-F238E27FC236}">
                    <a16:creationId xmlns:a16="http://schemas.microsoft.com/office/drawing/2014/main" id="{D8604156-D5E7-EA5C-FE08-B500C9030D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4434" y="222342"/>
                <a:ext cx="508388" cy="186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rs1</a:t>
                </a:r>
              </a:p>
            </p:txBody>
          </p:sp>
          <p:sp>
            <p:nvSpPr>
              <p:cNvPr id="30" name="Text Box 47">
                <a:extLst>
                  <a:ext uri="{FF2B5EF4-FFF2-40B4-BE49-F238E27FC236}">
                    <a16:creationId xmlns:a16="http://schemas.microsoft.com/office/drawing/2014/main" id="{B51A260B-069E-45C7-5159-B45F43D08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01259" y="222342"/>
                <a:ext cx="843491" cy="1864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opcode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31" name="Text Box 48">
                <a:extLst>
                  <a:ext uri="{FF2B5EF4-FFF2-40B4-BE49-F238E27FC236}">
                    <a16:creationId xmlns:a16="http://schemas.microsoft.com/office/drawing/2014/main" id="{F2C82DED-2B2C-3F67-CFD8-0738816008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8612" y="516262"/>
                <a:ext cx="372053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31</a:t>
                </a:r>
              </a:p>
            </p:txBody>
          </p:sp>
          <p:sp>
            <p:nvSpPr>
              <p:cNvPr id="37" name="Text Box 49">
                <a:extLst>
                  <a:ext uri="{FF2B5EF4-FFF2-40B4-BE49-F238E27FC236}">
                    <a16:creationId xmlns:a16="http://schemas.microsoft.com/office/drawing/2014/main" id="{1F301318-4970-398B-B4BA-F0C866C9D5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9977" y="517406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25</a:t>
                </a:r>
              </a:p>
            </p:txBody>
          </p:sp>
          <p:sp>
            <p:nvSpPr>
              <p:cNvPr id="39" name="Text Box 50">
                <a:extLst>
                  <a:ext uri="{FF2B5EF4-FFF2-40B4-BE49-F238E27FC236}">
                    <a16:creationId xmlns:a16="http://schemas.microsoft.com/office/drawing/2014/main" id="{4AF92105-EE5E-922B-F5DD-901671EDC2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70298" y="5196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42" name="Text Box 51">
                <a:extLst>
                  <a:ext uri="{FF2B5EF4-FFF2-40B4-BE49-F238E27FC236}">
                    <a16:creationId xmlns:a16="http://schemas.microsoft.com/office/drawing/2014/main" id="{C02AB9BA-629F-FD0D-92EC-B38D77828A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9344" y="5196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15</a:t>
                </a:r>
              </a:p>
            </p:txBody>
          </p:sp>
          <p:sp>
            <p:nvSpPr>
              <p:cNvPr id="43" name="Text Box 52">
                <a:extLst>
                  <a:ext uri="{FF2B5EF4-FFF2-40B4-BE49-F238E27FC236}">
                    <a16:creationId xmlns:a16="http://schemas.microsoft.com/office/drawing/2014/main" id="{D9C7618A-3CD1-B63B-18BA-247B19B244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93572" y="516262"/>
                <a:ext cx="270121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44" name="Text Box 53">
                <a:extLst>
                  <a:ext uri="{FF2B5EF4-FFF2-40B4-BE49-F238E27FC236}">
                    <a16:creationId xmlns:a16="http://schemas.microsoft.com/office/drawing/2014/main" id="{8555EA76-4926-9275-B25C-E2D03E98FF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96948" y="521980"/>
                <a:ext cx="194946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47" name="Line 153">
                <a:extLst>
                  <a:ext uri="{FF2B5EF4-FFF2-40B4-BE49-F238E27FC236}">
                    <a16:creationId xmlns:a16="http://schemas.microsoft.com/office/drawing/2014/main" id="{69B5ACC7-EFF2-1167-06B5-E0F2EA9CB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74375" y="157154"/>
                <a:ext cx="0" cy="3842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8" name="Text Box 154">
                <a:extLst>
                  <a:ext uri="{FF2B5EF4-FFF2-40B4-BE49-F238E27FC236}">
                    <a16:creationId xmlns:a16="http://schemas.microsoft.com/office/drawing/2014/main" id="{ABAFF6C5-C960-257D-5D30-6D8DECF9F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6029" y="511687"/>
                <a:ext cx="51348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12</a:t>
                </a:r>
              </a:p>
            </p:txBody>
          </p:sp>
          <p:sp>
            <p:nvSpPr>
              <p:cNvPr id="13" name="Text Box 41">
                <a:extLst>
                  <a:ext uri="{FF2B5EF4-FFF2-40B4-BE49-F238E27FC236}">
                    <a16:creationId xmlns:a16="http://schemas.microsoft.com/office/drawing/2014/main" id="{1285B6A7-6FC9-46DB-55A0-FE3357A6BF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04463" y="205093"/>
                <a:ext cx="479324" cy="1869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rd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6CDBAA07-26CF-F76A-A844-17A5EB5F5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2611" y="445501"/>
                <a:ext cx="0" cy="10941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100" noProof="0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B45BD027-76B0-5937-E5D4-C818B089547F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9AF5B893-89B4-BD95-FB02-5B89AC47D262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19D07CC0-9B19-8230-3CB2-50AD665BC2FA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2A798643-8396-8096-02E3-EEAEB4664980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A8FAB6E0-0861-7FC3-57AB-3DF793E124C2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9F801C70-45EE-52C8-FAF7-4DB448C67536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72DF9C9F-B98F-8D3A-1D23-70F3BE63265E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5E8C0619-3D22-36D8-F9B0-E3A70DFA1D49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36EE4AE3-AF38-FF30-2C2B-2BFE829C9FD3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7727A573-DBFE-657D-6208-085C4F559E67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F18D8966-3118-59C3-20D8-EF77E3C040EF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DEAA090C-2478-7F4C-FE84-6E9F016E5D89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48B0E594-5798-DB93-6BF6-4A1BB76A10F0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B1493FF9-B304-FC01-6F58-B0A52F1B68EC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908190"/>
            <a:ext cx="7781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BF343A98-C0C3-352E-DF81-906D1777F5F3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3EFDEF66-C632-9F95-8F3B-24888D5357FA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C5E8EDC0-0753-52B8-24EF-289FB05EBCDB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5387BA18-EE08-0323-56B2-537726A24709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6C7D67E1-A29A-7E9A-B392-2CF080CB26D2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8D4801B4-999C-F393-A13F-488F7BA2F674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86E71B17-8E50-807F-03B6-E13013B967FF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E7575572-3145-0CBE-9257-3E74A0C3BF71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9C910C7E-81AE-4966-6475-BF8354593F00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A9EE4FB3-E4C1-2F17-259A-32E5FB48CB1B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7A855430-D8C3-5C40-6FD8-1A7922D68882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BA662FED-6298-03CC-D154-16CE8EED242E}"/>
              </a:ext>
            </a:extLst>
          </p:cNvPr>
          <p:cNvCxnSpPr>
            <a:cxnSpLocks/>
          </p:cNvCxnSpPr>
          <p:nvPr/>
        </p:nvCxnSpPr>
        <p:spPr bwMode="auto">
          <a:xfrm>
            <a:off x="6919354" y="3757848"/>
            <a:ext cx="1388742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72267D39-17E9-6073-BF91-417FFA3F1DE1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FD7B76DB-6BB3-EF14-0752-2223F3F9A888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DD33EE0B-BC3C-C57B-C649-05121C36BDEA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6E77A47A-EDF3-501F-5CF0-3E7BD5901B2B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F490FC4F-3B86-7C6E-BC38-CA59765ECDD2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DED5D26E-1277-C1ED-4178-72870EA4D607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3C830575-254B-3224-A9C4-5DF4F82F9AC6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067261FE-D31A-AE1A-0EE0-A49BF0EBD7A1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6880C9AB-ED3F-238B-9685-7E7452E6DC6B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LMem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D283B0A9-1E36-88A0-8879-956D6EEF168E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1F25A87F-D263-BFF2-E7C2-F91787AFC743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8B575961-EA10-2811-C2B8-FA8467C561C3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EReg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2D56583D-5B74-DB53-1EA7-47A59BF40B7C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B0DDCA47-E430-E357-8E71-ADD6888FDB15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46B7309F-1576-5E24-0502-89C2BCB9CFDC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FF932195-6662-E1D0-4D4E-83ECFCD1DFAB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89BD2A28-6D51-3FC1-A818-550F11F98923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4C19FC43-2B43-BF3E-5B7E-7F779A6E5025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AB039DB1-0819-82B5-CACE-EE5A7AA71CE9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0D9EA66F-A3B0-4806-B4E3-8AC611E4C2BF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BCF1FEEB-305D-C9FF-A270-61ADDDD91605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AEBC1293-A267-6B4C-46A8-A04A1534BD1F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B1391A8B-34D3-8733-8A20-327CE21960AE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MxER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21F7C00B-B73B-AC5A-CB18-CF343839DEAC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B5EACEA8-FB38-F36C-0C1F-24A3F95C65A8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0D987AC5-0DCF-B869-3A1B-0109B2F3AE54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BF47F161-95C1-E0EE-6068-A5036C400555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3114A93E-96E0-FD80-C848-38C1EDB0669E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0A79EF83-8868-F887-5CC4-B1F6FF7934A6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7F8F4C09-7C20-D082-84A7-36640A3E15C0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0B734829-C076-99BF-B950-010518205369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84F5043F-56DC-A0A2-A93A-249E1C5D0AC2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BBABB521-DD0D-6C4B-0DEA-317E8AE6966E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C33FF914-AAE5-AE06-2692-0CD21E7B06DD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E8F41526-34A3-6F5A-B413-2B21891C0A2A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131EC214-5964-50E9-358A-967EF0D150F8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D885787F-83D1-2258-E80E-0E99DD9B15FD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21718BE5-F2F9-B147-96F2-04526A3E0CCB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7FA9FC56-ED6F-E50A-9D5E-044B2492B4D8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2FBCF01A-6590-5B00-A574-7442856CBF1F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52AEC141-6CA5-138D-AC25-780F16721FDC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1F271815-3C40-56AE-0610-A4225C3355BF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CD1241C3-A817-9401-58F3-61206662FFED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47845CE6-CC8B-77BD-07FE-9842C3486AE1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11..7 (</a:t>
            </a:r>
            <a:r>
              <a:rPr lang="es-ES_tradnl" sz="1000" i="1" noProof="0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931CD58-D28B-3782-060D-CC5261876E21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D5991B3F-0471-8DF7-3CB3-8FCF55A7CD82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A2DA9769-BFE9-151D-DC80-EECC606573ED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118B1B1B-2BA1-D433-5667-6F17238E9CBB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97AA683D-8F0C-C67E-458E-4490CB606B11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97EECA6E-3011-D38B-B46C-865A5BC99C80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TipoInst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4D658710-3208-C4D3-8565-CC3C2DA2CC0C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0D21B482-5155-02C4-D2DB-39A11C8892DF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84D2E395-C0C7-2F58-82CA-9668BEDB9B1D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D8FE7501-0FE1-15C5-D584-04B37CE3F42E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F80EFD77-357D-E681-9333-FC66FC6D53B3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B8F47DB1-A42F-C025-85CD-73313B1DFD46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5DDFDC02-5DED-00FD-8CD8-5CA8B96F75D0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235805CF-71A3-D6D9-29A4-2A06592F35EF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F04D063A-1554-EFE9-A2A6-F504B0A9AE2A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FE488C90-47B6-1E62-9E44-754ED1BD85F0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FF0011DD-E3A7-5C31-5BFE-A90A2CF49D93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>
            <a:off x="5760764" y="3937414"/>
            <a:ext cx="221963" cy="182045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A237358F-FA2C-A391-A9E3-D94ABFD45519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5" name="Conector recto de flecha 197">
            <a:extLst>
              <a:ext uri="{FF2B5EF4-FFF2-40B4-BE49-F238E27FC236}">
                <a16:creationId xmlns:a16="http://schemas.microsoft.com/office/drawing/2014/main" id="{5A00E579-26D9-FF81-9ADB-8F818A690519}"/>
              </a:ext>
            </a:extLst>
          </p:cNvPr>
          <p:cNvCxnSpPr>
            <a:cxnSpLocks/>
            <a:endCxn id="354" idx="2"/>
          </p:cNvCxnSpPr>
          <p:nvPr/>
        </p:nvCxnSpPr>
        <p:spPr bwMode="auto">
          <a:xfrm>
            <a:off x="8325016" y="3757056"/>
            <a:ext cx="228414" cy="168013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72A694C5-0DE9-2011-E414-1DEAC88B167E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4" name="Rectángulo 413">
            <a:extLst>
              <a:ext uri="{FF2B5EF4-FFF2-40B4-BE49-F238E27FC236}">
                <a16:creationId xmlns:a16="http://schemas.microsoft.com/office/drawing/2014/main" id="{720AC11F-5259-A381-B114-71D46144A25C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519A93-12AB-453D-6C06-EDEA6EB6D632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Señales de control:  Aritméticas y lógicas tipo R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69</a:t>
            </a:fld>
            <a:endParaRPr lang="es-ES_tradnl" noProof="0" dirty="0"/>
          </a:p>
        </p:txBody>
      </p:sp>
      <p:sp>
        <p:nvSpPr>
          <p:cNvPr id="7" name="CuadroTexto 6"/>
          <p:cNvSpPr txBox="1"/>
          <p:nvPr/>
        </p:nvSpPr>
        <p:spPr>
          <a:xfrm>
            <a:off x="2448018" y="2708920"/>
            <a:ext cx="903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Entradas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716300" y="2708920"/>
            <a:ext cx="77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graphicFrame>
        <p:nvGraphicFramePr>
          <p:cNvPr id="26" name="Marcador de contenido 5">
            <a:extLst>
              <a:ext uri="{FF2B5EF4-FFF2-40B4-BE49-F238E27FC236}">
                <a16:creationId xmlns:a16="http://schemas.microsoft.com/office/drawing/2014/main" id="{D4D42079-A44B-E0C3-18CA-70EA957AE2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945934"/>
              </p:ext>
            </p:extLst>
          </p:nvPr>
        </p:nvGraphicFramePr>
        <p:xfrm>
          <a:off x="164528" y="895952"/>
          <a:ext cx="89439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6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1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54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05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4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34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335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5989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Reg. 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Instr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Banco</a:t>
                      </a:r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 Registros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_tradnl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PCin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LInst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sub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and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CuadroTexto 27">
            <a:extLst>
              <a:ext uri="{FF2B5EF4-FFF2-40B4-BE49-F238E27FC236}">
                <a16:creationId xmlns:a16="http://schemas.microsoft.com/office/drawing/2014/main" id="{8E228034-6F21-C42B-9821-8E347ED4A4CF}"/>
              </a:ext>
            </a:extLst>
          </p:cNvPr>
          <p:cNvSpPr txBox="1"/>
          <p:nvPr/>
        </p:nvSpPr>
        <p:spPr>
          <a:xfrm>
            <a:off x="1847713" y="3819168"/>
            <a:ext cx="901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Entradas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0779A23-29C0-3E2B-F3BE-ECF6F934B439}"/>
              </a:ext>
            </a:extLst>
          </p:cNvPr>
          <p:cNvSpPr txBox="1"/>
          <p:nvPr/>
        </p:nvSpPr>
        <p:spPr>
          <a:xfrm>
            <a:off x="5479303" y="3797920"/>
            <a:ext cx="771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sp>
        <p:nvSpPr>
          <p:cNvPr id="30" name="Flecha arriba 10">
            <a:extLst>
              <a:ext uri="{FF2B5EF4-FFF2-40B4-BE49-F238E27FC236}">
                <a16:creationId xmlns:a16="http://schemas.microsoft.com/office/drawing/2014/main" id="{B4351B99-61BD-2A4E-F6E0-A122AFE89A2E}"/>
              </a:ext>
            </a:extLst>
          </p:cNvPr>
          <p:cNvSpPr/>
          <p:nvPr/>
        </p:nvSpPr>
        <p:spPr bwMode="auto">
          <a:xfrm>
            <a:off x="2985529" y="3709235"/>
            <a:ext cx="380215" cy="609600"/>
          </a:xfrm>
          <a:prstGeom prst="up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5D9E9F8-5AB2-9559-0C20-CE80D54B69A9}"/>
              </a:ext>
            </a:extLst>
          </p:cNvPr>
          <p:cNvSpPr txBox="1"/>
          <p:nvPr/>
        </p:nvSpPr>
        <p:spPr>
          <a:xfrm>
            <a:off x="3174668" y="4304012"/>
            <a:ext cx="1090614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Constantes</a:t>
            </a:r>
          </a:p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(también para tipos I, S, B,…)</a:t>
            </a:r>
          </a:p>
        </p:txBody>
      </p:sp>
      <p:sp>
        <p:nvSpPr>
          <p:cNvPr id="32" name="Flecha arriba 12">
            <a:extLst>
              <a:ext uri="{FF2B5EF4-FFF2-40B4-BE49-F238E27FC236}">
                <a16:creationId xmlns:a16="http://schemas.microsoft.com/office/drawing/2014/main" id="{A3CF3FF7-55D8-3F1A-6CE6-444F8A66EF17}"/>
              </a:ext>
            </a:extLst>
          </p:cNvPr>
          <p:cNvSpPr/>
          <p:nvPr/>
        </p:nvSpPr>
        <p:spPr bwMode="auto">
          <a:xfrm>
            <a:off x="3499167" y="3694412"/>
            <a:ext cx="380215" cy="609600"/>
          </a:xfrm>
          <a:prstGeom prst="up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3" name="Flecha arriba 13">
            <a:extLst>
              <a:ext uri="{FF2B5EF4-FFF2-40B4-BE49-F238E27FC236}">
                <a16:creationId xmlns:a16="http://schemas.microsoft.com/office/drawing/2014/main" id="{A8E31A93-62DC-A025-A507-B902FB93AB33}"/>
              </a:ext>
            </a:extLst>
          </p:cNvPr>
          <p:cNvSpPr/>
          <p:nvPr/>
        </p:nvSpPr>
        <p:spPr bwMode="auto">
          <a:xfrm>
            <a:off x="4008480" y="3694412"/>
            <a:ext cx="380215" cy="609600"/>
          </a:xfrm>
          <a:prstGeom prst="upArrow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4" name="Abrir llave 7">
            <a:extLst>
              <a:ext uri="{FF2B5EF4-FFF2-40B4-BE49-F238E27FC236}">
                <a16:creationId xmlns:a16="http://schemas.microsoft.com/office/drawing/2014/main" id="{2C505CE5-0619-A8C0-EA90-70816791D142}"/>
              </a:ext>
            </a:extLst>
          </p:cNvPr>
          <p:cNvSpPr/>
          <p:nvPr/>
        </p:nvSpPr>
        <p:spPr bwMode="auto">
          <a:xfrm rot="16200000">
            <a:off x="2127063" y="3063707"/>
            <a:ext cx="285748" cy="1225174"/>
          </a:xfrm>
          <a:prstGeom prst="leftBrace">
            <a:avLst>
              <a:gd name="adj1" fmla="val 12112"/>
              <a:gd name="adj2" fmla="val 50000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5" name="Abrir llave 9">
            <a:extLst>
              <a:ext uri="{FF2B5EF4-FFF2-40B4-BE49-F238E27FC236}">
                <a16:creationId xmlns:a16="http://schemas.microsoft.com/office/drawing/2014/main" id="{ADC07550-CEC8-52F6-E3DB-C9A1E481AE8A}"/>
              </a:ext>
            </a:extLst>
          </p:cNvPr>
          <p:cNvSpPr/>
          <p:nvPr/>
        </p:nvSpPr>
        <p:spPr bwMode="auto">
          <a:xfrm rot="16200000">
            <a:off x="5770376" y="624469"/>
            <a:ext cx="285749" cy="6061452"/>
          </a:xfrm>
          <a:prstGeom prst="leftBrace">
            <a:avLst>
              <a:gd name="adj1" fmla="val 8333"/>
              <a:gd name="adj2" fmla="val 49200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6" name="Rectangle 168">
            <a:extLst>
              <a:ext uri="{FF2B5EF4-FFF2-40B4-BE49-F238E27FC236}">
                <a16:creationId xmlns:a16="http://schemas.microsoft.com/office/drawing/2014/main" id="{2CBB89AF-7AB4-75DB-A90B-FAA7B685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solidFill>
              <a:srgbClr val="FF660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0" dirty="0" err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0" dirty="0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0" dirty="0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000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noProof="0" dirty="0">
                <a:latin typeface="Calibri" pitchFamily="-103" charset="0"/>
              </a:rPr>
              <a:t>001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0" dirty="0">
                <a:latin typeface="Calibri" pitchFamily="-103" charset="0"/>
              </a:rPr>
              <a:t> b (</a:t>
            </a:r>
            <a:r>
              <a:rPr lang="es-ES_tradnl" sz="1200" noProof="0" dirty="0" err="1">
                <a:latin typeface="Calibri" pitchFamily="-103" charset="0"/>
              </a:rPr>
              <a:t>or</a:t>
            </a:r>
            <a:r>
              <a:rPr lang="es-ES_tradnl" sz="1200" noProof="0" dirty="0">
                <a:latin typeface="Calibri" pitchFamily="-103" charset="0"/>
              </a:rPr>
              <a:t>)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110	a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i="1" noProof="0" dirty="0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sp>
        <p:nvSpPr>
          <p:cNvPr id="3" name="Llamada rectangular redondeada 2">
            <a:extLst>
              <a:ext uri="{FF2B5EF4-FFF2-40B4-BE49-F238E27FC236}">
                <a16:creationId xmlns:a16="http://schemas.microsoft.com/office/drawing/2014/main" id="{88715196-CC3C-947D-A7D6-BDE97C5B10A3}"/>
              </a:ext>
            </a:extLst>
          </p:cNvPr>
          <p:cNvSpPr/>
          <p:nvPr/>
        </p:nvSpPr>
        <p:spPr bwMode="auto">
          <a:xfrm>
            <a:off x="1403648" y="5695528"/>
            <a:ext cx="2514600" cy="685800"/>
          </a:xfrm>
          <a:prstGeom prst="wedgeRoundRectCallout">
            <a:avLst>
              <a:gd name="adj1" fmla="val 38114"/>
              <a:gd name="adj2" fmla="val -108462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s-ES_tradnl" sz="1200" noProof="0" dirty="0">
                <a:solidFill>
                  <a:schemeClr val="tx1"/>
                </a:solidFill>
              </a:rPr>
              <a:t>Las omitimos a partir de ahora</a:t>
            </a:r>
          </a:p>
        </p:txBody>
      </p:sp>
    </p:spTree>
    <p:extLst>
      <p:ext uri="{BB962C8B-B14F-4D97-AF65-F5344CB8AC3E}">
        <p14:creationId xmlns:p14="http://schemas.microsoft.com/office/powerpoint/2010/main" val="2107012625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1C21-0B15-FF74-AD8E-E15495A2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A9046-0ED6-7ABB-E468-AAED7244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Ruta de datos para </a:t>
            </a:r>
            <a:b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instrucciones tipo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EBFDA2-886F-77C8-AFB1-90F57F0A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70</a:t>
            </a:fld>
            <a:endParaRPr lang="es-ES_tradnl" noProof="0" dirty="0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F039CAD8-62F7-9522-20D1-0DD4BD658406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Conf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MUXs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MxPC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0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MxA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MxB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MxER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0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6FF76B56-B6CC-5F36-A8F4-F80601EACD1E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1C4BBF00-F5E5-70BE-FC06-D19D5A9F3FAE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8A8A8883-501D-E7D7-4957-A7F6EF34644C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83A01699-CECA-82CE-A7EB-E672078A2FE2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65723BC1-6C0F-EF37-6659-EF11110C446C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9465E96D-8642-63F1-D193-A6D1E0322FB3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CE9A58C4-2C00-29D0-23FF-BFD690FD9F17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2E54B6C0-C80B-AA0B-6BF5-A86682DCCE4C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B2791AD3-75E4-641C-2D56-F77FDC420A31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D74946AE-8B07-8108-00AA-6608AB90F310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0B61FFC0-AF83-FC8C-F0DA-730E84137FF2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CA64C1A3-8BA8-C0BD-96F0-72D57F3B855A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3CF6036D-D195-AE08-38BA-49DC1A22BB31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7A7CE3F3-72F3-B92C-73A2-F524B274174F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62DBFB56-D00E-DCE7-ADF1-CC9FB68AF50A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CA75C09E-71E3-2CC0-C6D3-65A546006BEF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45BC45F9-C3F3-D319-7841-7D71E441B94A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474AE5E7-4C5F-7470-91C4-D565D5B7D365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DAE1FE1D-F53E-4674-80F3-E20F4884A920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A28DC5E8-DFD3-4A50-8B77-D0FED11EB08D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41A53230-055A-3698-8F6D-CC4E5380C601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A9AEACC7-E714-8F5A-4546-1A7D84B36B04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AECA2019-260F-0B9A-EA2C-D8B723BB4759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2DAB4DD7-3E2A-86AB-33CE-E311F1774837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955BBC39-474C-F4FC-06E0-76FB4430877A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9073A6B2-ACCA-8D17-67DC-CB6578BE1523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14612794-FC22-44CE-B56E-5E006D09BC05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DE0CF53B-A40F-4893-C9FA-ADC3B336A118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B9966C72-289F-A749-8BE0-D01D7FC204BC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2FBB6ED9-E7F5-0524-0B08-166CD7E084E8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908190"/>
            <a:ext cx="77814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D0A24D49-7F15-8E7C-73CE-08BF8B2DECAE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C1DA19B6-8CD6-9196-7520-4C26435D62C2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8B98C3CD-269D-4036-7389-D9630B421F72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9C9C30E5-D117-265F-6156-B208554C58A4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44F8CD21-8324-EC67-6734-F47C6F0E4901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2687A73A-3D35-217F-9530-6738FAFBC5AF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C4B17895-E207-9421-17A5-7CF6482BC3FB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E4969408-EF8E-6103-7B73-5EA967E925F3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C1FF29F4-9B8C-7195-CC28-7882904F263C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4DC514EF-9605-637C-42B2-FDC8A4E47378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148E45BA-A014-0E10-CF68-4E65DEE175EB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D5DFB1BE-91A8-AF6D-1A35-B185DB02EF77}"/>
              </a:ext>
            </a:extLst>
          </p:cNvPr>
          <p:cNvCxnSpPr>
            <a:cxnSpLocks/>
          </p:cNvCxnSpPr>
          <p:nvPr/>
        </p:nvCxnSpPr>
        <p:spPr bwMode="auto">
          <a:xfrm>
            <a:off x="6919354" y="3757848"/>
            <a:ext cx="1388742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55B2C8AB-4308-7648-740F-8F3C816AC4F6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F396BDC3-5E3F-A91F-A517-BC2EDEA98EB2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49C4D3CB-921A-3C92-9304-6F7E651CD992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4DA97C5E-F20A-E807-9355-3E041D186E6D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4B39CB82-F468-5377-3A80-7DEB75086E88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D4D57210-629D-8720-E584-D857861A2E69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11E3D0D3-1AA7-7CC5-4A41-4553F1BBC4CC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3252DF57-1DA6-F5D2-EDA9-6DF2C9585D49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8A2E3A72-AFEB-D914-3FBF-681ABEB004BD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LMem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CBDF7FAD-D976-84EB-7071-548060130F08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0745C9B8-C1D0-9ABA-8AFE-413550BC8DA0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33360BCF-A54E-DEC5-B6AF-7C8F0F7CB41A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EReg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CD50A808-45DA-C127-0DDA-455D84F40482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962FBEBC-3638-C2C2-4C43-54CB2AD91010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44DB5588-C8AF-D4F6-F770-91A8CA70D9FB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984F36F7-1D68-599E-6FC0-8D3E16A43556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1A368794-395E-9D3F-8E51-1ADF259FC422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B3199C9C-84EB-9AD9-65F0-E9486F28EE95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F9C59D7A-B3A4-65C6-A579-9A7E5009BE25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ADCF861C-EFDD-42DE-938E-5FCEC62E7D7B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5731E11A-6252-C7AD-A78A-AF3D9EF23E11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EF823358-0184-9109-EF10-C4A6CA487981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899AEC83-5E37-B597-3A53-D6981DECAE44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MxER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873BE499-0858-B2FC-A7E6-2E67CE3C3D94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D6FF2E11-6B2C-0CE6-E8D2-CAE31A04667F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C1E51AD0-6925-D56B-77E2-C249F9D6F71C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8A67DB3E-AB6B-615F-6985-BE558FDD0E40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08FA0AD8-FCAF-DE61-AE46-195BB41975E3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00B073A9-1D53-ADDD-2A30-BCB6368EDB19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8CBA297B-E1A8-D0A3-399C-AD12731AF301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CA27AA40-9217-C6E1-08CC-BB8FBAF0B8C2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57FC4738-0A30-F07F-6302-CA8A6ACD2137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9A7E26BE-6781-8C4B-3C88-8FCA826E1F0F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369CB2B7-14EA-A88B-6755-263FE748C1ED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D1FCF6CE-D19B-F55B-8EE3-9E1B18B4F70B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A48CC993-C504-887D-8A7E-198480159152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43C96C0E-719D-4785-E5F1-B5F8E4EF9AC2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6203A821-4411-F160-F499-E6CCEEB9153E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16D300DB-9A3E-D5F1-23A6-F2D51003CCBD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16A1B58A-71C5-3876-5C8D-D225A3333DA7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D69D4793-AB96-E9FA-A8F0-30F5C60BBB03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682CB0E4-AB8D-AEBD-495D-59D4384ABBD6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B62964AE-85B1-A0AF-9E67-20EE7688E3B5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2A135D46-8548-0A59-9314-F3A34FD2BD4E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11..7 (</a:t>
            </a:r>
            <a:r>
              <a:rPr lang="es-ES_tradnl" sz="1000" i="1" noProof="0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0321278-8406-7C36-D78A-632AF71BD83F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841B1C92-A641-47C8-28FD-3A8D07C6FFDB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3E3C891D-FEA1-003A-FF27-DBD04156203E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72E4A816-4D4C-D5D6-5C34-EE69580B4539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94C6AEBA-40BB-DEB5-F633-354D6F9CBF4B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9051348D-FDC1-895E-EE53-667A53EA9007}"/>
              </a:ext>
            </a:extLst>
          </p:cNvPr>
          <p:cNvSpPr txBox="1"/>
          <p:nvPr/>
        </p:nvSpPr>
        <p:spPr>
          <a:xfrm>
            <a:off x="3860972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TipoInst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72E368AE-82B3-0497-559E-504430BE4A27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337B3F99-CA69-9436-5EEB-778405F734C3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2A719857-AC3B-1148-5FA3-39843B365768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7B695605-41A5-BFE5-C4FC-1BC0E2C42B01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0FA6AF23-D563-7244-1598-FC91E7D973D2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9F42E74E-61C7-79F1-1AFD-5CBA8E79056B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2D9AF67B-C3DE-6878-5D3D-DF818E223CCE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E9CF11B7-0064-1A2E-BA9B-204F71C65791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9D0C99C2-6795-A630-7EA3-92B80D8C266B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F63BA16C-4F2E-9435-19C3-994B6104141F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E9CBDEF3-8735-8955-198E-C2CECBFD7258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53100" y="4119459"/>
            <a:ext cx="229627" cy="1606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D132C118-A93D-CFD3-3493-86554566264E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5" name="Conector recto de flecha 197">
            <a:extLst>
              <a:ext uri="{FF2B5EF4-FFF2-40B4-BE49-F238E27FC236}">
                <a16:creationId xmlns:a16="http://schemas.microsoft.com/office/drawing/2014/main" id="{1BB382C7-1A5D-0A1A-1DF3-7E2A4F87F562}"/>
              </a:ext>
            </a:extLst>
          </p:cNvPr>
          <p:cNvCxnSpPr>
            <a:cxnSpLocks/>
            <a:endCxn id="354" idx="2"/>
          </p:cNvCxnSpPr>
          <p:nvPr/>
        </p:nvCxnSpPr>
        <p:spPr bwMode="auto">
          <a:xfrm>
            <a:off x="8325016" y="3757056"/>
            <a:ext cx="228414" cy="168013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631568FD-7B0B-E89C-71C9-13B895CB6348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123">
            <a:extLst>
              <a:ext uri="{FF2B5EF4-FFF2-40B4-BE49-F238E27FC236}">
                <a16:creationId xmlns:a16="http://schemas.microsoft.com/office/drawing/2014/main" id="{019529C5-CD23-7B17-75C0-AA9AC152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780" y="980728"/>
            <a:ext cx="366660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rs1,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=rs1+inm)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6F26ED74-1583-AAF1-E01A-CE055A1EE64D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0C1A158-34DC-39A8-FD56-B69B58A8E3A2}"/>
              </a:ext>
            </a:extLst>
          </p:cNvPr>
          <p:cNvGrpSpPr/>
          <p:nvPr/>
        </p:nvGrpSpPr>
        <p:grpSpPr>
          <a:xfrm>
            <a:off x="4892593" y="65375"/>
            <a:ext cx="4205790" cy="1109750"/>
            <a:chOff x="4892593" y="65375"/>
            <a:chExt cx="4205790" cy="110975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58EAF96D-A55A-FD1D-5BD8-78E92F78777A}"/>
                </a:ext>
              </a:extLst>
            </p:cNvPr>
            <p:cNvGrpSpPr/>
            <p:nvPr/>
          </p:nvGrpSpPr>
          <p:grpSpPr>
            <a:xfrm>
              <a:off x="4935123" y="65375"/>
              <a:ext cx="4163260" cy="850812"/>
              <a:chOff x="5581677" y="4243453"/>
              <a:chExt cx="3370184" cy="816427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83DD34B4-6489-485A-6C09-AD6073718ED8}"/>
                  </a:ext>
                </a:extLst>
              </p:cNvPr>
              <p:cNvGrpSpPr/>
              <p:nvPr/>
            </p:nvGrpSpPr>
            <p:grpSpPr>
              <a:xfrm>
                <a:off x="5581677" y="4243453"/>
                <a:ext cx="3370184" cy="816427"/>
                <a:chOff x="5491510" y="4834674"/>
                <a:chExt cx="3343969" cy="969508"/>
              </a:xfrm>
            </p:grpSpPr>
            <p:grpSp>
              <p:nvGrpSpPr>
                <p:cNvPr id="8" name="Group 9">
                  <a:extLst>
                    <a:ext uri="{FF2B5EF4-FFF2-40B4-BE49-F238E27FC236}">
                      <a16:creationId xmlns:a16="http://schemas.microsoft.com/office/drawing/2014/main" id="{6D8CEF8C-CB64-EDD0-6984-1F167919B6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91510" y="4834674"/>
                  <a:ext cx="3343969" cy="969508"/>
                  <a:chOff x="156" y="668"/>
                  <a:chExt cx="2544" cy="580"/>
                </a:xfrm>
              </p:grpSpPr>
              <p:sp>
                <p:nvSpPr>
                  <p:cNvPr id="15" name="Rectangle 10">
                    <a:extLst>
                      <a:ext uri="{FF2B5EF4-FFF2-40B4-BE49-F238E27FC236}">
                        <a16:creationId xmlns:a16="http://schemas.microsoft.com/office/drawing/2014/main" id="{6DA755DF-74A0-8569-B3AD-A8AEA156AF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6" y="668"/>
                    <a:ext cx="2544" cy="5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6" name="Group 155">
                    <a:extLst>
                      <a:ext uri="{FF2B5EF4-FFF2-40B4-BE49-F238E27FC236}">
                        <a16:creationId xmlns:a16="http://schemas.microsoft.com/office/drawing/2014/main" id="{D68C0A66-A33B-F786-75D0-9601774E73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" y="739"/>
                    <a:ext cx="2380" cy="259"/>
                    <a:chOff x="1253" y="1244"/>
                    <a:chExt cx="3067" cy="423"/>
                  </a:xfrm>
                </p:grpSpPr>
                <p:grpSp>
                  <p:nvGrpSpPr>
                    <p:cNvPr id="20" name="Group 5">
                      <a:extLst>
                        <a:ext uri="{FF2B5EF4-FFF2-40B4-BE49-F238E27FC236}">
                          <a16:creationId xmlns:a16="http://schemas.microsoft.com/office/drawing/2014/main" id="{702827CC-AB87-D857-A47D-B39EBB02E38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44"/>
                      <a:ext cx="3050" cy="423"/>
                      <a:chOff x="982" y="1234"/>
                      <a:chExt cx="3050" cy="423"/>
                    </a:xfrm>
                  </p:grpSpPr>
                  <p:sp>
                    <p:nvSpPr>
                      <p:cNvPr id="52" name="Rectangle 6">
                        <a:extLst>
                          <a:ext uri="{FF2B5EF4-FFF2-40B4-BE49-F238E27FC236}">
                            <a16:creationId xmlns:a16="http://schemas.microsoft.com/office/drawing/2014/main" id="{C9C147DD-31A1-9A8A-B8ED-B499BD08CA0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" y="1234"/>
                        <a:ext cx="3050" cy="42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53" name="Group 7">
                        <a:extLst>
                          <a:ext uri="{FF2B5EF4-FFF2-40B4-BE49-F238E27FC236}">
                            <a16:creationId xmlns:a16="http://schemas.microsoft.com/office/drawing/2014/main" id="{D6FA8473-6A29-9480-CC7A-1338AB57D99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54" name="Line 9">
                          <a:extLst>
                            <a:ext uri="{FF2B5EF4-FFF2-40B4-BE49-F238E27FC236}">
                              <a16:creationId xmlns:a16="http://schemas.microsoft.com/office/drawing/2014/main" id="{889C1C09-7420-91CA-A903-E5150F59D18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5" name="Line 10">
                          <a:extLst>
                            <a:ext uri="{FF2B5EF4-FFF2-40B4-BE49-F238E27FC236}">
                              <a16:creationId xmlns:a16="http://schemas.microsoft.com/office/drawing/2014/main" id="{47F8F07A-78B2-2AF6-E101-5B4AEB350A9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6" name="Line 11">
                          <a:extLst>
                            <a:ext uri="{FF2B5EF4-FFF2-40B4-BE49-F238E27FC236}">
                              <a16:creationId xmlns:a16="http://schemas.microsoft.com/office/drawing/2014/main" id="{826B4709-DDEC-69E9-BB44-55E390F4265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7" name="Line 12">
                          <a:extLst>
                            <a:ext uri="{FF2B5EF4-FFF2-40B4-BE49-F238E27FC236}">
                              <a16:creationId xmlns:a16="http://schemas.microsoft.com/office/drawing/2014/main" id="{D77319A9-52ED-F26F-3897-76B4276FAC1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8" name="Line 13">
                          <a:extLst>
                            <a:ext uri="{FF2B5EF4-FFF2-40B4-BE49-F238E27FC236}">
                              <a16:creationId xmlns:a16="http://schemas.microsoft.com/office/drawing/2014/main" id="{AE668CA7-7A72-EC6A-6486-0BCC5E8595D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9" name="Line 14">
                          <a:extLst>
                            <a:ext uri="{FF2B5EF4-FFF2-40B4-BE49-F238E27FC236}">
                              <a16:creationId xmlns:a16="http://schemas.microsoft.com/office/drawing/2014/main" id="{1F632F62-653D-C4E9-88A6-FF4966F5C7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1" name="Line 15">
                          <a:extLst>
                            <a:ext uri="{FF2B5EF4-FFF2-40B4-BE49-F238E27FC236}">
                              <a16:creationId xmlns:a16="http://schemas.microsoft.com/office/drawing/2014/main" id="{9248636C-3105-264A-86B2-B2540369ED6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2" name="Line 16">
                          <a:extLst>
                            <a:ext uri="{FF2B5EF4-FFF2-40B4-BE49-F238E27FC236}">
                              <a16:creationId xmlns:a16="http://schemas.microsoft.com/office/drawing/2014/main" id="{51CCF629-314A-012A-0A24-3140C2C67C3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3" name="Line 17">
                          <a:extLst>
                            <a:ext uri="{FF2B5EF4-FFF2-40B4-BE49-F238E27FC236}">
                              <a16:creationId xmlns:a16="http://schemas.microsoft.com/office/drawing/2014/main" id="{33F4FFE5-1F48-C85E-E475-865652C9F0D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4" name="Line 18">
                          <a:extLst>
                            <a:ext uri="{FF2B5EF4-FFF2-40B4-BE49-F238E27FC236}">
                              <a16:creationId xmlns:a16="http://schemas.microsoft.com/office/drawing/2014/main" id="{FB42D38D-D20F-558D-A9D7-C1F2D673B26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5" name="Line 19">
                          <a:extLst>
                            <a:ext uri="{FF2B5EF4-FFF2-40B4-BE49-F238E27FC236}">
                              <a16:creationId xmlns:a16="http://schemas.microsoft.com/office/drawing/2014/main" id="{428EA733-04FC-2938-5DC4-09AE38CA982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6" name="Line 20">
                          <a:extLst>
                            <a:ext uri="{FF2B5EF4-FFF2-40B4-BE49-F238E27FC236}">
                              <a16:creationId xmlns:a16="http://schemas.microsoft.com/office/drawing/2014/main" id="{312AFE6B-56AA-B344-13B3-BEA9C58A031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7" name="Line 21">
                          <a:extLst>
                            <a:ext uri="{FF2B5EF4-FFF2-40B4-BE49-F238E27FC236}">
                              <a16:creationId xmlns:a16="http://schemas.microsoft.com/office/drawing/2014/main" id="{15876417-F483-B9FD-13A6-EA307D50375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8" name="Line 22">
                          <a:extLst>
                            <a:ext uri="{FF2B5EF4-FFF2-40B4-BE49-F238E27FC236}">
                              <a16:creationId xmlns:a16="http://schemas.microsoft.com/office/drawing/2014/main" id="{D5A14259-823E-E795-13EB-64BF31F290B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9" name="Line 23">
                          <a:extLst>
                            <a:ext uri="{FF2B5EF4-FFF2-40B4-BE49-F238E27FC236}">
                              <a16:creationId xmlns:a16="http://schemas.microsoft.com/office/drawing/2014/main" id="{30DF3986-12E3-EE67-B4CB-ABD996CBA44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" name="Line 24">
                          <a:extLst>
                            <a:ext uri="{FF2B5EF4-FFF2-40B4-BE49-F238E27FC236}">
                              <a16:creationId xmlns:a16="http://schemas.microsoft.com/office/drawing/2014/main" id="{A69CE90F-54E8-5D44-9090-16E4DF0111F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1" name="Line 25">
                          <a:extLst>
                            <a:ext uri="{FF2B5EF4-FFF2-40B4-BE49-F238E27FC236}">
                              <a16:creationId xmlns:a16="http://schemas.microsoft.com/office/drawing/2014/main" id="{EE3FE2DF-B604-77A7-DF0B-1A8E2D5C9CA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3" name="Line 26">
                          <a:extLst>
                            <a:ext uri="{FF2B5EF4-FFF2-40B4-BE49-F238E27FC236}">
                              <a16:creationId xmlns:a16="http://schemas.microsoft.com/office/drawing/2014/main" id="{B19D6BCF-BC62-5A50-01F9-CF582DCE5E0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4" name="Line 27">
                          <a:extLst>
                            <a:ext uri="{FF2B5EF4-FFF2-40B4-BE49-F238E27FC236}">
                              <a16:creationId xmlns:a16="http://schemas.microsoft.com/office/drawing/2014/main" id="{8175BB56-31D6-3C82-6967-966AFE9386B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5" name="Line 28">
                          <a:extLst>
                            <a:ext uri="{FF2B5EF4-FFF2-40B4-BE49-F238E27FC236}">
                              <a16:creationId xmlns:a16="http://schemas.microsoft.com/office/drawing/2014/main" id="{0D554571-A3DB-422D-7C8A-06BBB5A7C64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6" name="Line 29">
                          <a:extLst>
                            <a:ext uri="{FF2B5EF4-FFF2-40B4-BE49-F238E27FC236}">
                              <a16:creationId xmlns:a16="http://schemas.microsoft.com/office/drawing/2014/main" id="{618AF64E-E195-86B6-7E16-2F0C10E2711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7" name="Line 30">
                          <a:extLst>
                            <a:ext uri="{FF2B5EF4-FFF2-40B4-BE49-F238E27FC236}">
                              <a16:creationId xmlns:a16="http://schemas.microsoft.com/office/drawing/2014/main" id="{ED05DFE2-CF9C-B536-3581-4EA6EB6F521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8" name="Line 31">
                          <a:extLst>
                            <a:ext uri="{FF2B5EF4-FFF2-40B4-BE49-F238E27FC236}">
                              <a16:creationId xmlns:a16="http://schemas.microsoft.com/office/drawing/2014/main" id="{3C813135-32FE-4D74-D6D1-D44E3AC853F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9" name="Line 32">
                          <a:extLst>
                            <a:ext uri="{FF2B5EF4-FFF2-40B4-BE49-F238E27FC236}">
                              <a16:creationId xmlns:a16="http://schemas.microsoft.com/office/drawing/2014/main" id="{A433CA52-0869-75FA-2C38-A5DECFA274B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0" name="Line 33">
                          <a:extLst>
                            <a:ext uri="{FF2B5EF4-FFF2-40B4-BE49-F238E27FC236}">
                              <a16:creationId xmlns:a16="http://schemas.microsoft.com/office/drawing/2014/main" id="{DECCFA22-C59E-BD02-13E3-4705DC9F845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1" name="Line 34">
                          <a:extLst>
                            <a:ext uri="{FF2B5EF4-FFF2-40B4-BE49-F238E27FC236}">
                              <a16:creationId xmlns:a16="http://schemas.microsoft.com/office/drawing/2014/main" id="{1220B524-15C9-3DE2-CC60-179763E61C8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2" name="Line 35">
                          <a:extLst>
                            <a:ext uri="{FF2B5EF4-FFF2-40B4-BE49-F238E27FC236}">
                              <a16:creationId xmlns:a16="http://schemas.microsoft.com/office/drawing/2014/main" id="{5A45C849-AF7E-7347-33B3-A8EFE2661F6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3" name="Line 36">
                          <a:extLst>
                            <a:ext uri="{FF2B5EF4-FFF2-40B4-BE49-F238E27FC236}">
                              <a16:creationId xmlns:a16="http://schemas.microsoft.com/office/drawing/2014/main" id="{47DFACB6-F1CE-A342-1C52-8C37180F776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4" name="Line 37">
                          <a:extLst>
                            <a:ext uri="{FF2B5EF4-FFF2-40B4-BE49-F238E27FC236}">
                              <a16:creationId xmlns:a16="http://schemas.microsoft.com/office/drawing/2014/main" id="{27F12CBD-4AEF-0331-00E7-DA9ABEFC515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5" name="Line 38">
                          <a:extLst>
                            <a:ext uri="{FF2B5EF4-FFF2-40B4-BE49-F238E27FC236}">
                              <a16:creationId xmlns:a16="http://schemas.microsoft.com/office/drawing/2014/main" id="{FCFFC092-D678-5E17-D221-AAF5F64C2A9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32" name="Text Box 40">
                      <a:extLst>
                        <a:ext uri="{FF2B5EF4-FFF2-40B4-BE49-F238E27FC236}">
                          <a16:creationId xmlns:a16="http://schemas.microsoft.com/office/drawing/2014/main" id="{A0219008-6EA6-A441-4DF1-6BE21AB086C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53" y="1312"/>
                      <a:ext cx="1209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[11:0]</a:t>
                      </a:r>
                    </a:p>
                  </p:txBody>
                </p:sp>
                <p:sp>
                  <p:nvSpPr>
                    <p:cNvPr id="33" name="Text Box 41">
                      <a:extLst>
                        <a:ext uri="{FF2B5EF4-FFF2-40B4-BE49-F238E27FC236}">
                          <a16:creationId xmlns:a16="http://schemas.microsoft.com/office/drawing/2014/main" id="{E242730A-CFB5-681E-1A1A-4971359A9DD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51" y="1326"/>
                      <a:ext cx="543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34" name="Line 42">
                      <a:extLst>
                        <a:ext uri="{FF2B5EF4-FFF2-40B4-BE49-F238E27FC236}">
                          <a16:creationId xmlns:a16="http://schemas.microsoft.com/office/drawing/2014/main" id="{AC7C14D5-DA93-509E-C8C6-5C01FC337C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04" y="1302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5" name="Line 43">
                      <a:extLst>
                        <a:ext uri="{FF2B5EF4-FFF2-40B4-BE49-F238E27FC236}">
                          <a16:creationId xmlns:a16="http://schemas.microsoft.com/office/drawing/2014/main" id="{0067198D-ADC5-4CAF-B2EA-6DDB76F5837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0" y="1316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6" name="Line 44">
                      <a:extLst>
                        <a:ext uri="{FF2B5EF4-FFF2-40B4-BE49-F238E27FC236}">
                          <a16:creationId xmlns:a16="http://schemas.microsoft.com/office/drawing/2014/main" id="{81D7D30D-3143-7CF4-BA26-15BAFF56294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51" y="1304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8" name="Text Box 46">
                      <a:extLst>
                        <a:ext uri="{FF2B5EF4-FFF2-40B4-BE49-F238E27FC236}">
                          <a16:creationId xmlns:a16="http://schemas.microsoft.com/office/drawing/2014/main" id="{96E3FA15-BD6A-6FFB-13F9-C24508FBF83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44" y="1314"/>
                      <a:ext cx="399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40" name="Text Box 47">
                      <a:extLst>
                        <a:ext uri="{FF2B5EF4-FFF2-40B4-BE49-F238E27FC236}">
                          <a16:creationId xmlns:a16="http://schemas.microsoft.com/office/drawing/2014/main" id="{EAE67CA8-DD12-B925-58AA-FA8DBDEA8C5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58" y="1307"/>
                      <a:ext cx="662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1" name="Line 153">
                      <a:extLst>
                        <a:ext uri="{FF2B5EF4-FFF2-40B4-BE49-F238E27FC236}">
                          <a16:creationId xmlns:a16="http://schemas.microsoft.com/office/drawing/2014/main" id="{B168C683-4163-A7E1-B7C2-143618D6D4C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66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9" name="Line 11">
                  <a:extLst>
                    <a:ext uri="{FF2B5EF4-FFF2-40B4-BE49-F238E27FC236}">
                      <a16:creationId xmlns:a16="http://schemas.microsoft.com/office/drawing/2014/main" id="{CD36D45F-59E0-1F18-2984-2EA1385C38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70008" y="5256087"/>
                  <a:ext cx="0" cy="9782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500" noProof="0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" name="Text Box 41">
                <a:extLst>
                  <a:ext uri="{FF2B5EF4-FFF2-40B4-BE49-F238E27FC236}">
                    <a16:creationId xmlns:a16="http://schemas.microsoft.com/office/drawing/2014/main" id="{FF1086BF-509D-6F7F-D879-F8C10DBEE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63198" y="4392001"/>
                <a:ext cx="383616" cy="1756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rd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AAB8013A-2439-B6AA-B888-A0614F6B8378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4D51062-FF9A-C027-C05E-5347911FAA1F}"/>
                </a:ext>
              </a:extLst>
            </p:cNvPr>
            <p:cNvGrpSpPr/>
            <p:nvPr/>
          </p:nvGrpSpPr>
          <p:grpSpPr>
            <a:xfrm>
              <a:off x="4892593" y="497832"/>
              <a:ext cx="4063282" cy="269903"/>
              <a:chOff x="5081012" y="664087"/>
              <a:chExt cx="4063282" cy="269903"/>
            </a:xfrm>
          </p:grpSpPr>
          <p:sp>
            <p:nvSpPr>
              <p:cNvPr id="11" name="Text Box 48">
                <a:extLst>
                  <a:ext uri="{FF2B5EF4-FFF2-40B4-BE49-F238E27FC236}">
                    <a16:creationId xmlns:a16="http://schemas.microsoft.com/office/drawing/2014/main" id="{0A266FC2-8E0F-F043-C1AF-3AE1D91B0D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1012" y="668662"/>
                <a:ext cx="372053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31</a:t>
                </a:r>
              </a:p>
            </p:txBody>
          </p:sp>
          <p:sp>
            <p:nvSpPr>
              <p:cNvPr id="13" name="Text Box 50">
                <a:extLst>
                  <a:ext uri="{FF2B5EF4-FFF2-40B4-BE49-F238E27FC236}">
                    <a16:creationId xmlns:a16="http://schemas.microsoft.com/office/drawing/2014/main" id="{85578A4D-F863-A8DC-2CED-3FE440DBB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2698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14" name="Text Box 51">
                <a:extLst>
                  <a:ext uri="{FF2B5EF4-FFF2-40B4-BE49-F238E27FC236}">
                    <a16:creationId xmlns:a16="http://schemas.microsoft.com/office/drawing/2014/main" id="{0A99B92E-9AEE-F79B-0590-7E2C802B4E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1744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15</a:t>
                </a:r>
              </a:p>
            </p:txBody>
          </p:sp>
          <p:sp>
            <p:nvSpPr>
              <p:cNvPr id="17" name="Text Box 52">
                <a:extLst>
                  <a:ext uri="{FF2B5EF4-FFF2-40B4-BE49-F238E27FC236}">
                    <a16:creationId xmlns:a16="http://schemas.microsoft.com/office/drawing/2014/main" id="{01C960F1-6703-71D0-4567-809FEAF19B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5972" y="668662"/>
                <a:ext cx="270121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19" name="Text Box 53">
                <a:extLst>
                  <a:ext uri="{FF2B5EF4-FFF2-40B4-BE49-F238E27FC236}">
                    <a16:creationId xmlns:a16="http://schemas.microsoft.com/office/drawing/2014/main" id="{CA6F14C5-F54C-C877-B744-EB8ADD6D0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9348" y="674380"/>
                <a:ext cx="194946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21" name="Text Box 154">
                <a:extLst>
                  <a:ext uri="{FF2B5EF4-FFF2-40B4-BE49-F238E27FC236}">
                    <a16:creationId xmlns:a16="http://schemas.microsoft.com/office/drawing/2014/main" id="{211D112D-CB36-5C20-69F4-DED7BCEA29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8429" y="664087"/>
                <a:ext cx="51348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12</a:t>
                </a:r>
              </a:p>
            </p:txBody>
          </p:sp>
        </p:grp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BD4827-4BC6-86BF-A33B-6020B0EC9DF0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  <p:extLst>
      <p:ext uri="{BB962C8B-B14F-4D97-AF65-F5344CB8AC3E}">
        <p14:creationId xmlns:p14="http://schemas.microsoft.com/office/powerpoint/2010/main" val="2761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7F99-7BD5-693A-5981-F1D87A05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65AFE-694F-136E-1387-D7A3B025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Señales de control: Aritméticas y lógicas tipo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F8E46E-2B64-2CFF-56CB-C187AEFB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71</a:t>
            </a:fld>
            <a:endParaRPr lang="es-ES_tradnl" noProof="0" dirty="0"/>
          </a:p>
        </p:txBody>
      </p:sp>
      <p:graphicFrame>
        <p:nvGraphicFramePr>
          <p:cNvPr id="26" name="Marcador de contenido 5">
            <a:extLst>
              <a:ext uri="{FF2B5EF4-FFF2-40B4-BE49-F238E27FC236}">
                <a16:creationId xmlns:a16="http://schemas.microsoft.com/office/drawing/2014/main" id="{1090F5E1-8CA9-98D4-50C0-8D5D39D348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723788"/>
              </p:ext>
            </p:extLst>
          </p:nvPr>
        </p:nvGraphicFramePr>
        <p:xfrm>
          <a:off x="816219" y="895952"/>
          <a:ext cx="8117470" cy="164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_tradnl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518CB1EF-CEBC-3EEF-42C9-5E9725C6B461}"/>
              </a:ext>
            </a:extLst>
          </p:cNvPr>
          <p:cNvSpPr txBox="1"/>
          <p:nvPr/>
        </p:nvSpPr>
        <p:spPr>
          <a:xfrm>
            <a:off x="2414028" y="2872681"/>
            <a:ext cx="903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Entradas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9644BD-3038-72B1-7785-236946A72FDC}"/>
              </a:ext>
            </a:extLst>
          </p:cNvPr>
          <p:cNvSpPr txBox="1"/>
          <p:nvPr/>
        </p:nvSpPr>
        <p:spPr>
          <a:xfrm>
            <a:off x="5936653" y="2872681"/>
            <a:ext cx="77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Salidas</a:t>
            </a:r>
          </a:p>
        </p:txBody>
      </p:sp>
      <p:sp>
        <p:nvSpPr>
          <p:cNvPr id="8" name="Abrir llave 9">
            <a:extLst>
              <a:ext uri="{FF2B5EF4-FFF2-40B4-BE49-F238E27FC236}">
                <a16:creationId xmlns:a16="http://schemas.microsoft.com/office/drawing/2014/main" id="{6EC4DE2E-5354-9F28-42A4-8EB1E81D7BA1}"/>
              </a:ext>
            </a:extLst>
          </p:cNvPr>
          <p:cNvSpPr/>
          <p:nvPr/>
        </p:nvSpPr>
        <p:spPr bwMode="auto">
          <a:xfrm rot="16200000">
            <a:off x="6239321" y="219523"/>
            <a:ext cx="307777" cy="4998540"/>
          </a:xfrm>
          <a:prstGeom prst="leftBrace">
            <a:avLst>
              <a:gd name="adj1" fmla="val 8333"/>
              <a:gd name="adj2" fmla="val 52222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90E9C64-3102-A8D2-D24D-4E70270E3AB3}"/>
              </a:ext>
            </a:extLst>
          </p:cNvPr>
          <p:cNvSpPr/>
          <p:nvPr/>
        </p:nvSpPr>
        <p:spPr bwMode="auto">
          <a:xfrm rot="16200000">
            <a:off x="2952042" y="2025059"/>
            <a:ext cx="307340" cy="1387904"/>
          </a:xfrm>
          <a:prstGeom prst="leftBrace">
            <a:avLst>
              <a:gd name="adj1" fmla="val 8333"/>
              <a:gd name="adj2" fmla="val 52222"/>
            </a:avLst>
          </a:prstGeom>
          <a:noFill/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8" name="Rectangle 168">
            <a:extLst>
              <a:ext uri="{FF2B5EF4-FFF2-40B4-BE49-F238E27FC236}">
                <a16:creationId xmlns:a16="http://schemas.microsoft.com/office/drawing/2014/main" id="{BAA40790-611A-A73B-262B-0A61324EA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solidFill>
              <a:srgbClr val="FF660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0" dirty="0" err="1">
                <a:solidFill>
                  <a:srgbClr val="FF6600"/>
                </a:solidFill>
                <a:latin typeface="Calibri" pitchFamily="-103" charset="0"/>
              </a:rPr>
              <a:t>OpALU</a:t>
            </a:r>
            <a:r>
              <a:rPr lang="es-ES_tradnl" sz="1200" noProof="0" dirty="0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0" dirty="0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000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noProof="0" dirty="0">
                <a:latin typeface="Calibri" pitchFamily="-103" charset="0"/>
              </a:rPr>
              <a:t>001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0" dirty="0">
                <a:latin typeface="Calibri" pitchFamily="-103" charset="0"/>
              </a:rPr>
              <a:t> b (</a:t>
            </a:r>
            <a:r>
              <a:rPr lang="es-ES_tradnl" sz="1200" noProof="0" dirty="0" err="1">
                <a:latin typeface="Calibri" pitchFamily="-103" charset="0"/>
              </a:rPr>
              <a:t>or</a:t>
            </a:r>
            <a:r>
              <a:rPr lang="es-ES_tradnl" sz="1200" noProof="0" dirty="0">
                <a:latin typeface="Calibri" pitchFamily="-103" charset="0"/>
              </a:rPr>
              <a:t>)</a:t>
            </a:r>
          </a:p>
          <a:p>
            <a:pPr algn="l"/>
            <a:r>
              <a:rPr lang="es-ES_tradnl" sz="1200" noProof="0" dirty="0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110	a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i="1" noProof="0" dirty="0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sp>
        <p:nvSpPr>
          <p:cNvPr id="6" name="Llamada rectangular redondeada 5">
            <a:extLst>
              <a:ext uri="{FF2B5EF4-FFF2-40B4-BE49-F238E27FC236}">
                <a16:creationId xmlns:a16="http://schemas.microsoft.com/office/drawing/2014/main" id="{09A920CA-8E43-4F07-162C-CBB06B851376}"/>
              </a:ext>
            </a:extLst>
          </p:cNvPr>
          <p:cNvSpPr/>
          <p:nvPr/>
        </p:nvSpPr>
        <p:spPr bwMode="auto">
          <a:xfrm>
            <a:off x="6228184" y="3933056"/>
            <a:ext cx="2514600" cy="1046430"/>
          </a:xfrm>
          <a:prstGeom prst="wedgeRoundRectCallout">
            <a:avLst>
              <a:gd name="adj1" fmla="val 22348"/>
              <a:gd name="adj2" fmla="val -184919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C00000"/>
                </a:solidFill>
              </a:rPr>
              <a:t>Distinto camino para instrucciones </a:t>
            </a:r>
          </a:p>
          <a:p>
            <a:r>
              <a:rPr lang="es-ES_tradnl" sz="1200" noProof="0" dirty="0">
                <a:solidFill>
                  <a:srgbClr val="C00000"/>
                </a:solidFill>
              </a:rPr>
              <a:t>tipo R (</a:t>
            </a:r>
            <a:r>
              <a:rPr lang="es-ES_tradnl" sz="1200" noProof="0" dirty="0" err="1">
                <a:solidFill>
                  <a:srgbClr val="C00000"/>
                </a:solidFill>
              </a:rPr>
              <a:t>opcode</a:t>
            </a:r>
            <a:r>
              <a:rPr lang="es-ES_tradnl" sz="1200" noProof="0" dirty="0">
                <a:solidFill>
                  <a:srgbClr val="C00000"/>
                </a:solidFill>
              </a:rPr>
              <a:t>=0110011)</a:t>
            </a:r>
          </a:p>
          <a:p>
            <a:r>
              <a:rPr lang="es-ES_tradnl" sz="1200" noProof="0" dirty="0">
                <a:solidFill>
                  <a:srgbClr val="C00000"/>
                </a:solidFill>
              </a:rPr>
              <a:t>e instrucciones </a:t>
            </a:r>
          </a:p>
          <a:p>
            <a:r>
              <a:rPr lang="es-ES_tradnl" sz="1200" noProof="0" dirty="0">
                <a:solidFill>
                  <a:srgbClr val="C00000"/>
                </a:solidFill>
              </a:rPr>
              <a:t>tipo I (</a:t>
            </a:r>
            <a:r>
              <a:rPr lang="es-ES_tradnl" sz="1200" noProof="0" dirty="0" err="1">
                <a:solidFill>
                  <a:srgbClr val="C00000"/>
                </a:solidFill>
              </a:rPr>
              <a:t>opcode</a:t>
            </a:r>
            <a:r>
              <a:rPr lang="es-ES_tradnl" sz="1200" noProof="0" dirty="0">
                <a:solidFill>
                  <a:srgbClr val="C00000"/>
                </a:solidFill>
              </a:rPr>
              <a:t>=0010011)</a:t>
            </a:r>
          </a:p>
        </p:txBody>
      </p:sp>
      <p:sp>
        <p:nvSpPr>
          <p:cNvPr id="7" name="9 Rectángulo">
            <a:extLst>
              <a:ext uri="{FF2B5EF4-FFF2-40B4-BE49-F238E27FC236}">
                <a16:creationId xmlns:a16="http://schemas.microsoft.com/office/drawing/2014/main" id="{424E3C08-3816-FD38-414A-83D88E99A0A7}"/>
              </a:ext>
            </a:extLst>
          </p:cNvPr>
          <p:cNvSpPr/>
          <p:nvPr/>
        </p:nvSpPr>
        <p:spPr bwMode="auto">
          <a:xfrm>
            <a:off x="7740352" y="1760048"/>
            <a:ext cx="648072" cy="78089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735216974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BB95-8425-9DD4-D763-530A0EA1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C0156-24A8-EB3B-64F2-7AA59DCF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Ruta de datos para </a:t>
            </a:r>
            <a:br>
              <a:rPr lang="es-ES_tradnl" noProof="0" dirty="0"/>
            </a:br>
            <a:r>
              <a:rPr lang="es-ES_tradnl" noProof="0" dirty="0"/>
              <a:t>instrucciones tipo I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00F009-6A26-39AD-3E3C-28ED6BE1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72</a:t>
            </a:fld>
            <a:endParaRPr lang="es-ES_tradnl" noProof="0" dirty="0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C7FA71E7-537E-E62D-4407-6768C9D19778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Conf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MUXs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MxPC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0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MxA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MxB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MxER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1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8A2D13FD-9CA1-F373-DD9B-27595DC10A24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0" cy="94606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B260B21F-B7CF-AADF-B4C2-73269E1E2A72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AB8B27C4-40D7-C7DE-EF6F-72861973CE37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1E75A206-F664-F873-8AEF-9BE7C0C3BF75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C39266B5-1ED3-3C95-C076-463A17213D1C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4E000517-6862-3DE5-310A-6E546C6D8405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7CAF80F0-FA7A-A880-3E0D-170ED589AB2A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4B08E226-AE53-EB2E-6DDD-D53CA1568A46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D61B6DB2-0A00-B14E-7C50-E99BA6E4721E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C53F5A2C-0E2B-06E4-CE83-5E7F240AFD92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48723FEF-0EF4-87BE-5B0F-08C95C09DD80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D5E459E1-C17A-A644-35A4-9577F5A74552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0AAFDA9A-A0B8-A518-F31A-B6C78D18685D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386ABBEC-3637-D108-D0DE-F2DE9B5EAAD6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C3452FFB-42F7-7987-F695-CDCB201DED2B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0547057F-18E8-3320-9B89-D3A45CE225F5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FCE8D94C-0481-14F4-A7B6-0CC05EF064A0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5EB48694-3D4C-5704-0761-E071095E304B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6257ECD8-BDD2-F2F1-E388-FBFE1D1408EB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9D39CDA4-A9E3-9193-D50C-F2716C1A8725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1AEAB7E5-1984-5D07-D38D-CE00C2B255EF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62457737-5DE5-BAFD-CCF7-DAE370C03B94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C506C9A2-3E5D-C203-8751-E7759B1CF850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18739A30-501E-4257-4B9B-478FE4266F7F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0046EA33-E018-BB51-4038-831610469475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680B695E-4946-5EEC-4F09-0493E83BA15E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DA61D76C-C8B6-B75F-3A2C-F5126838BB9F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EF7BFB53-D8F5-F4E6-4D69-32FCB7867694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BABB95BA-7249-2E46-6E1A-92767B3F1DDF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58A3A5C2-6C00-DC6A-93A2-23318357683B}"/>
              </a:ext>
            </a:extLst>
          </p:cNvPr>
          <p:cNvCxnSpPr>
            <a:cxnSpLocks/>
            <a:stCxn id="384" idx="3"/>
          </p:cNvCxnSpPr>
          <p:nvPr/>
        </p:nvCxnSpPr>
        <p:spPr bwMode="auto">
          <a:xfrm flipV="1">
            <a:off x="5479811" y="3908190"/>
            <a:ext cx="273289" cy="526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731BC66E-B917-84E7-E8E9-6C13D6B5DC5E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EDC1BB6A-1A43-3B32-CC70-4569317E8C30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F9448E09-1902-622A-5146-1CEC915B643C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99789139-F62B-BB7C-8690-59DC07ED3113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7C0CF4B1-9A5C-3727-31DF-6DC5F0D03B7A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1AD214D4-066C-0109-C0ED-505232AF989F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E56EE527-F6F4-9DC6-92DB-6FEA8A9B9222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1478D9B9-B7F8-21C2-BE46-5007CB0AE359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397E9EA9-7063-F3EB-05FC-C7F102E89ADD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01E2F4CD-C0E8-C753-FECD-7FE0BF4C8A0C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BB512B23-4519-BBA5-A3D7-C4A8602DC163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26882509-3CD7-E480-2A20-E496320DB904}"/>
              </a:ext>
            </a:extLst>
          </p:cNvPr>
          <p:cNvCxnSpPr>
            <a:cxnSpLocks/>
            <a:stCxn id="365" idx="3"/>
          </p:cNvCxnSpPr>
          <p:nvPr/>
        </p:nvCxnSpPr>
        <p:spPr bwMode="auto">
          <a:xfrm flipV="1">
            <a:off x="7376831" y="3757848"/>
            <a:ext cx="931265" cy="350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04644148-F19C-0152-30C2-141FC544D02B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B4C31B32-9679-2639-D535-EBFD42EC799E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79ABA46C-4FCA-B744-033E-534B3F65E7FB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000000"/>
                </a:solidFill>
              </a:rPr>
              <a:t>Memoria</a:t>
            </a:r>
          </a:p>
          <a:p>
            <a:r>
              <a:rPr lang="es-ES_tradnl" sz="1200" noProof="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B3EE65C3-4567-2D4F-6C3C-A767A8A42F85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75A61A47-1377-6125-6C52-554BADE2068C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73D47C77-71C3-C931-2D0E-3594DEC5AC23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15E37669-7294-3C00-E091-5CAC2ABAF81E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2842282B-F2DC-623F-40D4-DDD57CC9BC9D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97677B27-13D2-68B9-65CC-08AD13D13814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LMem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F7828036-C66E-EDD4-933F-5B78F3887093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8F92F6FD-BEC2-41BC-4E1C-48FD4DF19D51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F2BC5BCD-3732-4420-5B33-856550E3F5F1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EReg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C1247952-AD83-A7AA-CCCF-3996288D341B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4A1F1213-80E5-DA81-5495-9F4CB493B97C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21C5140F-20E6-69BD-C11A-BF2D364E5699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E8641A9E-217F-8094-8B9F-D97D61C4883F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254C49A4-CF88-3462-8846-2AF7CB195009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5B18DAB8-51B7-0E42-7BC1-5130FA100AEE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14050087-3673-CB80-D8FB-C135F9E1282F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BEFF8A48-3696-F477-4A2D-55792000A075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9AD93BB7-9CDB-0595-FB4C-31C856EF8720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7D3D0029-BF4A-8657-9073-8F9B37810CF5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F6CA58FB-12BC-2781-EAF4-3059C17E4F73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MxER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AEF77D44-9BCF-E3D9-D533-EEA6E149CEDC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C3FD2772-D143-F08E-D9FF-C28C836FB236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6BB36AC8-BD0F-AB54-C1B7-DB8A02483793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26376837-9294-A58A-9439-AF56A818602C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BA9BB3AE-0EBF-4380-19A0-DC7AA6F5FF46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F17B25BF-E441-C6A5-7568-3B60DD550AE8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606D4C95-4ACA-2B60-273C-2FE28BC0FE72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FC52FA18-C4F5-0DBA-EDDB-1EB6AC5AEE9D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843F157A-C9DF-DB66-FC62-72DABAD0962D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6934B630-3E4C-F0CD-78D0-C3FBD021153F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9505A6CD-6839-06AE-A8CE-F6BB6E756AE4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30DFAB0F-0F3F-DD77-0526-0F86C69D778C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A6A5CCE4-573C-AD28-25B7-F4A9E5C66507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8FE17F6C-E604-067E-5449-AAFFD0013EBB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A0F78BB2-E04A-2B96-22F2-06D6B563A6A3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DA7C8F61-00C1-0C72-AA49-954542A40F13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469CE20B-8F61-C441-9233-143803E15658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2BC12D1C-CEC0-0786-258C-D76D7F0BBDC4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BFC9BCB8-9604-888B-17EF-EBF2ABEBA9A7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DA30CCD0-250F-F09D-E8B2-0DAE980F6B68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344023C7-115B-F090-70EE-D7B607BE32D6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11..7 (</a:t>
            </a:r>
            <a:r>
              <a:rPr lang="es-ES_tradnl" sz="1000" i="1" noProof="0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61DFC8B9-A7BC-AB21-6042-5827C1D8D57E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80128C00-74FA-B465-2AC4-EFEF4E4D67F5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76C56886-B9E1-EA9D-6361-BE07A4F9DB15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006C90E5-F814-FB31-856F-A3AD75715035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815986EB-1AC4-13D7-212E-F782D2F39EC1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6BD311D4-BBB6-D8A9-28EB-319B701A3C15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TipoInst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A9C60055-92E3-59CE-7B25-95436C8298E9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6AC830AC-1237-A4F0-F5D6-6162B73406A3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33454FEB-1822-49B7-92F6-0429BCFFAEC7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AA694CAF-9032-5679-6458-269C70D97DA5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57D16F21-928B-54CD-A675-2165AE864707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CF805C68-5651-0BFD-3A85-5B25AD12D083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7515CB93-CB01-8E55-212D-9C4A38E8D70F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79C70107-F324-518B-51C4-7534FED27DEC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A5D0DACC-F230-F0D5-7F49-207B77EB8D71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478EC158-2CDE-BCF0-0268-8EE78365CC9E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2FE38A69-0CC2-444D-6BBA-D292CD3B2BC5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53100" y="4119459"/>
            <a:ext cx="229627" cy="1606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16CDF000-F3A8-BCDF-574C-C94C22D69F98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5" name="Conector recto de flecha 197">
            <a:extLst>
              <a:ext uri="{FF2B5EF4-FFF2-40B4-BE49-F238E27FC236}">
                <a16:creationId xmlns:a16="http://schemas.microsoft.com/office/drawing/2014/main" id="{988AEAFD-0AAC-F146-F882-6862CB7756CE}"/>
              </a:ext>
            </a:extLst>
          </p:cNvPr>
          <p:cNvCxnSpPr>
            <a:cxnSpLocks/>
            <a:endCxn id="354" idx="2"/>
          </p:cNvCxnSpPr>
          <p:nvPr/>
        </p:nvCxnSpPr>
        <p:spPr bwMode="auto">
          <a:xfrm flipV="1">
            <a:off x="8325016" y="3925069"/>
            <a:ext cx="228414" cy="15351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83836BAA-3D83-F321-7504-DC182CF1133A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123">
            <a:extLst>
              <a:ext uri="{FF2B5EF4-FFF2-40B4-BE49-F238E27FC236}">
                <a16:creationId xmlns:a16="http://schemas.microsoft.com/office/drawing/2014/main" id="{D814E68B-2C4B-76B6-9575-5C599DFE7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286" y="980728"/>
            <a:ext cx="28970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(rs1) (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[rs1+inm])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87D3699-93D3-0C14-1925-6AB7D7D624AC}"/>
              </a:ext>
            </a:extLst>
          </p:cNvPr>
          <p:cNvCxnSpPr>
            <a:cxnSpLocks/>
            <a:endCxn id="365" idx="1"/>
          </p:cNvCxnSpPr>
          <p:nvPr/>
        </p:nvCxnSpPr>
        <p:spPr bwMode="auto">
          <a:xfrm>
            <a:off x="6915337" y="3757056"/>
            <a:ext cx="385356" cy="42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E2FF220-993B-1F44-2B83-538704CBBA23}"/>
              </a:ext>
            </a:extLst>
          </p:cNvPr>
          <p:cNvCxnSpPr>
            <a:cxnSpLocks/>
            <a:endCxn id="384" idx="1"/>
          </p:cNvCxnSpPr>
          <p:nvPr/>
        </p:nvCxnSpPr>
        <p:spPr bwMode="auto">
          <a:xfrm flipV="1">
            <a:off x="4991608" y="3913453"/>
            <a:ext cx="412065" cy="29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A751EA0-281A-954E-8687-FB3661132C7B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2439E1D-8BC4-740D-9B41-93E647335A30}"/>
              </a:ext>
            </a:extLst>
          </p:cNvPr>
          <p:cNvCxnSpPr>
            <a:cxnSpLocks/>
            <a:stCxn id="384" idx="2"/>
            <a:endCxn id="24" idx="0"/>
          </p:cNvCxnSpPr>
          <p:nvPr/>
        </p:nvCxnSpPr>
        <p:spPr bwMode="auto">
          <a:xfrm flipH="1">
            <a:off x="5441637" y="3951434"/>
            <a:ext cx="105" cy="82563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Grupo 41">
            <a:extLst>
              <a:ext uri="{FF2B5EF4-FFF2-40B4-BE49-F238E27FC236}">
                <a16:creationId xmlns:a16="http://schemas.microsoft.com/office/drawing/2014/main" id="{AC1D04C9-6C82-146C-9175-3B2A320F6B82}"/>
              </a:ext>
            </a:extLst>
          </p:cNvPr>
          <p:cNvGrpSpPr/>
          <p:nvPr/>
        </p:nvGrpSpPr>
        <p:grpSpPr>
          <a:xfrm>
            <a:off x="4906446" y="65375"/>
            <a:ext cx="4191937" cy="1109750"/>
            <a:chOff x="4906446" y="65375"/>
            <a:chExt cx="4191937" cy="110975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7730C9B2-9C1D-F7E1-DDFA-758DA4476A29}"/>
                </a:ext>
              </a:extLst>
            </p:cNvPr>
            <p:cNvGrpSpPr/>
            <p:nvPr/>
          </p:nvGrpSpPr>
          <p:grpSpPr>
            <a:xfrm>
              <a:off x="4935123" y="65375"/>
              <a:ext cx="4163260" cy="850812"/>
              <a:chOff x="5581677" y="4243453"/>
              <a:chExt cx="3370184" cy="816427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795E3684-0F6D-A3F4-8935-197360522A12}"/>
                  </a:ext>
                </a:extLst>
              </p:cNvPr>
              <p:cNvGrpSpPr/>
              <p:nvPr/>
            </p:nvGrpSpPr>
            <p:grpSpPr>
              <a:xfrm>
                <a:off x="5581677" y="4243453"/>
                <a:ext cx="3370184" cy="816427"/>
                <a:chOff x="5491510" y="4834674"/>
                <a:chExt cx="3343969" cy="969508"/>
              </a:xfrm>
            </p:grpSpPr>
            <p:grpSp>
              <p:nvGrpSpPr>
                <p:cNvPr id="8" name="Group 9">
                  <a:extLst>
                    <a:ext uri="{FF2B5EF4-FFF2-40B4-BE49-F238E27FC236}">
                      <a16:creationId xmlns:a16="http://schemas.microsoft.com/office/drawing/2014/main" id="{77EEC14D-61C1-762B-9828-B1C7FB51CD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91510" y="4834674"/>
                  <a:ext cx="3343969" cy="969508"/>
                  <a:chOff x="156" y="668"/>
                  <a:chExt cx="2544" cy="580"/>
                </a:xfrm>
              </p:grpSpPr>
              <p:sp>
                <p:nvSpPr>
                  <p:cNvPr id="15" name="Rectangle 10">
                    <a:extLst>
                      <a:ext uri="{FF2B5EF4-FFF2-40B4-BE49-F238E27FC236}">
                        <a16:creationId xmlns:a16="http://schemas.microsoft.com/office/drawing/2014/main" id="{EA384EA3-F4FD-A219-8646-58941175A9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6" y="668"/>
                    <a:ext cx="2544" cy="5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6" name="Group 155">
                    <a:extLst>
                      <a:ext uri="{FF2B5EF4-FFF2-40B4-BE49-F238E27FC236}">
                        <a16:creationId xmlns:a16="http://schemas.microsoft.com/office/drawing/2014/main" id="{F8A3B7BB-4C96-D25A-034B-DE0CAED49B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" y="739"/>
                    <a:ext cx="2380" cy="259"/>
                    <a:chOff x="1253" y="1244"/>
                    <a:chExt cx="3067" cy="423"/>
                  </a:xfrm>
                </p:grpSpPr>
                <p:grpSp>
                  <p:nvGrpSpPr>
                    <p:cNvPr id="20" name="Group 5">
                      <a:extLst>
                        <a:ext uri="{FF2B5EF4-FFF2-40B4-BE49-F238E27FC236}">
                          <a16:creationId xmlns:a16="http://schemas.microsoft.com/office/drawing/2014/main" id="{A04C53A1-AA82-AD14-3318-58E5FA8253A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44"/>
                      <a:ext cx="3050" cy="423"/>
                      <a:chOff x="982" y="1234"/>
                      <a:chExt cx="3050" cy="423"/>
                    </a:xfrm>
                  </p:grpSpPr>
                  <p:sp>
                    <p:nvSpPr>
                      <p:cNvPr id="52" name="Rectangle 6">
                        <a:extLst>
                          <a:ext uri="{FF2B5EF4-FFF2-40B4-BE49-F238E27FC236}">
                            <a16:creationId xmlns:a16="http://schemas.microsoft.com/office/drawing/2014/main" id="{40C88E0C-BEC3-9775-BA37-AEE9F7851DF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82" y="1234"/>
                        <a:ext cx="3050" cy="42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53" name="Group 7">
                        <a:extLst>
                          <a:ext uri="{FF2B5EF4-FFF2-40B4-BE49-F238E27FC236}">
                            <a16:creationId xmlns:a16="http://schemas.microsoft.com/office/drawing/2014/main" id="{6AED8BBA-96EE-5EE5-84B5-2D1F8127E27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54" name="Line 9">
                          <a:extLst>
                            <a:ext uri="{FF2B5EF4-FFF2-40B4-BE49-F238E27FC236}">
                              <a16:creationId xmlns:a16="http://schemas.microsoft.com/office/drawing/2014/main" id="{53AC4B21-08DD-BF2E-8B9F-203805DAF48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5" name="Line 10">
                          <a:extLst>
                            <a:ext uri="{FF2B5EF4-FFF2-40B4-BE49-F238E27FC236}">
                              <a16:creationId xmlns:a16="http://schemas.microsoft.com/office/drawing/2014/main" id="{3E6AAF29-6E3D-6B05-5763-5F23059D5AC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6" name="Line 11">
                          <a:extLst>
                            <a:ext uri="{FF2B5EF4-FFF2-40B4-BE49-F238E27FC236}">
                              <a16:creationId xmlns:a16="http://schemas.microsoft.com/office/drawing/2014/main" id="{83632B8C-8EEC-72DF-9389-66CBBB88E1E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7" name="Line 12">
                          <a:extLst>
                            <a:ext uri="{FF2B5EF4-FFF2-40B4-BE49-F238E27FC236}">
                              <a16:creationId xmlns:a16="http://schemas.microsoft.com/office/drawing/2014/main" id="{BCC9197E-A2E2-866E-5D14-C727316F418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8" name="Line 13">
                          <a:extLst>
                            <a:ext uri="{FF2B5EF4-FFF2-40B4-BE49-F238E27FC236}">
                              <a16:creationId xmlns:a16="http://schemas.microsoft.com/office/drawing/2014/main" id="{BB6511EF-397C-B02D-F4B3-30B3110B61C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9" name="Line 14">
                          <a:extLst>
                            <a:ext uri="{FF2B5EF4-FFF2-40B4-BE49-F238E27FC236}">
                              <a16:creationId xmlns:a16="http://schemas.microsoft.com/office/drawing/2014/main" id="{F0183E58-42FA-7707-0AF0-7BB977CD1F5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1" name="Line 15">
                          <a:extLst>
                            <a:ext uri="{FF2B5EF4-FFF2-40B4-BE49-F238E27FC236}">
                              <a16:creationId xmlns:a16="http://schemas.microsoft.com/office/drawing/2014/main" id="{8F41D782-0E0F-2DC4-C5AD-E040F47E0B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2" name="Line 16">
                          <a:extLst>
                            <a:ext uri="{FF2B5EF4-FFF2-40B4-BE49-F238E27FC236}">
                              <a16:creationId xmlns:a16="http://schemas.microsoft.com/office/drawing/2014/main" id="{8E0E78C9-5069-07D5-42FE-7D117F0569B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3" name="Line 17">
                          <a:extLst>
                            <a:ext uri="{FF2B5EF4-FFF2-40B4-BE49-F238E27FC236}">
                              <a16:creationId xmlns:a16="http://schemas.microsoft.com/office/drawing/2014/main" id="{0A09E3C4-E9E3-6C2B-BFC1-49BE40B56EB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4" name="Line 18">
                          <a:extLst>
                            <a:ext uri="{FF2B5EF4-FFF2-40B4-BE49-F238E27FC236}">
                              <a16:creationId xmlns:a16="http://schemas.microsoft.com/office/drawing/2014/main" id="{0AFBDCD4-D275-462A-590F-329E66FB711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5" name="Line 19">
                          <a:extLst>
                            <a:ext uri="{FF2B5EF4-FFF2-40B4-BE49-F238E27FC236}">
                              <a16:creationId xmlns:a16="http://schemas.microsoft.com/office/drawing/2014/main" id="{3324676C-C570-9662-4E26-66D8D4B4668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6" name="Line 20">
                          <a:extLst>
                            <a:ext uri="{FF2B5EF4-FFF2-40B4-BE49-F238E27FC236}">
                              <a16:creationId xmlns:a16="http://schemas.microsoft.com/office/drawing/2014/main" id="{F4817389-43B8-5843-E0DD-55279B47840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7" name="Line 21">
                          <a:extLst>
                            <a:ext uri="{FF2B5EF4-FFF2-40B4-BE49-F238E27FC236}">
                              <a16:creationId xmlns:a16="http://schemas.microsoft.com/office/drawing/2014/main" id="{1C9ABA7D-C68B-27FF-2DE3-6885EE74D89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8" name="Line 22">
                          <a:extLst>
                            <a:ext uri="{FF2B5EF4-FFF2-40B4-BE49-F238E27FC236}">
                              <a16:creationId xmlns:a16="http://schemas.microsoft.com/office/drawing/2014/main" id="{295A0838-9282-8B98-E30C-C83174B285C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9" name="Line 23">
                          <a:extLst>
                            <a:ext uri="{FF2B5EF4-FFF2-40B4-BE49-F238E27FC236}">
                              <a16:creationId xmlns:a16="http://schemas.microsoft.com/office/drawing/2014/main" id="{48982FA8-1BE6-979A-CF50-DD851B6CE97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" name="Line 24">
                          <a:extLst>
                            <a:ext uri="{FF2B5EF4-FFF2-40B4-BE49-F238E27FC236}">
                              <a16:creationId xmlns:a16="http://schemas.microsoft.com/office/drawing/2014/main" id="{24B5D5FD-DC54-F14E-ABE5-CB93D7F4472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1" name="Line 25">
                          <a:extLst>
                            <a:ext uri="{FF2B5EF4-FFF2-40B4-BE49-F238E27FC236}">
                              <a16:creationId xmlns:a16="http://schemas.microsoft.com/office/drawing/2014/main" id="{D44DA6C6-BB7D-C821-EB27-F0763DA80B6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3" name="Line 26">
                          <a:extLst>
                            <a:ext uri="{FF2B5EF4-FFF2-40B4-BE49-F238E27FC236}">
                              <a16:creationId xmlns:a16="http://schemas.microsoft.com/office/drawing/2014/main" id="{CE6588E4-1467-54BF-C248-11C8CD48063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4" name="Line 27">
                          <a:extLst>
                            <a:ext uri="{FF2B5EF4-FFF2-40B4-BE49-F238E27FC236}">
                              <a16:creationId xmlns:a16="http://schemas.microsoft.com/office/drawing/2014/main" id="{E139B4DA-96F1-C353-E426-68802DB3FD2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5" name="Line 28">
                          <a:extLst>
                            <a:ext uri="{FF2B5EF4-FFF2-40B4-BE49-F238E27FC236}">
                              <a16:creationId xmlns:a16="http://schemas.microsoft.com/office/drawing/2014/main" id="{36E817CC-25EE-ECD0-9667-084591A58BD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6" name="Line 29">
                          <a:extLst>
                            <a:ext uri="{FF2B5EF4-FFF2-40B4-BE49-F238E27FC236}">
                              <a16:creationId xmlns:a16="http://schemas.microsoft.com/office/drawing/2014/main" id="{C9F6EAD3-153A-651D-F37F-09AB5D5ED23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7" name="Line 30">
                          <a:extLst>
                            <a:ext uri="{FF2B5EF4-FFF2-40B4-BE49-F238E27FC236}">
                              <a16:creationId xmlns:a16="http://schemas.microsoft.com/office/drawing/2014/main" id="{3F9F0CE3-90C2-9942-A713-AD033CD385D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8" name="Line 31">
                          <a:extLst>
                            <a:ext uri="{FF2B5EF4-FFF2-40B4-BE49-F238E27FC236}">
                              <a16:creationId xmlns:a16="http://schemas.microsoft.com/office/drawing/2014/main" id="{20E8B92E-06F3-FD09-5E03-83A6EF39B66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9" name="Line 32">
                          <a:extLst>
                            <a:ext uri="{FF2B5EF4-FFF2-40B4-BE49-F238E27FC236}">
                              <a16:creationId xmlns:a16="http://schemas.microsoft.com/office/drawing/2014/main" id="{B8BECA6B-9F6F-E88E-BB12-8278F197B9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0" name="Line 33">
                          <a:extLst>
                            <a:ext uri="{FF2B5EF4-FFF2-40B4-BE49-F238E27FC236}">
                              <a16:creationId xmlns:a16="http://schemas.microsoft.com/office/drawing/2014/main" id="{ED46D107-D461-A029-89A2-B900311FEF0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1" name="Line 34">
                          <a:extLst>
                            <a:ext uri="{FF2B5EF4-FFF2-40B4-BE49-F238E27FC236}">
                              <a16:creationId xmlns:a16="http://schemas.microsoft.com/office/drawing/2014/main" id="{C70462EA-3C1F-9E27-252E-09122DB83CA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2" name="Line 35">
                          <a:extLst>
                            <a:ext uri="{FF2B5EF4-FFF2-40B4-BE49-F238E27FC236}">
                              <a16:creationId xmlns:a16="http://schemas.microsoft.com/office/drawing/2014/main" id="{249E72D5-A487-9818-7833-14B71B47CD3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3" name="Line 36">
                          <a:extLst>
                            <a:ext uri="{FF2B5EF4-FFF2-40B4-BE49-F238E27FC236}">
                              <a16:creationId xmlns:a16="http://schemas.microsoft.com/office/drawing/2014/main" id="{2957E222-4FCE-7EE6-60EE-BA5E3B7CFA7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4" name="Line 37">
                          <a:extLst>
                            <a:ext uri="{FF2B5EF4-FFF2-40B4-BE49-F238E27FC236}">
                              <a16:creationId xmlns:a16="http://schemas.microsoft.com/office/drawing/2014/main" id="{7EF38F7B-65D6-E723-7F59-FF765DE2A96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5" name="Line 38">
                          <a:extLst>
                            <a:ext uri="{FF2B5EF4-FFF2-40B4-BE49-F238E27FC236}">
                              <a16:creationId xmlns:a16="http://schemas.microsoft.com/office/drawing/2014/main" id="{1CAEC698-4E14-94FD-402C-93FC024CE70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32" name="Text Box 40">
                      <a:extLst>
                        <a:ext uri="{FF2B5EF4-FFF2-40B4-BE49-F238E27FC236}">
                          <a16:creationId xmlns:a16="http://schemas.microsoft.com/office/drawing/2014/main" id="{7CFB193F-CFA2-1298-E582-F532A14F83C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53" y="1312"/>
                      <a:ext cx="1209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[11:0]</a:t>
                      </a:r>
                    </a:p>
                  </p:txBody>
                </p:sp>
                <p:sp>
                  <p:nvSpPr>
                    <p:cNvPr id="33" name="Text Box 41">
                      <a:extLst>
                        <a:ext uri="{FF2B5EF4-FFF2-40B4-BE49-F238E27FC236}">
                          <a16:creationId xmlns:a16="http://schemas.microsoft.com/office/drawing/2014/main" id="{DD2FFCB5-734E-10B7-1268-CBC00453B78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51" y="1326"/>
                      <a:ext cx="543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34" name="Line 42">
                      <a:extLst>
                        <a:ext uri="{FF2B5EF4-FFF2-40B4-BE49-F238E27FC236}">
                          <a16:creationId xmlns:a16="http://schemas.microsoft.com/office/drawing/2014/main" id="{3C4E4662-9CD0-AFA6-CCC7-4CD0C30E5B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04" y="1302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5" name="Line 43">
                      <a:extLst>
                        <a:ext uri="{FF2B5EF4-FFF2-40B4-BE49-F238E27FC236}">
                          <a16:creationId xmlns:a16="http://schemas.microsoft.com/office/drawing/2014/main" id="{0DC4FE82-AEA0-041A-1B42-FF60A686EA8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80" y="1316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6" name="Line 44">
                      <a:extLst>
                        <a:ext uri="{FF2B5EF4-FFF2-40B4-BE49-F238E27FC236}">
                          <a16:creationId xmlns:a16="http://schemas.microsoft.com/office/drawing/2014/main" id="{BC014D0F-6921-D388-504B-5B5576143A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51" y="1304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8" name="Text Box 46">
                      <a:extLst>
                        <a:ext uri="{FF2B5EF4-FFF2-40B4-BE49-F238E27FC236}">
                          <a16:creationId xmlns:a16="http://schemas.microsoft.com/office/drawing/2014/main" id="{85D1876C-9A75-85ED-45C2-170D4150092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44" y="1314"/>
                      <a:ext cx="399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40" name="Text Box 47">
                      <a:extLst>
                        <a:ext uri="{FF2B5EF4-FFF2-40B4-BE49-F238E27FC236}">
                          <a16:creationId xmlns:a16="http://schemas.microsoft.com/office/drawing/2014/main" id="{26AD130C-6B83-A236-5958-D4253D09CF0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58" y="1307"/>
                      <a:ext cx="662" cy="20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1" name="Line 153">
                      <a:extLst>
                        <a:ext uri="{FF2B5EF4-FFF2-40B4-BE49-F238E27FC236}">
                          <a16:creationId xmlns:a16="http://schemas.microsoft.com/office/drawing/2014/main" id="{90815A49-7477-F0BA-EA36-3170BAAA50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66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9" name="Line 11">
                  <a:extLst>
                    <a:ext uri="{FF2B5EF4-FFF2-40B4-BE49-F238E27FC236}">
                      <a16:creationId xmlns:a16="http://schemas.microsoft.com/office/drawing/2014/main" id="{C4542B92-D822-1E9D-851E-1E97593069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70008" y="5256087"/>
                  <a:ext cx="0" cy="9782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s-ES_tradnl" sz="1500" noProof="0" dirty="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" name="Text Box 41">
                <a:extLst>
                  <a:ext uri="{FF2B5EF4-FFF2-40B4-BE49-F238E27FC236}">
                    <a16:creationId xmlns:a16="http://schemas.microsoft.com/office/drawing/2014/main" id="{CE408CCD-DBCB-C1E3-F9A0-E491501B7E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63198" y="4392001"/>
                <a:ext cx="383616" cy="1756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noProof="0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rd</a:t>
                </a:r>
                <a:endParaRPr lang="es-ES_tradnl" sz="1100" noProof="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E1E43F4E-4C2B-3C92-F08B-296986BC668B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E148AAC7-1ABD-A738-287C-5591E1D254B5}"/>
                </a:ext>
              </a:extLst>
            </p:cNvPr>
            <p:cNvGrpSpPr/>
            <p:nvPr/>
          </p:nvGrpSpPr>
          <p:grpSpPr>
            <a:xfrm>
              <a:off x="4906446" y="489516"/>
              <a:ext cx="4063282" cy="269903"/>
              <a:chOff x="5081012" y="664087"/>
              <a:chExt cx="4063282" cy="269903"/>
            </a:xfrm>
          </p:grpSpPr>
          <p:sp>
            <p:nvSpPr>
              <p:cNvPr id="12" name="Text Box 48">
                <a:extLst>
                  <a:ext uri="{FF2B5EF4-FFF2-40B4-BE49-F238E27FC236}">
                    <a16:creationId xmlns:a16="http://schemas.microsoft.com/office/drawing/2014/main" id="{BB071564-4309-F5E2-4463-E8FB0DE40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1012" y="668662"/>
                <a:ext cx="372053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31</a:t>
                </a:r>
              </a:p>
            </p:txBody>
          </p:sp>
          <p:sp>
            <p:nvSpPr>
              <p:cNvPr id="14" name="Text Box 50">
                <a:extLst>
                  <a:ext uri="{FF2B5EF4-FFF2-40B4-BE49-F238E27FC236}">
                    <a16:creationId xmlns:a16="http://schemas.microsoft.com/office/drawing/2014/main" id="{15634260-55EE-C535-1E2F-2203FB3441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2698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17" name="Text Box 51">
                <a:extLst>
                  <a:ext uri="{FF2B5EF4-FFF2-40B4-BE49-F238E27FC236}">
                    <a16:creationId xmlns:a16="http://schemas.microsoft.com/office/drawing/2014/main" id="{18EC41FB-464E-7196-B8FD-87242158D5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1744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15</a:t>
                </a:r>
              </a:p>
            </p:txBody>
          </p:sp>
          <p:sp>
            <p:nvSpPr>
              <p:cNvPr id="21" name="Text Box 52">
                <a:extLst>
                  <a:ext uri="{FF2B5EF4-FFF2-40B4-BE49-F238E27FC236}">
                    <a16:creationId xmlns:a16="http://schemas.microsoft.com/office/drawing/2014/main" id="{0B71075E-7E8C-982D-168E-C2F5CCE0C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5972" y="668662"/>
                <a:ext cx="270121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22" name="Text Box 53">
                <a:extLst>
                  <a:ext uri="{FF2B5EF4-FFF2-40B4-BE49-F238E27FC236}">
                    <a16:creationId xmlns:a16="http://schemas.microsoft.com/office/drawing/2014/main" id="{63E711CE-8F35-E020-AE8D-FB40622C9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9348" y="674380"/>
                <a:ext cx="194946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23" name="Text Box 154">
                <a:extLst>
                  <a:ext uri="{FF2B5EF4-FFF2-40B4-BE49-F238E27FC236}">
                    <a16:creationId xmlns:a16="http://schemas.microsoft.com/office/drawing/2014/main" id="{677DABB5-DE17-EC59-DE4B-322879C5A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8429" y="664087"/>
                <a:ext cx="51348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12</a:t>
                </a:r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418711-E450-2E5B-00C6-063B9D7E9122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  <p:extLst>
      <p:ext uri="{BB962C8B-B14F-4D97-AF65-F5344CB8AC3E}">
        <p14:creationId xmlns:p14="http://schemas.microsoft.com/office/powerpoint/2010/main" val="263078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Instrucción </a:t>
            </a: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: Señales de control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73</a:t>
            </a:fld>
            <a:endParaRPr lang="es-ES_tradnl" noProof="0" dirty="0"/>
          </a:p>
        </p:txBody>
      </p:sp>
      <p:sp>
        <p:nvSpPr>
          <p:cNvPr id="3" name="Rectangle 168">
            <a:extLst>
              <a:ext uri="{FF2B5EF4-FFF2-40B4-BE49-F238E27FC236}">
                <a16:creationId xmlns:a16="http://schemas.microsoft.com/office/drawing/2014/main" id="{558A26DD-BAB2-FFE8-4A19-FAD5BB4BB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solidFill>
              <a:srgbClr val="FF660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0" dirty="0" err="1">
                <a:solidFill>
                  <a:srgbClr val="FF0066"/>
                </a:solidFill>
                <a:latin typeface="Calibri" pitchFamily="-103" charset="0"/>
              </a:rPr>
              <a:t>OpALU</a:t>
            </a:r>
            <a:r>
              <a:rPr lang="es-ES_tradnl" sz="1200" noProof="0" dirty="0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0" dirty="0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000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noProof="0" dirty="0">
                <a:latin typeface="Calibri" pitchFamily="-103" charset="0"/>
              </a:rPr>
              <a:t>001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0" dirty="0">
                <a:latin typeface="Calibri" pitchFamily="-103" charset="0"/>
              </a:rPr>
              <a:t> b (</a:t>
            </a:r>
            <a:r>
              <a:rPr lang="es-ES_tradnl" sz="1200" noProof="0" dirty="0" err="1">
                <a:latin typeface="Calibri" pitchFamily="-103" charset="0"/>
              </a:rPr>
              <a:t>or</a:t>
            </a:r>
            <a:r>
              <a:rPr lang="es-ES_tradnl" sz="1200" noProof="0" dirty="0">
                <a:latin typeface="Calibri" pitchFamily="-103" charset="0"/>
              </a:rPr>
              <a:t>)</a:t>
            </a:r>
          </a:p>
          <a:p>
            <a:pPr algn="l"/>
            <a:r>
              <a:rPr lang="es-ES_tradnl" sz="1200" noProof="0" dirty="0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110	a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i="1" noProof="0" dirty="0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41136751-B579-51F1-F444-095B2A5EA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9168242"/>
              </p:ext>
            </p:extLst>
          </p:nvPr>
        </p:nvGraphicFramePr>
        <p:xfrm>
          <a:off x="816219" y="895952"/>
          <a:ext cx="8117470" cy="2009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_tradnl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/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</a:tbl>
          </a:graphicData>
        </a:graphic>
      </p:graphicFrame>
      <p:sp>
        <p:nvSpPr>
          <p:cNvPr id="6" name="9 Rectángulo">
            <a:extLst>
              <a:ext uri="{FF2B5EF4-FFF2-40B4-BE49-F238E27FC236}">
                <a16:creationId xmlns:a16="http://schemas.microsoft.com/office/drawing/2014/main" id="{43CD9D69-FAD6-E76A-C224-B093190A136F}"/>
              </a:ext>
            </a:extLst>
          </p:cNvPr>
          <p:cNvSpPr/>
          <p:nvPr/>
        </p:nvSpPr>
        <p:spPr bwMode="auto">
          <a:xfrm>
            <a:off x="8388424" y="1340768"/>
            <a:ext cx="545264" cy="1488934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13" name="Llamada rectangular redondeada 12">
            <a:extLst>
              <a:ext uri="{FF2B5EF4-FFF2-40B4-BE49-F238E27FC236}">
                <a16:creationId xmlns:a16="http://schemas.microsoft.com/office/drawing/2014/main" id="{5782BC57-4FFF-D411-E69E-ACA86B862A43}"/>
              </a:ext>
            </a:extLst>
          </p:cNvPr>
          <p:cNvSpPr/>
          <p:nvPr/>
        </p:nvSpPr>
        <p:spPr bwMode="auto">
          <a:xfrm>
            <a:off x="6228184" y="3933056"/>
            <a:ext cx="2514600" cy="1046430"/>
          </a:xfrm>
          <a:prstGeom prst="wedgeRoundRectCallout">
            <a:avLst>
              <a:gd name="adj1" fmla="val 46506"/>
              <a:gd name="adj2" fmla="val -156199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C00000"/>
                </a:solidFill>
              </a:rPr>
              <a:t>Distinto ”origen” del resultado para las instrucciones </a:t>
            </a:r>
          </a:p>
          <a:p>
            <a:r>
              <a:rPr lang="es-ES_tradnl" sz="12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s-ES_tradnl" sz="12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ES_tradnl" sz="12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s-ES_tradnl" sz="12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_tradnl" sz="1200" noProof="0" dirty="0">
                <a:solidFill>
                  <a:srgbClr val="C00000"/>
                </a:solidFill>
              </a:rPr>
              <a:t>y </a:t>
            </a:r>
            <a:r>
              <a:rPr lang="es-ES_tradnl" sz="12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endParaRPr lang="es-ES_tradnl" sz="1200" noProof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92410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E5A6-3C5D-4DE2-3555-6450FEDB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E70F4-7551-36AA-DE81-1739854B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Ruta de datos para </a:t>
            </a:r>
            <a:b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_tradnl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instrucciones tipo 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7B5EEF-F1A4-03E7-045E-8E8767BB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74</a:t>
            </a:fld>
            <a:endParaRPr lang="es-ES_tradnl" noProof="0" dirty="0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2E6C57C8-3D1B-D488-ECB1-DE6D86AE80CC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Conf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MUXs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MxPC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0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MxA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MxB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MxER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X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12E169C7-422B-2C64-3D6C-E0F0B8D5BBC4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0" cy="94606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AEC04BC7-4578-3915-8FF0-509B950D7945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BCB781FA-95E1-EAEA-97FB-0AC1EC313E02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4FE08838-DDD5-BF52-69BB-0F35A559CF2A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1E314868-B9B0-D309-44B7-8DFB24554312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BC849E8C-46D7-CBDE-845C-3E6B96455AC3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9969BFFD-5168-B276-E596-7EBD1B45E56E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52F67C87-22DC-433B-868D-E048656F2F47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3C6D9C98-DDFF-52CA-E564-BFBF10C85A53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F472ADCD-35F6-B62C-1C0F-8EA129FED501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4A50D164-847B-3BCB-34C9-D128B3EA13BB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75562D2C-379C-BFA1-DB4C-64AAB3664E39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0B2663EB-DD1A-4827-E70D-6E058AB80415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6584AEB2-404C-4B4A-72AC-D628768C7A18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76A46239-1F0D-1FD8-F5E4-048CA0448EB4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0EB1F86A-B392-E42D-496A-AD28099022DD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369D87C4-74A1-B46B-D15F-021B3170BBD5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9B1A2F52-7B3A-9022-6C9C-2B11A233F56B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B9C82F95-AAA1-A9BD-82AB-FAAD2656077F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FAEA56AA-99C8-DB5B-F6D4-6DEB96DA951E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E514F453-407B-1033-6ED4-62629DBEEABE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2E85F1C7-0D93-41FB-35A4-F1C0416D706F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0A4C2337-0E12-035F-23E0-635DE5E9B9EF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C77ADD50-7B52-FC39-4FA6-81AA2C159CEE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EEDC6B12-925D-E184-122C-CE7289A3D1E2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CA8B692F-4C81-8233-CC66-A6C95DA7C39B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E04F98BA-E0E9-9884-4D75-F2F799722761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699814C7-4536-4652-9F4E-B29C69D6E718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D6F09ACE-794A-C665-8E23-D794F7CFB458}"/>
              </a:ext>
            </a:extLst>
          </p:cNvPr>
          <p:cNvCxnSpPr>
            <a:cxnSpLocks/>
          </p:cNvCxnSpPr>
          <p:nvPr/>
        </p:nvCxnSpPr>
        <p:spPr bwMode="auto">
          <a:xfrm>
            <a:off x="4974953" y="3528378"/>
            <a:ext cx="775168" cy="710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D2B75153-C769-2256-C14B-2572EC9871D5}"/>
              </a:ext>
            </a:extLst>
          </p:cNvPr>
          <p:cNvCxnSpPr>
            <a:cxnSpLocks/>
            <a:stCxn id="384" idx="3"/>
          </p:cNvCxnSpPr>
          <p:nvPr/>
        </p:nvCxnSpPr>
        <p:spPr bwMode="auto">
          <a:xfrm flipV="1">
            <a:off x="5479811" y="3908190"/>
            <a:ext cx="273289" cy="526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55356D4D-496F-E5BD-E925-5E8B14D4A4C2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6D172C77-FD03-DBBD-D4BB-1F45F3EBA7A6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A54EEF55-9105-445C-1060-BC990A18ADF4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8069F7FD-7A74-7991-BF7D-667B9CAB50C6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15F3E152-68A4-34D4-6841-083D394E57EA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9283C29C-2A1D-B5CD-62E2-D248FBE8D6CD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95C3C48B-9776-6498-77A8-BA307575C9AC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DAE3F14B-FF1B-4B59-659C-C1168805C6C7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2E481330-9D94-2826-D9B6-274B20139020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4D215097-16C6-98CB-6672-5BCA0B889591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4444FCF9-408F-760D-3DB0-645C94FE7074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A9C32AD2-E605-B26F-47D4-28DF0A31A061}"/>
              </a:ext>
            </a:extLst>
          </p:cNvPr>
          <p:cNvCxnSpPr>
            <a:cxnSpLocks/>
            <a:stCxn id="365" idx="3"/>
          </p:cNvCxnSpPr>
          <p:nvPr/>
        </p:nvCxnSpPr>
        <p:spPr bwMode="auto">
          <a:xfrm flipV="1">
            <a:off x="7376831" y="3757848"/>
            <a:ext cx="931265" cy="350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188C0C62-F7FC-12DA-D846-26C650122D27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CFB45CEF-5E76-8667-5C8A-3A7D0778823A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F077CA8A-B2AC-7878-90CC-F70A21949D30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000000"/>
                </a:solidFill>
              </a:rPr>
              <a:t>Memoria</a:t>
            </a:r>
          </a:p>
          <a:p>
            <a:r>
              <a:rPr lang="es-ES_tradnl" sz="1200" noProof="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84457366-480F-C6D6-BCDF-6D1C1F58CA69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EA588D22-7A40-D11C-39A2-2F7D67DE02D1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E563A697-84E3-DCF0-0F7D-8C74D8467E55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05012639-EFD6-B8EC-6BA4-6BFFAA5269FF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3AD4D216-9076-EF92-C99B-CE231EA9FA0B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AEE28F6F-7A76-36AD-DB0A-FFDB4E8A161D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LMem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3F9C475B-A875-D31E-3EE7-BC02E0FE20D2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AD6C0A45-83B6-464A-C741-C5ED165A7C3D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B3822943-FF7D-D3C3-E070-C6238C0EA30A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EReg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144B5977-1C9D-BEAD-36E4-93762E79C910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solidFill>
            <a:schemeClr val="bg1"/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9976A36A-4381-E4F9-6177-C5592A5ADA16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BDEE5E48-7A79-7987-F35F-A9D6226749D9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0CB98283-44E9-1E9E-6019-1264C695B2FA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3E65E06C-6405-456B-0EE6-E40D773F8E4B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860CD1EB-C87C-663A-3623-C06BFFEE2CEE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9B21B1BC-1504-3E68-45E9-511C364CA9AA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C26BF07E-8E59-5A77-9606-FC520A7CBD72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2938C9E-0929-E1FA-EC4E-B7A6C42BEDC7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E5BC1F40-BFED-AED5-F457-3D6C989BF5E5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17D7DD14-5A69-7521-645D-34516D1B90C4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MxER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B1DF3970-0E95-ABD6-DA69-65C930E532E5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607B4BE7-E757-40AF-7053-A9E02BFA1B29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9EBAA6A6-2E35-1075-0D68-D6DEFA5E0F63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A46DB254-7FCC-26F9-B0E3-94B8E4D05BBF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4C592007-E358-B103-FCCC-AE9402100CBB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40B182B4-DEA5-2BEE-113B-9458E518C1FC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A6E191C6-3B8A-9D89-4FF4-224DC601EEB8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88F39E17-6131-1536-ABCB-12F300C009D0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4D9C782B-C4A7-9575-7581-17C0D90A1E54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BCCF4A9A-4C04-B7A8-C5D1-CBF9EE36059E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FD55C43B-E824-A4C4-9479-9B100187EEB3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4B0594F2-A07F-EA3E-8431-6A27F64D21B3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832BB246-9547-BDF5-5323-225611BA5CD4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3B1A918A-D1CA-81DB-6C22-B624E278BAA9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105F8808-BF47-8D1D-39EF-FB3DDC0EAA6B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50977CEB-DAA0-5B14-5E3A-ED995968E492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444694FD-8EE3-ABC1-67D0-0FE3086D3E3C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74AF3B35-4EAE-00C7-B035-E2305CB1AAA8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D2093C1A-C0E3-B019-B5FF-369C0B7A6468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303EBCFB-8E3C-8BCB-C20A-AA9C3AD8DD2F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6CC1D624-FDFD-1F70-610E-7A12BC2C3F15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11..7 (</a:t>
            </a:r>
            <a:r>
              <a:rPr lang="es-ES_tradnl" sz="1000" i="1" noProof="0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7494C9A4-989D-EB4F-1C15-C29839FA1C46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518066D9-1A86-EED9-087B-EB0E6524AEB8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D6C0F9A4-5ABA-320F-FF17-2102DDA876F9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4D02F41E-27F9-C6BD-3662-8A140D3B08B3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0B8AA53C-F948-C84E-FB68-B8748D19896E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25A7E39-9F14-C467-4B66-ED3A47E7C8DE}"/>
              </a:ext>
            </a:extLst>
          </p:cNvPr>
          <p:cNvSpPr txBox="1"/>
          <p:nvPr/>
        </p:nvSpPr>
        <p:spPr>
          <a:xfrm>
            <a:off x="3860972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TipoInst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89620251-1A59-D1A2-17F8-9A9DB9BE6E14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B28C9FA7-A3EC-5873-F60E-799AA4AEC431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A1052794-D152-80DE-C3C1-413A3F2BEC9D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5C2C3AB7-F7B8-D436-2F3F-DF3BA2CAEE51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3AC7E745-7E00-3025-3027-31EC86B73618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3BEB8212-C34C-6A17-FC61-9FC99B0A07D8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38A313CD-6C94-5575-B100-A34404EF93BA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DE082E0D-5E7E-47C4-3899-AFB316409356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2164A4A5-39E8-422F-B66D-A3942851EC36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69093D20-8F5C-4BA9-BCD9-79BCD2C67269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48994A11-6F8A-5C2E-5501-1708480B0559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53100" y="4119459"/>
            <a:ext cx="229627" cy="16063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BAA39F4D-1140-0A24-2724-337BAD1BB59D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 flipV="1">
            <a:off x="5762848" y="3428999"/>
            <a:ext cx="215686" cy="10648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6" name="Conector recto de flecha 197">
            <a:extLst>
              <a:ext uri="{FF2B5EF4-FFF2-40B4-BE49-F238E27FC236}">
                <a16:creationId xmlns:a16="http://schemas.microsoft.com/office/drawing/2014/main" id="{DCD68A44-280A-1E1C-20F5-6D3C4B6B6E02}"/>
              </a:ext>
            </a:extLst>
          </p:cNvPr>
          <p:cNvCxnSpPr>
            <a:cxnSpLocks/>
            <a:endCxn id="367" idx="2"/>
          </p:cNvCxnSpPr>
          <p:nvPr/>
        </p:nvCxnSpPr>
        <p:spPr bwMode="auto">
          <a:xfrm>
            <a:off x="1895128" y="3717032"/>
            <a:ext cx="127368" cy="23336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123">
            <a:extLst>
              <a:ext uri="{FF2B5EF4-FFF2-40B4-BE49-F238E27FC236}">
                <a16:creationId xmlns:a16="http://schemas.microsoft.com/office/drawing/2014/main" id="{4E67F9B4-CF19-FD03-1E84-8F4978F94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286" y="980728"/>
            <a:ext cx="28970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rs2,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(rs1) (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[rs1+inm]=rs2)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00C6ED-AAD1-419B-B0E5-CBA9CDA2B0B5}"/>
              </a:ext>
            </a:extLst>
          </p:cNvPr>
          <p:cNvCxnSpPr>
            <a:cxnSpLocks/>
            <a:endCxn id="365" idx="1"/>
          </p:cNvCxnSpPr>
          <p:nvPr/>
        </p:nvCxnSpPr>
        <p:spPr bwMode="auto">
          <a:xfrm>
            <a:off x="6915337" y="3757056"/>
            <a:ext cx="385356" cy="42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95C8CF2-3835-1E61-BD16-BE78454530CF}"/>
              </a:ext>
            </a:extLst>
          </p:cNvPr>
          <p:cNvCxnSpPr>
            <a:cxnSpLocks/>
            <a:endCxn id="384" idx="1"/>
          </p:cNvCxnSpPr>
          <p:nvPr/>
        </p:nvCxnSpPr>
        <p:spPr bwMode="auto">
          <a:xfrm flipV="1">
            <a:off x="4991608" y="3913453"/>
            <a:ext cx="412065" cy="296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AEC9DE1-80DC-1424-7A66-5B7747680372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rgbClr val="26697A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1CA2842-DCF0-6317-9B61-53D77C7B85DD}"/>
              </a:ext>
            </a:extLst>
          </p:cNvPr>
          <p:cNvCxnSpPr>
            <a:cxnSpLocks/>
            <a:stCxn id="384" idx="2"/>
            <a:endCxn id="24" idx="0"/>
          </p:cNvCxnSpPr>
          <p:nvPr/>
        </p:nvCxnSpPr>
        <p:spPr bwMode="auto">
          <a:xfrm flipH="1">
            <a:off x="5441637" y="3951434"/>
            <a:ext cx="105" cy="825637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A4E271E-22CE-E450-91C2-C14F990845CC}"/>
              </a:ext>
            </a:extLst>
          </p:cNvPr>
          <p:cNvGrpSpPr/>
          <p:nvPr/>
        </p:nvGrpSpPr>
        <p:grpSpPr>
          <a:xfrm>
            <a:off x="4933675" y="72971"/>
            <a:ext cx="4162194" cy="1102154"/>
            <a:chOff x="4933675" y="72971"/>
            <a:chExt cx="4162194" cy="1102154"/>
          </a:xfrm>
        </p:grpSpPr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610D3B7E-B91A-C417-184E-5C5A11C316B4}"/>
                </a:ext>
              </a:extLst>
            </p:cNvPr>
            <p:cNvCxnSpPr/>
            <p:nvPr/>
          </p:nvCxnSpPr>
          <p:spPr bwMode="auto">
            <a:xfrm>
              <a:off x="5051091" y="1173542"/>
              <a:ext cx="380689" cy="1583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22E306B7-0826-3AA7-505D-763441C2A857}"/>
                </a:ext>
              </a:extLst>
            </p:cNvPr>
            <p:cNvGrpSpPr/>
            <p:nvPr/>
          </p:nvGrpSpPr>
          <p:grpSpPr>
            <a:xfrm>
              <a:off x="4933675" y="72971"/>
              <a:ext cx="4162194" cy="845408"/>
              <a:chOff x="3110623" y="5917230"/>
              <a:chExt cx="3343970" cy="802350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84BDF297-67D6-2FC8-1C24-253F30577F9B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14" name="Group 9">
                  <a:extLst>
                    <a:ext uri="{FF2B5EF4-FFF2-40B4-BE49-F238E27FC236}">
                      <a16:creationId xmlns:a16="http://schemas.microsoft.com/office/drawing/2014/main" id="{61D791CE-A62D-5ECE-BF9F-5181A700B9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21" name="Rectangle 10">
                    <a:extLst>
                      <a:ext uri="{FF2B5EF4-FFF2-40B4-BE49-F238E27FC236}">
                        <a16:creationId xmlns:a16="http://schemas.microsoft.com/office/drawing/2014/main" id="{2AC190F2-EE71-5CA3-51D3-569C546E15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22" name="Group 155">
                    <a:extLst>
                      <a:ext uri="{FF2B5EF4-FFF2-40B4-BE49-F238E27FC236}">
                        <a16:creationId xmlns:a16="http://schemas.microsoft.com/office/drawing/2014/main" id="{C51CC49A-520E-E73D-610D-E10E4997CC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53"/>
                    <a:ext cx="2420" cy="231"/>
                    <a:chOff x="1201" y="1273"/>
                    <a:chExt cx="3119" cy="379"/>
                  </a:xfrm>
                </p:grpSpPr>
                <p:grpSp>
                  <p:nvGrpSpPr>
                    <p:cNvPr id="23" name="Group 5">
                      <a:extLst>
                        <a:ext uri="{FF2B5EF4-FFF2-40B4-BE49-F238E27FC236}">
                          <a16:creationId xmlns:a16="http://schemas.microsoft.com/office/drawing/2014/main" id="{5BBD03AE-923C-47FB-EAEE-92D56875FF7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88" name="Rectangle 6">
                        <a:extLst>
                          <a:ext uri="{FF2B5EF4-FFF2-40B4-BE49-F238E27FC236}">
                            <a16:creationId xmlns:a16="http://schemas.microsoft.com/office/drawing/2014/main" id="{1A1A6A92-494D-B726-18B8-602D34B56A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89" name="Group 7">
                        <a:extLst>
                          <a:ext uri="{FF2B5EF4-FFF2-40B4-BE49-F238E27FC236}">
                            <a16:creationId xmlns:a16="http://schemas.microsoft.com/office/drawing/2014/main" id="{3D04765F-1480-9A66-B520-B055EC5B190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90" name="Line 9">
                          <a:extLst>
                            <a:ext uri="{FF2B5EF4-FFF2-40B4-BE49-F238E27FC236}">
                              <a16:creationId xmlns:a16="http://schemas.microsoft.com/office/drawing/2014/main" id="{697A1FCE-D766-3426-8EE3-550C357F61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1" name="Line 10">
                          <a:extLst>
                            <a:ext uri="{FF2B5EF4-FFF2-40B4-BE49-F238E27FC236}">
                              <a16:creationId xmlns:a16="http://schemas.microsoft.com/office/drawing/2014/main" id="{4750801F-399C-4158-8667-A118C2D240E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2" name="Line 11">
                          <a:extLst>
                            <a:ext uri="{FF2B5EF4-FFF2-40B4-BE49-F238E27FC236}">
                              <a16:creationId xmlns:a16="http://schemas.microsoft.com/office/drawing/2014/main" id="{EF6D0322-C753-C6C2-ED40-FF19BF9A537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3" name="Line 12">
                          <a:extLst>
                            <a:ext uri="{FF2B5EF4-FFF2-40B4-BE49-F238E27FC236}">
                              <a16:creationId xmlns:a16="http://schemas.microsoft.com/office/drawing/2014/main" id="{F8B1B067-435B-87F9-844C-79C9FD4D58F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4" name="Line 13">
                          <a:extLst>
                            <a:ext uri="{FF2B5EF4-FFF2-40B4-BE49-F238E27FC236}">
                              <a16:creationId xmlns:a16="http://schemas.microsoft.com/office/drawing/2014/main" id="{149A0E7D-CF64-7B79-3F15-BB5182746C6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5" name="Line 14">
                          <a:extLst>
                            <a:ext uri="{FF2B5EF4-FFF2-40B4-BE49-F238E27FC236}">
                              <a16:creationId xmlns:a16="http://schemas.microsoft.com/office/drawing/2014/main" id="{0E609AFF-5E54-BE16-334E-2C92C737A86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6" name="Line 15">
                          <a:extLst>
                            <a:ext uri="{FF2B5EF4-FFF2-40B4-BE49-F238E27FC236}">
                              <a16:creationId xmlns:a16="http://schemas.microsoft.com/office/drawing/2014/main" id="{AF3993FA-2344-C7D5-1DFF-B898922205E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7" name="Line 16">
                          <a:extLst>
                            <a:ext uri="{FF2B5EF4-FFF2-40B4-BE49-F238E27FC236}">
                              <a16:creationId xmlns:a16="http://schemas.microsoft.com/office/drawing/2014/main" id="{5BBF1CD8-728A-D4CC-9393-79C76F4A46D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8" name="Line 17">
                          <a:extLst>
                            <a:ext uri="{FF2B5EF4-FFF2-40B4-BE49-F238E27FC236}">
                              <a16:creationId xmlns:a16="http://schemas.microsoft.com/office/drawing/2014/main" id="{67C0C2DD-9DD8-2634-E8F7-C60D768A3C7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99" name="Line 18">
                          <a:extLst>
                            <a:ext uri="{FF2B5EF4-FFF2-40B4-BE49-F238E27FC236}">
                              <a16:creationId xmlns:a16="http://schemas.microsoft.com/office/drawing/2014/main" id="{A2EEE77D-1AE7-B606-AE6E-0B631250FE2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0" name="Line 19">
                          <a:extLst>
                            <a:ext uri="{FF2B5EF4-FFF2-40B4-BE49-F238E27FC236}">
                              <a16:creationId xmlns:a16="http://schemas.microsoft.com/office/drawing/2014/main" id="{8E694B35-FE12-AE67-55BF-9C7F3A383E8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1" name="Line 20">
                          <a:extLst>
                            <a:ext uri="{FF2B5EF4-FFF2-40B4-BE49-F238E27FC236}">
                              <a16:creationId xmlns:a16="http://schemas.microsoft.com/office/drawing/2014/main" id="{E00B5D4C-3480-25BE-9EAA-D5D19EF5391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2" name="Line 21">
                          <a:extLst>
                            <a:ext uri="{FF2B5EF4-FFF2-40B4-BE49-F238E27FC236}">
                              <a16:creationId xmlns:a16="http://schemas.microsoft.com/office/drawing/2014/main" id="{A336E7A8-AE85-AE20-0768-0BB931EDB7A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3" name="Line 22">
                          <a:extLst>
                            <a:ext uri="{FF2B5EF4-FFF2-40B4-BE49-F238E27FC236}">
                              <a16:creationId xmlns:a16="http://schemas.microsoft.com/office/drawing/2014/main" id="{A54AC5D7-B2D9-A514-667E-7B33EAEF346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4" name="Line 23">
                          <a:extLst>
                            <a:ext uri="{FF2B5EF4-FFF2-40B4-BE49-F238E27FC236}">
                              <a16:creationId xmlns:a16="http://schemas.microsoft.com/office/drawing/2014/main" id="{C5ACE631-139D-133C-E3B5-4E842695157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5" name="Line 24">
                          <a:extLst>
                            <a:ext uri="{FF2B5EF4-FFF2-40B4-BE49-F238E27FC236}">
                              <a16:creationId xmlns:a16="http://schemas.microsoft.com/office/drawing/2014/main" id="{70A7183D-94B9-0C8B-B578-E1F350B0FF9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6" name="Line 25">
                          <a:extLst>
                            <a:ext uri="{FF2B5EF4-FFF2-40B4-BE49-F238E27FC236}">
                              <a16:creationId xmlns:a16="http://schemas.microsoft.com/office/drawing/2014/main" id="{DA8FDFAB-8A1E-D1A6-B7A6-EFC84E298B0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7" name="Line 26">
                          <a:extLst>
                            <a:ext uri="{FF2B5EF4-FFF2-40B4-BE49-F238E27FC236}">
                              <a16:creationId xmlns:a16="http://schemas.microsoft.com/office/drawing/2014/main" id="{50783D0F-30CE-4766-1333-5F4500E8FDE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8" name="Line 27">
                          <a:extLst>
                            <a:ext uri="{FF2B5EF4-FFF2-40B4-BE49-F238E27FC236}">
                              <a16:creationId xmlns:a16="http://schemas.microsoft.com/office/drawing/2014/main" id="{3A92D834-CFFB-9F4B-A5FF-7DF836946EC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09" name="Line 28">
                          <a:extLst>
                            <a:ext uri="{FF2B5EF4-FFF2-40B4-BE49-F238E27FC236}">
                              <a16:creationId xmlns:a16="http://schemas.microsoft.com/office/drawing/2014/main" id="{499DBD8D-92A1-2282-EFD7-AE1D724FBED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0" name="Line 29">
                          <a:extLst>
                            <a:ext uri="{FF2B5EF4-FFF2-40B4-BE49-F238E27FC236}">
                              <a16:creationId xmlns:a16="http://schemas.microsoft.com/office/drawing/2014/main" id="{56976A63-4DF4-32BD-4311-71C698B5E69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1" name="Line 30">
                          <a:extLst>
                            <a:ext uri="{FF2B5EF4-FFF2-40B4-BE49-F238E27FC236}">
                              <a16:creationId xmlns:a16="http://schemas.microsoft.com/office/drawing/2014/main" id="{59D7D88B-65CF-0CCD-F3E3-3F97FA024F3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2" name="Line 31">
                          <a:extLst>
                            <a:ext uri="{FF2B5EF4-FFF2-40B4-BE49-F238E27FC236}">
                              <a16:creationId xmlns:a16="http://schemas.microsoft.com/office/drawing/2014/main" id="{D3C3BA93-DCDA-B908-3DC7-02DE59BCB28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3" name="Line 32">
                          <a:extLst>
                            <a:ext uri="{FF2B5EF4-FFF2-40B4-BE49-F238E27FC236}">
                              <a16:creationId xmlns:a16="http://schemas.microsoft.com/office/drawing/2014/main" id="{EDC6A990-3BB3-FF65-459D-E8833C765F4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4" name="Line 33">
                          <a:extLst>
                            <a:ext uri="{FF2B5EF4-FFF2-40B4-BE49-F238E27FC236}">
                              <a16:creationId xmlns:a16="http://schemas.microsoft.com/office/drawing/2014/main" id="{0E19A776-CF7E-85E3-2435-AAF9C0ED771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5" name="Line 34">
                          <a:extLst>
                            <a:ext uri="{FF2B5EF4-FFF2-40B4-BE49-F238E27FC236}">
                              <a16:creationId xmlns:a16="http://schemas.microsoft.com/office/drawing/2014/main" id="{C1B055B8-33A9-5270-D66C-B35458B5DF6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6" name="Line 35">
                          <a:extLst>
                            <a:ext uri="{FF2B5EF4-FFF2-40B4-BE49-F238E27FC236}">
                              <a16:creationId xmlns:a16="http://schemas.microsoft.com/office/drawing/2014/main" id="{80AB7D7A-B4ED-A1EB-527F-C775C95A9BC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7" name="Line 36">
                          <a:extLst>
                            <a:ext uri="{FF2B5EF4-FFF2-40B4-BE49-F238E27FC236}">
                              <a16:creationId xmlns:a16="http://schemas.microsoft.com/office/drawing/2014/main" id="{BE4854A1-D45B-CD77-CD89-5A5633A52AB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8" name="Line 37">
                          <a:extLst>
                            <a:ext uri="{FF2B5EF4-FFF2-40B4-BE49-F238E27FC236}">
                              <a16:creationId xmlns:a16="http://schemas.microsoft.com/office/drawing/2014/main" id="{B34C677E-1ECD-62EF-7037-79A3357DB730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19" name="Line 38">
                          <a:extLst>
                            <a:ext uri="{FF2B5EF4-FFF2-40B4-BE49-F238E27FC236}">
                              <a16:creationId xmlns:a16="http://schemas.microsoft.com/office/drawing/2014/main" id="{29EFCFCB-64F2-9DD5-CAB8-86B20C39B86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26" name="Line 39">
                      <a:extLst>
                        <a:ext uri="{FF2B5EF4-FFF2-40B4-BE49-F238E27FC236}">
                          <a16:creationId xmlns:a16="http://schemas.microsoft.com/office/drawing/2014/main" id="{87EB7D39-D1F4-2077-1618-6AB79A59292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" name="Text Box 40">
                      <a:extLst>
                        <a:ext uri="{FF2B5EF4-FFF2-40B4-BE49-F238E27FC236}">
                          <a16:creationId xmlns:a16="http://schemas.microsoft.com/office/drawing/2014/main" id="{EC0A023E-A326-ADEB-53D9-EE21C7F7257D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[11:5]</a:t>
                      </a:r>
                    </a:p>
                  </p:txBody>
                </p:sp>
                <p:sp>
                  <p:nvSpPr>
                    <p:cNvPr id="28" name="Text Box 41">
                      <a:extLst>
                        <a:ext uri="{FF2B5EF4-FFF2-40B4-BE49-F238E27FC236}">
                          <a16:creationId xmlns:a16="http://schemas.microsoft.com/office/drawing/2014/main" id="{AED64D3D-C235-ECA4-90BC-92B6333ADF2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76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29" name="Line 42">
                      <a:extLst>
                        <a:ext uri="{FF2B5EF4-FFF2-40B4-BE49-F238E27FC236}">
                          <a16:creationId xmlns:a16="http://schemas.microsoft.com/office/drawing/2014/main" id="{3FB4B078-7D3F-887A-2B1A-0E026643F5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302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0" name="Line 43">
                      <a:extLst>
                        <a:ext uri="{FF2B5EF4-FFF2-40B4-BE49-F238E27FC236}">
                          <a16:creationId xmlns:a16="http://schemas.microsoft.com/office/drawing/2014/main" id="{FD05EB63-8B41-7E1E-CE50-D46EDCC661C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316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1" name="Line 44">
                      <a:extLst>
                        <a:ext uri="{FF2B5EF4-FFF2-40B4-BE49-F238E27FC236}">
                          <a16:creationId xmlns:a16="http://schemas.microsoft.com/office/drawing/2014/main" id="{88E81DF4-9582-E5B9-E652-BB867D0387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304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7" name="Text Box 45">
                      <a:extLst>
                        <a:ext uri="{FF2B5EF4-FFF2-40B4-BE49-F238E27FC236}">
                          <a16:creationId xmlns:a16="http://schemas.microsoft.com/office/drawing/2014/main" id="{4A82054C-DDAB-4DF5-CE87-2A4C222A548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9" name="Text Box 46">
                      <a:extLst>
                        <a:ext uri="{FF2B5EF4-FFF2-40B4-BE49-F238E27FC236}">
                          <a16:creationId xmlns:a16="http://schemas.microsoft.com/office/drawing/2014/main" id="{C6122737-2AB7-235E-F9B6-B1A8DC98555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42" name="Text Box 47">
                      <a:extLst>
                        <a:ext uri="{FF2B5EF4-FFF2-40B4-BE49-F238E27FC236}">
                          <a16:creationId xmlns:a16="http://schemas.microsoft.com/office/drawing/2014/main" id="{6B2604D2-F403-6EC0-214F-A4E7583ADA5C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86" name="Line 153">
                      <a:extLst>
                        <a:ext uri="{FF2B5EF4-FFF2-40B4-BE49-F238E27FC236}">
                          <a16:creationId xmlns:a16="http://schemas.microsoft.com/office/drawing/2014/main" id="{22F0FCB2-0212-E5F0-E998-FC88BFD9FC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7" name="Text Box 41">
                  <a:extLst>
                    <a:ext uri="{FF2B5EF4-FFF2-40B4-BE49-F238E27FC236}">
                      <a16:creationId xmlns:a16="http://schemas.microsoft.com/office/drawing/2014/main" id="{022BCE7E-D29A-C1DC-7C12-C0280E8CEF3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5996069"/>
                  <a:ext cx="737522" cy="16761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1050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1050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[4:0]</a:t>
                  </a:r>
                  <a:endParaRPr lang="es-ES_tradnl" sz="1000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8D049077-63D7-625E-E36F-5D648C1B7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325EDC56-3A2F-1FED-C4B4-4122189E7E19}"/>
                </a:ext>
              </a:extLst>
            </p:cNvPr>
            <p:cNvGrpSpPr/>
            <p:nvPr/>
          </p:nvGrpSpPr>
          <p:grpSpPr>
            <a:xfrm>
              <a:off x="4936926" y="525544"/>
              <a:ext cx="4063282" cy="269903"/>
              <a:chOff x="5081012" y="664087"/>
              <a:chExt cx="4063282" cy="269903"/>
            </a:xfrm>
          </p:grpSpPr>
          <p:sp>
            <p:nvSpPr>
              <p:cNvPr id="6" name="Text Box 48">
                <a:extLst>
                  <a:ext uri="{FF2B5EF4-FFF2-40B4-BE49-F238E27FC236}">
                    <a16:creationId xmlns:a16="http://schemas.microsoft.com/office/drawing/2014/main" id="{230320BB-92DF-405F-D32A-70348DBC0F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1012" y="668662"/>
                <a:ext cx="372053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31</a:t>
                </a:r>
              </a:p>
            </p:txBody>
          </p:sp>
          <p:sp>
            <p:nvSpPr>
              <p:cNvPr id="7" name="Text Box 49">
                <a:extLst>
                  <a:ext uri="{FF2B5EF4-FFF2-40B4-BE49-F238E27FC236}">
                    <a16:creationId xmlns:a16="http://schemas.microsoft.com/office/drawing/2014/main" id="{EB59FA1D-5356-D2A4-F74A-F1E177492C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2377" y="669806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25</a:t>
                </a:r>
              </a:p>
            </p:txBody>
          </p:sp>
          <p:sp>
            <p:nvSpPr>
              <p:cNvPr id="8" name="Text Box 50">
                <a:extLst>
                  <a:ext uri="{FF2B5EF4-FFF2-40B4-BE49-F238E27FC236}">
                    <a16:creationId xmlns:a16="http://schemas.microsoft.com/office/drawing/2014/main" id="{0107E36E-C8AF-4D7D-E191-18E2C14BD4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2698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9" name="Text Box 51">
                <a:extLst>
                  <a:ext uri="{FF2B5EF4-FFF2-40B4-BE49-F238E27FC236}">
                    <a16:creationId xmlns:a16="http://schemas.microsoft.com/office/drawing/2014/main" id="{FDA42DFD-B1A3-70E4-EE64-874A63347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1744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15</a:t>
                </a:r>
              </a:p>
            </p:txBody>
          </p:sp>
          <p:sp>
            <p:nvSpPr>
              <p:cNvPr id="15" name="Text Box 52">
                <a:extLst>
                  <a:ext uri="{FF2B5EF4-FFF2-40B4-BE49-F238E27FC236}">
                    <a16:creationId xmlns:a16="http://schemas.microsoft.com/office/drawing/2014/main" id="{E8DAE5BA-7287-F8B4-8B20-3B84D08ACC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5972" y="668662"/>
                <a:ext cx="270121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16" name="Text Box 53">
                <a:extLst>
                  <a:ext uri="{FF2B5EF4-FFF2-40B4-BE49-F238E27FC236}">
                    <a16:creationId xmlns:a16="http://schemas.microsoft.com/office/drawing/2014/main" id="{87650832-E69B-FD98-F542-1E64B6774E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9348" y="674380"/>
                <a:ext cx="194946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18" name="Text Box 154">
                <a:extLst>
                  <a:ext uri="{FF2B5EF4-FFF2-40B4-BE49-F238E27FC236}">
                    <a16:creationId xmlns:a16="http://schemas.microsoft.com/office/drawing/2014/main" id="{9A195D3D-78CC-651B-ADCB-66604864D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8429" y="664087"/>
                <a:ext cx="51348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12</a:t>
                </a:r>
              </a:p>
            </p:txBody>
          </p:sp>
        </p:grp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97625AE-D0F6-13FA-5BAC-084B3AABD21F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  <p:extLst>
      <p:ext uri="{BB962C8B-B14F-4D97-AF65-F5344CB8AC3E}">
        <p14:creationId xmlns:p14="http://schemas.microsoft.com/office/powerpoint/2010/main" val="302416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914B-908E-E3D6-F01E-1DD8EECD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6D2B8-4F91-5928-9B5A-9646B1BE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Instrucción </a:t>
            </a: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_tradnl" noProof="0" dirty="0"/>
              <a:t>: Señales de control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8A797A-3A49-71D6-0542-DA17B917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75</a:t>
            </a:fld>
            <a:endParaRPr lang="es-ES_tradnl" noProof="0" dirty="0"/>
          </a:p>
        </p:txBody>
      </p:sp>
      <p:sp>
        <p:nvSpPr>
          <p:cNvPr id="3" name="Rectangle 168">
            <a:extLst>
              <a:ext uri="{FF2B5EF4-FFF2-40B4-BE49-F238E27FC236}">
                <a16:creationId xmlns:a16="http://schemas.microsoft.com/office/drawing/2014/main" id="{E77C406B-53BC-9C30-5C3E-7869F4A18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0" dirty="0" err="1">
                <a:solidFill>
                  <a:srgbClr val="FF6600"/>
                </a:solidFill>
                <a:latin typeface="Calibri" pitchFamily="-103" charset="0"/>
              </a:rPr>
              <a:t>OpALU</a:t>
            </a:r>
            <a:r>
              <a:rPr lang="es-ES_tradnl" sz="1200" noProof="0" dirty="0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0" dirty="0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000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noProof="0" dirty="0">
                <a:latin typeface="Calibri" pitchFamily="-103" charset="0"/>
              </a:rPr>
              <a:t>001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0" dirty="0">
                <a:latin typeface="Calibri" pitchFamily="-103" charset="0"/>
              </a:rPr>
              <a:t> b (</a:t>
            </a:r>
            <a:r>
              <a:rPr lang="es-ES_tradnl" sz="1200" noProof="0" dirty="0" err="1">
                <a:latin typeface="Calibri" pitchFamily="-103" charset="0"/>
              </a:rPr>
              <a:t>or</a:t>
            </a:r>
            <a:r>
              <a:rPr lang="es-ES_tradnl" sz="1200" noProof="0" dirty="0">
                <a:latin typeface="Calibri" pitchFamily="-103" charset="0"/>
              </a:rPr>
              <a:t>)</a:t>
            </a:r>
          </a:p>
          <a:p>
            <a:pPr algn="l"/>
            <a:r>
              <a:rPr lang="es-ES_tradnl" sz="1200" noProof="0" dirty="0">
                <a:solidFill>
                  <a:srgbClr val="FF00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110	a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i="1" noProof="0" dirty="0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AAC60293-996C-B67B-3338-A77160C3C7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110331"/>
              </p:ext>
            </p:extLst>
          </p:nvPr>
        </p:nvGraphicFramePr>
        <p:xfrm>
          <a:off x="816219" y="895952"/>
          <a:ext cx="8117470" cy="2374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_tradnl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i="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_tradnl" sz="1100" i="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b="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w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i="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90108"/>
                  </a:ext>
                </a:extLst>
              </a:tr>
            </a:tbl>
          </a:graphicData>
        </a:graphic>
      </p:graphicFrame>
      <p:sp>
        <p:nvSpPr>
          <p:cNvPr id="6" name="Llamada rectangular redondeada 5">
            <a:extLst>
              <a:ext uri="{FF2B5EF4-FFF2-40B4-BE49-F238E27FC236}">
                <a16:creationId xmlns:a16="http://schemas.microsoft.com/office/drawing/2014/main" id="{198764F0-0CDE-C47D-E060-A79EADABC54C}"/>
              </a:ext>
            </a:extLst>
          </p:cNvPr>
          <p:cNvSpPr/>
          <p:nvPr/>
        </p:nvSpPr>
        <p:spPr bwMode="auto">
          <a:xfrm>
            <a:off x="6172200" y="3933057"/>
            <a:ext cx="2514600" cy="648072"/>
          </a:xfrm>
          <a:prstGeom prst="wedgeRoundRectCallout">
            <a:avLst>
              <a:gd name="adj1" fmla="val 46506"/>
              <a:gd name="adj2" fmla="val -156199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s-ES_tradnl" sz="1200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escribe en el banco de registros</a:t>
            </a:r>
          </a:p>
        </p:txBody>
      </p:sp>
      <p:sp>
        <p:nvSpPr>
          <p:cNvPr id="7" name="9 Rectángulo">
            <a:extLst>
              <a:ext uri="{FF2B5EF4-FFF2-40B4-BE49-F238E27FC236}">
                <a16:creationId xmlns:a16="http://schemas.microsoft.com/office/drawing/2014/main" id="{6C8601D3-0A79-094F-7A1F-11F915F842B2}"/>
              </a:ext>
            </a:extLst>
          </p:cNvPr>
          <p:cNvSpPr/>
          <p:nvPr/>
        </p:nvSpPr>
        <p:spPr bwMode="auto">
          <a:xfrm>
            <a:off x="8388424" y="2852936"/>
            <a:ext cx="545264" cy="321560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753244062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B257-FE5C-773C-184A-A8FDAE7F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32EDE-C342-9812-9490-CC595B53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Ruta de datos para </a:t>
            </a:r>
            <a:br>
              <a:rPr lang="es-ES_tradnl" noProof="0" dirty="0"/>
            </a:br>
            <a:r>
              <a:rPr lang="es-ES_tradnl" noProof="0" dirty="0"/>
              <a:t>instrucciones tipo B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D31A77-A7B0-E002-0062-CF0073B1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76</a:t>
            </a:fld>
            <a:endParaRPr lang="es-ES_tradnl" noProof="0" dirty="0"/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B9310105-80C5-3EBB-F182-8A135FD8DA24}"/>
              </a:ext>
            </a:extLst>
          </p:cNvPr>
          <p:cNvSpPr txBox="1"/>
          <p:nvPr/>
        </p:nvSpPr>
        <p:spPr>
          <a:xfrm>
            <a:off x="8083738" y="1676400"/>
            <a:ext cx="1014646" cy="11633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Conf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MUXs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MxPC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Cond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MxA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0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MxB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  1</a:t>
            </a:r>
          </a:p>
          <a:p>
            <a:pPr algn="l"/>
            <a:r>
              <a:rPr lang="es-ES_tradnl" sz="1200" noProof="0" dirty="0" err="1">
                <a:solidFill>
                  <a:schemeClr val="accent1">
                    <a:lumMod val="75000"/>
                  </a:schemeClr>
                </a:solidFill>
              </a:rPr>
              <a:t>MxER</a:t>
            </a:r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</a:rPr>
              <a:t>: X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123">
            <a:extLst>
              <a:ext uri="{FF2B5EF4-FFF2-40B4-BE49-F238E27FC236}">
                <a16:creationId xmlns:a16="http://schemas.microsoft.com/office/drawing/2014/main" id="{74A09AA2-DF7C-7FCD-94E2-7E6A756B5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122" y="980728"/>
            <a:ext cx="3348262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/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sz="1400" b="1" noProof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rs1, rs2, </a:t>
            </a:r>
            <a:r>
              <a:rPr lang="es-ES_tradnl" sz="1400" b="1" noProof="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etiq</a:t>
            </a:r>
            <a:endParaRPr lang="es-ES_tradnl" sz="1400" b="1" noProof="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endParaRPr lang="es-ES_tradnl" sz="1400" noProof="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6" name="Conector recto 285">
            <a:extLst>
              <a:ext uri="{FF2B5EF4-FFF2-40B4-BE49-F238E27FC236}">
                <a16:creationId xmlns:a16="http://schemas.microsoft.com/office/drawing/2014/main" id="{05C082B1-267A-B98C-265B-07B853A366A2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8" name="Conector recto de flecha 297">
            <a:extLst>
              <a:ext uri="{FF2B5EF4-FFF2-40B4-BE49-F238E27FC236}">
                <a16:creationId xmlns:a16="http://schemas.microsoft.com/office/drawing/2014/main" id="{F7398CC2-BFBC-27D9-993B-836C90F9FBD1}"/>
              </a:ext>
            </a:extLst>
          </p:cNvPr>
          <p:cNvCxnSpPr/>
          <p:nvPr/>
        </p:nvCxnSpPr>
        <p:spPr bwMode="auto">
          <a:xfrm rot="16200000" flipH="1">
            <a:off x="1735218" y="3570581"/>
            <a:ext cx="303852" cy="2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9" name="Conector recto 298">
            <a:extLst>
              <a:ext uri="{FF2B5EF4-FFF2-40B4-BE49-F238E27FC236}">
                <a16:creationId xmlns:a16="http://schemas.microsoft.com/office/drawing/2014/main" id="{9940B9C6-1E32-A830-2742-56EFA3A06480}"/>
              </a:ext>
            </a:extLst>
          </p:cNvPr>
          <p:cNvCxnSpPr>
            <a:cxnSpLocks/>
          </p:cNvCxnSpPr>
          <p:nvPr/>
        </p:nvCxnSpPr>
        <p:spPr bwMode="auto">
          <a:xfrm>
            <a:off x="3369429" y="4280090"/>
            <a:ext cx="62762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0" name="Rectángulo 299">
            <a:extLst>
              <a:ext uri="{FF2B5EF4-FFF2-40B4-BE49-F238E27FC236}">
                <a16:creationId xmlns:a16="http://schemas.microsoft.com/office/drawing/2014/main" id="{917C20E2-21C4-EDF3-0321-69B5CCBE3A04}"/>
              </a:ext>
            </a:extLst>
          </p:cNvPr>
          <p:cNvSpPr/>
          <p:nvPr/>
        </p:nvSpPr>
        <p:spPr bwMode="auto">
          <a:xfrm>
            <a:off x="4002829" y="3352614"/>
            <a:ext cx="989791" cy="1367324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Banco de Registros</a:t>
            </a:r>
          </a:p>
        </p:txBody>
      </p:sp>
      <p:sp>
        <p:nvSpPr>
          <p:cNvPr id="301" name="Rectángulo 300">
            <a:extLst>
              <a:ext uri="{FF2B5EF4-FFF2-40B4-BE49-F238E27FC236}">
                <a16:creationId xmlns:a16="http://schemas.microsoft.com/office/drawing/2014/main" id="{2318BF29-88DC-BC7F-6573-1963A9D73B22}"/>
              </a:ext>
            </a:extLst>
          </p:cNvPr>
          <p:cNvSpPr/>
          <p:nvPr/>
        </p:nvSpPr>
        <p:spPr bwMode="auto">
          <a:xfrm>
            <a:off x="1599512" y="4330205"/>
            <a:ext cx="837516" cy="303850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PC</a:t>
            </a:r>
          </a:p>
        </p:txBody>
      </p:sp>
      <p:cxnSp>
        <p:nvCxnSpPr>
          <p:cNvPr id="302" name="Conector recto de flecha 301">
            <a:extLst>
              <a:ext uri="{FF2B5EF4-FFF2-40B4-BE49-F238E27FC236}">
                <a16:creationId xmlns:a16="http://schemas.microsoft.com/office/drawing/2014/main" id="{62997982-E917-92AF-E663-6372C0BDBF7F}"/>
              </a:ext>
            </a:extLst>
          </p:cNvPr>
          <p:cNvCxnSpPr>
            <a:cxnSpLocks/>
            <a:stCxn id="301" idx="2"/>
          </p:cNvCxnSpPr>
          <p:nvPr/>
        </p:nvCxnSpPr>
        <p:spPr bwMode="auto">
          <a:xfrm>
            <a:off x="2018270" y="4634055"/>
            <a:ext cx="0" cy="39214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3" name="Freeform 42">
            <a:extLst>
              <a:ext uri="{FF2B5EF4-FFF2-40B4-BE49-F238E27FC236}">
                <a16:creationId xmlns:a16="http://schemas.microsoft.com/office/drawing/2014/main" id="{F7AB08E7-6B33-DDC9-9453-EB0D9D3CC1D4}"/>
              </a:ext>
            </a:extLst>
          </p:cNvPr>
          <p:cNvSpPr>
            <a:spLocks/>
          </p:cNvSpPr>
          <p:nvPr/>
        </p:nvSpPr>
        <p:spPr bwMode="blackWhite">
          <a:xfrm rot="5400000">
            <a:off x="1688771" y="2848062"/>
            <a:ext cx="379812" cy="76137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t" anchorCtr="0">
            <a:prstTxWarp prst="textNoShape">
              <a:avLst/>
            </a:prstTxWarp>
            <a:flatTx/>
          </a:bodyPr>
          <a:lstStyle/>
          <a:p>
            <a:r>
              <a:rPr lang="es-ES_tradnl" noProof="0" dirty="0"/>
              <a:t>+</a:t>
            </a:r>
          </a:p>
        </p:txBody>
      </p:sp>
      <p:cxnSp>
        <p:nvCxnSpPr>
          <p:cNvPr id="304" name="Conector angular 303">
            <a:extLst>
              <a:ext uri="{FF2B5EF4-FFF2-40B4-BE49-F238E27FC236}">
                <a16:creationId xmlns:a16="http://schemas.microsoft.com/office/drawing/2014/main" id="{0FB942E1-E8F5-B128-4526-9FF73164680E}"/>
              </a:ext>
            </a:extLst>
          </p:cNvPr>
          <p:cNvCxnSpPr/>
          <p:nvPr/>
        </p:nvCxnSpPr>
        <p:spPr bwMode="auto">
          <a:xfrm rot="16200000" flipV="1">
            <a:off x="515071" y="3256682"/>
            <a:ext cx="2050986" cy="989791"/>
          </a:xfrm>
          <a:prstGeom prst="bentConnector3">
            <a:avLst>
              <a:gd name="adj1" fmla="val -206"/>
            </a:avLst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5" name="Conector angular 304">
            <a:extLst>
              <a:ext uri="{FF2B5EF4-FFF2-40B4-BE49-F238E27FC236}">
                <a16:creationId xmlns:a16="http://schemas.microsoft.com/office/drawing/2014/main" id="{E4F7ABB5-D7C5-5305-223F-8E2D73064DCD}"/>
              </a:ext>
            </a:extLst>
          </p:cNvPr>
          <p:cNvCxnSpPr>
            <a:cxnSpLocks/>
          </p:cNvCxnSpPr>
          <p:nvPr/>
        </p:nvCxnSpPr>
        <p:spPr bwMode="auto">
          <a:xfrm>
            <a:off x="1028192" y="2735459"/>
            <a:ext cx="620999" cy="301476"/>
          </a:xfrm>
          <a:prstGeom prst="bentConnector3">
            <a:avLst>
              <a:gd name="adj1" fmla="val 99808"/>
            </a:avLst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6" name="Conector recto de flecha 305">
            <a:extLst>
              <a:ext uri="{FF2B5EF4-FFF2-40B4-BE49-F238E27FC236}">
                <a16:creationId xmlns:a16="http://schemas.microsoft.com/office/drawing/2014/main" id="{259A5FA0-3277-9D9C-59DE-9CAF02A49A00}"/>
              </a:ext>
            </a:extLst>
          </p:cNvPr>
          <p:cNvCxnSpPr/>
          <p:nvPr/>
        </p:nvCxnSpPr>
        <p:spPr bwMode="auto">
          <a:xfrm rot="16200000" flipH="1">
            <a:off x="1921415" y="2844708"/>
            <a:ext cx="379812" cy="846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C5847628-6DD8-6746-D3C2-A67F646D5E38}"/>
              </a:ext>
            </a:extLst>
          </p:cNvPr>
          <p:cNvSpPr txBox="1"/>
          <p:nvPr/>
        </p:nvSpPr>
        <p:spPr>
          <a:xfrm>
            <a:off x="1975083" y="2356536"/>
            <a:ext cx="284283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08" name="Rectángulo 307">
            <a:extLst>
              <a:ext uri="{FF2B5EF4-FFF2-40B4-BE49-F238E27FC236}">
                <a16:creationId xmlns:a16="http://schemas.microsoft.com/office/drawing/2014/main" id="{9D6030FF-556F-1BDF-C261-3442F9755893}"/>
              </a:ext>
            </a:extLst>
          </p:cNvPr>
          <p:cNvSpPr/>
          <p:nvPr/>
        </p:nvSpPr>
        <p:spPr bwMode="auto">
          <a:xfrm rot="16200000">
            <a:off x="2615645" y="5355347"/>
            <a:ext cx="835587" cy="3045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chemeClr val="tx1"/>
                </a:solidFill>
              </a:rPr>
              <a:t>RI</a:t>
            </a:r>
          </a:p>
        </p:txBody>
      </p:sp>
      <p:cxnSp>
        <p:nvCxnSpPr>
          <p:cNvPr id="309" name="Conector recto de flecha 308">
            <a:extLst>
              <a:ext uri="{FF2B5EF4-FFF2-40B4-BE49-F238E27FC236}">
                <a16:creationId xmlns:a16="http://schemas.microsoft.com/office/drawing/2014/main" id="{8F79AE41-CD4E-BBBF-ADB2-C933DC6389EA}"/>
              </a:ext>
            </a:extLst>
          </p:cNvPr>
          <p:cNvCxnSpPr>
            <a:cxnSpLocks/>
            <a:stCxn id="383" idx="3"/>
            <a:endCxn id="308" idx="0"/>
          </p:cNvCxnSpPr>
          <p:nvPr/>
        </p:nvCxnSpPr>
        <p:spPr bwMode="auto">
          <a:xfrm>
            <a:off x="2470339" y="5507623"/>
            <a:ext cx="410824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0" name="Rectángulo 309">
            <a:extLst>
              <a:ext uri="{FF2B5EF4-FFF2-40B4-BE49-F238E27FC236}">
                <a16:creationId xmlns:a16="http://schemas.microsoft.com/office/drawing/2014/main" id="{931EBFC9-2416-A2D9-9758-38BD8AA81607}"/>
              </a:ext>
            </a:extLst>
          </p:cNvPr>
          <p:cNvSpPr/>
          <p:nvPr/>
        </p:nvSpPr>
        <p:spPr bwMode="auto">
          <a:xfrm>
            <a:off x="3756748" y="1097579"/>
            <a:ext cx="1294343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Descodificador y Unidad de Control</a:t>
            </a:r>
          </a:p>
        </p:txBody>
      </p:sp>
      <p:cxnSp>
        <p:nvCxnSpPr>
          <p:cNvPr id="311" name="Conector recto 310">
            <a:extLst>
              <a:ext uri="{FF2B5EF4-FFF2-40B4-BE49-F238E27FC236}">
                <a16:creationId xmlns:a16="http://schemas.microsoft.com/office/drawing/2014/main" id="{D1DC8463-69BA-62B2-AFC2-7BA776E465EA}"/>
              </a:ext>
            </a:extLst>
          </p:cNvPr>
          <p:cNvCxnSpPr>
            <a:cxnSpLocks/>
            <a:stCxn id="308" idx="2"/>
          </p:cNvCxnSpPr>
          <p:nvPr/>
        </p:nvCxnSpPr>
        <p:spPr bwMode="auto">
          <a:xfrm>
            <a:off x="3185714" y="5507623"/>
            <a:ext cx="190007" cy="0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2" name="Conector recto 311">
            <a:extLst>
              <a:ext uri="{FF2B5EF4-FFF2-40B4-BE49-F238E27FC236}">
                <a16:creationId xmlns:a16="http://schemas.microsoft.com/office/drawing/2014/main" id="{FA011560-4804-3386-4E59-15E034D95670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5721" y="1536677"/>
            <a:ext cx="0" cy="3988028"/>
          </a:xfrm>
          <a:prstGeom prst="line">
            <a:avLst/>
          </a:prstGeom>
          <a:ln w="381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3" name="Conector recto 312">
            <a:extLst>
              <a:ext uri="{FF2B5EF4-FFF2-40B4-BE49-F238E27FC236}">
                <a16:creationId xmlns:a16="http://schemas.microsoft.com/office/drawing/2014/main" id="{1A860B33-9CDA-91C7-9E10-8D4048496807}"/>
              </a:ext>
            </a:extLst>
          </p:cNvPr>
          <p:cNvCxnSpPr/>
          <p:nvPr/>
        </p:nvCxnSpPr>
        <p:spPr bwMode="auto">
          <a:xfrm>
            <a:off x="3376059" y="1553354"/>
            <a:ext cx="380689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4" name="Conector recto 313">
            <a:extLst>
              <a:ext uri="{FF2B5EF4-FFF2-40B4-BE49-F238E27FC236}">
                <a16:creationId xmlns:a16="http://schemas.microsoft.com/office/drawing/2014/main" id="{3E60CDAE-E32D-918D-A94B-23E3B1A3E89B}"/>
              </a:ext>
            </a:extLst>
          </p:cNvPr>
          <p:cNvCxnSpPr/>
          <p:nvPr/>
        </p:nvCxnSpPr>
        <p:spPr bwMode="auto">
          <a:xfrm>
            <a:off x="5051091" y="1173542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5" name="Conector recto 314">
            <a:extLst>
              <a:ext uri="{FF2B5EF4-FFF2-40B4-BE49-F238E27FC236}">
                <a16:creationId xmlns:a16="http://schemas.microsoft.com/office/drawing/2014/main" id="{A48B1DFA-A4F1-5B6F-D7B0-D8FEBF90D6C5}"/>
              </a:ext>
            </a:extLst>
          </p:cNvPr>
          <p:cNvCxnSpPr/>
          <p:nvPr/>
        </p:nvCxnSpPr>
        <p:spPr bwMode="auto">
          <a:xfrm>
            <a:off x="5051091" y="1325467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Conector recto 315">
            <a:extLst>
              <a:ext uri="{FF2B5EF4-FFF2-40B4-BE49-F238E27FC236}">
                <a16:creationId xmlns:a16="http://schemas.microsoft.com/office/drawing/2014/main" id="{A1DE2339-87F6-F746-6B09-9646AF39E326}"/>
              </a:ext>
            </a:extLst>
          </p:cNvPr>
          <p:cNvCxnSpPr/>
          <p:nvPr/>
        </p:nvCxnSpPr>
        <p:spPr bwMode="auto">
          <a:xfrm>
            <a:off x="5051091" y="1781241"/>
            <a:ext cx="380689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0CE6BB46-CDCA-EC32-53D1-F91060EB732B}"/>
              </a:ext>
            </a:extLst>
          </p:cNvPr>
          <p:cNvSpPr txBox="1"/>
          <p:nvPr/>
        </p:nvSpPr>
        <p:spPr>
          <a:xfrm>
            <a:off x="5113674" y="1398461"/>
            <a:ext cx="363905" cy="306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noProof="0" dirty="0">
                <a:solidFill>
                  <a:srgbClr val="FF6600"/>
                </a:solidFill>
              </a:rPr>
              <a:t>…</a:t>
            </a:r>
          </a:p>
        </p:txBody>
      </p:sp>
      <p:cxnSp>
        <p:nvCxnSpPr>
          <p:cNvPr id="320" name="Conector recto 319">
            <a:extLst>
              <a:ext uri="{FF2B5EF4-FFF2-40B4-BE49-F238E27FC236}">
                <a16:creationId xmlns:a16="http://schemas.microsoft.com/office/drawing/2014/main" id="{D0C8B879-4907-7051-420B-0711F4F92811}"/>
              </a:ext>
            </a:extLst>
          </p:cNvPr>
          <p:cNvCxnSpPr/>
          <p:nvPr/>
        </p:nvCxnSpPr>
        <p:spPr bwMode="auto">
          <a:xfrm rot="5400000" flipH="1" flipV="1">
            <a:off x="1893220" y="614987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B2883BEC-8C3A-B2D4-A792-92907AD37356}"/>
              </a:ext>
            </a:extLst>
          </p:cNvPr>
          <p:cNvSpPr txBox="1"/>
          <p:nvPr/>
        </p:nvSpPr>
        <p:spPr>
          <a:xfrm>
            <a:off x="1747514" y="6187063"/>
            <a:ext cx="55180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490D68DA-D49E-8383-52F8-280A656F6EF4}"/>
              </a:ext>
            </a:extLst>
          </p:cNvPr>
          <p:cNvSpPr txBox="1"/>
          <p:nvPr/>
        </p:nvSpPr>
        <p:spPr>
          <a:xfrm rot="16200000">
            <a:off x="983484" y="4278255"/>
            <a:ext cx="533529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PCin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23" name="Conector recto 322">
            <a:extLst>
              <a:ext uri="{FF2B5EF4-FFF2-40B4-BE49-F238E27FC236}">
                <a16:creationId xmlns:a16="http://schemas.microsoft.com/office/drawing/2014/main" id="{8E707A78-1C0B-919E-F770-7080014FB3DA}"/>
              </a:ext>
            </a:extLst>
          </p:cNvPr>
          <p:cNvCxnSpPr/>
          <p:nvPr/>
        </p:nvCxnSpPr>
        <p:spPr bwMode="auto">
          <a:xfrm>
            <a:off x="3376059" y="3528378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6F53D659-8FF9-00F6-18A4-91D656FFAF29}"/>
              </a:ext>
            </a:extLst>
          </p:cNvPr>
          <p:cNvSpPr txBox="1"/>
          <p:nvPr/>
        </p:nvSpPr>
        <p:spPr>
          <a:xfrm>
            <a:off x="3316183" y="3183547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19..15(rs1)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6A08A4D4-68DB-7964-4510-8AF70CE02E8B}"/>
              </a:ext>
            </a:extLst>
          </p:cNvPr>
          <p:cNvSpPr txBox="1"/>
          <p:nvPr/>
        </p:nvSpPr>
        <p:spPr>
          <a:xfrm>
            <a:off x="3316183" y="3620721"/>
            <a:ext cx="781948" cy="24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24..20(rs2)</a:t>
            </a:r>
          </a:p>
        </p:txBody>
      </p:sp>
      <p:cxnSp>
        <p:nvCxnSpPr>
          <p:cNvPr id="326" name="Conector recto 325">
            <a:extLst>
              <a:ext uri="{FF2B5EF4-FFF2-40B4-BE49-F238E27FC236}">
                <a16:creationId xmlns:a16="http://schemas.microsoft.com/office/drawing/2014/main" id="{77E1983D-CA2A-1C37-4953-E1E504E0E351}"/>
              </a:ext>
            </a:extLst>
          </p:cNvPr>
          <p:cNvCxnSpPr/>
          <p:nvPr/>
        </p:nvCxnSpPr>
        <p:spPr bwMode="auto">
          <a:xfrm rot="16200000" flipH="1">
            <a:off x="4137698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7" name="Conector recto 326">
            <a:extLst>
              <a:ext uri="{FF2B5EF4-FFF2-40B4-BE49-F238E27FC236}">
                <a16:creationId xmlns:a16="http://schemas.microsoft.com/office/drawing/2014/main" id="{6018B68B-F31B-FB6C-FF3F-3DBDE7B386B4}"/>
              </a:ext>
            </a:extLst>
          </p:cNvPr>
          <p:cNvCxnSpPr/>
          <p:nvPr/>
        </p:nvCxnSpPr>
        <p:spPr bwMode="auto">
          <a:xfrm>
            <a:off x="3376059" y="3906607"/>
            <a:ext cx="609102" cy="1583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8" name="Conector recto 327">
            <a:extLst>
              <a:ext uri="{FF2B5EF4-FFF2-40B4-BE49-F238E27FC236}">
                <a16:creationId xmlns:a16="http://schemas.microsoft.com/office/drawing/2014/main" id="{D5B78A2F-5C1E-4E9E-A33B-5926746C2CCB}"/>
              </a:ext>
            </a:extLst>
          </p:cNvPr>
          <p:cNvCxnSpPr>
            <a:cxnSpLocks/>
            <a:stCxn id="389" idx="3"/>
          </p:cNvCxnSpPr>
          <p:nvPr/>
        </p:nvCxnSpPr>
        <p:spPr bwMode="auto">
          <a:xfrm>
            <a:off x="5171432" y="3535481"/>
            <a:ext cx="578689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Conector recto 328">
            <a:extLst>
              <a:ext uri="{FF2B5EF4-FFF2-40B4-BE49-F238E27FC236}">
                <a16:creationId xmlns:a16="http://schemas.microsoft.com/office/drawing/2014/main" id="{2E50FADE-991C-6D99-419B-6114DD008D4F}"/>
              </a:ext>
            </a:extLst>
          </p:cNvPr>
          <p:cNvCxnSpPr>
            <a:cxnSpLocks/>
            <a:stCxn id="384" idx="3"/>
          </p:cNvCxnSpPr>
          <p:nvPr/>
        </p:nvCxnSpPr>
        <p:spPr bwMode="auto">
          <a:xfrm flipV="1">
            <a:off x="5479811" y="3908190"/>
            <a:ext cx="273289" cy="526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0" name="Conector recto 329">
            <a:extLst>
              <a:ext uri="{FF2B5EF4-FFF2-40B4-BE49-F238E27FC236}">
                <a16:creationId xmlns:a16="http://schemas.microsoft.com/office/drawing/2014/main" id="{8126985A-5363-AC53-4DE7-FD1AC8E8D225}"/>
              </a:ext>
            </a:extLst>
          </p:cNvPr>
          <p:cNvCxnSpPr>
            <a:cxnSpLocks/>
            <a:stCxn id="333" idx="3"/>
          </p:cNvCxnSpPr>
          <p:nvPr/>
        </p:nvCxnSpPr>
        <p:spPr bwMode="auto">
          <a:xfrm>
            <a:off x="3417665" y="5120060"/>
            <a:ext cx="52704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C6D4FEC1-E031-2096-2D19-74D3E3D0F27B}"/>
              </a:ext>
            </a:extLst>
          </p:cNvPr>
          <p:cNvSpPr txBox="1"/>
          <p:nvPr/>
        </p:nvSpPr>
        <p:spPr>
          <a:xfrm>
            <a:off x="3491552" y="4848225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31..0</a:t>
            </a:r>
          </a:p>
        </p:txBody>
      </p:sp>
      <p:cxnSp>
        <p:nvCxnSpPr>
          <p:cNvPr id="332" name="Conector recto 331">
            <a:extLst>
              <a:ext uri="{FF2B5EF4-FFF2-40B4-BE49-F238E27FC236}">
                <a16:creationId xmlns:a16="http://schemas.microsoft.com/office/drawing/2014/main" id="{4E2E8413-BC5E-F286-A567-E244EB6186C5}"/>
              </a:ext>
            </a:extLst>
          </p:cNvPr>
          <p:cNvCxnSpPr>
            <a:cxnSpLocks/>
          </p:cNvCxnSpPr>
          <p:nvPr/>
        </p:nvCxnSpPr>
        <p:spPr bwMode="auto">
          <a:xfrm>
            <a:off x="4991608" y="5123589"/>
            <a:ext cx="283363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3" name="Rectángulo 332">
            <a:extLst>
              <a:ext uri="{FF2B5EF4-FFF2-40B4-BE49-F238E27FC236}">
                <a16:creationId xmlns:a16="http://schemas.microsoft.com/office/drawing/2014/main" id="{27C436F7-52BA-C406-D974-7F6A74AE089D}"/>
              </a:ext>
            </a:extLst>
          </p:cNvPr>
          <p:cNvSpPr/>
          <p:nvPr/>
        </p:nvSpPr>
        <p:spPr bwMode="auto">
          <a:xfrm>
            <a:off x="3341527" y="5082079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A8F495BE-A6DE-ADC0-51E0-6E4810C0695E}"/>
              </a:ext>
            </a:extLst>
          </p:cNvPr>
          <p:cNvSpPr txBox="1"/>
          <p:nvPr/>
        </p:nvSpPr>
        <p:spPr>
          <a:xfrm>
            <a:off x="3963480" y="2872811"/>
            <a:ext cx="568922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35" name="Rectángulo 334">
            <a:extLst>
              <a:ext uri="{FF2B5EF4-FFF2-40B4-BE49-F238E27FC236}">
                <a16:creationId xmlns:a16="http://schemas.microsoft.com/office/drawing/2014/main" id="{06FA2507-31DD-D149-EB78-6CE4787FACB9}"/>
              </a:ext>
            </a:extLst>
          </p:cNvPr>
          <p:cNvSpPr/>
          <p:nvPr/>
        </p:nvSpPr>
        <p:spPr bwMode="auto">
          <a:xfrm rot="16200000">
            <a:off x="5547791" y="400525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36" name="Conector recto 335">
            <a:extLst>
              <a:ext uri="{FF2B5EF4-FFF2-40B4-BE49-F238E27FC236}">
                <a16:creationId xmlns:a16="http://schemas.microsoft.com/office/drawing/2014/main" id="{9F3CC192-EDA4-FCA0-F8CD-CAB680901D23}"/>
              </a:ext>
            </a:extLst>
          </p:cNvPr>
          <p:cNvCxnSpPr>
            <a:cxnSpLocks/>
          </p:cNvCxnSpPr>
          <p:nvPr/>
        </p:nvCxnSpPr>
        <p:spPr bwMode="auto">
          <a:xfrm flipV="1">
            <a:off x="5277485" y="4272148"/>
            <a:ext cx="0" cy="87135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7" name="Conector recto 336">
            <a:extLst>
              <a:ext uri="{FF2B5EF4-FFF2-40B4-BE49-F238E27FC236}">
                <a16:creationId xmlns:a16="http://schemas.microsoft.com/office/drawing/2014/main" id="{F8D7C017-DBB7-0E2B-8746-F0DFB3867A10}"/>
              </a:ext>
            </a:extLst>
          </p:cNvPr>
          <p:cNvCxnSpPr>
            <a:cxnSpLocks/>
          </p:cNvCxnSpPr>
          <p:nvPr/>
        </p:nvCxnSpPr>
        <p:spPr bwMode="auto">
          <a:xfrm>
            <a:off x="5255922" y="4284473"/>
            <a:ext cx="497178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8" name="Conector recto 337">
            <a:extLst>
              <a:ext uri="{FF2B5EF4-FFF2-40B4-BE49-F238E27FC236}">
                <a16:creationId xmlns:a16="http://schemas.microsoft.com/office/drawing/2014/main" id="{F004BA5C-9937-3C77-12C7-EBF77D0A41AF}"/>
              </a:ext>
            </a:extLst>
          </p:cNvPr>
          <p:cNvCxnSpPr>
            <a:cxnSpLocks/>
            <a:stCxn id="335" idx="2"/>
          </p:cNvCxnSpPr>
          <p:nvPr/>
        </p:nvCxnSpPr>
        <p:spPr bwMode="auto">
          <a:xfrm>
            <a:off x="5982727" y="4119459"/>
            <a:ext cx="437123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9" name="Conector recto 338">
            <a:extLst>
              <a:ext uri="{FF2B5EF4-FFF2-40B4-BE49-F238E27FC236}">
                <a16:creationId xmlns:a16="http://schemas.microsoft.com/office/drawing/2014/main" id="{FF04D248-EB4C-B3E6-1877-9C75E8DBF31E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2057" y="4440190"/>
            <a:ext cx="0" cy="173229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0" name="Conector recto 339">
            <a:extLst>
              <a:ext uri="{FF2B5EF4-FFF2-40B4-BE49-F238E27FC236}">
                <a16:creationId xmlns:a16="http://schemas.microsoft.com/office/drawing/2014/main" id="{B9304BA5-3017-E005-F81C-9FBFE43774FD}"/>
              </a:ext>
            </a:extLst>
          </p:cNvPr>
          <p:cNvCxnSpPr/>
          <p:nvPr/>
        </p:nvCxnSpPr>
        <p:spPr bwMode="auto">
          <a:xfrm rot="5400000" flipH="1" flipV="1">
            <a:off x="6624073" y="423462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1" name="Conector recto 340">
            <a:extLst>
              <a:ext uri="{FF2B5EF4-FFF2-40B4-BE49-F238E27FC236}">
                <a16:creationId xmlns:a16="http://schemas.microsoft.com/office/drawing/2014/main" id="{20E518A0-D780-E3DE-E389-5F1FCF8DF860}"/>
              </a:ext>
            </a:extLst>
          </p:cNvPr>
          <p:cNvCxnSpPr>
            <a:cxnSpLocks/>
            <a:stCxn id="365" idx="3"/>
          </p:cNvCxnSpPr>
          <p:nvPr/>
        </p:nvCxnSpPr>
        <p:spPr bwMode="auto">
          <a:xfrm flipV="1">
            <a:off x="7376831" y="3757848"/>
            <a:ext cx="931265" cy="350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29994018-AE27-C3A5-DDEF-AEF439CBF627}"/>
              </a:ext>
            </a:extLst>
          </p:cNvPr>
          <p:cNvSpPr txBox="1"/>
          <p:nvPr/>
        </p:nvSpPr>
        <p:spPr>
          <a:xfrm>
            <a:off x="6201286" y="4310585"/>
            <a:ext cx="714051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OpALU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A366F0F-DD31-89FE-BC02-6599058E31DD}"/>
              </a:ext>
            </a:extLst>
          </p:cNvPr>
          <p:cNvSpPr txBox="1"/>
          <p:nvPr/>
        </p:nvSpPr>
        <p:spPr>
          <a:xfrm>
            <a:off x="5575073" y="4547013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MxB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44" name="Rectángulo 343">
            <a:extLst>
              <a:ext uri="{FF2B5EF4-FFF2-40B4-BE49-F238E27FC236}">
                <a16:creationId xmlns:a16="http://schemas.microsoft.com/office/drawing/2014/main" id="{EE6721FF-D2F5-4845-E3EE-CC13DF702D8C}"/>
              </a:ext>
            </a:extLst>
          </p:cNvPr>
          <p:cNvSpPr/>
          <p:nvPr/>
        </p:nvSpPr>
        <p:spPr bwMode="auto">
          <a:xfrm>
            <a:off x="6826600" y="4439927"/>
            <a:ext cx="837516" cy="987512"/>
          </a:xfrm>
          <a:prstGeom prst="rect">
            <a:avLst/>
          </a:prstGeom>
          <a:noFill/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Datos</a:t>
            </a:r>
          </a:p>
        </p:txBody>
      </p:sp>
      <p:cxnSp>
        <p:nvCxnSpPr>
          <p:cNvPr id="345" name="Conector recto 344">
            <a:extLst>
              <a:ext uri="{FF2B5EF4-FFF2-40B4-BE49-F238E27FC236}">
                <a16:creationId xmlns:a16="http://schemas.microsoft.com/office/drawing/2014/main" id="{D5FB312F-82CB-02B2-224F-9A280C69C337}"/>
              </a:ext>
            </a:extLst>
          </p:cNvPr>
          <p:cNvCxnSpPr>
            <a:cxnSpLocks/>
          </p:cNvCxnSpPr>
          <p:nvPr/>
        </p:nvCxnSpPr>
        <p:spPr bwMode="auto">
          <a:xfrm>
            <a:off x="7648409" y="4895701"/>
            <a:ext cx="173997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6" name="Conector recto 345">
            <a:extLst>
              <a:ext uri="{FF2B5EF4-FFF2-40B4-BE49-F238E27FC236}">
                <a16:creationId xmlns:a16="http://schemas.microsoft.com/office/drawing/2014/main" id="{552AB9DE-D3DE-2F64-9CFC-44FD636DBF3D}"/>
              </a:ext>
            </a:extLst>
          </p:cNvPr>
          <p:cNvCxnSpPr/>
          <p:nvPr/>
        </p:nvCxnSpPr>
        <p:spPr bwMode="auto">
          <a:xfrm rot="5400000">
            <a:off x="6992600" y="4098094"/>
            <a:ext cx="683662" cy="1587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7" name="Conector recto 346">
            <a:extLst>
              <a:ext uri="{FF2B5EF4-FFF2-40B4-BE49-F238E27FC236}">
                <a16:creationId xmlns:a16="http://schemas.microsoft.com/office/drawing/2014/main" id="{3EA88DD6-23FE-1F04-8185-5286031C460C}"/>
              </a:ext>
            </a:extLst>
          </p:cNvPr>
          <p:cNvCxnSpPr>
            <a:cxnSpLocks/>
          </p:cNvCxnSpPr>
          <p:nvPr/>
        </p:nvCxnSpPr>
        <p:spPr bwMode="auto">
          <a:xfrm>
            <a:off x="5444182" y="4821322"/>
            <a:ext cx="137378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8" name="Conector recto 347">
            <a:extLst>
              <a:ext uri="{FF2B5EF4-FFF2-40B4-BE49-F238E27FC236}">
                <a16:creationId xmlns:a16="http://schemas.microsoft.com/office/drawing/2014/main" id="{05BBC7D3-4A69-2009-D47D-A6A984F0AB5A}"/>
              </a:ext>
            </a:extLst>
          </p:cNvPr>
          <p:cNvCxnSpPr/>
          <p:nvPr/>
        </p:nvCxnSpPr>
        <p:spPr bwMode="auto">
          <a:xfrm rot="5400000" flipH="1" flipV="1">
            <a:off x="6994453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9" name="Conector recto 348">
            <a:extLst>
              <a:ext uri="{FF2B5EF4-FFF2-40B4-BE49-F238E27FC236}">
                <a16:creationId xmlns:a16="http://schemas.microsoft.com/office/drawing/2014/main" id="{F6A2EDE1-4B20-0619-1056-B028E49B2F65}"/>
              </a:ext>
            </a:extLst>
          </p:cNvPr>
          <p:cNvCxnSpPr/>
          <p:nvPr/>
        </p:nvCxnSpPr>
        <p:spPr bwMode="auto">
          <a:xfrm rot="5400000" flipH="1" flipV="1">
            <a:off x="7297417" y="553979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05EADB2E-E951-BB83-54CF-1700C99DEFA9}"/>
              </a:ext>
            </a:extLst>
          </p:cNvPr>
          <p:cNvSpPr txBox="1"/>
          <p:nvPr/>
        </p:nvSpPr>
        <p:spPr>
          <a:xfrm>
            <a:off x="6732244" y="5623675"/>
            <a:ext cx="628760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LMem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DCE949DC-6461-7DFC-2C30-AED89C0AF812}"/>
              </a:ext>
            </a:extLst>
          </p:cNvPr>
          <p:cNvSpPr txBox="1"/>
          <p:nvPr/>
        </p:nvSpPr>
        <p:spPr>
          <a:xfrm>
            <a:off x="7241457" y="5623675"/>
            <a:ext cx="637394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>
                <a:solidFill>
                  <a:srgbClr val="FF6600"/>
                </a:solidFill>
              </a:rPr>
              <a:t>EMem</a:t>
            </a:r>
          </a:p>
        </p:txBody>
      </p:sp>
      <p:cxnSp>
        <p:nvCxnSpPr>
          <p:cNvPr id="352" name="Conector recto 351">
            <a:extLst>
              <a:ext uri="{FF2B5EF4-FFF2-40B4-BE49-F238E27FC236}">
                <a16:creationId xmlns:a16="http://schemas.microsoft.com/office/drawing/2014/main" id="{B717544D-671B-6DC9-66D3-71FC1E0FB7F3}"/>
              </a:ext>
            </a:extLst>
          </p:cNvPr>
          <p:cNvCxnSpPr/>
          <p:nvPr/>
        </p:nvCxnSpPr>
        <p:spPr bwMode="auto">
          <a:xfrm rot="16200000" flipH="1">
            <a:off x="4558043" y="3228027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D5116042-6BBB-784A-5F67-1A4E63AD24AB}"/>
              </a:ext>
            </a:extLst>
          </p:cNvPr>
          <p:cNvSpPr txBox="1"/>
          <p:nvPr/>
        </p:nvSpPr>
        <p:spPr>
          <a:xfrm>
            <a:off x="4420748" y="2878510"/>
            <a:ext cx="577556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EReg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54" name="Rectángulo 353">
            <a:extLst>
              <a:ext uri="{FF2B5EF4-FFF2-40B4-BE49-F238E27FC236}">
                <a16:creationId xmlns:a16="http://schemas.microsoft.com/office/drawing/2014/main" id="{80263EA0-8570-36C0-63FC-112EA03C3411}"/>
              </a:ext>
            </a:extLst>
          </p:cNvPr>
          <p:cNvSpPr/>
          <p:nvPr/>
        </p:nvSpPr>
        <p:spPr bwMode="auto">
          <a:xfrm rot="16200000">
            <a:off x="8118494" y="3810863"/>
            <a:ext cx="641459" cy="228413"/>
          </a:xfrm>
          <a:prstGeom prst="rect">
            <a:avLst/>
          </a:prstGeom>
          <a:solidFill>
            <a:schemeClr val="bg1"/>
          </a:solidFill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55" name="Conector recto 354">
            <a:extLst>
              <a:ext uri="{FF2B5EF4-FFF2-40B4-BE49-F238E27FC236}">
                <a16:creationId xmlns:a16="http://schemas.microsoft.com/office/drawing/2014/main" id="{D8B19B5C-524C-D049-9BEF-D769A63E025E}"/>
              </a:ext>
            </a:extLst>
          </p:cNvPr>
          <p:cNvCxnSpPr>
            <a:cxnSpLocks/>
          </p:cNvCxnSpPr>
          <p:nvPr/>
        </p:nvCxnSpPr>
        <p:spPr bwMode="auto">
          <a:xfrm>
            <a:off x="7807325" y="4078579"/>
            <a:ext cx="517691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6" name="Conector recto 355">
            <a:extLst>
              <a:ext uri="{FF2B5EF4-FFF2-40B4-BE49-F238E27FC236}">
                <a16:creationId xmlns:a16="http://schemas.microsoft.com/office/drawing/2014/main" id="{7AE9D1E5-7355-2D02-1FDF-D7EE4B61B895}"/>
              </a:ext>
            </a:extLst>
          </p:cNvPr>
          <p:cNvCxnSpPr/>
          <p:nvPr/>
        </p:nvCxnSpPr>
        <p:spPr bwMode="auto">
          <a:xfrm rot="5400000">
            <a:off x="7384989" y="4481083"/>
            <a:ext cx="836378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7" name="Conector recto 356">
            <a:extLst>
              <a:ext uri="{FF2B5EF4-FFF2-40B4-BE49-F238E27FC236}">
                <a16:creationId xmlns:a16="http://schemas.microsoft.com/office/drawing/2014/main" id="{51E044E8-4990-B25B-0252-DB38D5797364}"/>
              </a:ext>
            </a:extLst>
          </p:cNvPr>
          <p:cNvCxnSpPr>
            <a:cxnSpLocks/>
          </p:cNvCxnSpPr>
          <p:nvPr/>
        </p:nvCxnSpPr>
        <p:spPr bwMode="auto">
          <a:xfrm>
            <a:off x="8553430" y="3908190"/>
            <a:ext cx="247956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8" name="Conector recto 357">
            <a:extLst>
              <a:ext uri="{FF2B5EF4-FFF2-40B4-BE49-F238E27FC236}">
                <a16:creationId xmlns:a16="http://schemas.microsoft.com/office/drawing/2014/main" id="{C478B81D-E041-3C7B-903B-6C7B1B5AA3D4}"/>
              </a:ext>
            </a:extLst>
          </p:cNvPr>
          <p:cNvCxnSpPr/>
          <p:nvPr/>
        </p:nvCxnSpPr>
        <p:spPr bwMode="auto">
          <a:xfrm rot="5400000">
            <a:off x="7453293" y="5237532"/>
            <a:ext cx="2657894" cy="793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9" name="Conector recto 358">
            <a:extLst>
              <a:ext uri="{FF2B5EF4-FFF2-40B4-BE49-F238E27FC236}">
                <a16:creationId xmlns:a16="http://schemas.microsoft.com/office/drawing/2014/main" id="{CCD76E3B-53F3-332C-9FD3-DDB59EC79C5E}"/>
              </a:ext>
            </a:extLst>
          </p:cNvPr>
          <p:cNvCxnSpPr>
            <a:cxnSpLocks/>
          </p:cNvCxnSpPr>
          <p:nvPr/>
        </p:nvCxnSpPr>
        <p:spPr bwMode="auto">
          <a:xfrm>
            <a:off x="3528335" y="6566875"/>
            <a:ext cx="5270672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0" name="Conector recto 359">
            <a:extLst>
              <a:ext uri="{FF2B5EF4-FFF2-40B4-BE49-F238E27FC236}">
                <a16:creationId xmlns:a16="http://schemas.microsoft.com/office/drawing/2014/main" id="{423BA772-F485-7486-D673-6DE4096D2322}"/>
              </a:ext>
            </a:extLst>
          </p:cNvPr>
          <p:cNvCxnSpPr>
            <a:cxnSpLocks/>
          </p:cNvCxnSpPr>
          <p:nvPr/>
        </p:nvCxnSpPr>
        <p:spPr bwMode="auto">
          <a:xfrm flipV="1">
            <a:off x="3527541" y="4553810"/>
            <a:ext cx="0" cy="2031995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prstDash val="solid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1" name="Conector recto 360">
            <a:extLst>
              <a:ext uri="{FF2B5EF4-FFF2-40B4-BE49-F238E27FC236}">
                <a16:creationId xmlns:a16="http://schemas.microsoft.com/office/drawing/2014/main" id="{1AB8243F-6900-038A-F70B-426D7EEA1DFD}"/>
              </a:ext>
            </a:extLst>
          </p:cNvPr>
          <p:cNvCxnSpPr>
            <a:cxnSpLocks/>
          </p:cNvCxnSpPr>
          <p:nvPr/>
        </p:nvCxnSpPr>
        <p:spPr bwMode="auto">
          <a:xfrm>
            <a:off x="3526463" y="4572072"/>
            <a:ext cx="468723" cy="0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7B804D16-59D3-101D-041A-8D20F8E949DD}"/>
              </a:ext>
            </a:extLst>
          </p:cNvPr>
          <p:cNvSpPr txBox="1"/>
          <p:nvPr/>
        </p:nvSpPr>
        <p:spPr>
          <a:xfrm>
            <a:off x="6867522" y="6306081"/>
            <a:ext cx="552905" cy="26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noProof="0" dirty="0">
                <a:solidFill>
                  <a:schemeClr val="accent1">
                    <a:lumMod val="75000"/>
                  </a:schemeClr>
                </a:solidFill>
              </a:rPr>
              <a:t>Datos</a:t>
            </a:r>
          </a:p>
        </p:txBody>
      </p:sp>
      <p:cxnSp>
        <p:nvCxnSpPr>
          <p:cNvPr id="363" name="Conector recto 362">
            <a:extLst>
              <a:ext uri="{FF2B5EF4-FFF2-40B4-BE49-F238E27FC236}">
                <a16:creationId xmlns:a16="http://schemas.microsoft.com/office/drawing/2014/main" id="{9F2A8C0C-C4F4-C9B4-614A-FA1E6234035F}"/>
              </a:ext>
            </a:extLst>
          </p:cNvPr>
          <p:cNvCxnSpPr/>
          <p:nvPr/>
        </p:nvCxnSpPr>
        <p:spPr bwMode="auto">
          <a:xfrm rot="16200000" flipH="1">
            <a:off x="8321768" y="3488811"/>
            <a:ext cx="226304" cy="1587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2B1F68E1-5DF7-D022-6127-94216AF2C513}"/>
              </a:ext>
            </a:extLst>
          </p:cNvPr>
          <p:cNvSpPr txBox="1"/>
          <p:nvPr/>
        </p:nvSpPr>
        <p:spPr>
          <a:xfrm>
            <a:off x="8127347" y="3112978"/>
            <a:ext cx="611717" cy="276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MxER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65" name="Rectángulo 364">
            <a:extLst>
              <a:ext uri="{FF2B5EF4-FFF2-40B4-BE49-F238E27FC236}">
                <a16:creationId xmlns:a16="http://schemas.microsoft.com/office/drawing/2014/main" id="{09A71A06-7058-DDB8-A20C-FD6577DEB283}"/>
              </a:ext>
            </a:extLst>
          </p:cNvPr>
          <p:cNvSpPr/>
          <p:nvPr/>
        </p:nvSpPr>
        <p:spPr bwMode="auto">
          <a:xfrm>
            <a:off x="7300693" y="3723368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66" name="Conector recto 365">
            <a:extLst>
              <a:ext uri="{FF2B5EF4-FFF2-40B4-BE49-F238E27FC236}">
                <a16:creationId xmlns:a16="http://schemas.microsoft.com/office/drawing/2014/main" id="{E2B9FD2D-DC21-DC89-3FF5-44F6DDE23170}"/>
              </a:ext>
            </a:extLst>
          </p:cNvPr>
          <p:cNvCxnSpPr>
            <a:cxnSpLocks/>
          </p:cNvCxnSpPr>
          <p:nvPr/>
        </p:nvCxnSpPr>
        <p:spPr bwMode="auto">
          <a:xfrm>
            <a:off x="5051093" y="2009129"/>
            <a:ext cx="2964195" cy="0"/>
          </a:xfrm>
          <a:prstGeom prst="line">
            <a:avLst/>
          </a:prstGeom>
          <a:ln w="38100" cmpd="sng">
            <a:solidFill>
              <a:srgbClr val="26697A"/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7" name="Rectángulo 366">
            <a:extLst>
              <a:ext uri="{FF2B5EF4-FFF2-40B4-BE49-F238E27FC236}">
                <a16:creationId xmlns:a16="http://schemas.microsoft.com/office/drawing/2014/main" id="{D3A7BBE2-FA84-AA06-4A7E-570DC6746399}"/>
              </a:ext>
            </a:extLst>
          </p:cNvPr>
          <p:cNvSpPr/>
          <p:nvPr/>
        </p:nvSpPr>
        <p:spPr bwMode="auto">
          <a:xfrm>
            <a:off x="1701026" y="3722505"/>
            <a:ext cx="642940" cy="227887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68" name="Conector recto 367">
            <a:extLst>
              <a:ext uri="{FF2B5EF4-FFF2-40B4-BE49-F238E27FC236}">
                <a16:creationId xmlns:a16="http://schemas.microsoft.com/office/drawing/2014/main" id="{46D1D9AD-C35F-0C3D-4363-004BAED2A6D8}"/>
              </a:ext>
            </a:extLst>
          </p:cNvPr>
          <p:cNvCxnSpPr>
            <a:cxnSpLocks/>
          </p:cNvCxnSpPr>
          <p:nvPr/>
        </p:nvCxnSpPr>
        <p:spPr bwMode="auto">
          <a:xfrm>
            <a:off x="2457450" y="2470150"/>
            <a:ext cx="4881312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9" name="Conector recto 368">
            <a:extLst>
              <a:ext uri="{FF2B5EF4-FFF2-40B4-BE49-F238E27FC236}">
                <a16:creationId xmlns:a16="http://schemas.microsoft.com/office/drawing/2014/main" id="{E695261B-299C-E95D-ECA8-AD5A4A6A8F16}"/>
              </a:ext>
            </a:extLst>
          </p:cNvPr>
          <p:cNvCxnSpPr>
            <a:cxnSpLocks/>
          </p:cNvCxnSpPr>
          <p:nvPr/>
        </p:nvCxnSpPr>
        <p:spPr bwMode="auto">
          <a:xfrm>
            <a:off x="2462405" y="2476500"/>
            <a:ext cx="0" cy="74802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0" name="Conector recto 369">
            <a:extLst>
              <a:ext uri="{FF2B5EF4-FFF2-40B4-BE49-F238E27FC236}">
                <a16:creationId xmlns:a16="http://schemas.microsoft.com/office/drawing/2014/main" id="{91CDEAF5-905B-56EF-EC52-C281FFC43FA5}"/>
              </a:ext>
            </a:extLst>
          </p:cNvPr>
          <p:cNvCxnSpPr>
            <a:cxnSpLocks/>
          </p:cNvCxnSpPr>
          <p:nvPr/>
        </p:nvCxnSpPr>
        <p:spPr bwMode="auto">
          <a:xfrm>
            <a:off x="2215465" y="3226111"/>
            <a:ext cx="266482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34C7DC88-3D3D-A3D6-0A39-5495E0A8216C}"/>
              </a:ext>
            </a:extLst>
          </p:cNvPr>
          <p:cNvCxnSpPr>
            <a:cxnSpLocks/>
          </p:cNvCxnSpPr>
          <p:nvPr/>
        </p:nvCxnSpPr>
        <p:spPr bwMode="auto">
          <a:xfrm>
            <a:off x="2233992" y="3233962"/>
            <a:ext cx="0" cy="481887"/>
          </a:xfrm>
          <a:prstGeom prst="straightConnector1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2" name="Conector recto 371">
            <a:extLst>
              <a:ext uri="{FF2B5EF4-FFF2-40B4-BE49-F238E27FC236}">
                <a16:creationId xmlns:a16="http://schemas.microsoft.com/office/drawing/2014/main" id="{FE7287EF-063E-89D8-3A30-6DC6B5A68483}"/>
              </a:ext>
            </a:extLst>
          </p:cNvPr>
          <p:cNvCxnSpPr>
            <a:cxnSpLocks/>
            <a:stCxn id="374" idx="2"/>
          </p:cNvCxnSpPr>
          <p:nvPr/>
        </p:nvCxnSpPr>
        <p:spPr bwMode="auto">
          <a:xfrm flipV="1">
            <a:off x="1402821" y="3844341"/>
            <a:ext cx="286036" cy="38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3" name="Conector recto de flecha 372">
            <a:extLst>
              <a:ext uri="{FF2B5EF4-FFF2-40B4-BE49-F238E27FC236}">
                <a16:creationId xmlns:a16="http://schemas.microsoft.com/office/drawing/2014/main" id="{553921DE-B831-D74F-2A1A-0BCAF37F3E35}"/>
              </a:ext>
            </a:extLst>
          </p:cNvPr>
          <p:cNvCxnSpPr/>
          <p:nvPr/>
        </p:nvCxnSpPr>
        <p:spPr bwMode="auto">
          <a:xfrm rot="5400000">
            <a:off x="1830477" y="4138186"/>
            <a:ext cx="379812" cy="4227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4" name="CuadroTexto 373">
            <a:extLst>
              <a:ext uri="{FF2B5EF4-FFF2-40B4-BE49-F238E27FC236}">
                <a16:creationId xmlns:a16="http://schemas.microsoft.com/office/drawing/2014/main" id="{F2ACF8E6-F5AB-77B7-C246-1536DCA12D7F}"/>
              </a:ext>
            </a:extLst>
          </p:cNvPr>
          <p:cNvSpPr txBox="1"/>
          <p:nvPr/>
        </p:nvSpPr>
        <p:spPr>
          <a:xfrm rot="16200000">
            <a:off x="959280" y="3706336"/>
            <a:ext cx="610308" cy="276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MxPC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sp>
        <p:nvSpPr>
          <p:cNvPr id="375" name="Rectángulo 374">
            <a:extLst>
              <a:ext uri="{FF2B5EF4-FFF2-40B4-BE49-F238E27FC236}">
                <a16:creationId xmlns:a16="http://schemas.microsoft.com/office/drawing/2014/main" id="{083AA58E-1DF3-597A-DEE8-F2CB772F18DA}"/>
              </a:ext>
            </a:extLst>
          </p:cNvPr>
          <p:cNvSpPr/>
          <p:nvPr/>
        </p:nvSpPr>
        <p:spPr bwMode="auto">
          <a:xfrm>
            <a:off x="1977168" y="4743777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76" name="Conector recto 253">
            <a:extLst>
              <a:ext uri="{FF2B5EF4-FFF2-40B4-BE49-F238E27FC236}">
                <a16:creationId xmlns:a16="http://schemas.microsoft.com/office/drawing/2014/main" id="{A75CE930-1B93-6303-44DA-272EFA1C2A73}"/>
              </a:ext>
            </a:extLst>
          </p:cNvPr>
          <p:cNvCxnSpPr/>
          <p:nvPr/>
        </p:nvCxnSpPr>
        <p:spPr bwMode="auto">
          <a:xfrm rot="10800000" flipH="1">
            <a:off x="1376080" y="4482130"/>
            <a:ext cx="226827" cy="1583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7" name="142 Triángulo isósceles">
            <a:extLst>
              <a:ext uri="{FF2B5EF4-FFF2-40B4-BE49-F238E27FC236}">
                <a16:creationId xmlns:a16="http://schemas.microsoft.com/office/drawing/2014/main" id="{31E3FC17-940A-518B-38ED-575A09A88B2D}"/>
              </a:ext>
            </a:extLst>
          </p:cNvPr>
          <p:cNvSpPr/>
          <p:nvPr/>
        </p:nvSpPr>
        <p:spPr bwMode="auto">
          <a:xfrm rot="5400000">
            <a:off x="1598965" y="4432653"/>
            <a:ext cx="117331" cy="117638"/>
          </a:xfrm>
          <a:prstGeom prst="triangle">
            <a:avLst/>
          </a:prstGeom>
          <a:noFill/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8" name="140 Triángulo isósceles">
            <a:extLst>
              <a:ext uri="{FF2B5EF4-FFF2-40B4-BE49-F238E27FC236}">
                <a16:creationId xmlns:a16="http://schemas.microsoft.com/office/drawing/2014/main" id="{23DC2AE6-503A-3B17-CCB0-97FA896140E6}"/>
              </a:ext>
            </a:extLst>
          </p:cNvPr>
          <p:cNvSpPr/>
          <p:nvPr/>
        </p:nvSpPr>
        <p:spPr bwMode="auto">
          <a:xfrm rot="10800000">
            <a:off x="4613187" y="3355770"/>
            <a:ext cx="117602" cy="117367"/>
          </a:xfrm>
          <a:prstGeom prst="triangle">
            <a:avLst/>
          </a:prstGeom>
          <a:noFill/>
          <a:ln w="9525">
            <a:solidFill>
              <a:srgbClr val="00B050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79" name="Rectángulo 378">
            <a:extLst>
              <a:ext uri="{FF2B5EF4-FFF2-40B4-BE49-F238E27FC236}">
                <a16:creationId xmlns:a16="http://schemas.microsoft.com/office/drawing/2014/main" id="{0DFA80B6-AA1F-EEEB-E01B-BBEC148D3459}"/>
              </a:ext>
            </a:extLst>
          </p:cNvPr>
          <p:cNvSpPr/>
          <p:nvPr/>
        </p:nvSpPr>
        <p:spPr bwMode="auto">
          <a:xfrm>
            <a:off x="3341527" y="386668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0" name="Rectángulo 379">
            <a:extLst>
              <a:ext uri="{FF2B5EF4-FFF2-40B4-BE49-F238E27FC236}">
                <a16:creationId xmlns:a16="http://schemas.microsoft.com/office/drawing/2014/main" id="{CD500923-78F8-AD7E-89B6-6ED6F1B349AE}"/>
              </a:ext>
            </a:extLst>
          </p:cNvPr>
          <p:cNvSpPr/>
          <p:nvPr/>
        </p:nvSpPr>
        <p:spPr bwMode="auto">
          <a:xfrm>
            <a:off x="3337652" y="3491616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1" name="Rectángulo 380">
            <a:extLst>
              <a:ext uri="{FF2B5EF4-FFF2-40B4-BE49-F238E27FC236}">
                <a16:creationId xmlns:a16="http://schemas.microsoft.com/office/drawing/2014/main" id="{76B2E661-6C59-4A0C-2CC8-460138583702}"/>
              </a:ext>
            </a:extLst>
          </p:cNvPr>
          <p:cNvSpPr/>
          <p:nvPr/>
        </p:nvSpPr>
        <p:spPr bwMode="auto">
          <a:xfrm>
            <a:off x="3949979" y="4861942"/>
            <a:ext cx="1084964" cy="455775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rgbClr val="000000"/>
                </a:solidFill>
              </a:rPr>
              <a:t>Generador de Inmediatos</a:t>
            </a:r>
          </a:p>
        </p:txBody>
      </p:sp>
      <p:sp>
        <p:nvSpPr>
          <p:cNvPr id="382" name="Freeform 42">
            <a:extLst>
              <a:ext uri="{FF2B5EF4-FFF2-40B4-BE49-F238E27FC236}">
                <a16:creationId xmlns:a16="http://schemas.microsoft.com/office/drawing/2014/main" id="{CE7846C6-B168-41D9-F7DC-32C5CB5D5529}"/>
              </a:ext>
            </a:extLst>
          </p:cNvPr>
          <p:cNvSpPr>
            <a:spLocks/>
          </p:cNvSpPr>
          <p:nvPr/>
        </p:nvSpPr>
        <p:spPr bwMode="blackWhite">
          <a:xfrm>
            <a:off x="6426330" y="3215031"/>
            <a:ext cx="494896" cy="1165488"/>
          </a:xfrm>
          <a:custGeom>
            <a:avLst/>
            <a:gdLst>
              <a:gd name="T0" fmla="*/ 0 w 528"/>
              <a:gd name="T1" fmla="*/ 2 h 960"/>
              <a:gd name="T2" fmla="*/ 0 w 528"/>
              <a:gd name="T3" fmla="*/ 2 h 960"/>
              <a:gd name="T4" fmla="*/ 0 w 528"/>
              <a:gd name="T5" fmla="*/ 2 h 960"/>
              <a:gd name="T6" fmla="*/ 0 w 528"/>
              <a:gd name="T7" fmla="*/ 1 h 960"/>
              <a:gd name="T8" fmla="*/ 0 w 528"/>
              <a:gd name="T9" fmla="*/ 0 h 960"/>
              <a:gd name="T10" fmla="*/ 0 w 528"/>
              <a:gd name="T11" fmla="*/ 1 h 960"/>
              <a:gd name="T12" fmla="*/ 0 w 528"/>
              <a:gd name="T13" fmla="*/ 1 h 960"/>
              <a:gd name="T14" fmla="*/ 0 w 528"/>
              <a:gd name="T15" fmla="*/ 2 h 9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28"/>
              <a:gd name="T25" fmla="*/ 0 h 960"/>
              <a:gd name="T26" fmla="*/ 528 w 528"/>
              <a:gd name="T27" fmla="*/ 960 h 9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28" h="960">
                <a:moveTo>
                  <a:pt x="0" y="624"/>
                </a:moveTo>
                <a:lnTo>
                  <a:pt x="0" y="960"/>
                </a:lnTo>
                <a:lnTo>
                  <a:pt x="528" y="624"/>
                </a:lnTo>
                <a:lnTo>
                  <a:pt x="528" y="288"/>
                </a:lnTo>
                <a:lnTo>
                  <a:pt x="0" y="0"/>
                </a:lnTo>
                <a:lnTo>
                  <a:pt x="0" y="336"/>
                </a:lnTo>
                <a:lnTo>
                  <a:pt x="240" y="480"/>
                </a:lnTo>
                <a:lnTo>
                  <a:pt x="0" y="624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wordArtVert" wrap="none" anchor="b" anchorCtr="0">
            <a:prstTxWarp prst="textNoShape">
              <a:avLst/>
            </a:prstTxWarp>
            <a:flatTx/>
          </a:bodyPr>
          <a:lstStyle/>
          <a:p>
            <a:pPr algn="ctr"/>
            <a:r>
              <a:rPr lang="es-ES_tradnl" sz="1400" noProof="0" dirty="0"/>
              <a:t>ALU</a:t>
            </a:r>
            <a:endParaRPr lang="es-ES_tradnl" noProof="0" dirty="0"/>
          </a:p>
        </p:txBody>
      </p:sp>
      <p:sp>
        <p:nvSpPr>
          <p:cNvPr id="383" name="Rectángulo 382">
            <a:extLst>
              <a:ext uri="{FF2B5EF4-FFF2-40B4-BE49-F238E27FC236}">
                <a16:creationId xmlns:a16="http://schemas.microsoft.com/office/drawing/2014/main" id="{EE92E2F2-7A5E-3A42-A707-B78B9E4337BA}"/>
              </a:ext>
            </a:extLst>
          </p:cNvPr>
          <p:cNvSpPr/>
          <p:nvPr/>
        </p:nvSpPr>
        <p:spPr bwMode="auto">
          <a:xfrm>
            <a:off x="1234399" y="5013867"/>
            <a:ext cx="1235940" cy="987512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Memoria</a:t>
            </a:r>
          </a:p>
          <a:p>
            <a:pPr algn="ctr"/>
            <a:r>
              <a:rPr lang="es-ES_tradnl" sz="1400" noProof="0" dirty="0">
                <a:solidFill>
                  <a:srgbClr val="000000"/>
                </a:solidFill>
              </a:rPr>
              <a:t>Instrucciones</a:t>
            </a:r>
          </a:p>
        </p:txBody>
      </p:sp>
      <p:sp>
        <p:nvSpPr>
          <p:cNvPr id="384" name="Rectángulo 383">
            <a:extLst>
              <a:ext uri="{FF2B5EF4-FFF2-40B4-BE49-F238E27FC236}">
                <a16:creationId xmlns:a16="http://schemas.microsoft.com/office/drawing/2014/main" id="{A23381A8-F079-26FD-6CDA-17D2D6836750}"/>
              </a:ext>
            </a:extLst>
          </p:cNvPr>
          <p:cNvSpPr/>
          <p:nvPr/>
        </p:nvSpPr>
        <p:spPr bwMode="auto">
          <a:xfrm>
            <a:off x="5403673" y="3875472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385" name="CuadroTexto 384">
            <a:extLst>
              <a:ext uri="{FF2B5EF4-FFF2-40B4-BE49-F238E27FC236}">
                <a16:creationId xmlns:a16="http://schemas.microsoft.com/office/drawing/2014/main" id="{E7915FEC-3E01-CBBD-1366-9FA758876762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11..7 (</a:t>
            </a:r>
            <a:r>
              <a:rPr lang="es-ES_tradnl" sz="1000" i="1" noProof="0" dirty="0" err="1">
                <a:solidFill>
                  <a:schemeClr val="accent1">
                    <a:lumMod val="75000"/>
                  </a:schemeClr>
                </a:solidFill>
              </a:rPr>
              <a:t>rd</a:t>
            </a:r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86" name="Rectángulo 385">
            <a:extLst>
              <a:ext uri="{FF2B5EF4-FFF2-40B4-BE49-F238E27FC236}">
                <a16:creationId xmlns:a16="http://schemas.microsoft.com/office/drawing/2014/main" id="{C0C307F4-4C09-A376-C1C2-8E17F1EB1C90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87" name="Conector angular 34">
            <a:extLst>
              <a:ext uri="{FF2B5EF4-FFF2-40B4-BE49-F238E27FC236}">
                <a16:creationId xmlns:a16="http://schemas.microsoft.com/office/drawing/2014/main" id="{2116D15F-66DA-D339-413B-BDE0CE4FC37B}"/>
              </a:ext>
            </a:extLst>
          </p:cNvPr>
          <p:cNvCxnSpPr>
            <a:cxnSpLocks/>
            <a:stCxn id="375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8" name="Rectángulo 387">
            <a:extLst>
              <a:ext uri="{FF2B5EF4-FFF2-40B4-BE49-F238E27FC236}">
                <a16:creationId xmlns:a16="http://schemas.microsoft.com/office/drawing/2014/main" id="{C675F7AA-7E9C-656F-2C4E-730DBB50BB55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389" name="Rectángulo 388">
            <a:extLst>
              <a:ext uri="{FF2B5EF4-FFF2-40B4-BE49-F238E27FC236}">
                <a16:creationId xmlns:a16="http://schemas.microsoft.com/office/drawing/2014/main" id="{C60F9007-7946-7549-F889-5B11BF82F25C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bg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390" name="Conector recto 389">
            <a:extLst>
              <a:ext uri="{FF2B5EF4-FFF2-40B4-BE49-F238E27FC236}">
                <a16:creationId xmlns:a16="http://schemas.microsoft.com/office/drawing/2014/main" id="{E795F8B5-2BA3-800D-B927-B48C2F5F8AB1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6A96CAC9-EBDD-6FCD-207F-64B7FB73BCCE}"/>
              </a:ext>
            </a:extLst>
          </p:cNvPr>
          <p:cNvSpPr txBox="1"/>
          <p:nvPr/>
        </p:nvSpPr>
        <p:spPr>
          <a:xfrm>
            <a:off x="3851920" y="5857963"/>
            <a:ext cx="783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TipoInst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392" name="Conector recto 391">
            <a:extLst>
              <a:ext uri="{FF2B5EF4-FFF2-40B4-BE49-F238E27FC236}">
                <a16:creationId xmlns:a16="http://schemas.microsoft.com/office/drawing/2014/main" id="{4CEDAEAF-511B-84A9-EF87-78AE0CC83484}"/>
              </a:ext>
            </a:extLst>
          </p:cNvPr>
          <p:cNvCxnSpPr>
            <a:cxnSpLocks/>
            <a:endCxn id="388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3" name="Conector recto 392">
            <a:extLst>
              <a:ext uri="{FF2B5EF4-FFF2-40B4-BE49-F238E27FC236}">
                <a16:creationId xmlns:a16="http://schemas.microsoft.com/office/drawing/2014/main" id="{98948D0A-064A-D74A-82FF-ED648316F782}"/>
              </a:ext>
            </a:extLst>
          </p:cNvPr>
          <p:cNvCxnSpPr>
            <a:cxnSpLocks/>
            <a:stCxn id="388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4" name="Conector recto 393">
            <a:extLst>
              <a:ext uri="{FF2B5EF4-FFF2-40B4-BE49-F238E27FC236}">
                <a16:creationId xmlns:a16="http://schemas.microsoft.com/office/drawing/2014/main" id="{24F61564-7BF3-7D1B-EA33-5C9AF0608EE9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5" name="Rectángulo 394">
            <a:extLst>
              <a:ext uri="{FF2B5EF4-FFF2-40B4-BE49-F238E27FC236}">
                <a16:creationId xmlns:a16="http://schemas.microsoft.com/office/drawing/2014/main" id="{0429D97F-F240-17BD-B066-EF30DE847BA4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_tradnl" sz="1200" noProof="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396" name="Conector recto 395">
            <a:extLst>
              <a:ext uri="{FF2B5EF4-FFF2-40B4-BE49-F238E27FC236}">
                <a16:creationId xmlns:a16="http://schemas.microsoft.com/office/drawing/2014/main" id="{38FF1324-B115-3C5C-0669-768617D4B748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solidFill>
              <a:srgbClr val="26697A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7" name="Conector recto 396">
            <a:extLst>
              <a:ext uri="{FF2B5EF4-FFF2-40B4-BE49-F238E27FC236}">
                <a16:creationId xmlns:a16="http://schemas.microsoft.com/office/drawing/2014/main" id="{D4471979-DD18-FB3F-F119-F71BA5FE3792}"/>
              </a:ext>
            </a:extLst>
          </p:cNvPr>
          <p:cNvCxnSpPr>
            <a:cxnSpLocks/>
            <a:stCxn id="395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8" name="Conector angular 34">
            <a:extLst>
              <a:ext uri="{FF2B5EF4-FFF2-40B4-BE49-F238E27FC236}">
                <a16:creationId xmlns:a16="http://schemas.microsoft.com/office/drawing/2014/main" id="{B8364D40-6DDF-DFD1-9C48-DBECB738CE02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9" name="Conector recto 398">
            <a:extLst>
              <a:ext uri="{FF2B5EF4-FFF2-40B4-BE49-F238E27FC236}">
                <a16:creationId xmlns:a16="http://schemas.microsoft.com/office/drawing/2014/main" id="{0B6FC4C0-A42D-49E5-485F-71B1BBFAE045}"/>
              </a:ext>
            </a:extLst>
          </p:cNvPr>
          <p:cNvCxnSpPr>
            <a:cxnSpLocks/>
            <a:endCxn id="36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0" name="CuadroTexto 399">
            <a:extLst>
              <a:ext uri="{FF2B5EF4-FFF2-40B4-BE49-F238E27FC236}">
                <a16:creationId xmlns:a16="http://schemas.microsoft.com/office/drawing/2014/main" id="{53CFD223-DFC7-1132-D1E7-697E85071DEC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noProof="0" dirty="0" err="1">
                <a:solidFill>
                  <a:srgbClr val="FF6600"/>
                </a:solidFill>
              </a:rPr>
              <a:t>MxA</a:t>
            </a:r>
            <a:endParaRPr lang="es-ES_tradnl" sz="1200" b="1" noProof="0" dirty="0">
              <a:solidFill>
                <a:srgbClr val="FF6600"/>
              </a:solidFill>
            </a:endParaRPr>
          </a:p>
        </p:txBody>
      </p:sp>
      <p:cxnSp>
        <p:nvCxnSpPr>
          <p:cNvPr id="401" name="Conector recto 400">
            <a:extLst>
              <a:ext uri="{FF2B5EF4-FFF2-40B4-BE49-F238E27FC236}">
                <a16:creationId xmlns:a16="http://schemas.microsoft.com/office/drawing/2014/main" id="{D5C6D79F-47AE-BD5D-E944-89F489D4AE3E}"/>
              </a:ext>
            </a:extLst>
          </p:cNvPr>
          <p:cNvCxnSpPr>
            <a:cxnSpLocks/>
            <a:endCxn id="395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2" name="Conector recto de flecha 197">
            <a:extLst>
              <a:ext uri="{FF2B5EF4-FFF2-40B4-BE49-F238E27FC236}">
                <a16:creationId xmlns:a16="http://schemas.microsoft.com/office/drawing/2014/main" id="{A27C35CD-D32F-36E2-5A94-51F3756A0EBF}"/>
              </a:ext>
            </a:extLst>
          </p:cNvPr>
          <p:cNvCxnSpPr>
            <a:cxnSpLocks/>
            <a:endCxn id="335" idx="2"/>
          </p:cNvCxnSpPr>
          <p:nvPr/>
        </p:nvCxnSpPr>
        <p:spPr bwMode="auto">
          <a:xfrm flipV="1">
            <a:off x="5735483" y="4119459"/>
            <a:ext cx="247244" cy="172072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3" name="Conector recto de flecha 198">
            <a:extLst>
              <a:ext uri="{FF2B5EF4-FFF2-40B4-BE49-F238E27FC236}">
                <a16:creationId xmlns:a16="http://schemas.microsoft.com/office/drawing/2014/main" id="{2EDC775A-9861-E1B6-3075-2DC26F284782}"/>
              </a:ext>
            </a:extLst>
          </p:cNvPr>
          <p:cNvCxnSpPr>
            <a:cxnSpLocks/>
            <a:endCxn id="395" idx="2"/>
          </p:cNvCxnSpPr>
          <p:nvPr/>
        </p:nvCxnSpPr>
        <p:spPr bwMode="auto">
          <a:xfrm>
            <a:off x="5750121" y="3284984"/>
            <a:ext cx="228413" cy="144015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4" name="Rectángulo 413">
            <a:extLst>
              <a:ext uri="{FF2B5EF4-FFF2-40B4-BE49-F238E27FC236}">
                <a16:creationId xmlns:a16="http://schemas.microsoft.com/office/drawing/2014/main" id="{8086A65B-468F-4ED3-FE3F-BA17FF996D32}"/>
              </a:ext>
            </a:extLst>
          </p:cNvPr>
          <p:cNvSpPr/>
          <p:nvPr/>
        </p:nvSpPr>
        <p:spPr bwMode="auto">
          <a:xfrm>
            <a:off x="5403568" y="4777071"/>
            <a:ext cx="76138" cy="7596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9C3B33F2-34FF-D05D-C678-6136DFAC5734}"/>
              </a:ext>
            </a:extLst>
          </p:cNvPr>
          <p:cNvCxnSpPr>
            <a:cxnSpLocks/>
            <a:endCxn id="365" idx="1"/>
          </p:cNvCxnSpPr>
          <p:nvPr/>
        </p:nvCxnSpPr>
        <p:spPr bwMode="auto">
          <a:xfrm>
            <a:off x="6915337" y="3757056"/>
            <a:ext cx="385356" cy="429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BBE94981-748E-F7E4-81AB-CA001CFA64C0}"/>
              </a:ext>
            </a:extLst>
          </p:cNvPr>
          <p:cNvCxnSpPr>
            <a:cxnSpLocks/>
            <a:endCxn id="389" idx="1"/>
          </p:cNvCxnSpPr>
          <p:nvPr/>
        </p:nvCxnSpPr>
        <p:spPr bwMode="auto">
          <a:xfrm>
            <a:off x="4991608" y="3528378"/>
            <a:ext cx="103686" cy="7103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E86052B5-DD4B-1F58-B515-4F10B13B7944}"/>
              </a:ext>
            </a:extLst>
          </p:cNvPr>
          <p:cNvCxnSpPr>
            <a:cxnSpLocks/>
            <a:endCxn id="384" idx="1"/>
          </p:cNvCxnSpPr>
          <p:nvPr/>
        </p:nvCxnSpPr>
        <p:spPr bwMode="auto">
          <a:xfrm>
            <a:off x="4974953" y="3913436"/>
            <a:ext cx="428720" cy="17"/>
          </a:xfrm>
          <a:prstGeom prst="line">
            <a:avLst/>
          </a:prstGeom>
          <a:ln w="38100" cmpd="sng">
            <a:solidFill>
              <a:srgbClr val="26697A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9E12EA6B-86E4-DABD-6813-5AB6E36EF35A}"/>
              </a:ext>
            </a:extLst>
          </p:cNvPr>
          <p:cNvGrpSpPr/>
          <p:nvPr/>
        </p:nvGrpSpPr>
        <p:grpSpPr>
          <a:xfrm>
            <a:off x="4933687" y="66335"/>
            <a:ext cx="4190009" cy="856864"/>
            <a:chOff x="4933687" y="66335"/>
            <a:chExt cx="4190009" cy="856864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77CF7AC1-6101-2375-A151-2DD503F9C0D9}"/>
                </a:ext>
              </a:extLst>
            </p:cNvPr>
            <p:cNvGrpSpPr/>
            <p:nvPr/>
          </p:nvGrpSpPr>
          <p:grpSpPr>
            <a:xfrm>
              <a:off x="4933687" y="66335"/>
              <a:ext cx="4190009" cy="856864"/>
              <a:chOff x="3110623" y="5917230"/>
              <a:chExt cx="3343970" cy="802350"/>
            </a:xfrm>
          </p:grpSpPr>
          <p:grpSp>
            <p:nvGrpSpPr>
              <p:cNvPr id="4" name="Grupo 3">
                <a:extLst>
                  <a:ext uri="{FF2B5EF4-FFF2-40B4-BE49-F238E27FC236}">
                    <a16:creationId xmlns:a16="http://schemas.microsoft.com/office/drawing/2014/main" id="{49D1C52B-B7DA-B1A1-CEF0-5B9448A81E4B}"/>
                  </a:ext>
                </a:extLst>
              </p:cNvPr>
              <p:cNvGrpSpPr/>
              <p:nvPr/>
            </p:nvGrpSpPr>
            <p:grpSpPr>
              <a:xfrm>
                <a:off x="3110623" y="5917230"/>
                <a:ext cx="3343970" cy="802350"/>
                <a:chOff x="3110623" y="5917230"/>
                <a:chExt cx="3343970" cy="802350"/>
              </a:xfrm>
            </p:grpSpPr>
            <p:grpSp>
              <p:nvGrpSpPr>
                <p:cNvPr id="7" name="Group 9">
                  <a:extLst>
                    <a:ext uri="{FF2B5EF4-FFF2-40B4-BE49-F238E27FC236}">
                      <a16:creationId xmlns:a16="http://schemas.microsoft.com/office/drawing/2014/main" id="{413F8F7E-E772-10EB-004B-2D71A1AFE3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10623" y="5917230"/>
                  <a:ext cx="3343970" cy="802350"/>
                  <a:chOff x="144" y="692"/>
                  <a:chExt cx="2544" cy="480"/>
                </a:xfrm>
              </p:grpSpPr>
              <p:sp>
                <p:nvSpPr>
                  <p:cNvPr id="9" name="Rectangle 10">
                    <a:extLst>
                      <a:ext uri="{FF2B5EF4-FFF2-40B4-BE49-F238E27FC236}">
                        <a16:creationId xmlns:a16="http://schemas.microsoft.com/office/drawing/2014/main" id="{C6941DBD-8736-79B1-F4F6-7722FB32C3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" y="692"/>
                    <a:ext cx="2544" cy="48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s-ES_tradnl" sz="1500" noProof="0" dirty="0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15" name="Group 155">
                    <a:extLst>
                      <a:ext uri="{FF2B5EF4-FFF2-40B4-BE49-F238E27FC236}">
                        <a16:creationId xmlns:a16="http://schemas.microsoft.com/office/drawing/2014/main" id="{0DFE7B68-779A-A229-B0A3-3439E32C5E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68" y="753"/>
                    <a:ext cx="2420" cy="231"/>
                    <a:chOff x="1201" y="1273"/>
                    <a:chExt cx="3119" cy="379"/>
                  </a:xfrm>
                </p:grpSpPr>
                <p:grpSp>
                  <p:nvGrpSpPr>
                    <p:cNvPr id="16" name="Group 5">
                      <a:extLst>
                        <a:ext uri="{FF2B5EF4-FFF2-40B4-BE49-F238E27FC236}">
                          <a16:creationId xmlns:a16="http://schemas.microsoft.com/office/drawing/2014/main" id="{2476F547-F925-E6F4-8DF2-F72A7BD60E7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70" y="1273"/>
                      <a:ext cx="3050" cy="369"/>
                      <a:chOff x="982" y="1263"/>
                      <a:chExt cx="3050" cy="369"/>
                    </a:xfrm>
                  </p:grpSpPr>
                  <p:sp>
                    <p:nvSpPr>
                      <p:cNvPr id="54" name="Rectangle 6">
                        <a:extLst>
                          <a:ext uri="{FF2B5EF4-FFF2-40B4-BE49-F238E27FC236}">
                            <a16:creationId xmlns:a16="http://schemas.microsoft.com/office/drawing/2014/main" id="{4FF8B0E3-A338-D4FF-A170-30F9CC5F6E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82" y="1263"/>
                        <a:ext cx="3050" cy="369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s-ES_tradnl" sz="1500" b="1" noProof="0" dirty="0">
                          <a:solidFill>
                            <a:srgbClr val="4F271C"/>
                          </a:solidFill>
                        </a:endParaRPr>
                      </a:p>
                    </p:txBody>
                  </p:sp>
                  <p:grpSp>
                    <p:nvGrpSpPr>
                      <p:cNvPr id="55" name="Group 7">
                        <a:extLst>
                          <a:ext uri="{FF2B5EF4-FFF2-40B4-BE49-F238E27FC236}">
                            <a16:creationId xmlns:a16="http://schemas.microsoft.com/office/drawing/2014/main" id="{64E8FACD-6160-A2E5-98DA-87536286E7E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52" y="1536"/>
                        <a:ext cx="2784" cy="96"/>
                        <a:chOff x="1152" y="1536"/>
                        <a:chExt cx="2784" cy="96"/>
                      </a:xfrm>
                    </p:grpSpPr>
                    <p:sp>
                      <p:nvSpPr>
                        <p:cNvPr id="56" name="Line 9">
                          <a:extLst>
                            <a:ext uri="{FF2B5EF4-FFF2-40B4-BE49-F238E27FC236}">
                              <a16:creationId xmlns:a16="http://schemas.microsoft.com/office/drawing/2014/main" id="{7C2E7418-FCF2-4841-1D21-27316B37B91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1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7" name="Line 10">
                          <a:extLst>
                            <a:ext uri="{FF2B5EF4-FFF2-40B4-BE49-F238E27FC236}">
                              <a16:creationId xmlns:a16="http://schemas.microsoft.com/office/drawing/2014/main" id="{88BED365-DC74-5D50-0F26-5EAEA338F0A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2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8" name="Line 11">
                          <a:extLst>
                            <a:ext uri="{FF2B5EF4-FFF2-40B4-BE49-F238E27FC236}">
                              <a16:creationId xmlns:a16="http://schemas.microsoft.com/office/drawing/2014/main" id="{81291299-45BD-5434-EFAA-867FA2A51CB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3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9" name="Line 12">
                          <a:extLst>
                            <a:ext uri="{FF2B5EF4-FFF2-40B4-BE49-F238E27FC236}">
                              <a16:creationId xmlns:a16="http://schemas.microsoft.com/office/drawing/2014/main" id="{978EE93E-9D8D-AC93-E26A-54F1E28967D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4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1" name="Line 13">
                          <a:extLst>
                            <a:ext uri="{FF2B5EF4-FFF2-40B4-BE49-F238E27FC236}">
                              <a16:creationId xmlns:a16="http://schemas.microsoft.com/office/drawing/2014/main" id="{7A9386B0-8CDF-D0E1-4996-DE353FEBA71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5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2" name="Line 14">
                          <a:extLst>
                            <a:ext uri="{FF2B5EF4-FFF2-40B4-BE49-F238E27FC236}">
                              <a16:creationId xmlns:a16="http://schemas.microsoft.com/office/drawing/2014/main" id="{10E170BA-E8DA-D12C-1026-046426E66BC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63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3" name="Line 15">
                          <a:extLst>
                            <a:ext uri="{FF2B5EF4-FFF2-40B4-BE49-F238E27FC236}">
                              <a16:creationId xmlns:a16="http://schemas.microsoft.com/office/drawing/2014/main" id="{BB4FBDB6-7ABB-6F38-1030-5DA75C0C09E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2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4" name="Line 16">
                          <a:extLst>
                            <a:ext uri="{FF2B5EF4-FFF2-40B4-BE49-F238E27FC236}">
                              <a16:creationId xmlns:a16="http://schemas.microsoft.com/office/drawing/2014/main" id="{FE508995-BC19-40D2-2951-35A2760BCDF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2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5" name="Line 17">
                          <a:extLst>
                            <a:ext uri="{FF2B5EF4-FFF2-40B4-BE49-F238E27FC236}">
                              <a16:creationId xmlns:a16="http://schemas.microsoft.com/office/drawing/2014/main" id="{E50F9791-2077-ED97-DA3C-D73F5D0AD47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2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6" name="Line 18">
                          <a:extLst>
                            <a:ext uri="{FF2B5EF4-FFF2-40B4-BE49-F238E27FC236}">
                              <a16:creationId xmlns:a16="http://schemas.microsoft.com/office/drawing/2014/main" id="{34278969-D486-55C3-F033-641875011E8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1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7" name="Line 19">
                          <a:extLst>
                            <a:ext uri="{FF2B5EF4-FFF2-40B4-BE49-F238E27FC236}">
                              <a16:creationId xmlns:a16="http://schemas.microsoft.com/office/drawing/2014/main" id="{ED9B907D-340B-EA50-0D1B-2EA20F72D07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11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8" name="Line 20">
                          <a:extLst>
                            <a:ext uri="{FF2B5EF4-FFF2-40B4-BE49-F238E27FC236}">
                              <a16:creationId xmlns:a16="http://schemas.microsoft.com/office/drawing/2014/main" id="{CEF129E5-F48A-DCF8-ABC1-283928F2EB3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0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9" name="Line 21">
                          <a:extLst>
                            <a:ext uri="{FF2B5EF4-FFF2-40B4-BE49-F238E27FC236}">
                              <a16:creationId xmlns:a16="http://schemas.microsoft.com/office/drawing/2014/main" id="{7EA88FAF-67B2-BCC1-64A2-D54EDE83E85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0" name="Line 22">
                          <a:extLst>
                            <a:ext uri="{FF2B5EF4-FFF2-40B4-BE49-F238E27FC236}">
                              <a16:creationId xmlns:a16="http://schemas.microsoft.com/office/drawing/2014/main" id="{33E0D0C0-F7E5-ADFC-A8DD-5D031587716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1" name="Line 23">
                          <a:extLst>
                            <a:ext uri="{FF2B5EF4-FFF2-40B4-BE49-F238E27FC236}">
                              <a16:creationId xmlns:a16="http://schemas.microsoft.com/office/drawing/2014/main" id="{318D56DE-A1FE-9E1A-B644-01C75A924DF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9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3" name="Line 24">
                          <a:extLst>
                            <a:ext uri="{FF2B5EF4-FFF2-40B4-BE49-F238E27FC236}">
                              <a16:creationId xmlns:a16="http://schemas.microsoft.com/office/drawing/2014/main" id="{DC4FE4CF-3F0C-331F-2A3F-15AA56F4B55B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59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4" name="Line 25">
                          <a:extLst>
                            <a:ext uri="{FF2B5EF4-FFF2-40B4-BE49-F238E27FC236}">
                              <a16:creationId xmlns:a16="http://schemas.microsoft.com/office/drawing/2014/main" id="{325C04FD-FB3D-16BB-28E7-635186A611E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8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5" name="Line 26">
                          <a:extLst>
                            <a:ext uri="{FF2B5EF4-FFF2-40B4-BE49-F238E27FC236}">
                              <a16:creationId xmlns:a16="http://schemas.microsoft.com/office/drawing/2014/main" id="{8744F1F4-5082-E820-65F2-8087E7058A5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6" name="Line 27">
                          <a:extLst>
                            <a:ext uri="{FF2B5EF4-FFF2-40B4-BE49-F238E27FC236}">
                              <a16:creationId xmlns:a16="http://schemas.microsoft.com/office/drawing/2014/main" id="{850E166E-15B6-472B-5E7F-F3599B9E630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8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7" name="Line 28">
                          <a:extLst>
                            <a:ext uri="{FF2B5EF4-FFF2-40B4-BE49-F238E27FC236}">
                              <a16:creationId xmlns:a16="http://schemas.microsoft.com/office/drawing/2014/main" id="{97C45AFB-E185-8299-2C61-DF9FACF3C02D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7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8" name="Line 29">
                          <a:extLst>
                            <a:ext uri="{FF2B5EF4-FFF2-40B4-BE49-F238E27FC236}">
                              <a16:creationId xmlns:a16="http://schemas.microsoft.com/office/drawing/2014/main" id="{3E7CE82D-2151-0385-822A-27AF3D59B1E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79" name="Line 30">
                          <a:extLst>
                            <a:ext uri="{FF2B5EF4-FFF2-40B4-BE49-F238E27FC236}">
                              <a16:creationId xmlns:a16="http://schemas.microsoft.com/office/drawing/2014/main" id="{AB7CB880-2F16-61E3-311C-D0303B2581F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16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0" name="Line 31">
                          <a:extLst>
                            <a:ext uri="{FF2B5EF4-FFF2-40B4-BE49-F238E27FC236}">
                              <a16:creationId xmlns:a16="http://schemas.microsoft.com/office/drawing/2014/main" id="{28244360-EE66-A315-EED3-E053B241B54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6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1" name="Line 32">
                          <a:extLst>
                            <a:ext uri="{FF2B5EF4-FFF2-40B4-BE49-F238E27FC236}">
                              <a16:creationId xmlns:a16="http://schemas.microsoft.com/office/drawing/2014/main" id="{7BFC4D3E-1B0E-7C7B-3A29-6302DDC3A15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6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2" name="Line 33">
                          <a:extLst>
                            <a:ext uri="{FF2B5EF4-FFF2-40B4-BE49-F238E27FC236}">
                              <a16:creationId xmlns:a16="http://schemas.microsoft.com/office/drawing/2014/main" id="{2D9204E8-D70B-D295-AF4D-268B73FEE62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5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3" name="Line 34">
                          <a:extLst>
                            <a:ext uri="{FF2B5EF4-FFF2-40B4-BE49-F238E27FC236}">
                              <a16:creationId xmlns:a16="http://schemas.microsoft.com/office/drawing/2014/main" id="{622EC613-DBE1-A0CC-BA58-A84C4331CBC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52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4" name="Line 35">
                          <a:extLst>
                            <a:ext uri="{FF2B5EF4-FFF2-40B4-BE49-F238E27FC236}">
                              <a16:creationId xmlns:a16="http://schemas.microsoft.com/office/drawing/2014/main" id="{C2A004A3-025D-197A-CF8D-61397B9F4B3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48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5" name="Line 36">
                          <a:extLst>
                            <a:ext uri="{FF2B5EF4-FFF2-40B4-BE49-F238E27FC236}">
                              <a16:creationId xmlns:a16="http://schemas.microsoft.com/office/drawing/2014/main" id="{A245E3AF-D9DD-3E8F-2D57-80834F915C89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744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6" name="Line 37">
                          <a:extLst>
                            <a:ext uri="{FF2B5EF4-FFF2-40B4-BE49-F238E27FC236}">
                              <a16:creationId xmlns:a16="http://schemas.microsoft.com/office/drawing/2014/main" id="{95DCA328-44E5-E261-2A35-7BE670976A0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840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7" name="Line 38">
                          <a:extLst>
                            <a:ext uri="{FF2B5EF4-FFF2-40B4-BE49-F238E27FC236}">
                              <a16:creationId xmlns:a16="http://schemas.microsoft.com/office/drawing/2014/main" id="{991C6F93-E88A-A94B-B84A-146334FF1891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936" y="1536"/>
                          <a:ext cx="0" cy="96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</a:pPr>
                          <a:endParaRPr lang="es-ES_tradnl" sz="1500" noProof="0" dirty="0">
                            <a:solidFill>
                              <a:prstClr val="black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18" name="Line 39">
                      <a:extLst>
                        <a:ext uri="{FF2B5EF4-FFF2-40B4-BE49-F238E27FC236}">
                          <a16:creationId xmlns:a16="http://schemas.microsoft.com/office/drawing/2014/main" id="{4ADF6D8F-EDBE-5853-DDC1-53B15A08C9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1920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0" name="Text Box 40">
                      <a:extLst>
                        <a:ext uri="{FF2B5EF4-FFF2-40B4-BE49-F238E27FC236}">
                          <a16:creationId xmlns:a16="http://schemas.microsoft.com/office/drawing/2014/main" id="{A970DAFF-29F6-2858-AF8B-E7C19A071F4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201" y="1329"/>
                      <a:ext cx="837" cy="21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900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inm</a:t>
                      </a:r>
                      <a:r>
                        <a:rPr lang="es-ES_tradnl" sz="900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[12|10:5]</a:t>
                      </a:r>
                    </a:p>
                  </p:txBody>
                </p:sp>
                <p:sp>
                  <p:nvSpPr>
                    <p:cNvPr id="32" name="Text Box 41">
                      <a:extLst>
                        <a:ext uri="{FF2B5EF4-FFF2-40B4-BE49-F238E27FC236}">
                          <a16:creationId xmlns:a16="http://schemas.microsoft.com/office/drawing/2014/main" id="{18F99E4E-D392-F5B1-9843-B5900BCED539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751" y="1377"/>
                      <a:ext cx="543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funct3</a:t>
                      </a:r>
                    </a:p>
                  </p:txBody>
                </p:sp>
                <p:sp>
                  <p:nvSpPr>
                    <p:cNvPr id="33" name="Line 42">
                      <a:extLst>
                        <a:ext uri="{FF2B5EF4-FFF2-40B4-BE49-F238E27FC236}">
                          <a16:creationId xmlns:a16="http://schemas.microsoft.com/office/drawing/2014/main" id="{9576C1D3-9718-1FE0-5080-B460DDFF98E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404" y="1302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4" name="Line 43">
                      <a:extLst>
                        <a:ext uri="{FF2B5EF4-FFF2-40B4-BE49-F238E27FC236}">
                          <a16:creationId xmlns:a16="http://schemas.microsoft.com/office/drawing/2014/main" id="{9177E9AD-3F45-3C76-4A5F-74F7D1002D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2880" y="1316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5" name="Line 44">
                      <a:extLst>
                        <a:ext uri="{FF2B5EF4-FFF2-40B4-BE49-F238E27FC236}">
                          <a16:creationId xmlns:a16="http://schemas.microsoft.com/office/drawing/2014/main" id="{3C1EC31F-68F5-0540-F20B-CCCC93914F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651" y="1304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6" name="Text Box 45">
                      <a:extLst>
                        <a:ext uri="{FF2B5EF4-FFF2-40B4-BE49-F238E27FC236}">
                          <a16:creationId xmlns:a16="http://schemas.microsoft.com/office/drawing/2014/main" id="{BA8B1D59-896B-31CC-E65B-9A770380562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1942" y="1324"/>
                      <a:ext cx="451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rs2</a:t>
                      </a:r>
                      <a:endParaRPr lang="es-ES_tradnl" sz="12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38" name="Text Box 46">
                      <a:extLst>
                        <a:ext uri="{FF2B5EF4-FFF2-40B4-BE49-F238E27FC236}">
                          <a16:creationId xmlns:a16="http://schemas.microsoft.com/office/drawing/2014/main" id="{3AD44511-C910-6220-BE4E-6912433E383D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2445" y="1324"/>
                      <a:ext cx="399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rs1</a:t>
                      </a:r>
                    </a:p>
                  </p:txBody>
                </p:sp>
                <p:sp>
                  <p:nvSpPr>
                    <p:cNvPr id="40" name="Text Box 47">
                      <a:extLst>
                        <a:ext uri="{FF2B5EF4-FFF2-40B4-BE49-F238E27FC236}">
                          <a16:creationId xmlns:a16="http://schemas.microsoft.com/office/drawing/2014/main" id="{2BD8082B-5F0C-F775-50F8-C81ABD8C632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3658" y="1307"/>
                      <a:ext cx="662" cy="169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square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opcode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sp>
                  <p:nvSpPr>
                    <p:cNvPr id="52" name="Line 153">
                      <a:extLst>
                        <a:ext uri="{FF2B5EF4-FFF2-40B4-BE49-F238E27FC236}">
                          <a16:creationId xmlns:a16="http://schemas.microsoft.com/office/drawing/2014/main" id="{EA06FA88-91EB-BF96-B198-1089609BBB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V="1">
                      <a:off x="3166" y="1293"/>
                      <a:ext cx="0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s-ES_tradnl" sz="1500" noProof="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8" name="Text Box 41">
                  <a:extLst>
                    <a:ext uri="{FF2B5EF4-FFF2-40B4-BE49-F238E27FC236}">
                      <a16:creationId xmlns:a16="http://schemas.microsoft.com/office/drawing/2014/main" id="{BB7BF779-CF16-FA99-D67C-8A316279733E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5040778" y="6032296"/>
                  <a:ext cx="737522" cy="2017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_tradnl" sz="800" b="1" noProof="0" dirty="0" err="1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inm</a:t>
                  </a:r>
                  <a:r>
                    <a:rPr lang="es-ES_tradnl" sz="800" b="1" noProof="0" dirty="0">
                      <a:solidFill>
                        <a:srgbClr val="FF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[4:1|11]</a:t>
                  </a:r>
                  <a:endParaRPr lang="es-ES_tradnl" sz="1000" b="1" noProof="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6" name="Line 11">
                <a:extLst>
                  <a:ext uri="{FF2B5EF4-FFF2-40B4-BE49-F238E27FC236}">
                    <a16:creationId xmlns:a16="http://schemas.microsoft.com/office/drawing/2014/main" id="{962DBE05-F535-6182-39B5-FA75B4E7D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4588" y="6303750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s-ES_tradnl" sz="1500" noProof="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8BD914A7-4A59-6221-232D-6069AA67421F}"/>
                </a:ext>
              </a:extLst>
            </p:cNvPr>
            <p:cNvGrpSpPr/>
            <p:nvPr/>
          </p:nvGrpSpPr>
          <p:grpSpPr>
            <a:xfrm>
              <a:off x="4936924" y="525538"/>
              <a:ext cx="4063282" cy="269903"/>
              <a:chOff x="5081012" y="664087"/>
              <a:chExt cx="4063282" cy="269903"/>
            </a:xfrm>
          </p:grpSpPr>
          <p:sp>
            <p:nvSpPr>
              <p:cNvPr id="24" name="Text Box 48">
                <a:extLst>
                  <a:ext uri="{FF2B5EF4-FFF2-40B4-BE49-F238E27FC236}">
                    <a16:creationId xmlns:a16="http://schemas.microsoft.com/office/drawing/2014/main" id="{2900ED78-9257-48B7-CEB2-C0505ED660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1012" y="668662"/>
                <a:ext cx="372053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31</a:t>
                </a:r>
              </a:p>
            </p:txBody>
          </p:sp>
          <p:sp>
            <p:nvSpPr>
              <p:cNvPr id="25" name="Text Box 49">
                <a:extLst>
                  <a:ext uri="{FF2B5EF4-FFF2-40B4-BE49-F238E27FC236}">
                    <a16:creationId xmlns:a16="http://schemas.microsoft.com/office/drawing/2014/main" id="{B2BA99DA-DF46-EFB3-1801-A23175E76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2377" y="669806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25</a:t>
                </a:r>
              </a:p>
            </p:txBody>
          </p:sp>
          <p:sp>
            <p:nvSpPr>
              <p:cNvPr id="26" name="Text Box 50">
                <a:extLst>
                  <a:ext uri="{FF2B5EF4-FFF2-40B4-BE49-F238E27FC236}">
                    <a16:creationId xmlns:a16="http://schemas.microsoft.com/office/drawing/2014/main" id="{BFA7A5EF-9FFE-C8A0-DBA7-987CCA50A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2698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27" name="Text Box 51">
                <a:extLst>
                  <a:ext uri="{FF2B5EF4-FFF2-40B4-BE49-F238E27FC236}">
                    <a16:creationId xmlns:a16="http://schemas.microsoft.com/office/drawing/2014/main" id="{13A4B37A-84D0-07AF-A895-84A42AC73B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1744" y="672093"/>
                <a:ext cx="35421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15</a:t>
                </a:r>
              </a:p>
            </p:txBody>
          </p:sp>
          <p:sp>
            <p:nvSpPr>
              <p:cNvPr id="28" name="Text Box 52">
                <a:extLst>
                  <a:ext uri="{FF2B5EF4-FFF2-40B4-BE49-F238E27FC236}">
                    <a16:creationId xmlns:a16="http://schemas.microsoft.com/office/drawing/2014/main" id="{84D6DB68-C7BE-1596-D397-54BF809924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45972" y="668662"/>
                <a:ext cx="270121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</a:p>
            </p:txBody>
          </p:sp>
          <p:sp>
            <p:nvSpPr>
              <p:cNvPr id="29" name="Text Box 53">
                <a:extLst>
                  <a:ext uri="{FF2B5EF4-FFF2-40B4-BE49-F238E27FC236}">
                    <a16:creationId xmlns:a16="http://schemas.microsoft.com/office/drawing/2014/main" id="{28D6AADA-5079-B18A-F7E5-E00E3724BA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9348" y="674380"/>
                <a:ext cx="194946" cy="1864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</a:t>
                </a:r>
              </a:p>
            </p:txBody>
          </p:sp>
          <p:sp>
            <p:nvSpPr>
              <p:cNvPr id="30" name="Text Box 154">
                <a:extLst>
                  <a:ext uri="{FF2B5EF4-FFF2-40B4-BE49-F238E27FC236}">
                    <a16:creationId xmlns:a16="http://schemas.microsoft.com/office/drawing/2014/main" id="{A33F6A38-E8E2-FC1B-245F-8AEE10C95E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8429" y="664087"/>
                <a:ext cx="513485" cy="26189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_tradnl" sz="1100" b="1" noProof="0" dirty="0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12</a:t>
                </a:r>
              </a:p>
            </p:txBody>
          </p:sp>
        </p:grp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C90487-2847-90FC-E24E-A31496E170C6}"/>
              </a:ext>
            </a:extLst>
          </p:cNvPr>
          <p:cNvSpPr txBox="1"/>
          <p:nvPr/>
        </p:nvSpPr>
        <p:spPr>
          <a:xfrm>
            <a:off x="5769051" y="5962723"/>
            <a:ext cx="15159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accent1">
                    <a:lumMod val="75000"/>
                  </a:schemeClr>
                </a:solidFill>
              </a:rPr>
              <a:t>Salto / no salto (Cond)</a:t>
            </a:r>
          </a:p>
        </p:txBody>
      </p:sp>
    </p:spTree>
    <p:extLst>
      <p:ext uri="{BB962C8B-B14F-4D97-AF65-F5344CB8AC3E}">
        <p14:creationId xmlns:p14="http://schemas.microsoft.com/office/powerpoint/2010/main" val="151217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CC0C-CF9C-ECF1-EF58-6DDFEFC2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DCFFA-7126-B2C7-35A7-655F12F1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Instrucción </a:t>
            </a:r>
            <a:r>
              <a:rPr lang="es-ES_tradnl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s-ES_tradnl" noProof="0" dirty="0"/>
              <a:t>: Señales de control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BC232D-F468-4BA1-4BC9-79858AA8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77</a:t>
            </a:fld>
            <a:endParaRPr lang="es-ES_tradnl" noProof="0" dirty="0"/>
          </a:p>
        </p:txBody>
      </p:sp>
      <p:sp>
        <p:nvSpPr>
          <p:cNvPr id="3" name="Rectangle 168">
            <a:extLst>
              <a:ext uri="{FF2B5EF4-FFF2-40B4-BE49-F238E27FC236}">
                <a16:creationId xmlns:a16="http://schemas.microsoft.com/office/drawing/2014/main" id="{3C574366-E1DF-4903-394A-E55C853F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0" dirty="0" err="1">
                <a:solidFill>
                  <a:srgbClr val="FF6600"/>
                </a:solidFill>
                <a:latin typeface="Calibri" pitchFamily="-103" charset="0"/>
              </a:rPr>
              <a:t>OpALU</a:t>
            </a:r>
            <a:r>
              <a:rPr lang="es-ES_tradnl" sz="1200" noProof="0" dirty="0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0" dirty="0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000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noProof="0" dirty="0">
                <a:latin typeface="Calibri" pitchFamily="-103" charset="0"/>
              </a:rPr>
              <a:t>001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0" dirty="0">
                <a:latin typeface="Calibri" pitchFamily="-103" charset="0"/>
              </a:rPr>
              <a:t> b (</a:t>
            </a:r>
            <a:r>
              <a:rPr lang="es-ES_tradnl" sz="1200" noProof="0" dirty="0" err="1">
                <a:latin typeface="Calibri" pitchFamily="-103" charset="0"/>
              </a:rPr>
              <a:t>or</a:t>
            </a:r>
            <a:r>
              <a:rPr lang="es-ES_tradnl" sz="1200" noProof="0" dirty="0">
                <a:latin typeface="Calibri" pitchFamily="-103" charset="0"/>
              </a:rPr>
              <a:t>)</a:t>
            </a:r>
          </a:p>
          <a:p>
            <a:pPr algn="l"/>
            <a:r>
              <a:rPr lang="es-ES_tradnl" sz="1200" noProof="0" dirty="0">
                <a:solidFill>
                  <a:srgbClr val="FF6600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110	a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i="1" noProof="0" dirty="0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23C2421D-916C-73CC-DFCC-6717E569F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368650"/>
              </p:ext>
            </p:extLst>
          </p:nvPr>
        </p:nvGraphicFramePr>
        <p:xfrm>
          <a:off x="816219" y="895952"/>
          <a:ext cx="8117470" cy="2739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_tradnl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b="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w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i="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90108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_tradnl" sz="1100" noProof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0187"/>
                  </a:ext>
                </a:extLst>
              </a:tr>
            </a:tbl>
          </a:graphicData>
        </a:graphic>
      </p:graphicFrame>
      <p:sp>
        <p:nvSpPr>
          <p:cNvPr id="6" name="9 Rectángulo">
            <a:extLst>
              <a:ext uri="{FF2B5EF4-FFF2-40B4-BE49-F238E27FC236}">
                <a16:creationId xmlns:a16="http://schemas.microsoft.com/office/drawing/2014/main" id="{69BBCE36-9F2A-2A12-60F0-C948039829C2}"/>
              </a:ext>
            </a:extLst>
          </p:cNvPr>
          <p:cNvSpPr/>
          <p:nvPr/>
        </p:nvSpPr>
        <p:spPr bwMode="auto">
          <a:xfrm>
            <a:off x="6444208" y="3212976"/>
            <a:ext cx="576064" cy="36057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sp>
        <p:nvSpPr>
          <p:cNvPr id="7" name="Llamada rectangular redondeada 6">
            <a:extLst>
              <a:ext uri="{FF2B5EF4-FFF2-40B4-BE49-F238E27FC236}">
                <a16:creationId xmlns:a16="http://schemas.microsoft.com/office/drawing/2014/main" id="{8F81D1E1-C76E-8820-EC7C-7610E221AF2A}"/>
              </a:ext>
            </a:extLst>
          </p:cNvPr>
          <p:cNvSpPr/>
          <p:nvPr/>
        </p:nvSpPr>
        <p:spPr bwMode="auto">
          <a:xfrm>
            <a:off x="6172200" y="4149080"/>
            <a:ext cx="2514600" cy="1080120"/>
          </a:xfrm>
          <a:prstGeom prst="wedgeRoundRectCallout">
            <a:avLst>
              <a:gd name="adj1" fmla="val -27747"/>
              <a:gd name="adj2" fmla="val -100945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salto depende de que se cumpla la condición </a:t>
            </a:r>
            <a:r>
              <a:rPr lang="es-ES_tradnl" sz="12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rs1==rs2</a:t>
            </a:r>
            <a:r>
              <a:rPr lang="es-ES_tradnl" sz="1200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se evalúa en la unidad Branch. Esta unidad genera la señal Cond</a:t>
            </a:r>
          </a:p>
        </p:txBody>
      </p:sp>
      <p:sp>
        <p:nvSpPr>
          <p:cNvPr id="8" name="Llamada rectangular redondeada 7">
            <a:extLst>
              <a:ext uri="{FF2B5EF4-FFF2-40B4-BE49-F238E27FC236}">
                <a16:creationId xmlns:a16="http://schemas.microsoft.com/office/drawing/2014/main" id="{DA9B5C51-3283-A657-C3EE-BF688AD4563C}"/>
              </a:ext>
            </a:extLst>
          </p:cNvPr>
          <p:cNvSpPr/>
          <p:nvPr/>
        </p:nvSpPr>
        <p:spPr bwMode="auto">
          <a:xfrm>
            <a:off x="2555776" y="4437112"/>
            <a:ext cx="2514600" cy="1080120"/>
          </a:xfrm>
          <a:prstGeom prst="wedgeRoundRectCallout">
            <a:avLst>
              <a:gd name="adj1" fmla="val 42183"/>
              <a:gd name="adj2" fmla="val -129361"/>
              <a:gd name="adj3" fmla="val 166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_tradnl" sz="1200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ALU se usa para calcular la dirección del salto, sumando </a:t>
            </a:r>
          </a:p>
          <a:p>
            <a:r>
              <a:rPr lang="es-ES_tradnl" sz="1200" noProof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 + </a:t>
            </a:r>
            <a:r>
              <a:rPr lang="es-ES_tradnl" sz="12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inm</a:t>
            </a:r>
            <a:r>
              <a:rPr lang="es-ES_tradnl" sz="1200" baseline="-25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</p:txBody>
      </p:sp>
      <p:sp>
        <p:nvSpPr>
          <p:cNvPr id="9" name="9 Rectángulo">
            <a:extLst>
              <a:ext uri="{FF2B5EF4-FFF2-40B4-BE49-F238E27FC236}">
                <a16:creationId xmlns:a16="http://schemas.microsoft.com/office/drawing/2014/main" id="{7286A0E6-DA28-445F-8316-338C6E6639F5}"/>
              </a:ext>
            </a:extLst>
          </p:cNvPr>
          <p:cNvSpPr/>
          <p:nvPr/>
        </p:nvSpPr>
        <p:spPr bwMode="auto">
          <a:xfrm>
            <a:off x="4572000" y="3212440"/>
            <a:ext cx="648072" cy="36057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892648666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>
                <a:latin typeface="Arial" panose="020B0604020202020204" pitchFamily="34" charset="0"/>
                <a:cs typeface="Arial" panose="020B0604020202020204" pitchFamily="34" charset="0"/>
              </a:rPr>
              <a:t>Unidad de Control: Señales de control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78</a:t>
            </a:fld>
            <a:endParaRPr lang="es-ES_tradnl" noProof="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68977" y="6032804"/>
            <a:ext cx="4695111" cy="4985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implementación de esta tabla permite la correcta ejecución</a:t>
            </a:r>
          </a:p>
          <a:p>
            <a:r>
              <a:rPr lang="es-ES_tradnl" sz="12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las instrucciones en un ciclo de reloj</a:t>
            </a:r>
          </a:p>
        </p:txBody>
      </p:sp>
      <p:graphicFrame>
        <p:nvGraphicFramePr>
          <p:cNvPr id="8" name="Marcador de contenido 5">
            <a:extLst>
              <a:ext uri="{FF2B5EF4-FFF2-40B4-BE49-F238E27FC236}">
                <a16:creationId xmlns:a16="http://schemas.microsoft.com/office/drawing/2014/main" id="{90F0A7AF-D2D1-0EF1-22D5-1CCE7D774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079389"/>
              </p:ext>
            </p:extLst>
          </p:nvPr>
        </p:nvGraphicFramePr>
        <p:xfrm>
          <a:off x="816219" y="895952"/>
          <a:ext cx="8117470" cy="4019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75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8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96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8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476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58354">
                  <a:extLst>
                    <a:ext uri="{9D8B030D-6E8A-4147-A177-3AD203B41FA5}">
                      <a16:colId xmlns:a16="http://schemas.microsoft.com/office/drawing/2014/main" val="647838279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/>
                        <a:t>Banco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ALU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ES_tradnl" sz="1100" noProof="0" dirty="0" err="1">
                          <a:latin typeface="Arial Narrow"/>
                          <a:cs typeface="Arial Narrow"/>
                        </a:rPr>
                        <a:t>Mem</a:t>
                      </a:r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.</a:t>
                      </a:r>
                    </a:p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Datos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s-ES_tradnl" sz="1100" noProof="0" dirty="0">
                          <a:latin typeface="Arial Narrow"/>
                          <a:cs typeface="Arial Narrow"/>
                        </a:rPr>
                        <a:t>Multiplexores</a:t>
                      </a:r>
                      <a:endParaRPr lang="es-ES_tradnl" sz="1100" baseline="0" noProof="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s-ES_tradnl" sz="1100" baseline="0" noProof="0" dirty="0">
                          <a:latin typeface="Arial Narrow"/>
                          <a:cs typeface="Arial Narrow"/>
                        </a:rPr>
                        <a:t>Configuración Ruta de Datos</a:t>
                      </a:r>
                      <a:endParaRPr lang="es-ES_tradnl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sz="1100" noProof="0" dirty="0"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7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Fmt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opcode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funct3 | funct7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EReg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OpALU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LMem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MxPC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MxA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MxB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MxER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sub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0100000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01696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and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111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686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 | 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99881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addi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0010011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530196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b="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w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i="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790108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_tradnl" sz="11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s-ES_tradnl" sz="11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000 |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1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0187"/>
                  </a:ext>
                </a:extLst>
              </a:tr>
            </a:tbl>
          </a:graphicData>
        </a:graphic>
      </p:graphicFrame>
      <p:sp>
        <p:nvSpPr>
          <p:cNvPr id="10" name="Rectangle 168">
            <a:extLst>
              <a:ext uri="{FF2B5EF4-FFF2-40B4-BE49-F238E27FC236}">
                <a16:creationId xmlns:a16="http://schemas.microsoft.com/office/drawing/2014/main" id="{145026A7-CA96-7957-D3C9-53322DD9C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471" y="5339689"/>
            <a:ext cx="259080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1200" b="1" noProof="0" dirty="0" err="1">
                <a:solidFill>
                  <a:schemeClr val="tx1"/>
                </a:solidFill>
                <a:latin typeface="Calibri" pitchFamily="-103" charset="0"/>
              </a:rPr>
              <a:t>OpALU</a:t>
            </a:r>
            <a:r>
              <a:rPr lang="es-ES_tradnl" sz="1200" noProof="0" dirty="0">
                <a:solidFill>
                  <a:schemeClr val="tx2"/>
                </a:solidFill>
                <a:latin typeface="Calibri" pitchFamily="-103" charset="0"/>
              </a:rPr>
              <a:t>	</a:t>
            </a:r>
            <a:r>
              <a:rPr lang="es-ES_tradnl" sz="1200" b="1" noProof="0" dirty="0">
                <a:solidFill>
                  <a:schemeClr val="tx2"/>
                </a:solidFill>
                <a:latin typeface="Calibri" pitchFamily="-103" charset="0"/>
              </a:rPr>
              <a:t>Operación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000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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b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(and)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noProof="0" dirty="0">
                <a:latin typeface="Calibri" pitchFamily="-103" charset="0"/>
              </a:rPr>
              <a:t>001	a </a:t>
            </a:r>
            <a:r>
              <a:rPr lang="es-ES_tradnl" sz="1200" b="1" noProof="0" dirty="0">
                <a:latin typeface="Calibri" pitchFamily="-103" charset="0"/>
                <a:sym typeface="Symbol" pitchFamily="-103" charset="2"/>
              </a:rPr>
              <a:t></a:t>
            </a:r>
            <a:r>
              <a:rPr lang="es-ES_tradnl" sz="1200" noProof="0" dirty="0">
                <a:latin typeface="Calibri" pitchFamily="-103" charset="0"/>
              </a:rPr>
              <a:t> b (</a:t>
            </a:r>
            <a:r>
              <a:rPr lang="es-ES_tradnl" sz="1200" noProof="0" dirty="0" err="1">
                <a:latin typeface="Calibri" pitchFamily="-103" charset="0"/>
              </a:rPr>
              <a:t>or</a:t>
            </a:r>
            <a:r>
              <a:rPr lang="es-ES_tradnl" sz="1200" noProof="0" dirty="0">
                <a:latin typeface="Calibri" pitchFamily="-103" charset="0"/>
              </a:rPr>
              <a:t>)</a:t>
            </a:r>
          </a:p>
          <a:p>
            <a:pPr algn="l"/>
            <a:r>
              <a:rPr lang="es-ES_tradnl" sz="1200" noProof="0" dirty="0">
                <a:solidFill>
                  <a:schemeClr val="tx1"/>
                </a:solidFill>
                <a:latin typeface="Calibri" pitchFamily="-103" charset="0"/>
              </a:rPr>
              <a:t>010	a + b (suma aritmética)</a:t>
            </a:r>
          </a:p>
          <a:p>
            <a:pPr algn="l"/>
            <a:r>
              <a:rPr lang="es-ES_tradnl" sz="1200" noProof="0" dirty="0">
                <a:latin typeface="Calibri" pitchFamily="-103" charset="0"/>
              </a:rPr>
              <a:t>110	a </a:t>
            </a:r>
            <a:r>
              <a:rPr lang="es-ES_tradnl" sz="1200" noProof="0" dirty="0">
                <a:latin typeface="Calibri" pitchFamily="-103" charset="0"/>
                <a:sym typeface="Symbol" pitchFamily="-103" charset="2"/>
              </a:rPr>
              <a:t>– b (resta)</a:t>
            </a:r>
            <a:endParaRPr lang="es-ES_tradnl" sz="1200" noProof="0" dirty="0">
              <a:latin typeface="Calibri" pitchFamily="-103" charset="0"/>
            </a:endParaRPr>
          </a:p>
          <a:p>
            <a:pPr algn="l"/>
            <a:r>
              <a:rPr lang="es-ES_tradnl" sz="1200" i="1" noProof="0" dirty="0">
                <a:solidFill>
                  <a:schemeClr val="tx1"/>
                </a:solidFill>
                <a:latin typeface="Calibri" pitchFamily="-103" charset="0"/>
              </a:rPr>
              <a:t>111	a &lt; b (menor que)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El procesador: Prestaciones ruta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3" y="992188"/>
            <a:ext cx="8250237" cy="5256212"/>
          </a:xfrm>
        </p:spPr>
        <p:txBody>
          <a:bodyPr/>
          <a:lstStyle/>
          <a:p>
            <a:r>
              <a:rPr lang="es-ES_tradnl" noProof="0" dirty="0"/>
              <a:t>La ruta de datos con los siguientes retardos</a:t>
            </a:r>
          </a:p>
          <a:p>
            <a:pPr lvl="1"/>
            <a:r>
              <a:rPr lang="es-ES_tradnl" noProof="0" dirty="0"/>
              <a:t>Lectura/Escritura en memoria de datos/instrucciones: 2 </a:t>
            </a:r>
            <a:r>
              <a:rPr lang="es-ES_tradnl" noProof="0" dirty="0" err="1"/>
              <a:t>ns</a:t>
            </a:r>
            <a:endParaRPr lang="es-ES_tradnl" noProof="0" dirty="0"/>
          </a:p>
          <a:p>
            <a:pPr lvl="1"/>
            <a:r>
              <a:rPr lang="es-ES_tradnl" noProof="0" dirty="0"/>
              <a:t>Lectura/Escritura en banco de registros: 1 </a:t>
            </a:r>
            <a:r>
              <a:rPr lang="es-ES_tradnl" noProof="0" dirty="0" err="1"/>
              <a:t>ns</a:t>
            </a:r>
            <a:endParaRPr lang="es-ES_tradnl" noProof="0" dirty="0"/>
          </a:p>
          <a:p>
            <a:pPr lvl="1"/>
            <a:r>
              <a:rPr lang="es-ES_tradnl" noProof="0" dirty="0"/>
              <a:t>Operación en la ALU: 2 </a:t>
            </a:r>
            <a:r>
              <a:rPr lang="es-ES_tradnl" noProof="0" dirty="0" err="1"/>
              <a:t>ns</a:t>
            </a:r>
            <a:endParaRPr lang="es-ES_tradnl" noProof="0" dirty="0"/>
          </a:p>
          <a:p>
            <a:pPr lvl="1"/>
            <a:r>
              <a:rPr lang="es-ES_tradnl" noProof="0" dirty="0"/>
              <a:t>Resto de retardos despreciable</a:t>
            </a:r>
          </a:p>
          <a:p>
            <a:r>
              <a:rPr lang="es-ES_tradnl" noProof="0" dirty="0"/>
              <a:t>Calcula el tiempo necesario para ejecutar las instrucciones:</a:t>
            </a:r>
          </a:p>
          <a:p>
            <a:pPr lvl="1"/>
            <a:r>
              <a:rPr lang="es-ES_tradnl" noProof="0" dirty="0"/>
              <a:t>Aritmético-lógicas:  </a:t>
            </a:r>
            <a:r>
              <a:rPr lang="es-ES_tradnl" noProof="0" dirty="0" err="1">
                <a:latin typeface="Courier New"/>
                <a:cs typeface="Courier New"/>
              </a:rPr>
              <a:t>add</a:t>
            </a:r>
            <a:r>
              <a:rPr lang="es-ES_tradnl" noProof="0" dirty="0">
                <a:latin typeface="Courier New"/>
                <a:cs typeface="Courier New"/>
              </a:rPr>
              <a:t> t2, t1, t0</a:t>
            </a:r>
            <a:endParaRPr lang="es-ES_tradnl" noProof="0" dirty="0"/>
          </a:p>
          <a:p>
            <a:pPr lvl="1"/>
            <a:r>
              <a:rPr lang="es-ES_tradnl" noProof="0" dirty="0"/>
              <a:t>Lectura de memoria:  </a:t>
            </a:r>
            <a:r>
              <a:rPr lang="es-ES_tradnl" noProof="0" dirty="0" err="1">
                <a:latin typeface="Courier New"/>
                <a:cs typeface="Courier New"/>
              </a:rPr>
              <a:t>lw</a:t>
            </a:r>
            <a:r>
              <a:rPr lang="es-ES_tradnl" noProof="0" dirty="0">
                <a:latin typeface="Courier New"/>
                <a:cs typeface="Courier New"/>
              </a:rPr>
              <a:t> t1, 0(t0)</a:t>
            </a:r>
            <a:endParaRPr lang="es-ES_tradnl" noProof="0" dirty="0"/>
          </a:p>
          <a:p>
            <a:pPr lvl="1"/>
            <a:r>
              <a:rPr lang="es-ES_tradnl" noProof="0" dirty="0"/>
              <a:t>Escritura en memoria:  </a:t>
            </a:r>
            <a:r>
              <a:rPr lang="es-ES_tradnl" noProof="0" dirty="0" err="1">
                <a:latin typeface="Courier New"/>
                <a:cs typeface="Courier New"/>
              </a:rPr>
              <a:t>sw</a:t>
            </a:r>
            <a:r>
              <a:rPr lang="es-ES_tradnl" noProof="0" dirty="0">
                <a:latin typeface="Courier New"/>
                <a:cs typeface="Courier New"/>
              </a:rPr>
              <a:t> t1, 0(t0)</a:t>
            </a:r>
          </a:p>
          <a:p>
            <a:pPr lvl="1"/>
            <a:r>
              <a:rPr lang="es-ES_tradnl" noProof="0" dirty="0"/>
              <a:t>Salto condicional:  </a:t>
            </a:r>
            <a:r>
              <a:rPr lang="es-ES_tradnl" noProof="0" dirty="0" err="1">
                <a:latin typeface="Courier New"/>
                <a:cs typeface="Courier New"/>
              </a:rPr>
              <a:t>beq</a:t>
            </a:r>
            <a:r>
              <a:rPr lang="es-ES_tradnl" noProof="0" dirty="0">
                <a:latin typeface="Courier New"/>
                <a:cs typeface="Courier New"/>
              </a:rPr>
              <a:t> t0, x0, bucle</a:t>
            </a:r>
          </a:p>
          <a:p>
            <a:r>
              <a:rPr lang="es-ES_tradnl" noProof="0" dirty="0"/>
              <a:t>Calcula tiempo de ciclo y frecuencia de la ruta de datos</a:t>
            </a:r>
          </a:p>
          <a:p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79</a:t>
            </a:fld>
            <a:endParaRPr lang="es-ES_tradnl" noProof="0" dirty="0"/>
          </a:p>
        </p:txBody>
      </p:sp>
      <p:sp>
        <p:nvSpPr>
          <p:cNvPr id="6" name="CuadroTexto 5"/>
          <p:cNvSpPr txBox="1"/>
          <p:nvPr/>
        </p:nvSpPr>
        <p:spPr bwMode="hidden">
          <a:xfrm>
            <a:off x="5855690" y="3962400"/>
            <a:ext cx="3252814" cy="1083374"/>
          </a:xfrm>
          <a:prstGeom prst="rect">
            <a:avLst/>
          </a:prstGeom>
          <a:noFill/>
          <a:effectLst>
            <a:outerShdw blurRad="50800" dist="38100" dir="2700000" algn="br" rotWithShape="0">
              <a:srgbClr val="000000">
                <a:alpha val="43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2ns + 1ns + 2ns + 1ns = 6 </a:t>
            </a:r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lw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2ns + 1ns + 2ns + 2ns + 1ns = 8 </a:t>
            </a:r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2ns + 1ns + 2ns + 2ns = 7 </a:t>
            </a:r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2ns + 1ns + 2ns = 5 </a:t>
            </a:r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endParaRPr lang="es-ES_tradnl" sz="1400" noProof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 bwMode="hidden">
          <a:xfrm>
            <a:off x="7015954" y="5105400"/>
            <a:ext cx="1832168" cy="566309"/>
          </a:xfrm>
          <a:prstGeom prst="rect">
            <a:avLst/>
          </a:prstGeom>
          <a:noFill/>
          <a:effectLst>
            <a:outerShdw blurRad="50800" dist="38100" dir="2700000" algn="br" rotWithShape="0">
              <a:srgbClr val="000000">
                <a:alpha val="43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</a:rPr>
              <a:t>Tciclo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 = 8 </a:t>
            </a:r>
            <a:r>
              <a:rPr lang="es-ES_tradnl" sz="1400" noProof="0" dirty="0" err="1">
                <a:solidFill>
                  <a:schemeClr val="accent1">
                    <a:lumMod val="75000"/>
                  </a:schemeClr>
                </a:solidFill>
              </a:rPr>
              <a:t>ns</a:t>
            </a:r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algn="l"/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Frecuencia = 125 MHz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-51171" y="6096000"/>
            <a:ext cx="9195171" cy="56630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Con esta ruta obtenemos una tasa de ejecución de 1 instrucción/ciclo pero con tiempo de ciclo muy elevado (caso peor). </a:t>
            </a:r>
          </a:p>
          <a:p>
            <a:r>
              <a:rPr lang="es-ES_tradnl" sz="1400" noProof="0" dirty="0">
                <a:solidFill>
                  <a:schemeClr val="accent1">
                    <a:lumMod val="75000"/>
                  </a:schemeClr>
                </a:solidFill>
              </a:rPr>
              <a:t>En el tema 2 utilizaremos esta ruta como base para obtener mejores prestaciones utilizando el concepto de segmentación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5163" y="0"/>
            <a:ext cx="8250237" cy="865187"/>
          </a:xfrm>
        </p:spPr>
        <p:txBody>
          <a:bodyPr/>
          <a:lstStyle/>
          <a:p>
            <a:r>
              <a:rPr lang="es-ES_tradnl" noProof="0" dirty="0"/>
              <a:t>Perspectiva histórica sobre la unidad de control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3401" y="839788"/>
            <a:ext cx="8610600" cy="5256212"/>
          </a:xfrm>
        </p:spPr>
        <p:txBody>
          <a:bodyPr/>
          <a:lstStyle/>
          <a:p>
            <a:r>
              <a:rPr lang="es-ES_tradnl" noProof="0" dirty="0"/>
              <a:t>Inconvenientes ruta de datos en ciclo único</a:t>
            </a:r>
          </a:p>
          <a:p>
            <a:pPr lvl="1"/>
            <a:r>
              <a:rPr lang="es-ES_tradnl" noProof="0" dirty="0"/>
              <a:t>Ciclo de reloj determinado por la instrucción más lenta (load)</a:t>
            </a:r>
          </a:p>
          <a:p>
            <a:pPr lvl="1"/>
            <a:r>
              <a:rPr lang="es-ES_tradnl" noProof="0" dirty="0"/>
              <a:t>Con instrucciones más complejas (coma flotante) el tiempo de ciclo se alargaría aún más</a:t>
            </a:r>
          </a:p>
          <a:p>
            <a:r>
              <a:rPr lang="es-ES_tradnl" noProof="0" dirty="0"/>
              <a:t>Alternativa: Implementación </a:t>
            </a:r>
            <a:r>
              <a:rPr lang="es-ES_tradnl" noProof="0" dirty="0" err="1"/>
              <a:t>multiciclo</a:t>
            </a:r>
            <a:endParaRPr lang="es-ES_tradnl" noProof="0" dirty="0"/>
          </a:p>
          <a:p>
            <a:pPr lvl="1"/>
            <a:r>
              <a:rPr lang="es-ES_tradnl" noProof="0" dirty="0"/>
              <a:t>Requiere una máquina de estados para la generación de señales de control</a:t>
            </a:r>
          </a:p>
          <a:p>
            <a:endParaRPr lang="es-ES_tradnl" noProof="0" dirty="0"/>
          </a:p>
          <a:p>
            <a:endParaRPr lang="es-ES_tradnl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699608-B574-4B82-8EEF-626F712CB985}" type="slidenum">
              <a:rPr lang="es-ES_tradnl" noProof="0" smtClean="0"/>
              <a:pPr>
                <a:defRPr/>
              </a:pPr>
              <a:t>80</a:t>
            </a:fld>
            <a:endParaRPr lang="es-ES_tradnl" noProof="0" dirty="0"/>
          </a:p>
        </p:txBody>
      </p:sp>
      <p:pic>
        <p:nvPicPr>
          <p:cNvPr id="337" name="Imagen 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85406"/>
            <a:ext cx="6534150" cy="317259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xC1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 bwMode="auto">
        <a:noFill/>
        <a:ln w="19050"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ln w="1270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VxC1</Template>
  <TotalTime>42233</TotalTime>
  <Words>8867</Words>
  <Application>Microsoft Macintosh PowerPoint</Application>
  <PresentationFormat>Presentación en pantalla (4:3)</PresentationFormat>
  <Paragraphs>2652</Paragraphs>
  <Slides>80</Slides>
  <Notes>15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80</vt:i4>
      </vt:variant>
      <vt:variant>
        <vt:lpstr>Presentaciones personalizadas</vt:lpstr>
      </vt:variant>
      <vt:variant>
        <vt:i4>2</vt:i4>
      </vt:variant>
    </vt:vector>
  </HeadingPairs>
  <TitlesOfParts>
    <vt:vector size="92" baseType="lpstr">
      <vt:lpstr>Arial</vt:lpstr>
      <vt:lpstr>Arial Narrow</vt:lpstr>
      <vt:lpstr>Calibri</vt:lpstr>
      <vt:lpstr>Courier</vt:lpstr>
      <vt:lpstr>Courier New</vt:lpstr>
      <vt:lpstr>Gill Sans MT</vt:lpstr>
      <vt:lpstr>Times New Roman</vt:lpstr>
      <vt:lpstr>Wingdings</vt:lpstr>
      <vt:lpstr>Wingdings 2</vt:lpstr>
      <vt:lpstr>VxC1</vt:lpstr>
      <vt:lpstr>Tema 1:  El procesador</vt:lpstr>
      <vt:lpstr>Objetivos</vt:lpstr>
      <vt:lpstr>Contenido y bibliografía</vt:lpstr>
      <vt:lpstr>Arquitectura RISC-V: Introducción</vt:lpstr>
      <vt:lpstr>Introducción: Tipos de computadores</vt:lpstr>
      <vt:lpstr>Introducción: El mercado de los procesadores</vt:lpstr>
      <vt:lpstr>Introducción: Arquitectura</vt:lpstr>
      <vt:lpstr>Introducción: Implementación </vt:lpstr>
      <vt:lpstr>Arquitectura RISC-V</vt:lpstr>
      <vt:lpstr>Arquitectura RISC-V: Características básicas</vt:lpstr>
      <vt:lpstr>Arquitectura RISC-V: Características básicas</vt:lpstr>
      <vt:lpstr>Arquitectura RISC-V en la asignatura</vt:lpstr>
      <vt:lpstr>Arquitectura RISC-V: Modelo de programación</vt:lpstr>
      <vt:lpstr>Arquitectura RISC-V: Registros</vt:lpstr>
      <vt:lpstr>Arquitectura RISC-V: Memoria</vt:lpstr>
      <vt:lpstr>Arquitectura RISC-V: Memoria</vt:lpstr>
      <vt:lpstr>Arquitectura RISC-V: Memoria</vt:lpstr>
      <vt:lpstr>Arquitectura RISC-V:  Alineamiento en memoria</vt:lpstr>
      <vt:lpstr>Arquitectura RISC-V: Instrucciones</vt:lpstr>
      <vt:lpstr>Arquitectura RISC-V:  Formato de las instrucciones</vt:lpstr>
      <vt:lpstr>Arquitectura RISC-V:  Formato de las instrucciones</vt:lpstr>
      <vt:lpstr>Arquitectura RISC-V:  Formato de las instrucciones</vt:lpstr>
      <vt:lpstr>Ejemplo de codificación de la instrucción</vt:lpstr>
      <vt:lpstr>Arquitectura RISC-V:  Formato de las instrucciones</vt:lpstr>
      <vt:lpstr>Arquitectura RISC-V:  Formato de las instrucciones</vt:lpstr>
      <vt:lpstr>Arquitectura RISC-V:  Formato de las instrucciones</vt:lpstr>
      <vt:lpstr>Arquitectura RISC-V:  Formato de las instrucciones</vt:lpstr>
      <vt:lpstr>Arquitectura RISC-V:  Formato de las instrucciones</vt:lpstr>
      <vt:lpstr>Pseudoinstrucciones</vt:lpstr>
      <vt:lpstr>Ejemplo: Codificación, ensamblado y carga</vt:lpstr>
      <vt:lpstr>Presentación de PowerPoint</vt:lpstr>
      <vt:lpstr>Ejemplo: Ejecución instrucción 1</vt:lpstr>
      <vt:lpstr>Ejemplo: Ejecución instrucción 2</vt:lpstr>
      <vt:lpstr>Ejemplo: Ejecución instrucción 3</vt:lpstr>
      <vt:lpstr>Ejemplo: Ejecución instrucción 4</vt:lpstr>
      <vt:lpstr>Ejemplo: Ejecución instrucción 5</vt:lpstr>
      <vt:lpstr>Ejemplo: Ejecución instrucción 6</vt:lpstr>
      <vt:lpstr>Contenido y bibliografía</vt:lpstr>
      <vt:lpstr>La ruta de datos del procesador MONOCICLO</vt:lpstr>
      <vt:lpstr>El procesador</vt:lpstr>
      <vt:lpstr>La ruta de datos</vt:lpstr>
      <vt:lpstr>La ruta de datos: Sincronización</vt:lpstr>
      <vt:lpstr>La ruta de datos: Sincronización</vt:lpstr>
      <vt:lpstr>La ruta de datos: Selección de instrucciones</vt:lpstr>
      <vt:lpstr>La ruta de datos: Selección de instrucciones</vt:lpstr>
      <vt:lpstr>La ruta de datos: Selección de instrucciones</vt:lpstr>
      <vt:lpstr>La ruta de datos: Fases de ejecución instrucciones</vt:lpstr>
      <vt:lpstr>La ruta de datos: Seleccionar recursos</vt:lpstr>
      <vt:lpstr>La ruta de datos: Seleccionar recursos necesarios</vt:lpstr>
      <vt:lpstr>La ruta de datos: Seleccionar recursos necesarios</vt:lpstr>
      <vt:lpstr>La ruta de datos: Búsqueda y descodificación</vt:lpstr>
      <vt:lpstr>La ruta de datos: Lectura de operandos </vt:lpstr>
      <vt:lpstr>La ruta de datos: Generador de inmediatos </vt:lpstr>
      <vt:lpstr>La ruta de datos: Lectura de operandos y generación de inmediato</vt:lpstr>
      <vt:lpstr>La ruta de datos: La Unidad Aritmético Lógica</vt:lpstr>
      <vt:lpstr>La ruta de datos: La Unidad Aritmético Lógica</vt:lpstr>
      <vt:lpstr>La ruta de datos: La memoria de datos</vt:lpstr>
      <vt:lpstr>La ruta de datos:  Almacenamiento del resultado</vt:lpstr>
      <vt:lpstr>Presentación de PowerPoint</vt:lpstr>
      <vt:lpstr>La ruta de datos: Salto condicional (beq)</vt:lpstr>
      <vt:lpstr>La ruta de datos: Salto condicional (beq)</vt:lpstr>
      <vt:lpstr>La ruta de datos: Salto condicional (beq)</vt:lpstr>
      <vt:lpstr>La ruta de datos: Salto condicional (beq)</vt:lpstr>
      <vt:lpstr>La ruta de datos: Salto condicional (beq)</vt:lpstr>
      <vt:lpstr>La ruta de datos completa  (sin soporte para salto incondicional)</vt:lpstr>
      <vt:lpstr>Contenido y bibliografía</vt:lpstr>
      <vt:lpstr>La unidad de control</vt:lpstr>
      <vt:lpstr>Ruta de datos para  instrucciones tipo R</vt:lpstr>
      <vt:lpstr>Señales de control:  Aritméticas y lógicas tipo R</vt:lpstr>
      <vt:lpstr>Ruta de datos para  instrucciones tipo I</vt:lpstr>
      <vt:lpstr>Señales de control: Aritméticas y lógicas tipo I</vt:lpstr>
      <vt:lpstr>Ruta de datos para  instrucciones tipo I</vt:lpstr>
      <vt:lpstr>Instrucción lw: Señales de control</vt:lpstr>
      <vt:lpstr>Ruta de datos para  instrucciones tipo S</vt:lpstr>
      <vt:lpstr>Instrucción sw: Señales de control</vt:lpstr>
      <vt:lpstr>Ruta de datos para  instrucciones tipo B</vt:lpstr>
      <vt:lpstr>Instrucción beq: Señales de control</vt:lpstr>
      <vt:lpstr>Unidad de Control: Señales de control</vt:lpstr>
      <vt:lpstr>El procesador: Prestaciones ruta de datos</vt:lpstr>
      <vt:lpstr>Perspectiva histórica sobre la unidad de control</vt:lpstr>
      <vt:lpstr>Formato instrucciones</vt:lpstr>
      <vt:lpstr>Fases de ejecución</vt:lpstr>
    </vt:vector>
  </TitlesOfParts>
  <Company>DISCA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9: Sincronización de la E/S</dc:title>
  <dc:subject>Estructura de Computadores</dc:subject>
  <dc:creator>José Miguel Valiente</dc:creator>
  <cp:lastModifiedBy>enrique s. quintana-orti</cp:lastModifiedBy>
  <cp:revision>1149</cp:revision>
  <cp:lastPrinted>2013-09-09T11:28:19Z</cp:lastPrinted>
  <dcterms:created xsi:type="dcterms:W3CDTF">2012-09-17T10:12:03Z</dcterms:created>
  <dcterms:modified xsi:type="dcterms:W3CDTF">2026-10-28T15:17:37Z</dcterms:modified>
</cp:coreProperties>
</file>