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06" r:id="rId1"/>
  </p:sldMasterIdLst>
  <p:notesMasterIdLst>
    <p:notesMasterId r:id="rId28"/>
  </p:notesMasterIdLst>
  <p:handoutMasterIdLst>
    <p:handoutMasterId r:id="rId29"/>
  </p:handoutMasterIdLst>
  <p:sldIdLst>
    <p:sldId id="257" r:id="rId2"/>
    <p:sldId id="512" r:id="rId3"/>
    <p:sldId id="511" r:id="rId4"/>
    <p:sldId id="513" r:id="rId5"/>
    <p:sldId id="514" r:id="rId6"/>
    <p:sldId id="515" r:id="rId7"/>
    <p:sldId id="517" r:id="rId8"/>
    <p:sldId id="518" r:id="rId9"/>
    <p:sldId id="519" r:id="rId10"/>
    <p:sldId id="520" r:id="rId11"/>
    <p:sldId id="521" r:id="rId12"/>
    <p:sldId id="522" r:id="rId13"/>
    <p:sldId id="523" r:id="rId14"/>
    <p:sldId id="524" r:id="rId15"/>
    <p:sldId id="525" r:id="rId16"/>
    <p:sldId id="526" r:id="rId17"/>
    <p:sldId id="527" r:id="rId18"/>
    <p:sldId id="528" r:id="rId19"/>
    <p:sldId id="529" r:id="rId20"/>
    <p:sldId id="530" r:id="rId21"/>
    <p:sldId id="531" r:id="rId22"/>
    <p:sldId id="532" r:id="rId23"/>
    <p:sldId id="533" r:id="rId24"/>
    <p:sldId id="534" r:id="rId25"/>
    <p:sldId id="535" r:id="rId26"/>
    <p:sldId id="536" r:id="rId27"/>
  </p:sldIdLst>
  <p:sldSz cx="9144000" cy="6858000" type="screen4x3"/>
  <p:notesSz cx="6797675" cy="9856788"/>
  <p:custShowLst>
    <p:custShow name="Formato instrucciones" id="0">
      <p:sldLst/>
    </p:custShow>
    <p:custShow name="Fases de ejecución" id="1">
      <p:sldLst/>
    </p:custShow>
  </p:custShowLst>
  <p:defaultTextStyle>
    <a:defPPr>
      <a:defRPr lang="en-US"/>
    </a:defPPr>
    <a:lvl1pPr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2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4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6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8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>
          <p15:clr>
            <a:srgbClr val="A4A3A4"/>
          </p15:clr>
        </p15:guide>
        <p15:guide id="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5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866BE4E-65B9-DF29-7B8D-702E5B1DF39A}" name="enrique s. quintana-orti" initials="eq" userId="a136630071d05d78" providerId="Windows Live"/>
  <p188:author id="{864617F1-3C12-A8C1-5CC9-30EF056B68D2}" name="ENRIQUE SALVADOR QUINTANA ORTI" initials="EQ" userId="S::enquior@upv.edu.es::7c37bc33-6bb4-4897-b997-327ef8183af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clrMode="gray"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6600"/>
    <a:srgbClr val="26697A"/>
    <a:srgbClr val="00CC00"/>
    <a:srgbClr val="CCFFCC"/>
    <a:srgbClr val="FFFFFF"/>
    <a:srgbClr val="CC3300"/>
    <a:srgbClr val="9999FF"/>
    <a:srgbClr val="008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789" autoAdjust="0"/>
    <p:restoredTop sz="91005" autoAdjust="0"/>
  </p:normalViewPr>
  <p:slideViewPr>
    <p:cSldViewPr>
      <p:cViewPr varScale="1">
        <p:scale>
          <a:sx n="115" d="100"/>
          <a:sy n="115" d="100"/>
        </p:scale>
        <p:origin x="3304" y="200"/>
      </p:cViewPr>
      <p:guideLst>
        <p:guide orient="horz" pos="4319"/>
        <p:guide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9" d="100"/>
          <a:sy n="69" d="100"/>
        </p:scale>
        <p:origin x="-3584" y="-84"/>
      </p:cViewPr>
      <p:guideLst>
        <p:guide orient="horz" pos="3105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23842"/>
            <a:ext cx="2968663" cy="2828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ctr" anchorCtr="0" compatLnSpc="1">
            <a:prstTxWarp prst="textNoShape">
              <a:avLst/>
            </a:prstTxWarp>
            <a:spAutoFit/>
          </a:bodyPr>
          <a:lstStyle>
            <a:lvl1pPr algn="l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8295" y="123842"/>
            <a:ext cx="2892660" cy="2828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ctr" anchorCtr="0" compatLnSpc="1">
            <a:prstTxWarp prst="textNoShape">
              <a:avLst/>
            </a:prstTxWarp>
            <a:spAutoFit/>
          </a:bodyPr>
          <a:lstStyle>
            <a:lvl1pPr algn="r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552537"/>
            <a:ext cx="2968663" cy="282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  <a:spAutoFit/>
          </a:bodyPr>
          <a:lstStyle>
            <a:lvl1pPr algn="l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8295" y="9552537"/>
            <a:ext cx="2892660" cy="282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  <a:spAutoFit/>
          </a:bodyPr>
          <a:lstStyle>
            <a:lvl1pPr algn="r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E2AEC8A5-E10B-4D8C-B8C5-EBD3EC80F16F}" type="slidenum">
              <a:rPr lang="es-ES_tradnl"/>
              <a:pPr>
                <a:defRPr/>
              </a:pPr>
              <a:t>‹Nº›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6494183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4342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>
            <a:lvl1pPr algn="l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3334" y="1"/>
            <a:ext cx="2944341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>
            <a:lvl1pPr algn="r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399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36625" y="739775"/>
            <a:ext cx="4926013" cy="36957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81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5952" y="4681477"/>
            <a:ext cx="4985772" cy="4435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noProof="0"/>
              <a:t>Haga clic para modificar el estilo de texto del patrón</a:t>
            </a:r>
          </a:p>
          <a:p>
            <a:pPr lvl="1"/>
            <a:r>
              <a:rPr lang="es-ES_tradnl" noProof="0"/>
              <a:t>Segundo nivel</a:t>
            </a:r>
          </a:p>
          <a:p>
            <a:pPr lvl="2"/>
            <a:r>
              <a:rPr lang="es-ES_tradnl" noProof="0"/>
              <a:t>Tercer nivel</a:t>
            </a:r>
          </a:p>
          <a:p>
            <a:pPr lvl="3"/>
            <a:r>
              <a:rPr lang="es-ES_tradnl" noProof="0"/>
              <a:t>Cuarto nivel</a:t>
            </a:r>
          </a:p>
          <a:p>
            <a:pPr lvl="4"/>
            <a:r>
              <a:rPr lang="es-ES_tradnl" noProof="0"/>
              <a:t>Quinto nivel</a:t>
            </a:r>
          </a:p>
        </p:txBody>
      </p:sp>
      <p:sp>
        <p:nvSpPr>
          <p:cNvPr id="81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364484"/>
            <a:ext cx="2944342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</a:bodyPr>
          <a:lstStyle>
            <a:lvl1pPr algn="l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81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3334" y="9364484"/>
            <a:ext cx="2944341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</a:bodyPr>
          <a:lstStyle>
            <a:lvl1pPr algn="r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AB90BAE6-DC3E-4CE4-BA88-EF7C5446036B}" type="slidenum">
              <a:rPr lang="es-ES_tradnl"/>
              <a:pPr>
                <a:defRPr/>
              </a:pPr>
              <a:t>‹Nº›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28883665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48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ECA5636-1F55-41A3-BDB9-3417D041D1D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1</a:t>
            </a:fld>
            <a:endParaRPr lang="es-ES_tradnl" dirty="0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 dirty="0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4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0636707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7"/>
          <p:cNvSpPr/>
          <p:nvPr/>
        </p:nvSpPr>
        <p:spPr>
          <a:xfrm>
            <a:off x="755576" y="141277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50000" t="50000" r="100000" b="1250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5" name="Oval 8"/>
          <p:cNvSpPr/>
          <p:nvPr/>
        </p:nvSpPr>
        <p:spPr>
          <a:xfrm>
            <a:off x="971550" y="1268413"/>
            <a:ext cx="63500" cy="65087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4" name="Title 13"/>
          <p:cNvSpPr>
            <a:spLocks noGrp="1"/>
          </p:cNvSpPr>
          <p:nvPr>
            <p:ph type="ctrTitle"/>
          </p:nvPr>
        </p:nvSpPr>
        <p:spPr>
          <a:xfrm>
            <a:off x="1435608" y="435936"/>
            <a:ext cx="7406640" cy="1472184"/>
          </a:xfrm>
        </p:spPr>
        <p:txBody>
          <a:bodyPr anchor="b"/>
          <a:lstStyle>
            <a:lvl1pPr algn="l" latinLnBrk="0">
              <a:defRPr lang="es-ES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22" name="Subtitle 21"/>
          <p:cNvSpPr>
            <a:spLocks noGrp="1"/>
          </p:cNvSpPr>
          <p:nvPr>
            <p:ph type="subTitle" idx="1"/>
          </p:nvPr>
        </p:nvSpPr>
        <p:spPr>
          <a:xfrm>
            <a:off x="1403648" y="2636912"/>
            <a:ext cx="7406640" cy="1752600"/>
          </a:xfrm>
        </p:spPr>
        <p:txBody>
          <a:bodyPr>
            <a:normAutofit/>
          </a:bodyPr>
          <a:lstStyle>
            <a:lvl1pPr marL="73152" indent="0" algn="l" latinLnBrk="0">
              <a:buNone/>
              <a:defRPr lang="es-ES" sz="24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6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8235F0-53CE-465E-8D3A-9DC1B1486A06}" type="datetime1">
              <a:rPr lang="es-ES" smtClean="0"/>
              <a:pPr>
                <a:defRPr/>
              </a:pPr>
              <a:t>9/8/26</a:t>
            </a:fld>
            <a:endParaRPr/>
          </a:p>
        </p:txBody>
      </p:sp>
      <p:sp>
        <p:nvSpPr>
          <p:cNvPr id="7" name="Footer Placeholder 19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694CD1-4EBB-4CC9-A43D-A4D61A4E6E64}" type="slidenum">
              <a:rPr lang="en-US"/>
              <a:pPr>
                <a:defRPr/>
              </a:pPr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>
            <a:lvl1pPr>
              <a:buClr>
                <a:schemeClr val="accent2">
                  <a:lumMod val="75000"/>
                </a:schemeClr>
              </a:buClr>
              <a:defRPr/>
            </a:lvl1pPr>
            <a:lvl2pPr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  <a:defRPr/>
            </a:lvl2pPr>
          </a:lstStyle>
          <a:p>
            <a:pPr lvl="0"/>
            <a:r>
              <a:rPr lang="es-ES" noProof="0" dirty="0"/>
              <a:t>Haga clic para modificar el estilo de texto del patrón</a:t>
            </a:r>
          </a:p>
          <a:p>
            <a:pPr lvl="1"/>
            <a:r>
              <a:rPr lang="es-ES" noProof="0" dirty="0"/>
              <a:t>Segundo nivel</a:t>
            </a:r>
          </a:p>
          <a:p>
            <a:pPr lvl="2"/>
            <a:r>
              <a:rPr lang="es-ES" noProof="0" dirty="0"/>
              <a:t>Tercer nivel</a:t>
            </a:r>
          </a:p>
          <a:p>
            <a:pPr lvl="3"/>
            <a:r>
              <a:rPr lang="es-ES" noProof="0" dirty="0"/>
              <a:t>Cuarto nivel</a:t>
            </a:r>
          </a:p>
          <a:p>
            <a:pPr lvl="4"/>
            <a:r>
              <a:rPr lang="es-ES" noProof="0" dirty="0"/>
              <a:t>Quinto nivel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/>
            </a:lvl1pPr>
          </a:lstStyle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"/>
          <p:cNvSpPr/>
          <p:nvPr/>
        </p:nvSpPr>
        <p:spPr>
          <a:xfrm>
            <a:off x="2282825" y="0"/>
            <a:ext cx="685800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5" name="Rectangle 9"/>
          <p:cNvSpPr/>
          <p:nvPr/>
        </p:nvSpPr>
        <p:spPr bwMode="invGray">
          <a:xfrm>
            <a:off x="2286000" y="0"/>
            <a:ext cx="7620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6" name="Oval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50000" t="50000" r="100000" b="1250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7" name="Oval 8"/>
          <p:cNvSpPr/>
          <p:nvPr/>
        </p:nvSpPr>
        <p:spPr>
          <a:xfrm>
            <a:off x="2408238" y="2746375"/>
            <a:ext cx="63500" cy="63500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 latinLnBrk="0">
              <a:lnSpc>
                <a:spcPts val="4500"/>
              </a:lnSpc>
              <a:buNone/>
              <a:defRPr lang="es-ES" sz="4000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8392" y="1100138"/>
            <a:ext cx="6400800" cy="1509712"/>
          </a:xfrm>
        </p:spPr>
        <p:txBody>
          <a:bodyPr anchor="b"/>
          <a:lstStyle>
            <a:lvl1pPr marL="27432" indent="0" latinLnBrk="0">
              <a:lnSpc>
                <a:spcPts val="2300"/>
              </a:lnSpc>
              <a:spcBef>
                <a:spcPts val="0"/>
              </a:spcBef>
              <a:buNone/>
              <a:defRPr lang="es-ES"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lang="es-ES"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lang="es-ES"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lang="es-ES"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lang="es-ES"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749D96-D3F7-464B-AE22-5BC30077CC73}" type="datetime1">
              <a:rPr lang="es-ES" smtClean="0"/>
              <a:pPr>
                <a:defRPr/>
              </a:pPr>
              <a:t>9/8/26</a:t>
            </a:fld>
            <a:endParaRPr dirty="0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99BF12-8ABE-4E61-9E56-D7A65AFDF1BE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Contenido 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e 8"/>
          <p:cNvSpPr/>
          <p:nvPr/>
        </p:nvSpPr>
        <p:spPr>
          <a:xfrm>
            <a:off x="-815975" y="-815975"/>
            <a:ext cx="1638300" cy="16383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6" name="Oval 9"/>
          <p:cNvSpPr/>
          <p:nvPr/>
        </p:nvSpPr>
        <p:spPr>
          <a:xfrm>
            <a:off x="168275" y="20638"/>
            <a:ext cx="1703388" cy="1703387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7" name="Donut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8" name="Rectangle 11"/>
          <p:cNvSpPr/>
          <p:nvPr/>
        </p:nvSpPr>
        <p:spPr>
          <a:xfrm>
            <a:off x="539750" y="0"/>
            <a:ext cx="8624888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3568" y="116632"/>
            <a:ext cx="8136904" cy="936104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3568" y="1340768"/>
            <a:ext cx="3888432" cy="4824536"/>
          </a:xfrm>
        </p:spPr>
        <p:txBody>
          <a:bodyPr>
            <a:normAutofit/>
          </a:bodyPr>
          <a:lstStyle>
            <a:lvl1pPr latinLnBrk="0">
              <a:defRPr lang="es-ES" sz="2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s-ES" sz="20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 lang="es-ES" sz="18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 lang="es-ES" sz="16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 lang="es-E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60032" y="1340768"/>
            <a:ext cx="4001648" cy="4824536"/>
          </a:xfrm>
        </p:spPr>
        <p:txBody>
          <a:bodyPr>
            <a:normAutofit/>
          </a:bodyPr>
          <a:lstStyle>
            <a:lvl1pPr algn="l" rtl="0" eaLnBrk="0" fontAlgn="base" latinLnBrk="0" hangingPunct="0">
              <a:spcAft>
                <a:spcPct val="0"/>
              </a:spcAft>
              <a:defRPr lang="es-ES" sz="2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s-ES" sz="20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s-ES" sz="18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s-ES" sz="16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s-E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9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2C7DEBA-46E8-4090-8DBD-6334ED08EC11}" type="datetime1">
              <a:rPr lang="es-ES" smtClean="0"/>
              <a:pPr>
                <a:defRPr/>
              </a:pPr>
              <a:t>9/8/26</a:t>
            </a:fld>
            <a:endParaRPr dirty="0"/>
          </a:p>
        </p:txBody>
      </p:sp>
      <p:sp>
        <p:nvSpPr>
          <p:cNvPr id="10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11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CB5AE4-A292-4B6C-BA7D-67E7BB52BE03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50B0E74-F7AB-4C11-B164-731583444FAF}" type="datetime1">
              <a:rPr lang="es-ES" smtClean="0"/>
              <a:pPr>
                <a:defRPr/>
              </a:pPr>
              <a:t>9/8/26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035083-A155-4028-8A67-2E61E721E30B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/>
          <p:nvPr/>
        </p:nvSpPr>
        <p:spPr>
          <a:xfrm>
            <a:off x="1014413" y="0"/>
            <a:ext cx="8129587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3" name="Rectangle 5"/>
          <p:cNvSpPr/>
          <p:nvPr/>
        </p:nvSpPr>
        <p:spPr bwMode="invGray">
          <a:xfrm>
            <a:off x="1014413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4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FB24627-BD8E-4DC4-8228-A63DC6655C26}" type="datetime1">
              <a:rPr lang="es-ES" smtClean="0"/>
              <a:pPr>
                <a:defRPr/>
              </a:pPr>
              <a:t>9/8/26</a:t>
            </a:fld>
            <a:endParaRPr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63512A6-B289-4C6F-A5FC-D4B27A6C4E6A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273E27-0EC0-4410-8E63-208E224DAD01}" type="datetime1">
              <a:rPr lang="es-ES" smtClean="0"/>
              <a:pPr>
                <a:defRPr/>
              </a:pPr>
              <a:t>9/8/26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A7F2BF9-80B0-46AE-B211-BBDCC93C2B41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274639"/>
            <a:ext cx="18288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274640"/>
            <a:ext cx="55626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54C3E5-1D71-42B6-A49B-3D9C371461FA}" type="datetime1">
              <a:rPr lang="es-ES" smtClean="0"/>
              <a:pPr>
                <a:defRPr/>
              </a:pPr>
              <a:t>9/8/26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8DEDAF-2978-4C4D-95C2-0057A2486415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0" descr="logoDISCA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7596188" y="5516563"/>
            <a:ext cx="1436687" cy="581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Rectangle 2"/>
          <p:cNvSpPr txBox="1">
            <a:spLocks noChangeArrowheads="1"/>
          </p:cNvSpPr>
          <p:nvPr userDrawn="1"/>
        </p:nvSpPr>
        <p:spPr>
          <a:xfrm>
            <a:off x="755650" y="115888"/>
            <a:ext cx="7772400" cy="1676400"/>
          </a:xfrm>
          <a:prstGeom prst="rect">
            <a:avLst/>
          </a:prstGeom>
        </p:spPr>
        <p:txBody>
          <a:bodyPr anchor="ctr"/>
          <a:lstStyle>
            <a:lvl1pPr>
              <a:defRPr sz="4000"/>
            </a:lvl1pPr>
          </a:lstStyle>
          <a:p>
            <a:pPr eaLnBrk="1" fontAlgn="auto" hangingPunct="1">
              <a:spcBef>
                <a:spcPct val="0"/>
              </a:spcBef>
              <a:spcAft>
                <a:spcPts val="0"/>
              </a:spcAft>
              <a:buFontTx/>
              <a:buNone/>
              <a:defRPr/>
            </a:pPr>
            <a:r>
              <a:rPr lang="es-ES" dirty="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Estructura de Computadores</a:t>
            </a:r>
            <a:endParaRPr lang="ca-ES" dirty="0">
              <a:solidFill>
                <a:schemeClr val="tx2">
                  <a:satMod val="130000"/>
                </a:schemeClr>
              </a:solidFill>
              <a:effectLst>
                <a:outerShdw blurRad="50000" dist="30000" dir="5400000" algn="tl" rotWithShape="0">
                  <a:srgbClr val="000000">
                    <a:alpha val="30000"/>
                  </a:srgbClr>
                </a:outerShdw>
              </a:effectLst>
              <a:latin typeface="+mj-lt"/>
              <a:ea typeface="+mj-ea"/>
              <a:cs typeface="+mj-cs"/>
            </a:endParaRPr>
          </a:p>
        </p:txBody>
      </p:sp>
      <p:sp>
        <p:nvSpPr>
          <p:cNvPr id="5" name="4 CuadroTexto"/>
          <p:cNvSpPr txBox="1"/>
          <p:nvPr userDrawn="1"/>
        </p:nvSpPr>
        <p:spPr>
          <a:xfrm>
            <a:off x="2565400" y="1844675"/>
            <a:ext cx="4152900" cy="9048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s-ES" sz="2400" dirty="0">
                <a:solidFill>
                  <a:schemeClr val="accent1">
                    <a:lumMod val="5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Grado de Ingeniería Informática</a:t>
            </a:r>
          </a:p>
          <a:p>
            <a:pPr>
              <a:defRPr/>
            </a:pPr>
            <a:r>
              <a:rPr lang="es-ES" sz="2400" dirty="0">
                <a:solidFill>
                  <a:schemeClr val="accent1">
                    <a:lumMod val="5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ETSINF</a:t>
            </a:r>
          </a:p>
        </p:txBody>
      </p:sp>
      <p:sp>
        <p:nvSpPr>
          <p:cNvPr id="7" name="Oval 7"/>
          <p:cNvSpPr/>
          <p:nvPr userDrawn="1"/>
        </p:nvSpPr>
        <p:spPr>
          <a:xfrm>
            <a:off x="204788" y="1844675"/>
            <a:ext cx="1271587" cy="1270000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8" name="Pie 6"/>
          <p:cNvSpPr/>
          <p:nvPr userDrawn="1"/>
        </p:nvSpPr>
        <p:spPr>
          <a:xfrm>
            <a:off x="-1422400" y="-1295400"/>
            <a:ext cx="2844800" cy="25908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9" name="Oval 7"/>
          <p:cNvSpPr/>
          <p:nvPr userDrawn="1"/>
        </p:nvSpPr>
        <p:spPr>
          <a:xfrm>
            <a:off x="7440613" y="1376363"/>
            <a:ext cx="1452562" cy="1450975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0" name="Donut 10"/>
          <p:cNvSpPr/>
          <p:nvPr userDrawn="1"/>
        </p:nvSpPr>
        <p:spPr>
          <a:xfrm rot="2315675">
            <a:off x="7097228" y="2075521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1" name="Donut 10"/>
          <p:cNvSpPr/>
          <p:nvPr userDrawn="1"/>
        </p:nvSpPr>
        <p:spPr>
          <a:xfrm rot="2315675">
            <a:off x="3025756" y="5560002"/>
            <a:ext cx="560076" cy="548587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2" name="11 Arco de bloque"/>
          <p:cNvSpPr/>
          <p:nvPr userDrawn="1"/>
        </p:nvSpPr>
        <p:spPr>
          <a:xfrm rot="5400000">
            <a:off x="-1404144" y="1988344"/>
            <a:ext cx="2808287" cy="2809876"/>
          </a:xfrm>
          <a:prstGeom prst="blockArc">
            <a:avLst>
              <a:gd name="adj1" fmla="val 10800000"/>
              <a:gd name="adj2" fmla="val 21582511"/>
              <a:gd name="adj3" fmla="val 0"/>
            </a:avLst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3" name="12 Arco de bloque"/>
          <p:cNvSpPr/>
          <p:nvPr userDrawn="1"/>
        </p:nvSpPr>
        <p:spPr>
          <a:xfrm rot="5400000">
            <a:off x="6696075" y="4410075"/>
            <a:ext cx="4895850" cy="4895850"/>
          </a:xfrm>
          <a:prstGeom prst="blockArc">
            <a:avLst>
              <a:gd name="adj1" fmla="val 5434997"/>
              <a:gd name="adj2" fmla="val 10779070"/>
              <a:gd name="adj3" fmla="val 78"/>
            </a:avLst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0240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115616" y="3356992"/>
            <a:ext cx="7412620" cy="1676400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s-ES"/>
              <a:t>Clic para editar estilo título patrón</a:t>
            </a:r>
            <a:endParaRPr lang="ca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7"/>
          <p:cNvSpPr/>
          <p:nvPr userDrawn="1"/>
        </p:nvSpPr>
        <p:spPr>
          <a:xfrm>
            <a:off x="250825" y="5013325"/>
            <a:ext cx="1703388" cy="1701800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7" name="Pie 6"/>
          <p:cNvSpPr/>
          <p:nvPr/>
        </p:nvSpPr>
        <p:spPr>
          <a:xfrm>
            <a:off x="-815975" y="-815975"/>
            <a:ext cx="1638300" cy="16383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8" name="Oval 7"/>
          <p:cNvSpPr/>
          <p:nvPr/>
        </p:nvSpPr>
        <p:spPr>
          <a:xfrm>
            <a:off x="168275" y="20638"/>
            <a:ext cx="1703388" cy="1703387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1" name="Donut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2" name="Rectangle 11"/>
          <p:cNvSpPr/>
          <p:nvPr/>
        </p:nvSpPr>
        <p:spPr>
          <a:xfrm>
            <a:off x="539750" y="0"/>
            <a:ext cx="860425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5" name="Title Placeholder 4"/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s-ES" noProof="0" dirty="0"/>
              <a:t>Haga clic el estilo de título del patrón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"/>
          </p:nvPr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es-ES" noProof="0" dirty="0"/>
              <a:t>Haga clic para modificar los estilos de título del patrón</a:t>
            </a:r>
          </a:p>
          <a:p>
            <a:pPr lvl="1"/>
            <a:r>
              <a:rPr lang="es-ES" noProof="0" dirty="0"/>
              <a:t>Segundo nivel</a:t>
            </a:r>
          </a:p>
          <a:p>
            <a:pPr lvl="2"/>
            <a:r>
              <a:rPr lang="es-ES" noProof="0" dirty="0"/>
              <a:t>Tercer nivel</a:t>
            </a:r>
          </a:p>
          <a:p>
            <a:pPr lvl="3"/>
            <a:r>
              <a:rPr lang="es-ES" noProof="0" dirty="0"/>
              <a:t>Cuarto nivel</a:t>
            </a:r>
          </a:p>
          <a:p>
            <a:pPr lvl="4"/>
            <a:r>
              <a:rPr lang="es-ES" noProof="0" dirty="0"/>
              <a:t>Quinto nivel</a:t>
            </a:r>
          </a:p>
          <a:p>
            <a:pPr lvl="5"/>
            <a:r>
              <a:rPr lang="es-ES" noProof="0" dirty="0"/>
              <a:t>Sexto nivel</a:t>
            </a:r>
          </a:p>
          <a:p>
            <a:pPr lvl="6"/>
            <a:r>
              <a:rPr lang="es-ES" noProof="0" dirty="0"/>
              <a:t>Séptimo nivel</a:t>
            </a:r>
          </a:p>
          <a:p>
            <a:pPr lvl="7"/>
            <a:r>
              <a:rPr lang="es-ES" noProof="0" dirty="0"/>
              <a:t>Octavo nivel</a:t>
            </a:r>
          </a:p>
          <a:p>
            <a:pPr lvl="8"/>
            <a:r>
              <a:rPr lang="es-ES" noProof="0" dirty="0"/>
              <a:t>Noveno nivel</a:t>
            </a:r>
          </a:p>
        </p:txBody>
      </p:sp>
      <p:sp>
        <p:nvSpPr>
          <p:cNvPr id="24" name="Date Placeholder 23"/>
          <p:cNvSpPr>
            <a:spLocks noGrp="1"/>
          </p:cNvSpPr>
          <p:nvPr>
            <p:ph type="dt" sz="half" idx="2"/>
          </p:nvPr>
        </p:nvSpPr>
        <p:spPr>
          <a:xfrm>
            <a:off x="3635375" y="6529388"/>
            <a:ext cx="2133600" cy="328612"/>
          </a:xfrm>
          <a:prstGeom prst="rect">
            <a:avLst/>
          </a:prstGeom>
        </p:spPr>
        <p:txBody>
          <a:bodyPr anchor="b"/>
          <a:lstStyle>
            <a:lvl1pPr algn="r" latinLnBrk="0">
              <a:buFont typeface="Wingdings" pitchFamily="48" charset="2"/>
              <a:buNone/>
              <a:defRPr lang="es-ES" sz="1100">
                <a:solidFill>
                  <a:schemeClr val="bg2">
                    <a:shade val="50000"/>
                    <a:satMod val="200000"/>
                  </a:schemeClr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D3CC5109-EACF-4D29-A965-72F8EF4B326C}" type="datetime1">
              <a:rPr lang="es-ES" smtClean="0"/>
              <a:pPr>
                <a:defRPr/>
              </a:pPr>
              <a:t>9/8/26</a:t>
            </a:fld>
            <a:endParaRPr lang="es-ES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>
          <a:xfrm>
            <a:off x="5795963" y="6529388"/>
            <a:ext cx="2895600" cy="328612"/>
          </a:xfrm>
          <a:prstGeom prst="rect">
            <a:avLst/>
          </a:prstGeom>
        </p:spPr>
        <p:txBody>
          <a:bodyPr anchor="b"/>
          <a:lstStyle>
            <a:lvl1pPr latinLnBrk="0">
              <a:buFont typeface="Wingdings" pitchFamily="48" charset="2"/>
              <a:buNone/>
              <a:defRPr lang="es-ES" sz="1100">
                <a:solidFill>
                  <a:schemeClr val="bg2">
                    <a:shade val="50000"/>
                  </a:schemeClr>
                </a:solidFill>
                <a:effectLst/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r>
              <a:rPr lang="es-ES"/>
              <a:t>Curso 2011-2012</a:t>
            </a:r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4"/>
          </p:nvPr>
        </p:nvSpPr>
        <p:spPr>
          <a:xfrm>
            <a:off x="8686800" y="6529388"/>
            <a:ext cx="457200" cy="328612"/>
          </a:xfrm>
          <a:prstGeom prst="rect">
            <a:avLst/>
          </a:prstGeom>
        </p:spPr>
        <p:txBody>
          <a:bodyPr anchor="b"/>
          <a:lstStyle>
            <a:lvl1pPr algn="ctr" latinLnBrk="0">
              <a:buFont typeface="Wingdings" pitchFamily="48" charset="2"/>
              <a:buNone/>
              <a:defRPr lang="es-ES" sz="1000">
                <a:solidFill>
                  <a:schemeClr val="bg2">
                    <a:shade val="50000"/>
                    <a:satMod val="200000"/>
                  </a:schemeClr>
                </a:solidFill>
                <a:effectLst/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9F24CC15-B2D5-4EA3-B498-48A14C7038C6}" type="slidenum">
              <a:rPr lang="en-US" smtClean="0"/>
              <a:pPr>
                <a:defRPr/>
              </a:pPr>
              <a:t>‹Nº›</a:t>
            </a:fld>
            <a:endParaRPr lang="en-US" dirty="0"/>
          </a:p>
        </p:txBody>
      </p:sp>
      <p:sp>
        <p:nvSpPr>
          <p:cNvPr id="15" name="Rectangle 14"/>
          <p:cNvSpPr/>
          <p:nvPr/>
        </p:nvSpPr>
        <p:spPr bwMode="invGray">
          <a:xfrm>
            <a:off x="539750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5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4" name="13 Rectángulo"/>
          <p:cNvSpPr/>
          <p:nvPr userDrawn="1"/>
        </p:nvSpPr>
        <p:spPr>
          <a:xfrm rot="16200000">
            <a:off x="-799306" y="5796756"/>
            <a:ext cx="1860550" cy="26193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buFont typeface="Wingdings" pitchFamily="48" charset="2"/>
              <a:buNone/>
              <a:defRPr/>
            </a:pPr>
            <a:r>
              <a:rPr lang="es-ES" sz="1100" dirty="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Estructura de Computadores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lang="es-ES" sz="3200" kern="1200">
          <a:solidFill>
            <a:srgbClr val="572314"/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9pPr>
    </p:titleStyle>
    <p:bodyStyle>
      <a:lvl1pPr marL="365125" indent="-282575" algn="l" rtl="0" eaLnBrk="0" fontAlgn="base" hangingPunct="0">
        <a:lnSpc>
          <a:spcPts val="3000"/>
        </a:lnSpc>
        <a:spcBef>
          <a:spcPts val="600"/>
        </a:spcBef>
        <a:spcAft>
          <a:spcPct val="0"/>
        </a:spcAft>
        <a:buClr>
          <a:schemeClr val="accent1"/>
        </a:buClr>
        <a:buSzPct val="80000"/>
        <a:buFont typeface="Wingdings 2" pitchFamily="18" charset="2"/>
        <a:buChar char=""/>
        <a:defRPr lang="es-ES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39763" indent="-236538" algn="l" rtl="0" eaLnBrk="0" fontAlgn="base" hangingPunct="0">
        <a:lnSpc>
          <a:spcPts val="3000"/>
        </a:lnSpc>
        <a:spcBef>
          <a:spcPts val="550"/>
        </a:spcBef>
        <a:spcAft>
          <a:spcPct val="0"/>
        </a:spcAft>
        <a:buClr>
          <a:srgbClr val="C58D01"/>
        </a:buClr>
        <a:buSzPct val="85000"/>
        <a:buFont typeface="Wingdings" pitchFamily="2" charset="2"/>
        <a:buChar char="ü"/>
        <a:defRPr lang="es-ES"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885825" indent="-228600" algn="l" rtl="0" eaLnBrk="0" fontAlgn="base" hangingPunct="0">
        <a:lnSpc>
          <a:spcPts val="2800"/>
        </a:lnSpc>
        <a:spcBef>
          <a:spcPct val="20000"/>
        </a:spcBef>
        <a:spcAft>
          <a:spcPct val="0"/>
        </a:spcAft>
        <a:buFont typeface="Wingdings 2" pitchFamily="18" charset="2"/>
        <a:buChar char=""/>
        <a:defRPr lang="es-ES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173038" algn="l" rtl="0" eaLnBrk="0" fontAlgn="base" hangingPunct="0">
        <a:spcBef>
          <a:spcPct val="20000"/>
        </a:spcBef>
        <a:spcAft>
          <a:spcPct val="0"/>
        </a:spcAft>
        <a:buClr>
          <a:srgbClr val="C32D2E"/>
        </a:buClr>
        <a:buFont typeface="Wingdings 2" pitchFamily="18" charset="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96988" indent="-182563" algn="l" rtl="0" eaLnBrk="0" fontAlgn="base" hangingPunct="0">
        <a:spcBef>
          <a:spcPct val="20000"/>
        </a:spcBef>
        <a:spcAft>
          <a:spcPct val="0"/>
        </a:spcAft>
        <a:buClr>
          <a:srgbClr val="84AA33"/>
        </a:buClr>
        <a:buFont typeface="Wingdings 2" pitchFamily="18" charset="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spcBef>
          <a:spcPct val="20000"/>
        </a:spcBef>
        <a:buClr>
          <a:schemeClr val="accent5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13"/>
          <p:cNvSpPr>
            <a:spLocks noGrp="1" noChangeArrowheads="1"/>
          </p:cNvSpPr>
          <p:nvPr>
            <p:ph type="ctrTitle"/>
          </p:nvPr>
        </p:nvSpPr>
        <p:spPr>
          <a:xfrm>
            <a:off x="900113" y="3068638"/>
            <a:ext cx="7772400" cy="1676400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ES_tradnl" noProof="0" dirty="0">
                <a:solidFill>
                  <a:schemeClr val="tx2">
                    <a:satMod val="130000"/>
                  </a:schemeClr>
                </a:solidFill>
              </a:rPr>
              <a:t>Tema 4:  Aritmética de coma flotante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29A85F36-A8CB-45D3-98A3-A5C30F7AB61A}"/>
              </a:ext>
            </a:extLst>
          </p:cNvPr>
          <p:cNvSpPr txBox="1"/>
          <p:nvPr/>
        </p:nvSpPr>
        <p:spPr>
          <a:xfrm>
            <a:off x="4479634" y="530120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sz="1800" b="1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9A7594-A60C-93C8-8AD6-3F02BD9D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>
                <a:latin typeface="Arial" panose="020B0604020202020204" pitchFamily="34" charset="0"/>
                <a:cs typeface="Arial" panose="020B0604020202020204" pitchFamily="34" charset="0"/>
              </a:rPr>
              <a:t>Contenido</a:t>
            </a:r>
            <a:endParaRPr lang="es-ES_tradn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E743335-B149-0504-FFE0-6C0785B04E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>
              <a:buNone/>
            </a:pPr>
            <a:r>
              <a:rPr lang="es-ES_tradnl" sz="2000" dirty="0">
                <a:latin typeface="Arial" panose="020B0604020202020204" pitchFamily="34" charset="0"/>
                <a:cs typeface="Arial" panose="020B0604020202020204" pitchFamily="34" charset="0"/>
              </a:rPr>
              <a:t>1 – Introducción</a:t>
            </a:r>
          </a:p>
          <a:p>
            <a:pPr lvl="1"/>
            <a:r>
              <a:rPr lang="es-ES_tradnl" sz="1800" dirty="0">
                <a:latin typeface="Arial" panose="020B0604020202020204" pitchFamily="34" charset="0"/>
                <a:cs typeface="Arial" panose="020B0604020202020204" pitchFamily="34" charset="0"/>
              </a:rPr>
              <a:t>Medida del rendimiento</a:t>
            </a:r>
          </a:p>
          <a:p>
            <a:pPr marL="82550" indent="0">
              <a:buNone/>
            </a:pPr>
            <a:r>
              <a:rPr lang="es-ES_tradnl" sz="2000" dirty="0">
                <a:latin typeface="Arial" panose="020B0604020202020204" pitchFamily="34" charset="0"/>
                <a:cs typeface="Arial" panose="020B0604020202020204" pitchFamily="34" charset="0"/>
              </a:rPr>
              <a:t>2 – La norma IEEE y su implementación en RISC-V</a:t>
            </a:r>
          </a:p>
          <a:p>
            <a:pPr lvl="1"/>
            <a:r>
              <a:rPr lang="es-ES_tradnl" sz="1800" dirty="0">
                <a:cs typeface="Calibri" panose="020F0502020204030204" pitchFamily="34" charset="0"/>
              </a:rPr>
              <a:t>Formato, valores especiales, redondeo</a:t>
            </a:r>
          </a:p>
          <a:p>
            <a:pPr lvl="1"/>
            <a:r>
              <a:rPr lang="es-ES_tradnl" sz="1800" dirty="0">
                <a:cs typeface="Calibri" panose="020F0502020204030204" pitchFamily="34" charset="0"/>
              </a:rPr>
              <a:t>Visión del programador: banco de registros y movimiento de datos</a:t>
            </a:r>
          </a:p>
          <a:p>
            <a:pPr lvl="1"/>
            <a:r>
              <a:rPr lang="es-ES_tradnl" sz="1800" dirty="0">
                <a:cs typeface="Calibri" panose="020F0502020204030204" pitchFamily="34" charset="0"/>
              </a:rPr>
              <a:t>Juego de instrucciones de coma flotante</a:t>
            </a:r>
          </a:p>
          <a:p>
            <a:pPr marL="82550" indent="0">
              <a:buNone/>
            </a:pPr>
            <a:r>
              <a:rPr lang="es-ES_tradnl" sz="2000" dirty="0">
                <a:latin typeface="Arial" panose="020B0604020202020204" pitchFamily="34" charset="0"/>
                <a:cs typeface="Arial" panose="020B0604020202020204" pitchFamily="34" charset="0"/>
              </a:rPr>
              <a:t>3 – </a:t>
            </a:r>
            <a:r>
              <a:rPr lang="es-ES_tradnl" sz="2000" dirty="0">
                <a:cs typeface="Calibri" panose="020F0502020204030204" pitchFamily="34" charset="0"/>
              </a:rPr>
              <a:t>Operadores de coma flotante</a:t>
            </a:r>
            <a:endParaRPr lang="es-ES_tradnl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800" dirty="0">
                <a:cs typeface="Calibri" panose="020F0502020204030204" pitchFamily="34" charset="0"/>
              </a:rPr>
              <a:t>Operador de cambio de signo</a:t>
            </a:r>
          </a:p>
          <a:p>
            <a:pPr lvl="1"/>
            <a:r>
              <a:rPr lang="es-ES_tradnl" sz="1800" dirty="0">
                <a:cs typeface="Calibri" panose="020F0502020204030204" pitchFamily="34" charset="0"/>
              </a:rPr>
              <a:t>Operadores de conversión de tipo</a:t>
            </a:r>
          </a:p>
          <a:p>
            <a:pPr lvl="1"/>
            <a:r>
              <a:rPr lang="es-ES_tradnl" sz="1800" dirty="0">
                <a:cs typeface="Calibri" panose="020F0502020204030204" pitchFamily="34" charset="0"/>
              </a:rPr>
              <a:t>Operador de multiplicación</a:t>
            </a:r>
            <a:endParaRPr lang="es-ES_tradnl" sz="1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A285B0B-FB34-C3E8-274F-49AB18DA6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mtClean="0"/>
              <a:pPr>
                <a:defRPr/>
              </a:pPr>
              <a:t>2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5444075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04FB66-D502-B9F6-0158-372EF5BA3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endParaRPr lang="es-ES_tradn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5622AA2-7302-1B5A-A537-7AC38D09CC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</a:pPr>
            <a:r>
              <a:rPr lang="es-ES_tradnl" dirty="0"/>
              <a:t>Patterson, D.A., Hennessy, J.L., “</a:t>
            </a:r>
            <a:r>
              <a:rPr lang="es-ES_tradnl" dirty="0" err="1"/>
              <a:t>Computer</a:t>
            </a:r>
            <a:r>
              <a:rPr lang="es-ES_tradnl" dirty="0"/>
              <a:t> </a:t>
            </a:r>
            <a:r>
              <a:rPr lang="es-ES_tradnl" dirty="0" err="1"/>
              <a:t>Organizationand</a:t>
            </a:r>
            <a:r>
              <a:rPr lang="es-ES_tradnl" dirty="0"/>
              <a:t> </a:t>
            </a:r>
            <a:r>
              <a:rPr lang="es-ES_tradnl" dirty="0" err="1"/>
              <a:t>Design</a:t>
            </a:r>
            <a:r>
              <a:rPr lang="es-ES_tradnl" dirty="0"/>
              <a:t> RISC-V </a:t>
            </a:r>
            <a:r>
              <a:rPr lang="es-ES_tradnl" dirty="0" err="1"/>
              <a:t>Edition</a:t>
            </a:r>
            <a:r>
              <a:rPr lang="es-ES_tradnl" dirty="0"/>
              <a:t>: The Hardware-Software Interface,” 2ª edición, Ed. MK, 2020</a:t>
            </a:r>
          </a:p>
          <a:p>
            <a:pPr lvl="1">
              <a:buNone/>
            </a:pPr>
            <a:r>
              <a:rPr lang="es-ES_tradnl" dirty="0"/>
              <a:t>Stallings, W. “Organización y Arquitectura de Computadores (7a ed.)”, Prentice Hall, capítulo 9</a:t>
            </a:r>
          </a:p>
          <a:p>
            <a:pPr lvl="1">
              <a:buNone/>
            </a:pPr>
            <a:r>
              <a:rPr lang="es-ES_tradnl" dirty="0"/>
              <a:t>Goldberg, D. “</a:t>
            </a:r>
            <a:r>
              <a:rPr lang="es-ES_tradnl" dirty="0" err="1"/>
              <a:t>Computer</a:t>
            </a:r>
            <a:r>
              <a:rPr lang="es-ES_tradnl" dirty="0"/>
              <a:t> </a:t>
            </a:r>
            <a:r>
              <a:rPr lang="es-ES_tradnl" dirty="0" err="1"/>
              <a:t>Arithmetic</a:t>
            </a:r>
            <a:r>
              <a:rPr lang="es-ES_tradnl" dirty="0"/>
              <a:t>” </a:t>
            </a:r>
          </a:p>
          <a:p>
            <a:pPr lvl="2"/>
            <a:r>
              <a:rPr lang="es-ES_tradnl" dirty="0"/>
              <a:t>Apéndice H de J. L. Hennessy, D. L. Patterson: </a:t>
            </a:r>
            <a:r>
              <a:rPr lang="es-ES_tradnl" dirty="0" err="1"/>
              <a:t>Computer</a:t>
            </a:r>
            <a:r>
              <a:rPr lang="es-ES_tradnl" dirty="0"/>
              <a:t> </a:t>
            </a:r>
            <a:r>
              <a:rPr lang="es-ES_tradnl" dirty="0" err="1"/>
              <a:t>Architecture</a:t>
            </a:r>
            <a:r>
              <a:rPr lang="es-ES_tradnl" dirty="0"/>
              <a:t>, a </a:t>
            </a:r>
            <a:r>
              <a:rPr lang="es-ES_tradnl" dirty="0" err="1"/>
              <a:t>Quantitative</a:t>
            </a:r>
            <a:r>
              <a:rPr lang="es-ES_tradnl" dirty="0"/>
              <a:t> </a:t>
            </a:r>
            <a:r>
              <a:rPr lang="es-ES_tradnl" dirty="0" err="1"/>
              <a:t>Approach</a:t>
            </a:r>
            <a:r>
              <a:rPr lang="es-ES_tradnl" dirty="0"/>
              <a:t>, 3ª edición</a:t>
            </a:r>
          </a:p>
          <a:p>
            <a:pPr lvl="2"/>
            <a:r>
              <a:rPr lang="es-ES_tradnl" dirty="0"/>
              <a:t>Disponible en castellano en la 1ª edición en McGraw-Hill</a:t>
            </a:r>
          </a:p>
          <a:p>
            <a:pPr lvl="1"/>
            <a:r>
              <a:rPr lang="es-ES_tradnl" dirty="0"/>
              <a:t>Goldberg, D.  “</a:t>
            </a:r>
            <a:r>
              <a:rPr lang="es-ES_tradnl" dirty="0" err="1"/>
              <a:t>What</a:t>
            </a:r>
            <a:r>
              <a:rPr lang="es-ES_tradnl" dirty="0"/>
              <a:t> </a:t>
            </a:r>
            <a:r>
              <a:rPr lang="es-ES_tradnl" dirty="0" err="1"/>
              <a:t>every</a:t>
            </a:r>
            <a:r>
              <a:rPr lang="es-ES_tradnl" dirty="0"/>
              <a:t> </a:t>
            </a:r>
            <a:r>
              <a:rPr lang="es-ES_tradnl" dirty="0" err="1"/>
              <a:t>computer</a:t>
            </a:r>
            <a:r>
              <a:rPr lang="es-ES_tradnl" dirty="0"/>
              <a:t> </a:t>
            </a:r>
            <a:r>
              <a:rPr lang="es-ES_tradnl" dirty="0" err="1"/>
              <a:t>scientist</a:t>
            </a:r>
            <a:r>
              <a:rPr lang="es-ES_tradnl" dirty="0"/>
              <a:t> </a:t>
            </a:r>
            <a:r>
              <a:rPr lang="es-ES_tradnl" dirty="0" err="1"/>
              <a:t>should</a:t>
            </a:r>
            <a:r>
              <a:rPr lang="es-ES_tradnl" dirty="0"/>
              <a:t> </a:t>
            </a:r>
            <a:r>
              <a:rPr lang="es-ES_tradnl" dirty="0" err="1"/>
              <a:t>know</a:t>
            </a:r>
            <a:r>
              <a:rPr lang="es-ES_tradnl" dirty="0"/>
              <a:t> </a:t>
            </a:r>
            <a:r>
              <a:rPr lang="es-ES_tradnl" dirty="0" err="1"/>
              <a:t>about</a:t>
            </a:r>
            <a:r>
              <a:rPr lang="es-ES_tradnl" dirty="0"/>
              <a:t> </a:t>
            </a:r>
            <a:r>
              <a:rPr lang="es-ES_tradnl" dirty="0" err="1"/>
              <a:t>floating-point</a:t>
            </a:r>
            <a:r>
              <a:rPr lang="es-ES_tradnl" dirty="0"/>
              <a:t> </a:t>
            </a:r>
            <a:r>
              <a:rPr lang="es-ES_tradnl" dirty="0" err="1"/>
              <a:t>arithmetic</a:t>
            </a:r>
            <a:r>
              <a:rPr lang="es-ES_tradnl" dirty="0"/>
              <a:t>”</a:t>
            </a:r>
          </a:p>
          <a:p>
            <a:pPr lvl="2"/>
            <a:r>
              <a:rPr lang="es-ES_tradnl" dirty="0"/>
              <a:t>PDF (accesible en muchos sitios de la web)</a:t>
            </a:r>
          </a:p>
          <a:p>
            <a:endParaRPr lang="es-ES_tradnl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1A4CA83-9C10-6B3C-D601-63A35C6CE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mtClean="0"/>
              <a:pPr>
                <a:defRPr/>
              </a:pPr>
              <a:t>3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6598077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3F89B-FB5B-B4EB-31E1-080839C42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Introducción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B730664-A8E5-B2CD-3C16-8601A228CC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dirty="0"/>
              <a:t>La aritmética de coma flotante (CF)</a:t>
            </a:r>
          </a:p>
          <a:p>
            <a:pPr lvl="1"/>
            <a:r>
              <a:rPr lang="es-ES_tradnl" dirty="0"/>
              <a:t>Sirve para representar y operar con números reales (</a:t>
            </a:r>
            <a:r>
              <a:rPr lang="es-ES_tradnl" dirty="0" err="1"/>
              <a:t>float</a:t>
            </a:r>
            <a:r>
              <a:rPr lang="es-ES_tradnl" dirty="0"/>
              <a:t> y </a:t>
            </a:r>
            <a:r>
              <a:rPr lang="es-ES_tradnl" dirty="0" err="1"/>
              <a:t>double</a:t>
            </a:r>
            <a:r>
              <a:rPr lang="es-ES_tradnl" dirty="0"/>
              <a:t> en alto nivel)</a:t>
            </a:r>
          </a:p>
          <a:p>
            <a:pPr lvl="1"/>
            <a:r>
              <a:rPr lang="es-ES_tradnl" dirty="0"/>
              <a:t>Puede que no esté directamente soportada por la ALU</a:t>
            </a:r>
          </a:p>
          <a:p>
            <a:pPr lvl="2"/>
            <a:r>
              <a:rPr lang="es-ES_tradnl" dirty="0"/>
              <a:t>No es esencial para el funcionamiento de la CPU</a:t>
            </a:r>
          </a:p>
          <a:p>
            <a:pPr lvl="2"/>
            <a:r>
              <a:rPr lang="es-ES_tradnl" dirty="0"/>
              <a:t>Puede ser emulada mediante instrucciones de enteros</a:t>
            </a:r>
          </a:p>
          <a:p>
            <a:pPr lvl="1"/>
            <a:r>
              <a:rPr lang="es-ES_tradnl" dirty="0"/>
              <a:t>Evolución</a:t>
            </a:r>
          </a:p>
          <a:p>
            <a:pPr lvl="2"/>
            <a:r>
              <a:rPr lang="es-ES_tradnl" dirty="0"/>
              <a:t>Hasta 1985 (aprox.) los operadores de CF iban dentro de un chip opcional que se colocaba al lado de la CPU</a:t>
            </a:r>
          </a:p>
          <a:p>
            <a:pPr lvl="2"/>
            <a:r>
              <a:rPr lang="es-ES_tradnl" dirty="0"/>
              <a:t>Desde 1985 en adelante, las CPU de propósito general incluyen operadores de CF dentro de su ALU</a:t>
            </a:r>
          </a:p>
          <a:p>
            <a:pPr lvl="2"/>
            <a:r>
              <a:rPr lang="es-ES_tradnl" dirty="0"/>
              <a:t>Desde 1990, los adaptadores de vídeo incluyen una GPU (</a:t>
            </a:r>
            <a:r>
              <a:rPr lang="es-ES_tradnl" dirty="0" err="1"/>
              <a:t>Graphics</a:t>
            </a:r>
            <a:r>
              <a:rPr lang="es-ES_tradnl" dirty="0"/>
              <a:t> Processing </a:t>
            </a:r>
            <a:r>
              <a:rPr lang="es-ES_tradnl" dirty="0" err="1"/>
              <a:t>Unit</a:t>
            </a:r>
            <a:r>
              <a:rPr lang="es-ES_tradnl" dirty="0"/>
              <a:t>) con un número creciente de operadores de CF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3E36B27-ACF7-5695-F8F1-33185E6AA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mtClean="0"/>
              <a:pPr>
                <a:defRPr/>
              </a:pPr>
              <a:t>4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078445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74D265-CE54-6BD9-4B92-CF5A3BC11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Introducción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C695F2C-D6C1-B937-FAC7-88C914D635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s-ES" dirty="0"/>
              <a:t>La medida de prestaciones en coma flotante</a:t>
            </a:r>
          </a:p>
          <a:p>
            <a:pPr lvl="1">
              <a:lnSpc>
                <a:spcPct val="100000"/>
              </a:lnSpc>
            </a:pPr>
            <a:r>
              <a:rPr lang="es-ES" dirty="0"/>
              <a:t>El número de operaciones de coma flotante por segundo (FLOPS; prefijos M=10</a:t>
            </a:r>
            <a:r>
              <a:rPr lang="es-ES" baseline="30000" dirty="0"/>
              <a:t>6</a:t>
            </a:r>
            <a:r>
              <a:rPr lang="es-ES" dirty="0"/>
              <a:t>, G=10</a:t>
            </a:r>
            <a:r>
              <a:rPr lang="es-ES" baseline="30000" dirty="0"/>
              <a:t>9</a:t>
            </a:r>
            <a:r>
              <a:rPr lang="es-ES" dirty="0"/>
              <a:t>, T=10</a:t>
            </a:r>
            <a:r>
              <a:rPr lang="es-ES" baseline="30000" dirty="0"/>
              <a:t>12</a:t>
            </a:r>
            <a:r>
              <a:rPr lang="es-ES" dirty="0"/>
              <a:t>,…) es una medida de prestaciones utilizada en dos contextos:</a:t>
            </a:r>
          </a:p>
          <a:p>
            <a:pPr lvl="1">
              <a:lnSpc>
                <a:spcPct val="100000"/>
              </a:lnSpc>
            </a:pPr>
            <a:r>
              <a:rPr lang="es-ES" dirty="0"/>
              <a:t>En el diseño de operadores de CF es el </a:t>
            </a:r>
            <a:r>
              <a:rPr lang="es-ES" b="1" dirty="0"/>
              <a:t>número máximo de operaciones por segundo</a:t>
            </a:r>
            <a:r>
              <a:rPr lang="es-ES" dirty="0"/>
              <a:t>.  Viene determinada por el tiempo de operación de cada circuito</a:t>
            </a:r>
          </a:p>
          <a:p>
            <a:pPr lvl="1">
              <a:lnSpc>
                <a:spcPct val="100000"/>
              </a:lnSpc>
            </a:pPr>
            <a:r>
              <a:rPr lang="es-ES" dirty="0"/>
              <a:t>En las comparativas entre computadores o aceleradores gráficos: es el </a:t>
            </a:r>
            <a:r>
              <a:rPr lang="es-ES" b="1" dirty="0"/>
              <a:t>número de operaciones de CF que ejecuta el dispositivo por segundo</a:t>
            </a:r>
          </a:p>
          <a:p>
            <a:pPr lvl="2"/>
            <a:r>
              <a:rPr lang="es-ES" dirty="0"/>
              <a:t>Depende del número y características de los operadores incluidos y del uso que se hace de ellos</a:t>
            </a:r>
          </a:p>
          <a:p>
            <a:pPr lvl="2"/>
            <a:r>
              <a:rPr lang="es-ES" b="1" dirty="0"/>
              <a:t>Productividad punta </a:t>
            </a:r>
            <a:r>
              <a:rPr lang="es-ES" dirty="0"/>
              <a:t>de un computador o de un acelerador gráfico: suma de las productividades de los operadores de CF incluidos. Suele ser imposible de alcanzar en el uso corriente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8B60366-6290-9208-1CFC-8A19751A9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33263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E1C941-BDF6-CCFA-4272-252DC3C3B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Introducción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873C43-195B-5FDB-499D-B57010B93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a-ES" dirty="0" err="1"/>
              <a:t>Productividad</a:t>
            </a:r>
            <a:r>
              <a:rPr lang="ca-ES" dirty="0"/>
              <a:t> punta</a:t>
            </a:r>
          </a:p>
          <a:p>
            <a:endParaRPr lang="es-ES_tradnl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11B28F9-3E30-0DAB-01F7-05877EC1E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  <p:pic>
        <p:nvPicPr>
          <p:cNvPr id="6" name="Picture 10" descr="Intel FH8069004532104 Core i7-1180G7 - 4.6 GHz - 4-Core -BGA-1598 Processor  | Exxact">
            <a:extLst>
              <a:ext uri="{FF2B5EF4-FFF2-40B4-BE49-F238E27FC236}">
                <a16:creationId xmlns:a16="http://schemas.microsoft.com/office/drawing/2014/main" id="{B3716075-EE17-AD1C-0567-F979B81C4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6917" y="1700808"/>
            <a:ext cx="1907783" cy="1907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AE723D44-8FEF-3F4B-DF07-A9C29F5FC414}"/>
              </a:ext>
            </a:extLst>
          </p:cNvPr>
          <p:cNvSpPr txBox="1"/>
          <p:nvPr/>
        </p:nvSpPr>
        <p:spPr>
          <a:xfrm>
            <a:off x="5588298" y="3102114"/>
            <a:ext cx="30492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_tradnl" dirty="0">
                <a:solidFill>
                  <a:schemeClr val="tx1"/>
                </a:solidFill>
              </a:rPr>
              <a:t>Intel Xeon </a:t>
            </a:r>
            <a:r>
              <a:rPr lang="es-ES_tradnl" dirty="0" err="1">
                <a:solidFill>
                  <a:schemeClr val="tx1"/>
                </a:solidFill>
              </a:rPr>
              <a:t>Platinum</a:t>
            </a:r>
            <a:r>
              <a:rPr lang="es-ES_tradnl" dirty="0">
                <a:solidFill>
                  <a:schemeClr val="tx1"/>
                </a:solidFill>
              </a:rPr>
              <a:t> 8368</a:t>
            </a:r>
            <a:br>
              <a:rPr lang="es-ES_tradnl" dirty="0">
                <a:solidFill>
                  <a:schemeClr val="tx1"/>
                </a:solidFill>
              </a:rPr>
            </a:br>
            <a:r>
              <a:rPr lang="es-ES_tradnl" dirty="0">
                <a:solidFill>
                  <a:schemeClr val="tx1"/>
                </a:solidFill>
              </a:rPr>
              <a:t>1,09 TFLOPS</a:t>
            </a:r>
            <a:endParaRPr lang="ca-ES" dirty="0">
              <a:solidFill>
                <a:schemeClr val="tx1"/>
              </a:solidFill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2F6FD28-2FA8-F2B6-A0F4-9624FDC34B67}"/>
              </a:ext>
            </a:extLst>
          </p:cNvPr>
          <p:cNvSpPr txBox="1"/>
          <p:nvPr/>
        </p:nvSpPr>
        <p:spPr>
          <a:xfrm>
            <a:off x="1795175" y="3124200"/>
            <a:ext cx="19177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_tradnl" dirty="0">
                <a:solidFill>
                  <a:schemeClr val="tx1"/>
                </a:solidFill>
              </a:rPr>
              <a:t>Intel </a:t>
            </a:r>
            <a:r>
              <a:rPr lang="es-ES" dirty="0">
                <a:solidFill>
                  <a:schemeClr val="tx1"/>
                </a:solidFill>
              </a:rPr>
              <a:t>i7-1180G7</a:t>
            </a:r>
            <a:endParaRPr lang="es-ES_tradnl" dirty="0">
              <a:solidFill>
                <a:schemeClr val="tx1"/>
              </a:solidFill>
            </a:endParaRPr>
          </a:p>
          <a:p>
            <a:pPr algn="ctr"/>
            <a:r>
              <a:rPr lang="ca-ES" dirty="0">
                <a:solidFill>
                  <a:schemeClr val="tx1"/>
                </a:solidFill>
              </a:rPr>
              <a:t>83,2 GFLOPS</a:t>
            </a:r>
          </a:p>
        </p:txBody>
      </p:sp>
      <p:sp>
        <p:nvSpPr>
          <p:cNvPr id="9" name="CuadroTexto 5">
            <a:extLst>
              <a:ext uri="{FF2B5EF4-FFF2-40B4-BE49-F238E27FC236}">
                <a16:creationId xmlns:a16="http://schemas.microsoft.com/office/drawing/2014/main" id="{BEC412A2-0108-9667-DB8A-A25E1A0F645D}"/>
              </a:ext>
            </a:extLst>
          </p:cNvPr>
          <p:cNvSpPr txBox="1"/>
          <p:nvPr/>
        </p:nvSpPr>
        <p:spPr>
          <a:xfrm>
            <a:off x="4765002" y="5890735"/>
            <a:ext cx="412504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ca-ES" dirty="0" err="1">
                <a:solidFill>
                  <a:schemeClr val="tx1"/>
                </a:solidFill>
              </a:rPr>
              <a:t>Frontier</a:t>
            </a:r>
            <a:r>
              <a:rPr lang="ca-ES" dirty="0">
                <a:solidFill>
                  <a:schemeClr val="tx1"/>
                </a:solidFill>
              </a:rPr>
              <a:t> (EE.UU., </a:t>
            </a:r>
            <a:r>
              <a:rPr lang="ca-ES" dirty="0" err="1">
                <a:solidFill>
                  <a:schemeClr val="tx1"/>
                </a:solidFill>
              </a:rPr>
              <a:t>noviembre</a:t>
            </a:r>
            <a:r>
              <a:rPr lang="ca-ES" dirty="0">
                <a:solidFill>
                  <a:schemeClr val="tx1"/>
                </a:solidFill>
              </a:rPr>
              <a:t> 2023)</a:t>
            </a:r>
          </a:p>
          <a:p>
            <a:pPr algn="ctr"/>
            <a:r>
              <a:rPr lang="ca-ES" dirty="0">
                <a:solidFill>
                  <a:schemeClr val="tx1"/>
                </a:solidFill>
              </a:rPr>
              <a:t>1,1 EFLOPS</a:t>
            </a:r>
          </a:p>
        </p:txBody>
      </p:sp>
      <p:pic>
        <p:nvPicPr>
          <p:cNvPr id="10" name="Picture 6" descr="Forging ahead with Frontier: Ready to crush science | ORNL">
            <a:extLst>
              <a:ext uri="{FF2B5EF4-FFF2-40B4-BE49-F238E27FC236}">
                <a16:creationId xmlns:a16="http://schemas.microsoft.com/office/drawing/2014/main" id="{D7F9B70A-68CF-56D5-9A9A-038FACFA40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5598" y="4016975"/>
            <a:ext cx="3203848" cy="1907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8" descr="NVIDIA Hopper Architecture In-Depth | NVIDIA Technical Blog">
            <a:extLst>
              <a:ext uri="{FF2B5EF4-FFF2-40B4-BE49-F238E27FC236}">
                <a16:creationId xmlns:a16="http://schemas.microsoft.com/office/drawing/2014/main" id="{94C9F135-50E3-2584-58A1-3776BCC595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8" y="4216719"/>
            <a:ext cx="2961451" cy="1666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2" descr="Platinum Series Page 12 - ECS">
            <a:extLst>
              <a:ext uri="{FF2B5EF4-FFF2-40B4-BE49-F238E27FC236}">
                <a16:creationId xmlns:a16="http://schemas.microsoft.com/office/drawing/2014/main" id="{A15CD42C-5256-140D-1DCB-0939F799F1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9789" y="1565213"/>
            <a:ext cx="1610114" cy="1610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E9C3FEE5-F857-23C7-E43D-5A0B8D0C0FC2}"/>
              </a:ext>
            </a:extLst>
          </p:cNvPr>
          <p:cNvSpPr txBox="1"/>
          <p:nvPr/>
        </p:nvSpPr>
        <p:spPr>
          <a:xfrm>
            <a:off x="899592" y="5961474"/>
            <a:ext cx="32498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ca-ES" dirty="0">
                <a:solidFill>
                  <a:schemeClr val="tx1"/>
                </a:solidFill>
              </a:rPr>
              <a:t>GPU </a:t>
            </a:r>
            <a:r>
              <a:rPr lang="es-ES" dirty="0">
                <a:solidFill>
                  <a:schemeClr val="tx1"/>
                </a:solidFill>
              </a:rPr>
              <a:t>NVIDIA Hooper H100</a:t>
            </a:r>
            <a:endParaRPr lang="es-ES_tradnl" dirty="0">
              <a:solidFill>
                <a:schemeClr val="tx1"/>
              </a:solidFill>
            </a:endParaRPr>
          </a:p>
          <a:p>
            <a:pPr algn="ctr"/>
            <a:r>
              <a:rPr lang="es-ES_tradnl" dirty="0">
                <a:solidFill>
                  <a:schemeClr val="tx1"/>
                </a:solidFill>
              </a:rPr>
              <a:t>34 TFLOPS</a:t>
            </a:r>
            <a:endParaRPr lang="ca-E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22417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8DDC4-64BC-37D1-37C6-582DDAD5B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FA8DC3-C7B8-6B22-26D9-4A7F50100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>
                <a:latin typeface="Arial" panose="020B0604020202020204" pitchFamily="34" charset="0"/>
                <a:cs typeface="Arial" panose="020B0604020202020204" pitchFamily="34" charset="0"/>
              </a:rPr>
              <a:t>Contenido</a:t>
            </a:r>
            <a:endParaRPr lang="es-ES_tradn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2A66E7E-0391-53B0-2386-CCEF7E890D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>
              <a:buNone/>
            </a:pPr>
            <a:r>
              <a:rPr lang="es-ES_tradnl" sz="2000" dirty="0">
                <a:latin typeface="Arial" panose="020B0604020202020204" pitchFamily="34" charset="0"/>
                <a:cs typeface="Arial" panose="020B0604020202020204" pitchFamily="34" charset="0"/>
              </a:rPr>
              <a:t>1 – Introducción</a:t>
            </a:r>
          </a:p>
          <a:p>
            <a:pPr lvl="1"/>
            <a:r>
              <a:rPr lang="es-ES_tradnl" sz="1800" dirty="0">
                <a:latin typeface="Arial" panose="020B0604020202020204" pitchFamily="34" charset="0"/>
                <a:cs typeface="Arial" panose="020B0604020202020204" pitchFamily="34" charset="0"/>
              </a:rPr>
              <a:t>Medida del rendimiento</a:t>
            </a:r>
          </a:p>
          <a:p>
            <a:pPr marL="82550" indent="0">
              <a:buNone/>
            </a:pPr>
            <a:r>
              <a:rPr lang="es-ES_tradnl" sz="2000" dirty="0">
                <a:latin typeface="Arial" panose="020B0604020202020204" pitchFamily="34" charset="0"/>
                <a:cs typeface="Arial" panose="020B0604020202020204" pitchFamily="34" charset="0"/>
              </a:rPr>
              <a:t>2 – </a:t>
            </a:r>
            <a:r>
              <a:rPr lang="es-ES_tradnl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norma IEEE y su implementación en RISC-V</a:t>
            </a:r>
          </a:p>
          <a:p>
            <a:pPr lvl="1"/>
            <a:r>
              <a:rPr lang="es-ES_tradnl" sz="1800" dirty="0">
                <a:cs typeface="Calibri" panose="020F0502020204030204" pitchFamily="34" charset="0"/>
              </a:rPr>
              <a:t>Formato, valores especiales, redondeo</a:t>
            </a:r>
          </a:p>
          <a:p>
            <a:pPr lvl="1"/>
            <a:r>
              <a:rPr lang="es-ES_tradnl" sz="1800" dirty="0">
                <a:cs typeface="Calibri" panose="020F0502020204030204" pitchFamily="34" charset="0"/>
              </a:rPr>
              <a:t>Visión del programador: banco de registros y movimiento de datos</a:t>
            </a:r>
          </a:p>
          <a:p>
            <a:pPr lvl="1"/>
            <a:r>
              <a:rPr lang="es-ES_tradnl" sz="1800" dirty="0">
                <a:cs typeface="Calibri" panose="020F0502020204030204" pitchFamily="34" charset="0"/>
              </a:rPr>
              <a:t>Juego de instrucciones de coma flotante</a:t>
            </a:r>
          </a:p>
          <a:p>
            <a:pPr marL="82550" indent="0">
              <a:buNone/>
            </a:pPr>
            <a:r>
              <a:rPr lang="es-ES_tradnl" sz="2000" dirty="0">
                <a:latin typeface="Arial" panose="020B0604020202020204" pitchFamily="34" charset="0"/>
                <a:cs typeface="Arial" panose="020B0604020202020204" pitchFamily="34" charset="0"/>
              </a:rPr>
              <a:t>3 – </a:t>
            </a:r>
            <a:r>
              <a:rPr lang="es-ES_tradnl" sz="2000" dirty="0">
                <a:cs typeface="Calibri" panose="020F0502020204030204" pitchFamily="34" charset="0"/>
              </a:rPr>
              <a:t>Operadores de coma flotante</a:t>
            </a:r>
            <a:endParaRPr lang="es-ES_tradnl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800" dirty="0">
                <a:cs typeface="Calibri" panose="020F0502020204030204" pitchFamily="34" charset="0"/>
              </a:rPr>
              <a:t>Operador de cambio de signo</a:t>
            </a:r>
          </a:p>
          <a:p>
            <a:pPr lvl="1"/>
            <a:r>
              <a:rPr lang="es-ES_tradnl" sz="1800" dirty="0">
                <a:cs typeface="Calibri" panose="020F0502020204030204" pitchFamily="34" charset="0"/>
              </a:rPr>
              <a:t>Operadores de conversión de tipo</a:t>
            </a:r>
          </a:p>
          <a:p>
            <a:pPr lvl="1"/>
            <a:r>
              <a:rPr lang="es-ES_tradnl" sz="1800" dirty="0">
                <a:cs typeface="Calibri" panose="020F0502020204030204" pitchFamily="34" charset="0"/>
              </a:rPr>
              <a:t>Operador de multiplicación</a:t>
            </a:r>
            <a:endParaRPr lang="es-ES_tradnl" sz="1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BBFE06C-90F2-84D2-8AD9-8314ED6E6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mtClean="0"/>
              <a:pPr>
                <a:defRPr/>
              </a:pPr>
              <a:t>7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7075055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BB8F55-C79E-FC61-4FE7-588933611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effectLst/>
              </a:rPr>
              <a:t>Notas sobre la representación de números</a:t>
            </a:r>
            <a:endParaRPr lang="es-ES_tradn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37F4A6B-8193-0265-6750-7749EDE9EE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s-ES" dirty="0"/>
              <a:t>Representación del conjunto R (reales positivos y negativos)</a:t>
            </a:r>
          </a:p>
          <a:p>
            <a:pPr lvl="1">
              <a:lnSpc>
                <a:spcPct val="100000"/>
              </a:lnSpc>
            </a:pPr>
            <a:r>
              <a:rPr lang="es-ES" dirty="0"/>
              <a:t>El conjunto  R es un conjunto denso: entre dos números reales cualesquiera hay infinitos números reales</a:t>
            </a:r>
          </a:p>
          <a:p>
            <a:pPr lvl="1">
              <a:lnSpc>
                <a:spcPct val="100000"/>
              </a:lnSpc>
            </a:pPr>
            <a:r>
              <a:rPr lang="es-ES" dirty="0"/>
              <a:t>La representación del computador es limitada y no siempre es exacta</a:t>
            </a:r>
          </a:p>
          <a:p>
            <a:pPr lvl="2">
              <a:lnSpc>
                <a:spcPct val="100000"/>
              </a:lnSpc>
            </a:pPr>
            <a:r>
              <a:rPr lang="es-ES" dirty="0"/>
              <a:t>Con 32 bits se pueden obtener 2</a:t>
            </a:r>
            <a:r>
              <a:rPr lang="es-ES" baseline="30000" dirty="0"/>
              <a:t>32</a:t>
            </a:r>
            <a:r>
              <a:rPr lang="es-ES" dirty="0"/>
              <a:t> palabras diferentes. Por tanto, como máximo se pueden representar 2</a:t>
            </a:r>
            <a:r>
              <a:rPr lang="es-ES" baseline="30000" dirty="0"/>
              <a:t>32</a:t>
            </a:r>
            <a:r>
              <a:rPr lang="es-ES" dirty="0"/>
              <a:t> valores del conjunto R</a:t>
            </a:r>
          </a:p>
          <a:p>
            <a:pPr lvl="1">
              <a:lnSpc>
                <a:spcPct val="100000"/>
              </a:lnSpc>
            </a:pPr>
            <a:r>
              <a:rPr lang="es-ES" dirty="0"/>
              <a:t>Hay números reales que tienen representación exacta y otros que no, como los números con parte decimal periódica</a:t>
            </a:r>
          </a:p>
          <a:p>
            <a:pPr lvl="1">
              <a:lnSpc>
                <a:spcPct val="100000"/>
              </a:lnSpc>
            </a:pPr>
            <a:r>
              <a:rPr lang="es-ES" dirty="0"/>
              <a:t>¿Cómo codificar un número real en una palabra de bits? </a:t>
            </a:r>
          </a:p>
          <a:p>
            <a:pPr lvl="2">
              <a:lnSpc>
                <a:spcPct val="100000"/>
              </a:lnSpc>
            </a:pPr>
            <a:r>
              <a:rPr lang="es-ES" dirty="0"/>
              <a:t>Aplicando un formato arbitrario, como el </a:t>
            </a:r>
            <a:r>
              <a:rPr lang="es-ES" dirty="0">
                <a:solidFill>
                  <a:srgbClr val="FF0000"/>
                </a:solidFill>
              </a:rPr>
              <a:t>IEEE 754</a:t>
            </a:r>
            <a:r>
              <a:rPr lang="es-ES" dirty="0"/>
              <a:t>, estructurado en tres campos de bits para el </a:t>
            </a:r>
            <a:r>
              <a:rPr lang="es-ES" dirty="0">
                <a:solidFill>
                  <a:srgbClr val="FF0000"/>
                </a:solidFill>
              </a:rPr>
              <a:t>signo</a:t>
            </a:r>
            <a:r>
              <a:rPr lang="es-ES" dirty="0"/>
              <a:t>,  el </a:t>
            </a:r>
            <a:r>
              <a:rPr lang="es-ES" dirty="0">
                <a:solidFill>
                  <a:srgbClr val="FF0000"/>
                </a:solidFill>
              </a:rPr>
              <a:t>exponente</a:t>
            </a:r>
            <a:r>
              <a:rPr lang="es-ES" dirty="0"/>
              <a:t> y la parte significativa (</a:t>
            </a:r>
            <a:r>
              <a:rPr lang="es-ES" dirty="0">
                <a:solidFill>
                  <a:srgbClr val="FF0000"/>
                </a:solidFill>
              </a:rPr>
              <a:t>mantisa</a:t>
            </a:r>
            <a:r>
              <a:rPr lang="es-ES" dirty="0"/>
              <a:t>)</a:t>
            </a:r>
          </a:p>
          <a:p>
            <a:pPr lvl="1">
              <a:lnSpc>
                <a:spcPct val="100000"/>
              </a:lnSpc>
            </a:pPr>
            <a:r>
              <a:rPr lang="es-ES" dirty="0"/>
              <a:t>El formato impone más restricciones a la representación: habrá algunas palabras de bits con una significación matemática especial, como el valor infinito o el cero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1773B94-43F3-D3D1-5D99-8621F9EAC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497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6D07EE-AFAD-7E48-D9CA-37165D119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effectLst/>
              </a:rPr>
              <a:t>Notas sobre la representación de números</a:t>
            </a:r>
            <a:endParaRPr lang="es-ES_tradn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4D36CEE-76CF-0FAB-2907-5A0C205B8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Representación del conjunto R (reales positivos y negativos)</a:t>
            </a:r>
          </a:p>
          <a:p>
            <a:pPr lvl="1"/>
            <a:r>
              <a:rPr lang="es-ES" dirty="0"/>
              <a:t>En el computador interesa aumentar</a:t>
            </a:r>
          </a:p>
          <a:p>
            <a:pPr lvl="2"/>
            <a:r>
              <a:rPr lang="es-ES" dirty="0"/>
              <a:t>La precisión de los números representados (densidad)</a:t>
            </a:r>
          </a:p>
          <a:p>
            <a:pPr lvl="2"/>
            <a:r>
              <a:rPr lang="es-ES" dirty="0"/>
              <a:t>El rango de la representación</a:t>
            </a:r>
          </a:p>
          <a:p>
            <a:pPr lvl="1"/>
            <a:r>
              <a:rPr lang="es-ES" dirty="0"/>
              <a:t>Estos dos aspectos dependen de los campos de la parte significativa (mantisa) y del exponente del formato</a:t>
            </a:r>
          </a:p>
          <a:p>
            <a:pPr lvl="1"/>
            <a:endParaRPr lang="es-ES" dirty="0"/>
          </a:p>
          <a:p>
            <a:endParaRPr lang="es-ES_tradnl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78EB955-9D97-0431-787B-A89841FE9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  <p:grpSp>
        <p:nvGrpSpPr>
          <p:cNvPr id="60" name="Grupo 59">
            <a:extLst>
              <a:ext uri="{FF2B5EF4-FFF2-40B4-BE49-F238E27FC236}">
                <a16:creationId xmlns:a16="http://schemas.microsoft.com/office/drawing/2014/main" id="{17FD8684-AA8D-23E0-B9C5-D66C90DD50A2}"/>
              </a:ext>
            </a:extLst>
          </p:cNvPr>
          <p:cNvGrpSpPr/>
          <p:nvPr/>
        </p:nvGrpSpPr>
        <p:grpSpPr>
          <a:xfrm>
            <a:off x="860436" y="3789040"/>
            <a:ext cx="7366692" cy="2457564"/>
            <a:chOff x="860436" y="3789040"/>
            <a:chExt cx="7366692" cy="2457564"/>
          </a:xfrm>
        </p:grpSpPr>
        <p:sp>
          <p:nvSpPr>
            <p:cNvPr id="57" name="21 CuadroTexto">
              <a:extLst>
                <a:ext uri="{FF2B5EF4-FFF2-40B4-BE49-F238E27FC236}">
                  <a16:creationId xmlns:a16="http://schemas.microsoft.com/office/drawing/2014/main" id="{5DD0859C-D350-B503-F953-DB1081347B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91989" y="3819575"/>
              <a:ext cx="355837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2400" dirty="0">
                  <a:solidFill>
                    <a:schemeClr val="tx1"/>
                  </a:solidFill>
                </a:rPr>
                <a:t>0</a:t>
              </a:r>
              <a:endParaRPr lang="es-E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6 Conector recto">
              <a:extLst>
                <a:ext uri="{FF2B5EF4-FFF2-40B4-BE49-F238E27FC236}">
                  <a16:creationId xmlns:a16="http://schemas.microsoft.com/office/drawing/2014/main" id="{90272D61-80D5-8582-8CE1-6E58D97F31F7}"/>
                </a:ext>
              </a:extLst>
            </p:cNvPr>
            <p:cNvCxnSpPr/>
            <p:nvPr/>
          </p:nvCxnSpPr>
          <p:spPr bwMode="auto">
            <a:xfrm>
              <a:off x="860436" y="5248275"/>
              <a:ext cx="7111512" cy="0"/>
            </a:xfrm>
            <a:prstGeom prst="line">
              <a:avLst/>
            </a:prstGeom>
            <a:noFill/>
            <a:ln w="50800" cap="flat" cmpd="sng" algn="ctr">
              <a:solidFill>
                <a:schemeClr val="tx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5" name="17 CuadroTexto">
              <a:extLst>
                <a:ext uri="{FF2B5EF4-FFF2-40B4-BE49-F238E27FC236}">
                  <a16:creationId xmlns:a16="http://schemas.microsoft.com/office/drawing/2014/main" id="{BFC7CD2B-1CC7-B93B-3219-760B4DA1D0D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24909" y="3789040"/>
              <a:ext cx="715009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2400">
                  <a:solidFill>
                    <a:schemeClr val="tx1"/>
                  </a:solidFill>
                </a:rPr>
                <a:t>-1/3</a:t>
              </a:r>
              <a:endParaRPr lang="es-ES" sz="2400">
                <a:solidFill>
                  <a:schemeClr val="tx1"/>
                </a:solidFill>
              </a:endParaRPr>
            </a:p>
          </p:txBody>
        </p:sp>
        <p:sp>
          <p:nvSpPr>
            <p:cNvPr id="36" name="20 CuadroTexto">
              <a:extLst>
                <a:ext uri="{FF2B5EF4-FFF2-40B4-BE49-F238E27FC236}">
                  <a16:creationId xmlns:a16="http://schemas.microsoft.com/office/drawing/2014/main" id="{5AE3F255-2AD3-2822-043F-61F712F2BD6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29130" y="3789040"/>
              <a:ext cx="715009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2400">
                  <a:solidFill>
                    <a:schemeClr val="tx1"/>
                  </a:solidFill>
                </a:rPr>
                <a:t>-1.4</a:t>
              </a:r>
              <a:endParaRPr lang="es-ES" sz="2400">
                <a:solidFill>
                  <a:schemeClr val="tx1"/>
                </a:solidFill>
              </a:endParaRPr>
            </a:p>
          </p:txBody>
        </p:sp>
        <p:sp>
          <p:nvSpPr>
            <p:cNvPr id="38" name="22 CuadroTexto">
              <a:extLst>
                <a:ext uri="{FF2B5EF4-FFF2-40B4-BE49-F238E27FC236}">
                  <a16:creationId xmlns:a16="http://schemas.microsoft.com/office/drawing/2014/main" id="{D3CC7663-A445-6A79-2735-66FC4733619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86511" y="3806502"/>
              <a:ext cx="792254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2400" dirty="0">
                  <a:solidFill>
                    <a:schemeClr val="tx1"/>
                  </a:solidFill>
                </a:rPr>
                <a:t>+1.0</a:t>
              </a:r>
              <a:endParaRPr lang="es-ES" sz="2400" dirty="0">
                <a:solidFill>
                  <a:schemeClr val="tx1"/>
                </a:solidFill>
              </a:endParaRPr>
            </a:p>
          </p:txBody>
        </p:sp>
        <p:sp>
          <p:nvSpPr>
            <p:cNvPr id="39" name="23 CuadroTexto">
              <a:extLst>
                <a:ext uri="{FF2B5EF4-FFF2-40B4-BE49-F238E27FC236}">
                  <a16:creationId xmlns:a16="http://schemas.microsoft.com/office/drawing/2014/main" id="{19F315F1-21F3-FF90-C13C-2141C989DD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01904" y="3789040"/>
              <a:ext cx="1049085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2400" dirty="0">
                  <a:solidFill>
                    <a:schemeClr val="tx1"/>
                  </a:solidFill>
                </a:rPr>
                <a:t>+10</a:t>
              </a:r>
              <a:r>
                <a:rPr lang="es-ES_tradnl" sz="2400" baseline="30000" dirty="0">
                  <a:solidFill>
                    <a:schemeClr val="tx1"/>
                  </a:solidFill>
                </a:rPr>
                <a:t>200</a:t>
              </a:r>
              <a:endParaRPr lang="es-ES" sz="2400" baseline="30000" dirty="0">
                <a:solidFill>
                  <a:schemeClr val="tx1"/>
                </a:solidFill>
              </a:endParaRPr>
            </a:p>
          </p:txBody>
        </p:sp>
        <p:sp>
          <p:nvSpPr>
            <p:cNvPr id="40" name="41 CuadroTexto">
              <a:extLst>
                <a:ext uri="{FF2B5EF4-FFF2-40B4-BE49-F238E27FC236}">
                  <a16:creationId xmlns:a16="http://schemas.microsoft.com/office/drawing/2014/main" id="{BC664C8C-ED02-C0DC-22F6-D4AB05E1A336}"/>
                </a:ext>
              </a:extLst>
            </p:cNvPr>
            <p:cNvSpPr txBox="1"/>
            <p:nvPr/>
          </p:nvSpPr>
          <p:spPr>
            <a:xfrm>
              <a:off x="3058982" y="5437189"/>
              <a:ext cx="1053494" cy="400110"/>
            </a:xfrm>
            <a:prstGeom prst="rect">
              <a:avLst/>
            </a:prstGeom>
            <a:noFill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-0.3333</a:t>
              </a:r>
              <a:endParaRPr lang="es-E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44 CuadroTexto">
              <a:extLst>
                <a:ext uri="{FF2B5EF4-FFF2-40B4-BE49-F238E27FC236}">
                  <a16:creationId xmlns:a16="http://schemas.microsoft.com/office/drawing/2014/main" id="{59EF0FE5-A5AB-7425-5B1C-45044F745C8C}"/>
                </a:ext>
              </a:extLst>
            </p:cNvPr>
            <p:cNvSpPr txBox="1"/>
            <p:nvPr/>
          </p:nvSpPr>
          <p:spPr>
            <a:xfrm>
              <a:off x="2061368" y="5437189"/>
              <a:ext cx="625492" cy="400110"/>
            </a:xfrm>
            <a:prstGeom prst="rect">
              <a:avLst/>
            </a:prstGeom>
            <a:noFill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-1.4</a:t>
              </a:r>
              <a:endParaRPr lang="es-E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45 CuadroTexto">
              <a:extLst>
                <a:ext uri="{FF2B5EF4-FFF2-40B4-BE49-F238E27FC236}">
                  <a16:creationId xmlns:a16="http://schemas.microsoft.com/office/drawing/2014/main" id="{77CB26D3-195C-468E-75E8-01AFC44AE4F1}"/>
                </a:ext>
              </a:extLst>
            </p:cNvPr>
            <p:cNvSpPr txBox="1"/>
            <p:nvPr/>
          </p:nvSpPr>
          <p:spPr>
            <a:xfrm>
              <a:off x="4491053" y="5437189"/>
              <a:ext cx="327334" cy="400110"/>
            </a:xfrm>
            <a:prstGeom prst="rect">
              <a:avLst/>
            </a:prstGeom>
            <a:noFill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es-E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46 CuadroTexto">
              <a:extLst>
                <a:ext uri="{FF2B5EF4-FFF2-40B4-BE49-F238E27FC236}">
                  <a16:creationId xmlns:a16="http://schemas.microsoft.com/office/drawing/2014/main" id="{980C4E5F-399C-8735-1338-1BFDF2BCB137}"/>
                </a:ext>
              </a:extLst>
            </p:cNvPr>
            <p:cNvSpPr txBox="1"/>
            <p:nvPr/>
          </p:nvSpPr>
          <p:spPr>
            <a:xfrm>
              <a:off x="5157204" y="5437189"/>
              <a:ext cx="689612" cy="400110"/>
            </a:xfrm>
            <a:prstGeom prst="rect">
              <a:avLst/>
            </a:prstGeom>
            <a:noFill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+1.0</a:t>
              </a:r>
              <a:endParaRPr lang="es-E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48 CuadroTexto">
              <a:extLst>
                <a:ext uri="{FF2B5EF4-FFF2-40B4-BE49-F238E27FC236}">
                  <a16:creationId xmlns:a16="http://schemas.microsoft.com/office/drawing/2014/main" id="{6A194074-00B1-D011-D0C2-C0661B37B252}"/>
                </a:ext>
              </a:extLst>
            </p:cNvPr>
            <p:cNvSpPr txBox="1"/>
            <p:nvPr/>
          </p:nvSpPr>
          <p:spPr>
            <a:xfrm>
              <a:off x="7270028" y="5437188"/>
              <a:ext cx="840877" cy="523220"/>
            </a:xfrm>
            <a:prstGeom prst="rect">
              <a:avLst/>
            </a:prstGeom>
            <a:noFill/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r>
                <a:rPr lang="es-ES_tradnl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r>
                <a:rPr lang="es-ES_tradnl" sz="2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∞</a:t>
              </a:r>
              <a:endParaRPr lang="es-E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50 Rectángulo">
              <a:extLst>
                <a:ext uri="{FF2B5EF4-FFF2-40B4-BE49-F238E27FC236}">
                  <a16:creationId xmlns:a16="http://schemas.microsoft.com/office/drawing/2014/main" id="{74DAF175-847A-1DE9-D5A3-1580D6968035}"/>
                </a:ext>
              </a:extLst>
            </p:cNvPr>
            <p:cNvSpPr/>
            <p:nvPr/>
          </p:nvSpPr>
          <p:spPr bwMode="auto">
            <a:xfrm>
              <a:off x="2322890" y="5013325"/>
              <a:ext cx="199292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47" name="53 Rectángulo">
              <a:extLst>
                <a:ext uri="{FF2B5EF4-FFF2-40B4-BE49-F238E27FC236}">
                  <a16:creationId xmlns:a16="http://schemas.microsoft.com/office/drawing/2014/main" id="{B3866D62-DF30-D86A-B093-3C7C27696E46}"/>
                </a:ext>
              </a:extLst>
            </p:cNvPr>
            <p:cNvSpPr/>
            <p:nvPr/>
          </p:nvSpPr>
          <p:spPr bwMode="auto">
            <a:xfrm>
              <a:off x="3717936" y="5013325"/>
              <a:ext cx="199292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48" name="54 Rectángulo">
              <a:extLst>
                <a:ext uri="{FF2B5EF4-FFF2-40B4-BE49-F238E27FC236}">
                  <a16:creationId xmlns:a16="http://schemas.microsoft.com/office/drawing/2014/main" id="{886A2B44-F1DB-4A3F-730B-29E46F9DFC36}"/>
                </a:ext>
              </a:extLst>
            </p:cNvPr>
            <p:cNvSpPr/>
            <p:nvPr/>
          </p:nvSpPr>
          <p:spPr bwMode="auto">
            <a:xfrm>
              <a:off x="4575187" y="5032375"/>
              <a:ext cx="199292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49" name="55 Rectángulo">
              <a:extLst>
                <a:ext uri="{FF2B5EF4-FFF2-40B4-BE49-F238E27FC236}">
                  <a16:creationId xmlns:a16="http://schemas.microsoft.com/office/drawing/2014/main" id="{80D80CDC-2A90-8F2A-091A-356435CDA974}"/>
                </a:ext>
              </a:extLst>
            </p:cNvPr>
            <p:cNvSpPr/>
            <p:nvPr/>
          </p:nvSpPr>
          <p:spPr bwMode="auto">
            <a:xfrm>
              <a:off x="5513033" y="5032375"/>
              <a:ext cx="199292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50" name="57 Rectángulo">
              <a:extLst>
                <a:ext uri="{FF2B5EF4-FFF2-40B4-BE49-F238E27FC236}">
                  <a16:creationId xmlns:a16="http://schemas.microsoft.com/office/drawing/2014/main" id="{7AE1C656-4DBC-C108-F8A6-E5C7FE02C837}"/>
                </a:ext>
              </a:extLst>
            </p:cNvPr>
            <p:cNvSpPr/>
            <p:nvPr/>
          </p:nvSpPr>
          <p:spPr bwMode="auto">
            <a:xfrm>
              <a:off x="7440013" y="5013325"/>
              <a:ext cx="200758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51" name="59 CuadroTexto">
              <a:extLst>
                <a:ext uri="{FF2B5EF4-FFF2-40B4-BE49-F238E27FC236}">
                  <a16:creationId xmlns:a16="http://schemas.microsoft.com/office/drawing/2014/main" id="{5E68F727-F719-DF40-E5B1-42204548F01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81761" y="5876925"/>
              <a:ext cx="864339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ca-ES" sz="1800" dirty="0" err="1">
                  <a:solidFill>
                    <a:schemeClr val="tx1"/>
                  </a:solidFill>
                </a:rPr>
                <a:t>exacto</a:t>
              </a:r>
              <a:endParaRPr lang="ca-ES" sz="1800" dirty="0">
                <a:solidFill>
                  <a:schemeClr val="tx1"/>
                </a:solidFill>
              </a:endParaRPr>
            </a:p>
          </p:txBody>
        </p:sp>
        <p:sp>
          <p:nvSpPr>
            <p:cNvPr id="52" name="60 CuadroTexto">
              <a:extLst>
                <a:ext uri="{FF2B5EF4-FFF2-40B4-BE49-F238E27FC236}">
                  <a16:creationId xmlns:a16="http://schemas.microsoft.com/office/drawing/2014/main" id="{20A64BAF-E483-A5FE-FD4F-44CA672444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12575" y="5876925"/>
              <a:ext cx="1043876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ca-ES" sz="1800" dirty="0" err="1">
                  <a:solidFill>
                    <a:schemeClr val="tx1"/>
                  </a:solidFill>
                </a:rPr>
                <a:t>inexacto</a:t>
              </a:r>
              <a:endParaRPr lang="ca-ES" sz="1800" dirty="0">
                <a:solidFill>
                  <a:schemeClr val="tx1"/>
                </a:solidFill>
              </a:endParaRPr>
            </a:p>
          </p:txBody>
        </p:sp>
        <p:sp>
          <p:nvSpPr>
            <p:cNvPr id="53" name="61 CuadroTexto">
              <a:extLst>
                <a:ext uri="{FF2B5EF4-FFF2-40B4-BE49-F238E27FC236}">
                  <a16:creationId xmlns:a16="http://schemas.microsoft.com/office/drawing/2014/main" id="{FF81F038-79C3-D0DD-F0A2-F6B075E731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07007" y="5876925"/>
              <a:ext cx="864339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ca-ES" sz="1800" dirty="0" err="1">
                  <a:solidFill>
                    <a:schemeClr val="tx1"/>
                  </a:solidFill>
                </a:rPr>
                <a:t>exacto</a:t>
              </a:r>
              <a:endParaRPr lang="ca-ES" sz="1800" dirty="0">
                <a:solidFill>
                  <a:schemeClr val="tx1"/>
                </a:solidFill>
              </a:endParaRPr>
            </a:p>
          </p:txBody>
        </p:sp>
        <p:sp>
          <p:nvSpPr>
            <p:cNvPr id="54" name="62 CuadroTexto">
              <a:extLst>
                <a:ext uri="{FF2B5EF4-FFF2-40B4-BE49-F238E27FC236}">
                  <a16:creationId xmlns:a16="http://schemas.microsoft.com/office/drawing/2014/main" id="{941B3791-0390-0CA5-B1B0-443CADBB0E0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66478" y="5877272"/>
              <a:ext cx="1043876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ca-ES" sz="1800" dirty="0" err="1">
                  <a:solidFill>
                    <a:schemeClr val="tx1"/>
                  </a:solidFill>
                </a:rPr>
                <a:t>inexacto</a:t>
              </a:r>
              <a:endParaRPr lang="ca-ES" sz="1800" dirty="0">
                <a:solidFill>
                  <a:schemeClr val="tx1"/>
                </a:solidFill>
              </a:endParaRPr>
            </a:p>
          </p:txBody>
        </p:sp>
        <p:sp>
          <p:nvSpPr>
            <p:cNvPr id="55" name="63 CuadroTexto">
              <a:extLst>
                <a:ext uri="{FF2B5EF4-FFF2-40B4-BE49-F238E27FC236}">
                  <a16:creationId xmlns:a16="http://schemas.microsoft.com/office/drawing/2014/main" id="{49DEB117-874E-FF67-F37B-7172522567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66630" y="5876925"/>
              <a:ext cx="864339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ca-ES" sz="1800" dirty="0" err="1">
                  <a:solidFill>
                    <a:schemeClr val="tx1"/>
                  </a:solidFill>
                </a:rPr>
                <a:t>exacto</a:t>
              </a:r>
              <a:endParaRPr lang="ca-ES" sz="1800" dirty="0">
                <a:solidFill>
                  <a:schemeClr val="tx1"/>
                </a:solidFill>
              </a:endParaRPr>
            </a:p>
          </p:txBody>
        </p:sp>
        <p:sp>
          <p:nvSpPr>
            <p:cNvPr id="56" name="15 CuadroTexto">
              <a:extLst>
                <a:ext uri="{FF2B5EF4-FFF2-40B4-BE49-F238E27FC236}">
                  <a16:creationId xmlns:a16="http://schemas.microsoft.com/office/drawing/2014/main" id="{F48C2310-5A40-F5D6-DBEB-8D9E139CD54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56198" y="3789040"/>
              <a:ext cx="443977" cy="5232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2800" b="1" dirty="0">
                  <a:solidFill>
                    <a:schemeClr val="tx1"/>
                  </a:solidFill>
                </a:rPr>
                <a:t>R</a:t>
              </a:r>
              <a:endParaRPr lang="es-E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58" name="106 Conector recto">
              <a:extLst>
                <a:ext uri="{FF2B5EF4-FFF2-40B4-BE49-F238E27FC236}">
                  <a16:creationId xmlns:a16="http://schemas.microsoft.com/office/drawing/2014/main" id="{2AF2379A-A254-B06E-EC9D-4F86ADD19956}"/>
                </a:ext>
              </a:extLst>
            </p:cNvPr>
            <p:cNvCxnSpPr/>
            <p:nvPr/>
          </p:nvCxnSpPr>
          <p:spPr bwMode="auto">
            <a:xfrm>
              <a:off x="1115616" y="4365594"/>
              <a:ext cx="7111512" cy="0"/>
            </a:xfrm>
            <a:prstGeom prst="line">
              <a:avLst/>
            </a:prstGeom>
            <a:noFill/>
            <a:ln w="50800" cap="flat" cmpd="sng" algn="ctr">
              <a:solidFill>
                <a:schemeClr val="tx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9" name="40 Rectángulo redondeado">
              <a:extLst>
                <a:ext uri="{FF2B5EF4-FFF2-40B4-BE49-F238E27FC236}">
                  <a16:creationId xmlns:a16="http://schemas.microsoft.com/office/drawing/2014/main" id="{BCA096D6-B88D-71C3-11E1-7D18CD23E9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48967" y="4267493"/>
              <a:ext cx="6846277" cy="339725"/>
            </a:xfrm>
            <a:prstGeom prst="roundRect">
              <a:avLst>
                <a:gd name="adj" fmla="val 16667"/>
              </a:avLst>
            </a:prstGeom>
            <a:solidFill>
              <a:srgbClr val="FF3300"/>
            </a:solidFill>
            <a:ln w="12700">
              <a:noFill/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"/>
            </a:p>
          </p:txBody>
        </p:sp>
      </p:grpSp>
    </p:spTree>
    <p:extLst>
      <p:ext uri="{BB962C8B-B14F-4D97-AF65-F5344CB8AC3E}">
        <p14:creationId xmlns:p14="http://schemas.microsoft.com/office/powerpoint/2010/main" val="3798493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914450-2692-1FE5-A222-306568003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effectLst/>
              </a:rPr>
              <a:t>Notas sobre la representación de números</a:t>
            </a:r>
            <a:endParaRPr lang="es-ES_tradn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8117F4A-2965-08EE-FAA2-DC439BD226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Patrón de la representación de los números reales</a:t>
            </a:r>
          </a:p>
          <a:p>
            <a:pPr lvl="1"/>
            <a:r>
              <a:rPr lang="es-ES" dirty="0"/>
              <a:t>No hay valores representados muy cerca del cero</a:t>
            </a:r>
          </a:p>
          <a:p>
            <a:pPr lvl="1"/>
            <a:r>
              <a:rPr lang="es-ES_tradnl" dirty="0"/>
              <a:t>Para un mismo valor de exponente los números representados están separados por la misma distancia</a:t>
            </a:r>
          </a:p>
          <a:p>
            <a:pPr lvl="1"/>
            <a:r>
              <a:rPr lang="es-ES_tradnl" dirty="0"/>
              <a:t>Cuanto más grande es el exponente más distancia hay entre dos números representados consecutivos (la densidad de representación disminuye)</a:t>
            </a:r>
            <a:endParaRPr lang="es-ES" dirty="0"/>
          </a:p>
          <a:p>
            <a:endParaRPr lang="es-ES_tradnl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307ECA0-5D42-AD49-40BE-EF3E853DD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  <p:grpSp>
        <p:nvGrpSpPr>
          <p:cNvPr id="101" name="Grupo 100">
            <a:extLst>
              <a:ext uri="{FF2B5EF4-FFF2-40B4-BE49-F238E27FC236}">
                <a16:creationId xmlns:a16="http://schemas.microsoft.com/office/drawing/2014/main" id="{0A021A7E-33D8-16EC-DB59-5385796BD6E6}"/>
              </a:ext>
            </a:extLst>
          </p:cNvPr>
          <p:cNvGrpSpPr/>
          <p:nvPr/>
        </p:nvGrpSpPr>
        <p:grpSpPr>
          <a:xfrm>
            <a:off x="1115616" y="3789040"/>
            <a:ext cx="7180660" cy="2664296"/>
            <a:chOff x="1115616" y="3789040"/>
            <a:chExt cx="7180660" cy="2664296"/>
          </a:xfrm>
        </p:grpSpPr>
        <p:cxnSp>
          <p:nvCxnSpPr>
            <p:cNvPr id="8" name="6 Conector recto">
              <a:extLst>
                <a:ext uri="{FF2B5EF4-FFF2-40B4-BE49-F238E27FC236}">
                  <a16:creationId xmlns:a16="http://schemas.microsoft.com/office/drawing/2014/main" id="{6B7849EC-3FBF-5D0B-526D-084D61614724}"/>
                </a:ext>
              </a:extLst>
            </p:cNvPr>
            <p:cNvCxnSpPr/>
            <p:nvPr/>
          </p:nvCxnSpPr>
          <p:spPr bwMode="auto">
            <a:xfrm>
              <a:off x="1184764" y="5103742"/>
              <a:ext cx="7111512" cy="0"/>
            </a:xfrm>
            <a:prstGeom prst="line">
              <a:avLst/>
            </a:prstGeom>
            <a:noFill/>
            <a:ln w="50800" cap="flat" cmpd="sng" algn="ctr">
              <a:solidFill>
                <a:schemeClr val="tx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1" name="27 Rectángulo">
              <a:extLst>
                <a:ext uri="{FF2B5EF4-FFF2-40B4-BE49-F238E27FC236}">
                  <a16:creationId xmlns:a16="http://schemas.microsoft.com/office/drawing/2014/main" id="{BC4AE39A-82D8-1F5F-F9FD-F421A7CEF450}"/>
                </a:ext>
              </a:extLst>
            </p:cNvPr>
            <p:cNvSpPr/>
            <p:nvPr/>
          </p:nvSpPr>
          <p:spPr bwMode="auto">
            <a:xfrm>
              <a:off x="4679707" y="4868792"/>
              <a:ext cx="65942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12" name="31 Rectángulo">
              <a:extLst>
                <a:ext uri="{FF2B5EF4-FFF2-40B4-BE49-F238E27FC236}">
                  <a16:creationId xmlns:a16="http://schemas.microsoft.com/office/drawing/2014/main" id="{559FABEA-E894-FD36-744E-820E83081F8F}"/>
                </a:ext>
              </a:extLst>
            </p:cNvPr>
            <p:cNvSpPr/>
            <p:nvPr/>
          </p:nvSpPr>
          <p:spPr bwMode="auto">
            <a:xfrm>
              <a:off x="5220434" y="4868792"/>
              <a:ext cx="67408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13" name="33 Rectángulo">
              <a:extLst>
                <a:ext uri="{FF2B5EF4-FFF2-40B4-BE49-F238E27FC236}">
                  <a16:creationId xmlns:a16="http://schemas.microsoft.com/office/drawing/2014/main" id="{BEC560E5-F0DA-759E-D29B-8306C2D44D52}"/>
                </a:ext>
              </a:extLst>
            </p:cNvPr>
            <p:cNvSpPr/>
            <p:nvPr/>
          </p:nvSpPr>
          <p:spPr bwMode="auto">
            <a:xfrm>
              <a:off x="5361111" y="4868792"/>
              <a:ext cx="67408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14" name="34 Rectángulo">
              <a:extLst>
                <a:ext uri="{FF2B5EF4-FFF2-40B4-BE49-F238E27FC236}">
                  <a16:creationId xmlns:a16="http://schemas.microsoft.com/office/drawing/2014/main" id="{13C5C2DD-7A4D-165E-F351-F6AFAED699E5}"/>
                </a:ext>
              </a:extLst>
            </p:cNvPr>
            <p:cNvSpPr/>
            <p:nvPr/>
          </p:nvSpPr>
          <p:spPr bwMode="auto">
            <a:xfrm>
              <a:off x="5487133" y="4868792"/>
              <a:ext cx="65943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15" name="35 Rectángulo">
              <a:extLst>
                <a:ext uri="{FF2B5EF4-FFF2-40B4-BE49-F238E27FC236}">
                  <a16:creationId xmlns:a16="http://schemas.microsoft.com/office/drawing/2014/main" id="{5DAF5F31-10B9-A082-4C90-64F9711ECA25}"/>
                </a:ext>
              </a:extLst>
            </p:cNvPr>
            <p:cNvSpPr/>
            <p:nvPr/>
          </p:nvSpPr>
          <p:spPr bwMode="auto">
            <a:xfrm>
              <a:off x="5620484" y="4868792"/>
              <a:ext cx="65942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16" name="36 Rectángulo">
              <a:extLst>
                <a:ext uri="{FF2B5EF4-FFF2-40B4-BE49-F238E27FC236}">
                  <a16:creationId xmlns:a16="http://schemas.microsoft.com/office/drawing/2014/main" id="{E4BA06E9-334E-9EE7-D927-28EA8B66065F}"/>
                </a:ext>
              </a:extLst>
            </p:cNvPr>
            <p:cNvSpPr/>
            <p:nvPr/>
          </p:nvSpPr>
          <p:spPr bwMode="auto">
            <a:xfrm>
              <a:off x="5819776" y="4868792"/>
              <a:ext cx="65942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17" name="37 Rectángulo">
              <a:extLst>
                <a:ext uri="{FF2B5EF4-FFF2-40B4-BE49-F238E27FC236}">
                  <a16:creationId xmlns:a16="http://schemas.microsoft.com/office/drawing/2014/main" id="{5571AADE-9990-C046-FFE6-1A6B9B2E6FC3}"/>
                </a:ext>
              </a:extLst>
            </p:cNvPr>
            <p:cNvSpPr/>
            <p:nvPr/>
          </p:nvSpPr>
          <p:spPr bwMode="auto">
            <a:xfrm>
              <a:off x="6019069" y="4868792"/>
              <a:ext cx="65942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18" name="38 Rectángulo">
              <a:extLst>
                <a:ext uri="{FF2B5EF4-FFF2-40B4-BE49-F238E27FC236}">
                  <a16:creationId xmlns:a16="http://schemas.microsoft.com/office/drawing/2014/main" id="{ACC09FF6-416A-D61E-70D5-617B1EA6916C}"/>
                </a:ext>
              </a:extLst>
            </p:cNvPr>
            <p:cNvSpPr/>
            <p:nvPr/>
          </p:nvSpPr>
          <p:spPr bwMode="auto">
            <a:xfrm>
              <a:off x="6218361" y="4868792"/>
              <a:ext cx="65942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19" name="39 Rectángulo">
              <a:extLst>
                <a:ext uri="{FF2B5EF4-FFF2-40B4-BE49-F238E27FC236}">
                  <a16:creationId xmlns:a16="http://schemas.microsoft.com/office/drawing/2014/main" id="{459B3999-E93C-E147-3AB7-6E8BE95B3391}"/>
                </a:ext>
              </a:extLst>
            </p:cNvPr>
            <p:cNvSpPr/>
            <p:nvPr/>
          </p:nvSpPr>
          <p:spPr bwMode="auto">
            <a:xfrm>
              <a:off x="6417653" y="4868792"/>
              <a:ext cx="65942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20" name="42 Rectángulo">
              <a:extLst>
                <a:ext uri="{FF2B5EF4-FFF2-40B4-BE49-F238E27FC236}">
                  <a16:creationId xmlns:a16="http://schemas.microsoft.com/office/drawing/2014/main" id="{0550FB98-FCA1-402A-0730-90E633AEBE6F}"/>
                </a:ext>
              </a:extLst>
            </p:cNvPr>
            <p:cNvSpPr/>
            <p:nvPr/>
          </p:nvSpPr>
          <p:spPr bwMode="auto">
            <a:xfrm>
              <a:off x="6750295" y="4868792"/>
              <a:ext cx="65943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21" name="47 Rectángulo">
              <a:extLst>
                <a:ext uri="{FF2B5EF4-FFF2-40B4-BE49-F238E27FC236}">
                  <a16:creationId xmlns:a16="http://schemas.microsoft.com/office/drawing/2014/main" id="{65E0562B-F1BF-22D7-ADBD-79CAE9A843CF}"/>
                </a:ext>
              </a:extLst>
            </p:cNvPr>
            <p:cNvSpPr/>
            <p:nvPr/>
          </p:nvSpPr>
          <p:spPr bwMode="auto">
            <a:xfrm>
              <a:off x="7081472" y="4868792"/>
              <a:ext cx="67408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22" name="50 Rectángulo">
              <a:extLst>
                <a:ext uri="{FF2B5EF4-FFF2-40B4-BE49-F238E27FC236}">
                  <a16:creationId xmlns:a16="http://schemas.microsoft.com/office/drawing/2014/main" id="{641577E5-7283-B9E3-6D11-47EC6F099279}"/>
                </a:ext>
              </a:extLst>
            </p:cNvPr>
            <p:cNvSpPr/>
            <p:nvPr/>
          </p:nvSpPr>
          <p:spPr bwMode="auto">
            <a:xfrm>
              <a:off x="7414115" y="4868792"/>
              <a:ext cx="67408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23" name="51 Rectángulo">
              <a:extLst>
                <a:ext uri="{FF2B5EF4-FFF2-40B4-BE49-F238E27FC236}">
                  <a16:creationId xmlns:a16="http://schemas.microsoft.com/office/drawing/2014/main" id="{2F3097BB-F451-5D01-BB0D-EB3BD0455F53}"/>
                </a:ext>
              </a:extLst>
            </p:cNvPr>
            <p:cNvSpPr/>
            <p:nvPr/>
          </p:nvSpPr>
          <p:spPr bwMode="auto">
            <a:xfrm>
              <a:off x="7746756" y="4868792"/>
              <a:ext cx="65943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 dirty="0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24" name="52 Rectángulo">
              <a:extLst>
                <a:ext uri="{FF2B5EF4-FFF2-40B4-BE49-F238E27FC236}">
                  <a16:creationId xmlns:a16="http://schemas.microsoft.com/office/drawing/2014/main" id="{E0478705-36D5-6298-3CF9-DAFE8CE73D55}"/>
                </a:ext>
              </a:extLst>
            </p:cNvPr>
            <p:cNvSpPr/>
            <p:nvPr/>
          </p:nvSpPr>
          <p:spPr bwMode="auto">
            <a:xfrm>
              <a:off x="4158030" y="4868792"/>
              <a:ext cx="65942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25" name="53 Rectángulo">
              <a:extLst>
                <a:ext uri="{FF2B5EF4-FFF2-40B4-BE49-F238E27FC236}">
                  <a16:creationId xmlns:a16="http://schemas.microsoft.com/office/drawing/2014/main" id="{82995C4D-D1AF-479C-A6E7-EEA626AC5534}"/>
                </a:ext>
              </a:extLst>
            </p:cNvPr>
            <p:cNvSpPr/>
            <p:nvPr/>
          </p:nvSpPr>
          <p:spPr bwMode="auto">
            <a:xfrm>
              <a:off x="3757980" y="4868792"/>
              <a:ext cx="67408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26" name="54 Rectángulo">
              <a:extLst>
                <a:ext uri="{FF2B5EF4-FFF2-40B4-BE49-F238E27FC236}">
                  <a16:creationId xmlns:a16="http://schemas.microsoft.com/office/drawing/2014/main" id="{51965F83-FCB3-D474-901A-B4571FE3487A}"/>
                </a:ext>
              </a:extLst>
            </p:cNvPr>
            <p:cNvSpPr/>
            <p:nvPr/>
          </p:nvSpPr>
          <p:spPr bwMode="auto">
            <a:xfrm>
              <a:off x="3898657" y="4868792"/>
              <a:ext cx="67408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27" name="55 Rectángulo">
              <a:extLst>
                <a:ext uri="{FF2B5EF4-FFF2-40B4-BE49-F238E27FC236}">
                  <a16:creationId xmlns:a16="http://schemas.microsoft.com/office/drawing/2014/main" id="{7DAD3522-7E2B-2A78-E7EB-B94F03E24411}"/>
                </a:ext>
              </a:extLst>
            </p:cNvPr>
            <p:cNvSpPr/>
            <p:nvPr/>
          </p:nvSpPr>
          <p:spPr bwMode="auto">
            <a:xfrm>
              <a:off x="4024679" y="4868792"/>
              <a:ext cx="65943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28" name="56 Rectángulo">
              <a:extLst>
                <a:ext uri="{FF2B5EF4-FFF2-40B4-BE49-F238E27FC236}">
                  <a16:creationId xmlns:a16="http://schemas.microsoft.com/office/drawing/2014/main" id="{6844F54F-2AFD-1584-87E3-09E08D92EC15}"/>
                </a:ext>
              </a:extLst>
            </p:cNvPr>
            <p:cNvSpPr/>
            <p:nvPr/>
          </p:nvSpPr>
          <p:spPr bwMode="auto">
            <a:xfrm>
              <a:off x="3558687" y="4868792"/>
              <a:ext cx="67408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29" name="57 Rectángulo">
              <a:extLst>
                <a:ext uri="{FF2B5EF4-FFF2-40B4-BE49-F238E27FC236}">
                  <a16:creationId xmlns:a16="http://schemas.microsoft.com/office/drawing/2014/main" id="{25621F40-5AA9-C93A-9F05-8903A84F24C8}"/>
                </a:ext>
              </a:extLst>
            </p:cNvPr>
            <p:cNvSpPr/>
            <p:nvPr/>
          </p:nvSpPr>
          <p:spPr bwMode="auto">
            <a:xfrm>
              <a:off x="2960810" y="4868792"/>
              <a:ext cx="65943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30" name="58 Rectángulo">
              <a:extLst>
                <a:ext uri="{FF2B5EF4-FFF2-40B4-BE49-F238E27FC236}">
                  <a16:creationId xmlns:a16="http://schemas.microsoft.com/office/drawing/2014/main" id="{106B3774-71E9-4745-4649-8BBD3A3CB049}"/>
                </a:ext>
              </a:extLst>
            </p:cNvPr>
            <p:cNvSpPr/>
            <p:nvPr/>
          </p:nvSpPr>
          <p:spPr bwMode="auto">
            <a:xfrm>
              <a:off x="3160103" y="4868792"/>
              <a:ext cx="67408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31" name="59 Rectángulo">
              <a:extLst>
                <a:ext uri="{FF2B5EF4-FFF2-40B4-BE49-F238E27FC236}">
                  <a16:creationId xmlns:a16="http://schemas.microsoft.com/office/drawing/2014/main" id="{37245A76-2FA9-F88C-D0F2-5130D0D0199C}"/>
                </a:ext>
              </a:extLst>
            </p:cNvPr>
            <p:cNvSpPr/>
            <p:nvPr/>
          </p:nvSpPr>
          <p:spPr bwMode="auto">
            <a:xfrm>
              <a:off x="3359395" y="4868792"/>
              <a:ext cx="67408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32" name="60 Rectángulo">
              <a:extLst>
                <a:ext uri="{FF2B5EF4-FFF2-40B4-BE49-F238E27FC236}">
                  <a16:creationId xmlns:a16="http://schemas.microsoft.com/office/drawing/2014/main" id="{FC1B9443-9F6B-441F-0475-75FDD1328890}"/>
                </a:ext>
              </a:extLst>
            </p:cNvPr>
            <p:cNvSpPr/>
            <p:nvPr/>
          </p:nvSpPr>
          <p:spPr bwMode="auto">
            <a:xfrm>
              <a:off x="2628169" y="4868792"/>
              <a:ext cx="67408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33" name="61 Rectángulo">
              <a:extLst>
                <a:ext uri="{FF2B5EF4-FFF2-40B4-BE49-F238E27FC236}">
                  <a16:creationId xmlns:a16="http://schemas.microsoft.com/office/drawing/2014/main" id="{405F3293-D1CE-35E1-FE39-10582A0A870A}"/>
                </a:ext>
              </a:extLst>
            </p:cNvPr>
            <p:cNvSpPr/>
            <p:nvPr/>
          </p:nvSpPr>
          <p:spPr bwMode="auto">
            <a:xfrm>
              <a:off x="1631707" y="4868792"/>
              <a:ext cx="65942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34" name="62 Rectángulo">
              <a:extLst>
                <a:ext uri="{FF2B5EF4-FFF2-40B4-BE49-F238E27FC236}">
                  <a16:creationId xmlns:a16="http://schemas.microsoft.com/office/drawing/2014/main" id="{AE559E07-252F-4056-9E50-51C45C5A6BDF}"/>
                </a:ext>
              </a:extLst>
            </p:cNvPr>
            <p:cNvSpPr/>
            <p:nvPr/>
          </p:nvSpPr>
          <p:spPr bwMode="auto">
            <a:xfrm>
              <a:off x="1964349" y="4868792"/>
              <a:ext cx="65943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35" name="63 Rectángulo">
              <a:extLst>
                <a:ext uri="{FF2B5EF4-FFF2-40B4-BE49-F238E27FC236}">
                  <a16:creationId xmlns:a16="http://schemas.microsoft.com/office/drawing/2014/main" id="{B471ABA1-5E3C-F916-FEF6-29AE20D74050}"/>
                </a:ext>
              </a:extLst>
            </p:cNvPr>
            <p:cNvSpPr/>
            <p:nvPr/>
          </p:nvSpPr>
          <p:spPr bwMode="auto">
            <a:xfrm>
              <a:off x="2296992" y="4868792"/>
              <a:ext cx="65942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36" name="65 Abrir llave">
              <a:extLst>
                <a:ext uri="{FF2B5EF4-FFF2-40B4-BE49-F238E27FC236}">
                  <a16:creationId xmlns:a16="http://schemas.microsoft.com/office/drawing/2014/main" id="{898A65CE-E239-C55B-1EFD-2B0DC461B407}"/>
                </a:ext>
              </a:extLst>
            </p:cNvPr>
            <p:cNvSpPr/>
            <p:nvPr/>
          </p:nvSpPr>
          <p:spPr bwMode="auto">
            <a:xfrm rot="16200000">
              <a:off x="5380860" y="5261238"/>
              <a:ext cx="143673" cy="531934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5400" cap="flat" cmpd="sng" algn="ctr">
              <a:solidFill>
                <a:schemeClr val="tx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37" name="66 Abrir llave">
              <a:extLst>
                <a:ext uri="{FF2B5EF4-FFF2-40B4-BE49-F238E27FC236}">
                  <a16:creationId xmlns:a16="http://schemas.microsoft.com/office/drawing/2014/main" id="{572F2142-4AE6-BF74-A80E-54BD05F511D5}"/>
                </a:ext>
              </a:extLst>
            </p:cNvPr>
            <p:cNvSpPr/>
            <p:nvPr/>
          </p:nvSpPr>
          <p:spPr bwMode="auto">
            <a:xfrm rot="16200000">
              <a:off x="6079116" y="5169650"/>
              <a:ext cx="143674" cy="715108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5400" cap="flat" cmpd="sng" algn="ctr">
              <a:solidFill>
                <a:schemeClr val="tx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38" name="67 Abrir llave">
              <a:extLst>
                <a:ext uri="{FF2B5EF4-FFF2-40B4-BE49-F238E27FC236}">
                  <a16:creationId xmlns:a16="http://schemas.microsoft.com/office/drawing/2014/main" id="{47008D44-C18D-B7FD-63B2-098DDD168B4C}"/>
                </a:ext>
              </a:extLst>
            </p:cNvPr>
            <p:cNvSpPr/>
            <p:nvPr/>
          </p:nvSpPr>
          <p:spPr bwMode="auto">
            <a:xfrm rot="16200000">
              <a:off x="7231397" y="4906856"/>
              <a:ext cx="150026" cy="1247043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5400" cap="flat" cmpd="sng" algn="ctr">
              <a:solidFill>
                <a:schemeClr val="tx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39" name="68 Abrir llave">
              <a:extLst>
                <a:ext uri="{FF2B5EF4-FFF2-40B4-BE49-F238E27FC236}">
                  <a16:creationId xmlns:a16="http://schemas.microsoft.com/office/drawing/2014/main" id="{981E65B4-8E0F-F0A1-9D17-F26514BFD6D3}"/>
                </a:ext>
              </a:extLst>
            </p:cNvPr>
            <p:cNvSpPr/>
            <p:nvPr/>
          </p:nvSpPr>
          <p:spPr bwMode="auto">
            <a:xfrm rot="16200000">
              <a:off x="3912668" y="5269909"/>
              <a:ext cx="159547" cy="530469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5400" cap="flat" cmpd="sng" algn="ctr">
              <a:solidFill>
                <a:schemeClr val="tx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40" name="69 Abrir llave">
              <a:extLst>
                <a:ext uri="{FF2B5EF4-FFF2-40B4-BE49-F238E27FC236}">
                  <a16:creationId xmlns:a16="http://schemas.microsoft.com/office/drawing/2014/main" id="{A9923D70-ED07-4B57-51C1-55F94EAA553A}"/>
                </a:ext>
              </a:extLst>
            </p:cNvPr>
            <p:cNvSpPr/>
            <p:nvPr/>
          </p:nvSpPr>
          <p:spPr bwMode="auto">
            <a:xfrm rot="16200000">
              <a:off x="3204888" y="5177590"/>
              <a:ext cx="159546" cy="715108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5400" cap="flat" cmpd="sng" algn="ctr">
              <a:solidFill>
                <a:schemeClr val="tx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sp>
          <p:nvSpPr>
            <p:cNvPr id="41" name="70 Abrir llave">
              <a:extLst>
                <a:ext uri="{FF2B5EF4-FFF2-40B4-BE49-F238E27FC236}">
                  <a16:creationId xmlns:a16="http://schemas.microsoft.com/office/drawing/2014/main" id="{705A9C87-0E58-5FE7-02CD-6E8DBE4A61B1}"/>
                </a:ext>
              </a:extLst>
            </p:cNvPr>
            <p:cNvSpPr/>
            <p:nvPr/>
          </p:nvSpPr>
          <p:spPr bwMode="auto">
            <a:xfrm rot="16200000">
              <a:off x="2062743" y="4910036"/>
              <a:ext cx="156370" cy="1247042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5400" cap="flat" cmpd="sng" algn="ctr">
              <a:solidFill>
                <a:schemeClr val="tx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solidFill>
                  <a:schemeClr val="tx1"/>
                </a:solidFill>
                <a:latin typeface="Arial" charset="0"/>
              </a:endParaRPr>
            </a:p>
          </p:txBody>
        </p:sp>
        <p:cxnSp>
          <p:nvCxnSpPr>
            <p:cNvPr id="42" name="75 Conector recto de flecha">
              <a:extLst>
                <a:ext uri="{FF2B5EF4-FFF2-40B4-BE49-F238E27FC236}">
                  <a16:creationId xmlns:a16="http://schemas.microsoft.com/office/drawing/2014/main" id="{DFB7FEF4-D397-AD08-563D-4B2F32FEACE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1267925" y="5773423"/>
              <a:ext cx="142875" cy="356089"/>
            </a:xfrm>
            <a:prstGeom prst="straightConnector1">
              <a:avLst/>
            </a:prstGeom>
            <a:noFill/>
            <a:ln w="12700">
              <a:noFill/>
              <a:round/>
              <a:headEnd/>
              <a:tailEnd type="arrow" w="med" len="med"/>
            </a:ln>
          </p:spPr>
        </p:cxnSp>
        <p:sp>
          <p:nvSpPr>
            <p:cNvPr id="43" name="85 CuadroTexto">
              <a:extLst>
                <a:ext uri="{FF2B5EF4-FFF2-40B4-BE49-F238E27FC236}">
                  <a16:creationId xmlns:a16="http://schemas.microsoft.com/office/drawing/2014/main" id="{4A5609B2-6704-77C1-DD63-93BDC77A84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88472" y="5807005"/>
              <a:ext cx="4249882" cy="6463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s-ES" sz="1800" dirty="0">
                  <a:solidFill>
                    <a:schemeClr val="tx1"/>
                  </a:solidFill>
                </a:rPr>
                <a:t>Cada grupo de valores tiene el </a:t>
              </a:r>
            </a:p>
            <a:p>
              <a:pPr algn="ctr"/>
              <a:r>
                <a:rPr lang="es-ES" sz="1800" dirty="0">
                  <a:solidFill>
                    <a:schemeClr val="tx1"/>
                  </a:solidFill>
                </a:rPr>
                <a:t>mismo exponente y diferentes mantisas</a:t>
              </a:r>
            </a:p>
          </p:txBody>
        </p:sp>
        <p:sp>
          <p:nvSpPr>
            <p:cNvPr id="97" name="15 CuadroTexto">
              <a:extLst>
                <a:ext uri="{FF2B5EF4-FFF2-40B4-BE49-F238E27FC236}">
                  <a16:creationId xmlns:a16="http://schemas.microsoft.com/office/drawing/2014/main" id="{1B09EF37-3737-A354-92BE-FBA58664ED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56198" y="3789040"/>
              <a:ext cx="443977" cy="5232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2800" b="1" dirty="0">
                  <a:solidFill>
                    <a:schemeClr val="tx1"/>
                  </a:solidFill>
                </a:rPr>
                <a:t>R</a:t>
              </a:r>
              <a:endParaRPr lang="es-ES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98" name="21 CuadroTexto">
              <a:extLst>
                <a:ext uri="{FF2B5EF4-FFF2-40B4-BE49-F238E27FC236}">
                  <a16:creationId xmlns:a16="http://schemas.microsoft.com/office/drawing/2014/main" id="{A8D16443-1722-2206-62BE-B26D194197D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91989" y="3819818"/>
              <a:ext cx="355837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2400" dirty="0">
                  <a:solidFill>
                    <a:schemeClr val="tx1"/>
                  </a:solidFill>
                </a:rPr>
                <a:t>0</a:t>
              </a:r>
              <a:endParaRPr lang="es-ES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99" name="106 Conector recto">
              <a:extLst>
                <a:ext uri="{FF2B5EF4-FFF2-40B4-BE49-F238E27FC236}">
                  <a16:creationId xmlns:a16="http://schemas.microsoft.com/office/drawing/2014/main" id="{6A885269-6A69-7853-1D80-CBBA2207731E}"/>
                </a:ext>
              </a:extLst>
            </p:cNvPr>
            <p:cNvCxnSpPr/>
            <p:nvPr/>
          </p:nvCxnSpPr>
          <p:spPr bwMode="auto">
            <a:xfrm>
              <a:off x="1115616" y="4437355"/>
              <a:ext cx="7111512" cy="0"/>
            </a:xfrm>
            <a:prstGeom prst="line">
              <a:avLst/>
            </a:prstGeom>
            <a:noFill/>
            <a:ln w="50800" cap="flat" cmpd="sng" algn="ctr">
              <a:solidFill>
                <a:schemeClr val="tx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00" name="40 Rectángulo redondeado">
              <a:extLst>
                <a:ext uri="{FF2B5EF4-FFF2-40B4-BE49-F238E27FC236}">
                  <a16:creationId xmlns:a16="http://schemas.microsoft.com/office/drawing/2014/main" id="{5A80C222-C677-2518-7976-9E910B35B7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48967" y="4267493"/>
              <a:ext cx="6846277" cy="339725"/>
            </a:xfrm>
            <a:prstGeom prst="roundRect">
              <a:avLst>
                <a:gd name="adj" fmla="val 16667"/>
              </a:avLst>
            </a:prstGeom>
            <a:solidFill>
              <a:srgbClr val="FF3300"/>
            </a:solidFill>
            <a:ln w="12700">
              <a:noFill/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"/>
            </a:p>
          </p:txBody>
        </p:sp>
      </p:grpSp>
    </p:spTree>
    <p:extLst>
      <p:ext uri="{BB962C8B-B14F-4D97-AF65-F5344CB8AC3E}">
        <p14:creationId xmlns:p14="http://schemas.microsoft.com/office/powerpoint/2010/main" val="25522387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28568A-FB0D-BBC0-0684-57468E51B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effectLst/>
              </a:rPr>
              <a:t>Notas sobre la representación de números</a:t>
            </a:r>
            <a:endParaRPr lang="es-ES_tradn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EB2838-86EE-AA57-1D90-F11156146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Los valores cercanos al cero</a:t>
            </a:r>
          </a:p>
          <a:p>
            <a:pPr lvl="1"/>
            <a:r>
              <a:rPr lang="es-ES" dirty="0"/>
              <a:t>El formato IEEE 754 reserva un subconjunto de palabras de bits para representar números reales cerca del cero, que se interpretan de forma diferente del resto de valores (valores desnormalizados)</a:t>
            </a:r>
          </a:p>
          <a:p>
            <a:pPr lvl="1"/>
            <a:r>
              <a:rPr lang="es-ES_tradnl" dirty="0"/>
              <a:t>No todas las unidades de coma flotante soportan este subconjunto de valores</a:t>
            </a:r>
            <a:endParaRPr lang="es-ES" dirty="0"/>
          </a:p>
          <a:p>
            <a:endParaRPr lang="es-ES_tradnl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87DF475-D425-4A47-D51B-DDB24F71A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  <p:grpSp>
        <p:nvGrpSpPr>
          <p:cNvPr id="53" name="Grupo 52">
            <a:extLst>
              <a:ext uri="{FF2B5EF4-FFF2-40B4-BE49-F238E27FC236}">
                <a16:creationId xmlns:a16="http://schemas.microsoft.com/office/drawing/2014/main" id="{072F87F3-8247-FFD8-C596-3F27ADBAB707}"/>
              </a:ext>
            </a:extLst>
          </p:cNvPr>
          <p:cNvGrpSpPr/>
          <p:nvPr/>
        </p:nvGrpSpPr>
        <p:grpSpPr>
          <a:xfrm>
            <a:off x="1115616" y="3789040"/>
            <a:ext cx="7111512" cy="2697183"/>
            <a:chOff x="1115616" y="3789040"/>
            <a:chExt cx="7111512" cy="2697183"/>
          </a:xfrm>
        </p:grpSpPr>
        <p:cxnSp>
          <p:nvCxnSpPr>
            <p:cNvPr id="11" name="6 Conector recto">
              <a:extLst>
                <a:ext uri="{FF2B5EF4-FFF2-40B4-BE49-F238E27FC236}">
                  <a16:creationId xmlns:a16="http://schemas.microsoft.com/office/drawing/2014/main" id="{0F5A9534-A505-7921-810D-71CEB9005C57}"/>
                </a:ext>
              </a:extLst>
            </p:cNvPr>
            <p:cNvCxnSpPr/>
            <p:nvPr/>
          </p:nvCxnSpPr>
          <p:spPr bwMode="auto">
            <a:xfrm>
              <a:off x="1115616" y="5075530"/>
              <a:ext cx="7111512" cy="0"/>
            </a:xfrm>
            <a:prstGeom prst="line">
              <a:avLst/>
            </a:prstGeom>
            <a:noFill/>
            <a:ln w="50800" cap="flat" cmpd="sng" algn="ctr">
              <a:solidFill>
                <a:schemeClr val="tx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15 CuadroTexto">
              <a:extLst>
                <a:ext uri="{FF2B5EF4-FFF2-40B4-BE49-F238E27FC236}">
                  <a16:creationId xmlns:a16="http://schemas.microsoft.com/office/drawing/2014/main" id="{FBA0328E-1951-6633-626E-9EDC29F3B75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56198" y="3789040"/>
              <a:ext cx="443977" cy="5232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2800" b="1" dirty="0">
                  <a:solidFill>
                    <a:schemeClr val="tx1"/>
                  </a:solidFill>
                </a:rPr>
                <a:t>R</a:t>
              </a:r>
              <a:endParaRPr lang="es-ES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21 CuadroTexto">
              <a:extLst>
                <a:ext uri="{FF2B5EF4-FFF2-40B4-BE49-F238E27FC236}">
                  <a16:creationId xmlns:a16="http://schemas.microsoft.com/office/drawing/2014/main" id="{73765596-76EB-988D-0644-1E96A837E9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91989" y="3819818"/>
              <a:ext cx="355837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2400" dirty="0">
                  <a:solidFill>
                    <a:schemeClr val="tx1"/>
                  </a:solidFill>
                </a:rPr>
                <a:t>0</a:t>
              </a:r>
              <a:endParaRPr lang="es-ES" sz="2400" dirty="0">
                <a:solidFill>
                  <a:schemeClr val="tx1"/>
                </a:solidFill>
              </a:endParaRPr>
            </a:p>
          </p:txBody>
        </p:sp>
        <p:sp>
          <p:nvSpPr>
            <p:cNvPr id="14" name="27 Rectángulo">
              <a:extLst>
                <a:ext uri="{FF2B5EF4-FFF2-40B4-BE49-F238E27FC236}">
                  <a16:creationId xmlns:a16="http://schemas.microsoft.com/office/drawing/2014/main" id="{DB51B8DF-0F19-769D-39E8-65E19FA9761A}"/>
                </a:ext>
              </a:extLst>
            </p:cNvPr>
            <p:cNvSpPr/>
            <p:nvPr/>
          </p:nvSpPr>
          <p:spPr bwMode="auto">
            <a:xfrm>
              <a:off x="4610559" y="4840580"/>
              <a:ext cx="65942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latin typeface="Arial" charset="0"/>
              </a:endParaRPr>
            </a:p>
          </p:txBody>
        </p:sp>
        <p:sp>
          <p:nvSpPr>
            <p:cNvPr id="15" name="31 Rectángulo">
              <a:extLst>
                <a:ext uri="{FF2B5EF4-FFF2-40B4-BE49-F238E27FC236}">
                  <a16:creationId xmlns:a16="http://schemas.microsoft.com/office/drawing/2014/main" id="{B7AD5C2F-7E8E-7CEE-17DE-F8089F1327FF}"/>
                </a:ext>
              </a:extLst>
            </p:cNvPr>
            <p:cNvSpPr/>
            <p:nvPr/>
          </p:nvSpPr>
          <p:spPr bwMode="auto">
            <a:xfrm>
              <a:off x="5287567" y="4840580"/>
              <a:ext cx="65942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latin typeface="Arial" charset="0"/>
              </a:endParaRPr>
            </a:p>
          </p:txBody>
        </p:sp>
        <p:sp>
          <p:nvSpPr>
            <p:cNvPr id="16" name="33 Rectángulo">
              <a:extLst>
                <a:ext uri="{FF2B5EF4-FFF2-40B4-BE49-F238E27FC236}">
                  <a16:creationId xmlns:a16="http://schemas.microsoft.com/office/drawing/2014/main" id="{6AECCC5A-A992-6040-C23E-4B60C0E65D5B}"/>
                </a:ext>
              </a:extLst>
            </p:cNvPr>
            <p:cNvSpPr/>
            <p:nvPr/>
          </p:nvSpPr>
          <p:spPr bwMode="auto">
            <a:xfrm>
              <a:off x="5428244" y="4840580"/>
              <a:ext cx="65942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latin typeface="Arial" charset="0"/>
              </a:endParaRPr>
            </a:p>
          </p:txBody>
        </p:sp>
        <p:sp>
          <p:nvSpPr>
            <p:cNvPr id="17" name="34 Rectángulo">
              <a:extLst>
                <a:ext uri="{FF2B5EF4-FFF2-40B4-BE49-F238E27FC236}">
                  <a16:creationId xmlns:a16="http://schemas.microsoft.com/office/drawing/2014/main" id="{81887F66-6A9F-E652-A208-02AA87D8E86C}"/>
                </a:ext>
              </a:extLst>
            </p:cNvPr>
            <p:cNvSpPr/>
            <p:nvPr/>
          </p:nvSpPr>
          <p:spPr bwMode="auto">
            <a:xfrm>
              <a:off x="5552801" y="4840580"/>
              <a:ext cx="65943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latin typeface="Arial" charset="0"/>
              </a:endParaRPr>
            </a:p>
          </p:txBody>
        </p:sp>
        <p:sp>
          <p:nvSpPr>
            <p:cNvPr id="18" name="35 Rectángulo">
              <a:extLst>
                <a:ext uri="{FF2B5EF4-FFF2-40B4-BE49-F238E27FC236}">
                  <a16:creationId xmlns:a16="http://schemas.microsoft.com/office/drawing/2014/main" id="{4ED86735-62E3-8918-124C-4AF2CB500B7C}"/>
                </a:ext>
              </a:extLst>
            </p:cNvPr>
            <p:cNvSpPr/>
            <p:nvPr/>
          </p:nvSpPr>
          <p:spPr bwMode="auto">
            <a:xfrm>
              <a:off x="5686152" y="4840580"/>
              <a:ext cx="65942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latin typeface="Arial" charset="0"/>
              </a:endParaRPr>
            </a:p>
          </p:txBody>
        </p:sp>
        <p:sp>
          <p:nvSpPr>
            <p:cNvPr id="19" name="36 Rectángulo">
              <a:extLst>
                <a:ext uri="{FF2B5EF4-FFF2-40B4-BE49-F238E27FC236}">
                  <a16:creationId xmlns:a16="http://schemas.microsoft.com/office/drawing/2014/main" id="{022F7D12-DBB6-6B2F-8D4B-7EBD961D6C76}"/>
                </a:ext>
              </a:extLst>
            </p:cNvPr>
            <p:cNvSpPr/>
            <p:nvPr/>
          </p:nvSpPr>
          <p:spPr bwMode="auto">
            <a:xfrm>
              <a:off x="5885444" y="4840580"/>
              <a:ext cx="65942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latin typeface="Arial" charset="0"/>
              </a:endParaRPr>
            </a:p>
          </p:txBody>
        </p:sp>
        <p:sp>
          <p:nvSpPr>
            <p:cNvPr id="20" name="37 Rectángulo">
              <a:extLst>
                <a:ext uri="{FF2B5EF4-FFF2-40B4-BE49-F238E27FC236}">
                  <a16:creationId xmlns:a16="http://schemas.microsoft.com/office/drawing/2014/main" id="{D8ED4327-D1BD-68A8-562C-3FCB3ED0EDAD}"/>
                </a:ext>
              </a:extLst>
            </p:cNvPr>
            <p:cNvSpPr/>
            <p:nvPr/>
          </p:nvSpPr>
          <p:spPr bwMode="auto">
            <a:xfrm>
              <a:off x="6084736" y="4840580"/>
              <a:ext cx="65942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latin typeface="Arial" charset="0"/>
              </a:endParaRPr>
            </a:p>
          </p:txBody>
        </p:sp>
        <p:sp>
          <p:nvSpPr>
            <p:cNvPr id="21" name="38 Rectángulo">
              <a:extLst>
                <a:ext uri="{FF2B5EF4-FFF2-40B4-BE49-F238E27FC236}">
                  <a16:creationId xmlns:a16="http://schemas.microsoft.com/office/drawing/2014/main" id="{A30B46FB-AB0F-2E93-51F7-9B054963D79B}"/>
                </a:ext>
              </a:extLst>
            </p:cNvPr>
            <p:cNvSpPr/>
            <p:nvPr/>
          </p:nvSpPr>
          <p:spPr bwMode="auto">
            <a:xfrm>
              <a:off x="6284028" y="4840580"/>
              <a:ext cx="65942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latin typeface="Arial" charset="0"/>
              </a:endParaRPr>
            </a:p>
          </p:txBody>
        </p:sp>
        <p:sp>
          <p:nvSpPr>
            <p:cNvPr id="22" name="39 Rectángulo">
              <a:extLst>
                <a:ext uri="{FF2B5EF4-FFF2-40B4-BE49-F238E27FC236}">
                  <a16:creationId xmlns:a16="http://schemas.microsoft.com/office/drawing/2014/main" id="{82BADE8E-0C98-92FA-2C96-2D5213849338}"/>
                </a:ext>
              </a:extLst>
            </p:cNvPr>
            <p:cNvSpPr/>
            <p:nvPr/>
          </p:nvSpPr>
          <p:spPr bwMode="auto">
            <a:xfrm>
              <a:off x="6483321" y="4840580"/>
              <a:ext cx="65942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latin typeface="Arial" charset="0"/>
              </a:endParaRPr>
            </a:p>
          </p:txBody>
        </p:sp>
        <p:sp>
          <p:nvSpPr>
            <p:cNvPr id="23" name="52 Rectángulo">
              <a:extLst>
                <a:ext uri="{FF2B5EF4-FFF2-40B4-BE49-F238E27FC236}">
                  <a16:creationId xmlns:a16="http://schemas.microsoft.com/office/drawing/2014/main" id="{A84338BC-791F-9E14-ACF6-13A18AF584FD}"/>
                </a:ext>
              </a:extLst>
            </p:cNvPr>
            <p:cNvSpPr/>
            <p:nvPr/>
          </p:nvSpPr>
          <p:spPr bwMode="auto">
            <a:xfrm>
              <a:off x="3923293" y="4840580"/>
              <a:ext cx="65943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latin typeface="Arial" charset="0"/>
              </a:endParaRPr>
            </a:p>
          </p:txBody>
        </p:sp>
        <p:sp>
          <p:nvSpPr>
            <p:cNvPr id="24" name="53 Rectángulo">
              <a:extLst>
                <a:ext uri="{FF2B5EF4-FFF2-40B4-BE49-F238E27FC236}">
                  <a16:creationId xmlns:a16="http://schemas.microsoft.com/office/drawing/2014/main" id="{594A391A-C39E-032B-E500-62AA8B2D8DAE}"/>
                </a:ext>
              </a:extLst>
            </p:cNvPr>
            <p:cNvSpPr/>
            <p:nvPr/>
          </p:nvSpPr>
          <p:spPr bwMode="auto">
            <a:xfrm>
              <a:off x="3524708" y="4840580"/>
              <a:ext cx="65943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latin typeface="Arial" charset="0"/>
              </a:endParaRPr>
            </a:p>
          </p:txBody>
        </p:sp>
        <p:sp>
          <p:nvSpPr>
            <p:cNvPr id="25" name="54 Rectángulo">
              <a:extLst>
                <a:ext uri="{FF2B5EF4-FFF2-40B4-BE49-F238E27FC236}">
                  <a16:creationId xmlns:a16="http://schemas.microsoft.com/office/drawing/2014/main" id="{041BCBB2-C745-E3B3-18EF-A96D41362F79}"/>
                </a:ext>
              </a:extLst>
            </p:cNvPr>
            <p:cNvSpPr/>
            <p:nvPr/>
          </p:nvSpPr>
          <p:spPr bwMode="auto">
            <a:xfrm>
              <a:off x="3665385" y="4840580"/>
              <a:ext cx="65943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latin typeface="Arial" charset="0"/>
              </a:endParaRPr>
            </a:p>
          </p:txBody>
        </p:sp>
        <p:sp>
          <p:nvSpPr>
            <p:cNvPr id="26" name="55 Rectángulo">
              <a:extLst>
                <a:ext uri="{FF2B5EF4-FFF2-40B4-BE49-F238E27FC236}">
                  <a16:creationId xmlns:a16="http://schemas.microsoft.com/office/drawing/2014/main" id="{51F3C891-CAA5-A2E7-BD58-53D55B137F3C}"/>
                </a:ext>
              </a:extLst>
            </p:cNvPr>
            <p:cNvSpPr/>
            <p:nvPr/>
          </p:nvSpPr>
          <p:spPr bwMode="auto">
            <a:xfrm>
              <a:off x="3789944" y="4840580"/>
              <a:ext cx="67408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latin typeface="Arial" charset="0"/>
              </a:endParaRPr>
            </a:p>
          </p:txBody>
        </p:sp>
        <p:sp>
          <p:nvSpPr>
            <p:cNvPr id="27" name="56 Rectángulo">
              <a:extLst>
                <a:ext uri="{FF2B5EF4-FFF2-40B4-BE49-F238E27FC236}">
                  <a16:creationId xmlns:a16="http://schemas.microsoft.com/office/drawing/2014/main" id="{28993D67-670A-E4FC-DC9B-7184A882B99D}"/>
                </a:ext>
              </a:extLst>
            </p:cNvPr>
            <p:cNvSpPr/>
            <p:nvPr/>
          </p:nvSpPr>
          <p:spPr bwMode="auto">
            <a:xfrm>
              <a:off x="3325416" y="4840580"/>
              <a:ext cx="65943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latin typeface="Arial" charset="0"/>
              </a:endParaRPr>
            </a:p>
          </p:txBody>
        </p:sp>
        <p:sp>
          <p:nvSpPr>
            <p:cNvPr id="28" name="57 Rectángulo">
              <a:extLst>
                <a:ext uri="{FF2B5EF4-FFF2-40B4-BE49-F238E27FC236}">
                  <a16:creationId xmlns:a16="http://schemas.microsoft.com/office/drawing/2014/main" id="{1A824967-4A0D-2D6A-E5F8-5310E96DEB7D}"/>
                </a:ext>
              </a:extLst>
            </p:cNvPr>
            <p:cNvSpPr/>
            <p:nvPr/>
          </p:nvSpPr>
          <p:spPr bwMode="auto">
            <a:xfrm>
              <a:off x="2726075" y="4840580"/>
              <a:ext cx="67408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latin typeface="Arial" charset="0"/>
              </a:endParaRPr>
            </a:p>
          </p:txBody>
        </p:sp>
        <p:sp>
          <p:nvSpPr>
            <p:cNvPr id="29" name="58 Rectángulo">
              <a:extLst>
                <a:ext uri="{FF2B5EF4-FFF2-40B4-BE49-F238E27FC236}">
                  <a16:creationId xmlns:a16="http://schemas.microsoft.com/office/drawing/2014/main" id="{879326B3-1340-F6F2-EA75-37B45E2C9D04}"/>
                </a:ext>
              </a:extLst>
            </p:cNvPr>
            <p:cNvSpPr/>
            <p:nvPr/>
          </p:nvSpPr>
          <p:spPr bwMode="auto">
            <a:xfrm>
              <a:off x="2926831" y="4840580"/>
              <a:ext cx="65943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latin typeface="Arial" charset="0"/>
              </a:endParaRPr>
            </a:p>
          </p:txBody>
        </p:sp>
        <p:sp>
          <p:nvSpPr>
            <p:cNvPr id="30" name="59 Rectángulo">
              <a:extLst>
                <a:ext uri="{FF2B5EF4-FFF2-40B4-BE49-F238E27FC236}">
                  <a16:creationId xmlns:a16="http://schemas.microsoft.com/office/drawing/2014/main" id="{8BA47591-70B7-BC42-AC3B-C57230B408BF}"/>
                </a:ext>
              </a:extLst>
            </p:cNvPr>
            <p:cNvSpPr/>
            <p:nvPr/>
          </p:nvSpPr>
          <p:spPr bwMode="auto">
            <a:xfrm>
              <a:off x="3126124" y="4840580"/>
              <a:ext cx="65943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latin typeface="Arial" charset="0"/>
              </a:endParaRPr>
            </a:p>
          </p:txBody>
        </p:sp>
        <p:sp>
          <p:nvSpPr>
            <p:cNvPr id="31" name="73 CuadroTexto">
              <a:extLst>
                <a:ext uri="{FF2B5EF4-FFF2-40B4-BE49-F238E27FC236}">
                  <a16:creationId xmlns:a16="http://schemas.microsoft.com/office/drawing/2014/main" id="{157F336F-07F8-CA88-B9E5-996E6138B6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82316" y="5562893"/>
              <a:ext cx="2693879" cy="9233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s-ES" sz="1800" dirty="0">
                  <a:solidFill>
                    <a:schemeClr val="tx1"/>
                  </a:solidFill>
                </a:rPr>
                <a:t>Valores especiales para </a:t>
              </a:r>
            </a:p>
            <a:p>
              <a:pPr algn="ctr"/>
              <a:r>
                <a:rPr lang="es-ES" sz="1800" dirty="0">
                  <a:solidFill>
                    <a:schemeClr val="tx1"/>
                  </a:solidFill>
                </a:rPr>
                <a:t>trabajar cerca del cero</a:t>
              </a:r>
            </a:p>
            <a:p>
              <a:pPr algn="ctr"/>
              <a:r>
                <a:rPr lang="es-ES" sz="1800" dirty="0">
                  <a:solidFill>
                    <a:schemeClr val="tx1"/>
                  </a:solidFill>
                </a:rPr>
                <a:t>(mismo exponente)</a:t>
              </a:r>
            </a:p>
          </p:txBody>
        </p:sp>
        <p:sp>
          <p:nvSpPr>
            <p:cNvPr id="32" name="71 Rectángulo">
              <a:extLst>
                <a:ext uri="{FF2B5EF4-FFF2-40B4-BE49-F238E27FC236}">
                  <a16:creationId xmlns:a16="http://schemas.microsoft.com/office/drawing/2014/main" id="{CBE64B37-0E19-AB25-3AE1-CA43639629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63970" y="4842167"/>
              <a:ext cx="67408" cy="433388"/>
            </a:xfrm>
            <a:prstGeom prst="rect">
              <a:avLst/>
            </a:prstGeom>
            <a:solidFill>
              <a:srgbClr val="00FF00"/>
            </a:solidFill>
            <a:ln w="12700">
              <a:solidFill>
                <a:srgbClr val="00FF00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3" name="74 Rectángulo">
              <a:extLst>
                <a:ext uri="{FF2B5EF4-FFF2-40B4-BE49-F238E27FC236}">
                  <a16:creationId xmlns:a16="http://schemas.microsoft.com/office/drawing/2014/main" id="{FFBD375A-8538-A9B7-5017-1286842FED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97321" y="4842167"/>
              <a:ext cx="65942" cy="433388"/>
            </a:xfrm>
            <a:prstGeom prst="rect">
              <a:avLst/>
            </a:prstGeom>
            <a:solidFill>
              <a:srgbClr val="00FF00"/>
            </a:solidFill>
            <a:ln w="12700">
              <a:solidFill>
                <a:srgbClr val="00FF00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4" name="76 Rectángulo">
              <a:extLst>
                <a:ext uri="{FF2B5EF4-FFF2-40B4-BE49-F238E27FC236}">
                  <a16:creationId xmlns:a16="http://schemas.microsoft.com/office/drawing/2014/main" id="{8E83D3CE-AFF4-FA16-8EE3-4582FDC188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62555" y="4842167"/>
              <a:ext cx="67408" cy="433388"/>
            </a:xfrm>
            <a:prstGeom prst="rect">
              <a:avLst/>
            </a:prstGeom>
            <a:solidFill>
              <a:srgbClr val="00FF00"/>
            </a:solidFill>
            <a:ln w="12700">
              <a:solidFill>
                <a:srgbClr val="00FF00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5" name="77 Rectángulo">
              <a:extLst>
                <a:ext uri="{FF2B5EF4-FFF2-40B4-BE49-F238E27FC236}">
                  <a16:creationId xmlns:a16="http://schemas.microsoft.com/office/drawing/2014/main" id="{99B37D65-A034-CA3F-1385-2A2D0B0886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0670" y="4842167"/>
              <a:ext cx="65943" cy="433388"/>
            </a:xfrm>
            <a:prstGeom prst="rect">
              <a:avLst/>
            </a:prstGeom>
            <a:solidFill>
              <a:srgbClr val="00FF00"/>
            </a:solidFill>
            <a:ln w="12700">
              <a:solidFill>
                <a:srgbClr val="00FF00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6" name="84 Rectángulo">
              <a:extLst>
                <a:ext uri="{FF2B5EF4-FFF2-40B4-BE49-F238E27FC236}">
                  <a16:creationId xmlns:a16="http://schemas.microsoft.com/office/drawing/2014/main" id="{F006A972-924A-06A4-3065-330613040A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52701" y="4842167"/>
              <a:ext cx="67408" cy="433388"/>
            </a:xfrm>
            <a:prstGeom prst="rect">
              <a:avLst/>
            </a:prstGeom>
            <a:solidFill>
              <a:srgbClr val="00FF00"/>
            </a:solidFill>
            <a:ln w="12700">
              <a:solidFill>
                <a:srgbClr val="00FF00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7" name="85 Rectángulo">
              <a:extLst>
                <a:ext uri="{FF2B5EF4-FFF2-40B4-BE49-F238E27FC236}">
                  <a16:creationId xmlns:a16="http://schemas.microsoft.com/office/drawing/2014/main" id="{E4377EB5-533B-E7E0-84D5-C616D85B21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86052" y="4842167"/>
              <a:ext cx="65942" cy="433388"/>
            </a:xfrm>
            <a:prstGeom prst="rect">
              <a:avLst/>
            </a:prstGeom>
            <a:solidFill>
              <a:srgbClr val="00FF00"/>
            </a:solidFill>
            <a:ln w="12700">
              <a:solidFill>
                <a:srgbClr val="00FF00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8" name="86 Rectángulo">
              <a:extLst>
                <a:ext uri="{FF2B5EF4-FFF2-40B4-BE49-F238E27FC236}">
                  <a16:creationId xmlns:a16="http://schemas.microsoft.com/office/drawing/2014/main" id="{863C7FFA-6AF4-2198-2C4E-269FF2B34D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1286" y="4842167"/>
              <a:ext cx="67408" cy="433388"/>
            </a:xfrm>
            <a:prstGeom prst="rect">
              <a:avLst/>
            </a:prstGeom>
            <a:solidFill>
              <a:srgbClr val="00FF00"/>
            </a:solidFill>
            <a:ln w="12700">
              <a:solidFill>
                <a:srgbClr val="00FF00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9" name="87 Rectángulo">
              <a:extLst>
                <a:ext uri="{FF2B5EF4-FFF2-40B4-BE49-F238E27FC236}">
                  <a16:creationId xmlns:a16="http://schemas.microsoft.com/office/drawing/2014/main" id="{0EE9B5EC-5AAE-C528-DCE6-5D58874609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19401" y="4842167"/>
              <a:ext cx="65943" cy="433388"/>
            </a:xfrm>
            <a:prstGeom prst="rect">
              <a:avLst/>
            </a:prstGeom>
            <a:solidFill>
              <a:srgbClr val="00FF00"/>
            </a:solidFill>
            <a:ln w="12700">
              <a:solidFill>
                <a:srgbClr val="00FF00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0" name="90 Abrir llave">
              <a:extLst>
                <a:ext uri="{FF2B5EF4-FFF2-40B4-BE49-F238E27FC236}">
                  <a16:creationId xmlns:a16="http://schemas.microsoft.com/office/drawing/2014/main" id="{7C16B614-2C45-F12A-E781-CC2C9041BD75}"/>
                </a:ext>
              </a:extLst>
            </p:cNvPr>
            <p:cNvSpPr/>
            <p:nvPr/>
          </p:nvSpPr>
          <p:spPr bwMode="auto">
            <a:xfrm rot="16200000">
              <a:off x="4842762" y="5153257"/>
              <a:ext cx="287337" cy="531935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5400" cap="flat" cmpd="sng" algn="ctr">
              <a:solidFill>
                <a:schemeClr val="tx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latin typeface="Arial" charset="0"/>
              </a:endParaRPr>
            </a:p>
          </p:txBody>
        </p:sp>
        <p:sp>
          <p:nvSpPr>
            <p:cNvPr id="41" name="91 Abrir llave">
              <a:extLst>
                <a:ext uri="{FF2B5EF4-FFF2-40B4-BE49-F238E27FC236}">
                  <a16:creationId xmlns:a16="http://schemas.microsoft.com/office/drawing/2014/main" id="{53CFCF03-47CF-0C32-DD8A-491C7316E14E}"/>
                </a:ext>
              </a:extLst>
            </p:cNvPr>
            <p:cNvSpPr/>
            <p:nvPr/>
          </p:nvSpPr>
          <p:spPr bwMode="auto">
            <a:xfrm rot="16200000">
              <a:off x="4162823" y="5153257"/>
              <a:ext cx="287337" cy="531935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5400" cap="flat" cmpd="sng" algn="ctr">
              <a:solidFill>
                <a:schemeClr val="tx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latin typeface="Arial" charset="0"/>
              </a:endParaRPr>
            </a:p>
          </p:txBody>
        </p:sp>
        <p:sp>
          <p:nvSpPr>
            <p:cNvPr id="42" name="96 Rectángulo">
              <a:extLst>
                <a:ext uri="{FF2B5EF4-FFF2-40B4-BE49-F238E27FC236}">
                  <a16:creationId xmlns:a16="http://schemas.microsoft.com/office/drawing/2014/main" id="{E9D2D04C-0958-A67D-F05F-726C9B62AE20}"/>
                </a:ext>
              </a:extLst>
            </p:cNvPr>
            <p:cNvSpPr/>
            <p:nvPr/>
          </p:nvSpPr>
          <p:spPr bwMode="auto">
            <a:xfrm>
              <a:off x="6780793" y="4840580"/>
              <a:ext cx="67408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latin typeface="Arial" charset="0"/>
              </a:endParaRPr>
            </a:p>
          </p:txBody>
        </p:sp>
        <p:sp>
          <p:nvSpPr>
            <p:cNvPr id="43" name="97 Rectángulo">
              <a:extLst>
                <a:ext uri="{FF2B5EF4-FFF2-40B4-BE49-F238E27FC236}">
                  <a16:creationId xmlns:a16="http://schemas.microsoft.com/office/drawing/2014/main" id="{88740F71-373B-2345-FA43-88EDC7159D18}"/>
                </a:ext>
              </a:extLst>
            </p:cNvPr>
            <p:cNvSpPr/>
            <p:nvPr/>
          </p:nvSpPr>
          <p:spPr bwMode="auto">
            <a:xfrm>
              <a:off x="7113436" y="4840580"/>
              <a:ext cx="67408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latin typeface="Arial" charset="0"/>
              </a:endParaRPr>
            </a:p>
          </p:txBody>
        </p:sp>
        <p:sp>
          <p:nvSpPr>
            <p:cNvPr id="44" name="98 Rectángulo">
              <a:extLst>
                <a:ext uri="{FF2B5EF4-FFF2-40B4-BE49-F238E27FC236}">
                  <a16:creationId xmlns:a16="http://schemas.microsoft.com/office/drawing/2014/main" id="{A0B18624-1EE1-0E74-F834-4B1048732B32}"/>
                </a:ext>
              </a:extLst>
            </p:cNvPr>
            <p:cNvSpPr/>
            <p:nvPr/>
          </p:nvSpPr>
          <p:spPr bwMode="auto">
            <a:xfrm>
              <a:off x="7446078" y="4840580"/>
              <a:ext cx="65943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latin typeface="Arial" charset="0"/>
              </a:endParaRPr>
            </a:p>
          </p:txBody>
        </p:sp>
        <p:sp>
          <p:nvSpPr>
            <p:cNvPr id="45" name="99 Rectángulo">
              <a:extLst>
                <a:ext uri="{FF2B5EF4-FFF2-40B4-BE49-F238E27FC236}">
                  <a16:creationId xmlns:a16="http://schemas.microsoft.com/office/drawing/2014/main" id="{E6FFA60E-259D-BF2E-7569-54F016658CA3}"/>
                </a:ext>
              </a:extLst>
            </p:cNvPr>
            <p:cNvSpPr/>
            <p:nvPr/>
          </p:nvSpPr>
          <p:spPr bwMode="auto">
            <a:xfrm>
              <a:off x="7778721" y="4840580"/>
              <a:ext cx="65942" cy="431800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 dirty="0">
                <a:latin typeface="Arial" charset="0"/>
              </a:endParaRPr>
            </a:p>
          </p:txBody>
        </p:sp>
        <p:sp>
          <p:nvSpPr>
            <p:cNvPr id="46" name="101 Rectángulo">
              <a:extLst>
                <a:ext uri="{FF2B5EF4-FFF2-40B4-BE49-F238E27FC236}">
                  <a16:creationId xmlns:a16="http://schemas.microsoft.com/office/drawing/2014/main" id="{D51E24CE-8E19-F8B0-8DAA-5FC94677C6F4}"/>
                </a:ext>
              </a:extLst>
            </p:cNvPr>
            <p:cNvSpPr/>
            <p:nvPr/>
          </p:nvSpPr>
          <p:spPr bwMode="auto">
            <a:xfrm>
              <a:off x="1448259" y="4842167"/>
              <a:ext cx="65942" cy="433388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 dirty="0">
                <a:latin typeface="Arial" charset="0"/>
              </a:endParaRPr>
            </a:p>
          </p:txBody>
        </p:sp>
        <p:sp>
          <p:nvSpPr>
            <p:cNvPr id="47" name="102 Rectángulo">
              <a:extLst>
                <a:ext uri="{FF2B5EF4-FFF2-40B4-BE49-F238E27FC236}">
                  <a16:creationId xmlns:a16="http://schemas.microsoft.com/office/drawing/2014/main" id="{97A09693-3F12-0E1A-1BAA-1C46430DB7AF}"/>
                </a:ext>
              </a:extLst>
            </p:cNvPr>
            <p:cNvSpPr/>
            <p:nvPr/>
          </p:nvSpPr>
          <p:spPr bwMode="auto">
            <a:xfrm>
              <a:off x="1779436" y="4842167"/>
              <a:ext cx="67408" cy="433388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latin typeface="Arial" charset="0"/>
              </a:endParaRPr>
            </a:p>
          </p:txBody>
        </p:sp>
        <p:sp>
          <p:nvSpPr>
            <p:cNvPr id="48" name="103 Rectángulo">
              <a:extLst>
                <a:ext uri="{FF2B5EF4-FFF2-40B4-BE49-F238E27FC236}">
                  <a16:creationId xmlns:a16="http://schemas.microsoft.com/office/drawing/2014/main" id="{9D7072D7-A72F-6F86-D007-5F9BA7E74B32}"/>
                </a:ext>
              </a:extLst>
            </p:cNvPr>
            <p:cNvSpPr/>
            <p:nvPr/>
          </p:nvSpPr>
          <p:spPr bwMode="auto">
            <a:xfrm>
              <a:off x="2112078" y="4842167"/>
              <a:ext cx="67408" cy="433388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>
                <a:latin typeface="Arial" charset="0"/>
              </a:endParaRPr>
            </a:p>
          </p:txBody>
        </p:sp>
        <p:sp>
          <p:nvSpPr>
            <p:cNvPr id="49" name="104 Rectángulo">
              <a:extLst>
                <a:ext uri="{FF2B5EF4-FFF2-40B4-BE49-F238E27FC236}">
                  <a16:creationId xmlns:a16="http://schemas.microsoft.com/office/drawing/2014/main" id="{2363AEB7-74CA-D7CA-B59F-A9BE9CB72086}"/>
                </a:ext>
              </a:extLst>
            </p:cNvPr>
            <p:cNvSpPr/>
            <p:nvPr/>
          </p:nvSpPr>
          <p:spPr bwMode="auto">
            <a:xfrm>
              <a:off x="2444721" y="4842167"/>
              <a:ext cx="65942" cy="433388"/>
            </a:xfrm>
            <a:prstGeom prst="rect">
              <a:avLst/>
            </a:prstGeom>
            <a:solidFill>
              <a:schemeClr val="accent2">
                <a:lumMod val="90000"/>
              </a:schemeClr>
            </a:solidFill>
            <a:ln w="127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s-ES" dirty="0">
                <a:latin typeface="Arial" charset="0"/>
              </a:endParaRPr>
            </a:p>
          </p:txBody>
        </p:sp>
        <p:cxnSp>
          <p:nvCxnSpPr>
            <p:cNvPr id="50" name="106 Conector recto">
              <a:extLst>
                <a:ext uri="{FF2B5EF4-FFF2-40B4-BE49-F238E27FC236}">
                  <a16:creationId xmlns:a16="http://schemas.microsoft.com/office/drawing/2014/main" id="{6E7D6B20-F40E-8C76-C966-C6CA9DA68025}"/>
                </a:ext>
              </a:extLst>
            </p:cNvPr>
            <p:cNvCxnSpPr/>
            <p:nvPr/>
          </p:nvCxnSpPr>
          <p:spPr bwMode="auto">
            <a:xfrm>
              <a:off x="1115616" y="4437355"/>
              <a:ext cx="7111512" cy="0"/>
            </a:xfrm>
            <a:prstGeom prst="line">
              <a:avLst/>
            </a:prstGeom>
            <a:noFill/>
            <a:ln w="50800" cap="flat" cmpd="sng" algn="ctr">
              <a:solidFill>
                <a:schemeClr val="tx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1" name="40 Rectángulo redondeado">
              <a:extLst>
                <a:ext uri="{FF2B5EF4-FFF2-40B4-BE49-F238E27FC236}">
                  <a16:creationId xmlns:a16="http://schemas.microsoft.com/office/drawing/2014/main" id="{25016E8B-6A24-06EE-E9CF-E3A0F84965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48967" y="4267493"/>
              <a:ext cx="6846277" cy="339725"/>
            </a:xfrm>
            <a:prstGeom prst="roundRect">
              <a:avLst>
                <a:gd name="adj" fmla="val 16667"/>
              </a:avLst>
            </a:prstGeom>
            <a:solidFill>
              <a:srgbClr val="FF3300"/>
            </a:solidFill>
            <a:ln w="12700">
              <a:noFill/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"/>
            </a:p>
          </p:txBody>
        </p:sp>
      </p:grpSp>
    </p:spTree>
    <p:extLst>
      <p:ext uri="{BB962C8B-B14F-4D97-AF65-F5344CB8AC3E}">
        <p14:creationId xmlns:p14="http://schemas.microsoft.com/office/powerpoint/2010/main" val="26822044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B9AA4D-5F77-5D23-4BEE-FB2181B53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effectLst/>
              </a:rPr>
              <a:t>La norma IEEE 754</a:t>
            </a:r>
            <a:endParaRPr lang="es-ES_tradn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7FC1F32-595E-C52E-4329-96FE16D8EF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Alcance de la norma</a:t>
            </a:r>
          </a:p>
          <a:p>
            <a:pPr lvl="1"/>
            <a:r>
              <a:rPr lang="es-ES" dirty="0"/>
              <a:t>La norma IEEE STD 754-2019 especifica:</a:t>
            </a:r>
          </a:p>
          <a:p>
            <a:pPr lvl="2"/>
            <a:r>
              <a:rPr lang="es-ES" dirty="0"/>
              <a:t>Codificación: cómo representar los números en diversos formatos (precisiones media, simple, doble y extendida: HP, SP, DP, EP) y el tratamiento de casos particulares: NaN (Not a Number), </a:t>
            </a:r>
            <a:r>
              <a:rPr lang="es-ES" dirty="0">
                <a:sym typeface="Symbol" pitchFamily="31" charset="2"/>
              </a:rPr>
              <a:t>±</a:t>
            </a:r>
            <a:r>
              <a:rPr lang="es-ES" sz="2800" dirty="0">
                <a:sym typeface="Symbol" pitchFamily="31" charset="2"/>
              </a:rPr>
              <a:t></a:t>
            </a:r>
            <a:r>
              <a:rPr lang="es-ES" dirty="0">
                <a:sym typeface="Symbol" pitchFamily="31" charset="2"/>
              </a:rPr>
              <a:t> (Infinity), 0 (</a:t>
            </a:r>
            <a:r>
              <a:rPr lang="es-ES" dirty="0" err="1">
                <a:sym typeface="Symbol" pitchFamily="31" charset="2"/>
              </a:rPr>
              <a:t>zero</a:t>
            </a:r>
            <a:r>
              <a:rPr lang="es-ES" dirty="0">
                <a:sym typeface="Symbol" pitchFamily="31" charset="2"/>
              </a:rPr>
              <a:t>)</a:t>
            </a:r>
            <a:endParaRPr lang="es-ES" dirty="0"/>
          </a:p>
          <a:p>
            <a:pPr lvl="2"/>
            <a:r>
              <a:rPr lang="es-ES" dirty="0"/>
              <a:t>Unos modos de funcionamiento (p. e., el método de redondeo aplicable durante los cálculos)</a:t>
            </a:r>
          </a:p>
          <a:p>
            <a:pPr lvl="2"/>
            <a:r>
              <a:rPr lang="es-ES" dirty="0"/>
              <a:t>Un conjunto de operaciones que se pueden implementar en el hardware o en forma de bibliotecas</a:t>
            </a:r>
            <a:endParaRPr lang="es-ES" dirty="0">
              <a:sym typeface="Symbol" pitchFamily="31" charset="2"/>
            </a:endParaRPr>
          </a:p>
          <a:p>
            <a:pPr lvl="2"/>
            <a:r>
              <a:rPr lang="es-ES" dirty="0">
                <a:sym typeface="Symbol" pitchFamily="31" charset="2"/>
              </a:rPr>
              <a:t>El soporte que debe dar el sistema de excepciones de los procesadores (para que se puedan diseñar buenas bibliotecas de cálculo científico)</a:t>
            </a:r>
            <a:endParaRPr lang="es-ES" dirty="0"/>
          </a:p>
          <a:p>
            <a:endParaRPr lang="es-ES_tradnl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8A9BF27-B2A6-4CF9-3055-F6D90836E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27657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29AB97-1694-B418-7E66-9BA5D16CA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effectLst/>
              </a:rPr>
              <a:t>La norma IEEE 754</a:t>
            </a:r>
            <a:endParaRPr lang="es-ES_tradn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55EE900-99D4-69ED-D1F1-480144BF7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Representación</a:t>
            </a:r>
          </a:p>
          <a:p>
            <a:pPr lvl="1"/>
            <a:r>
              <a:rPr lang="es-ES" sz="1800" dirty="0"/>
              <a:t>Símbolos: S es el signo, M la magnitud de la mantisa, E el exponente </a:t>
            </a:r>
          </a:p>
          <a:p>
            <a:pPr lvl="4"/>
            <a:endParaRPr lang="es-ES" sz="1400" dirty="0"/>
          </a:p>
          <a:p>
            <a:pPr lvl="2"/>
            <a:r>
              <a:rPr lang="es-ES" sz="1600" dirty="0"/>
              <a:t>Simple precisión (SP)</a:t>
            </a:r>
          </a:p>
          <a:p>
            <a:pPr lvl="3"/>
            <a:endParaRPr lang="es-ES" sz="1400" dirty="0"/>
          </a:p>
          <a:p>
            <a:pPr lvl="2"/>
            <a:r>
              <a:rPr lang="es-ES" sz="1600" dirty="0"/>
              <a:t>Doble precisión (DP)</a:t>
            </a:r>
          </a:p>
          <a:p>
            <a:pPr lvl="2"/>
            <a:endParaRPr lang="es-ES" sz="1600" dirty="0"/>
          </a:p>
          <a:p>
            <a:pPr lvl="1"/>
            <a:r>
              <a:rPr lang="es-ES" sz="1800" dirty="0"/>
              <a:t>Valores desnormalizados</a:t>
            </a:r>
          </a:p>
          <a:p>
            <a:pPr lvl="1"/>
            <a:r>
              <a:rPr lang="es-ES" sz="1800" dirty="0"/>
              <a:t>Valores especiales (SP y DP)</a:t>
            </a:r>
            <a:endParaRPr lang="es-ES" sz="1400" dirty="0"/>
          </a:p>
          <a:p>
            <a:pPr lvl="1"/>
            <a:endParaRPr lang="es-ES" sz="1400" dirty="0"/>
          </a:p>
          <a:p>
            <a:pPr lvl="1"/>
            <a:endParaRPr lang="es-ES" sz="1400" dirty="0"/>
          </a:p>
          <a:p>
            <a:pPr lvl="1"/>
            <a:endParaRPr lang="es-ES" sz="1400" dirty="0"/>
          </a:p>
          <a:p>
            <a:pPr lvl="1">
              <a:spcBef>
                <a:spcPts val="0"/>
              </a:spcBef>
            </a:pPr>
            <a:r>
              <a:rPr lang="es-ES" sz="1800" dirty="0"/>
              <a:t>Deep </a:t>
            </a:r>
            <a:r>
              <a:rPr lang="es-ES" sz="1800" dirty="0" err="1"/>
              <a:t>learning</a:t>
            </a:r>
            <a:r>
              <a:rPr lang="es-ES" sz="1800" dirty="0"/>
              <a:t>: HP (binary16) con 1 bit de signo, 5 de exponente en exceso a 15 y 0 de mantisa. Variante: bfloat16 (1-6-9); y muchos más…</a:t>
            </a:r>
          </a:p>
          <a:p>
            <a:endParaRPr lang="es-ES_tradnl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CBA48B1-A2E6-DC90-9C7F-A15296491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  <p:grpSp>
        <p:nvGrpSpPr>
          <p:cNvPr id="8" name="Group 27">
            <a:extLst>
              <a:ext uri="{FF2B5EF4-FFF2-40B4-BE49-F238E27FC236}">
                <a16:creationId xmlns:a16="http://schemas.microsoft.com/office/drawing/2014/main" id="{8CDD2781-276A-15B1-4C9A-5019D04ECEB6}"/>
              </a:ext>
            </a:extLst>
          </p:cNvPr>
          <p:cNvGrpSpPr>
            <a:grpSpLocks/>
          </p:cNvGrpSpPr>
          <p:nvPr/>
        </p:nvGrpSpPr>
        <p:grpSpPr bwMode="auto">
          <a:xfrm>
            <a:off x="3851278" y="1932661"/>
            <a:ext cx="5070476" cy="712787"/>
            <a:chOff x="2544" y="672"/>
            <a:chExt cx="3194" cy="449"/>
          </a:xfrm>
        </p:grpSpPr>
        <p:sp>
          <p:nvSpPr>
            <p:cNvPr id="9" name="Rectangle 28">
              <a:extLst>
                <a:ext uri="{FF2B5EF4-FFF2-40B4-BE49-F238E27FC236}">
                  <a16:creationId xmlns:a16="http://schemas.microsoft.com/office/drawing/2014/main" id="{A23B8DFC-843E-55B4-87D6-908C65F08D4F}"/>
                </a:ext>
              </a:extLst>
            </p:cNvPr>
            <p:cNvSpPr>
              <a:spLocks noChangeArrowheads="1"/>
            </p:cNvSpPr>
            <p:nvPr/>
          </p:nvSpPr>
          <p:spPr bwMode="blackWhite">
            <a:xfrm>
              <a:off x="2544" y="833"/>
              <a:ext cx="1776" cy="288"/>
            </a:xfrm>
            <a:prstGeom prst="rect">
              <a:avLst/>
            </a:prstGeom>
            <a:noFill/>
            <a:ln w="28575">
              <a:solidFill>
                <a:schemeClr val="tx2">
                  <a:lumMod val="75000"/>
                </a:schemeClr>
              </a:solidFill>
              <a:miter lim="800000"/>
              <a:headEnd/>
              <a:tailEnd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  <a:noAutofit/>
            </a:bodyPr>
            <a:lstStyle/>
            <a:p>
              <a:endParaRPr lang="ca-ES"/>
            </a:p>
          </p:txBody>
        </p:sp>
        <p:sp>
          <p:nvSpPr>
            <p:cNvPr id="10" name="Line 29">
              <a:extLst>
                <a:ext uri="{FF2B5EF4-FFF2-40B4-BE49-F238E27FC236}">
                  <a16:creationId xmlns:a16="http://schemas.microsoft.com/office/drawing/2014/main" id="{5406D829-3AD2-100C-4734-F5114822C5C6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2736" y="833"/>
              <a:ext cx="0" cy="288"/>
            </a:xfrm>
            <a:prstGeom prst="line">
              <a:avLst/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ca-ES"/>
            </a:p>
          </p:txBody>
        </p:sp>
        <p:sp>
          <p:nvSpPr>
            <p:cNvPr id="11" name="Line 30">
              <a:extLst>
                <a:ext uri="{FF2B5EF4-FFF2-40B4-BE49-F238E27FC236}">
                  <a16:creationId xmlns:a16="http://schemas.microsoft.com/office/drawing/2014/main" id="{EDED24D4-8E74-B59F-B0BC-793E8A235E1A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3360" y="833"/>
              <a:ext cx="0" cy="288"/>
            </a:xfrm>
            <a:prstGeom prst="line">
              <a:avLst/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ca-ES"/>
            </a:p>
          </p:txBody>
        </p:sp>
        <p:sp>
          <p:nvSpPr>
            <p:cNvPr id="12" name="Text Box 31">
              <a:extLst>
                <a:ext uri="{FF2B5EF4-FFF2-40B4-BE49-F238E27FC236}">
                  <a16:creationId xmlns:a16="http://schemas.microsoft.com/office/drawing/2014/main" id="{89107DF3-FE54-0C34-8C52-1B8547540D00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2592" y="881"/>
              <a:ext cx="108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s-ES" b="1">
                  <a:solidFill>
                    <a:schemeClr val="tx2"/>
                  </a:solidFill>
                </a:rPr>
                <a:t>S</a:t>
              </a:r>
              <a:endParaRPr lang="ca-ES" b="1">
                <a:solidFill>
                  <a:schemeClr val="tx2"/>
                </a:solidFill>
              </a:endParaRPr>
            </a:p>
          </p:txBody>
        </p:sp>
        <p:sp>
          <p:nvSpPr>
            <p:cNvPr id="13" name="Text Box 32">
              <a:extLst>
                <a:ext uri="{FF2B5EF4-FFF2-40B4-BE49-F238E27FC236}">
                  <a16:creationId xmlns:a16="http://schemas.microsoft.com/office/drawing/2014/main" id="{C26A1DA9-FD29-58DC-EC2C-9E71800DFC16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2965" y="881"/>
              <a:ext cx="108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s-ES" b="1">
                  <a:solidFill>
                    <a:schemeClr val="tx2"/>
                  </a:solidFill>
                </a:rPr>
                <a:t>E</a:t>
              </a:r>
              <a:endParaRPr lang="ca-ES" b="1">
                <a:solidFill>
                  <a:schemeClr val="tx2"/>
                </a:solidFill>
              </a:endParaRPr>
            </a:p>
          </p:txBody>
        </p:sp>
        <p:sp>
          <p:nvSpPr>
            <p:cNvPr id="14" name="Text Box 33">
              <a:extLst>
                <a:ext uri="{FF2B5EF4-FFF2-40B4-BE49-F238E27FC236}">
                  <a16:creationId xmlns:a16="http://schemas.microsoft.com/office/drawing/2014/main" id="{97B2983D-A1F3-1BFC-AEFD-46EF60CD500D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3752" y="881"/>
              <a:ext cx="135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s-ES" b="1">
                  <a:solidFill>
                    <a:schemeClr val="tx2"/>
                  </a:solidFill>
                </a:rPr>
                <a:t>M</a:t>
              </a:r>
              <a:endParaRPr lang="ca-ES" b="1">
                <a:solidFill>
                  <a:schemeClr val="tx2"/>
                </a:solidFill>
              </a:endParaRPr>
            </a:p>
          </p:txBody>
        </p:sp>
        <p:sp>
          <p:nvSpPr>
            <p:cNvPr id="15" name="Text Box 34">
              <a:extLst>
                <a:ext uri="{FF2B5EF4-FFF2-40B4-BE49-F238E27FC236}">
                  <a16:creationId xmlns:a16="http://schemas.microsoft.com/office/drawing/2014/main" id="{130F9394-A614-21CE-DE04-8E3F30329BBB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2604" y="672"/>
              <a:ext cx="72" cy="15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s-ES" sz="1600" b="1">
                  <a:solidFill>
                    <a:schemeClr val="tx2"/>
                  </a:solidFill>
                </a:rPr>
                <a:t>1</a:t>
              </a:r>
              <a:endParaRPr lang="ca-ES" sz="1600" b="1">
                <a:solidFill>
                  <a:schemeClr val="tx2"/>
                </a:solidFill>
              </a:endParaRPr>
            </a:p>
          </p:txBody>
        </p:sp>
        <p:sp>
          <p:nvSpPr>
            <p:cNvPr id="16" name="Text Box 35">
              <a:extLst>
                <a:ext uri="{FF2B5EF4-FFF2-40B4-BE49-F238E27FC236}">
                  <a16:creationId xmlns:a16="http://schemas.microsoft.com/office/drawing/2014/main" id="{69C21E7E-E807-B458-1761-058A38BBF969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2983" y="672"/>
              <a:ext cx="72" cy="15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s-ES" sz="1600" b="1">
                  <a:solidFill>
                    <a:schemeClr val="tx2"/>
                  </a:solidFill>
                </a:rPr>
                <a:t>8</a:t>
              </a:r>
              <a:endParaRPr lang="ca-ES" sz="1600" b="1">
                <a:solidFill>
                  <a:schemeClr val="tx2"/>
                </a:solidFill>
              </a:endParaRPr>
            </a:p>
          </p:txBody>
        </p:sp>
        <p:sp>
          <p:nvSpPr>
            <p:cNvPr id="17" name="Text Box 36">
              <a:extLst>
                <a:ext uri="{FF2B5EF4-FFF2-40B4-BE49-F238E27FC236}">
                  <a16:creationId xmlns:a16="http://schemas.microsoft.com/office/drawing/2014/main" id="{AEEB32FF-24F5-AA73-80B9-8D4545B085E6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3750" y="672"/>
              <a:ext cx="144" cy="15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s-ES" sz="1600" b="1">
                  <a:solidFill>
                    <a:schemeClr val="tx2"/>
                  </a:solidFill>
                </a:rPr>
                <a:t>23</a:t>
              </a:r>
              <a:endParaRPr lang="ca-ES" sz="1600" b="1">
                <a:solidFill>
                  <a:schemeClr val="tx2"/>
                </a:solidFill>
              </a:endParaRPr>
            </a:p>
          </p:txBody>
        </p:sp>
        <p:sp>
          <p:nvSpPr>
            <p:cNvPr id="18" name="Text Box 37">
              <a:extLst>
                <a:ext uri="{FF2B5EF4-FFF2-40B4-BE49-F238E27FC236}">
                  <a16:creationId xmlns:a16="http://schemas.microsoft.com/office/drawing/2014/main" id="{9262D97E-CF35-C7E8-D6D9-DA6C054D162A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4421" y="864"/>
              <a:ext cx="1317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s-ES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(</a:t>
              </a:r>
              <a:r>
                <a:rPr lang="ca-ES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–</a:t>
              </a:r>
              <a:r>
                <a:rPr lang="es-ES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1)</a:t>
              </a:r>
              <a:r>
                <a:rPr lang="es-ES" b="1" baseline="30000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S</a:t>
              </a:r>
              <a:r>
                <a:rPr lang="es-ES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 </a:t>
              </a:r>
              <a:r>
                <a:rPr lang="es-ES" b="1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· </a:t>
              </a:r>
              <a:r>
                <a:rPr lang="es-ES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1.M</a:t>
              </a:r>
              <a:r>
                <a:rPr lang="es-ES" b="1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 · </a:t>
              </a:r>
              <a:r>
                <a:rPr lang="es-ES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2</a:t>
              </a:r>
              <a:r>
                <a:rPr lang="es-ES" b="1" baseline="30000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E</a:t>
              </a:r>
              <a:r>
                <a:rPr lang="ca-ES" b="1" baseline="30000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–</a:t>
              </a:r>
              <a:r>
                <a:rPr lang="es-ES" b="1" baseline="30000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127</a:t>
              </a:r>
              <a:endParaRPr lang="ca-ES" b="1" baseline="30000" dirty="0">
                <a:solidFill>
                  <a:srgbClr val="C00000"/>
                </a:solidFill>
                <a:ea typeface="Arial" pitchFamily="31" charset="0"/>
                <a:cs typeface="Arial" pitchFamily="31" charset="0"/>
              </a:endParaRPr>
            </a:p>
          </p:txBody>
        </p:sp>
      </p:grpSp>
      <p:grpSp>
        <p:nvGrpSpPr>
          <p:cNvPr id="19" name="Group 38">
            <a:extLst>
              <a:ext uri="{FF2B5EF4-FFF2-40B4-BE49-F238E27FC236}">
                <a16:creationId xmlns:a16="http://schemas.microsoft.com/office/drawing/2014/main" id="{7265715A-6C97-1B36-DBF3-EA6EF91B9585}"/>
              </a:ext>
            </a:extLst>
          </p:cNvPr>
          <p:cNvGrpSpPr>
            <a:grpSpLocks/>
          </p:cNvGrpSpPr>
          <p:nvPr/>
        </p:nvGrpSpPr>
        <p:grpSpPr bwMode="auto">
          <a:xfrm>
            <a:off x="1246982" y="4758258"/>
            <a:ext cx="3071811" cy="457200"/>
            <a:chOff x="2289" y="2753"/>
            <a:chExt cx="1935" cy="288"/>
          </a:xfrm>
        </p:grpSpPr>
        <p:sp>
          <p:nvSpPr>
            <p:cNvPr id="20" name="Rectangle 39">
              <a:extLst>
                <a:ext uri="{FF2B5EF4-FFF2-40B4-BE49-F238E27FC236}">
                  <a16:creationId xmlns:a16="http://schemas.microsoft.com/office/drawing/2014/main" id="{63224CEC-0C35-0F92-EDD4-DDBB48872EF6}"/>
                </a:ext>
              </a:extLst>
            </p:cNvPr>
            <p:cNvSpPr>
              <a:spLocks noChangeArrowheads="1"/>
            </p:cNvSpPr>
            <p:nvPr/>
          </p:nvSpPr>
          <p:spPr bwMode="blackWhite">
            <a:xfrm>
              <a:off x="2544" y="2762"/>
              <a:ext cx="1680" cy="279"/>
            </a:xfrm>
            <a:prstGeom prst="rect">
              <a:avLst/>
            </a:prstGeom>
            <a:noFill/>
            <a:ln w="28575">
              <a:solidFill>
                <a:schemeClr val="tx2">
                  <a:lumMod val="75000"/>
                </a:schemeClr>
              </a:solidFill>
              <a:miter lim="800000"/>
              <a:headEnd/>
              <a:tailEnd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  <a:noAutofit/>
            </a:bodyPr>
            <a:lstStyle/>
            <a:p>
              <a:endParaRPr lang="ca-ES"/>
            </a:p>
          </p:txBody>
        </p:sp>
        <p:sp>
          <p:nvSpPr>
            <p:cNvPr id="21" name="Line 40">
              <a:extLst>
                <a:ext uri="{FF2B5EF4-FFF2-40B4-BE49-F238E27FC236}">
                  <a16:creationId xmlns:a16="http://schemas.microsoft.com/office/drawing/2014/main" id="{06D806F1-8EDA-AB47-D2CC-7F65AB29D8EF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2736" y="2753"/>
              <a:ext cx="0" cy="288"/>
            </a:xfrm>
            <a:prstGeom prst="line">
              <a:avLst/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ca-ES"/>
            </a:p>
          </p:txBody>
        </p:sp>
        <p:sp>
          <p:nvSpPr>
            <p:cNvPr id="22" name="Line 41">
              <a:extLst>
                <a:ext uri="{FF2B5EF4-FFF2-40B4-BE49-F238E27FC236}">
                  <a16:creationId xmlns:a16="http://schemas.microsoft.com/office/drawing/2014/main" id="{38E1B139-B24D-6145-4EF1-D46C9EC7ED05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3408" y="2753"/>
              <a:ext cx="0" cy="288"/>
            </a:xfrm>
            <a:prstGeom prst="line">
              <a:avLst/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ca-ES"/>
            </a:p>
          </p:txBody>
        </p:sp>
        <p:sp>
          <p:nvSpPr>
            <p:cNvPr id="23" name="Text Box 42">
              <a:extLst>
                <a:ext uri="{FF2B5EF4-FFF2-40B4-BE49-F238E27FC236}">
                  <a16:creationId xmlns:a16="http://schemas.microsoft.com/office/drawing/2014/main" id="{AE672354-D7CB-22B9-9E5E-44D98535BD0D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2592" y="2801"/>
              <a:ext cx="108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s-ES" b="1">
                  <a:solidFill>
                    <a:schemeClr val="tx2"/>
                  </a:solidFill>
                </a:rPr>
                <a:t>S</a:t>
              </a:r>
              <a:endParaRPr lang="ca-ES" b="1">
                <a:solidFill>
                  <a:schemeClr val="tx2"/>
                </a:solidFill>
              </a:endParaRPr>
            </a:p>
          </p:txBody>
        </p:sp>
        <p:sp>
          <p:nvSpPr>
            <p:cNvPr id="24" name="Text Box 43">
              <a:extLst>
                <a:ext uri="{FF2B5EF4-FFF2-40B4-BE49-F238E27FC236}">
                  <a16:creationId xmlns:a16="http://schemas.microsoft.com/office/drawing/2014/main" id="{2E43B3D7-2476-BC8F-B1FE-0D43342C4DA2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2792" y="2801"/>
              <a:ext cx="584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s-ES" b="1" dirty="0">
                  <a:solidFill>
                    <a:schemeClr val="tx2"/>
                  </a:solidFill>
                </a:rPr>
                <a:t>000...00</a:t>
              </a:r>
              <a:endParaRPr lang="ca-ES" b="1" dirty="0">
                <a:solidFill>
                  <a:schemeClr val="tx2"/>
                </a:solidFill>
              </a:endParaRPr>
            </a:p>
          </p:txBody>
        </p:sp>
        <p:sp>
          <p:nvSpPr>
            <p:cNvPr id="25" name="Text Box 44">
              <a:extLst>
                <a:ext uri="{FF2B5EF4-FFF2-40B4-BE49-F238E27FC236}">
                  <a16:creationId xmlns:a16="http://schemas.microsoft.com/office/drawing/2014/main" id="{062941E2-22A4-8D8C-A817-4793614D75BE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3548" y="2801"/>
              <a:ext cx="584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s-ES" b="1">
                  <a:solidFill>
                    <a:schemeClr val="tx2"/>
                  </a:solidFill>
                </a:rPr>
                <a:t>000...00</a:t>
              </a:r>
              <a:endParaRPr lang="ca-ES" b="1">
                <a:solidFill>
                  <a:schemeClr val="tx2"/>
                </a:solidFill>
              </a:endParaRPr>
            </a:p>
          </p:txBody>
        </p:sp>
        <p:sp>
          <p:nvSpPr>
            <p:cNvPr id="26" name="Rectangle 45">
              <a:extLst>
                <a:ext uri="{FF2B5EF4-FFF2-40B4-BE49-F238E27FC236}">
                  <a16:creationId xmlns:a16="http://schemas.microsoft.com/office/drawing/2014/main" id="{E80038DE-9129-2AC0-27DD-D453F5B844FC}"/>
                </a:ext>
              </a:extLst>
            </p:cNvPr>
            <p:cNvSpPr>
              <a:spLocks noChangeArrowheads="1"/>
            </p:cNvSpPr>
            <p:nvPr/>
          </p:nvSpPr>
          <p:spPr bwMode="blackWhite">
            <a:xfrm>
              <a:off x="2289" y="2783"/>
              <a:ext cx="189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 anchor="ctr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ca-ES" b="1">
                  <a:solidFill>
                    <a:schemeClr val="tx2"/>
                  </a:solidFill>
                  <a:latin typeface="Arial Narrow" pitchFamily="31" charset="0"/>
                  <a:ea typeface="Arial" pitchFamily="31" charset="0"/>
                  <a:cs typeface="Arial" pitchFamily="31" charset="0"/>
                  <a:sym typeface="Symbol" pitchFamily="31" charset="2"/>
                </a:rPr>
                <a:t>±</a:t>
              </a:r>
              <a:r>
                <a:rPr lang="ca-ES" b="1">
                  <a:solidFill>
                    <a:schemeClr val="tx2"/>
                  </a:solidFill>
                  <a:latin typeface="Arial Narrow" pitchFamily="31" charset="0"/>
                  <a:sym typeface="Symbol" pitchFamily="31" charset="2"/>
                </a:rPr>
                <a:t>0</a:t>
              </a:r>
              <a:endParaRPr lang="es-ES_tradnl" b="1" i="1">
                <a:solidFill>
                  <a:schemeClr val="tx2"/>
                </a:solidFill>
                <a:latin typeface="Arial Narrow" pitchFamily="31" charset="0"/>
                <a:sym typeface="Symbol" pitchFamily="31" charset="2"/>
              </a:endParaRPr>
            </a:p>
          </p:txBody>
        </p:sp>
      </p:grpSp>
      <p:grpSp>
        <p:nvGrpSpPr>
          <p:cNvPr id="27" name="Group 46">
            <a:extLst>
              <a:ext uri="{FF2B5EF4-FFF2-40B4-BE49-F238E27FC236}">
                <a16:creationId xmlns:a16="http://schemas.microsoft.com/office/drawing/2014/main" id="{91C59AE2-8A03-F843-770C-F7AF42AB5FB1}"/>
              </a:ext>
            </a:extLst>
          </p:cNvPr>
          <p:cNvGrpSpPr>
            <a:grpSpLocks/>
          </p:cNvGrpSpPr>
          <p:nvPr/>
        </p:nvGrpSpPr>
        <p:grpSpPr bwMode="auto">
          <a:xfrm>
            <a:off x="5358607" y="4758258"/>
            <a:ext cx="3127374" cy="457200"/>
            <a:chOff x="2254" y="3120"/>
            <a:chExt cx="1970" cy="288"/>
          </a:xfrm>
        </p:grpSpPr>
        <p:sp>
          <p:nvSpPr>
            <p:cNvPr id="28" name="Rectangle 47">
              <a:extLst>
                <a:ext uri="{FF2B5EF4-FFF2-40B4-BE49-F238E27FC236}">
                  <a16:creationId xmlns:a16="http://schemas.microsoft.com/office/drawing/2014/main" id="{BF8655FE-8EFF-3156-0911-34E6837A0C97}"/>
                </a:ext>
              </a:extLst>
            </p:cNvPr>
            <p:cNvSpPr>
              <a:spLocks noChangeArrowheads="1"/>
            </p:cNvSpPr>
            <p:nvPr/>
          </p:nvSpPr>
          <p:spPr bwMode="blackWhite">
            <a:xfrm>
              <a:off x="2254" y="3129"/>
              <a:ext cx="259" cy="233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 anchor="ctr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ca-ES" b="1">
                  <a:solidFill>
                    <a:schemeClr val="tx2"/>
                  </a:solidFill>
                  <a:latin typeface="Arial Narrow" pitchFamily="31" charset="0"/>
                  <a:ea typeface="Arial" pitchFamily="31" charset="0"/>
                  <a:cs typeface="Arial" pitchFamily="31" charset="0"/>
                  <a:sym typeface="Symbol" pitchFamily="31" charset="2"/>
                </a:rPr>
                <a:t>±</a:t>
              </a:r>
              <a:r>
                <a:rPr lang="ca-ES" sz="2400">
                  <a:solidFill>
                    <a:schemeClr val="tx2"/>
                  </a:solidFill>
                  <a:latin typeface="Arial Narrow" pitchFamily="31" charset="0"/>
                  <a:sym typeface="Symbol" pitchFamily="31" charset="2"/>
                </a:rPr>
                <a:t></a:t>
              </a:r>
              <a:endParaRPr lang="es-ES_tradnl" sz="2400" b="1" i="1">
                <a:solidFill>
                  <a:schemeClr val="tx2"/>
                </a:solidFill>
                <a:latin typeface="Arial Narrow" pitchFamily="31" charset="0"/>
                <a:sym typeface="Symbol" pitchFamily="31" charset="2"/>
              </a:endParaRPr>
            </a:p>
          </p:txBody>
        </p:sp>
        <p:sp>
          <p:nvSpPr>
            <p:cNvPr id="29" name="Rectangle 48">
              <a:extLst>
                <a:ext uri="{FF2B5EF4-FFF2-40B4-BE49-F238E27FC236}">
                  <a16:creationId xmlns:a16="http://schemas.microsoft.com/office/drawing/2014/main" id="{011F3843-FF23-649B-022A-97BC45A6A1D0}"/>
                </a:ext>
              </a:extLst>
            </p:cNvPr>
            <p:cNvSpPr>
              <a:spLocks noChangeArrowheads="1"/>
            </p:cNvSpPr>
            <p:nvPr/>
          </p:nvSpPr>
          <p:spPr bwMode="blackWhite">
            <a:xfrm>
              <a:off x="2544" y="3129"/>
              <a:ext cx="1680" cy="279"/>
            </a:xfrm>
            <a:prstGeom prst="rect">
              <a:avLst/>
            </a:prstGeom>
            <a:noFill/>
            <a:ln w="28575">
              <a:solidFill>
                <a:schemeClr val="tx2">
                  <a:lumMod val="75000"/>
                </a:schemeClr>
              </a:solidFill>
              <a:miter lim="800000"/>
              <a:headEnd/>
              <a:tailEnd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  <a:noAutofit/>
            </a:bodyPr>
            <a:lstStyle/>
            <a:p>
              <a:endParaRPr lang="ca-ES"/>
            </a:p>
          </p:txBody>
        </p:sp>
        <p:sp>
          <p:nvSpPr>
            <p:cNvPr id="30" name="Line 49">
              <a:extLst>
                <a:ext uri="{FF2B5EF4-FFF2-40B4-BE49-F238E27FC236}">
                  <a16:creationId xmlns:a16="http://schemas.microsoft.com/office/drawing/2014/main" id="{C827C139-E289-4F73-6503-1F76051E6B2E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2736" y="3120"/>
              <a:ext cx="0" cy="288"/>
            </a:xfrm>
            <a:prstGeom prst="line">
              <a:avLst/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ca-ES"/>
            </a:p>
          </p:txBody>
        </p:sp>
        <p:sp>
          <p:nvSpPr>
            <p:cNvPr id="31" name="Line 50">
              <a:extLst>
                <a:ext uri="{FF2B5EF4-FFF2-40B4-BE49-F238E27FC236}">
                  <a16:creationId xmlns:a16="http://schemas.microsoft.com/office/drawing/2014/main" id="{65180D77-7129-06B1-62AC-32222C26567E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3408" y="3120"/>
              <a:ext cx="0" cy="288"/>
            </a:xfrm>
            <a:prstGeom prst="line">
              <a:avLst/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ca-ES"/>
            </a:p>
          </p:txBody>
        </p:sp>
        <p:sp>
          <p:nvSpPr>
            <p:cNvPr id="32" name="Text Box 51">
              <a:extLst>
                <a:ext uri="{FF2B5EF4-FFF2-40B4-BE49-F238E27FC236}">
                  <a16:creationId xmlns:a16="http://schemas.microsoft.com/office/drawing/2014/main" id="{12FE99B6-55B1-31D3-030F-7A635C2A47D2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2592" y="3168"/>
              <a:ext cx="108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s-ES" b="1">
                  <a:solidFill>
                    <a:schemeClr val="tx2"/>
                  </a:solidFill>
                </a:rPr>
                <a:t>S</a:t>
              </a:r>
              <a:endParaRPr lang="ca-ES" b="1">
                <a:solidFill>
                  <a:schemeClr val="tx2"/>
                </a:solidFill>
              </a:endParaRPr>
            </a:p>
          </p:txBody>
        </p:sp>
        <p:sp>
          <p:nvSpPr>
            <p:cNvPr id="33" name="Text Box 52">
              <a:extLst>
                <a:ext uri="{FF2B5EF4-FFF2-40B4-BE49-F238E27FC236}">
                  <a16:creationId xmlns:a16="http://schemas.microsoft.com/office/drawing/2014/main" id="{E87EA441-6529-4F82-C671-81559C5B6BA2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2802" y="3168"/>
              <a:ext cx="557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s-ES" b="1" dirty="0">
                  <a:solidFill>
                    <a:schemeClr val="tx2"/>
                  </a:solidFill>
                </a:rPr>
                <a:t>111...11</a:t>
              </a:r>
              <a:endParaRPr lang="ca-ES" b="1" dirty="0">
                <a:solidFill>
                  <a:schemeClr val="tx2"/>
                </a:solidFill>
              </a:endParaRPr>
            </a:p>
          </p:txBody>
        </p:sp>
        <p:sp>
          <p:nvSpPr>
            <p:cNvPr id="34" name="Text Box 53">
              <a:extLst>
                <a:ext uri="{FF2B5EF4-FFF2-40B4-BE49-F238E27FC236}">
                  <a16:creationId xmlns:a16="http://schemas.microsoft.com/office/drawing/2014/main" id="{CA861D39-5AC5-B641-839B-50D6D23FFACF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3548" y="3168"/>
              <a:ext cx="584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s-ES" b="1">
                  <a:solidFill>
                    <a:schemeClr val="tx2"/>
                  </a:solidFill>
                </a:rPr>
                <a:t>000...00</a:t>
              </a:r>
              <a:endParaRPr lang="ca-ES" b="1">
                <a:solidFill>
                  <a:schemeClr val="tx2"/>
                </a:solidFill>
              </a:endParaRPr>
            </a:p>
          </p:txBody>
        </p:sp>
      </p:grpSp>
      <p:grpSp>
        <p:nvGrpSpPr>
          <p:cNvPr id="35" name="Group 54">
            <a:extLst>
              <a:ext uri="{FF2B5EF4-FFF2-40B4-BE49-F238E27FC236}">
                <a16:creationId xmlns:a16="http://schemas.microsoft.com/office/drawing/2014/main" id="{62EE4137-8F04-F4F8-C602-EF8C832D2ED1}"/>
              </a:ext>
            </a:extLst>
          </p:cNvPr>
          <p:cNvGrpSpPr>
            <a:grpSpLocks/>
          </p:cNvGrpSpPr>
          <p:nvPr/>
        </p:nvGrpSpPr>
        <p:grpSpPr bwMode="auto">
          <a:xfrm>
            <a:off x="3301205" y="5444058"/>
            <a:ext cx="3151185" cy="457200"/>
            <a:chOff x="2239" y="3120"/>
            <a:chExt cx="1985" cy="288"/>
          </a:xfrm>
        </p:grpSpPr>
        <p:sp>
          <p:nvSpPr>
            <p:cNvPr id="36" name="Rectangle 55">
              <a:extLst>
                <a:ext uri="{FF2B5EF4-FFF2-40B4-BE49-F238E27FC236}">
                  <a16:creationId xmlns:a16="http://schemas.microsoft.com/office/drawing/2014/main" id="{B22ABD6D-649E-4610-5DCB-29BDEC8098D3}"/>
                </a:ext>
              </a:extLst>
            </p:cNvPr>
            <p:cNvSpPr>
              <a:spLocks noChangeArrowheads="1"/>
            </p:cNvSpPr>
            <p:nvPr/>
          </p:nvSpPr>
          <p:spPr bwMode="blackWhite">
            <a:xfrm>
              <a:off x="2239" y="3148"/>
              <a:ext cx="291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 anchor="ctr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ca-ES" b="1" dirty="0" err="1">
                  <a:solidFill>
                    <a:schemeClr val="tx2"/>
                  </a:solidFill>
                  <a:latin typeface="Arial Narrow" pitchFamily="31" charset="0"/>
                  <a:ea typeface="Arial" pitchFamily="31" charset="0"/>
                  <a:cs typeface="Arial" pitchFamily="31" charset="0"/>
                  <a:sym typeface="Symbol" pitchFamily="31" charset="2"/>
                </a:rPr>
                <a:t>NaN</a:t>
              </a:r>
              <a:endParaRPr lang="es-ES_tradnl" sz="2400" b="1" i="1" dirty="0">
                <a:solidFill>
                  <a:schemeClr val="tx2"/>
                </a:solidFill>
                <a:latin typeface="Arial Narrow" pitchFamily="31" charset="0"/>
                <a:sym typeface="Symbol" pitchFamily="31" charset="2"/>
              </a:endParaRPr>
            </a:p>
          </p:txBody>
        </p:sp>
        <p:sp>
          <p:nvSpPr>
            <p:cNvPr id="37" name="Rectangle 56">
              <a:extLst>
                <a:ext uri="{FF2B5EF4-FFF2-40B4-BE49-F238E27FC236}">
                  <a16:creationId xmlns:a16="http://schemas.microsoft.com/office/drawing/2014/main" id="{246D3B46-B792-7D94-FAE5-F16460415F47}"/>
                </a:ext>
              </a:extLst>
            </p:cNvPr>
            <p:cNvSpPr>
              <a:spLocks noChangeArrowheads="1"/>
            </p:cNvSpPr>
            <p:nvPr/>
          </p:nvSpPr>
          <p:spPr bwMode="blackWhite">
            <a:xfrm>
              <a:off x="2544" y="3120"/>
              <a:ext cx="1680" cy="288"/>
            </a:xfrm>
            <a:prstGeom prst="rect">
              <a:avLst/>
            </a:prstGeom>
            <a:noFill/>
            <a:ln w="28575">
              <a:solidFill>
                <a:schemeClr val="tx2">
                  <a:lumMod val="75000"/>
                </a:schemeClr>
              </a:solidFill>
              <a:miter lim="800000"/>
              <a:headEnd/>
              <a:tailEnd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  <a:noAutofit/>
            </a:bodyPr>
            <a:lstStyle/>
            <a:p>
              <a:endParaRPr lang="ca-ES"/>
            </a:p>
          </p:txBody>
        </p:sp>
        <p:sp>
          <p:nvSpPr>
            <p:cNvPr id="38" name="Line 57">
              <a:extLst>
                <a:ext uri="{FF2B5EF4-FFF2-40B4-BE49-F238E27FC236}">
                  <a16:creationId xmlns:a16="http://schemas.microsoft.com/office/drawing/2014/main" id="{E7BD40B8-E2D1-7043-76CC-FC2C5821F5E2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2736" y="3120"/>
              <a:ext cx="0" cy="288"/>
            </a:xfrm>
            <a:prstGeom prst="line">
              <a:avLst/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ca-ES"/>
            </a:p>
          </p:txBody>
        </p:sp>
        <p:sp>
          <p:nvSpPr>
            <p:cNvPr id="39" name="Line 58">
              <a:extLst>
                <a:ext uri="{FF2B5EF4-FFF2-40B4-BE49-F238E27FC236}">
                  <a16:creationId xmlns:a16="http://schemas.microsoft.com/office/drawing/2014/main" id="{A11B0A4D-42A6-0B94-D2A9-F07E5BC465EE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3408" y="3120"/>
              <a:ext cx="0" cy="288"/>
            </a:xfrm>
            <a:prstGeom prst="line">
              <a:avLst/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ca-ES"/>
            </a:p>
          </p:txBody>
        </p:sp>
        <p:sp>
          <p:nvSpPr>
            <p:cNvPr id="40" name="Text Box 59">
              <a:extLst>
                <a:ext uri="{FF2B5EF4-FFF2-40B4-BE49-F238E27FC236}">
                  <a16:creationId xmlns:a16="http://schemas.microsoft.com/office/drawing/2014/main" id="{70733E64-DCCD-8960-02BA-3FC0DBCFADE0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2602" y="3168"/>
              <a:ext cx="89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s-ES">
                  <a:solidFill>
                    <a:schemeClr val="tx2"/>
                  </a:solidFill>
                </a:rPr>
                <a:t>x</a:t>
              </a:r>
              <a:endParaRPr lang="ca-ES" b="1">
                <a:solidFill>
                  <a:schemeClr val="tx2"/>
                </a:solidFill>
              </a:endParaRPr>
            </a:p>
          </p:txBody>
        </p:sp>
        <p:sp>
          <p:nvSpPr>
            <p:cNvPr id="41" name="Text Box 60">
              <a:extLst>
                <a:ext uri="{FF2B5EF4-FFF2-40B4-BE49-F238E27FC236}">
                  <a16:creationId xmlns:a16="http://schemas.microsoft.com/office/drawing/2014/main" id="{E6AB7627-5F1E-045C-1B2E-69EFA3C40FE9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2802" y="3168"/>
              <a:ext cx="557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s-ES" b="1">
                  <a:solidFill>
                    <a:schemeClr val="tx2"/>
                  </a:solidFill>
                </a:rPr>
                <a:t>111...11</a:t>
              </a:r>
              <a:endParaRPr lang="ca-ES" b="1">
                <a:solidFill>
                  <a:schemeClr val="tx2"/>
                </a:solidFill>
              </a:endParaRPr>
            </a:p>
          </p:txBody>
        </p:sp>
        <p:sp>
          <p:nvSpPr>
            <p:cNvPr id="42" name="Text Box 61">
              <a:extLst>
                <a:ext uri="{FF2B5EF4-FFF2-40B4-BE49-F238E27FC236}">
                  <a16:creationId xmlns:a16="http://schemas.microsoft.com/office/drawing/2014/main" id="{AB6C0CAA-716C-70E5-FA8B-4F148503867B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3636" y="3168"/>
              <a:ext cx="403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s-ES" b="1" dirty="0">
                  <a:solidFill>
                    <a:schemeClr val="tx2"/>
                  </a:solidFill>
                </a:rPr>
                <a:t>M ≠ 0</a:t>
              </a:r>
              <a:endParaRPr lang="ca-ES" b="1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43" name="Group 62">
            <a:extLst>
              <a:ext uri="{FF2B5EF4-FFF2-40B4-BE49-F238E27FC236}">
                <a16:creationId xmlns:a16="http://schemas.microsoft.com/office/drawing/2014/main" id="{BDAA7BA3-EB91-DA14-B197-27C75B0FCE17}"/>
              </a:ext>
            </a:extLst>
          </p:cNvPr>
          <p:cNvGrpSpPr>
            <a:grpSpLocks/>
          </p:cNvGrpSpPr>
          <p:nvPr/>
        </p:nvGrpSpPr>
        <p:grpSpPr bwMode="auto">
          <a:xfrm>
            <a:off x="3851278" y="2724819"/>
            <a:ext cx="5157788" cy="712788"/>
            <a:chOff x="2544" y="672"/>
            <a:chExt cx="3249" cy="449"/>
          </a:xfrm>
        </p:grpSpPr>
        <p:sp>
          <p:nvSpPr>
            <p:cNvPr id="44" name="Rectangle 63">
              <a:extLst>
                <a:ext uri="{FF2B5EF4-FFF2-40B4-BE49-F238E27FC236}">
                  <a16:creationId xmlns:a16="http://schemas.microsoft.com/office/drawing/2014/main" id="{270B61DB-E0A7-DD17-7399-0FD6D4569A7C}"/>
                </a:ext>
              </a:extLst>
            </p:cNvPr>
            <p:cNvSpPr>
              <a:spLocks noChangeArrowheads="1"/>
            </p:cNvSpPr>
            <p:nvPr/>
          </p:nvSpPr>
          <p:spPr bwMode="blackWhite">
            <a:xfrm>
              <a:off x="2544" y="833"/>
              <a:ext cx="1776" cy="288"/>
            </a:xfrm>
            <a:prstGeom prst="rect">
              <a:avLst/>
            </a:prstGeom>
            <a:noFill/>
            <a:ln w="28575">
              <a:solidFill>
                <a:schemeClr val="tx2">
                  <a:lumMod val="75000"/>
                </a:schemeClr>
              </a:solidFill>
              <a:miter lim="800000"/>
              <a:headEnd/>
              <a:tailEnd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  <a:noAutofit/>
            </a:bodyPr>
            <a:lstStyle/>
            <a:p>
              <a:endParaRPr lang="ca-ES"/>
            </a:p>
          </p:txBody>
        </p:sp>
        <p:sp>
          <p:nvSpPr>
            <p:cNvPr id="45" name="Line 64">
              <a:extLst>
                <a:ext uri="{FF2B5EF4-FFF2-40B4-BE49-F238E27FC236}">
                  <a16:creationId xmlns:a16="http://schemas.microsoft.com/office/drawing/2014/main" id="{427F122E-443B-45DF-921D-61BC866A8855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2736" y="833"/>
              <a:ext cx="0" cy="288"/>
            </a:xfrm>
            <a:prstGeom prst="line">
              <a:avLst/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ca-ES"/>
            </a:p>
          </p:txBody>
        </p:sp>
        <p:sp>
          <p:nvSpPr>
            <p:cNvPr id="46" name="Line 65">
              <a:extLst>
                <a:ext uri="{FF2B5EF4-FFF2-40B4-BE49-F238E27FC236}">
                  <a16:creationId xmlns:a16="http://schemas.microsoft.com/office/drawing/2014/main" id="{2529DA03-EAE7-EDD0-F883-E7136B461579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3360" y="833"/>
              <a:ext cx="0" cy="288"/>
            </a:xfrm>
            <a:prstGeom prst="line">
              <a:avLst/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ca-ES"/>
            </a:p>
          </p:txBody>
        </p:sp>
        <p:sp>
          <p:nvSpPr>
            <p:cNvPr id="47" name="Text Box 66">
              <a:extLst>
                <a:ext uri="{FF2B5EF4-FFF2-40B4-BE49-F238E27FC236}">
                  <a16:creationId xmlns:a16="http://schemas.microsoft.com/office/drawing/2014/main" id="{5BAFFD59-265C-4985-4CB9-0228D948F411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2592" y="881"/>
              <a:ext cx="108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s-ES" b="1">
                  <a:solidFill>
                    <a:schemeClr val="tx2"/>
                  </a:solidFill>
                </a:rPr>
                <a:t>S</a:t>
              </a:r>
              <a:endParaRPr lang="ca-ES" b="1">
                <a:solidFill>
                  <a:schemeClr val="tx2"/>
                </a:solidFill>
              </a:endParaRPr>
            </a:p>
          </p:txBody>
        </p:sp>
        <p:sp>
          <p:nvSpPr>
            <p:cNvPr id="48" name="Text Box 67">
              <a:extLst>
                <a:ext uri="{FF2B5EF4-FFF2-40B4-BE49-F238E27FC236}">
                  <a16:creationId xmlns:a16="http://schemas.microsoft.com/office/drawing/2014/main" id="{47D76261-D0C3-2ED6-31BA-B0D4C232A41E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2965" y="881"/>
              <a:ext cx="108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s-ES" b="1">
                  <a:solidFill>
                    <a:schemeClr val="tx2"/>
                  </a:solidFill>
                </a:rPr>
                <a:t>E</a:t>
              </a:r>
              <a:endParaRPr lang="ca-ES" b="1">
                <a:solidFill>
                  <a:schemeClr val="tx2"/>
                </a:solidFill>
              </a:endParaRPr>
            </a:p>
          </p:txBody>
        </p:sp>
        <p:sp>
          <p:nvSpPr>
            <p:cNvPr id="49" name="Text Box 68">
              <a:extLst>
                <a:ext uri="{FF2B5EF4-FFF2-40B4-BE49-F238E27FC236}">
                  <a16:creationId xmlns:a16="http://schemas.microsoft.com/office/drawing/2014/main" id="{78061AFF-1774-5DBE-F133-F01B847CFDA9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3752" y="881"/>
              <a:ext cx="135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s-ES" b="1">
                  <a:solidFill>
                    <a:schemeClr val="tx2"/>
                  </a:solidFill>
                </a:rPr>
                <a:t>M</a:t>
              </a:r>
              <a:endParaRPr lang="ca-ES" b="1">
                <a:solidFill>
                  <a:schemeClr val="tx2"/>
                </a:solidFill>
              </a:endParaRPr>
            </a:p>
          </p:txBody>
        </p:sp>
        <p:sp>
          <p:nvSpPr>
            <p:cNvPr id="50" name="Text Box 69">
              <a:extLst>
                <a:ext uri="{FF2B5EF4-FFF2-40B4-BE49-F238E27FC236}">
                  <a16:creationId xmlns:a16="http://schemas.microsoft.com/office/drawing/2014/main" id="{FC4F2E74-8BEF-A72D-B965-0E6A963C7E69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2604" y="672"/>
              <a:ext cx="72" cy="15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s-ES" sz="1600" b="1">
                  <a:solidFill>
                    <a:schemeClr val="tx2"/>
                  </a:solidFill>
                </a:rPr>
                <a:t>1</a:t>
              </a:r>
              <a:endParaRPr lang="ca-ES" sz="1600" b="1">
                <a:solidFill>
                  <a:schemeClr val="tx2"/>
                </a:solidFill>
              </a:endParaRPr>
            </a:p>
          </p:txBody>
        </p:sp>
        <p:sp>
          <p:nvSpPr>
            <p:cNvPr id="51" name="Text Box 70">
              <a:extLst>
                <a:ext uri="{FF2B5EF4-FFF2-40B4-BE49-F238E27FC236}">
                  <a16:creationId xmlns:a16="http://schemas.microsoft.com/office/drawing/2014/main" id="{4A0ACB06-0DF9-7169-D9D4-8AEC42AA9967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2950" y="672"/>
              <a:ext cx="137" cy="15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s-ES" sz="1600" b="1">
                  <a:solidFill>
                    <a:schemeClr val="tx2"/>
                  </a:solidFill>
                </a:rPr>
                <a:t>11</a:t>
              </a:r>
              <a:endParaRPr lang="ca-ES" sz="1600" b="1">
                <a:solidFill>
                  <a:schemeClr val="tx2"/>
                </a:solidFill>
              </a:endParaRPr>
            </a:p>
          </p:txBody>
        </p:sp>
        <p:sp>
          <p:nvSpPr>
            <p:cNvPr id="52" name="Text Box 71">
              <a:extLst>
                <a:ext uri="{FF2B5EF4-FFF2-40B4-BE49-F238E27FC236}">
                  <a16:creationId xmlns:a16="http://schemas.microsoft.com/office/drawing/2014/main" id="{B68D82B9-8521-6FA3-93A6-572F9222EABC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3749" y="672"/>
              <a:ext cx="144" cy="15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s-ES" sz="1600" b="1">
                  <a:solidFill>
                    <a:schemeClr val="tx2"/>
                  </a:solidFill>
                </a:rPr>
                <a:t>52</a:t>
              </a:r>
              <a:endParaRPr lang="ca-ES" sz="1600" b="1">
                <a:solidFill>
                  <a:schemeClr val="tx2"/>
                </a:solidFill>
              </a:endParaRPr>
            </a:p>
          </p:txBody>
        </p:sp>
        <p:sp>
          <p:nvSpPr>
            <p:cNvPr id="53" name="Text Box 72">
              <a:extLst>
                <a:ext uri="{FF2B5EF4-FFF2-40B4-BE49-F238E27FC236}">
                  <a16:creationId xmlns:a16="http://schemas.microsoft.com/office/drawing/2014/main" id="{3D0523AA-104B-BD91-149E-878595876BC1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4416" y="864"/>
              <a:ext cx="1377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s-ES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(</a:t>
              </a:r>
              <a:r>
                <a:rPr lang="ca-ES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–</a:t>
              </a:r>
              <a:r>
                <a:rPr lang="es-ES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1)</a:t>
              </a:r>
              <a:r>
                <a:rPr lang="es-ES" b="1" baseline="30000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S</a:t>
              </a:r>
              <a:r>
                <a:rPr lang="es-ES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 </a:t>
              </a:r>
              <a:r>
                <a:rPr lang="es-ES" b="1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· </a:t>
              </a:r>
              <a:r>
                <a:rPr lang="es-ES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1.M</a:t>
              </a:r>
              <a:r>
                <a:rPr lang="es-ES" b="1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 · </a:t>
              </a:r>
              <a:r>
                <a:rPr lang="es-ES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2</a:t>
              </a:r>
              <a:r>
                <a:rPr lang="es-ES" b="1" baseline="30000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E</a:t>
              </a:r>
              <a:r>
                <a:rPr lang="ca-ES" b="1" baseline="30000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–</a:t>
              </a:r>
              <a:r>
                <a:rPr lang="es-ES" b="1" baseline="30000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1023</a:t>
              </a:r>
              <a:endParaRPr lang="ca-ES" b="1" baseline="30000" dirty="0">
                <a:solidFill>
                  <a:srgbClr val="C00000"/>
                </a:solidFill>
                <a:ea typeface="Arial" pitchFamily="31" charset="0"/>
                <a:cs typeface="Arial" pitchFamily="31" charset="0"/>
              </a:endParaRPr>
            </a:p>
          </p:txBody>
        </p:sp>
      </p:grpSp>
      <p:grpSp>
        <p:nvGrpSpPr>
          <p:cNvPr id="54" name="Group 73">
            <a:extLst>
              <a:ext uri="{FF2B5EF4-FFF2-40B4-BE49-F238E27FC236}">
                <a16:creationId xmlns:a16="http://schemas.microsoft.com/office/drawing/2014/main" id="{EA38FEDC-7B28-2744-A2C7-F9B982E66517}"/>
              </a:ext>
            </a:extLst>
          </p:cNvPr>
          <p:cNvGrpSpPr>
            <a:grpSpLocks/>
          </p:cNvGrpSpPr>
          <p:nvPr/>
        </p:nvGrpSpPr>
        <p:grpSpPr bwMode="auto">
          <a:xfrm>
            <a:off x="3955656" y="3612237"/>
            <a:ext cx="5043488" cy="765176"/>
            <a:chOff x="2208" y="2160"/>
            <a:chExt cx="3177" cy="482"/>
          </a:xfrm>
        </p:grpSpPr>
        <p:sp>
          <p:nvSpPr>
            <p:cNvPr id="55" name="Rectangle 74">
              <a:extLst>
                <a:ext uri="{FF2B5EF4-FFF2-40B4-BE49-F238E27FC236}">
                  <a16:creationId xmlns:a16="http://schemas.microsoft.com/office/drawing/2014/main" id="{CF2F777C-608F-0CD2-9828-813CBD9E07FC}"/>
                </a:ext>
              </a:extLst>
            </p:cNvPr>
            <p:cNvSpPr>
              <a:spLocks noChangeArrowheads="1"/>
            </p:cNvSpPr>
            <p:nvPr/>
          </p:nvSpPr>
          <p:spPr bwMode="blackWhite">
            <a:xfrm>
              <a:off x="2208" y="2273"/>
              <a:ext cx="1776" cy="272"/>
            </a:xfrm>
            <a:prstGeom prst="rect">
              <a:avLst/>
            </a:prstGeom>
            <a:noFill/>
            <a:ln w="28575">
              <a:solidFill>
                <a:schemeClr val="tx2">
                  <a:lumMod val="75000"/>
                </a:schemeClr>
              </a:solidFill>
              <a:miter lim="800000"/>
              <a:headEnd/>
              <a:tailEnd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  <a:noAutofit/>
            </a:bodyPr>
            <a:lstStyle/>
            <a:p>
              <a:endParaRPr lang="ca-ES"/>
            </a:p>
          </p:txBody>
        </p:sp>
        <p:sp>
          <p:nvSpPr>
            <p:cNvPr id="56" name="Line 75">
              <a:extLst>
                <a:ext uri="{FF2B5EF4-FFF2-40B4-BE49-F238E27FC236}">
                  <a16:creationId xmlns:a16="http://schemas.microsoft.com/office/drawing/2014/main" id="{BB8C4EA1-C3AE-9ECD-8B36-85B6D80BF199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2400" y="2273"/>
              <a:ext cx="0" cy="288"/>
            </a:xfrm>
            <a:prstGeom prst="line">
              <a:avLst/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>
              <a:prstTxWarp prst="textNoShape">
                <a:avLst/>
              </a:prstTxWarp>
              <a:noAutofit/>
            </a:bodyPr>
            <a:lstStyle/>
            <a:p>
              <a:endParaRPr lang="ca-ES"/>
            </a:p>
          </p:txBody>
        </p:sp>
        <p:sp>
          <p:nvSpPr>
            <p:cNvPr id="57" name="Line 76">
              <a:extLst>
                <a:ext uri="{FF2B5EF4-FFF2-40B4-BE49-F238E27FC236}">
                  <a16:creationId xmlns:a16="http://schemas.microsoft.com/office/drawing/2014/main" id="{D4AC2CAB-7FCA-7A4E-4EE0-E266C6C4896F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3024" y="2273"/>
              <a:ext cx="0" cy="288"/>
            </a:xfrm>
            <a:prstGeom prst="line">
              <a:avLst/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  <a:effectLst/>
          </p:spPr>
          <p:txBody>
            <a:bodyPr wrap="none" lIns="0" tIns="0" rIns="0" bIns="0" anchor="ctr">
              <a:prstTxWarp prst="textNoShape">
                <a:avLst/>
              </a:prstTxWarp>
              <a:noAutofit/>
            </a:bodyPr>
            <a:lstStyle/>
            <a:p>
              <a:endParaRPr lang="ca-ES"/>
            </a:p>
          </p:txBody>
        </p:sp>
        <p:sp>
          <p:nvSpPr>
            <p:cNvPr id="58" name="Text Box 77">
              <a:extLst>
                <a:ext uri="{FF2B5EF4-FFF2-40B4-BE49-F238E27FC236}">
                  <a16:creationId xmlns:a16="http://schemas.microsoft.com/office/drawing/2014/main" id="{AB59A006-6123-77A2-3826-D9C8EFBCD718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2256" y="2321"/>
              <a:ext cx="108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noAutofit/>
            </a:bodyPr>
            <a:lstStyle/>
            <a:p>
              <a:pPr algn="ctr" eaLnBrk="1" hangingPunct="1"/>
              <a:r>
                <a:rPr lang="es-ES" b="1">
                  <a:solidFill>
                    <a:schemeClr val="tx2"/>
                  </a:solidFill>
                </a:rPr>
                <a:t>S</a:t>
              </a:r>
              <a:endParaRPr lang="ca-ES" b="1">
                <a:solidFill>
                  <a:schemeClr val="tx2"/>
                </a:solidFill>
              </a:endParaRPr>
            </a:p>
          </p:txBody>
        </p:sp>
        <p:sp>
          <p:nvSpPr>
            <p:cNvPr id="59" name="Text Box 78">
              <a:extLst>
                <a:ext uri="{FF2B5EF4-FFF2-40B4-BE49-F238E27FC236}">
                  <a16:creationId xmlns:a16="http://schemas.microsoft.com/office/drawing/2014/main" id="{AFAE3767-7BBF-198C-87CC-BE9A2994FD07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2417" y="2321"/>
              <a:ext cx="539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noAutofit/>
            </a:bodyPr>
            <a:lstStyle/>
            <a:p>
              <a:pPr algn="ctr" eaLnBrk="1" hangingPunct="1"/>
              <a:r>
                <a:rPr lang="es-ES" b="1">
                  <a:solidFill>
                    <a:schemeClr val="tx2"/>
                  </a:solidFill>
                </a:rPr>
                <a:t>000..00</a:t>
              </a:r>
              <a:endParaRPr lang="ca-ES" b="1">
                <a:solidFill>
                  <a:schemeClr val="tx2"/>
                </a:solidFill>
              </a:endParaRPr>
            </a:p>
          </p:txBody>
        </p:sp>
        <p:sp>
          <p:nvSpPr>
            <p:cNvPr id="60" name="Text Box 79">
              <a:extLst>
                <a:ext uri="{FF2B5EF4-FFF2-40B4-BE49-F238E27FC236}">
                  <a16:creationId xmlns:a16="http://schemas.microsoft.com/office/drawing/2014/main" id="{3B1D53E7-5FF9-A901-463F-FBF35250E511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3282" y="2321"/>
              <a:ext cx="403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noAutofit/>
            </a:bodyPr>
            <a:lstStyle/>
            <a:p>
              <a:pPr algn="ctr" eaLnBrk="1" hangingPunct="1"/>
              <a:r>
                <a:rPr lang="es-ES" b="1" dirty="0">
                  <a:solidFill>
                    <a:schemeClr val="tx2"/>
                  </a:solidFill>
                </a:rPr>
                <a:t>M ≠ 0</a:t>
              </a:r>
              <a:endParaRPr lang="ca-ES" b="1" dirty="0">
                <a:solidFill>
                  <a:schemeClr val="tx2"/>
                </a:solidFill>
              </a:endParaRPr>
            </a:p>
          </p:txBody>
        </p:sp>
        <p:sp>
          <p:nvSpPr>
            <p:cNvPr id="61" name="Text Box 80">
              <a:extLst>
                <a:ext uri="{FF2B5EF4-FFF2-40B4-BE49-F238E27FC236}">
                  <a16:creationId xmlns:a16="http://schemas.microsoft.com/office/drawing/2014/main" id="{FB3B8E54-D74F-04E0-B8C4-1E090B1FD429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4080" y="2160"/>
              <a:ext cx="1245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noAutofit/>
            </a:bodyPr>
            <a:lstStyle/>
            <a:p>
              <a:pPr eaLnBrk="1" hangingPunct="1"/>
              <a:r>
                <a:rPr lang="es-ES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(</a:t>
              </a:r>
              <a:r>
                <a:rPr lang="ca-ES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–</a:t>
              </a:r>
              <a:r>
                <a:rPr lang="es-ES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1)</a:t>
              </a:r>
              <a:r>
                <a:rPr lang="es-ES" b="1" baseline="30000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S</a:t>
              </a:r>
              <a:r>
                <a:rPr lang="es-ES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 </a:t>
              </a:r>
              <a:r>
                <a:rPr lang="es-ES" b="1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· </a:t>
              </a:r>
              <a:r>
                <a:rPr lang="es-ES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0.M</a:t>
              </a:r>
              <a:r>
                <a:rPr lang="es-ES" b="1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 · </a:t>
              </a:r>
              <a:r>
                <a:rPr lang="es-ES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2</a:t>
              </a:r>
              <a:r>
                <a:rPr lang="ca-ES" b="1" baseline="30000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–</a:t>
              </a:r>
              <a:r>
                <a:rPr lang="es-ES" b="1" baseline="30000" dirty="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126</a:t>
              </a:r>
              <a:endParaRPr lang="ca-ES" b="1" baseline="30000" dirty="0">
                <a:solidFill>
                  <a:srgbClr val="C00000"/>
                </a:solidFill>
                <a:ea typeface="Arial" pitchFamily="31" charset="0"/>
                <a:cs typeface="Arial" pitchFamily="31" charset="0"/>
              </a:endParaRPr>
            </a:p>
          </p:txBody>
        </p:sp>
        <p:sp>
          <p:nvSpPr>
            <p:cNvPr id="62" name="Text Box 81">
              <a:extLst>
                <a:ext uri="{FF2B5EF4-FFF2-40B4-BE49-F238E27FC236}">
                  <a16:creationId xmlns:a16="http://schemas.microsoft.com/office/drawing/2014/main" id="{3EEC2615-BE2E-12FD-4FB5-FB9DE17D3A1A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4080" y="2448"/>
              <a:ext cx="1305" cy="194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prstTxWarp prst="textNoShape">
                <a:avLst/>
              </a:prstTxWarp>
              <a:noAutofit/>
            </a:bodyPr>
            <a:lstStyle/>
            <a:p>
              <a:pPr eaLnBrk="1" hangingPunct="1"/>
              <a:r>
                <a:rPr lang="es-ES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(</a:t>
              </a:r>
              <a:r>
                <a:rPr lang="ca-ES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–</a:t>
              </a:r>
              <a:r>
                <a:rPr lang="es-ES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1)</a:t>
              </a:r>
              <a:r>
                <a:rPr lang="es-ES" b="1" baseline="3000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S</a:t>
              </a:r>
              <a:r>
                <a:rPr lang="es-ES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 </a:t>
              </a:r>
              <a:r>
                <a:rPr lang="es-ES" b="1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· </a:t>
              </a:r>
              <a:r>
                <a:rPr lang="es-ES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0.M</a:t>
              </a:r>
              <a:r>
                <a:rPr lang="es-ES" b="1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 · </a:t>
              </a:r>
              <a:r>
                <a:rPr lang="es-ES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2</a:t>
              </a:r>
              <a:r>
                <a:rPr lang="ca-ES" b="1" baseline="3000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–</a:t>
              </a:r>
              <a:r>
                <a:rPr lang="es-ES" b="1" baseline="30000">
                  <a:solidFill>
                    <a:srgbClr val="C00000"/>
                  </a:solidFill>
                  <a:ea typeface="Arial" pitchFamily="31" charset="0"/>
                  <a:cs typeface="Arial" pitchFamily="31" charset="0"/>
                </a:rPr>
                <a:t>1022</a:t>
              </a:r>
              <a:endParaRPr lang="ca-ES" b="1" baseline="30000">
                <a:solidFill>
                  <a:srgbClr val="C00000"/>
                </a:solidFill>
                <a:ea typeface="Arial" pitchFamily="31" charset="0"/>
                <a:cs typeface="Arial" pitchFamily="31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52068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54EC9C-A793-06E5-FA0E-416D0228D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effectLst/>
              </a:rPr>
              <a:t>La norma IEEE 754</a:t>
            </a:r>
            <a:endParaRPr lang="es-ES_tradn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76E2F2-3B2F-2872-9FA4-C398C64AE3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s-ES" dirty="0"/>
              <a:t>Los valores especiales</a:t>
            </a:r>
          </a:p>
          <a:p>
            <a:pPr lvl="1"/>
            <a:r>
              <a:rPr lang="es-ES" dirty="0"/>
              <a:t>Son manipulados por las operaciones junto con los reales corrientes</a:t>
            </a:r>
          </a:p>
          <a:p>
            <a:pPr lvl="1"/>
            <a:r>
              <a:rPr lang="es-ES" dirty="0"/>
              <a:t>Cero e infinito: se entienden como límites matemáticos; por eso </a:t>
            </a:r>
          </a:p>
          <a:p>
            <a:pPr lvl="3"/>
            <a:r>
              <a:rPr lang="es-ES" dirty="0">
                <a:sym typeface="Symbol" pitchFamily="31" charset="2"/>
              </a:rPr>
              <a:t>+ + + = +; – + – = –; etc.</a:t>
            </a:r>
          </a:p>
          <a:p>
            <a:pPr lvl="3"/>
            <a:r>
              <a:rPr lang="es-ES" dirty="0">
                <a:sym typeface="Symbol" pitchFamily="31" charset="2"/>
              </a:rPr>
              <a:t>+ </a:t>
            </a:r>
            <a:r>
              <a:rPr lang="en-US" dirty="0">
                <a:sym typeface="Symbol" pitchFamily="31" charset="2"/>
              </a:rPr>
              <a:t>×</a:t>
            </a:r>
            <a:r>
              <a:rPr lang="ca-ES" dirty="0">
                <a:sym typeface="Symbol" pitchFamily="31" charset="2"/>
              </a:rPr>
              <a:t> </a:t>
            </a:r>
            <a:r>
              <a:rPr lang="es-ES" dirty="0">
                <a:sym typeface="Symbol" pitchFamily="31" charset="2"/>
              </a:rPr>
              <a:t>positivo = +; + </a:t>
            </a:r>
            <a:r>
              <a:rPr lang="en-US" dirty="0">
                <a:sym typeface="Symbol" pitchFamily="31" charset="2"/>
              </a:rPr>
              <a:t>×</a:t>
            </a:r>
            <a:r>
              <a:rPr lang="ca-ES" dirty="0">
                <a:sym typeface="Symbol" pitchFamily="31" charset="2"/>
              </a:rPr>
              <a:t> </a:t>
            </a:r>
            <a:r>
              <a:rPr lang="es-ES" dirty="0">
                <a:sym typeface="Symbol" pitchFamily="31" charset="2"/>
              </a:rPr>
              <a:t>negativo = –; etc.</a:t>
            </a:r>
          </a:p>
          <a:p>
            <a:pPr lvl="3"/>
            <a:r>
              <a:rPr lang="es-ES" dirty="0"/>
              <a:t>positivo / +0 = </a:t>
            </a:r>
            <a:r>
              <a:rPr lang="es-ES" dirty="0">
                <a:sym typeface="Symbol" pitchFamily="31" charset="2"/>
              </a:rPr>
              <a:t>+ ; positivo / –0 = –; etc.</a:t>
            </a:r>
            <a:endParaRPr lang="es-ES" dirty="0"/>
          </a:p>
          <a:p>
            <a:pPr lvl="2"/>
            <a:r>
              <a:rPr lang="es-ES" dirty="0"/>
              <a:t>Atención a las comparaciones: +0 y</a:t>
            </a:r>
            <a:r>
              <a:rPr lang="es-ES" dirty="0">
                <a:sym typeface="Symbol" pitchFamily="31" charset="2"/>
              </a:rPr>
              <a:t> –0</a:t>
            </a:r>
            <a:r>
              <a:rPr lang="es-ES" dirty="0"/>
              <a:t> son iguales</a:t>
            </a:r>
          </a:p>
          <a:p>
            <a:pPr lvl="1"/>
            <a:r>
              <a:rPr lang="es-ES" dirty="0">
                <a:solidFill>
                  <a:srgbClr val="C00000"/>
                </a:solidFill>
              </a:rPr>
              <a:t>Not a Number </a:t>
            </a:r>
            <a:r>
              <a:rPr lang="es-ES" dirty="0"/>
              <a:t>(NaN): </a:t>
            </a:r>
          </a:p>
          <a:p>
            <a:pPr lvl="2"/>
            <a:r>
              <a:rPr lang="es-ES" dirty="0"/>
              <a:t>Generación: NaN es el resultado de </a:t>
            </a:r>
            <a:r>
              <a:rPr lang="es-ES" dirty="0">
                <a:sym typeface="Symbol" pitchFamily="31" charset="2"/>
              </a:rPr>
              <a:t>(+) + (–), ±0 </a:t>
            </a:r>
            <a:r>
              <a:rPr lang="en-US" dirty="0">
                <a:sym typeface="Symbol" pitchFamily="31" charset="2"/>
              </a:rPr>
              <a:t>×</a:t>
            </a:r>
            <a:r>
              <a:rPr lang="ca-ES" dirty="0">
                <a:sym typeface="Symbol" pitchFamily="31" charset="2"/>
              </a:rPr>
              <a:t> </a:t>
            </a:r>
            <a:r>
              <a:rPr lang="es-ES" dirty="0">
                <a:sym typeface="Symbol" pitchFamily="31" charset="2"/>
              </a:rPr>
              <a:t>±, ±0 / ±0, ± / ± y otras</a:t>
            </a:r>
          </a:p>
          <a:p>
            <a:pPr lvl="2"/>
            <a:r>
              <a:rPr lang="es-ES" dirty="0"/>
              <a:t>Propagación: cualquier operación donde un operando es NaN dará como resultado NaN</a:t>
            </a:r>
          </a:p>
          <a:p>
            <a:pPr lvl="2"/>
            <a:r>
              <a:rPr lang="es-ES" dirty="0">
                <a:sym typeface="Symbol" pitchFamily="31" charset="2"/>
              </a:rPr>
              <a:t>Una comparación </a:t>
            </a:r>
            <a:r>
              <a:rPr lang="ca-ES" dirty="0"/>
              <a:t>(=, &lt;, ≥, </a:t>
            </a:r>
            <a:r>
              <a:rPr lang="ca-ES" dirty="0" err="1"/>
              <a:t>etc</a:t>
            </a:r>
            <a:r>
              <a:rPr lang="ca-ES" dirty="0"/>
              <a:t>) </a:t>
            </a:r>
            <a:r>
              <a:rPr lang="es-ES" dirty="0">
                <a:sym typeface="Symbol" pitchFamily="31" charset="2"/>
              </a:rPr>
              <a:t>entre NaN y otro número resulta siempre falsa</a:t>
            </a:r>
          </a:p>
          <a:p>
            <a:endParaRPr lang="es-ES_tradn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92F4972-F79D-EC0E-0ED9-E93211A56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76455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A63CED-7763-3B0E-4790-80C1C4101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>
                <a:effectLst/>
              </a:rPr>
              <a:t>La norma IEEE 754</a:t>
            </a:r>
            <a:endParaRPr lang="es-ES_tradn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083F91B-2FC4-A6A6-FE67-7ADC445DE4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dirty="0"/>
              <a:t>La norma y los lenguajes de programación</a:t>
            </a:r>
          </a:p>
          <a:p>
            <a:pPr lvl="1"/>
            <a:r>
              <a:rPr lang="es-ES_tradnl" dirty="0"/>
              <a:t>Los valores especiales permiten tratar los incidentes del cálculo</a:t>
            </a:r>
          </a:p>
          <a:p>
            <a:pPr lvl="1"/>
            <a:r>
              <a:rPr lang="es-ES_tradnl" dirty="0"/>
              <a:t>El desbordamiento aritmético produce un resultado representable</a:t>
            </a:r>
          </a:p>
          <a:p>
            <a:endParaRPr lang="es-ES_tradn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A3B3377-49AC-E354-7428-487B02548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CF214C6-535F-B9D6-181D-452D6CDCA55C}"/>
              </a:ext>
            </a:extLst>
          </p:cNvPr>
          <p:cNvSpPr txBox="1"/>
          <p:nvPr/>
        </p:nvSpPr>
        <p:spPr>
          <a:xfrm>
            <a:off x="1084461" y="2743200"/>
            <a:ext cx="5240139" cy="3360920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algn="l"/>
            <a:r>
              <a:rPr lang="es-ES_tradnl" sz="1800" dirty="0" err="1">
                <a:solidFill>
                  <a:srgbClr val="010000"/>
                </a:solidFill>
                <a:latin typeface="Courier New"/>
                <a:cs typeface="Courier New"/>
              </a:rPr>
              <a:t>float</a:t>
            </a:r>
            <a:r>
              <a:rPr lang="es-ES_tradnl" sz="1800" dirty="0">
                <a:solidFill>
                  <a:srgbClr val="010000"/>
                </a:solidFill>
                <a:latin typeface="Courier New"/>
                <a:cs typeface="Courier New"/>
              </a:rPr>
              <a:t> x = +0.0f;</a:t>
            </a:r>
          </a:p>
          <a:p>
            <a:pPr algn="l"/>
            <a:r>
              <a:rPr lang="es-ES_tradnl" sz="1800" dirty="0" err="1">
                <a:solidFill>
                  <a:srgbClr val="010000"/>
                </a:solidFill>
                <a:latin typeface="Courier New"/>
                <a:cs typeface="Courier New"/>
              </a:rPr>
              <a:t>float</a:t>
            </a:r>
            <a:r>
              <a:rPr lang="es-ES_tradnl" sz="1800" dirty="0">
                <a:solidFill>
                  <a:srgbClr val="010000"/>
                </a:solidFill>
                <a:latin typeface="Courier New"/>
                <a:cs typeface="Courier New"/>
              </a:rPr>
              <a:t> y = 1/x;</a:t>
            </a:r>
          </a:p>
          <a:p>
            <a:pPr algn="l"/>
            <a:r>
              <a:rPr lang="es-ES_tradnl" sz="1800" dirty="0" err="1">
                <a:solidFill>
                  <a:srgbClr val="010000"/>
                </a:solidFill>
                <a:latin typeface="Courier New"/>
                <a:cs typeface="Courier New"/>
              </a:rPr>
              <a:t>float</a:t>
            </a:r>
            <a:r>
              <a:rPr lang="es-ES_tradnl" sz="1800" dirty="0">
                <a:solidFill>
                  <a:srgbClr val="010000"/>
                </a:solidFill>
                <a:latin typeface="Courier New"/>
                <a:cs typeface="Courier New"/>
              </a:rPr>
              <a:t> z = </a:t>
            </a:r>
            <a:r>
              <a:rPr lang="es-ES_tradnl" sz="1800" dirty="0" err="1">
                <a:solidFill>
                  <a:srgbClr val="010000"/>
                </a:solidFill>
                <a:latin typeface="Courier New"/>
                <a:cs typeface="Courier New"/>
              </a:rPr>
              <a:t>Float.NEGATIVE_INFINITY</a:t>
            </a:r>
            <a:r>
              <a:rPr lang="es-ES_tradnl" sz="1800" dirty="0">
                <a:solidFill>
                  <a:srgbClr val="010000"/>
                </a:solidFill>
                <a:latin typeface="Courier New"/>
                <a:cs typeface="Courier New"/>
              </a:rPr>
              <a:t>;</a:t>
            </a:r>
          </a:p>
          <a:p>
            <a:pPr algn="l"/>
            <a:r>
              <a:rPr lang="es-ES_tradnl" sz="1800" dirty="0" err="1">
                <a:solidFill>
                  <a:srgbClr val="010000"/>
                </a:solidFill>
                <a:latin typeface="Courier New"/>
                <a:cs typeface="Courier New"/>
              </a:rPr>
              <a:t>float</a:t>
            </a:r>
            <a:r>
              <a:rPr lang="es-ES_tradnl" sz="1800" dirty="0">
                <a:solidFill>
                  <a:srgbClr val="010000"/>
                </a:solidFill>
                <a:latin typeface="Courier New"/>
                <a:cs typeface="Courier New"/>
              </a:rPr>
              <a:t> t = 1/z;</a:t>
            </a:r>
          </a:p>
          <a:p>
            <a:pPr algn="l"/>
            <a:r>
              <a:rPr lang="es-ES_tradnl" sz="1800" dirty="0" err="1">
                <a:solidFill>
                  <a:srgbClr val="010000"/>
                </a:solidFill>
                <a:latin typeface="Courier New"/>
                <a:cs typeface="Courier New"/>
              </a:rPr>
              <a:t>float</a:t>
            </a:r>
            <a:r>
              <a:rPr lang="es-ES_tradnl" sz="1800" dirty="0">
                <a:solidFill>
                  <a:srgbClr val="010000"/>
                </a:solidFill>
                <a:latin typeface="Courier New"/>
                <a:cs typeface="Courier New"/>
              </a:rPr>
              <a:t> u = x*z;</a:t>
            </a:r>
          </a:p>
          <a:p>
            <a:pPr algn="l"/>
            <a:r>
              <a:rPr lang="es-ES_tradnl" sz="1800" dirty="0" err="1">
                <a:solidFill>
                  <a:srgbClr val="010000"/>
                </a:solidFill>
                <a:latin typeface="Courier New"/>
                <a:cs typeface="Courier New"/>
              </a:rPr>
              <a:t>System.out.println</a:t>
            </a:r>
            <a:r>
              <a:rPr lang="es-ES_tradnl" sz="1800" dirty="0">
                <a:solidFill>
                  <a:srgbClr val="010000"/>
                </a:solidFill>
                <a:latin typeface="Courier New"/>
                <a:cs typeface="Courier New"/>
              </a:rPr>
              <a:t>("x = " + x);</a:t>
            </a:r>
          </a:p>
          <a:p>
            <a:pPr algn="l"/>
            <a:r>
              <a:rPr lang="es-ES_tradnl" sz="1800" dirty="0" err="1">
                <a:solidFill>
                  <a:srgbClr val="010000"/>
                </a:solidFill>
                <a:latin typeface="Courier New"/>
                <a:cs typeface="Courier New"/>
              </a:rPr>
              <a:t>System.out.println</a:t>
            </a:r>
            <a:r>
              <a:rPr lang="es-ES_tradnl" sz="1800" dirty="0">
                <a:solidFill>
                  <a:srgbClr val="010000"/>
                </a:solidFill>
                <a:latin typeface="Courier New"/>
                <a:cs typeface="Courier New"/>
              </a:rPr>
              <a:t>("1/x = " + y);</a:t>
            </a:r>
          </a:p>
          <a:p>
            <a:pPr algn="l"/>
            <a:r>
              <a:rPr lang="es-ES_tradnl" sz="1800" dirty="0" err="1">
                <a:solidFill>
                  <a:srgbClr val="010000"/>
                </a:solidFill>
                <a:latin typeface="Courier New"/>
                <a:cs typeface="Courier New"/>
              </a:rPr>
              <a:t>System.out.println</a:t>
            </a:r>
            <a:r>
              <a:rPr lang="es-ES_tradnl" sz="1800" dirty="0">
                <a:solidFill>
                  <a:srgbClr val="010000"/>
                </a:solidFill>
                <a:latin typeface="Courier New"/>
                <a:cs typeface="Courier New"/>
              </a:rPr>
              <a:t>("z = " + z);</a:t>
            </a:r>
          </a:p>
          <a:p>
            <a:pPr algn="l"/>
            <a:r>
              <a:rPr lang="es-ES_tradnl" sz="1800" dirty="0" err="1">
                <a:solidFill>
                  <a:srgbClr val="010000"/>
                </a:solidFill>
                <a:latin typeface="Courier New"/>
                <a:cs typeface="Courier New"/>
              </a:rPr>
              <a:t>System.out.println</a:t>
            </a:r>
            <a:r>
              <a:rPr lang="es-ES_tradnl" sz="1800" dirty="0">
                <a:solidFill>
                  <a:srgbClr val="010000"/>
                </a:solidFill>
                <a:latin typeface="Courier New"/>
                <a:cs typeface="Courier New"/>
              </a:rPr>
              <a:t>("1/z = " + 1/z);</a:t>
            </a:r>
          </a:p>
          <a:p>
            <a:pPr algn="l"/>
            <a:r>
              <a:rPr lang="es-ES_tradnl" sz="1800" dirty="0" err="1">
                <a:solidFill>
                  <a:srgbClr val="010000"/>
                </a:solidFill>
                <a:latin typeface="Courier New"/>
                <a:cs typeface="Courier New"/>
              </a:rPr>
              <a:t>System.out.println</a:t>
            </a:r>
            <a:r>
              <a:rPr lang="es-ES_tradnl" sz="1800" dirty="0">
                <a:solidFill>
                  <a:srgbClr val="010000"/>
                </a:solidFill>
                <a:latin typeface="Courier New"/>
                <a:cs typeface="Courier New"/>
              </a:rPr>
              <a:t>("x * z = " + u);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B224BC4-359B-07E0-E607-DAE23A765EB4}"/>
              </a:ext>
            </a:extLst>
          </p:cNvPr>
          <p:cNvSpPr/>
          <p:nvPr/>
        </p:nvSpPr>
        <p:spPr>
          <a:xfrm>
            <a:off x="6228184" y="4514344"/>
            <a:ext cx="2448272" cy="169892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l"/>
            <a:r>
              <a:rPr lang="es-ES_tradnl" sz="1800" dirty="0">
                <a:latin typeface="Courier New"/>
                <a:cs typeface="Courier New"/>
              </a:rPr>
              <a:t>x = 0.0</a:t>
            </a:r>
          </a:p>
          <a:p>
            <a:pPr algn="l"/>
            <a:r>
              <a:rPr lang="es-ES_tradnl" sz="1800" dirty="0">
                <a:latin typeface="Courier New"/>
                <a:cs typeface="Courier New"/>
              </a:rPr>
              <a:t>1/x = </a:t>
            </a:r>
            <a:r>
              <a:rPr lang="es-ES_tradnl" sz="1800" dirty="0" err="1">
                <a:latin typeface="Courier New"/>
                <a:cs typeface="Courier New"/>
              </a:rPr>
              <a:t>Infinity</a:t>
            </a:r>
            <a:endParaRPr lang="es-ES_tradnl" sz="1800" dirty="0">
              <a:latin typeface="Courier New"/>
              <a:cs typeface="Courier New"/>
            </a:endParaRPr>
          </a:p>
          <a:p>
            <a:pPr algn="l"/>
            <a:r>
              <a:rPr lang="es-ES_tradnl" sz="1800" dirty="0">
                <a:latin typeface="Courier New"/>
                <a:cs typeface="Courier New"/>
              </a:rPr>
              <a:t>z = -</a:t>
            </a:r>
            <a:r>
              <a:rPr lang="es-ES_tradnl" sz="1800" dirty="0" err="1">
                <a:latin typeface="Courier New"/>
                <a:cs typeface="Courier New"/>
              </a:rPr>
              <a:t>Infinity</a:t>
            </a:r>
            <a:endParaRPr lang="es-ES_tradnl" sz="1800" dirty="0">
              <a:latin typeface="Courier New"/>
              <a:cs typeface="Courier New"/>
            </a:endParaRPr>
          </a:p>
          <a:p>
            <a:pPr algn="l"/>
            <a:r>
              <a:rPr lang="es-ES_tradnl" sz="1800" dirty="0">
                <a:latin typeface="Courier New"/>
                <a:cs typeface="Courier New"/>
              </a:rPr>
              <a:t>1/z = -0.0</a:t>
            </a:r>
          </a:p>
          <a:p>
            <a:pPr algn="l"/>
            <a:r>
              <a:rPr lang="es-ES_tradnl" sz="1800" dirty="0">
                <a:latin typeface="Courier New"/>
                <a:cs typeface="Courier New"/>
              </a:rPr>
              <a:t>x * z = </a:t>
            </a:r>
            <a:r>
              <a:rPr lang="es-ES_tradnl" sz="1800" dirty="0" err="1">
                <a:latin typeface="Courier New"/>
                <a:cs typeface="Courier New"/>
              </a:rPr>
              <a:t>NaN</a:t>
            </a:r>
            <a:endParaRPr lang="es-ES_tradnl" dirty="0">
              <a:latin typeface="Courier New"/>
              <a:cs typeface="Courier New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BA33C93-44F4-4170-618D-BA068E9E67ED}"/>
              </a:ext>
            </a:extLst>
          </p:cNvPr>
          <p:cNvSpPr txBox="1"/>
          <p:nvPr/>
        </p:nvSpPr>
        <p:spPr>
          <a:xfrm>
            <a:off x="5652346" y="2754868"/>
            <a:ext cx="672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800" dirty="0">
                <a:solidFill>
                  <a:srgbClr val="010000"/>
                </a:solidFill>
              </a:rPr>
              <a:t>Java</a:t>
            </a:r>
          </a:p>
        </p:txBody>
      </p:sp>
    </p:spTree>
    <p:extLst>
      <p:ext uri="{BB962C8B-B14F-4D97-AF65-F5344CB8AC3E}">
        <p14:creationId xmlns:p14="http://schemas.microsoft.com/office/powerpoint/2010/main" val="38266116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867999-4738-01A0-AF3F-AA0C56151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effectLst/>
              </a:rPr>
              <a:t>La norma IEEE 754</a:t>
            </a:r>
            <a:endParaRPr lang="es-ES_tradn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0DFD2A2-F7D1-FF03-CF1A-4E922413A0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s-ES" dirty="0"/>
              <a:t>El redondeo</a:t>
            </a:r>
            <a:endParaRPr lang="es-ES" altLang="ja-JP" dirty="0"/>
          </a:p>
          <a:p>
            <a:pPr lvl="1">
              <a:lnSpc>
                <a:spcPct val="100000"/>
              </a:lnSpc>
            </a:pPr>
            <a:r>
              <a:rPr lang="es-ES" dirty="0"/>
              <a:t>Situación frecuente: </a:t>
            </a:r>
            <a:r>
              <a:rPr lang="es-ES" altLang="ja-JP" dirty="0"/>
              <a:t>una operación genera una mantisa M de longitud más larga (</a:t>
            </a:r>
            <a:r>
              <a:rPr lang="es-ES" altLang="ja-JP" i="1" dirty="0"/>
              <a:t>p</a:t>
            </a:r>
            <a:r>
              <a:rPr lang="es-ES" altLang="ja-JP" dirty="0"/>
              <a:t> bits) que la prevista en el formato (</a:t>
            </a:r>
            <a:r>
              <a:rPr lang="es-ES" altLang="ja-JP" i="1" dirty="0"/>
              <a:t>m</a:t>
            </a:r>
            <a:r>
              <a:rPr lang="es-ES" altLang="ja-JP" dirty="0"/>
              <a:t> bits)</a:t>
            </a:r>
          </a:p>
          <a:p>
            <a:pPr lvl="2">
              <a:lnSpc>
                <a:spcPct val="100000"/>
              </a:lnSpc>
            </a:pPr>
            <a:r>
              <a:rPr lang="es-ES" altLang="ja-JP" dirty="0"/>
              <a:t>los </a:t>
            </a:r>
            <a:r>
              <a:rPr lang="es-ES" altLang="ja-JP" i="1" dirty="0"/>
              <a:t>m</a:t>
            </a:r>
            <a:r>
              <a:rPr lang="es-ES" altLang="ja-JP" dirty="0"/>
              <a:t> primeros bits de la mantisa M se llaman retenidos</a:t>
            </a:r>
          </a:p>
          <a:p>
            <a:pPr lvl="1">
              <a:lnSpc>
                <a:spcPct val="100000"/>
              </a:lnSpc>
            </a:pPr>
            <a:r>
              <a:rPr lang="es-ES" altLang="ja-JP" dirty="0"/>
              <a:t>Posibilidades: </a:t>
            </a:r>
          </a:p>
          <a:p>
            <a:pPr lvl="2">
              <a:lnSpc>
                <a:spcPct val="100000"/>
              </a:lnSpc>
            </a:pPr>
            <a:r>
              <a:rPr lang="es-ES" altLang="ja-JP" dirty="0"/>
              <a:t>M es representable de forma exacta en el formato: los </a:t>
            </a:r>
            <a:r>
              <a:rPr lang="es-ES" altLang="ja-JP" i="1" dirty="0"/>
              <a:t>p–m</a:t>
            </a:r>
            <a:r>
              <a:rPr lang="es-ES" altLang="ja-JP" dirty="0"/>
              <a:t> bits no retenidos son 0 y se pueden eliminar: </a:t>
            </a:r>
            <a:r>
              <a:rPr lang="es-ES" dirty="0"/>
              <a:t>010000 </a:t>
            </a:r>
            <a:r>
              <a:rPr lang="es-ES" dirty="0">
                <a:sym typeface="Symbol" pitchFamily="31" charset="2"/>
              </a:rPr>
              <a:t></a:t>
            </a:r>
            <a:r>
              <a:rPr lang="es-ES" dirty="0"/>
              <a:t> 0100</a:t>
            </a:r>
            <a:endParaRPr lang="es-ES" altLang="ja-JP" dirty="0"/>
          </a:p>
          <a:p>
            <a:pPr lvl="2">
              <a:lnSpc>
                <a:spcPct val="100000"/>
              </a:lnSpc>
            </a:pPr>
            <a:r>
              <a:rPr lang="es-ES" altLang="ja-JP" dirty="0"/>
              <a:t>M se encuentra entre dos valores representables M</a:t>
            </a:r>
            <a:r>
              <a:rPr lang="es-ES" baseline="-25000" dirty="0">
                <a:sym typeface="Symbol" pitchFamily="31" charset="2"/>
              </a:rPr>
              <a:t> –</a:t>
            </a:r>
            <a:r>
              <a:rPr lang="es-ES" altLang="ja-JP" dirty="0"/>
              <a:t> y M</a:t>
            </a:r>
            <a:r>
              <a:rPr lang="es-ES" baseline="-25000" dirty="0">
                <a:sym typeface="Symbol" pitchFamily="31" charset="2"/>
              </a:rPr>
              <a:t>+</a:t>
            </a:r>
            <a:r>
              <a:rPr lang="es-ES" dirty="0">
                <a:sym typeface="Symbol" pitchFamily="31" charset="2"/>
              </a:rPr>
              <a:t> </a:t>
            </a:r>
            <a:br>
              <a:rPr lang="es-ES" dirty="0">
                <a:sym typeface="Symbol" pitchFamily="31" charset="2"/>
              </a:rPr>
            </a:br>
            <a:r>
              <a:rPr lang="es-ES" dirty="0">
                <a:sym typeface="Symbol" pitchFamily="31" charset="2"/>
              </a:rPr>
              <a:t>(</a:t>
            </a:r>
            <a:r>
              <a:rPr lang="es-ES" altLang="ja-JP" dirty="0"/>
              <a:t>M</a:t>
            </a:r>
            <a:r>
              <a:rPr lang="es-ES" baseline="-25000" dirty="0">
                <a:sym typeface="Symbol" pitchFamily="31" charset="2"/>
              </a:rPr>
              <a:t>–</a:t>
            </a:r>
            <a:r>
              <a:rPr lang="es-ES" dirty="0">
                <a:sym typeface="Symbol" pitchFamily="31" charset="2"/>
              </a:rPr>
              <a:t> </a:t>
            </a:r>
            <a:r>
              <a:rPr lang="es-ES" altLang="ja-JP" dirty="0"/>
              <a:t>&lt; M &lt; M</a:t>
            </a:r>
            <a:r>
              <a:rPr lang="es-ES" baseline="-25000" dirty="0">
                <a:sym typeface="Symbol" pitchFamily="31" charset="2"/>
              </a:rPr>
              <a:t>+</a:t>
            </a:r>
            <a:r>
              <a:rPr lang="es-ES" dirty="0">
                <a:sym typeface="Symbol" pitchFamily="31" charset="2"/>
              </a:rPr>
              <a:t>), y</a:t>
            </a:r>
            <a:r>
              <a:rPr lang="es-ES" altLang="ja-JP" dirty="0"/>
              <a:t> hay que redondear: escoger uno de ellos como representación inexacta de M</a:t>
            </a:r>
          </a:p>
          <a:p>
            <a:pPr lvl="1">
              <a:lnSpc>
                <a:spcPct val="100000"/>
              </a:lnSpc>
            </a:pPr>
            <a:r>
              <a:rPr lang="es-ES" altLang="ja-JP" dirty="0"/>
              <a:t>La norma admite cuatro modos de redondeo:</a:t>
            </a:r>
          </a:p>
          <a:p>
            <a:pPr lvl="2">
              <a:lnSpc>
                <a:spcPct val="100000"/>
              </a:lnSpc>
            </a:pPr>
            <a:r>
              <a:rPr lang="es-ES" altLang="ja-JP" dirty="0"/>
              <a:t>Hacia </a:t>
            </a:r>
            <a:r>
              <a:rPr lang="es-ES" dirty="0">
                <a:sym typeface="Symbol" pitchFamily="31" charset="2"/>
              </a:rPr>
              <a:t>+</a:t>
            </a:r>
          </a:p>
          <a:p>
            <a:pPr lvl="2">
              <a:lnSpc>
                <a:spcPct val="100000"/>
              </a:lnSpc>
            </a:pPr>
            <a:r>
              <a:rPr lang="es-ES" dirty="0">
                <a:sym typeface="Symbol" pitchFamily="31" charset="2"/>
              </a:rPr>
              <a:t>Hacia –</a:t>
            </a:r>
          </a:p>
          <a:p>
            <a:pPr lvl="2">
              <a:lnSpc>
                <a:spcPct val="100000"/>
              </a:lnSpc>
            </a:pPr>
            <a:r>
              <a:rPr lang="es-ES" dirty="0">
                <a:sym typeface="Symbol" pitchFamily="31" charset="2"/>
              </a:rPr>
              <a:t>Hacia 0</a:t>
            </a:r>
          </a:p>
          <a:p>
            <a:pPr lvl="2">
              <a:lnSpc>
                <a:spcPct val="100000"/>
              </a:lnSpc>
            </a:pPr>
            <a:r>
              <a:rPr lang="es-ES" dirty="0">
                <a:sym typeface="Symbol" pitchFamily="31" charset="2"/>
              </a:rPr>
              <a:t>Escoger el más próximo de los dos (este es el modo por omisión)</a:t>
            </a:r>
            <a:endParaRPr lang="es-ES_tradn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82C1463-656C-3460-5678-3A7D4D1B6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881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A1B385-D7A0-4D08-5549-5639B7C9F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effectLst/>
              </a:rPr>
              <a:t>La norma IEEE 754</a:t>
            </a:r>
            <a:endParaRPr lang="es-ES_tradn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54F94AC-F2BC-8B53-BC8A-39740DE8BA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El redondeo</a:t>
            </a:r>
            <a:r>
              <a:rPr lang="es-ES" altLang="ja-JP" dirty="0"/>
              <a:t> hacia el más próximo (sesgado al par)</a:t>
            </a:r>
          </a:p>
          <a:p>
            <a:pPr lvl="1"/>
            <a:r>
              <a:rPr lang="es-ES" altLang="ja-JP" dirty="0">
                <a:sym typeface="Symbol" pitchFamily="31" charset="2"/>
              </a:rPr>
              <a:t>La variante por omisión es “</a:t>
            </a:r>
            <a:r>
              <a:rPr lang="es-ES" altLang="ja-JP" dirty="0" err="1">
                <a:sym typeface="Symbol" pitchFamily="31" charset="2"/>
              </a:rPr>
              <a:t>tie</a:t>
            </a:r>
            <a:r>
              <a:rPr lang="es-ES" altLang="ja-JP" dirty="0">
                <a:sym typeface="Symbol" pitchFamily="31" charset="2"/>
              </a:rPr>
              <a:t> </a:t>
            </a:r>
            <a:r>
              <a:rPr lang="es-ES" altLang="ja-JP" dirty="0" err="1">
                <a:sym typeface="Symbol" pitchFamily="31" charset="2"/>
              </a:rPr>
              <a:t>to</a:t>
            </a:r>
            <a:r>
              <a:rPr lang="es-ES" altLang="ja-JP" dirty="0">
                <a:sym typeface="Symbol" pitchFamily="31" charset="2"/>
              </a:rPr>
              <a:t> </a:t>
            </a:r>
            <a:r>
              <a:rPr lang="es-ES" altLang="ja-JP" dirty="0" err="1">
                <a:sym typeface="Symbol" pitchFamily="31" charset="2"/>
              </a:rPr>
              <a:t>even</a:t>
            </a:r>
            <a:r>
              <a:rPr lang="es-ES" altLang="ja-JP" dirty="0">
                <a:sym typeface="Symbol" pitchFamily="31" charset="2"/>
              </a:rPr>
              <a:t>”: en caso de que M equidiste </a:t>
            </a:r>
            <a:r>
              <a:rPr lang="es-ES" dirty="0">
                <a:sym typeface="Symbol" pitchFamily="31" charset="2"/>
              </a:rPr>
              <a:t>de </a:t>
            </a:r>
            <a:r>
              <a:rPr lang="es-ES" altLang="ja-JP" dirty="0"/>
              <a:t>M</a:t>
            </a:r>
            <a:r>
              <a:rPr lang="es-ES" baseline="-25000" dirty="0">
                <a:sym typeface="Symbol" pitchFamily="31" charset="2"/>
              </a:rPr>
              <a:t> –</a:t>
            </a:r>
            <a:r>
              <a:rPr lang="es-ES" altLang="ja-JP" dirty="0"/>
              <a:t> y M</a:t>
            </a:r>
            <a:r>
              <a:rPr lang="es-ES" baseline="-25000" dirty="0">
                <a:sym typeface="Symbol" pitchFamily="31" charset="2"/>
              </a:rPr>
              <a:t>+</a:t>
            </a:r>
            <a:r>
              <a:rPr lang="es-ES" altLang="ja-JP" dirty="0">
                <a:sym typeface="Symbol" pitchFamily="31" charset="2"/>
              </a:rPr>
              <a:t>, hay que escoger la mantisa representable par (o sea, la que acabe en 0)</a:t>
            </a:r>
          </a:p>
          <a:p>
            <a:pPr lvl="1"/>
            <a:r>
              <a:rPr lang="es-ES" altLang="ja-JP" dirty="0">
                <a:sym typeface="Symbol" pitchFamily="31" charset="2"/>
              </a:rPr>
              <a:t>Ejemplo:</a:t>
            </a:r>
            <a:endParaRPr lang="es-ES_tradn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D30395-74D5-0A8B-5F89-B33B986CA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0F4FDC17-DA48-F118-C0A7-D7AACD3B954A}"/>
              </a:ext>
            </a:extLst>
          </p:cNvPr>
          <p:cNvGrpSpPr>
            <a:grpSpLocks/>
          </p:cNvGrpSpPr>
          <p:nvPr/>
        </p:nvGrpSpPr>
        <p:grpSpPr bwMode="auto">
          <a:xfrm>
            <a:off x="2988270" y="3284984"/>
            <a:ext cx="4414838" cy="2905125"/>
            <a:chOff x="1675" y="1536"/>
            <a:chExt cx="2781" cy="183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6" name="Text Box 6">
              <a:extLst>
                <a:ext uri="{FF2B5EF4-FFF2-40B4-BE49-F238E27FC236}">
                  <a16:creationId xmlns:a16="http://schemas.microsoft.com/office/drawing/2014/main" id="{CCBD963A-BBD4-E270-F644-E134BBCCACF2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1675" y="1536"/>
              <a:ext cx="2781" cy="1830"/>
            </a:xfrm>
            <a:prstGeom prst="rect">
              <a:avLst/>
            </a:prstGeom>
            <a:grpFill/>
            <a:ln w="2857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>
              <a:prstTxWarp prst="textNoShape">
                <a:avLst/>
              </a:prstTxWarp>
              <a:spAutoFit/>
            </a:bodyPr>
            <a:lstStyle/>
            <a:p>
              <a:pPr eaLnBrk="1" hangingPunct="1">
                <a:tabLst>
                  <a:tab pos="1806575" algn="l"/>
                  <a:tab pos="3433763" algn="l"/>
                  <a:tab pos="4953000" algn="l"/>
                </a:tabLst>
              </a:pPr>
              <a:r>
                <a:rPr lang="es-ES_tradnl" sz="1600" b="1" dirty="0">
                  <a:solidFill>
                    <a:schemeClr val="tx1"/>
                  </a:solidFill>
                  <a:latin typeface="Arial Narrow" pitchFamily="31" charset="0"/>
                </a:rPr>
                <a:t>M	  Se elige                M resultante</a:t>
              </a:r>
            </a:p>
            <a:p>
              <a:pPr algn="l" eaLnBrk="1" hangingPunct="1">
                <a:tabLst>
                  <a:tab pos="1806575" algn="l"/>
                  <a:tab pos="3433763" algn="l"/>
                  <a:tab pos="4953000" algn="l"/>
                </a:tabLst>
              </a:pPr>
              <a:r>
                <a:rPr lang="es-ES_tradnl" sz="1600" b="1" dirty="0">
                  <a:solidFill>
                    <a:schemeClr val="tx1"/>
                  </a:solidFill>
                </a:rPr>
                <a:t> 010000	</a:t>
              </a:r>
              <a:r>
                <a:rPr lang="es-ES_tradnl" sz="1600" dirty="0">
                  <a:solidFill>
                    <a:schemeClr val="tx1"/>
                  </a:solidFill>
                </a:rPr>
                <a:t>(exacta) </a:t>
              </a:r>
              <a:r>
                <a:rPr lang="es-ES_tradnl" sz="1600" b="1" dirty="0">
                  <a:solidFill>
                    <a:schemeClr val="tx1"/>
                  </a:solidFill>
                </a:rPr>
                <a:t>	    0100</a:t>
              </a:r>
            </a:p>
            <a:p>
              <a:pPr algn="l" eaLnBrk="1" hangingPunct="1">
                <a:tabLst>
                  <a:tab pos="1806575" algn="l"/>
                  <a:tab pos="3433763" algn="l"/>
                  <a:tab pos="4953000" algn="l"/>
                </a:tabLst>
              </a:pPr>
              <a:r>
                <a:rPr lang="es-ES_tradnl" sz="1600" b="1" dirty="0">
                  <a:solidFill>
                    <a:schemeClr val="tx1"/>
                  </a:solidFill>
                </a:rPr>
                <a:t> 010001	</a:t>
              </a:r>
              <a:r>
                <a:rPr lang="es-ES_tradnl" sz="1600" dirty="0">
                  <a:solidFill>
                    <a:schemeClr val="tx1"/>
                  </a:solidFill>
                </a:rPr>
                <a:t>M</a:t>
              </a:r>
              <a:r>
                <a:rPr lang="es-ES_tradnl" sz="1600" b="1" baseline="-25000" dirty="0">
                  <a:solidFill>
                    <a:schemeClr val="tx1"/>
                  </a:solidFill>
                </a:rPr>
                <a:t>–</a:t>
              </a:r>
              <a:r>
                <a:rPr lang="es-ES_tradnl" sz="1600" dirty="0">
                  <a:solidFill>
                    <a:schemeClr val="tx1"/>
                  </a:solidFill>
                  <a:latin typeface="Arial Narrow" pitchFamily="34" charset="0"/>
                </a:rPr>
                <a:t>(más próxima)    	     </a:t>
              </a:r>
              <a:r>
                <a:rPr lang="es-ES_tradnl" sz="1600" b="1" dirty="0">
                  <a:solidFill>
                    <a:schemeClr val="tx1"/>
                  </a:solidFill>
                </a:rPr>
                <a:t>0100</a:t>
              </a:r>
            </a:p>
            <a:p>
              <a:pPr algn="l" eaLnBrk="1" hangingPunct="1">
                <a:tabLst>
                  <a:tab pos="1806575" algn="l"/>
                  <a:tab pos="3433763" algn="l"/>
                  <a:tab pos="4953000" algn="l"/>
                </a:tabLst>
              </a:pPr>
              <a:r>
                <a:rPr lang="es-ES_tradnl" sz="1600" b="1" dirty="0">
                  <a:solidFill>
                    <a:schemeClr val="tx1"/>
                  </a:solidFill>
                </a:rPr>
                <a:t> 010010	</a:t>
              </a:r>
              <a:r>
                <a:rPr lang="es-ES_tradnl" sz="1600" dirty="0">
                  <a:solidFill>
                    <a:schemeClr val="tx1"/>
                  </a:solidFill>
                </a:rPr>
                <a:t>M</a:t>
              </a:r>
              <a:r>
                <a:rPr lang="es-ES_tradnl" sz="1600" b="1" baseline="-25000" dirty="0">
                  <a:solidFill>
                    <a:schemeClr val="tx1"/>
                  </a:solidFill>
                </a:rPr>
                <a:t>– </a:t>
              </a:r>
              <a:r>
                <a:rPr lang="es-ES_tradnl" sz="1600" dirty="0">
                  <a:solidFill>
                    <a:schemeClr val="tx1"/>
                  </a:solidFill>
                </a:rPr>
                <a:t>(par)	    </a:t>
              </a:r>
              <a:r>
                <a:rPr lang="es-ES_tradnl" sz="1600" b="1" dirty="0">
                  <a:solidFill>
                    <a:schemeClr val="tx1"/>
                  </a:solidFill>
                </a:rPr>
                <a:t>0100</a:t>
              </a:r>
            </a:p>
            <a:p>
              <a:pPr algn="l" eaLnBrk="1" hangingPunct="1">
                <a:tabLst>
                  <a:tab pos="1806575" algn="l"/>
                  <a:tab pos="3433763" algn="l"/>
                  <a:tab pos="4953000" algn="l"/>
                </a:tabLst>
              </a:pPr>
              <a:r>
                <a:rPr lang="es-ES_tradnl" sz="1600" b="1" dirty="0">
                  <a:solidFill>
                    <a:schemeClr val="tx1"/>
                  </a:solidFill>
                </a:rPr>
                <a:t> 010011	</a:t>
              </a:r>
              <a:r>
                <a:rPr lang="es-ES_tradnl" sz="1600" dirty="0">
                  <a:solidFill>
                    <a:schemeClr val="tx1"/>
                  </a:solidFill>
                </a:rPr>
                <a:t>M</a:t>
              </a:r>
              <a:r>
                <a:rPr lang="es-ES_tradnl" sz="1600" b="1" baseline="-25000" dirty="0">
                  <a:solidFill>
                    <a:schemeClr val="tx1"/>
                  </a:solidFill>
                </a:rPr>
                <a:t>+</a:t>
              </a:r>
              <a:r>
                <a:rPr lang="es-ES_tradnl" sz="1600" dirty="0">
                  <a:solidFill>
                    <a:schemeClr val="tx1"/>
                  </a:solidFill>
                  <a:latin typeface="Arial Narrow" pitchFamily="34" charset="0"/>
                </a:rPr>
                <a:t>(más próxima) </a:t>
              </a:r>
              <a:r>
                <a:rPr lang="es-ES_tradnl" sz="1600" b="1" dirty="0">
                  <a:solidFill>
                    <a:schemeClr val="tx1"/>
                  </a:solidFill>
                </a:rPr>
                <a:t>         0101</a:t>
              </a:r>
            </a:p>
            <a:p>
              <a:pPr algn="l" eaLnBrk="1" hangingPunct="1">
                <a:tabLst>
                  <a:tab pos="1806575" algn="l"/>
                  <a:tab pos="3433763" algn="l"/>
                  <a:tab pos="4953000" algn="l"/>
                </a:tabLst>
              </a:pPr>
              <a:r>
                <a:rPr lang="es-ES_tradnl" sz="1600" b="1" dirty="0">
                  <a:solidFill>
                    <a:schemeClr val="tx1"/>
                  </a:solidFill>
                </a:rPr>
                <a:t> 010100	</a:t>
              </a:r>
              <a:r>
                <a:rPr lang="es-ES_tradnl" sz="1600" dirty="0">
                  <a:solidFill>
                    <a:schemeClr val="tx1"/>
                  </a:solidFill>
                </a:rPr>
                <a:t>(exacta)	    </a:t>
              </a:r>
              <a:r>
                <a:rPr lang="es-ES_tradnl" sz="1600" b="1" dirty="0">
                  <a:solidFill>
                    <a:schemeClr val="tx1"/>
                  </a:solidFill>
                </a:rPr>
                <a:t>0101</a:t>
              </a:r>
            </a:p>
            <a:p>
              <a:pPr algn="l" eaLnBrk="1" hangingPunct="1">
                <a:tabLst>
                  <a:tab pos="1806575" algn="l"/>
                  <a:tab pos="3433763" algn="l"/>
                  <a:tab pos="4953000" algn="l"/>
                </a:tabLst>
              </a:pPr>
              <a:r>
                <a:rPr lang="es-ES_tradnl" sz="1600" b="1" dirty="0">
                  <a:solidFill>
                    <a:schemeClr val="tx1"/>
                  </a:solidFill>
                </a:rPr>
                <a:t> 010101	</a:t>
              </a:r>
              <a:r>
                <a:rPr lang="es-ES_tradnl" sz="1600" dirty="0">
                  <a:solidFill>
                    <a:schemeClr val="tx1"/>
                  </a:solidFill>
                </a:rPr>
                <a:t>M</a:t>
              </a:r>
              <a:r>
                <a:rPr lang="es-ES_tradnl" sz="1600" b="1" baseline="-25000" dirty="0">
                  <a:solidFill>
                    <a:schemeClr val="tx1"/>
                  </a:solidFill>
                </a:rPr>
                <a:t>–</a:t>
              </a:r>
              <a:r>
                <a:rPr lang="es-ES_tradnl" sz="1600" dirty="0">
                  <a:solidFill>
                    <a:schemeClr val="tx1"/>
                  </a:solidFill>
                  <a:latin typeface="Arial Narrow" pitchFamily="34" charset="0"/>
                </a:rPr>
                <a:t>(más próxima) </a:t>
              </a:r>
              <a:r>
                <a:rPr lang="es-ES_tradnl" sz="1600" b="1" dirty="0">
                  <a:solidFill>
                    <a:schemeClr val="tx1"/>
                  </a:solidFill>
                </a:rPr>
                <a:t>         0101</a:t>
              </a:r>
            </a:p>
            <a:p>
              <a:pPr algn="l" eaLnBrk="1" hangingPunct="1">
                <a:tabLst>
                  <a:tab pos="1806575" algn="l"/>
                  <a:tab pos="3433763" algn="l"/>
                  <a:tab pos="4953000" algn="l"/>
                </a:tabLst>
              </a:pPr>
              <a:r>
                <a:rPr lang="es-ES_tradnl" sz="1600" b="1" dirty="0">
                  <a:solidFill>
                    <a:schemeClr val="tx1"/>
                  </a:solidFill>
                </a:rPr>
                <a:t> 010110	</a:t>
              </a:r>
              <a:r>
                <a:rPr lang="es-ES_tradnl" sz="1600" dirty="0">
                  <a:solidFill>
                    <a:schemeClr val="tx1"/>
                  </a:solidFill>
                </a:rPr>
                <a:t>M</a:t>
              </a:r>
              <a:r>
                <a:rPr lang="es-ES_tradnl" sz="1600" b="1" baseline="-25000" dirty="0">
                  <a:solidFill>
                    <a:schemeClr val="tx1"/>
                  </a:solidFill>
                </a:rPr>
                <a:t>+ </a:t>
              </a:r>
              <a:r>
                <a:rPr lang="es-ES_tradnl" sz="1600" b="1" dirty="0">
                  <a:solidFill>
                    <a:schemeClr val="tx1"/>
                  </a:solidFill>
                  <a:latin typeface="Arial Narrow" pitchFamily="31" charset="0"/>
                </a:rPr>
                <a:t>(par)</a:t>
              </a:r>
              <a:r>
                <a:rPr lang="es-ES_tradnl" sz="1600" dirty="0">
                  <a:solidFill>
                    <a:schemeClr val="tx1"/>
                  </a:solidFill>
                </a:rPr>
                <a:t>	    </a:t>
              </a:r>
              <a:r>
                <a:rPr lang="es-ES_tradnl" sz="1600" b="1" dirty="0">
                  <a:solidFill>
                    <a:schemeClr val="tx1"/>
                  </a:solidFill>
                </a:rPr>
                <a:t>0110</a:t>
              </a:r>
            </a:p>
            <a:p>
              <a:pPr algn="l" eaLnBrk="1" hangingPunct="1">
                <a:tabLst>
                  <a:tab pos="1806575" algn="l"/>
                  <a:tab pos="3433763" algn="l"/>
                  <a:tab pos="4953000" algn="l"/>
                </a:tabLst>
              </a:pPr>
              <a:r>
                <a:rPr lang="es-ES_tradnl" sz="1600" b="1" dirty="0">
                  <a:solidFill>
                    <a:schemeClr val="tx1"/>
                  </a:solidFill>
                </a:rPr>
                <a:t> 010111	</a:t>
              </a:r>
              <a:r>
                <a:rPr lang="es-ES_tradnl" sz="1600" dirty="0">
                  <a:solidFill>
                    <a:schemeClr val="tx1"/>
                  </a:solidFill>
                </a:rPr>
                <a:t>M</a:t>
              </a:r>
              <a:r>
                <a:rPr lang="es-ES_tradnl" sz="1600" b="1" baseline="-25000" dirty="0">
                  <a:solidFill>
                    <a:schemeClr val="tx1"/>
                  </a:solidFill>
                </a:rPr>
                <a:t>+</a:t>
              </a:r>
              <a:r>
                <a:rPr lang="es-ES_tradnl" sz="1600" dirty="0">
                  <a:solidFill>
                    <a:schemeClr val="tx1"/>
                  </a:solidFill>
                  <a:latin typeface="Arial Narrow" pitchFamily="34" charset="0"/>
                </a:rPr>
                <a:t>(más próxima) </a:t>
              </a:r>
              <a:r>
                <a:rPr lang="es-ES_tradnl" sz="1600" dirty="0">
                  <a:solidFill>
                    <a:schemeClr val="tx1"/>
                  </a:solidFill>
                </a:rPr>
                <a:t>         </a:t>
              </a:r>
              <a:r>
                <a:rPr lang="es-ES_tradnl" sz="1600" b="1" dirty="0">
                  <a:solidFill>
                    <a:schemeClr val="tx1"/>
                  </a:solidFill>
                </a:rPr>
                <a:t>0110</a:t>
              </a:r>
            </a:p>
            <a:p>
              <a:pPr algn="l" eaLnBrk="1" hangingPunct="1">
                <a:tabLst>
                  <a:tab pos="1806575" algn="l"/>
                  <a:tab pos="3433763" algn="l"/>
                  <a:tab pos="4953000" algn="l"/>
                </a:tabLst>
              </a:pPr>
              <a:r>
                <a:rPr lang="es-ES_tradnl" sz="1600" b="1" dirty="0">
                  <a:solidFill>
                    <a:schemeClr val="tx1"/>
                  </a:solidFill>
                </a:rPr>
                <a:t> 011000	</a:t>
              </a:r>
              <a:r>
                <a:rPr lang="es-ES_tradnl" sz="1600" dirty="0">
                  <a:solidFill>
                    <a:schemeClr val="tx1"/>
                  </a:solidFill>
                </a:rPr>
                <a:t>(exacta)	    </a:t>
              </a:r>
              <a:r>
                <a:rPr lang="es-ES_tradnl" sz="1600" b="1" dirty="0">
                  <a:solidFill>
                    <a:schemeClr val="tx1"/>
                  </a:solidFill>
                </a:rPr>
                <a:t>0110</a:t>
              </a:r>
              <a:endParaRPr lang="es-ES_tradnl" sz="1600" dirty="0">
                <a:solidFill>
                  <a:schemeClr val="tx1"/>
                </a:solidFill>
              </a:endParaRPr>
            </a:p>
          </p:txBody>
        </p:sp>
        <p:sp>
          <p:nvSpPr>
            <p:cNvPr id="7" name="Line 7">
              <a:extLst>
                <a:ext uri="{FF2B5EF4-FFF2-40B4-BE49-F238E27FC236}">
                  <a16:creationId xmlns:a16="http://schemas.microsoft.com/office/drawing/2014/main" id="{ECA44027-9185-975C-C14E-D5C70EB96E59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V="1">
              <a:off x="1675" y="1717"/>
              <a:ext cx="2767" cy="0"/>
            </a:xfrm>
            <a:prstGeom prst="line">
              <a:avLst/>
            </a:prstGeom>
            <a:grpFill/>
            <a:ln w="9525">
              <a:solidFill>
                <a:schemeClr val="tx2"/>
              </a:solidFill>
              <a:round/>
              <a:headEnd/>
              <a:tailEnd/>
            </a:ln>
            <a:effectLst/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ca-ES"/>
            </a:p>
          </p:txBody>
        </p:sp>
      </p:grpSp>
    </p:spTree>
    <p:extLst>
      <p:ext uri="{BB962C8B-B14F-4D97-AF65-F5344CB8AC3E}">
        <p14:creationId xmlns:p14="http://schemas.microsoft.com/office/powerpoint/2010/main" val="17753065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CA599B-18C1-BC02-D386-2D9188E39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La coma flotante en RISC-V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DAAB9D4-916A-4DD4-6C70-3F0FCAE33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Visi</a:t>
            </a:r>
            <a:r>
              <a:rPr lang="es-ES" altLang="ja-JP" dirty="0"/>
              <a:t>ón</a:t>
            </a:r>
            <a:r>
              <a:rPr lang="ca-ES" altLang="ja-JP" dirty="0"/>
              <a:t> del programador</a:t>
            </a:r>
            <a:endParaRPr lang="ca-ES" dirty="0"/>
          </a:p>
          <a:p>
            <a:endParaRPr lang="es-ES_tradn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3CD541E-1497-07B4-72F2-D59BFE99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6A82E7C7-A057-E90E-626C-AEE71788A3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8749" y="1798768"/>
            <a:ext cx="2366558" cy="307777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ctr"/>
            <a:r>
              <a:rPr lang="es-ES_tradnl" dirty="0">
                <a:solidFill>
                  <a:schemeClr val="tx1"/>
                </a:solidFill>
              </a:rPr>
              <a:t>Registros de enteros</a:t>
            </a: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DA15D4DD-77EC-4C0E-9432-BA0A54D7BE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91490" y="1798768"/>
            <a:ext cx="1852971" cy="307777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ctr"/>
            <a:r>
              <a:rPr lang="es-ES_tradnl">
                <a:solidFill>
                  <a:schemeClr val="tx1"/>
                </a:solidFill>
              </a:rPr>
              <a:t>Registros de CF</a:t>
            </a:r>
          </a:p>
        </p:txBody>
      </p:sp>
      <p:sp>
        <p:nvSpPr>
          <p:cNvPr id="7" name="Line 7">
            <a:extLst>
              <a:ext uri="{FF2B5EF4-FFF2-40B4-BE49-F238E27FC236}">
                <a16:creationId xmlns:a16="http://schemas.microsoft.com/office/drawing/2014/main" id="{765F862D-8AC1-5119-C388-5B5633C3F29D}"/>
              </a:ext>
            </a:extLst>
          </p:cNvPr>
          <p:cNvSpPr>
            <a:spLocks noChangeShapeType="1"/>
          </p:cNvSpPr>
          <p:nvPr/>
        </p:nvSpPr>
        <p:spPr bwMode="auto">
          <a:xfrm>
            <a:off x="4425749" y="2851348"/>
            <a:ext cx="381000" cy="1588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endParaRPr lang="ca-ES">
              <a:solidFill>
                <a:schemeClr val="tx1"/>
              </a:solidFill>
            </a:endParaRPr>
          </a:p>
        </p:txBody>
      </p:sp>
      <p:sp>
        <p:nvSpPr>
          <p:cNvPr id="8" name="Line 8">
            <a:extLst>
              <a:ext uri="{FF2B5EF4-FFF2-40B4-BE49-F238E27FC236}">
                <a16:creationId xmlns:a16="http://schemas.microsoft.com/office/drawing/2014/main" id="{1D742392-80E5-DCB1-67A4-E3486C1C544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410194" y="3140968"/>
            <a:ext cx="381000" cy="1588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endParaRPr lang="ca-ES">
              <a:solidFill>
                <a:schemeClr val="tx1"/>
              </a:solidFill>
            </a:endParaRPr>
          </a:p>
        </p:txBody>
      </p:sp>
      <p:sp>
        <p:nvSpPr>
          <p:cNvPr id="9" name="Text Box 9">
            <a:extLst>
              <a:ext uri="{FF2B5EF4-FFF2-40B4-BE49-F238E27FC236}">
                <a16:creationId xmlns:a16="http://schemas.microsoft.com/office/drawing/2014/main" id="{FF043F6E-9054-7734-7B86-EE9582F555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29896" y="2181359"/>
            <a:ext cx="1102866" cy="609398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ctr"/>
            <a:r>
              <a:rPr lang="es-ES_tradnl" sz="1800" dirty="0" err="1">
                <a:solidFill>
                  <a:srgbClr val="C00000"/>
                </a:solidFill>
                <a:latin typeface="Courier New" pitchFamily="31" charset="0"/>
              </a:rPr>
              <a:t>fcvt.s.w</a:t>
            </a:r>
            <a:endParaRPr lang="es-ES_tradnl" sz="1800" dirty="0">
              <a:solidFill>
                <a:srgbClr val="C00000"/>
              </a:solidFill>
              <a:latin typeface="Courier New" pitchFamily="31" charset="0"/>
            </a:endParaRPr>
          </a:p>
          <a:p>
            <a:pPr algn="ctr"/>
            <a:r>
              <a:rPr lang="es-ES_tradnl" sz="1800" dirty="0" err="1">
                <a:solidFill>
                  <a:srgbClr val="C00000"/>
                </a:solidFill>
                <a:latin typeface="Courier New" pitchFamily="31" charset="0"/>
              </a:rPr>
              <a:t>fmv.w.x</a:t>
            </a:r>
            <a:endParaRPr lang="es-ES_tradnl" sz="1800" dirty="0">
              <a:solidFill>
                <a:srgbClr val="C00000"/>
              </a:solidFill>
              <a:latin typeface="Courier New" pitchFamily="31" charset="0"/>
            </a:endParaRPr>
          </a:p>
        </p:txBody>
      </p:sp>
      <p:sp>
        <p:nvSpPr>
          <p:cNvPr id="10" name="Text Box 10">
            <a:extLst>
              <a:ext uri="{FF2B5EF4-FFF2-40B4-BE49-F238E27FC236}">
                <a16:creationId xmlns:a16="http://schemas.microsoft.com/office/drawing/2014/main" id="{1D3373EB-B513-2211-9A55-F8361E5DAB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56884" y="3248160"/>
            <a:ext cx="1102866" cy="609398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ctr"/>
            <a:r>
              <a:rPr lang="es-ES_tradnl" sz="1800" dirty="0" err="1">
                <a:solidFill>
                  <a:srgbClr val="C00000"/>
                </a:solidFill>
                <a:latin typeface="Courier New" pitchFamily="31" charset="0"/>
              </a:rPr>
              <a:t>fcvt.w.s</a:t>
            </a:r>
            <a:endParaRPr lang="es-ES_tradnl" sz="1800" dirty="0">
              <a:solidFill>
                <a:srgbClr val="C00000"/>
              </a:solidFill>
              <a:latin typeface="Courier New" pitchFamily="31" charset="0"/>
            </a:endParaRPr>
          </a:p>
          <a:p>
            <a:pPr algn="ctr"/>
            <a:r>
              <a:rPr lang="es-ES_tradnl" sz="1800" dirty="0" err="1">
                <a:solidFill>
                  <a:srgbClr val="C00000"/>
                </a:solidFill>
                <a:latin typeface="Courier New" pitchFamily="31" charset="0"/>
              </a:rPr>
              <a:t>fmv.x.w</a:t>
            </a:r>
            <a:endParaRPr lang="es-ES_tradnl" sz="1800" dirty="0">
              <a:solidFill>
                <a:srgbClr val="C00000"/>
              </a:solidFill>
              <a:latin typeface="Courier New" pitchFamily="31" charset="0"/>
            </a:endParaRPr>
          </a:p>
        </p:txBody>
      </p:sp>
      <p:sp>
        <p:nvSpPr>
          <p:cNvPr id="11" name="Text Box 16">
            <a:extLst>
              <a:ext uri="{FF2B5EF4-FFF2-40B4-BE49-F238E27FC236}">
                <a16:creationId xmlns:a16="http://schemas.microsoft.com/office/drawing/2014/main" id="{161884F8-6FA2-47EC-50C5-C38B6102F5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662" y="2045394"/>
            <a:ext cx="551433" cy="225292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800" dirty="0" err="1">
                <a:solidFill>
                  <a:srgbClr val="C00000"/>
                </a:solidFill>
                <a:latin typeface="Courier New" pitchFamily="31" charset="0"/>
              </a:rPr>
              <a:t>add</a:t>
            </a:r>
            <a:endParaRPr lang="es-ES_tradnl" sz="1800" dirty="0">
              <a:solidFill>
                <a:srgbClr val="C00000"/>
              </a:solidFill>
              <a:latin typeface="Courier New" pitchFamily="31" charset="0"/>
            </a:endParaRPr>
          </a:p>
          <a:p>
            <a:pPr algn="l"/>
            <a:r>
              <a:rPr lang="es-ES_tradnl" sz="1800" dirty="0" err="1">
                <a:solidFill>
                  <a:srgbClr val="C00000"/>
                </a:solidFill>
                <a:latin typeface="Courier New" pitchFamily="31" charset="0"/>
              </a:rPr>
              <a:t>sub</a:t>
            </a:r>
            <a:br>
              <a:rPr lang="es-ES_tradnl" sz="1800" dirty="0">
                <a:solidFill>
                  <a:srgbClr val="C00000"/>
                </a:solidFill>
                <a:latin typeface="Courier New" pitchFamily="31" charset="0"/>
              </a:rPr>
            </a:br>
            <a:r>
              <a:rPr lang="es-ES_tradnl" sz="1800" dirty="0" err="1">
                <a:solidFill>
                  <a:srgbClr val="C00000"/>
                </a:solidFill>
                <a:latin typeface="Courier New" pitchFamily="31" charset="0"/>
              </a:rPr>
              <a:t>mult</a:t>
            </a:r>
            <a:endParaRPr lang="es-ES_tradnl" sz="1800" dirty="0">
              <a:solidFill>
                <a:srgbClr val="C00000"/>
              </a:solidFill>
              <a:latin typeface="Courier New" pitchFamily="31" charset="0"/>
            </a:endParaRPr>
          </a:p>
          <a:p>
            <a:pPr algn="l"/>
            <a:r>
              <a:rPr lang="es-ES_tradnl" sz="1800" dirty="0" err="1">
                <a:solidFill>
                  <a:srgbClr val="C00000"/>
                </a:solidFill>
                <a:latin typeface="Courier New" pitchFamily="31" charset="0"/>
              </a:rPr>
              <a:t>div</a:t>
            </a:r>
            <a:endParaRPr lang="es-ES_tradnl" sz="1800" dirty="0">
              <a:solidFill>
                <a:srgbClr val="C00000"/>
              </a:solidFill>
              <a:latin typeface="Courier New" pitchFamily="31" charset="0"/>
            </a:endParaRPr>
          </a:p>
          <a:p>
            <a:pPr algn="l"/>
            <a:r>
              <a:rPr lang="es-ES_tradnl" sz="1800" dirty="0" err="1">
                <a:solidFill>
                  <a:srgbClr val="C00000"/>
                </a:solidFill>
                <a:latin typeface="Courier New" pitchFamily="31" charset="0"/>
              </a:rPr>
              <a:t>slt</a:t>
            </a:r>
            <a:endParaRPr lang="es-ES_tradnl" sz="1800" dirty="0">
              <a:solidFill>
                <a:srgbClr val="C00000"/>
              </a:solidFill>
              <a:latin typeface="Courier New" pitchFamily="31" charset="0"/>
            </a:endParaRPr>
          </a:p>
          <a:p>
            <a:pPr algn="l"/>
            <a:r>
              <a:rPr lang="es-ES_tradnl" sz="1800" dirty="0" err="1">
                <a:solidFill>
                  <a:srgbClr val="C00000"/>
                </a:solidFill>
                <a:latin typeface="Courier New" pitchFamily="31" charset="0"/>
              </a:rPr>
              <a:t>beq</a:t>
            </a:r>
            <a:endParaRPr lang="es-ES_tradnl" sz="1800" dirty="0">
              <a:solidFill>
                <a:srgbClr val="C00000"/>
              </a:solidFill>
              <a:latin typeface="Courier New" pitchFamily="31" charset="0"/>
            </a:endParaRPr>
          </a:p>
          <a:p>
            <a:r>
              <a:rPr lang="es-ES_tradnl" dirty="0">
                <a:solidFill>
                  <a:srgbClr val="C00000"/>
                </a:solidFill>
                <a:latin typeface="Courier New" pitchFamily="31" charset="0"/>
              </a:rPr>
              <a:t>…</a:t>
            </a:r>
          </a:p>
        </p:txBody>
      </p:sp>
      <p:sp>
        <p:nvSpPr>
          <p:cNvPr id="12" name="Text Box 22">
            <a:extLst>
              <a:ext uri="{FF2B5EF4-FFF2-40B4-BE49-F238E27FC236}">
                <a16:creationId xmlns:a16="http://schemas.microsoft.com/office/drawing/2014/main" id="{255A37F2-4FEB-2317-085A-76F2DA5366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56237" y="1932262"/>
            <a:ext cx="1295400" cy="2326791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800" dirty="0" err="1">
                <a:solidFill>
                  <a:srgbClr val="C00000"/>
                </a:solidFill>
                <a:latin typeface="Courier New" pitchFamily="31" charset="0"/>
              </a:rPr>
              <a:t>fadd.s</a:t>
            </a:r>
            <a:endParaRPr lang="es-ES_tradnl" sz="1800" dirty="0">
              <a:solidFill>
                <a:srgbClr val="C00000"/>
              </a:solidFill>
              <a:latin typeface="Courier New" pitchFamily="31" charset="0"/>
            </a:endParaRPr>
          </a:p>
          <a:p>
            <a:pPr algn="l"/>
            <a:r>
              <a:rPr lang="es-ES_tradnl" sz="1800" dirty="0" err="1">
                <a:solidFill>
                  <a:srgbClr val="C00000"/>
                </a:solidFill>
                <a:latin typeface="Courier New" pitchFamily="31" charset="0"/>
              </a:rPr>
              <a:t>fsub.s</a:t>
            </a:r>
            <a:br>
              <a:rPr lang="es-ES_tradnl" sz="1800" dirty="0">
                <a:solidFill>
                  <a:srgbClr val="C00000"/>
                </a:solidFill>
                <a:latin typeface="Courier New" pitchFamily="31" charset="0"/>
              </a:rPr>
            </a:br>
            <a:r>
              <a:rPr lang="es-ES_tradnl" sz="1800" dirty="0" err="1">
                <a:solidFill>
                  <a:srgbClr val="C00000"/>
                </a:solidFill>
                <a:latin typeface="Courier New" pitchFamily="31" charset="0"/>
              </a:rPr>
              <a:t>fmul.s</a:t>
            </a:r>
            <a:endParaRPr lang="es-ES_tradnl" sz="1800" dirty="0">
              <a:solidFill>
                <a:srgbClr val="C00000"/>
              </a:solidFill>
              <a:latin typeface="Courier New" pitchFamily="31" charset="0"/>
            </a:endParaRPr>
          </a:p>
          <a:p>
            <a:pPr algn="l"/>
            <a:r>
              <a:rPr lang="es-ES_tradnl" sz="1800" dirty="0" err="1">
                <a:solidFill>
                  <a:srgbClr val="C00000"/>
                </a:solidFill>
                <a:latin typeface="Courier New" pitchFamily="31" charset="0"/>
              </a:rPr>
              <a:t>fdiv.s</a:t>
            </a:r>
            <a:endParaRPr lang="es-ES_tradnl" sz="1800" dirty="0">
              <a:solidFill>
                <a:srgbClr val="C00000"/>
              </a:solidFill>
              <a:latin typeface="Courier New" pitchFamily="31" charset="0"/>
            </a:endParaRPr>
          </a:p>
          <a:p>
            <a:pPr algn="l"/>
            <a:r>
              <a:rPr lang="es-ES_tradnl" sz="1800" dirty="0" err="1">
                <a:solidFill>
                  <a:srgbClr val="C00000"/>
                </a:solidFill>
                <a:latin typeface="Courier New" pitchFamily="31" charset="0"/>
              </a:rPr>
              <a:t>flt.s</a:t>
            </a:r>
            <a:endParaRPr lang="es-ES_tradnl" sz="1800" dirty="0">
              <a:solidFill>
                <a:srgbClr val="C00000"/>
              </a:solidFill>
              <a:latin typeface="Courier New" pitchFamily="31" charset="0"/>
            </a:endParaRPr>
          </a:p>
          <a:p>
            <a:pPr algn="l"/>
            <a:r>
              <a:rPr lang="es-ES_tradnl" sz="1800" dirty="0">
                <a:solidFill>
                  <a:srgbClr val="C00000"/>
                </a:solidFill>
                <a:latin typeface="Courier New" pitchFamily="31" charset="0"/>
              </a:rPr>
              <a:t>bc1t</a:t>
            </a:r>
          </a:p>
          <a:p>
            <a:pPr algn="l"/>
            <a:r>
              <a:rPr lang="es-ES_tradnl" dirty="0">
                <a:solidFill>
                  <a:srgbClr val="C00000"/>
                </a:solidFill>
                <a:latin typeface="Courier New" pitchFamily="31" charset="0"/>
              </a:rPr>
              <a:t>…</a:t>
            </a:r>
          </a:p>
        </p:txBody>
      </p:sp>
      <p:sp>
        <p:nvSpPr>
          <p:cNvPr id="13" name="Rectangle 23">
            <a:extLst>
              <a:ext uri="{FF2B5EF4-FFF2-40B4-BE49-F238E27FC236}">
                <a16:creationId xmlns:a16="http://schemas.microsoft.com/office/drawing/2014/main" id="{73252572-0D27-930B-A48D-DDD93A639A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82002" y="2257459"/>
            <a:ext cx="1219200" cy="307975"/>
          </a:xfrm>
          <a:prstGeom prst="rect">
            <a:avLst/>
          </a:prstGeom>
          <a:noFill/>
          <a:ln w="635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 lIns="0" tIns="0" rIns="0" bIns="0" anchor="ctr">
            <a:prstTxWarp prst="textNoShape">
              <a:avLst/>
            </a:prstTxWarp>
          </a:bodyPr>
          <a:lstStyle/>
          <a:p>
            <a:pPr algn="ctr"/>
            <a:r>
              <a:rPr lang="es-ES_tradnl" dirty="0">
                <a:solidFill>
                  <a:schemeClr val="tx1"/>
                </a:solidFill>
              </a:rPr>
              <a:t>x0</a:t>
            </a:r>
          </a:p>
        </p:txBody>
      </p:sp>
      <p:sp>
        <p:nvSpPr>
          <p:cNvPr id="14" name="Rectangle 24">
            <a:extLst>
              <a:ext uri="{FF2B5EF4-FFF2-40B4-BE49-F238E27FC236}">
                <a16:creationId xmlns:a16="http://schemas.microsoft.com/office/drawing/2014/main" id="{AA691788-BDC2-5C35-2781-E3FD7ADF8D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82002" y="2559084"/>
            <a:ext cx="1219200" cy="307975"/>
          </a:xfrm>
          <a:prstGeom prst="rect">
            <a:avLst/>
          </a:prstGeom>
          <a:noFill/>
          <a:ln w="635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 lIns="0" tIns="0" rIns="0" bIns="0" anchor="ctr">
            <a:prstTxWarp prst="textNoShape">
              <a:avLst/>
            </a:prstTxWarp>
          </a:bodyPr>
          <a:lstStyle/>
          <a:p>
            <a:pPr algn="ctr"/>
            <a:r>
              <a:rPr lang="es-ES_tradnl" dirty="0">
                <a:solidFill>
                  <a:schemeClr val="tx1"/>
                </a:solidFill>
              </a:rPr>
              <a:t>x1</a:t>
            </a:r>
          </a:p>
        </p:txBody>
      </p:sp>
      <p:sp>
        <p:nvSpPr>
          <p:cNvPr id="15" name="Rectangle 25">
            <a:extLst>
              <a:ext uri="{FF2B5EF4-FFF2-40B4-BE49-F238E27FC236}">
                <a16:creationId xmlns:a16="http://schemas.microsoft.com/office/drawing/2014/main" id="{8BFD817E-BDA3-5DFD-E843-ACD3CE9E72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82002" y="2863884"/>
            <a:ext cx="1219200" cy="307975"/>
          </a:xfrm>
          <a:prstGeom prst="rect">
            <a:avLst/>
          </a:prstGeom>
          <a:noFill/>
          <a:ln w="635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 lIns="0" tIns="0" rIns="0" bIns="0" anchor="ctr">
            <a:prstTxWarp prst="textNoShape">
              <a:avLst/>
            </a:prstTxWarp>
          </a:bodyPr>
          <a:lstStyle/>
          <a:p>
            <a:pPr algn="ctr"/>
            <a:r>
              <a:rPr lang="es-ES_tradnl" dirty="0">
                <a:solidFill>
                  <a:schemeClr val="tx1"/>
                </a:solidFill>
              </a:rPr>
              <a:t>x2</a:t>
            </a:r>
          </a:p>
        </p:txBody>
      </p:sp>
      <p:sp>
        <p:nvSpPr>
          <p:cNvPr id="16" name="Rectangle 26">
            <a:extLst>
              <a:ext uri="{FF2B5EF4-FFF2-40B4-BE49-F238E27FC236}">
                <a16:creationId xmlns:a16="http://schemas.microsoft.com/office/drawing/2014/main" id="{EA54C455-35A7-0574-CFC1-687AE7BD9B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82002" y="3549683"/>
            <a:ext cx="1219200" cy="307975"/>
          </a:xfrm>
          <a:prstGeom prst="rect">
            <a:avLst/>
          </a:prstGeom>
          <a:noFill/>
          <a:ln w="635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 lIns="0" tIns="0" rIns="0" bIns="0" anchor="ctr">
            <a:prstTxWarp prst="textNoShape">
              <a:avLst/>
            </a:prstTxWarp>
          </a:bodyPr>
          <a:lstStyle/>
          <a:p>
            <a:pPr algn="ctr"/>
            <a:r>
              <a:rPr lang="es-ES_tradnl" dirty="0">
                <a:solidFill>
                  <a:schemeClr val="tx1"/>
                </a:solidFill>
              </a:rPr>
              <a:t>x31</a:t>
            </a:r>
          </a:p>
        </p:txBody>
      </p:sp>
      <p:sp>
        <p:nvSpPr>
          <p:cNvPr id="17" name="Line 27">
            <a:extLst>
              <a:ext uri="{FF2B5EF4-FFF2-40B4-BE49-F238E27FC236}">
                <a16:creationId xmlns:a16="http://schemas.microsoft.com/office/drawing/2014/main" id="{EF7F2D51-75E5-CA87-98B6-A8D00092AB31}"/>
              </a:ext>
            </a:extLst>
          </p:cNvPr>
          <p:cNvSpPr>
            <a:spLocks noChangeShapeType="1"/>
          </p:cNvSpPr>
          <p:nvPr/>
        </p:nvSpPr>
        <p:spPr bwMode="auto">
          <a:xfrm>
            <a:off x="3291602" y="3248055"/>
            <a:ext cx="0" cy="228600"/>
          </a:xfrm>
          <a:prstGeom prst="line">
            <a:avLst/>
          </a:prstGeom>
          <a:noFill/>
          <a:ln w="38100">
            <a:solidFill>
              <a:schemeClr val="tx2"/>
            </a:solidFill>
            <a:prstDash val="sysDot"/>
            <a:round/>
            <a:headEnd/>
            <a:tailEnd/>
          </a:ln>
          <a:effectLst/>
        </p:spPr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endParaRPr lang="ca-ES">
              <a:solidFill>
                <a:schemeClr val="tx1"/>
              </a:solidFill>
            </a:endParaRPr>
          </a:p>
        </p:txBody>
      </p:sp>
      <p:sp>
        <p:nvSpPr>
          <p:cNvPr id="18" name="Rectangle 28">
            <a:extLst>
              <a:ext uri="{FF2B5EF4-FFF2-40B4-BE49-F238E27FC236}">
                <a16:creationId xmlns:a16="http://schemas.microsoft.com/office/drawing/2014/main" id="{D3E6AAE4-3F7D-A26E-C9BE-6FB55BDF3A0C}"/>
              </a:ext>
            </a:extLst>
          </p:cNvPr>
          <p:cNvSpPr>
            <a:spLocks noChangeArrowheads="1"/>
          </p:cNvSpPr>
          <p:nvPr/>
        </p:nvSpPr>
        <p:spPr bwMode="blackWhite">
          <a:xfrm>
            <a:off x="5203026" y="2903670"/>
            <a:ext cx="65" cy="307777"/>
          </a:xfrm>
          <a:prstGeom prst="rect">
            <a:avLst/>
          </a:prstGeom>
          <a:solidFill>
            <a:schemeClr val="folHlink"/>
          </a:solidFill>
          <a:ln w="6350">
            <a:miter lim="800000"/>
            <a:headEnd/>
            <a:tailEnd/>
          </a:ln>
          <a:effectLst/>
          <a:scene3d>
            <a:camera prst="legacyObliqueTopRight"/>
            <a:lightRig rig="legacyFlat3" dir="b"/>
          </a:scene3d>
          <a:sp3d extrusionH="49200" prstMaterial="legacyMetal">
            <a:bevelT w="13500" h="13500" prst="angle"/>
            <a:bevelB w="13500" h="13500" prst="angle"/>
            <a:extrusionClr>
              <a:schemeClr val="folHlink"/>
            </a:extrusionClr>
          </a:sp3d>
        </p:spPr>
        <p:txBody>
          <a:bodyPr wrap="none" lIns="0" tIns="0" rIns="0" bIns="0" anchor="ctr">
            <a:prstTxWarp prst="textNoShape">
              <a:avLst/>
            </a:prstTxWarp>
            <a:spAutoFit/>
            <a:flatTx/>
          </a:bodyPr>
          <a:lstStyle/>
          <a:p>
            <a:endParaRPr lang="ca-ES">
              <a:solidFill>
                <a:schemeClr val="tx1"/>
              </a:solidFill>
            </a:endParaRPr>
          </a:p>
        </p:txBody>
      </p:sp>
      <p:sp>
        <p:nvSpPr>
          <p:cNvPr id="19" name="Rectangle 29">
            <a:extLst>
              <a:ext uri="{FF2B5EF4-FFF2-40B4-BE49-F238E27FC236}">
                <a16:creationId xmlns:a16="http://schemas.microsoft.com/office/drawing/2014/main" id="{27A83F36-CF45-99F6-8C9B-07A52A3600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9226" y="2257459"/>
            <a:ext cx="1219200" cy="307975"/>
          </a:xfrm>
          <a:prstGeom prst="rect">
            <a:avLst/>
          </a:prstGeom>
          <a:noFill/>
          <a:ln w="635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 lIns="0" tIns="0" rIns="0" bIns="0" anchor="ctr">
            <a:prstTxWarp prst="textNoShape">
              <a:avLst/>
            </a:prstTxWarp>
          </a:bodyPr>
          <a:lstStyle/>
          <a:p>
            <a:pPr algn="ctr"/>
            <a:r>
              <a:rPr lang="es-ES_tradnl" dirty="0">
                <a:solidFill>
                  <a:schemeClr val="tx1"/>
                </a:solidFill>
              </a:rPr>
              <a:t>f0</a:t>
            </a:r>
          </a:p>
        </p:txBody>
      </p:sp>
      <p:sp>
        <p:nvSpPr>
          <p:cNvPr id="20" name="Rectangle 30">
            <a:extLst>
              <a:ext uri="{FF2B5EF4-FFF2-40B4-BE49-F238E27FC236}">
                <a16:creationId xmlns:a16="http://schemas.microsoft.com/office/drawing/2014/main" id="{832287A9-DA6E-5ACC-3AA2-54324E1CFB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9226" y="2559084"/>
            <a:ext cx="1219200" cy="307975"/>
          </a:xfrm>
          <a:prstGeom prst="rect">
            <a:avLst/>
          </a:prstGeom>
          <a:noFill/>
          <a:ln w="635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 lIns="0" tIns="0" rIns="0" bIns="0" anchor="ctr">
            <a:prstTxWarp prst="textNoShape">
              <a:avLst/>
            </a:prstTxWarp>
          </a:bodyPr>
          <a:lstStyle/>
          <a:p>
            <a:pPr algn="ctr"/>
            <a:r>
              <a:rPr lang="es-ES_tradnl" dirty="0">
                <a:solidFill>
                  <a:schemeClr val="tx1"/>
                </a:solidFill>
              </a:rPr>
              <a:t>f1</a:t>
            </a:r>
          </a:p>
        </p:txBody>
      </p:sp>
      <p:sp>
        <p:nvSpPr>
          <p:cNvPr id="21" name="Rectangle 31">
            <a:extLst>
              <a:ext uri="{FF2B5EF4-FFF2-40B4-BE49-F238E27FC236}">
                <a16:creationId xmlns:a16="http://schemas.microsoft.com/office/drawing/2014/main" id="{DD83AD24-E61D-D890-AB12-A92B240837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9226" y="2863884"/>
            <a:ext cx="1219200" cy="307975"/>
          </a:xfrm>
          <a:prstGeom prst="rect">
            <a:avLst/>
          </a:prstGeom>
          <a:noFill/>
          <a:ln w="635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 lIns="0" tIns="0" rIns="0" bIns="0" anchor="ctr">
            <a:prstTxWarp prst="textNoShape">
              <a:avLst/>
            </a:prstTxWarp>
          </a:bodyPr>
          <a:lstStyle/>
          <a:p>
            <a:pPr algn="ctr"/>
            <a:r>
              <a:rPr lang="es-ES_tradnl" dirty="0">
                <a:solidFill>
                  <a:schemeClr val="tx1"/>
                </a:solidFill>
              </a:rPr>
              <a:t>f2</a:t>
            </a:r>
          </a:p>
        </p:txBody>
      </p:sp>
      <p:sp>
        <p:nvSpPr>
          <p:cNvPr id="22" name="Rectangle 32">
            <a:extLst>
              <a:ext uri="{FF2B5EF4-FFF2-40B4-BE49-F238E27FC236}">
                <a16:creationId xmlns:a16="http://schemas.microsoft.com/office/drawing/2014/main" id="{E4EABF65-9733-BFAA-1D47-8EF91D2328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9226" y="3549683"/>
            <a:ext cx="1219200" cy="307975"/>
          </a:xfrm>
          <a:prstGeom prst="rect">
            <a:avLst/>
          </a:prstGeom>
          <a:noFill/>
          <a:ln w="635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 lIns="0" tIns="0" rIns="0" bIns="0" anchor="ctr">
            <a:prstTxWarp prst="textNoShape">
              <a:avLst/>
            </a:prstTxWarp>
          </a:bodyPr>
          <a:lstStyle/>
          <a:p>
            <a:pPr algn="ctr"/>
            <a:r>
              <a:rPr lang="es-ES_tradnl" dirty="0">
                <a:solidFill>
                  <a:schemeClr val="tx1"/>
                </a:solidFill>
              </a:rPr>
              <a:t>f31</a:t>
            </a:r>
          </a:p>
        </p:txBody>
      </p:sp>
      <p:sp>
        <p:nvSpPr>
          <p:cNvPr id="23" name="Line 33">
            <a:extLst>
              <a:ext uri="{FF2B5EF4-FFF2-40B4-BE49-F238E27FC236}">
                <a16:creationId xmlns:a16="http://schemas.microsoft.com/office/drawing/2014/main" id="{45861B41-5465-71D5-2D68-49B132F944CF}"/>
              </a:ext>
            </a:extLst>
          </p:cNvPr>
          <p:cNvSpPr>
            <a:spLocks noChangeShapeType="1"/>
          </p:cNvSpPr>
          <p:nvPr/>
        </p:nvSpPr>
        <p:spPr bwMode="auto">
          <a:xfrm>
            <a:off x="5888826" y="3248055"/>
            <a:ext cx="0" cy="228600"/>
          </a:xfrm>
          <a:prstGeom prst="line">
            <a:avLst/>
          </a:prstGeom>
          <a:noFill/>
          <a:ln w="38100">
            <a:solidFill>
              <a:schemeClr val="tx2"/>
            </a:solidFill>
            <a:prstDash val="sysDot"/>
            <a:round/>
            <a:headEnd/>
            <a:tailEnd/>
          </a:ln>
          <a:effectLst/>
        </p:spPr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endParaRPr lang="ca-ES">
              <a:solidFill>
                <a:schemeClr val="tx1"/>
              </a:solidFill>
            </a:endParaRPr>
          </a:p>
        </p:txBody>
      </p:sp>
      <p:sp>
        <p:nvSpPr>
          <p:cNvPr id="24" name="Text Box 44">
            <a:extLst>
              <a:ext uri="{FF2B5EF4-FFF2-40B4-BE49-F238E27FC236}">
                <a16:creationId xmlns:a16="http://schemas.microsoft.com/office/drawing/2014/main" id="{93E77661-94B5-F704-6429-817258D96D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53711" y="6140680"/>
            <a:ext cx="997068" cy="307777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ctr"/>
            <a:r>
              <a:rPr lang="es-ES_tradnl" dirty="0">
                <a:solidFill>
                  <a:schemeClr val="tx1"/>
                </a:solidFill>
              </a:rPr>
              <a:t>Mem</a:t>
            </a:r>
            <a:r>
              <a:rPr lang="es-ES_tradnl" altLang="ja-JP" dirty="0">
                <a:solidFill>
                  <a:schemeClr val="tx1"/>
                </a:solidFill>
                <a:ea typeface="Geneva" pitchFamily="31" charset="0"/>
                <a:cs typeface="Geneva" pitchFamily="31" charset="0"/>
              </a:rPr>
              <a:t>oria</a:t>
            </a:r>
            <a:endParaRPr lang="es-ES_tradnl" dirty="0">
              <a:solidFill>
                <a:schemeClr val="tx1"/>
              </a:solidFill>
            </a:endParaRPr>
          </a:p>
        </p:txBody>
      </p:sp>
      <p:grpSp>
        <p:nvGrpSpPr>
          <p:cNvPr id="51" name="Grupo 50">
            <a:extLst>
              <a:ext uri="{FF2B5EF4-FFF2-40B4-BE49-F238E27FC236}">
                <a16:creationId xmlns:a16="http://schemas.microsoft.com/office/drawing/2014/main" id="{5DDD026F-D0DB-430E-3EC6-51A5C2794A7E}"/>
              </a:ext>
            </a:extLst>
          </p:cNvPr>
          <p:cNvGrpSpPr/>
          <p:nvPr/>
        </p:nvGrpSpPr>
        <p:grpSpPr>
          <a:xfrm>
            <a:off x="1225349" y="2370169"/>
            <a:ext cx="1371600" cy="1258888"/>
            <a:chOff x="1225349" y="2370169"/>
            <a:chExt cx="1371600" cy="1258888"/>
          </a:xfrm>
        </p:grpSpPr>
        <p:sp>
          <p:nvSpPr>
            <p:cNvPr id="26" name="Freeform 32">
              <a:extLst>
                <a:ext uri="{FF2B5EF4-FFF2-40B4-BE49-F238E27FC236}">
                  <a16:creationId xmlns:a16="http://schemas.microsoft.com/office/drawing/2014/main" id="{3DA7D765-6971-6921-4343-7CEF8A308082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5349" y="2790857"/>
              <a:ext cx="1066800" cy="40005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192" y="0"/>
                </a:cxn>
                <a:cxn ang="0">
                  <a:pos x="288" y="96"/>
                </a:cxn>
                <a:cxn ang="0">
                  <a:pos x="384" y="0"/>
                </a:cxn>
                <a:cxn ang="0">
                  <a:pos x="576" y="0"/>
                </a:cxn>
                <a:cxn ang="0">
                  <a:pos x="432" y="192"/>
                </a:cxn>
                <a:cxn ang="0">
                  <a:pos x="144" y="192"/>
                </a:cxn>
                <a:cxn ang="0">
                  <a:pos x="0" y="0"/>
                </a:cxn>
              </a:cxnLst>
              <a:rect l="0" t="0" r="r" b="b"/>
              <a:pathLst>
                <a:path w="576" h="192">
                  <a:moveTo>
                    <a:pt x="0" y="0"/>
                  </a:moveTo>
                  <a:lnTo>
                    <a:pt x="192" y="0"/>
                  </a:lnTo>
                  <a:lnTo>
                    <a:pt x="288" y="96"/>
                  </a:lnTo>
                  <a:lnTo>
                    <a:pt x="384" y="0"/>
                  </a:lnTo>
                  <a:lnTo>
                    <a:pt x="576" y="0"/>
                  </a:lnTo>
                  <a:lnTo>
                    <a:pt x="432" y="192"/>
                  </a:lnTo>
                  <a:lnTo>
                    <a:pt x="144" y="192"/>
                  </a:lnTo>
                  <a:lnTo>
                    <a:pt x="0" y="0"/>
                  </a:lnTo>
                  <a:close/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>
              <a:prstTxWarp prst="textNoShape">
                <a:avLst/>
              </a:prstTxWarp>
              <a:spAutoFit/>
            </a:bodyPr>
            <a:lstStyle/>
            <a:p>
              <a:endParaRPr lang="ca-ES">
                <a:solidFill>
                  <a:schemeClr val="tx1"/>
                </a:solidFill>
              </a:endParaRPr>
            </a:p>
          </p:txBody>
        </p:sp>
        <p:sp>
          <p:nvSpPr>
            <p:cNvPr id="27" name="Freeform 34">
              <a:extLst>
                <a:ext uri="{FF2B5EF4-FFF2-40B4-BE49-F238E27FC236}">
                  <a16:creationId xmlns:a16="http://schemas.microsoft.com/office/drawing/2014/main" id="{70B850F5-5802-443E-D1BF-C2FD53329471}"/>
                </a:ext>
              </a:extLst>
            </p:cNvPr>
            <p:cNvSpPr>
              <a:spLocks/>
            </p:cNvSpPr>
            <p:nvPr/>
          </p:nvSpPr>
          <p:spPr bwMode="auto">
            <a:xfrm>
              <a:off x="1453949" y="2370169"/>
              <a:ext cx="1143000" cy="307975"/>
            </a:xfrm>
            <a:custGeom>
              <a:avLst/>
              <a:gdLst/>
              <a:ahLst/>
              <a:cxnLst>
                <a:cxn ang="0">
                  <a:pos x="432" y="0"/>
                </a:cxn>
                <a:cxn ang="0">
                  <a:pos x="0" y="0"/>
                </a:cxn>
                <a:cxn ang="0">
                  <a:pos x="0" y="192"/>
                </a:cxn>
              </a:cxnLst>
              <a:rect l="0" t="0" r="r" b="b"/>
              <a:pathLst>
                <a:path w="432" h="192">
                  <a:moveTo>
                    <a:pt x="432" y="0"/>
                  </a:moveTo>
                  <a:lnTo>
                    <a:pt x="0" y="0"/>
                  </a:lnTo>
                  <a:lnTo>
                    <a:pt x="0" y="192"/>
                  </a:lnTo>
                </a:path>
              </a:pathLst>
            </a:custGeom>
            <a:noFill/>
            <a:ln w="38100" cap="flat" cmpd="sng">
              <a:solidFill>
                <a:schemeClr val="tx2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ca-ES">
                <a:solidFill>
                  <a:schemeClr val="tx1"/>
                </a:solidFill>
              </a:endParaRPr>
            </a:p>
          </p:txBody>
        </p:sp>
        <p:sp>
          <p:nvSpPr>
            <p:cNvPr id="28" name="Freeform 38">
              <a:extLst>
                <a:ext uri="{FF2B5EF4-FFF2-40B4-BE49-F238E27FC236}">
                  <a16:creationId xmlns:a16="http://schemas.microsoft.com/office/drawing/2014/main" id="{C1CFEBA7-E90C-12CC-F022-0907DF3949C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63549" y="2486057"/>
              <a:ext cx="533400" cy="304800"/>
            </a:xfrm>
            <a:custGeom>
              <a:avLst/>
              <a:gdLst/>
              <a:ahLst/>
              <a:cxnLst>
                <a:cxn ang="0">
                  <a:pos x="432" y="0"/>
                </a:cxn>
                <a:cxn ang="0">
                  <a:pos x="0" y="0"/>
                </a:cxn>
                <a:cxn ang="0">
                  <a:pos x="0" y="192"/>
                </a:cxn>
              </a:cxnLst>
              <a:rect l="0" t="0" r="r" b="b"/>
              <a:pathLst>
                <a:path w="432" h="192">
                  <a:moveTo>
                    <a:pt x="432" y="0"/>
                  </a:moveTo>
                  <a:lnTo>
                    <a:pt x="0" y="0"/>
                  </a:lnTo>
                  <a:lnTo>
                    <a:pt x="0" y="192"/>
                  </a:lnTo>
                </a:path>
              </a:pathLst>
            </a:custGeom>
            <a:noFill/>
            <a:ln w="38100" cap="flat" cmpd="sng">
              <a:solidFill>
                <a:schemeClr val="tx2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ca-ES">
                <a:solidFill>
                  <a:schemeClr val="tx1"/>
                </a:solidFill>
              </a:endParaRPr>
            </a:p>
          </p:txBody>
        </p:sp>
        <p:sp>
          <p:nvSpPr>
            <p:cNvPr id="29" name="Freeform 39">
              <a:extLst>
                <a:ext uri="{FF2B5EF4-FFF2-40B4-BE49-F238E27FC236}">
                  <a16:creationId xmlns:a16="http://schemas.microsoft.com/office/drawing/2014/main" id="{9ABBC87A-C3DC-AF8D-CE24-995AB0726951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758749" y="3324257"/>
              <a:ext cx="838200" cy="304800"/>
            </a:xfrm>
            <a:custGeom>
              <a:avLst/>
              <a:gdLst/>
              <a:ahLst/>
              <a:cxnLst>
                <a:cxn ang="0">
                  <a:pos x="432" y="0"/>
                </a:cxn>
                <a:cxn ang="0">
                  <a:pos x="0" y="0"/>
                </a:cxn>
                <a:cxn ang="0">
                  <a:pos x="0" y="192"/>
                </a:cxn>
              </a:cxnLst>
              <a:rect l="0" t="0" r="r" b="b"/>
              <a:pathLst>
                <a:path w="432" h="192">
                  <a:moveTo>
                    <a:pt x="432" y="0"/>
                  </a:moveTo>
                  <a:lnTo>
                    <a:pt x="0" y="0"/>
                  </a:lnTo>
                  <a:lnTo>
                    <a:pt x="0" y="192"/>
                  </a:lnTo>
                </a:path>
              </a:pathLst>
            </a:custGeom>
            <a:noFill/>
            <a:ln w="38100" cap="flat" cmpd="sng">
              <a:solidFill>
                <a:schemeClr val="tx2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ca-ES">
                <a:solidFill>
                  <a:schemeClr val="tx1"/>
                </a:solidFill>
              </a:endParaRPr>
            </a:p>
          </p:txBody>
        </p:sp>
      </p:grpSp>
      <p:sp>
        <p:nvSpPr>
          <p:cNvPr id="30" name="Freeform 81">
            <a:extLst>
              <a:ext uri="{FF2B5EF4-FFF2-40B4-BE49-F238E27FC236}">
                <a16:creationId xmlns:a16="http://schemas.microsoft.com/office/drawing/2014/main" id="{8F4191B8-E557-149B-BAE5-F32AF66575ED}"/>
              </a:ext>
            </a:extLst>
          </p:cNvPr>
          <p:cNvSpPr>
            <a:spLocks/>
          </p:cNvSpPr>
          <p:nvPr/>
        </p:nvSpPr>
        <p:spPr bwMode="auto">
          <a:xfrm>
            <a:off x="3435149" y="4237166"/>
            <a:ext cx="533400" cy="307777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0" y="288"/>
              </a:cxn>
              <a:cxn ang="0">
                <a:pos x="240" y="288"/>
              </a:cxn>
            </a:cxnLst>
            <a:rect l="0" t="0" r="r" b="b"/>
            <a:pathLst>
              <a:path w="240" h="288">
                <a:moveTo>
                  <a:pt x="0" y="0"/>
                </a:moveTo>
                <a:lnTo>
                  <a:pt x="0" y="288"/>
                </a:lnTo>
                <a:lnTo>
                  <a:pt x="240" y="288"/>
                </a:lnTo>
              </a:path>
            </a:pathLst>
          </a:custGeom>
          <a:noFill/>
          <a:ln w="38100" cap="flat" cmpd="sng">
            <a:solidFill>
              <a:schemeClr val="tx2"/>
            </a:solidFill>
            <a:prstDash val="solid"/>
            <a:round/>
            <a:headEnd type="triangle" w="med" len="med"/>
            <a:tailEnd type="triangle" w="med" len="med"/>
          </a:ln>
          <a:effectLst/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endParaRPr lang="ca-ES">
              <a:solidFill>
                <a:schemeClr val="tx1"/>
              </a:solidFill>
            </a:endParaRPr>
          </a:p>
        </p:txBody>
      </p:sp>
      <p:sp>
        <p:nvSpPr>
          <p:cNvPr id="31" name="Freeform 82">
            <a:extLst>
              <a:ext uri="{FF2B5EF4-FFF2-40B4-BE49-F238E27FC236}">
                <a16:creationId xmlns:a16="http://schemas.microsoft.com/office/drawing/2014/main" id="{C85C4D9F-769D-2FB7-C612-C68792AA469F}"/>
              </a:ext>
            </a:extLst>
          </p:cNvPr>
          <p:cNvSpPr>
            <a:spLocks/>
          </p:cNvSpPr>
          <p:nvPr/>
        </p:nvSpPr>
        <p:spPr bwMode="auto">
          <a:xfrm flipH="1">
            <a:off x="5263949" y="4237166"/>
            <a:ext cx="533400" cy="307777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0" y="288"/>
              </a:cxn>
              <a:cxn ang="0">
                <a:pos x="240" y="288"/>
              </a:cxn>
            </a:cxnLst>
            <a:rect l="0" t="0" r="r" b="b"/>
            <a:pathLst>
              <a:path w="240" h="288">
                <a:moveTo>
                  <a:pt x="0" y="0"/>
                </a:moveTo>
                <a:lnTo>
                  <a:pt x="0" y="288"/>
                </a:lnTo>
                <a:lnTo>
                  <a:pt x="240" y="288"/>
                </a:lnTo>
              </a:path>
            </a:pathLst>
          </a:custGeom>
          <a:noFill/>
          <a:ln w="38100" cap="flat" cmpd="sng">
            <a:solidFill>
              <a:schemeClr val="tx2"/>
            </a:solidFill>
            <a:prstDash val="solid"/>
            <a:round/>
            <a:headEnd type="triangle" w="med" len="med"/>
            <a:tailEnd type="triangle" w="med" len="med"/>
          </a:ln>
          <a:effectLst/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endParaRPr lang="ca-ES">
              <a:solidFill>
                <a:schemeClr val="tx1"/>
              </a:solidFill>
            </a:endParaRPr>
          </a:p>
        </p:txBody>
      </p:sp>
      <p:sp>
        <p:nvSpPr>
          <p:cNvPr id="32" name="Text Box 83">
            <a:extLst>
              <a:ext uri="{FF2B5EF4-FFF2-40B4-BE49-F238E27FC236}">
                <a16:creationId xmlns:a16="http://schemas.microsoft.com/office/drawing/2014/main" id="{E5811D5B-4560-4287-3BA7-323CD51E2D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01749" y="4178891"/>
            <a:ext cx="275717" cy="1643527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 lIns="0" tIns="0" rIns="0" bIns="0" anchor="ctr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800" dirty="0" err="1">
                <a:solidFill>
                  <a:srgbClr val="C00000"/>
                </a:solidFill>
                <a:latin typeface="Courier New" pitchFamily="-112" charset="0"/>
              </a:rPr>
              <a:t>lw</a:t>
            </a:r>
            <a:endParaRPr lang="es-ES_tradnl" sz="1800" dirty="0">
              <a:solidFill>
                <a:srgbClr val="C00000"/>
              </a:solidFill>
              <a:latin typeface="Courier New" pitchFamily="-112" charset="0"/>
            </a:endParaRPr>
          </a:p>
          <a:p>
            <a:pPr algn="l"/>
            <a:r>
              <a:rPr lang="es-ES_tradnl" sz="1800" dirty="0">
                <a:solidFill>
                  <a:srgbClr val="C00000"/>
                </a:solidFill>
                <a:latin typeface="Courier New" pitchFamily="-112" charset="0"/>
              </a:rPr>
              <a:t>lb</a:t>
            </a:r>
          </a:p>
          <a:p>
            <a:pPr algn="l"/>
            <a:r>
              <a:rPr lang="es-ES_tradnl" sz="1800" dirty="0" err="1">
                <a:solidFill>
                  <a:srgbClr val="C00000"/>
                </a:solidFill>
                <a:latin typeface="Courier New" pitchFamily="-112" charset="0"/>
              </a:rPr>
              <a:t>sw</a:t>
            </a:r>
            <a:endParaRPr lang="es-ES_tradnl" sz="1800" dirty="0">
              <a:solidFill>
                <a:srgbClr val="C00000"/>
              </a:solidFill>
              <a:latin typeface="Courier New" pitchFamily="-112" charset="0"/>
            </a:endParaRPr>
          </a:p>
          <a:p>
            <a:pPr algn="l"/>
            <a:r>
              <a:rPr lang="es-ES_tradnl" sz="1800" dirty="0" err="1">
                <a:solidFill>
                  <a:srgbClr val="C00000"/>
                </a:solidFill>
                <a:latin typeface="Courier New" pitchFamily="-112" charset="0"/>
              </a:rPr>
              <a:t>sh</a:t>
            </a:r>
            <a:endParaRPr lang="es-ES_tradnl" sz="1800" dirty="0">
              <a:solidFill>
                <a:srgbClr val="C00000"/>
              </a:solidFill>
              <a:latin typeface="Courier New" pitchFamily="-112" charset="0"/>
            </a:endParaRPr>
          </a:p>
          <a:p>
            <a:pPr algn="l"/>
            <a:r>
              <a:rPr lang="es-ES_tradnl" sz="1800" dirty="0">
                <a:solidFill>
                  <a:srgbClr val="C00000"/>
                </a:solidFill>
                <a:latin typeface="Courier New" pitchFamily="-112" charset="0"/>
              </a:rPr>
              <a:t>…</a:t>
            </a:r>
          </a:p>
        </p:txBody>
      </p:sp>
      <p:grpSp>
        <p:nvGrpSpPr>
          <p:cNvPr id="50" name="Grupo 49">
            <a:extLst>
              <a:ext uri="{FF2B5EF4-FFF2-40B4-BE49-F238E27FC236}">
                <a16:creationId xmlns:a16="http://schemas.microsoft.com/office/drawing/2014/main" id="{93D91C3D-CBD5-2D93-82E0-DD8A20ABC373}"/>
              </a:ext>
            </a:extLst>
          </p:cNvPr>
          <p:cNvGrpSpPr/>
          <p:nvPr/>
        </p:nvGrpSpPr>
        <p:grpSpPr>
          <a:xfrm>
            <a:off x="6559349" y="2388427"/>
            <a:ext cx="1371600" cy="1258888"/>
            <a:chOff x="6559349" y="2388427"/>
            <a:chExt cx="1371600" cy="1258888"/>
          </a:xfrm>
        </p:grpSpPr>
        <p:sp>
          <p:nvSpPr>
            <p:cNvPr id="34" name="Freeform 44">
              <a:extLst>
                <a:ext uri="{FF2B5EF4-FFF2-40B4-BE49-F238E27FC236}">
                  <a16:creationId xmlns:a16="http://schemas.microsoft.com/office/drawing/2014/main" id="{54A02F9D-9AAA-F4DE-2A37-268128591BB9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6864149" y="2809115"/>
              <a:ext cx="1066800" cy="40005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192" y="0"/>
                </a:cxn>
                <a:cxn ang="0">
                  <a:pos x="288" y="96"/>
                </a:cxn>
                <a:cxn ang="0">
                  <a:pos x="384" y="0"/>
                </a:cxn>
                <a:cxn ang="0">
                  <a:pos x="576" y="0"/>
                </a:cxn>
                <a:cxn ang="0">
                  <a:pos x="432" y="192"/>
                </a:cxn>
                <a:cxn ang="0">
                  <a:pos x="144" y="192"/>
                </a:cxn>
                <a:cxn ang="0">
                  <a:pos x="0" y="0"/>
                </a:cxn>
              </a:cxnLst>
              <a:rect l="0" t="0" r="r" b="b"/>
              <a:pathLst>
                <a:path w="576" h="192">
                  <a:moveTo>
                    <a:pt x="0" y="0"/>
                  </a:moveTo>
                  <a:lnTo>
                    <a:pt x="192" y="0"/>
                  </a:lnTo>
                  <a:lnTo>
                    <a:pt x="288" y="96"/>
                  </a:lnTo>
                  <a:lnTo>
                    <a:pt x="384" y="0"/>
                  </a:lnTo>
                  <a:lnTo>
                    <a:pt x="576" y="0"/>
                  </a:lnTo>
                  <a:lnTo>
                    <a:pt x="432" y="192"/>
                  </a:lnTo>
                  <a:lnTo>
                    <a:pt x="144" y="192"/>
                  </a:lnTo>
                  <a:lnTo>
                    <a:pt x="0" y="0"/>
                  </a:lnTo>
                  <a:close/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>
              <a:prstTxWarp prst="textNoShape">
                <a:avLst/>
              </a:prstTxWarp>
              <a:spAutoFit/>
            </a:bodyPr>
            <a:lstStyle/>
            <a:p>
              <a:endParaRPr lang="ca-ES">
                <a:solidFill>
                  <a:schemeClr val="tx1"/>
                </a:solidFill>
              </a:endParaRPr>
            </a:p>
          </p:txBody>
        </p:sp>
        <p:sp>
          <p:nvSpPr>
            <p:cNvPr id="35" name="Freeform 45">
              <a:extLst>
                <a:ext uri="{FF2B5EF4-FFF2-40B4-BE49-F238E27FC236}">
                  <a16:creationId xmlns:a16="http://schemas.microsoft.com/office/drawing/2014/main" id="{70B4DA8C-FCB4-EFF0-5B38-4D3CE42FDFE7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6559349" y="2388427"/>
              <a:ext cx="1143000" cy="307975"/>
            </a:xfrm>
            <a:custGeom>
              <a:avLst/>
              <a:gdLst/>
              <a:ahLst/>
              <a:cxnLst>
                <a:cxn ang="0">
                  <a:pos x="432" y="0"/>
                </a:cxn>
                <a:cxn ang="0">
                  <a:pos x="0" y="0"/>
                </a:cxn>
                <a:cxn ang="0">
                  <a:pos x="0" y="192"/>
                </a:cxn>
              </a:cxnLst>
              <a:rect l="0" t="0" r="r" b="b"/>
              <a:pathLst>
                <a:path w="432" h="192">
                  <a:moveTo>
                    <a:pt x="432" y="0"/>
                  </a:moveTo>
                  <a:lnTo>
                    <a:pt x="0" y="0"/>
                  </a:lnTo>
                  <a:lnTo>
                    <a:pt x="0" y="192"/>
                  </a:lnTo>
                </a:path>
              </a:pathLst>
            </a:custGeom>
            <a:noFill/>
            <a:ln w="38100" cap="flat" cmpd="sng">
              <a:solidFill>
                <a:schemeClr val="tx2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ca-ES">
                <a:solidFill>
                  <a:schemeClr val="tx1"/>
                </a:solidFill>
              </a:endParaRPr>
            </a:p>
          </p:txBody>
        </p:sp>
        <p:sp>
          <p:nvSpPr>
            <p:cNvPr id="36" name="Freeform 46">
              <a:extLst>
                <a:ext uri="{FF2B5EF4-FFF2-40B4-BE49-F238E27FC236}">
                  <a16:creationId xmlns:a16="http://schemas.microsoft.com/office/drawing/2014/main" id="{A8A766B0-0E07-225A-9359-F0ADF3688AE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6559349" y="2504315"/>
              <a:ext cx="533400" cy="304800"/>
            </a:xfrm>
            <a:custGeom>
              <a:avLst/>
              <a:gdLst/>
              <a:ahLst/>
              <a:cxnLst>
                <a:cxn ang="0">
                  <a:pos x="432" y="0"/>
                </a:cxn>
                <a:cxn ang="0">
                  <a:pos x="0" y="0"/>
                </a:cxn>
                <a:cxn ang="0">
                  <a:pos x="0" y="192"/>
                </a:cxn>
              </a:cxnLst>
              <a:rect l="0" t="0" r="r" b="b"/>
              <a:pathLst>
                <a:path w="432" h="192">
                  <a:moveTo>
                    <a:pt x="432" y="0"/>
                  </a:moveTo>
                  <a:lnTo>
                    <a:pt x="0" y="0"/>
                  </a:lnTo>
                  <a:lnTo>
                    <a:pt x="0" y="192"/>
                  </a:lnTo>
                </a:path>
              </a:pathLst>
            </a:custGeom>
            <a:noFill/>
            <a:ln w="38100" cap="flat" cmpd="sng">
              <a:solidFill>
                <a:schemeClr val="tx2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ca-ES">
                <a:solidFill>
                  <a:schemeClr val="tx1"/>
                </a:solidFill>
              </a:endParaRPr>
            </a:p>
          </p:txBody>
        </p:sp>
        <p:sp>
          <p:nvSpPr>
            <p:cNvPr id="37" name="Freeform 47">
              <a:extLst>
                <a:ext uri="{FF2B5EF4-FFF2-40B4-BE49-F238E27FC236}">
                  <a16:creationId xmlns:a16="http://schemas.microsoft.com/office/drawing/2014/main" id="{955C43E0-8491-6946-22D0-271E3B194C8B}"/>
                </a:ext>
              </a:extLst>
            </p:cNvPr>
            <p:cNvSpPr>
              <a:spLocks/>
            </p:cNvSpPr>
            <p:nvPr/>
          </p:nvSpPr>
          <p:spPr bwMode="auto">
            <a:xfrm flipH="1" flipV="1">
              <a:off x="6559349" y="3342515"/>
              <a:ext cx="838200" cy="304800"/>
            </a:xfrm>
            <a:custGeom>
              <a:avLst/>
              <a:gdLst/>
              <a:ahLst/>
              <a:cxnLst>
                <a:cxn ang="0">
                  <a:pos x="432" y="0"/>
                </a:cxn>
                <a:cxn ang="0">
                  <a:pos x="0" y="0"/>
                </a:cxn>
                <a:cxn ang="0">
                  <a:pos x="0" y="192"/>
                </a:cxn>
              </a:cxnLst>
              <a:rect l="0" t="0" r="r" b="b"/>
              <a:pathLst>
                <a:path w="432" h="192">
                  <a:moveTo>
                    <a:pt x="432" y="0"/>
                  </a:moveTo>
                  <a:lnTo>
                    <a:pt x="0" y="0"/>
                  </a:lnTo>
                  <a:lnTo>
                    <a:pt x="0" y="192"/>
                  </a:lnTo>
                </a:path>
              </a:pathLst>
            </a:custGeom>
            <a:noFill/>
            <a:ln w="38100" cap="flat" cmpd="sng">
              <a:solidFill>
                <a:schemeClr val="tx2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ca-ES">
                <a:solidFill>
                  <a:schemeClr val="tx1"/>
                </a:solidFill>
              </a:endParaRPr>
            </a:p>
          </p:txBody>
        </p:sp>
      </p:grpSp>
      <p:sp>
        <p:nvSpPr>
          <p:cNvPr id="38" name="Text Box 86">
            <a:extLst>
              <a:ext uri="{FF2B5EF4-FFF2-40B4-BE49-F238E27FC236}">
                <a16:creationId xmlns:a16="http://schemas.microsoft.com/office/drawing/2014/main" id="{AE74E49E-2B77-4E15-E451-E742FD4350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49749" y="4543556"/>
            <a:ext cx="914400" cy="609398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800" dirty="0" err="1">
                <a:solidFill>
                  <a:srgbClr val="C00000"/>
                </a:solidFill>
                <a:latin typeface="Courier New" pitchFamily="-112" charset="0"/>
              </a:rPr>
              <a:t>flw</a:t>
            </a:r>
            <a:endParaRPr lang="es-ES_tradnl" sz="1800" dirty="0">
              <a:solidFill>
                <a:srgbClr val="C00000"/>
              </a:solidFill>
              <a:latin typeface="Courier New" pitchFamily="-112" charset="0"/>
            </a:endParaRPr>
          </a:p>
          <a:p>
            <a:pPr algn="l"/>
            <a:r>
              <a:rPr lang="es-ES_tradnl" sz="1800" dirty="0" err="1">
                <a:solidFill>
                  <a:srgbClr val="C00000"/>
                </a:solidFill>
                <a:latin typeface="Courier New" pitchFamily="-112" charset="0"/>
              </a:rPr>
              <a:t>fsw</a:t>
            </a:r>
            <a:endParaRPr lang="es-ES_tradnl" dirty="0">
              <a:solidFill>
                <a:srgbClr val="C00000"/>
              </a:solidFill>
              <a:latin typeface="Courier New" pitchFamily="-112" charset="0"/>
            </a:endParaRPr>
          </a:p>
        </p:txBody>
      </p:sp>
      <p:grpSp>
        <p:nvGrpSpPr>
          <p:cNvPr id="49" name="Grupo 48">
            <a:extLst>
              <a:ext uri="{FF2B5EF4-FFF2-40B4-BE49-F238E27FC236}">
                <a16:creationId xmlns:a16="http://schemas.microsoft.com/office/drawing/2014/main" id="{058035AC-FD38-9EFD-BCF9-73F74D27E207}"/>
              </a:ext>
            </a:extLst>
          </p:cNvPr>
          <p:cNvGrpSpPr/>
          <p:nvPr/>
        </p:nvGrpSpPr>
        <p:grpSpPr>
          <a:xfrm>
            <a:off x="4054274" y="4287174"/>
            <a:ext cx="1143000" cy="1828800"/>
            <a:chOff x="4054274" y="4287174"/>
            <a:chExt cx="1143000" cy="1828800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40" name="Rectangle 70">
              <a:extLst>
                <a:ext uri="{FF2B5EF4-FFF2-40B4-BE49-F238E27FC236}">
                  <a16:creationId xmlns:a16="http://schemas.microsoft.com/office/drawing/2014/main" id="{1C3D1566-1B63-0885-073C-8A69A2CD413E}"/>
                </a:ext>
              </a:extLst>
            </p:cNvPr>
            <p:cNvSpPr>
              <a:spLocks noChangeArrowheads="1"/>
            </p:cNvSpPr>
            <p:nvPr/>
          </p:nvSpPr>
          <p:spPr bwMode="blackWhite">
            <a:xfrm>
              <a:off x="4054274" y="4287174"/>
              <a:ext cx="1143000" cy="1828800"/>
            </a:xfrm>
            <a:prstGeom prst="rect">
              <a:avLst/>
            </a:prstGeom>
            <a:grpFill/>
            <a:ln w="6350">
              <a:solidFill>
                <a:schemeClr val="accent2">
                  <a:lumMod val="75000"/>
                </a:schemeClr>
              </a:solidFill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rgbClr val="00FF00"/>
              </a:extrusionClr>
            </a:sp3d>
          </p:spPr>
          <p:txBody>
            <a:bodyPr lIns="0" tIns="0" rIns="0" bIns="0" anchor="ctr">
              <a:prstTxWarp prst="textNoShape">
                <a:avLst/>
              </a:prstTxWarp>
              <a:spAutoFit/>
              <a:flatTx/>
            </a:bodyPr>
            <a:lstStyle/>
            <a:p>
              <a:endParaRPr lang="ca-ES"/>
            </a:p>
          </p:txBody>
        </p:sp>
        <p:sp>
          <p:nvSpPr>
            <p:cNvPr id="41" name="Line 71">
              <a:extLst>
                <a:ext uri="{FF2B5EF4-FFF2-40B4-BE49-F238E27FC236}">
                  <a16:creationId xmlns:a16="http://schemas.microsoft.com/office/drawing/2014/main" id="{EA7D9381-F40E-D508-C924-12BFBEB14C9C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4054274" y="4490374"/>
              <a:ext cx="1143000" cy="0"/>
            </a:xfrm>
            <a:prstGeom prst="line">
              <a:avLst/>
            </a:prstGeom>
            <a:grpFill/>
            <a:ln w="6350">
              <a:solidFill>
                <a:schemeClr val="accent2">
                  <a:lumMod val="75000"/>
                </a:schemeClr>
              </a:solidFill>
              <a:round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bg2"/>
              </a:extrusionClr>
            </a:sp3d>
          </p:spPr>
          <p:txBody>
            <a:bodyPr lIns="0" tIns="0" rIns="0" bIns="0" anchor="ctr">
              <a:prstTxWarp prst="textNoShape">
                <a:avLst/>
              </a:prstTxWarp>
              <a:spAutoFit/>
              <a:flatTx/>
            </a:bodyPr>
            <a:lstStyle/>
            <a:p>
              <a:endParaRPr lang="ca-ES"/>
            </a:p>
          </p:txBody>
        </p:sp>
        <p:sp>
          <p:nvSpPr>
            <p:cNvPr id="42" name="Line 72">
              <a:extLst>
                <a:ext uri="{FF2B5EF4-FFF2-40B4-BE49-F238E27FC236}">
                  <a16:creationId xmlns:a16="http://schemas.microsoft.com/office/drawing/2014/main" id="{9F0C37BC-736F-6571-58FE-C69783E6AD20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4054274" y="4693574"/>
              <a:ext cx="1143000" cy="0"/>
            </a:xfrm>
            <a:prstGeom prst="line">
              <a:avLst/>
            </a:prstGeom>
            <a:grpFill/>
            <a:ln w="6350">
              <a:solidFill>
                <a:schemeClr val="accent2">
                  <a:lumMod val="75000"/>
                </a:schemeClr>
              </a:solidFill>
              <a:round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bg2"/>
              </a:extrusionClr>
            </a:sp3d>
          </p:spPr>
          <p:txBody>
            <a:bodyPr lIns="0" tIns="0" rIns="0" bIns="0" anchor="ctr">
              <a:prstTxWarp prst="textNoShape">
                <a:avLst/>
              </a:prstTxWarp>
              <a:spAutoFit/>
              <a:flatTx/>
            </a:bodyPr>
            <a:lstStyle/>
            <a:p>
              <a:endParaRPr lang="ca-ES"/>
            </a:p>
          </p:txBody>
        </p:sp>
        <p:sp>
          <p:nvSpPr>
            <p:cNvPr id="43" name="Line 73">
              <a:extLst>
                <a:ext uri="{FF2B5EF4-FFF2-40B4-BE49-F238E27FC236}">
                  <a16:creationId xmlns:a16="http://schemas.microsoft.com/office/drawing/2014/main" id="{6251786A-EC89-0F7C-F073-E38CB62FE562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4054274" y="4896774"/>
              <a:ext cx="1143000" cy="0"/>
            </a:xfrm>
            <a:prstGeom prst="line">
              <a:avLst/>
            </a:prstGeom>
            <a:grpFill/>
            <a:ln w="6350">
              <a:solidFill>
                <a:schemeClr val="accent2">
                  <a:lumMod val="75000"/>
                </a:schemeClr>
              </a:solidFill>
              <a:round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bg2"/>
              </a:extrusionClr>
            </a:sp3d>
          </p:spPr>
          <p:txBody>
            <a:bodyPr lIns="0" tIns="0" rIns="0" bIns="0" anchor="ctr">
              <a:prstTxWarp prst="textNoShape">
                <a:avLst/>
              </a:prstTxWarp>
              <a:spAutoFit/>
              <a:flatTx/>
            </a:bodyPr>
            <a:lstStyle/>
            <a:p>
              <a:endParaRPr lang="ca-ES"/>
            </a:p>
          </p:txBody>
        </p:sp>
        <p:sp>
          <p:nvSpPr>
            <p:cNvPr id="44" name="Line 74">
              <a:extLst>
                <a:ext uri="{FF2B5EF4-FFF2-40B4-BE49-F238E27FC236}">
                  <a16:creationId xmlns:a16="http://schemas.microsoft.com/office/drawing/2014/main" id="{2C07E21D-AD0A-128D-6D41-34A357438FF5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4054274" y="5099974"/>
              <a:ext cx="1143000" cy="0"/>
            </a:xfrm>
            <a:prstGeom prst="line">
              <a:avLst/>
            </a:prstGeom>
            <a:grpFill/>
            <a:ln w="6350">
              <a:solidFill>
                <a:schemeClr val="accent2">
                  <a:lumMod val="75000"/>
                </a:schemeClr>
              </a:solidFill>
              <a:round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bg2"/>
              </a:extrusionClr>
            </a:sp3d>
          </p:spPr>
          <p:txBody>
            <a:bodyPr lIns="0" tIns="0" rIns="0" bIns="0" anchor="ctr">
              <a:prstTxWarp prst="textNoShape">
                <a:avLst/>
              </a:prstTxWarp>
              <a:spAutoFit/>
              <a:flatTx/>
            </a:bodyPr>
            <a:lstStyle/>
            <a:p>
              <a:endParaRPr lang="ca-ES"/>
            </a:p>
          </p:txBody>
        </p:sp>
        <p:sp>
          <p:nvSpPr>
            <p:cNvPr id="45" name="Line 75">
              <a:extLst>
                <a:ext uri="{FF2B5EF4-FFF2-40B4-BE49-F238E27FC236}">
                  <a16:creationId xmlns:a16="http://schemas.microsoft.com/office/drawing/2014/main" id="{852F54CA-5BAA-B110-896B-8F6A212FBB6E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4054274" y="5303174"/>
              <a:ext cx="1143000" cy="0"/>
            </a:xfrm>
            <a:prstGeom prst="line">
              <a:avLst/>
            </a:prstGeom>
            <a:grpFill/>
            <a:ln w="6350">
              <a:solidFill>
                <a:schemeClr val="accent2">
                  <a:lumMod val="75000"/>
                </a:schemeClr>
              </a:solidFill>
              <a:round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bg2"/>
              </a:extrusionClr>
            </a:sp3d>
          </p:spPr>
          <p:txBody>
            <a:bodyPr lIns="0" tIns="0" rIns="0" bIns="0" anchor="ctr">
              <a:prstTxWarp prst="textNoShape">
                <a:avLst/>
              </a:prstTxWarp>
              <a:spAutoFit/>
              <a:flatTx/>
            </a:bodyPr>
            <a:lstStyle/>
            <a:p>
              <a:endParaRPr lang="ca-ES"/>
            </a:p>
          </p:txBody>
        </p:sp>
        <p:sp>
          <p:nvSpPr>
            <p:cNvPr id="46" name="Line 76">
              <a:extLst>
                <a:ext uri="{FF2B5EF4-FFF2-40B4-BE49-F238E27FC236}">
                  <a16:creationId xmlns:a16="http://schemas.microsoft.com/office/drawing/2014/main" id="{1579304D-8E79-90F8-23A2-FF1B014DD955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4054274" y="5506374"/>
              <a:ext cx="1143000" cy="0"/>
            </a:xfrm>
            <a:prstGeom prst="line">
              <a:avLst/>
            </a:prstGeom>
            <a:grpFill/>
            <a:ln w="6350">
              <a:solidFill>
                <a:schemeClr val="accent2">
                  <a:lumMod val="75000"/>
                </a:schemeClr>
              </a:solidFill>
              <a:round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bg2"/>
              </a:extrusionClr>
            </a:sp3d>
          </p:spPr>
          <p:txBody>
            <a:bodyPr lIns="0" tIns="0" rIns="0" bIns="0" anchor="ctr">
              <a:prstTxWarp prst="textNoShape">
                <a:avLst/>
              </a:prstTxWarp>
              <a:spAutoFit/>
              <a:flatTx/>
            </a:bodyPr>
            <a:lstStyle/>
            <a:p>
              <a:endParaRPr lang="ca-ES"/>
            </a:p>
          </p:txBody>
        </p:sp>
        <p:sp>
          <p:nvSpPr>
            <p:cNvPr id="47" name="Line 77">
              <a:extLst>
                <a:ext uri="{FF2B5EF4-FFF2-40B4-BE49-F238E27FC236}">
                  <a16:creationId xmlns:a16="http://schemas.microsoft.com/office/drawing/2014/main" id="{4BF26853-E0CB-97EF-C6AB-CDCACA618D27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4054274" y="5709574"/>
              <a:ext cx="1143000" cy="0"/>
            </a:xfrm>
            <a:prstGeom prst="line">
              <a:avLst/>
            </a:prstGeom>
            <a:grpFill/>
            <a:ln w="6350">
              <a:solidFill>
                <a:schemeClr val="accent2">
                  <a:lumMod val="75000"/>
                </a:schemeClr>
              </a:solidFill>
              <a:round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bg2"/>
              </a:extrusionClr>
            </a:sp3d>
          </p:spPr>
          <p:txBody>
            <a:bodyPr lIns="0" tIns="0" rIns="0" bIns="0" anchor="ctr">
              <a:prstTxWarp prst="textNoShape">
                <a:avLst/>
              </a:prstTxWarp>
              <a:spAutoFit/>
              <a:flatTx/>
            </a:bodyPr>
            <a:lstStyle/>
            <a:p>
              <a:endParaRPr lang="ca-ES"/>
            </a:p>
          </p:txBody>
        </p:sp>
        <p:sp>
          <p:nvSpPr>
            <p:cNvPr id="48" name="Line 78">
              <a:extLst>
                <a:ext uri="{FF2B5EF4-FFF2-40B4-BE49-F238E27FC236}">
                  <a16:creationId xmlns:a16="http://schemas.microsoft.com/office/drawing/2014/main" id="{489F2418-58CE-9A7E-6BCE-F41837C3ED58}"/>
                </a:ext>
              </a:extLst>
            </p:cNvPr>
            <p:cNvSpPr>
              <a:spLocks noChangeShapeType="1"/>
            </p:cNvSpPr>
            <p:nvPr/>
          </p:nvSpPr>
          <p:spPr bwMode="blackWhite">
            <a:xfrm>
              <a:off x="4054274" y="5912774"/>
              <a:ext cx="1143000" cy="0"/>
            </a:xfrm>
            <a:prstGeom prst="line">
              <a:avLst/>
            </a:prstGeom>
            <a:grpFill/>
            <a:ln w="6350">
              <a:solidFill>
                <a:schemeClr val="accent2">
                  <a:lumMod val="75000"/>
                </a:schemeClr>
              </a:solidFill>
              <a:round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9200" prstMaterial="legacyMetal">
              <a:bevelT w="13500" h="13500" prst="angle"/>
              <a:bevelB w="13500" h="13500" prst="angle"/>
              <a:extrusionClr>
                <a:schemeClr val="bg2"/>
              </a:extrusionClr>
            </a:sp3d>
          </p:spPr>
          <p:txBody>
            <a:bodyPr lIns="0" tIns="0" rIns="0" bIns="0" anchor="ctr">
              <a:prstTxWarp prst="textNoShape">
                <a:avLst/>
              </a:prstTxWarp>
              <a:spAutoFit/>
              <a:flatTx/>
            </a:bodyPr>
            <a:lstStyle/>
            <a:p>
              <a:endParaRPr lang="ca-ES"/>
            </a:p>
          </p:txBody>
        </p:sp>
      </p:grpSp>
    </p:spTree>
    <p:extLst>
      <p:ext uri="{BB962C8B-B14F-4D97-AF65-F5344CB8AC3E}">
        <p14:creationId xmlns:p14="http://schemas.microsoft.com/office/powerpoint/2010/main" val="20341060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82A15D-7B6B-0532-D687-48F64C150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coma flotante en RISC-V</a:t>
            </a:r>
            <a:endParaRPr lang="es-ES_tradn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E038A97-02F5-3249-4D72-B8BD0303F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El banco de registros</a:t>
            </a:r>
          </a:p>
          <a:p>
            <a:pPr lvl="1"/>
            <a:r>
              <a:rPr lang="es-ES" dirty="0"/>
              <a:t>Hay 32 registros: </a:t>
            </a:r>
            <a:r>
              <a:rPr lang="ca-E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  <a:r>
              <a:rPr lang="es-ES" sz="1800" dirty="0"/>
              <a:t>,</a:t>
            </a:r>
            <a:r>
              <a:rPr lang="ca-E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f1</a:t>
            </a:r>
            <a:r>
              <a:rPr lang="es-ES" sz="1800" dirty="0"/>
              <a:t>,…,</a:t>
            </a:r>
            <a:r>
              <a:rPr lang="ca-E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  <a:endParaRPr lang="es-ES_trad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s-ES_tradnl" dirty="0"/>
              <a:t>En la extensión RISC-V RV32, los registros de enteros y de coma flotante son de 32 bits</a:t>
            </a:r>
          </a:p>
          <a:p>
            <a:pPr lvl="1"/>
            <a:r>
              <a:rPr lang="es-ES_tradnl" dirty="0"/>
              <a:t>En la extensión RV64, ambos tipos de registros son de 64 bits</a:t>
            </a:r>
          </a:p>
          <a:p>
            <a:pPr lvl="1"/>
            <a:r>
              <a:rPr lang="es-ES_tradnl" dirty="0"/>
              <a:t>Cuando utilizamos una instrucción sobre CF de 32 bits, como </a:t>
            </a:r>
            <a:r>
              <a:rPr lang="es-ES_trad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fadd.s</a:t>
            </a:r>
            <a:r>
              <a:rPr lang="es-ES_trad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f0,f1,f2</a:t>
            </a:r>
            <a:r>
              <a:rPr lang="es-ES_tradnl" dirty="0"/>
              <a:t>, en una arquitectura RV64, solo se opera con los 32 bits menos significativos de los registros </a:t>
            </a:r>
            <a:r>
              <a:rPr lang="es-ES_tradnl" dirty="0">
                <a:latin typeface="Courier New" panose="02070309020205020404" pitchFamily="49" charset="0"/>
                <a:cs typeface="Courier New" panose="02070309020205020404" pitchFamily="49" charset="0"/>
              </a:rPr>
              <a:t>f1 </a:t>
            </a:r>
            <a:r>
              <a:rPr lang="es-ES" dirty="0"/>
              <a:t>y </a:t>
            </a:r>
            <a:r>
              <a:rPr lang="es-ES_tradnl" dirty="0">
                <a:latin typeface="Courier New" panose="02070309020205020404" pitchFamily="49" charset="0"/>
                <a:cs typeface="Courier New" panose="02070309020205020404" pitchFamily="49" charset="0"/>
              </a:rPr>
              <a:t>f2.</a:t>
            </a:r>
            <a:r>
              <a:rPr lang="es-ES_tradnl" dirty="0"/>
              <a:t> Además, el resultado se almacena en los 32 bits menos significativos del registro </a:t>
            </a:r>
            <a:r>
              <a:rPr lang="es-ES_tradnl" dirty="0"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  <a:r>
              <a:rPr lang="es-ES_tradnl" dirty="0"/>
              <a:t> y los 32 bits más significativos se rellenan con </a:t>
            </a:r>
            <a:r>
              <a:rPr lang="es-ES_tradnl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s-ES_tradnl" dirty="0"/>
              <a:t>s (NaN-</a:t>
            </a:r>
            <a:r>
              <a:rPr lang="es-ES_tradnl" dirty="0" err="1"/>
              <a:t>boxed</a:t>
            </a:r>
            <a:r>
              <a:rPr lang="es-ES_tradnl" dirty="0"/>
              <a:t>)</a:t>
            </a:r>
          </a:p>
          <a:p>
            <a:pPr lvl="1"/>
            <a:r>
              <a:rPr lang="es-ES_tradnl" dirty="0"/>
              <a:t>Para que el resultado sea correcto, los valores en los registros de entrada también deben estar NaN-</a:t>
            </a:r>
            <a:r>
              <a:rPr lang="es-ES_tradnl" dirty="0" err="1"/>
              <a:t>boxed</a:t>
            </a:r>
            <a:r>
              <a:rPr lang="es-ES_tradnl" dirty="0"/>
              <a:t>. Si no es así, se considera que la entrada es NaN y la salida será, por tanto, NaN también</a:t>
            </a:r>
            <a:endParaRPr lang="ca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9F4A880-14D3-3512-3ECD-9AC153EDD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56078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FEF3D5-9B2B-AAEA-BCEE-8476BEE44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coma flotante en RISC-V</a:t>
            </a:r>
            <a:endParaRPr lang="es-ES_tradn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A5CCD57-C148-D8BF-C7A1-6BE9A6CC94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dirty="0"/>
              <a:t>Convenio de uso de los registros</a:t>
            </a:r>
            <a:endParaRPr lang="es-ES" dirty="0"/>
          </a:p>
          <a:p>
            <a:endParaRPr lang="es-ES_tradn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3092E39-6676-DCD6-D2DD-840613729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  <p:graphicFrame>
        <p:nvGraphicFramePr>
          <p:cNvPr id="5" name="5 Tabla">
            <a:extLst>
              <a:ext uri="{FF2B5EF4-FFF2-40B4-BE49-F238E27FC236}">
                <a16:creationId xmlns:a16="http://schemas.microsoft.com/office/drawing/2014/main" id="{3B18D7E1-1022-47FD-E024-23C3538701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7258508"/>
              </p:ext>
            </p:extLst>
          </p:nvPr>
        </p:nvGraphicFramePr>
        <p:xfrm>
          <a:off x="827584" y="2348880"/>
          <a:ext cx="8064897" cy="1645920"/>
        </p:xfrm>
        <a:graphic>
          <a:graphicData uri="http://schemas.openxmlformats.org/drawingml/2006/table">
            <a:tbl>
              <a:tblPr/>
              <a:tblGrid>
                <a:gridCol w="27363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9099">
                  <a:extLst>
                    <a:ext uri="{9D8B030D-6E8A-4147-A177-3AD203B41FA5}">
                      <a16:colId xmlns:a16="http://schemas.microsoft.com/office/drawing/2014/main" val="1024357191"/>
                    </a:ext>
                  </a:extLst>
                </a:gridCol>
                <a:gridCol w="36994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s-ES" sz="1800" b="1" dirty="0">
                          <a:solidFill>
                            <a:srgbClr val="FFFFFF"/>
                          </a:solidFill>
                          <a:latin typeface="Calibri"/>
                          <a:ea typeface="Times New Roman"/>
                        </a:rPr>
                        <a:t>Nombre del registro</a:t>
                      </a:r>
                      <a:endParaRPr lang="es-ES" sz="2000" dirty="0">
                        <a:latin typeface="Times New Roman"/>
                        <a:ea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9BBB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9BBB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rtl="0" eaLnBrk="1" latinLnBrk="0" hangingPunct="1">
                        <a:spcAft>
                          <a:spcPts val="0"/>
                        </a:spcAft>
                      </a:pPr>
                      <a:r>
                        <a:rPr lang="es-ES" sz="1800" b="1" kern="1200" dirty="0">
                          <a:solidFill>
                            <a:srgbClr val="FFFFFF"/>
                          </a:solidFill>
                          <a:latin typeface="Calibri"/>
                          <a:ea typeface="Times New Roman"/>
                          <a:cs typeface="+mn-cs"/>
                        </a:rPr>
                        <a:t>Nombre ABI</a:t>
                      </a: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9BBB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s-ES" sz="1800" b="1" dirty="0">
                          <a:solidFill>
                            <a:srgbClr val="FFFFFF"/>
                          </a:solidFill>
                          <a:latin typeface="Calibri"/>
                          <a:ea typeface="Times New Roman"/>
                        </a:rPr>
                        <a:t>Utilización</a:t>
                      </a:r>
                      <a:endParaRPr lang="es-ES" sz="2000" dirty="0">
                        <a:latin typeface="Times New Roman"/>
                        <a:ea typeface="Times New Roman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 w="12700" cap="flat" cmpd="sng" algn="ctr">
                      <a:solidFill>
                        <a:srgbClr val="9BBB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BBB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s-ES" sz="1800" b="0" dirty="0">
                          <a:latin typeface="Courier New"/>
                          <a:ea typeface="Times New Roman"/>
                        </a:rPr>
                        <a:t>f0-f7</a:t>
                      </a:r>
                      <a:endParaRPr lang="es-ES" sz="2000" b="0" dirty="0">
                        <a:latin typeface="Times New Roman"/>
                        <a:ea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9BBB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latinLnBrk="0" hangingPunct="1">
                        <a:spcAft>
                          <a:spcPts val="0"/>
                        </a:spcAft>
                      </a:pPr>
                      <a:r>
                        <a:rPr lang="es-ES" sz="1800" b="0" kern="1200" dirty="0">
                          <a:solidFill>
                            <a:schemeClr val="tx1"/>
                          </a:solidFill>
                          <a:latin typeface="Courier New"/>
                          <a:ea typeface="Times New Roman"/>
                          <a:cs typeface="+mn-cs"/>
                        </a:rPr>
                        <a:t>ft0-ft7</a:t>
                      </a: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s-ES" sz="1800" dirty="0">
                          <a:latin typeface="Calibri"/>
                          <a:ea typeface="Times New Roman"/>
                        </a:rPr>
                        <a:t>Temporales</a:t>
                      </a:r>
                      <a:endParaRPr lang="es-ES" sz="2000" dirty="0">
                        <a:latin typeface="Times New Roman"/>
                        <a:ea typeface="Times New Roman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 w="12700" cap="flat" cmpd="sng" algn="ctr">
                      <a:solidFill>
                        <a:srgbClr val="9BBB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s-ES" sz="1800" b="0" dirty="0">
                          <a:latin typeface="Courier New"/>
                          <a:ea typeface="Times New Roman"/>
                        </a:rPr>
                        <a:t>f8-f9</a:t>
                      </a:r>
                      <a:endParaRPr lang="es-ES" sz="2000" b="0" dirty="0">
                        <a:latin typeface="Times New Roman"/>
                        <a:ea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9BBB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latinLnBrk="0" hangingPunct="1">
                        <a:spcAft>
                          <a:spcPts val="0"/>
                        </a:spcAft>
                      </a:pPr>
                      <a:r>
                        <a:rPr lang="es-ES" sz="1800" b="0" kern="1200" dirty="0">
                          <a:solidFill>
                            <a:schemeClr val="tx1"/>
                          </a:solidFill>
                          <a:latin typeface="Courier New"/>
                          <a:ea typeface="Times New Roman"/>
                          <a:cs typeface="+mn-cs"/>
                        </a:rPr>
                        <a:t>fs0-fs1</a:t>
                      </a: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s-ES" sz="1800" dirty="0" err="1">
                          <a:latin typeface="Calibri"/>
                          <a:ea typeface="Times New Roman"/>
                        </a:rPr>
                        <a:t>Callee-saved</a:t>
                      </a:r>
                      <a:endParaRPr lang="es-ES" sz="2000" dirty="0">
                        <a:latin typeface="Times New Roman"/>
                        <a:ea typeface="Times New Roman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 w="12700" cap="flat" cmpd="sng" algn="ctr">
                      <a:solidFill>
                        <a:srgbClr val="9BBB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s-ES" sz="1800" b="0" dirty="0">
                          <a:latin typeface="Courier New"/>
                          <a:ea typeface="Times New Roman"/>
                        </a:rPr>
                        <a:t>f10-f17</a:t>
                      </a:r>
                      <a:endParaRPr lang="es-ES" sz="2000" b="0" dirty="0">
                        <a:latin typeface="Times New Roman"/>
                        <a:ea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9BBB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latinLnBrk="0" hangingPunct="1">
                        <a:spcAft>
                          <a:spcPts val="0"/>
                        </a:spcAft>
                      </a:pPr>
                      <a:r>
                        <a:rPr lang="es-ES" sz="1800" b="0" kern="1200" dirty="0">
                          <a:solidFill>
                            <a:schemeClr val="tx1"/>
                          </a:solidFill>
                          <a:latin typeface="Courier New"/>
                          <a:ea typeface="Times New Roman"/>
                          <a:cs typeface="+mn-cs"/>
                        </a:rPr>
                        <a:t>fa0-fa7</a:t>
                      </a: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s-ES" sz="1800" dirty="0">
                          <a:latin typeface="Calibri"/>
                          <a:ea typeface="Times New Roman"/>
                        </a:rPr>
                        <a:t>Argumentos de subrutinas/resultados</a:t>
                      </a:r>
                      <a:endParaRPr lang="es-ES" sz="2000" dirty="0">
                        <a:latin typeface="Times New Roman"/>
                        <a:ea typeface="Times New Roman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 w="12700" cap="flat" cmpd="sng" algn="ctr">
                      <a:solidFill>
                        <a:srgbClr val="9BBB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s-ES" sz="1800" b="0" dirty="0">
                          <a:latin typeface="Courier New"/>
                          <a:ea typeface="Times New Roman"/>
                        </a:rPr>
                        <a:t>f18-f27</a:t>
                      </a:r>
                      <a:endParaRPr lang="es-ES" sz="2000" b="0" dirty="0">
                        <a:latin typeface="Times New Roman"/>
                        <a:ea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9BBB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latinLnBrk="0" hangingPunct="1">
                        <a:spcAft>
                          <a:spcPts val="0"/>
                        </a:spcAft>
                      </a:pPr>
                      <a:r>
                        <a:rPr lang="es-ES" sz="1800" b="0" kern="1200" dirty="0">
                          <a:solidFill>
                            <a:schemeClr val="tx1"/>
                          </a:solidFill>
                          <a:latin typeface="Courier New"/>
                          <a:ea typeface="Times New Roman"/>
                          <a:cs typeface="+mn-cs"/>
                        </a:rPr>
                        <a:t>fs2-fs11</a:t>
                      </a: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s-ES" sz="1800" dirty="0" err="1">
                          <a:latin typeface="Calibri"/>
                          <a:ea typeface="Times New Roman"/>
                        </a:rPr>
                        <a:t>Callee-saved</a:t>
                      </a:r>
                      <a:endParaRPr lang="es-ES" sz="2000" dirty="0">
                        <a:latin typeface="Times New Roman"/>
                        <a:ea typeface="Times New Roman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 w="12700" cap="flat" cmpd="sng" algn="ctr">
                      <a:solidFill>
                        <a:srgbClr val="9BBB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s-ES" sz="1800" b="0" dirty="0">
                          <a:latin typeface="Courier New"/>
                          <a:ea typeface="Times New Roman"/>
                        </a:rPr>
                        <a:t>f28-f31</a:t>
                      </a:r>
                      <a:endParaRPr lang="es-ES" sz="2000" b="0" dirty="0">
                        <a:latin typeface="Times New Roman"/>
                        <a:ea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9BBB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latinLnBrk="0" hangingPunct="1">
                        <a:spcAft>
                          <a:spcPts val="0"/>
                        </a:spcAft>
                      </a:pPr>
                      <a:r>
                        <a:rPr lang="es-ES" sz="1800" b="0" kern="1200" dirty="0">
                          <a:solidFill>
                            <a:schemeClr val="tx1"/>
                          </a:solidFill>
                          <a:latin typeface="Courier New"/>
                          <a:ea typeface="Times New Roman"/>
                          <a:cs typeface="+mn-cs"/>
                        </a:rPr>
                        <a:t>ft8-ft11</a:t>
                      </a: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s-ES" sz="1800" dirty="0">
                          <a:latin typeface="Calibri"/>
                          <a:ea typeface="Times New Roman"/>
                        </a:rPr>
                        <a:t>Temporales</a:t>
                      </a:r>
                      <a:endParaRPr lang="es-ES" sz="2000" dirty="0">
                        <a:latin typeface="Times New Roman"/>
                        <a:ea typeface="Times New Roman"/>
                      </a:endParaRPr>
                    </a:p>
                  </a:txBody>
                  <a:tcPr marL="68580" marR="68580" marT="0" marB="0">
                    <a:lnL>
                      <a:noFill/>
                    </a:lnL>
                    <a:lnR w="12700" cap="flat" cmpd="sng" algn="ctr">
                      <a:solidFill>
                        <a:srgbClr val="9BBB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12500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4F5F2-98DF-53C5-F78E-047863CCE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1C24E0-A841-A557-ABAC-297C8D4BB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coma flotante en RISC-V</a:t>
            </a:r>
            <a:endParaRPr lang="es-ES_tradn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57FA369-2375-A051-BC49-362A73DE5F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Intercambio con memoria con CF de 32 bits</a:t>
            </a:r>
          </a:p>
          <a:p>
            <a:endParaRPr lang="es-ES" dirty="0"/>
          </a:p>
          <a:p>
            <a:endParaRPr lang="es-ES" dirty="0"/>
          </a:p>
          <a:p>
            <a:pPr marL="82550" indent="0">
              <a:buNone/>
            </a:pPr>
            <a:endParaRPr lang="es-ES" dirty="0"/>
          </a:p>
          <a:p>
            <a:pPr lvl="1"/>
            <a:r>
              <a:rPr lang="es-ES" dirty="0"/>
              <a:t>La instrucción de carga hace NaN-</a:t>
            </a:r>
            <a:r>
              <a:rPr lang="es-ES" dirty="0" err="1"/>
              <a:t>boxing</a:t>
            </a:r>
            <a:endParaRPr lang="es-ES" dirty="0"/>
          </a:p>
          <a:p>
            <a:pPr lvl="1"/>
            <a:r>
              <a:rPr lang="es-ES" dirty="0"/>
              <a:t>La instrucción de carga sigue el formato I mientras que la de almacenamiento sigue el formato S (igual que en las cargas/almacenamiento con enteros)</a:t>
            </a:r>
          </a:p>
          <a:p>
            <a:pPr lvl="1"/>
            <a:r>
              <a:rPr lang="es-ES" dirty="0"/>
              <a:t>Con números de 64 bits, las instrucciones equivalentes son </a:t>
            </a:r>
            <a:r>
              <a:rPr lang="es-E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fld</a:t>
            </a:r>
            <a:r>
              <a:rPr lang="es-ES" dirty="0"/>
              <a:t> y </a:t>
            </a:r>
            <a:r>
              <a:rPr lang="es-E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fsd</a:t>
            </a:r>
            <a:endParaRPr lang="es-E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s-ES_tradn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BC8D6B0-3735-06DC-D9E3-FFBC53EB6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21</a:t>
            </a:fld>
            <a:endParaRPr lang="en-US" dirty="0"/>
          </a:p>
        </p:txBody>
      </p:sp>
      <p:sp>
        <p:nvSpPr>
          <p:cNvPr id="6" name="Text Box 5">
            <a:extLst>
              <a:ext uri="{FF2B5EF4-FFF2-40B4-BE49-F238E27FC236}">
                <a16:creationId xmlns:a16="http://schemas.microsoft.com/office/drawing/2014/main" id="{3CD1F7A6-79EB-BB5E-A695-43FAB5A30B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5792" y="1844824"/>
            <a:ext cx="6324600" cy="1000274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lIns="0" tIns="0" rIns="0" bIns="0">
            <a:prstTxWarp prst="textNoShape">
              <a:avLst/>
            </a:prstTxWarp>
            <a:spAutoFit/>
          </a:bodyPr>
          <a:lstStyle/>
          <a:p>
            <a:pPr eaLnBrk="1" hangingPunct="1">
              <a:spcBef>
                <a:spcPct val="15000"/>
              </a:spcBef>
              <a:tabLst>
                <a:tab pos="3716338" algn="l"/>
                <a:tab pos="4856163" algn="l"/>
              </a:tabLst>
            </a:pPr>
            <a:r>
              <a:rPr lang="es-ES" dirty="0">
                <a:solidFill>
                  <a:schemeClr val="tx1"/>
                </a:solidFill>
              </a:rPr>
              <a:t>Operación	Instrucción</a:t>
            </a:r>
          </a:p>
          <a:p>
            <a:pPr eaLnBrk="1" hangingPunct="1">
              <a:spcBef>
                <a:spcPct val="25000"/>
              </a:spcBef>
              <a:tabLst>
                <a:tab pos="3716338" algn="l"/>
                <a:tab pos="4856163" algn="l"/>
              </a:tabLst>
            </a:pPr>
            <a:r>
              <a:rPr lang="es-ES" dirty="0">
                <a:solidFill>
                  <a:schemeClr val="tx1"/>
                </a:solidFill>
              </a:rPr>
              <a:t>lectura </a:t>
            </a:r>
            <a:r>
              <a:rPr lang="es-ES" sz="18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fd</a:t>
            </a:r>
            <a:r>
              <a:rPr lang="es-ES" sz="1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1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itchFamily="31" charset="2"/>
              </a:rPr>
              <a:t></a:t>
            </a:r>
            <a:r>
              <a:rPr lang="es-ES" sz="1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Mem[</a:t>
            </a:r>
            <a:r>
              <a:rPr lang="es-ES" sz="18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X+rs</a:t>
            </a:r>
            <a:r>
              <a:rPr lang="es-ES" sz="1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s-ES" dirty="0">
                <a:solidFill>
                  <a:schemeClr val="tx1"/>
                </a:solidFill>
              </a:rPr>
              <a:t>  	</a:t>
            </a:r>
            <a:r>
              <a:rPr lang="es-ES" dirty="0" err="1">
                <a:solidFill>
                  <a:schemeClr val="accent3"/>
                </a:solidFill>
                <a:latin typeface="Courier New" pitchFamily="31" charset="0"/>
              </a:rPr>
              <a:t>flw</a:t>
            </a:r>
            <a:r>
              <a:rPr lang="es-ES" dirty="0">
                <a:solidFill>
                  <a:schemeClr val="accent3"/>
                </a:solidFill>
                <a:latin typeface="Courier New" pitchFamily="31" charset="0"/>
              </a:rPr>
              <a:t> </a:t>
            </a:r>
            <a:r>
              <a:rPr lang="es-ES" dirty="0" err="1">
                <a:solidFill>
                  <a:schemeClr val="accent3"/>
                </a:solidFill>
                <a:latin typeface="Courier New" pitchFamily="31" charset="0"/>
              </a:rPr>
              <a:t>fd,X</a:t>
            </a:r>
            <a:r>
              <a:rPr lang="es-ES" dirty="0">
                <a:solidFill>
                  <a:schemeClr val="accent3"/>
                </a:solidFill>
                <a:latin typeface="Courier New" pitchFamily="31" charset="0"/>
              </a:rPr>
              <a:t>(</a:t>
            </a:r>
            <a:r>
              <a:rPr lang="es-ES" dirty="0" err="1">
                <a:solidFill>
                  <a:schemeClr val="accent3"/>
                </a:solidFill>
                <a:latin typeface="Courier New" pitchFamily="31" charset="0"/>
              </a:rPr>
              <a:t>rs</a:t>
            </a:r>
            <a:r>
              <a:rPr lang="es-ES" dirty="0">
                <a:solidFill>
                  <a:schemeClr val="accent3"/>
                </a:solidFill>
                <a:latin typeface="Courier New" pitchFamily="31" charset="0"/>
              </a:rPr>
              <a:t>)</a:t>
            </a:r>
            <a:br>
              <a:rPr lang="es-ES" dirty="0">
                <a:solidFill>
                  <a:schemeClr val="accent3"/>
                </a:solidFill>
                <a:latin typeface="Courier New" pitchFamily="31" charset="0"/>
              </a:rPr>
            </a:br>
            <a:r>
              <a:rPr lang="es-ES" dirty="0">
                <a:solidFill>
                  <a:schemeClr val="tx1"/>
                </a:solidFill>
              </a:rPr>
              <a:t>escri</a:t>
            </a:r>
            <a:r>
              <a:rPr lang="es-ES_tradnl" dirty="0" err="1">
                <a:solidFill>
                  <a:schemeClr val="tx1"/>
                </a:solidFill>
              </a:rPr>
              <a:t>t</a:t>
            </a:r>
            <a:r>
              <a:rPr lang="es-ES" dirty="0">
                <a:solidFill>
                  <a:schemeClr val="tx1"/>
                </a:solidFill>
              </a:rPr>
              <a:t>ura </a:t>
            </a:r>
            <a:r>
              <a:rPr lang="es-ES" sz="1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Mem[</a:t>
            </a:r>
            <a:r>
              <a:rPr lang="es-ES" sz="18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X+rs</a:t>
            </a:r>
            <a:r>
              <a:rPr lang="es-ES" sz="1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es-ES" sz="1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itchFamily="31" charset="2"/>
              </a:rPr>
              <a:t></a:t>
            </a:r>
            <a:r>
              <a:rPr lang="es-ES" sz="1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18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</a:t>
            </a:r>
            <a:r>
              <a:rPr lang="es-ES" i="1" dirty="0">
                <a:solidFill>
                  <a:schemeClr val="tx1"/>
                </a:solidFill>
              </a:rPr>
              <a:t> </a:t>
            </a:r>
            <a:r>
              <a:rPr lang="es-ES" dirty="0">
                <a:solidFill>
                  <a:schemeClr val="tx1"/>
                </a:solidFill>
              </a:rPr>
              <a:t>	</a:t>
            </a:r>
            <a:r>
              <a:rPr lang="es-ES" dirty="0" err="1">
                <a:solidFill>
                  <a:schemeClr val="accent3"/>
                </a:solidFill>
                <a:latin typeface="Courier New" pitchFamily="31" charset="0"/>
              </a:rPr>
              <a:t>fsw</a:t>
            </a:r>
            <a:r>
              <a:rPr lang="es-ES" dirty="0">
                <a:solidFill>
                  <a:schemeClr val="accent3"/>
                </a:solidFill>
                <a:latin typeface="Courier New" pitchFamily="31" charset="0"/>
              </a:rPr>
              <a:t> </a:t>
            </a:r>
            <a:r>
              <a:rPr lang="es-ES" dirty="0" err="1">
                <a:solidFill>
                  <a:schemeClr val="accent3"/>
                </a:solidFill>
                <a:latin typeface="Courier New" pitchFamily="31" charset="0"/>
              </a:rPr>
              <a:t>fs,X</a:t>
            </a:r>
            <a:r>
              <a:rPr lang="es-ES" dirty="0">
                <a:solidFill>
                  <a:schemeClr val="accent3"/>
                </a:solidFill>
                <a:latin typeface="Courier New" pitchFamily="31" charset="0"/>
              </a:rPr>
              <a:t>(</a:t>
            </a:r>
            <a:r>
              <a:rPr lang="es-ES" dirty="0" err="1">
                <a:solidFill>
                  <a:schemeClr val="accent3"/>
                </a:solidFill>
                <a:latin typeface="Courier New" pitchFamily="31" charset="0"/>
              </a:rPr>
              <a:t>rs</a:t>
            </a:r>
            <a:r>
              <a:rPr lang="es-ES" dirty="0">
                <a:solidFill>
                  <a:schemeClr val="accent3"/>
                </a:solidFill>
                <a:latin typeface="Courier New" pitchFamily="31" charset="0"/>
              </a:rPr>
              <a:t>)</a:t>
            </a:r>
            <a:endParaRPr lang="ca-ES" dirty="0">
              <a:solidFill>
                <a:schemeClr val="accent3"/>
              </a:solidFill>
              <a:latin typeface="Courier New" pitchFamily="31" charset="0"/>
            </a:endParaRPr>
          </a:p>
        </p:txBody>
      </p:sp>
      <p:sp>
        <p:nvSpPr>
          <p:cNvPr id="7" name="Line 6">
            <a:extLst>
              <a:ext uri="{FF2B5EF4-FFF2-40B4-BE49-F238E27FC236}">
                <a16:creationId xmlns:a16="http://schemas.microsoft.com/office/drawing/2014/main" id="{7ABC5C7D-9ABD-7744-4BD5-88F1304773CC}"/>
              </a:ext>
            </a:extLst>
          </p:cNvPr>
          <p:cNvSpPr>
            <a:spLocks noChangeShapeType="1"/>
          </p:cNvSpPr>
          <p:nvPr/>
        </p:nvSpPr>
        <p:spPr bwMode="auto">
          <a:xfrm>
            <a:off x="1796280" y="2132856"/>
            <a:ext cx="6172200" cy="0"/>
          </a:xfrm>
          <a:prstGeom prst="line">
            <a:avLst/>
          </a:prstGeom>
          <a:noFill/>
          <a:ln w="12700">
            <a:solidFill>
              <a:schemeClr val="tx2"/>
            </a:solidFill>
            <a:round/>
            <a:headEnd/>
            <a:tailEnd/>
          </a:ln>
          <a:effectLst/>
        </p:spPr>
        <p:txBody>
          <a:bodyPr anchor="ctr">
            <a:prstTxWarp prst="textNoShape">
              <a:avLst/>
            </a:prstTxWarp>
          </a:bodyPr>
          <a:lstStyle/>
          <a:p>
            <a:endParaRPr lang="ca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30186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60684-F389-D0EE-C053-BCAF24B90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E6C01B-CBC1-BEAC-645E-4EF0530F6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coma flotante en RISC-V</a:t>
            </a:r>
            <a:endParaRPr lang="es-ES_tradn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0FAAB71-F2EB-AABC-4E8A-1363AACE64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Transferencia entre los bancos de registros con CF de 32 bits</a:t>
            </a:r>
          </a:p>
          <a:p>
            <a:endParaRPr lang="es-ES" dirty="0"/>
          </a:p>
          <a:p>
            <a:endParaRPr lang="es-ES" dirty="0"/>
          </a:p>
          <a:p>
            <a:pPr marL="82550" indent="0">
              <a:buNone/>
            </a:pPr>
            <a:endParaRPr lang="es-ES" dirty="0"/>
          </a:p>
          <a:p>
            <a:pPr lvl="1"/>
            <a:r>
              <a:rPr lang="es-ES" dirty="0"/>
              <a:t>No convierten entre entero y coma flotante. Solo copian los 32 bits</a:t>
            </a:r>
          </a:p>
          <a:p>
            <a:pPr lvl="1"/>
            <a:r>
              <a:rPr lang="es-ES" dirty="0"/>
              <a:t>Al copiar de CF a entero, se hace extensión del signo para completar los 32 bits más </a:t>
            </a:r>
            <a:r>
              <a:rPr lang="es-ES" dirty="0" err="1"/>
              <a:t>significtivos</a:t>
            </a:r>
            <a:endParaRPr lang="es-ES" dirty="0"/>
          </a:p>
          <a:p>
            <a:pPr lvl="1"/>
            <a:r>
              <a:rPr lang="es-ES" dirty="0"/>
              <a:t> Al copiar de entero a CF, se hace NaN-</a:t>
            </a:r>
            <a:r>
              <a:rPr lang="es-ES" dirty="0" err="1"/>
              <a:t>boxing</a:t>
            </a:r>
            <a:endParaRPr lang="es-ES" dirty="0"/>
          </a:p>
          <a:p>
            <a:pPr lvl="1"/>
            <a:r>
              <a:rPr lang="es-ES" dirty="0"/>
              <a:t>Las instrucciones equivalentes para CF de 64 bits son </a:t>
            </a:r>
            <a:r>
              <a:rPr lang="es-E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fmv.d.x</a:t>
            </a:r>
            <a:r>
              <a:rPr lang="es-ES" dirty="0"/>
              <a:t> y </a:t>
            </a:r>
            <a:r>
              <a:rPr lang="es-E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fsd.x.d</a:t>
            </a:r>
            <a:endParaRPr lang="es-ES" dirty="0"/>
          </a:p>
          <a:p>
            <a:endParaRPr lang="es-ES_tradn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8640E71-4E51-6F52-A7DC-BE568CC13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22</a:t>
            </a:fld>
            <a:endParaRPr lang="en-US" dirty="0"/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869B097A-9DEC-7045-CFAD-042B2538ED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5792" y="1844824"/>
            <a:ext cx="6324600" cy="1077218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lIns="0" tIns="0" rIns="0" bIns="0">
            <a:prstTxWarp prst="textNoShape">
              <a:avLst/>
            </a:prstTxWarp>
            <a:spAutoFit/>
          </a:bodyPr>
          <a:lstStyle/>
          <a:p>
            <a:pPr eaLnBrk="1" hangingPunct="1">
              <a:spcBef>
                <a:spcPct val="15000"/>
              </a:spcBef>
              <a:tabLst>
                <a:tab pos="3716338" algn="l"/>
                <a:tab pos="4856163" algn="l"/>
              </a:tabLst>
            </a:pPr>
            <a:r>
              <a:rPr lang="es-ES" dirty="0">
                <a:solidFill>
                  <a:schemeClr val="tx1"/>
                </a:solidFill>
              </a:rPr>
              <a:t>Operación	Instrucción</a:t>
            </a:r>
          </a:p>
          <a:p>
            <a:pPr eaLnBrk="1" hangingPunct="1">
              <a:spcBef>
                <a:spcPct val="25000"/>
              </a:spcBef>
              <a:tabLst>
                <a:tab pos="3716338" algn="l"/>
                <a:tab pos="4856163" algn="l"/>
              </a:tabLst>
            </a:pPr>
            <a:r>
              <a:rPr lang="es-ES" sz="18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fd</a:t>
            </a:r>
            <a:r>
              <a:rPr lang="es-ES" sz="1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1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itchFamily="31" charset="2"/>
              </a:rPr>
              <a:t></a:t>
            </a:r>
            <a:r>
              <a:rPr lang="es-ES" sz="18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18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</a:t>
            </a:r>
            <a:r>
              <a:rPr lang="es-ES" dirty="0">
                <a:solidFill>
                  <a:schemeClr val="tx1"/>
                </a:solidFill>
              </a:rPr>
              <a:t>  	</a:t>
            </a:r>
            <a:r>
              <a:rPr lang="es-ES" dirty="0" err="1">
                <a:solidFill>
                  <a:schemeClr val="accent3"/>
                </a:solidFill>
                <a:latin typeface="Courier New" pitchFamily="31" charset="0"/>
              </a:rPr>
              <a:t>fmv.w.x</a:t>
            </a:r>
            <a:r>
              <a:rPr lang="es-ES" dirty="0">
                <a:solidFill>
                  <a:schemeClr val="accent3"/>
                </a:solidFill>
                <a:latin typeface="Courier New" pitchFamily="31" charset="0"/>
              </a:rPr>
              <a:t> </a:t>
            </a:r>
            <a:r>
              <a:rPr lang="es-ES" dirty="0" err="1">
                <a:solidFill>
                  <a:schemeClr val="accent3"/>
                </a:solidFill>
                <a:latin typeface="Courier New" pitchFamily="31" charset="0"/>
              </a:rPr>
              <a:t>fd,rs</a:t>
            </a:r>
            <a:endParaRPr lang="es-ES" dirty="0">
              <a:solidFill>
                <a:schemeClr val="accent3"/>
              </a:solidFill>
              <a:latin typeface="Courier New" pitchFamily="31" charset="0"/>
            </a:endParaRPr>
          </a:p>
          <a:p>
            <a:pPr eaLnBrk="1" hangingPunct="1">
              <a:spcBef>
                <a:spcPct val="25000"/>
              </a:spcBef>
              <a:tabLst>
                <a:tab pos="3716338" algn="l"/>
                <a:tab pos="4856163" algn="l"/>
              </a:tabLst>
            </a:pPr>
            <a:r>
              <a:rPr lang="es-E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</a:t>
            </a:r>
            <a:r>
              <a:rPr lang="es-E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dirty="0">
                <a:latin typeface="Courier New" panose="02070309020205020404" pitchFamily="49" charset="0"/>
                <a:cs typeface="Courier New" panose="02070309020205020404" pitchFamily="49" charset="0"/>
                <a:sym typeface="Symbol" pitchFamily="31" charset="2"/>
              </a:rPr>
              <a:t></a:t>
            </a:r>
            <a:r>
              <a:rPr lang="es-E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fd</a:t>
            </a:r>
            <a:r>
              <a:rPr lang="es-ES" dirty="0">
                <a:solidFill>
                  <a:schemeClr val="tx1"/>
                </a:solidFill>
              </a:rPr>
              <a:t>	</a:t>
            </a:r>
            <a:r>
              <a:rPr lang="es-ES" dirty="0" err="1">
                <a:solidFill>
                  <a:schemeClr val="accent3"/>
                </a:solidFill>
                <a:latin typeface="Courier New" pitchFamily="31" charset="0"/>
              </a:rPr>
              <a:t>fmv.x.w</a:t>
            </a:r>
            <a:r>
              <a:rPr lang="es-ES" dirty="0">
                <a:solidFill>
                  <a:schemeClr val="accent3"/>
                </a:solidFill>
                <a:latin typeface="Courier New" pitchFamily="31" charset="0"/>
              </a:rPr>
              <a:t> </a:t>
            </a:r>
            <a:r>
              <a:rPr lang="es-ES" dirty="0" err="1">
                <a:solidFill>
                  <a:schemeClr val="accent3"/>
                </a:solidFill>
                <a:latin typeface="Courier New" pitchFamily="31" charset="0"/>
              </a:rPr>
              <a:t>rd,fs</a:t>
            </a:r>
            <a:endParaRPr lang="ca-ES" dirty="0">
              <a:solidFill>
                <a:schemeClr val="accent3"/>
              </a:solidFill>
              <a:latin typeface="Courier New" pitchFamily="31" charset="0"/>
            </a:endParaRPr>
          </a:p>
        </p:txBody>
      </p:sp>
      <p:sp>
        <p:nvSpPr>
          <p:cNvPr id="8" name="Line 6">
            <a:extLst>
              <a:ext uri="{FF2B5EF4-FFF2-40B4-BE49-F238E27FC236}">
                <a16:creationId xmlns:a16="http://schemas.microsoft.com/office/drawing/2014/main" id="{ADBB5A0D-04D8-6358-C828-7E667CB120E4}"/>
              </a:ext>
            </a:extLst>
          </p:cNvPr>
          <p:cNvSpPr>
            <a:spLocks noChangeShapeType="1"/>
          </p:cNvSpPr>
          <p:nvPr/>
        </p:nvSpPr>
        <p:spPr bwMode="auto">
          <a:xfrm>
            <a:off x="1796280" y="2132856"/>
            <a:ext cx="6172200" cy="0"/>
          </a:xfrm>
          <a:prstGeom prst="line">
            <a:avLst/>
          </a:prstGeom>
          <a:noFill/>
          <a:ln w="12700">
            <a:solidFill>
              <a:schemeClr val="tx2"/>
            </a:solidFill>
            <a:round/>
            <a:headEnd/>
            <a:tailEnd/>
          </a:ln>
          <a:effectLst/>
        </p:spPr>
        <p:txBody>
          <a:bodyPr anchor="ctr">
            <a:prstTxWarp prst="textNoShape">
              <a:avLst/>
            </a:prstTxWarp>
          </a:bodyPr>
          <a:lstStyle/>
          <a:p>
            <a:endParaRPr lang="ca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25597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621A0-251B-61D9-7243-8CB0D9103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7C813E-FAC2-77B8-56BD-C854AFEFB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coma flotante en RISC-V</a:t>
            </a:r>
            <a:endParaRPr lang="es-ES_tradn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D211F5F-3F41-322F-BDE7-907368119B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Conversión entre formatos</a:t>
            </a:r>
          </a:p>
          <a:p>
            <a:pPr lvl="1">
              <a:tabLst>
                <a:tab pos="7908925" algn="l"/>
              </a:tabLst>
            </a:pPr>
            <a:r>
              <a:rPr lang="es-ES" dirty="0"/>
              <a:t>Entre CF de 32 y 64 bits:</a:t>
            </a:r>
          </a:p>
          <a:p>
            <a:pPr marL="657225" lvl="2" indent="0">
              <a:buNone/>
              <a:tabLst>
                <a:tab pos="7908925" algn="l"/>
              </a:tabLst>
            </a:pPr>
            <a:r>
              <a:rPr lang="es-E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fcvt.d.s</a:t>
            </a:r>
            <a:r>
              <a:rPr lang="es-E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fd,fs</a:t>
            </a:r>
            <a:r>
              <a:rPr lang="es-E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# </a:t>
            </a:r>
            <a:r>
              <a:rPr lang="es-E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float→double</a:t>
            </a:r>
            <a:r>
              <a:rPr lang="es-E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657225" lvl="2" indent="0">
              <a:buNone/>
              <a:tabLst>
                <a:tab pos="7908925" algn="l"/>
              </a:tabLst>
            </a:pPr>
            <a:r>
              <a:rPr lang="es-E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fcvt.s.d</a:t>
            </a:r>
            <a:r>
              <a:rPr lang="es-E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fd,fs</a:t>
            </a:r>
            <a:r>
              <a:rPr lang="es-E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# </a:t>
            </a:r>
            <a:r>
              <a:rPr lang="es-E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double→float</a:t>
            </a:r>
            <a:endParaRPr lang="es-E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tabLst>
                <a:tab pos="7908925" algn="l"/>
              </a:tabLst>
            </a:pPr>
            <a:r>
              <a:rPr lang="es-ES" dirty="0"/>
              <a:t>Entre enteros de 32 bits y CF</a:t>
            </a:r>
          </a:p>
          <a:p>
            <a:pPr marL="657225" lvl="2" indent="0">
              <a:buNone/>
              <a:tabLst>
                <a:tab pos="7908925" algn="l"/>
              </a:tabLst>
            </a:pPr>
            <a:r>
              <a:rPr lang="es-E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fcvt.s.w</a:t>
            </a:r>
            <a:r>
              <a:rPr lang="es-E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fd,xs</a:t>
            </a:r>
            <a:r>
              <a:rPr lang="es-E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# int32→float       </a:t>
            </a:r>
            <a:r>
              <a:rPr lang="es-E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fcvt.w.s</a:t>
            </a:r>
            <a:r>
              <a:rPr lang="es-E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xd,fs</a:t>
            </a:r>
            <a:r>
              <a:rPr lang="es-E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# float→int32 </a:t>
            </a:r>
          </a:p>
          <a:p>
            <a:pPr marL="657225" lvl="2" indent="0">
              <a:buNone/>
              <a:tabLst>
                <a:tab pos="7908925" algn="l"/>
              </a:tabLst>
            </a:pPr>
            <a:r>
              <a:rPr lang="es-E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fcvt.d.w</a:t>
            </a:r>
            <a:r>
              <a:rPr lang="es-E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fd,xs</a:t>
            </a:r>
            <a:r>
              <a:rPr lang="es-E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# int32→double      </a:t>
            </a:r>
            <a:r>
              <a:rPr lang="es-E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fcvt.w.d</a:t>
            </a:r>
            <a:r>
              <a:rPr lang="es-E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xd,fs</a:t>
            </a:r>
            <a:r>
              <a:rPr lang="es-E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# double→int32</a:t>
            </a:r>
          </a:p>
          <a:p>
            <a:pPr lvl="1">
              <a:tabLst>
                <a:tab pos="7908925" algn="l"/>
              </a:tabLst>
            </a:pPr>
            <a:r>
              <a:rPr lang="es-ES" dirty="0"/>
              <a:t>Entre enteros de 64 bits y CF</a:t>
            </a:r>
          </a:p>
          <a:p>
            <a:pPr marL="657225" lvl="2" indent="0">
              <a:buNone/>
              <a:tabLst>
                <a:tab pos="7908925" algn="l"/>
              </a:tabLst>
            </a:pPr>
            <a:r>
              <a:rPr lang="es-E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fcvt.s.l</a:t>
            </a:r>
            <a:r>
              <a:rPr lang="es-E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fd,xs</a:t>
            </a:r>
            <a:r>
              <a:rPr lang="es-E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# int64→float       </a:t>
            </a:r>
            <a:r>
              <a:rPr lang="es-E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fcvt.l.s</a:t>
            </a:r>
            <a:r>
              <a:rPr lang="es-E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xd,fs</a:t>
            </a:r>
            <a:r>
              <a:rPr lang="es-E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# float→int64 </a:t>
            </a:r>
          </a:p>
          <a:p>
            <a:pPr marL="657225" lvl="2" indent="0">
              <a:buNone/>
              <a:tabLst>
                <a:tab pos="7908925" algn="l"/>
              </a:tabLst>
            </a:pPr>
            <a:r>
              <a:rPr lang="es-E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fcvt.d.l</a:t>
            </a:r>
            <a:r>
              <a:rPr lang="es-E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fd,xs</a:t>
            </a:r>
            <a:r>
              <a:rPr lang="es-E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# int64→double      </a:t>
            </a:r>
            <a:r>
              <a:rPr lang="es-E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fcvt.l.d</a:t>
            </a:r>
            <a:r>
              <a:rPr lang="es-E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xd,fs</a:t>
            </a:r>
            <a:r>
              <a:rPr lang="es-E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# double→int64</a:t>
            </a:r>
            <a:endParaRPr lang="es-ES" dirty="0"/>
          </a:p>
          <a:p>
            <a:pPr lvl="1">
              <a:tabLst>
                <a:tab pos="7908925" algn="l"/>
              </a:tabLst>
            </a:pPr>
            <a:r>
              <a:rPr lang="es-ES" dirty="0"/>
              <a:t>También existen variantes para enteros sin signo</a:t>
            </a:r>
          </a:p>
          <a:p>
            <a:endParaRPr lang="es-ES_tradn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F5D1DAB-F4AB-153D-4E14-14F61EF86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7073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2A1EE-AAC9-ACB4-EDE6-A27122436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978E9A-9DBA-1AA6-4958-08F3F045D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coma flotante en RISC-V</a:t>
            </a:r>
            <a:endParaRPr lang="es-ES_tradn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2C0AC99-63F5-CA90-6A56-2189492F1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Instrucciones aritméticas básicas</a:t>
            </a:r>
          </a:p>
          <a:p>
            <a:pPr lvl="1"/>
            <a:r>
              <a:rPr lang="es-ES" dirty="0"/>
              <a:t>Hay dos versiones de cada operación: S (simple precisión) y D (doble precisión)</a:t>
            </a:r>
          </a:p>
          <a:p>
            <a:pPr lvl="2"/>
            <a:r>
              <a:rPr lang="es-ES" dirty="0"/>
              <a:t>Ejemplo: </a:t>
            </a:r>
            <a:r>
              <a:rPr lang="es-E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fadd.s</a:t>
            </a:r>
            <a:r>
              <a:rPr lang="es-ES" dirty="0">
                <a:latin typeface="Courier New" panose="02070309020205020404" pitchFamily="49" charset="0"/>
                <a:cs typeface="Courier New" panose="02070309020205020404" pitchFamily="49" charset="0"/>
              </a:rPr>
              <a:t> f0,f1,f2</a:t>
            </a:r>
            <a:r>
              <a:rPr lang="es-ES" dirty="0"/>
              <a:t>;  </a:t>
            </a:r>
            <a:r>
              <a:rPr lang="es-E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fadd.d</a:t>
            </a:r>
            <a:r>
              <a:rPr lang="es-ES" dirty="0">
                <a:latin typeface="Courier New" panose="02070309020205020404" pitchFamily="49" charset="0"/>
                <a:cs typeface="Courier New" panose="02070309020205020404" pitchFamily="49" charset="0"/>
              </a:rPr>
              <a:t> f2,f4,f6</a:t>
            </a:r>
          </a:p>
          <a:p>
            <a:endParaRPr lang="es-ES_tradn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E026F73-FFBB-00B9-3154-5DD35ED5D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24</a:t>
            </a:fld>
            <a:endParaRPr lang="en-US" dirty="0"/>
          </a:p>
        </p:txBody>
      </p:sp>
      <p:grpSp>
        <p:nvGrpSpPr>
          <p:cNvPr id="5" name="Group 31">
            <a:extLst>
              <a:ext uri="{FF2B5EF4-FFF2-40B4-BE49-F238E27FC236}">
                <a16:creationId xmlns:a16="http://schemas.microsoft.com/office/drawing/2014/main" id="{CF8EC0BD-7B1D-E233-4C8C-9B1F27F84905}"/>
              </a:ext>
            </a:extLst>
          </p:cNvPr>
          <p:cNvGrpSpPr>
            <a:grpSpLocks/>
          </p:cNvGrpSpPr>
          <p:nvPr/>
        </p:nvGrpSpPr>
        <p:grpSpPr bwMode="auto">
          <a:xfrm>
            <a:off x="2412857" y="3140969"/>
            <a:ext cx="5183478" cy="2924176"/>
            <a:chOff x="796" y="2016"/>
            <a:chExt cx="2180" cy="1842"/>
          </a:xfrm>
        </p:grpSpPr>
        <p:sp>
          <p:nvSpPr>
            <p:cNvPr id="6" name="Text Box 29">
              <a:extLst>
                <a:ext uri="{FF2B5EF4-FFF2-40B4-BE49-F238E27FC236}">
                  <a16:creationId xmlns:a16="http://schemas.microsoft.com/office/drawing/2014/main" id="{D32DDD57-3E7A-99C2-A714-52338B53C3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6" y="2016"/>
              <a:ext cx="2160" cy="1842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accent2">
                  <a:lumMod val="60000"/>
                  <a:lumOff val="40000"/>
                </a:schemeClr>
              </a:solidFill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l" eaLnBrk="1" hangingPunct="1">
                <a:lnSpc>
                  <a:spcPct val="80000"/>
                </a:lnSpc>
                <a:tabLst>
                  <a:tab pos="1998663" algn="l"/>
                  <a:tab pos="3427413" algn="l"/>
                </a:tabLst>
              </a:pPr>
              <a:r>
                <a:rPr lang="es-ES" dirty="0">
                  <a:solidFill>
                    <a:schemeClr val="tx1"/>
                  </a:solidFill>
                </a:rPr>
                <a:t>operación	instrucción</a:t>
              </a:r>
            </a:p>
            <a:p>
              <a:pPr algn="l" eaLnBrk="1" hangingPunct="1">
                <a:spcBef>
                  <a:spcPct val="20000"/>
                </a:spcBef>
                <a:tabLst>
                  <a:tab pos="1998663" algn="l"/>
                  <a:tab pos="3427413" algn="l"/>
                </a:tabLst>
              </a:pPr>
              <a:r>
                <a:rPr lang="es-ES" dirty="0">
                  <a:solidFill>
                    <a:schemeClr val="tx1"/>
                  </a:solidFill>
                </a:rPr>
                <a:t>suma 	</a:t>
              </a:r>
              <a:r>
                <a:rPr lang="es-ES" dirty="0" err="1">
                  <a:solidFill>
                    <a:schemeClr val="accent3"/>
                  </a:solidFill>
                  <a:latin typeface="Courier New" pitchFamily="31" charset="0"/>
                </a:rPr>
                <a:t>fadd</a:t>
              </a:r>
              <a:r>
                <a:rPr lang="es-ES" dirty="0">
                  <a:solidFill>
                    <a:schemeClr val="accent3"/>
                  </a:solidFill>
                  <a:latin typeface="Courier New" pitchFamily="31" charset="0"/>
                </a:rPr>
                <a:t>._ fd,fs1,fs2</a:t>
              </a:r>
              <a:br>
                <a:rPr lang="es-ES_tradnl" dirty="0">
                  <a:solidFill>
                    <a:schemeClr val="accent3"/>
                  </a:solidFill>
                  <a:latin typeface="Courier New" pitchFamily="31" charset="0"/>
                </a:rPr>
              </a:br>
              <a:r>
                <a:rPr lang="es-ES" dirty="0">
                  <a:solidFill>
                    <a:schemeClr val="tx1"/>
                  </a:solidFill>
                </a:rPr>
                <a:t>resta 	</a:t>
              </a:r>
              <a:r>
                <a:rPr lang="es-ES" dirty="0" err="1">
                  <a:solidFill>
                    <a:schemeClr val="accent3"/>
                  </a:solidFill>
                  <a:latin typeface="Courier New" pitchFamily="31" charset="0"/>
                </a:rPr>
                <a:t>fsub</a:t>
              </a:r>
              <a:r>
                <a:rPr lang="es-ES" dirty="0">
                  <a:solidFill>
                    <a:schemeClr val="accent3"/>
                  </a:solidFill>
                  <a:latin typeface="Courier New" pitchFamily="31" charset="0"/>
                </a:rPr>
                <a:t>._ fd,fs1,fs2</a:t>
              </a:r>
              <a:br>
                <a:rPr lang="es-ES" dirty="0">
                  <a:solidFill>
                    <a:schemeClr val="tx1"/>
                  </a:solidFill>
                  <a:latin typeface="Courier New" pitchFamily="31" charset="0"/>
                </a:rPr>
              </a:br>
              <a:r>
                <a:rPr lang="es-ES" dirty="0">
                  <a:solidFill>
                    <a:schemeClr val="tx1"/>
                  </a:solidFill>
                </a:rPr>
                <a:t>multiplicación	</a:t>
              </a:r>
              <a:r>
                <a:rPr lang="es-ES" dirty="0" err="1">
                  <a:solidFill>
                    <a:schemeClr val="accent3"/>
                  </a:solidFill>
                  <a:latin typeface="Courier New" pitchFamily="31" charset="0"/>
                </a:rPr>
                <a:t>fmul</a:t>
              </a:r>
              <a:r>
                <a:rPr lang="es-ES_tradnl" dirty="0">
                  <a:solidFill>
                    <a:schemeClr val="accent3"/>
                  </a:solidFill>
                  <a:latin typeface="Courier New" pitchFamily="31" charset="0"/>
                </a:rPr>
                <a:t>._</a:t>
              </a:r>
              <a:r>
                <a:rPr lang="es-ES" dirty="0">
                  <a:solidFill>
                    <a:schemeClr val="accent3"/>
                  </a:solidFill>
                  <a:latin typeface="Courier New" pitchFamily="31" charset="0"/>
                </a:rPr>
                <a:t> fd,fs1,fs2</a:t>
              </a:r>
              <a:br>
                <a:rPr lang="es-ES" dirty="0">
                  <a:solidFill>
                    <a:schemeClr val="tx1"/>
                  </a:solidFill>
                  <a:latin typeface="Courier New" pitchFamily="31" charset="0"/>
                </a:rPr>
              </a:br>
              <a:r>
                <a:rPr lang="es-ES" dirty="0">
                  <a:solidFill>
                    <a:schemeClr val="tx1"/>
                  </a:solidFill>
                </a:rPr>
                <a:t>división	</a:t>
              </a:r>
              <a:r>
                <a:rPr lang="es-ES" dirty="0" err="1">
                  <a:solidFill>
                    <a:schemeClr val="accent3"/>
                  </a:solidFill>
                  <a:latin typeface="Courier New" pitchFamily="31" charset="0"/>
                </a:rPr>
                <a:t>fdiv</a:t>
              </a:r>
              <a:r>
                <a:rPr lang="es-ES" dirty="0">
                  <a:solidFill>
                    <a:schemeClr val="accent3"/>
                  </a:solidFill>
                  <a:latin typeface="Courier New" pitchFamily="31" charset="0"/>
                </a:rPr>
                <a:t>._ fd,fs1,fs2</a:t>
              </a:r>
              <a:br>
                <a:rPr lang="es-ES" dirty="0">
                  <a:solidFill>
                    <a:schemeClr val="tx1"/>
                  </a:solidFill>
                  <a:latin typeface="Courier New" pitchFamily="31" charset="0"/>
                </a:rPr>
              </a:br>
              <a:r>
                <a:rPr lang="es-ES" dirty="0">
                  <a:solidFill>
                    <a:schemeClr val="tx1"/>
                  </a:solidFill>
                </a:rPr>
                <a:t>comparación	</a:t>
              </a:r>
              <a:r>
                <a:rPr lang="es-ES" dirty="0" err="1">
                  <a:solidFill>
                    <a:schemeClr val="accent3"/>
                  </a:solidFill>
                  <a:latin typeface="Courier New" pitchFamily="31" charset="0"/>
                </a:rPr>
                <a:t>c.</a:t>
              </a:r>
              <a:r>
                <a:rPr lang="es-ES" i="1" dirty="0" err="1">
                  <a:solidFill>
                    <a:schemeClr val="accent3"/>
                  </a:solidFill>
                  <a:latin typeface="Courier New" pitchFamily="31" charset="0"/>
                </a:rPr>
                <a:t>cond</a:t>
              </a:r>
              <a:r>
                <a:rPr lang="es-ES" dirty="0">
                  <a:solidFill>
                    <a:schemeClr val="accent3"/>
                  </a:solidFill>
                  <a:latin typeface="Courier New" pitchFamily="31" charset="0"/>
                </a:rPr>
                <a:t>._ rd,fs1,fs2</a:t>
              </a:r>
              <a:endParaRPr lang="es-ES" dirty="0">
                <a:latin typeface="Courier New" pitchFamily="31" charset="0"/>
              </a:endParaRPr>
            </a:p>
            <a:p>
              <a:pPr algn="l" eaLnBrk="1" hangingPunct="1">
                <a:spcBef>
                  <a:spcPct val="20000"/>
                </a:spcBef>
                <a:tabLst>
                  <a:tab pos="1998663" algn="l"/>
                  <a:tab pos="3427413" algn="l"/>
                </a:tabLst>
              </a:pPr>
              <a:r>
                <a:rPr lang="es-ES" dirty="0">
                  <a:solidFill>
                    <a:schemeClr val="tx1"/>
                  </a:solidFill>
                </a:rPr>
                <a:t>copia	</a:t>
              </a:r>
              <a:r>
                <a:rPr lang="es-ES" dirty="0" err="1">
                  <a:solidFill>
                    <a:schemeClr val="accent3"/>
                  </a:solidFill>
                  <a:latin typeface="Courier New" pitchFamily="31" charset="0"/>
                </a:rPr>
                <a:t>fmv</a:t>
              </a:r>
              <a:r>
                <a:rPr lang="es-ES" dirty="0">
                  <a:solidFill>
                    <a:schemeClr val="accent3"/>
                  </a:solidFill>
                  <a:latin typeface="Courier New" pitchFamily="31" charset="0"/>
                </a:rPr>
                <a:t>._ </a:t>
              </a:r>
              <a:r>
                <a:rPr lang="es-ES" dirty="0" err="1">
                  <a:solidFill>
                    <a:schemeClr val="accent3"/>
                  </a:solidFill>
                  <a:latin typeface="Courier New" pitchFamily="31" charset="0"/>
                </a:rPr>
                <a:t>fd,fs</a:t>
              </a:r>
              <a:br>
                <a:rPr lang="es-ES" dirty="0">
                  <a:solidFill>
                    <a:schemeClr val="tx1"/>
                  </a:solidFill>
                  <a:latin typeface="Courier New" pitchFamily="31" charset="0"/>
                </a:rPr>
              </a:br>
              <a:r>
                <a:rPr lang="es-ES_tradnl" dirty="0">
                  <a:solidFill>
                    <a:schemeClr val="tx1"/>
                  </a:solidFill>
                </a:rPr>
                <a:t>cambio de signo</a:t>
              </a:r>
              <a:r>
                <a:rPr lang="es-ES" dirty="0">
                  <a:solidFill>
                    <a:schemeClr val="tx1"/>
                  </a:solidFill>
                </a:rPr>
                <a:t>	</a:t>
              </a:r>
              <a:r>
                <a:rPr lang="es-ES" dirty="0" err="1">
                  <a:solidFill>
                    <a:schemeClr val="accent3"/>
                  </a:solidFill>
                  <a:latin typeface="Courier New" pitchFamily="31" charset="0"/>
                </a:rPr>
                <a:t>fneg</a:t>
              </a:r>
              <a:r>
                <a:rPr lang="es-ES" dirty="0">
                  <a:solidFill>
                    <a:schemeClr val="accent3"/>
                  </a:solidFill>
                  <a:latin typeface="Courier New" pitchFamily="31" charset="0"/>
                </a:rPr>
                <a:t>._ </a:t>
              </a:r>
              <a:r>
                <a:rPr lang="es-ES" dirty="0" err="1">
                  <a:solidFill>
                    <a:schemeClr val="accent3"/>
                  </a:solidFill>
                  <a:latin typeface="Courier New" pitchFamily="31" charset="0"/>
                </a:rPr>
                <a:t>fd,fs</a:t>
              </a:r>
              <a:br>
                <a:rPr lang="es-ES" dirty="0">
                  <a:solidFill>
                    <a:schemeClr val="accent3"/>
                  </a:solidFill>
                  <a:latin typeface="Courier New" pitchFamily="31" charset="0"/>
                </a:rPr>
              </a:br>
              <a:r>
                <a:rPr lang="es-ES" dirty="0">
                  <a:solidFill>
                    <a:schemeClr val="tx1"/>
                  </a:solidFill>
                </a:rPr>
                <a:t>valor absoluto	</a:t>
              </a:r>
              <a:r>
                <a:rPr lang="es-ES" dirty="0" err="1">
                  <a:solidFill>
                    <a:schemeClr val="accent3"/>
                  </a:solidFill>
                  <a:latin typeface="Courier New" pitchFamily="31" charset="0"/>
                </a:rPr>
                <a:t>fabs</a:t>
              </a:r>
              <a:r>
                <a:rPr lang="es-ES" dirty="0">
                  <a:solidFill>
                    <a:schemeClr val="accent3"/>
                  </a:solidFill>
                  <a:latin typeface="Courier New" pitchFamily="31" charset="0"/>
                </a:rPr>
                <a:t>._ </a:t>
              </a:r>
              <a:r>
                <a:rPr lang="es-ES" dirty="0" err="1">
                  <a:solidFill>
                    <a:schemeClr val="accent3"/>
                  </a:solidFill>
                  <a:latin typeface="Courier New" pitchFamily="31" charset="0"/>
                </a:rPr>
                <a:t>fd,fs</a:t>
              </a:r>
              <a:endParaRPr lang="ca-ES" dirty="0">
                <a:solidFill>
                  <a:schemeClr val="accent3"/>
                </a:solidFill>
                <a:latin typeface="Courier New" pitchFamily="31" charset="0"/>
              </a:endParaRPr>
            </a:p>
          </p:txBody>
        </p:sp>
        <p:sp>
          <p:nvSpPr>
            <p:cNvPr id="7" name="Line 30">
              <a:extLst>
                <a:ext uri="{FF2B5EF4-FFF2-40B4-BE49-F238E27FC236}">
                  <a16:creationId xmlns:a16="http://schemas.microsoft.com/office/drawing/2014/main" id="{43B36156-4018-FDA7-ABE3-A921FFF205C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96" y="2197"/>
              <a:ext cx="2180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anchor="ctr">
              <a:prstTxWarp prst="textNoShape">
                <a:avLst/>
              </a:prstTxWarp>
            </a:bodyPr>
            <a:lstStyle/>
            <a:p>
              <a:endParaRPr lang="ca-E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060370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06A0A-EF64-C9D6-4F54-919FDF1D6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9F439D-BD99-3569-02F3-B669E1431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coma flotante en RISC-V</a:t>
            </a:r>
            <a:endParaRPr lang="es-ES_tradn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65FDC2E-04A4-8708-C6EB-A9920C98E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Comparación</a:t>
            </a:r>
          </a:p>
          <a:p>
            <a:pPr lvl="1"/>
            <a:r>
              <a:rPr lang="es-ES" dirty="0"/>
              <a:t>Las instrucciones de comparación escriben el resultado en un registro entero que codifica </a:t>
            </a: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s-ES" dirty="0"/>
              <a:t> si la condición es cierta o </a:t>
            </a: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s-ES" dirty="0"/>
              <a:t> en caso contrario</a:t>
            </a:r>
          </a:p>
          <a:p>
            <a:pPr lvl="1"/>
            <a:r>
              <a:rPr lang="es-ES" dirty="0"/>
              <a:t>Las más importantes: (</a:t>
            </a:r>
            <a:r>
              <a:rPr lang="es-E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c.__.s</a:t>
            </a:r>
            <a:r>
              <a:rPr lang="es-ES" dirty="0">
                <a:latin typeface="Courier New" panose="02070309020205020404" pitchFamily="49" charset="0"/>
                <a:cs typeface="Courier New" panose="02070309020205020404" pitchFamily="49" charset="0"/>
              </a:rPr>
              <a:t> rd,fs1,fs2 </a:t>
            </a:r>
            <a:r>
              <a:rPr lang="es-ES" dirty="0"/>
              <a:t>o</a:t>
            </a:r>
            <a:r>
              <a:rPr lang="es-E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c.__.d</a:t>
            </a:r>
            <a:r>
              <a:rPr lang="es-ES" dirty="0">
                <a:latin typeface="Courier New" panose="02070309020205020404" pitchFamily="49" charset="0"/>
                <a:cs typeface="Courier New" panose="02070309020205020404" pitchFamily="49" charset="0"/>
              </a:rPr>
              <a:t> rd,fs1,fs2</a:t>
            </a:r>
            <a:r>
              <a:rPr lang="es-ES" dirty="0"/>
              <a:t>)</a:t>
            </a:r>
          </a:p>
          <a:p>
            <a:pPr lvl="1"/>
            <a:endParaRPr lang="es-ES" dirty="0"/>
          </a:p>
          <a:p>
            <a:pPr lvl="1"/>
            <a:endParaRPr lang="es-ES" dirty="0"/>
          </a:p>
          <a:p>
            <a:pPr lvl="1"/>
            <a:endParaRPr lang="es-ES" dirty="0"/>
          </a:p>
          <a:p>
            <a:pPr lvl="1"/>
            <a:r>
              <a:rPr lang="es-ES" dirty="0"/>
              <a:t>Las condiciones de mayor y mayor o igual se obtienen intercambiando el orden de los operandos</a:t>
            </a:r>
          </a:p>
          <a:p>
            <a:pPr lvl="1"/>
            <a:r>
              <a:rPr lang="es-ES" dirty="0"/>
              <a:t>El control de flujo se realiza entonces haciendo uso de las instrucciones </a:t>
            </a:r>
            <a:r>
              <a:rPr lang="es-E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" dirty="0"/>
              <a:t> (o </a:t>
            </a:r>
            <a:r>
              <a:rPr lang="es-E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bne</a:t>
            </a:r>
            <a:r>
              <a:rPr lang="es-ES" dirty="0"/>
              <a:t>) sobre el resultado en el registro </a:t>
            </a:r>
            <a:r>
              <a:rPr lang="es-E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03225" lvl="1" indent="0">
              <a:buNone/>
            </a:pPr>
            <a:endParaRPr lang="es-E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s-ES_tradn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823B38A-EE31-457D-9205-73B776408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25</a:t>
            </a:fld>
            <a:endParaRPr lang="en-US" dirty="0"/>
          </a:p>
        </p:txBody>
      </p:sp>
      <p:sp>
        <p:nvSpPr>
          <p:cNvPr id="9" name="Text Box 13">
            <a:extLst>
              <a:ext uri="{FF2B5EF4-FFF2-40B4-BE49-F238E27FC236}">
                <a16:creationId xmlns:a16="http://schemas.microsoft.com/office/drawing/2014/main" id="{25811C40-C956-C261-CFE6-20C9F33FF9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32137" y="3285014"/>
            <a:ext cx="1262063" cy="400050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  <a:spAutoFit/>
          </a:bodyPr>
          <a:lstStyle/>
          <a:p>
            <a:r>
              <a:rPr lang="es-ES_tradnl" dirty="0">
                <a:latin typeface="Courier New" panose="02070309020205020404" pitchFamily="49" charset="0"/>
                <a:cs typeface="Courier New" panose="02070309020205020404" pitchFamily="49" charset="0"/>
              </a:rPr>
              <a:t>fs1&lt;fs2</a:t>
            </a:r>
          </a:p>
        </p:txBody>
      </p:sp>
      <p:sp>
        <p:nvSpPr>
          <p:cNvPr id="10" name="Text Box 14">
            <a:extLst>
              <a:ext uri="{FF2B5EF4-FFF2-40B4-BE49-F238E27FC236}">
                <a16:creationId xmlns:a16="http://schemas.microsoft.com/office/drawing/2014/main" id="{0B45B224-D9A3-2C65-0FAB-318B81E53A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70775" y="3285014"/>
            <a:ext cx="184150" cy="400050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  <a:spAutoFit/>
          </a:bodyPr>
          <a:lstStyle/>
          <a:p>
            <a:endParaRPr lang="es-ES_tradnl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 Box 15">
            <a:extLst>
              <a:ext uri="{FF2B5EF4-FFF2-40B4-BE49-F238E27FC236}">
                <a16:creationId xmlns:a16="http://schemas.microsoft.com/office/drawing/2014/main" id="{A318B417-9718-C40C-EC66-AA67905EF1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29200" y="3285014"/>
            <a:ext cx="1262063" cy="400050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  <a:spAutoFit/>
          </a:bodyPr>
          <a:lstStyle/>
          <a:p>
            <a:r>
              <a:rPr lang="es-ES_tradnl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fs1=fs2</a:t>
            </a:r>
          </a:p>
        </p:txBody>
      </p:sp>
      <p:sp>
        <p:nvSpPr>
          <p:cNvPr id="17" name="Text Box 21">
            <a:extLst>
              <a:ext uri="{FF2B5EF4-FFF2-40B4-BE49-F238E27FC236}">
                <a16:creationId xmlns:a16="http://schemas.microsoft.com/office/drawing/2014/main" id="{4D5E82F4-782C-5A84-33BF-A20C85683C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4875" y="3794602"/>
            <a:ext cx="492125" cy="400050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lt</a:t>
            </a:r>
            <a:endParaRPr lang="es-ES_tradnl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Text Box 22">
            <a:extLst>
              <a:ext uri="{FF2B5EF4-FFF2-40B4-BE49-F238E27FC236}">
                <a16:creationId xmlns:a16="http://schemas.microsoft.com/office/drawing/2014/main" id="{0ABED754-FB2B-873C-138F-93585104F8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92737" y="3797777"/>
            <a:ext cx="488950" cy="39687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  <a:spAutoFit/>
          </a:bodyPr>
          <a:lstStyle/>
          <a:p>
            <a:pPr algn="l"/>
            <a:r>
              <a:rPr lang="es-ES_tradnl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</a:p>
        </p:txBody>
      </p:sp>
      <p:sp>
        <p:nvSpPr>
          <p:cNvPr id="20" name="Text Box 24">
            <a:extLst>
              <a:ext uri="{FF2B5EF4-FFF2-40B4-BE49-F238E27FC236}">
                <a16:creationId xmlns:a16="http://schemas.microsoft.com/office/drawing/2014/main" id="{1F525BDF-81AB-615B-EFE6-5DC42F04BF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8375" y="3796189"/>
            <a:ext cx="488950" cy="396875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</a:t>
            </a:r>
          </a:p>
        </p:txBody>
      </p:sp>
      <p:sp>
        <p:nvSpPr>
          <p:cNvPr id="21" name="Rectangle 25">
            <a:extLst>
              <a:ext uri="{FF2B5EF4-FFF2-40B4-BE49-F238E27FC236}">
                <a16:creationId xmlns:a16="http://schemas.microsoft.com/office/drawing/2014/main" id="{B312F2FF-FA5B-648B-06CE-2EFC995F7B91}"/>
              </a:ext>
            </a:extLst>
          </p:cNvPr>
          <p:cNvSpPr>
            <a:spLocks noChangeArrowheads="1"/>
          </p:cNvSpPr>
          <p:nvPr/>
        </p:nvSpPr>
        <p:spPr bwMode="blackWhite">
          <a:xfrm>
            <a:off x="1979712" y="3683477"/>
            <a:ext cx="5715000" cy="681657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lIns="0" tIns="0" rIns="0" bIns="0" anchor="ctr">
            <a:prstTxWarp prst="textNoShape">
              <a:avLst/>
            </a:prstTxWarp>
            <a:noAutofit/>
          </a:bodyPr>
          <a:lstStyle/>
          <a:p>
            <a:endParaRPr lang="ca-ES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2" name="Line 26">
            <a:extLst>
              <a:ext uri="{FF2B5EF4-FFF2-40B4-BE49-F238E27FC236}">
                <a16:creationId xmlns:a16="http://schemas.microsoft.com/office/drawing/2014/main" id="{FCBC2242-594E-F3FF-64E5-0F506115964F}"/>
              </a:ext>
            </a:extLst>
          </p:cNvPr>
          <p:cNvSpPr>
            <a:spLocks noChangeShapeType="1"/>
          </p:cNvSpPr>
          <p:nvPr/>
        </p:nvSpPr>
        <p:spPr bwMode="blackWhite">
          <a:xfrm flipH="1">
            <a:off x="3851920" y="3645055"/>
            <a:ext cx="0" cy="72008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lIns="0" tIns="0" rIns="0" bIns="0" anchor="ctr">
            <a:prstTxWarp prst="textNoShape">
              <a:avLst/>
            </a:prstTxWarp>
            <a:spAutoFit/>
          </a:bodyPr>
          <a:lstStyle/>
          <a:p>
            <a:endParaRPr lang="ca-ES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Line 27">
            <a:extLst>
              <a:ext uri="{FF2B5EF4-FFF2-40B4-BE49-F238E27FC236}">
                <a16:creationId xmlns:a16="http://schemas.microsoft.com/office/drawing/2014/main" id="{D95AF70A-4F36-C9F4-D44E-E2AC63D18C2D}"/>
              </a:ext>
            </a:extLst>
          </p:cNvPr>
          <p:cNvSpPr>
            <a:spLocks noChangeShapeType="1"/>
          </p:cNvSpPr>
          <p:nvPr/>
        </p:nvSpPr>
        <p:spPr bwMode="blackWhite">
          <a:xfrm>
            <a:off x="5796136" y="3717062"/>
            <a:ext cx="0" cy="648072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lIns="0" tIns="0" rIns="0" bIns="0" anchor="ctr">
            <a:prstTxWarp prst="textNoShape">
              <a:avLst/>
            </a:prstTxWarp>
            <a:spAutoFit/>
          </a:bodyPr>
          <a:lstStyle/>
          <a:p>
            <a:endParaRPr lang="ca-ES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 Box 16">
            <a:extLst>
              <a:ext uri="{FF2B5EF4-FFF2-40B4-BE49-F238E27FC236}">
                <a16:creationId xmlns:a16="http://schemas.microsoft.com/office/drawing/2014/main" id="{9CECCAF0-3C6D-78E7-64E2-6A4BCC782E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02339" y="3284984"/>
            <a:ext cx="1249061" cy="400110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  <a:spAutoFit/>
          </a:bodyPr>
          <a:lstStyle/>
          <a:p>
            <a:r>
              <a:rPr lang="es-ES_tradnl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fs1</a:t>
            </a:r>
            <a:r>
              <a:rPr lang="es-ES_tradnl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itchFamily="-112" charset="2"/>
              </a:rPr>
              <a:t></a:t>
            </a:r>
            <a:r>
              <a:rPr lang="es-ES_tradnl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fs2</a:t>
            </a:r>
          </a:p>
        </p:txBody>
      </p:sp>
    </p:spTree>
    <p:extLst>
      <p:ext uri="{BB962C8B-B14F-4D97-AF65-F5344CB8AC3E}">
        <p14:creationId xmlns:p14="http://schemas.microsoft.com/office/powerpoint/2010/main" val="9290218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14E80-F01A-CBE2-2FB9-900845807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A3BD12-E39C-EB90-1574-FA806FC43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>
                <a:latin typeface="Arial" panose="020B0604020202020204" pitchFamily="34" charset="0"/>
                <a:cs typeface="Arial" panose="020B0604020202020204" pitchFamily="34" charset="0"/>
              </a:rPr>
              <a:t>Contenido</a:t>
            </a:r>
            <a:endParaRPr lang="es-ES_tradn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F74F7B9-1B19-AF68-43FF-BEA22FCA52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>
              <a:buNone/>
            </a:pPr>
            <a:r>
              <a:rPr lang="es-ES_tradnl" sz="2000" dirty="0">
                <a:latin typeface="Arial" panose="020B0604020202020204" pitchFamily="34" charset="0"/>
                <a:cs typeface="Arial" panose="020B0604020202020204" pitchFamily="34" charset="0"/>
              </a:rPr>
              <a:t>1 – Introducción</a:t>
            </a:r>
          </a:p>
          <a:p>
            <a:pPr lvl="1"/>
            <a:r>
              <a:rPr lang="es-ES_tradnl" sz="1800" dirty="0">
                <a:latin typeface="Arial" panose="020B0604020202020204" pitchFamily="34" charset="0"/>
                <a:cs typeface="Arial" panose="020B0604020202020204" pitchFamily="34" charset="0"/>
              </a:rPr>
              <a:t>Medida del rendimiento</a:t>
            </a:r>
          </a:p>
          <a:p>
            <a:pPr marL="82550" indent="0">
              <a:buNone/>
            </a:pPr>
            <a:r>
              <a:rPr lang="es-ES_tradnl" sz="2000" dirty="0">
                <a:latin typeface="Arial" panose="020B0604020202020204" pitchFamily="34" charset="0"/>
                <a:cs typeface="Arial" panose="020B0604020202020204" pitchFamily="34" charset="0"/>
              </a:rPr>
              <a:t>2 – La norma IEEE y su implementación en RISC-V</a:t>
            </a:r>
          </a:p>
          <a:p>
            <a:pPr lvl="1"/>
            <a:r>
              <a:rPr lang="es-ES_tradnl" sz="1800" dirty="0">
                <a:cs typeface="Calibri" panose="020F0502020204030204" pitchFamily="34" charset="0"/>
              </a:rPr>
              <a:t>Formato, valores especiales, redondeo</a:t>
            </a:r>
          </a:p>
          <a:p>
            <a:pPr lvl="1"/>
            <a:r>
              <a:rPr lang="es-ES_tradnl" sz="1800" dirty="0">
                <a:cs typeface="Calibri" panose="020F0502020204030204" pitchFamily="34" charset="0"/>
              </a:rPr>
              <a:t>Visión del programador: banco de registros y movimiento de datos</a:t>
            </a:r>
          </a:p>
          <a:p>
            <a:pPr lvl="1"/>
            <a:r>
              <a:rPr lang="es-ES_tradnl" sz="1800" dirty="0">
                <a:cs typeface="Calibri" panose="020F0502020204030204" pitchFamily="34" charset="0"/>
              </a:rPr>
              <a:t>Juego de instrucciones de coma flotante</a:t>
            </a:r>
          </a:p>
          <a:p>
            <a:pPr marL="82550" indent="0">
              <a:buNone/>
            </a:pPr>
            <a:r>
              <a:rPr lang="es-ES_tradnl" sz="2000" dirty="0">
                <a:latin typeface="Arial" panose="020B0604020202020204" pitchFamily="34" charset="0"/>
                <a:cs typeface="Arial" panose="020B0604020202020204" pitchFamily="34" charset="0"/>
              </a:rPr>
              <a:t>3 – </a:t>
            </a:r>
            <a:r>
              <a:rPr lang="es-ES_tradnl" sz="2000" dirty="0">
                <a:solidFill>
                  <a:srgbClr val="FF0000"/>
                </a:solidFill>
                <a:cs typeface="Calibri" panose="020F0502020204030204" pitchFamily="34" charset="0"/>
              </a:rPr>
              <a:t>Operadores de coma flotante</a:t>
            </a:r>
            <a:endParaRPr lang="es-ES_tradnl" sz="20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800" dirty="0">
                <a:cs typeface="Calibri" panose="020F0502020204030204" pitchFamily="34" charset="0"/>
              </a:rPr>
              <a:t>Operador de cambio de signo</a:t>
            </a:r>
          </a:p>
          <a:p>
            <a:pPr lvl="1"/>
            <a:r>
              <a:rPr lang="es-ES_tradnl" sz="1800" dirty="0">
                <a:cs typeface="Calibri" panose="020F0502020204030204" pitchFamily="34" charset="0"/>
              </a:rPr>
              <a:t>Operadores de conversión de tipo</a:t>
            </a:r>
          </a:p>
          <a:p>
            <a:pPr lvl="1"/>
            <a:r>
              <a:rPr lang="es-ES_tradnl" sz="1800" dirty="0">
                <a:cs typeface="Calibri" panose="020F0502020204030204" pitchFamily="34" charset="0"/>
              </a:rPr>
              <a:t>Operador de multiplicación</a:t>
            </a:r>
            <a:endParaRPr lang="es-ES_tradnl" sz="16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1FC8672-8EFB-F115-5C6B-E5D76B180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mtClean="0"/>
              <a:pPr>
                <a:defRPr/>
              </a:pPr>
              <a:t>26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37551781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VxC1">
  <a:themeElements>
    <a:clrScheme name="Solsticio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Solsticio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Solsticio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51000" t="-20000" r="2000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>
    <a:spDef>
      <a:spPr bwMode="auto">
        <a:noFill/>
        <a:ln w="19050">
          <a:prstDash val="sysDash"/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ln w="12700"/>
      </a:spPr>
      <a:bodyPr/>
      <a:lstStyle/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lnDef>
    <a:txDef>
      <a:spPr>
        <a:noFill/>
      </a:spPr>
      <a:bodyPr wrap="none" rtlCol="0">
        <a:spAutoFit/>
      </a:bodyPr>
      <a:lstStyle>
        <a:defPPr>
          <a:defRPr sz="1400" dirty="0">
            <a:solidFill>
              <a:schemeClr val="accent1">
                <a:lumMod val="75000"/>
              </a:schemeClr>
            </a:solidFill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VxC1</Template>
  <TotalTime>42048</TotalTime>
  <Words>2753</Words>
  <Application>Microsoft Macintosh PowerPoint</Application>
  <PresentationFormat>Presentación en pantalla (4:3)</PresentationFormat>
  <Paragraphs>373</Paragraphs>
  <Slides>26</Slides>
  <Notes>2</Notes>
  <HiddenSlides>0</HiddenSlides>
  <MMClips>0</MMClips>
  <ScaleCrop>false</ScaleCrop>
  <HeadingPairs>
    <vt:vector size="8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26</vt:i4>
      </vt:variant>
      <vt:variant>
        <vt:lpstr>Presentaciones personalizadas</vt:lpstr>
      </vt:variant>
      <vt:variant>
        <vt:i4>2</vt:i4>
      </vt:variant>
    </vt:vector>
  </HeadingPairs>
  <TitlesOfParts>
    <vt:vector size="39" baseType="lpstr">
      <vt:lpstr>Arial</vt:lpstr>
      <vt:lpstr>Arial Narrow</vt:lpstr>
      <vt:lpstr>Calibri</vt:lpstr>
      <vt:lpstr>Courier New</vt:lpstr>
      <vt:lpstr>Geneva</vt:lpstr>
      <vt:lpstr>Gill Sans MT</vt:lpstr>
      <vt:lpstr>Symbol</vt:lpstr>
      <vt:lpstr>Times New Roman</vt:lpstr>
      <vt:lpstr>Wingdings</vt:lpstr>
      <vt:lpstr>Wingdings 2</vt:lpstr>
      <vt:lpstr>VxC1</vt:lpstr>
      <vt:lpstr>Tema 4:  Aritmética de coma flotante</vt:lpstr>
      <vt:lpstr>Contenido</vt:lpstr>
      <vt:lpstr>Bibliografía</vt:lpstr>
      <vt:lpstr>Introducción</vt:lpstr>
      <vt:lpstr>Introducción</vt:lpstr>
      <vt:lpstr>Introducción</vt:lpstr>
      <vt:lpstr>Contenido</vt:lpstr>
      <vt:lpstr>Notas sobre la representación de números</vt:lpstr>
      <vt:lpstr>Notas sobre la representación de números</vt:lpstr>
      <vt:lpstr>Notas sobre la representación de números</vt:lpstr>
      <vt:lpstr>Notas sobre la representación de números</vt:lpstr>
      <vt:lpstr>La norma IEEE 754</vt:lpstr>
      <vt:lpstr>La norma IEEE 754</vt:lpstr>
      <vt:lpstr>La norma IEEE 754</vt:lpstr>
      <vt:lpstr>La norma IEEE 754</vt:lpstr>
      <vt:lpstr>La norma IEEE 754</vt:lpstr>
      <vt:lpstr>La norma IEEE 754</vt:lpstr>
      <vt:lpstr>La coma flotante en RISC-V</vt:lpstr>
      <vt:lpstr>La coma flotante en RISC-V</vt:lpstr>
      <vt:lpstr>La coma flotante en RISC-V</vt:lpstr>
      <vt:lpstr>La coma flotante en RISC-V</vt:lpstr>
      <vt:lpstr>La coma flotante en RISC-V</vt:lpstr>
      <vt:lpstr>La coma flotante en RISC-V</vt:lpstr>
      <vt:lpstr>La coma flotante en RISC-V</vt:lpstr>
      <vt:lpstr>La coma flotante en RISC-V</vt:lpstr>
      <vt:lpstr>Contenido</vt:lpstr>
      <vt:lpstr>Formato instrucciones</vt:lpstr>
      <vt:lpstr>Fases de ejecución</vt:lpstr>
    </vt:vector>
  </TitlesOfParts>
  <Company>DISCA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 9: Sincronización de la E/S</dc:title>
  <dc:subject>Estructura de Computadores</dc:subject>
  <dc:creator>José Miguel Valiente</dc:creator>
  <cp:lastModifiedBy>ENRIQUE SALVADOR QUINTANA ORTI</cp:lastModifiedBy>
  <cp:revision>1142</cp:revision>
  <cp:lastPrinted>2013-09-09T11:28:19Z</cp:lastPrinted>
  <dcterms:created xsi:type="dcterms:W3CDTF">2012-09-17T10:12:03Z</dcterms:created>
  <dcterms:modified xsi:type="dcterms:W3CDTF">2026-08-09T13:48:54Z</dcterms:modified>
</cp:coreProperties>
</file>