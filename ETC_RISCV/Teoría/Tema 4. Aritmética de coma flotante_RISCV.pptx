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43"/>
  </p:notesMasterIdLst>
  <p:handoutMasterIdLst>
    <p:handoutMasterId r:id="rId44"/>
  </p:handoutMasterIdLst>
  <p:sldIdLst>
    <p:sldId id="257" r:id="rId2"/>
    <p:sldId id="512" r:id="rId3"/>
    <p:sldId id="511" r:id="rId4"/>
    <p:sldId id="513" r:id="rId5"/>
    <p:sldId id="514" r:id="rId6"/>
    <p:sldId id="515" r:id="rId7"/>
    <p:sldId id="517" r:id="rId8"/>
    <p:sldId id="518" r:id="rId9"/>
    <p:sldId id="519" r:id="rId10"/>
    <p:sldId id="520" r:id="rId11"/>
    <p:sldId id="521" r:id="rId12"/>
    <p:sldId id="522" r:id="rId13"/>
    <p:sldId id="523" r:id="rId14"/>
    <p:sldId id="524" r:id="rId15"/>
    <p:sldId id="525" r:id="rId16"/>
    <p:sldId id="526" r:id="rId17"/>
    <p:sldId id="527" r:id="rId18"/>
    <p:sldId id="528" r:id="rId19"/>
    <p:sldId id="529" r:id="rId20"/>
    <p:sldId id="530" r:id="rId21"/>
    <p:sldId id="531" r:id="rId22"/>
    <p:sldId id="532" r:id="rId23"/>
    <p:sldId id="533" r:id="rId24"/>
    <p:sldId id="534" r:id="rId25"/>
    <p:sldId id="535" r:id="rId26"/>
    <p:sldId id="536" r:id="rId27"/>
    <p:sldId id="537" r:id="rId28"/>
    <p:sldId id="538" r:id="rId29"/>
    <p:sldId id="539" r:id="rId30"/>
    <p:sldId id="540" r:id="rId31"/>
    <p:sldId id="541" r:id="rId32"/>
    <p:sldId id="542" r:id="rId33"/>
    <p:sldId id="543" r:id="rId34"/>
    <p:sldId id="544" r:id="rId35"/>
    <p:sldId id="545" r:id="rId36"/>
    <p:sldId id="546" r:id="rId37"/>
    <p:sldId id="547" r:id="rId38"/>
    <p:sldId id="548" r:id="rId39"/>
    <p:sldId id="550" r:id="rId40"/>
    <p:sldId id="551" r:id="rId41"/>
    <p:sldId id="552" r:id="rId42"/>
  </p:sldIdLst>
  <p:sldSz cx="9144000" cy="6858000" type="screen4x3"/>
  <p:notesSz cx="6797675" cy="9856788"/>
  <p:custShowLst>
    <p:custShow name="Formato instrucciones" id="0">
      <p:sldLst/>
    </p:custShow>
    <p:custShow name="Fases de ejecución" id="1">
      <p:sldLst/>
    </p:custShow>
  </p:custShowLst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66BE4E-65B9-DF29-7B8D-702E5B1DF39A}" name="enrique s. quintana-orti" initials="eq" userId="a136630071d05d78" providerId="Windows Live"/>
  <p188:author id="{864617F1-3C12-A8C1-5CC9-30EF056B68D2}" name="ENRIQUE SALVADOR QUINTANA ORTI" initials="EQ" userId="S::enquior@upv.edu.es::7c37bc33-6bb4-4897-b997-327ef8183a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26697A"/>
    <a:srgbClr val="00CC00"/>
    <a:srgbClr val="CCFFCC"/>
    <a:srgbClr val="FFFFFF"/>
    <a:srgbClr val="CC3300"/>
    <a:srgbClr val="9999FF"/>
    <a:srgbClr val="00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89" autoAdjust="0"/>
    <p:restoredTop sz="91005" autoAdjust="0"/>
  </p:normalViewPr>
  <p:slideViewPr>
    <p:cSldViewPr>
      <p:cViewPr varScale="1">
        <p:scale>
          <a:sx n="115" d="100"/>
          <a:sy n="115" d="100"/>
        </p:scale>
        <p:origin x="3304" y="200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3584" y="-84"/>
      </p:cViewPr>
      <p:guideLst>
        <p:guide orient="horz" pos="310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3842"/>
            <a:ext cx="2968663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295" y="123842"/>
            <a:ext cx="2892660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2537"/>
            <a:ext cx="2968663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295" y="9552537"/>
            <a:ext cx="2892660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AEC8A5-E10B-4D8C-B8C5-EBD3EC80F16F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49418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4" y="1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25" y="739775"/>
            <a:ext cx="4926013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681477"/>
            <a:ext cx="4985772" cy="443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4484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4" y="9364484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B90BAE6-DC3E-4CE4-BA88-EF7C5446036B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888366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CA5636-1F55-41A3-BDB9-3417D041D1D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1</a:t>
            </a:fld>
            <a:endParaRPr lang="es-ES_tradnl" dirty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6367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755576" y="141277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5" name="Oval 8"/>
          <p:cNvSpPr/>
          <p:nvPr/>
        </p:nvSpPr>
        <p:spPr>
          <a:xfrm>
            <a:off x="971550" y="12684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>
            <a:normAutofit/>
          </a:bodyPr>
          <a:lstStyle>
            <a:lvl1pPr marL="73152" indent="0" algn="l" latinLnBrk="0">
              <a:buNone/>
              <a:defRPr lang="es-ES" sz="24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35F0-53CE-465E-8D3A-9DC1B1486A06}" type="datetime1">
              <a:rPr lang="es-ES" smtClean="0"/>
              <a:pPr>
                <a:defRPr/>
              </a:pPr>
              <a:t>9/8/26</a:t>
            </a:fld>
            <a:endParaRPr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94CD1-4EBB-4CC9-A43D-A4D61A4E6E6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 dirty="0"/>
              <a:t>Haga clic para modificar el estilo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49D96-D3F7-464B-AE22-5BC30077CC73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BF12-8ABE-4E61-9E56-D7A65AFDF1B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8" name="Rectangle 11"/>
          <p:cNvSpPr/>
          <p:nvPr/>
        </p:nvSpPr>
        <p:spPr>
          <a:xfrm>
            <a:off x="539750" y="0"/>
            <a:ext cx="86248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7DEBA-46E8-4090-8DBD-6334ED08EC11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B5AE4-A292-4B6C-BA7D-67E7BB52BE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0E74-F7AB-4C11-B164-731583444FAF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083-A155-4028-8A67-2E61E721E30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4627-BD8E-4DC4-8228-A63DC6655C26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12A6-B289-4C6F-A5FC-D4B27A6C4E6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73E27-0EC0-4410-8E63-208E224DAD01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F2BF9-80B0-46AE-B211-BBDCC93C2B4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C3E5-1D71-42B6-A49B-3D9C371461FA}" type="datetime1">
              <a:rPr lang="es-ES" smtClean="0"/>
              <a:pPr>
                <a:defRPr/>
              </a:pPr>
              <a:t>9/8/26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DEDAF-2978-4C4D-95C2-0057A248641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logoDISCA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2565400" y="1844675"/>
            <a:ext cx="4152900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7" name="Oval 7"/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Pie 6"/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9" name="Oval 7"/>
          <p:cNvSpPr/>
          <p:nvPr userDrawn="1"/>
        </p:nvSpPr>
        <p:spPr>
          <a:xfrm>
            <a:off x="7440613" y="1376363"/>
            <a:ext cx="1452562" cy="145097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Donut 10"/>
          <p:cNvSpPr/>
          <p:nvPr userDrawn="1"/>
        </p:nvSpPr>
        <p:spPr>
          <a:xfrm rot="2315675">
            <a:off x="7097228" y="2075521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11 Arco de bloque"/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3" name="12 Arco de bloque"/>
          <p:cNvSpPr/>
          <p:nvPr userDrawn="1"/>
        </p:nvSpPr>
        <p:spPr>
          <a:xfrm rot="5400000">
            <a:off x="6696075" y="4410075"/>
            <a:ext cx="4895850" cy="4895850"/>
          </a:xfrm>
          <a:prstGeom prst="blockArc">
            <a:avLst>
              <a:gd name="adj1" fmla="val 5434997"/>
              <a:gd name="adj2" fmla="val 10779070"/>
              <a:gd name="adj3" fmla="val 78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5616" y="3356992"/>
            <a:ext cx="7412620" cy="167640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s-ES"/>
              <a:t>Clic para editar estilo título patrón</a:t>
            </a:r>
            <a:endParaRPr lang="ca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 userDrawn="1"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 dirty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 dirty="0"/>
              <a:t>Haga clic para modificar los estilos de título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  <a:p>
            <a:pPr lvl="5"/>
            <a:r>
              <a:rPr lang="es-ES" noProof="0" dirty="0"/>
              <a:t>Sexto nivel</a:t>
            </a:r>
          </a:p>
          <a:p>
            <a:pPr lvl="6"/>
            <a:r>
              <a:rPr lang="es-ES" noProof="0" dirty="0"/>
              <a:t>Séptimo nivel</a:t>
            </a:r>
          </a:p>
          <a:p>
            <a:pPr lvl="7"/>
            <a:r>
              <a:rPr lang="es-ES" noProof="0" dirty="0"/>
              <a:t>Octavo nivel</a:t>
            </a:r>
          </a:p>
          <a:p>
            <a:pPr lvl="8"/>
            <a:r>
              <a:rPr lang="es-ES" noProof="0" dirty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D3CC5109-EACF-4D29-A965-72F8EF4B326C}" type="datetime1">
              <a:rPr lang="es-ES" smtClean="0"/>
              <a:pPr>
                <a:defRPr/>
              </a:pPr>
              <a:t>9/8/26</a:t>
            </a:fld>
            <a:endParaRPr lang="es-E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95963" y="6529388"/>
            <a:ext cx="2895600" cy="328612"/>
          </a:xfrm>
          <a:prstGeom prst="rect">
            <a:avLst/>
          </a:prstGeom>
        </p:spPr>
        <p:txBody>
          <a:bodyPr anchor="b"/>
          <a:lstStyle>
            <a:lvl1pPr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F24CC15-B2D5-4EA3-B498-48A14C7038C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539750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5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13 Rectángulo"/>
          <p:cNvSpPr/>
          <p:nvPr userDrawn="1"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s-ES" sz="32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0" fontAlgn="base" hangingPunct="0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00113" y="3068638"/>
            <a:ext cx="7772400" cy="1676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_tradnl" noProof="0" dirty="0">
                <a:solidFill>
                  <a:schemeClr val="tx2">
                    <a:satMod val="130000"/>
                  </a:schemeClr>
                </a:solidFill>
              </a:rPr>
              <a:t>Tema 4:  Aritmética de coma flotante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85F36-A8CB-45D3-98A3-A5C30F7AB61A}"/>
              </a:ext>
            </a:extLst>
          </p:cNvPr>
          <p:cNvSpPr txBox="1"/>
          <p:nvPr/>
        </p:nvSpPr>
        <p:spPr>
          <a:xfrm>
            <a:off x="4479634" y="5301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b="1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A7594-A60C-93C8-8AD6-3F02BD9D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743335-B149-0504-FFE0-6C0785B0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1 – Introducción</a:t>
            </a:r>
          </a:p>
          <a:p>
            <a:pPr lvl="1"/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Medida del rendimiento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2 – La norma IEEE y su implementación en RISC-V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Formato, valores especiales, redondeo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Visión del programador: banco de registros y movimiento de datos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Juego de instrucciones de coma flotante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3 – </a:t>
            </a:r>
            <a:r>
              <a:rPr lang="es-ES_tradnl" sz="2000" dirty="0">
                <a:cs typeface="Calibri" panose="020F0502020204030204" pitchFamily="34" charset="0"/>
              </a:rPr>
              <a:t>Operadores de coma flotante</a:t>
            </a:r>
            <a:endParaRPr lang="es-ES_tradnl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cambio de signo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Operadores de conversión de tipo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multiplicación</a:t>
            </a:r>
            <a:endParaRPr lang="es-ES_tradnl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285B0B-FB34-C3E8-274F-49AB18DA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4440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4FB66-D502-B9F6-0158-372EF5BA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622AA2-7302-1B5A-A537-7AC38D09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s-ES_tradnl" dirty="0"/>
              <a:t>Patterson, D.A., Hennessy, J.L., “</a:t>
            </a:r>
            <a:r>
              <a:rPr lang="es-ES_tradnl" dirty="0" err="1"/>
              <a:t>Computer</a:t>
            </a:r>
            <a:r>
              <a:rPr lang="es-ES_tradnl" dirty="0"/>
              <a:t> </a:t>
            </a:r>
            <a:r>
              <a:rPr lang="es-ES_tradnl" dirty="0" err="1"/>
              <a:t>Organizationand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RISC-V </a:t>
            </a:r>
            <a:r>
              <a:rPr lang="es-ES_tradnl" dirty="0" err="1"/>
              <a:t>Edition</a:t>
            </a:r>
            <a:r>
              <a:rPr lang="es-ES_tradnl" dirty="0"/>
              <a:t>: The Hardware-Software Interface,” 2ª edición, Ed. MK, 2020</a:t>
            </a:r>
          </a:p>
          <a:p>
            <a:pPr lvl="1">
              <a:buNone/>
            </a:pPr>
            <a:r>
              <a:rPr lang="es-ES_tradnl" dirty="0"/>
              <a:t>Stallings, W. “Organización y Arquitectura de Computadores (7a ed.)”, Prentice Hall, capítulo 9</a:t>
            </a:r>
          </a:p>
          <a:p>
            <a:pPr lvl="1">
              <a:buNone/>
            </a:pPr>
            <a:r>
              <a:rPr lang="es-ES_tradnl" dirty="0"/>
              <a:t>Goldberg, D. “</a:t>
            </a:r>
            <a:r>
              <a:rPr lang="es-ES_tradnl" dirty="0" err="1"/>
              <a:t>Computer</a:t>
            </a:r>
            <a:r>
              <a:rPr lang="es-ES_tradnl" dirty="0"/>
              <a:t> </a:t>
            </a:r>
            <a:r>
              <a:rPr lang="es-ES_tradnl" dirty="0" err="1"/>
              <a:t>Arithmetic</a:t>
            </a:r>
            <a:r>
              <a:rPr lang="es-ES_tradnl" dirty="0"/>
              <a:t>” </a:t>
            </a:r>
          </a:p>
          <a:p>
            <a:pPr lvl="2"/>
            <a:r>
              <a:rPr lang="es-ES_tradnl" dirty="0"/>
              <a:t>Apéndice H de J. L. Hennessy, D. L. Patterson: </a:t>
            </a:r>
            <a:r>
              <a:rPr lang="es-ES_tradnl" dirty="0" err="1"/>
              <a:t>Computer</a:t>
            </a:r>
            <a:r>
              <a:rPr lang="es-ES_tradnl" dirty="0"/>
              <a:t> </a:t>
            </a:r>
            <a:r>
              <a:rPr lang="es-ES_tradnl" dirty="0" err="1"/>
              <a:t>Architecture</a:t>
            </a:r>
            <a:r>
              <a:rPr lang="es-ES_tradnl" dirty="0"/>
              <a:t>, a </a:t>
            </a:r>
            <a:r>
              <a:rPr lang="es-ES_tradnl" dirty="0" err="1"/>
              <a:t>Quantitative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, 3ª edición</a:t>
            </a:r>
          </a:p>
          <a:p>
            <a:pPr lvl="2"/>
            <a:r>
              <a:rPr lang="es-ES_tradnl" dirty="0"/>
              <a:t>Disponible en castellano en la 1ª edición en McGraw-Hill</a:t>
            </a:r>
          </a:p>
          <a:p>
            <a:pPr lvl="1"/>
            <a:r>
              <a:rPr lang="es-ES_tradnl" dirty="0"/>
              <a:t>Goldberg, D.  “</a:t>
            </a:r>
            <a:r>
              <a:rPr lang="es-ES_tradnl" dirty="0" err="1"/>
              <a:t>What</a:t>
            </a:r>
            <a:r>
              <a:rPr lang="es-ES_tradnl" dirty="0"/>
              <a:t> </a:t>
            </a:r>
            <a:r>
              <a:rPr lang="es-ES_tradnl" dirty="0" err="1"/>
              <a:t>every</a:t>
            </a:r>
            <a:r>
              <a:rPr lang="es-ES_tradnl" dirty="0"/>
              <a:t> </a:t>
            </a:r>
            <a:r>
              <a:rPr lang="es-ES_tradnl" dirty="0" err="1"/>
              <a:t>computer</a:t>
            </a:r>
            <a:r>
              <a:rPr lang="es-ES_tradnl" dirty="0"/>
              <a:t> </a:t>
            </a:r>
            <a:r>
              <a:rPr lang="es-ES_tradnl" dirty="0" err="1"/>
              <a:t>scientist</a:t>
            </a:r>
            <a:r>
              <a:rPr lang="es-ES_tradnl" dirty="0"/>
              <a:t> </a:t>
            </a:r>
            <a:r>
              <a:rPr lang="es-ES_tradnl" dirty="0" err="1"/>
              <a:t>should</a:t>
            </a:r>
            <a:r>
              <a:rPr lang="es-ES_tradnl" dirty="0"/>
              <a:t> </a:t>
            </a:r>
            <a:r>
              <a:rPr lang="es-ES_tradnl" dirty="0" err="1"/>
              <a:t>know</a:t>
            </a:r>
            <a:r>
              <a:rPr lang="es-ES_tradnl" dirty="0"/>
              <a:t> </a:t>
            </a:r>
            <a:r>
              <a:rPr lang="es-ES_tradnl" dirty="0" err="1"/>
              <a:t>about</a:t>
            </a:r>
            <a:r>
              <a:rPr lang="es-ES_tradnl" dirty="0"/>
              <a:t> </a:t>
            </a:r>
            <a:r>
              <a:rPr lang="es-ES_tradnl" dirty="0" err="1"/>
              <a:t>floating-point</a:t>
            </a:r>
            <a:r>
              <a:rPr lang="es-ES_tradnl" dirty="0"/>
              <a:t> </a:t>
            </a:r>
            <a:r>
              <a:rPr lang="es-ES_tradnl" dirty="0" err="1"/>
              <a:t>arithmetic</a:t>
            </a:r>
            <a:r>
              <a:rPr lang="es-ES_tradnl" dirty="0"/>
              <a:t>”</a:t>
            </a:r>
          </a:p>
          <a:p>
            <a:pPr lvl="2"/>
            <a:r>
              <a:rPr lang="es-ES_tradnl" dirty="0"/>
              <a:t>PDF (accesible en muchos sitios de la web)</a:t>
            </a:r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A4CA83-9C10-6B3C-D601-63A35C6C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65980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3F89B-FB5B-B4EB-31E1-080839C4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730664-A8E5-B2CD-3C16-8601A228C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La aritmética de coma flotante (CF)</a:t>
            </a:r>
          </a:p>
          <a:p>
            <a:pPr lvl="1"/>
            <a:r>
              <a:rPr lang="es-ES_tradnl" dirty="0"/>
              <a:t>Sirve para representar y operar con números reales (</a:t>
            </a:r>
            <a:r>
              <a:rPr lang="es-ES_tradnl" dirty="0" err="1"/>
              <a:t>float</a:t>
            </a:r>
            <a:r>
              <a:rPr lang="es-ES_tradnl" dirty="0"/>
              <a:t> y </a:t>
            </a:r>
            <a:r>
              <a:rPr lang="es-ES_tradnl" dirty="0" err="1"/>
              <a:t>double</a:t>
            </a:r>
            <a:r>
              <a:rPr lang="es-ES_tradnl" dirty="0"/>
              <a:t> en alto nivel)</a:t>
            </a:r>
          </a:p>
          <a:p>
            <a:pPr lvl="1"/>
            <a:r>
              <a:rPr lang="es-ES_tradnl" dirty="0"/>
              <a:t>Puede que no esté directamente soportada por la ALU</a:t>
            </a:r>
          </a:p>
          <a:p>
            <a:pPr lvl="2"/>
            <a:r>
              <a:rPr lang="es-ES_tradnl" dirty="0"/>
              <a:t>No es esencial para el funcionamiento de la CPU</a:t>
            </a:r>
          </a:p>
          <a:p>
            <a:pPr lvl="2"/>
            <a:r>
              <a:rPr lang="es-ES_tradnl" dirty="0"/>
              <a:t>Puede ser emulada mediante instrucciones de enteros</a:t>
            </a:r>
          </a:p>
          <a:p>
            <a:pPr lvl="1"/>
            <a:r>
              <a:rPr lang="es-ES_tradnl" dirty="0"/>
              <a:t>Evolución</a:t>
            </a:r>
          </a:p>
          <a:p>
            <a:pPr lvl="2"/>
            <a:r>
              <a:rPr lang="es-ES_tradnl" dirty="0"/>
              <a:t>Hasta 1985 (aprox.) los operadores de CF iban dentro de un chip opcional que se colocaba al lado de la CPU</a:t>
            </a:r>
          </a:p>
          <a:p>
            <a:pPr lvl="2"/>
            <a:r>
              <a:rPr lang="es-ES_tradnl" dirty="0"/>
              <a:t>Desde 1985 en adelante, las CPU de propósito general incluyen operadores de CF dentro de su ALU</a:t>
            </a:r>
          </a:p>
          <a:p>
            <a:pPr lvl="2"/>
            <a:r>
              <a:rPr lang="es-ES_tradnl" dirty="0"/>
              <a:t>Desde 1990, los adaptadores de vídeo incluyen una GPU (</a:t>
            </a:r>
            <a:r>
              <a:rPr lang="es-ES_tradnl" dirty="0" err="1"/>
              <a:t>Graphics</a:t>
            </a:r>
            <a:r>
              <a:rPr lang="es-ES_tradnl" dirty="0"/>
              <a:t> Processing </a:t>
            </a:r>
            <a:r>
              <a:rPr lang="es-ES_tradnl" dirty="0" err="1"/>
              <a:t>Unit</a:t>
            </a:r>
            <a:r>
              <a:rPr lang="es-ES_tradnl" dirty="0"/>
              <a:t>) con un número creciente de operadores de CF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E36B27-ACF7-5695-F8F1-33185E6A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7844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4D265-CE54-6BD9-4B92-CF5A3BC1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95F2C-D6C1-B937-FAC7-88C914D63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" dirty="0"/>
              <a:t>La medida de prestaciones en coma flotante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El número de operaciones de coma flotante por segundo (FLOPS; prefijos M=10</a:t>
            </a:r>
            <a:r>
              <a:rPr lang="es-ES" baseline="30000" dirty="0"/>
              <a:t>6</a:t>
            </a:r>
            <a:r>
              <a:rPr lang="es-ES" dirty="0"/>
              <a:t>, G=10</a:t>
            </a:r>
            <a:r>
              <a:rPr lang="es-ES" baseline="30000" dirty="0"/>
              <a:t>9</a:t>
            </a:r>
            <a:r>
              <a:rPr lang="es-ES" dirty="0"/>
              <a:t>, T=10</a:t>
            </a:r>
            <a:r>
              <a:rPr lang="es-ES" baseline="30000" dirty="0"/>
              <a:t>12</a:t>
            </a:r>
            <a:r>
              <a:rPr lang="es-ES" dirty="0"/>
              <a:t>,…) es una medida de prestaciones utilizada en dos contextos: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En el diseño de operadores de CF es el </a:t>
            </a:r>
            <a:r>
              <a:rPr lang="es-ES" b="1" dirty="0"/>
              <a:t>número máximo de operaciones por segundo</a:t>
            </a:r>
            <a:r>
              <a:rPr lang="es-ES" dirty="0"/>
              <a:t>.  Viene determinada por el tiempo de operación de cada circuito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En las comparativas entre computadores o aceleradores gráficos: es el </a:t>
            </a:r>
            <a:r>
              <a:rPr lang="es-ES" b="1" dirty="0"/>
              <a:t>número de operaciones de CF que ejecuta el dispositivo por segundo</a:t>
            </a:r>
          </a:p>
          <a:p>
            <a:pPr lvl="2"/>
            <a:r>
              <a:rPr lang="es-ES" dirty="0"/>
              <a:t>Depende del número y características de los operadores incluidos y del uso que se hace de ellos</a:t>
            </a:r>
          </a:p>
          <a:p>
            <a:pPr lvl="2"/>
            <a:r>
              <a:rPr lang="es-ES" b="1" dirty="0"/>
              <a:t>Productividad punta </a:t>
            </a:r>
            <a:r>
              <a:rPr lang="es-ES" dirty="0"/>
              <a:t>de un computador o de un acelerador gráfico: suma de las productividades de los operadores de CF incluidos. Suele ser imposible de alcanzar en el uso corriente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B60366-6290-9208-1CFC-8A19751A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32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1C941-BDF6-CCFA-4272-252DC3C3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873C43-195B-5FDB-499D-B57010B93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 err="1"/>
              <a:t>Productividad</a:t>
            </a:r>
            <a:r>
              <a:rPr lang="ca-ES" dirty="0"/>
              <a:t> punta</a:t>
            </a:r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1B28F9-3E30-0DAB-01F7-05877EC1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10" descr="Intel FH8069004532104 Core i7-1180G7 - 4.6 GHz - 4-Core -BGA-1598 Processor  | Exxact">
            <a:extLst>
              <a:ext uri="{FF2B5EF4-FFF2-40B4-BE49-F238E27FC236}">
                <a16:creationId xmlns:a16="http://schemas.microsoft.com/office/drawing/2014/main" id="{B3716075-EE17-AD1C-0567-F979B81C4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917" y="1700808"/>
            <a:ext cx="1907783" cy="190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E723D44-8FEF-3F4B-DF07-A9C29F5FC414}"/>
              </a:ext>
            </a:extLst>
          </p:cNvPr>
          <p:cNvSpPr txBox="1"/>
          <p:nvPr/>
        </p:nvSpPr>
        <p:spPr>
          <a:xfrm>
            <a:off x="5588298" y="3102114"/>
            <a:ext cx="3049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Intel Xeon </a:t>
            </a:r>
            <a:r>
              <a:rPr lang="es-ES_tradnl" dirty="0" err="1">
                <a:solidFill>
                  <a:schemeClr val="tx1"/>
                </a:solidFill>
              </a:rPr>
              <a:t>Platinum</a:t>
            </a:r>
            <a:r>
              <a:rPr lang="es-ES_tradnl" dirty="0">
                <a:solidFill>
                  <a:schemeClr val="tx1"/>
                </a:solidFill>
              </a:rPr>
              <a:t> 8368</a:t>
            </a:r>
            <a:br>
              <a:rPr lang="es-ES_tradnl" dirty="0">
                <a:solidFill>
                  <a:schemeClr val="tx1"/>
                </a:solidFill>
              </a:rPr>
            </a:br>
            <a:r>
              <a:rPr lang="es-ES_tradnl" dirty="0">
                <a:solidFill>
                  <a:schemeClr val="tx1"/>
                </a:solidFill>
              </a:rPr>
              <a:t>1,09 TFLOPS</a:t>
            </a:r>
            <a:endParaRPr lang="ca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F6FD28-2FA8-F2B6-A0F4-9624FDC34B67}"/>
              </a:ext>
            </a:extLst>
          </p:cNvPr>
          <p:cNvSpPr txBox="1"/>
          <p:nvPr/>
        </p:nvSpPr>
        <p:spPr>
          <a:xfrm>
            <a:off x="1795175" y="3124200"/>
            <a:ext cx="1917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Intel </a:t>
            </a:r>
            <a:r>
              <a:rPr lang="es-ES" dirty="0">
                <a:solidFill>
                  <a:schemeClr val="tx1"/>
                </a:solidFill>
              </a:rPr>
              <a:t>i7-1180G7</a:t>
            </a:r>
            <a:endParaRPr lang="es-ES_tradnl" dirty="0">
              <a:solidFill>
                <a:schemeClr val="tx1"/>
              </a:solidFill>
            </a:endParaRPr>
          </a:p>
          <a:p>
            <a:pPr algn="ctr"/>
            <a:r>
              <a:rPr lang="ca-ES" dirty="0">
                <a:solidFill>
                  <a:schemeClr val="tx1"/>
                </a:solidFill>
              </a:rPr>
              <a:t>83,2 GFLOPS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BEC412A2-0108-9667-DB8A-A25E1A0F645D}"/>
              </a:ext>
            </a:extLst>
          </p:cNvPr>
          <p:cNvSpPr txBox="1"/>
          <p:nvPr/>
        </p:nvSpPr>
        <p:spPr>
          <a:xfrm>
            <a:off x="4765002" y="5890735"/>
            <a:ext cx="41250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Frontier</a:t>
            </a:r>
            <a:r>
              <a:rPr lang="ca-ES" dirty="0">
                <a:solidFill>
                  <a:schemeClr val="tx1"/>
                </a:solidFill>
              </a:rPr>
              <a:t> (EE.UU., </a:t>
            </a:r>
            <a:r>
              <a:rPr lang="ca-ES" dirty="0" err="1">
                <a:solidFill>
                  <a:schemeClr val="tx1"/>
                </a:solidFill>
              </a:rPr>
              <a:t>noviembre</a:t>
            </a:r>
            <a:r>
              <a:rPr lang="ca-ES" dirty="0">
                <a:solidFill>
                  <a:schemeClr val="tx1"/>
                </a:solidFill>
              </a:rPr>
              <a:t> 2023)</a:t>
            </a:r>
          </a:p>
          <a:p>
            <a:pPr algn="ctr"/>
            <a:r>
              <a:rPr lang="ca-ES" dirty="0">
                <a:solidFill>
                  <a:schemeClr val="tx1"/>
                </a:solidFill>
              </a:rPr>
              <a:t>1,1 EFLOPS</a:t>
            </a:r>
          </a:p>
        </p:txBody>
      </p:sp>
      <p:pic>
        <p:nvPicPr>
          <p:cNvPr id="10" name="Picture 6" descr="Forging ahead with Frontier: Ready to crush science | ORNL">
            <a:extLst>
              <a:ext uri="{FF2B5EF4-FFF2-40B4-BE49-F238E27FC236}">
                <a16:creationId xmlns:a16="http://schemas.microsoft.com/office/drawing/2014/main" id="{D7F9B70A-68CF-56D5-9A9A-038FACFA4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598" y="4016975"/>
            <a:ext cx="3203848" cy="190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VIDIA Hopper Architecture In-Depth | NVIDIA Technical Blog">
            <a:extLst>
              <a:ext uri="{FF2B5EF4-FFF2-40B4-BE49-F238E27FC236}">
                <a16:creationId xmlns:a16="http://schemas.microsoft.com/office/drawing/2014/main" id="{94C9F135-50E3-2584-58A1-3776BCC59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16719"/>
            <a:ext cx="2961451" cy="166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Platinum Series Page 12 - ECS">
            <a:extLst>
              <a:ext uri="{FF2B5EF4-FFF2-40B4-BE49-F238E27FC236}">
                <a16:creationId xmlns:a16="http://schemas.microsoft.com/office/drawing/2014/main" id="{A15CD42C-5256-140D-1DCB-0939F799F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789" y="1565213"/>
            <a:ext cx="1610114" cy="161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9C3FEE5-F857-23C7-E43D-5A0B8D0C0FC2}"/>
              </a:ext>
            </a:extLst>
          </p:cNvPr>
          <p:cNvSpPr txBox="1"/>
          <p:nvPr/>
        </p:nvSpPr>
        <p:spPr>
          <a:xfrm>
            <a:off x="899592" y="5961474"/>
            <a:ext cx="3249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dirty="0">
                <a:solidFill>
                  <a:schemeClr val="tx1"/>
                </a:solidFill>
              </a:rPr>
              <a:t>GPU </a:t>
            </a:r>
            <a:r>
              <a:rPr lang="es-ES" dirty="0">
                <a:solidFill>
                  <a:schemeClr val="tx1"/>
                </a:solidFill>
              </a:rPr>
              <a:t>NVIDIA Hooper H100</a:t>
            </a:r>
            <a:endParaRPr lang="es-ES_tradnl" dirty="0">
              <a:solidFill>
                <a:schemeClr val="tx1"/>
              </a:solidFill>
            </a:endParaRPr>
          </a:p>
          <a:p>
            <a:pPr algn="ctr"/>
            <a:r>
              <a:rPr lang="es-ES_tradnl" dirty="0">
                <a:solidFill>
                  <a:schemeClr val="tx1"/>
                </a:solidFill>
              </a:rPr>
              <a:t>34 TFLOPS</a:t>
            </a:r>
            <a:endParaRPr lang="ca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24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DDC4-64BC-37D1-37C6-582DDAD5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A8DC3-C7B8-6B22-26D9-4A7F5010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A66E7E-0391-53B0-2386-CCEF7E89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1 – Introducción</a:t>
            </a:r>
          </a:p>
          <a:p>
            <a:pPr lvl="1"/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Medida del rendimiento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2 – </a:t>
            </a:r>
            <a:r>
              <a:rPr lang="es-ES_tradnl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norma IEEE y su implementación en RISC-V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Formato, valores especiales, redondeo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Visión del programador: banco de registros y movimiento de datos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Juego de instrucciones de coma flotante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3 – </a:t>
            </a:r>
            <a:r>
              <a:rPr lang="es-ES_tradnl" sz="2000" dirty="0">
                <a:cs typeface="Calibri" panose="020F0502020204030204" pitchFamily="34" charset="0"/>
              </a:rPr>
              <a:t>Operadores de coma flotante</a:t>
            </a:r>
            <a:endParaRPr lang="es-ES_tradnl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cambio de signo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Operadores de conversión de tipo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multiplicación</a:t>
            </a:r>
            <a:endParaRPr lang="es-ES_tradnl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BFE06C-90F2-84D2-8AD9-8314ED6E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7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0750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B8F55-C79E-FC61-4FE7-58893361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Notas sobre la representación de números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7F4A6B-8193-0265-6750-7749EDE9E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" dirty="0"/>
              <a:t>Representación del conjunto R (reales positivos y negativos)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El conjunto  R es un conjunto denso: entre dos números reales cualesquiera hay infinitos números reales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La representación del computador es limitada y no siempre es exacta</a:t>
            </a:r>
          </a:p>
          <a:p>
            <a:pPr lvl="2">
              <a:lnSpc>
                <a:spcPct val="100000"/>
              </a:lnSpc>
            </a:pPr>
            <a:r>
              <a:rPr lang="es-ES" dirty="0"/>
              <a:t>Con 32 bits se pueden obtener 2</a:t>
            </a:r>
            <a:r>
              <a:rPr lang="es-ES" baseline="30000" dirty="0"/>
              <a:t>32</a:t>
            </a:r>
            <a:r>
              <a:rPr lang="es-ES" dirty="0"/>
              <a:t> palabras diferentes. Por tanto, como máximo se pueden representar 2</a:t>
            </a:r>
            <a:r>
              <a:rPr lang="es-ES" baseline="30000" dirty="0"/>
              <a:t>32</a:t>
            </a:r>
            <a:r>
              <a:rPr lang="es-ES" dirty="0"/>
              <a:t> valores del conjunto R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Hay números reales que tienen representación exacta y otros que no, como los números con parte decimal periódica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¿Cómo codificar un número real en una palabra de bits? </a:t>
            </a:r>
          </a:p>
          <a:p>
            <a:pPr lvl="2">
              <a:lnSpc>
                <a:spcPct val="100000"/>
              </a:lnSpc>
            </a:pPr>
            <a:r>
              <a:rPr lang="es-ES" dirty="0"/>
              <a:t>Aplicando un formato arbitrario, como el </a:t>
            </a:r>
            <a:r>
              <a:rPr lang="es-ES" dirty="0">
                <a:solidFill>
                  <a:srgbClr val="FF0000"/>
                </a:solidFill>
              </a:rPr>
              <a:t>IEEE 754</a:t>
            </a:r>
            <a:r>
              <a:rPr lang="es-ES" dirty="0"/>
              <a:t>, estructurado en tres campos de bits para el </a:t>
            </a:r>
            <a:r>
              <a:rPr lang="es-ES" dirty="0">
                <a:solidFill>
                  <a:srgbClr val="FF0000"/>
                </a:solidFill>
              </a:rPr>
              <a:t>signo</a:t>
            </a:r>
            <a:r>
              <a:rPr lang="es-ES" dirty="0"/>
              <a:t>,  el </a:t>
            </a:r>
            <a:r>
              <a:rPr lang="es-ES" dirty="0">
                <a:solidFill>
                  <a:srgbClr val="FF0000"/>
                </a:solidFill>
              </a:rPr>
              <a:t>exponente</a:t>
            </a:r>
            <a:r>
              <a:rPr lang="es-ES" dirty="0"/>
              <a:t> y la parte significativa (</a:t>
            </a:r>
            <a:r>
              <a:rPr lang="es-ES" dirty="0">
                <a:solidFill>
                  <a:srgbClr val="FF0000"/>
                </a:solidFill>
              </a:rPr>
              <a:t>mantisa</a:t>
            </a:r>
            <a:r>
              <a:rPr lang="es-ES" dirty="0"/>
              <a:t>)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El formato impone más restricciones a la representación: habrá algunas palabras de bits con una significación matemática especial, como el valor infinito o el cero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773B94-43F3-D3D1-5D99-8621F9EA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49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D07EE-AFAD-7E48-D9CA-37165D11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Notas sobre la representación de números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36CEE-76CF-0FAB-2907-5A0C205B8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Representación del conjunto R (reales positivos y negativos)</a:t>
            </a:r>
          </a:p>
          <a:p>
            <a:pPr lvl="1"/>
            <a:r>
              <a:rPr lang="es-ES" dirty="0"/>
              <a:t>En el computador interesa aumentar</a:t>
            </a:r>
          </a:p>
          <a:p>
            <a:pPr lvl="2"/>
            <a:r>
              <a:rPr lang="es-ES" dirty="0"/>
              <a:t>La precisión de los números representados (densidad)</a:t>
            </a:r>
          </a:p>
          <a:p>
            <a:pPr lvl="2"/>
            <a:r>
              <a:rPr lang="es-ES" dirty="0"/>
              <a:t>El rango de la representación</a:t>
            </a:r>
          </a:p>
          <a:p>
            <a:pPr lvl="1"/>
            <a:r>
              <a:rPr lang="es-ES" dirty="0"/>
              <a:t>Estos dos aspectos dependen de los campos de la parte significativa (mantisa) y del exponente del formato</a:t>
            </a:r>
          </a:p>
          <a:p>
            <a:pPr lvl="1"/>
            <a:endParaRPr lang="es-ES" dirty="0"/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8EB955-9D97-0431-787B-A89841FE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17FD8684-AA8D-23E0-B9C5-D66C90DD50A2}"/>
              </a:ext>
            </a:extLst>
          </p:cNvPr>
          <p:cNvGrpSpPr/>
          <p:nvPr/>
        </p:nvGrpSpPr>
        <p:grpSpPr>
          <a:xfrm>
            <a:off x="860436" y="3789040"/>
            <a:ext cx="7366692" cy="2457564"/>
            <a:chOff x="860436" y="3789040"/>
            <a:chExt cx="7366692" cy="2457564"/>
          </a:xfrm>
        </p:grpSpPr>
        <p:sp>
          <p:nvSpPr>
            <p:cNvPr id="57" name="21 CuadroTexto">
              <a:extLst>
                <a:ext uri="{FF2B5EF4-FFF2-40B4-BE49-F238E27FC236}">
                  <a16:creationId xmlns:a16="http://schemas.microsoft.com/office/drawing/2014/main" id="{5DD0859C-D350-B503-F953-DB1081347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1989" y="3819575"/>
              <a:ext cx="35583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 dirty="0">
                  <a:solidFill>
                    <a:schemeClr val="tx1"/>
                  </a:solidFill>
                </a:rPr>
                <a:t>0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6 Conector recto">
              <a:extLst>
                <a:ext uri="{FF2B5EF4-FFF2-40B4-BE49-F238E27FC236}">
                  <a16:creationId xmlns:a16="http://schemas.microsoft.com/office/drawing/2014/main" id="{90272D61-80D5-8582-8CE1-6E58D97F31F7}"/>
                </a:ext>
              </a:extLst>
            </p:cNvPr>
            <p:cNvCxnSpPr/>
            <p:nvPr/>
          </p:nvCxnSpPr>
          <p:spPr bwMode="auto">
            <a:xfrm>
              <a:off x="860436" y="5248275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17 CuadroTexto">
              <a:extLst>
                <a:ext uri="{FF2B5EF4-FFF2-40B4-BE49-F238E27FC236}">
                  <a16:creationId xmlns:a16="http://schemas.microsoft.com/office/drawing/2014/main" id="{BFC7CD2B-1CC7-B93B-3219-760B4DA1D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909" y="3789040"/>
              <a:ext cx="71500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>
                  <a:solidFill>
                    <a:schemeClr val="tx1"/>
                  </a:solidFill>
                </a:rPr>
                <a:t>-1/3</a:t>
              </a:r>
              <a:endParaRPr lang="es-ES" sz="2400">
                <a:solidFill>
                  <a:schemeClr val="tx1"/>
                </a:solidFill>
              </a:endParaRPr>
            </a:p>
          </p:txBody>
        </p:sp>
        <p:sp>
          <p:nvSpPr>
            <p:cNvPr id="36" name="20 CuadroTexto">
              <a:extLst>
                <a:ext uri="{FF2B5EF4-FFF2-40B4-BE49-F238E27FC236}">
                  <a16:creationId xmlns:a16="http://schemas.microsoft.com/office/drawing/2014/main" id="{5AE3F255-2AD3-2822-043F-61F712F2B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9130" y="3789040"/>
              <a:ext cx="71500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>
                  <a:solidFill>
                    <a:schemeClr val="tx1"/>
                  </a:solidFill>
                </a:rPr>
                <a:t>-1.4</a:t>
              </a:r>
              <a:endParaRPr lang="es-ES" sz="2400">
                <a:solidFill>
                  <a:schemeClr val="tx1"/>
                </a:solidFill>
              </a:endParaRPr>
            </a:p>
          </p:txBody>
        </p:sp>
        <p:sp>
          <p:nvSpPr>
            <p:cNvPr id="38" name="22 CuadroTexto">
              <a:extLst>
                <a:ext uri="{FF2B5EF4-FFF2-40B4-BE49-F238E27FC236}">
                  <a16:creationId xmlns:a16="http://schemas.microsoft.com/office/drawing/2014/main" id="{D3CC7663-A445-6A79-2735-66FC47336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6511" y="3806502"/>
              <a:ext cx="7922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 dirty="0">
                  <a:solidFill>
                    <a:schemeClr val="tx1"/>
                  </a:solidFill>
                </a:rPr>
                <a:t>+1.0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23 CuadroTexto">
              <a:extLst>
                <a:ext uri="{FF2B5EF4-FFF2-40B4-BE49-F238E27FC236}">
                  <a16:creationId xmlns:a16="http://schemas.microsoft.com/office/drawing/2014/main" id="{19F315F1-21F3-FF90-C13C-2141C989D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1904" y="3789040"/>
              <a:ext cx="10490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 dirty="0">
                  <a:solidFill>
                    <a:schemeClr val="tx1"/>
                  </a:solidFill>
                </a:rPr>
                <a:t>+10</a:t>
              </a:r>
              <a:r>
                <a:rPr lang="es-ES_tradnl" sz="2400" baseline="30000" dirty="0">
                  <a:solidFill>
                    <a:schemeClr val="tx1"/>
                  </a:solidFill>
                </a:rPr>
                <a:t>200</a:t>
              </a:r>
              <a:endParaRPr lang="es-ES" sz="2400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40" name="41 CuadroTexto">
              <a:extLst>
                <a:ext uri="{FF2B5EF4-FFF2-40B4-BE49-F238E27FC236}">
                  <a16:creationId xmlns:a16="http://schemas.microsoft.com/office/drawing/2014/main" id="{BC664C8C-ED02-C0DC-22F6-D4AB05E1A336}"/>
                </a:ext>
              </a:extLst>
            </p:cNvPr>
            <p:cNvSpPr txBox="1"/>
            <p:nvPr/>
          </p:nvSpPr>
          <p:spPr>
            <a:xfrm>
              <a:off x="3058982" y="5437189"/>
              <a:ext cx="1053494" cy="400110"/>
            </a:xfrm>
            <a:prstGeom prst="rect">
              <a:avLst/>
            </a:prstGeom>
            <a:noFill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-0.3333</a:t>
              </a:r>
              <a:endPara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44 CuadroTexto">
              <a:extLst>
                <a:ext uri="{FF2B5EF4-FFF2-40B4-BE49-F238E27FC236}">
                  <a16:creationId xmlns:a16="http://schemas.microsoft.com/office/drawing/2014/main" id="{59EF0FE5-A5AB-7425-5B1C-45044F745C8C}"/>
                </a:ext>
              </a:extLst>
            </p:cNvPr>
            <p:cNvSpPr txBox="1"/>
            <p:nvPr/>
          </p:nvSpPr>
          <p:spPr>
            <a:xfrm>
              <a:off x="2061368" y="5437189"/>
              <a:ext cx="625492" cy="400110"/>
            </a:xfrm>
            <a:prstGeom prst="rect">
              <a:avLst/>
            </a:prstGeom>
            <a:noFill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-1.4</a:t>
              </a:r>
              <a:endPara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45 CuadroTexto">
              <a:extLst>
                <a:ext uri="{FF2B5EF4-FFF2-40B4-BE49-F238E27FC236}">
                  <a16:creationId xmlns:a16="http://schemas.microsoft.com/office/drawing/2014/main" id="{77CB26D3-195C-468E-75E8-01AFC44AE4F1}"/>
                </a:ext>
              </a:extLst>
            </p:cNvPr>
            <p:cNvSpPr txBox="1"/>
            <p:nvPr/>
          </p:nvSpPr>
          <p:spPr>
            <a:xfrm>
              <a:off x="4491053" y="5437189"/>
              <a:ext cx="327334" cy="400110"/>
            </a:xfrm>
            <a:prstGeom prst="rect">
              <a:avLst/>
            </a:prstGeom>
            <a:noFill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s-E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46 CuadroTexto">
              <a:extLst>
                <a:ext uri="{FF2B5EF4-FFF2-40B4-BE49-F238E27FC236}">
                  <a16:creationId xmlns:a16="http://schemas.microsoft.com/office/drawing/2014/main" id="{980C4E5F-399C-8735-1338-1BFDF2BCB137}"/>
                </a:ext>
              </a:extLst>
            </p:cNvPr>
            <p:cNvSpPr txBox="1"/>
            <p:nvPr/>
          </p:nvSpPr>
          <p:spPr>
            <a:xfrm>
              <a:off x="5157204" y="5437189"/>
              <a:ext cx="689612" cy="400110"/>
            </a:xfrm>
            <a:prstGeom prst="rect">
              <a:avLst/>
            </a:prstGeom>
            <a:noFill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+1.0</a:t>
              </a:r>
              <a:endPara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48 CuadroTexto">
              <a:extLst>
                <a:ext uri="{FF2B5EF4-FFF2-40B4-BE49-F238E27FC236}">
                  <a16:creationId xmlns:a16="http://schemas.microsoft.com/office/drawing/2014/main" id="{6A194074-00B1-D011-D0C2-C0661B37B252}"/>
                </a:ext>
              </a:extLst>
            </p:cNvPr>
            <p:cNvSpPr txBox="1"/>
            <p:nvPr/>
          </p:nvSpPr>
          <p:spPr>
            <a:xfrm>
              <a:off x="7270028" y="5437188"/>
              <a:ext cx="840877" cy="523220"/>
            </a:xfrm>
            <a:prstGeom prst="rect">
              <a:avLst/>
            </a:prstGeom>
            <a:noFill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es-ES_tradnl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∞</a:t>
              </a:r>
              <a:endPara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50 Rectángulo">
              <a:extLst>
                <a:ext uri="{FF2B5EF4-FFF2-40B4-BE49-F238E27FC236}">
                  <a16:creationId xmlns:a16="http://schemas.microsoft.com/office/drawing/2014/main" id="{74DAF175-847A-1DE9-D5A3-1580D6968035}"/>
                </a:ext>
              </a:extLst>
            </p:cNvPr>
            <p:cNvSpPr/>
            <p:nvPr/>
          </p:nvSpPr>
          <p:spPr bwMode="auto">
            <a:xfrm>
              <a:off x="2322890" y="5013325"/>
              <a:ext cx="19929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7" name="53 Rectángulo">
              <a:extLst>
                <a:ext uri="{FF2B5EF4-FFF2-40B4-BE49-F238E27FC236}">
                  <a16:creationId xmlns:a16="http://schemas.microsoft.com/office/drawing/2014/main" id="{B3866D62-DF30-D86A-B093-3C7C27696E46}"/>
                </a:ext>
              </a:extLst>
            </p:cNvPr>
            <p:cNvSpPr/>
            <p:nvPr/>
          </p:nvSpPr>
          <p:spPr bwMode="auto">
            <a:xfrm>
              <a:off x="3717936" y="5013325"/>
              <a:ext cx="19929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8" name="54 Rectángulo">
              <a:extLst>
                <a:ext uri="{FF2B5EF4-FFF2-40B4-BE49-F238E27FC236}">
                  <a16:creationId xmlns:a16="http://schemas.microsoft.com/office/drawing/2014/main" id="{886A2B44-F1DB-4A3F-730B-29E46F9DFC36}"/>
                </a:ext>
              </a:extLst>
            </p:cNvPr>
            <p:cNvSpPr/>
            <p:nvPr/>
          </p:nvSpPr>
          <p:spPr bwMode="auto">
            <a:xfrm>
              <a:off x="4575187" y="5032375"/>
              <a:ext cx="19929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9" name="55 Rectángulo">
              <a:extLst>
                <a:ext uri="{FF2B5EF4-FFF2-40B4-BE49-F238E27FC236}">
                  <a16:creationId xmlns:a16="http://schemas.microsoft.com/office/drawing/2014/main" id="{80D80CDC-2A90-8F2A-091A-356435CDA974}"/>
                </a:ext>
              </a:extLst>
            </p:cNvPr>
            <p:cNvSpPr/>
            <p:nvPr/>
          </p:nvSpPr>
          <p:spPr bwMode="auto">
            <a:xfrm>
              <a:off x="5513033" y="5032375"/>
              <a:ext cx="19929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0" name="57 Rectángulo">
              <a:extLst>
                <a:ext uri="{FF2B5EF4-FFF2-40B4-BE49-F238E27FC236}">
                  <a16:creationId xmlns:a16="http://schemas.microsoft.com/office/drawing/2014/main" id="{7AE1C656-4DBC-C108-F8A6-E5C7FE02C837}"/>
                </a:ext>
              </a:extLst>
            </p:cNvPr>
            <p:cNvSpPr/>
            <p:nvPr/>
          </p:nvSpPr>
          <p:spPr bwMode="auto">
            <a:xfrm>
              <a:off x="7440013" y="5013325"/>
              <a:ext cx="20075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59 CuadroTexto">
              <a:extLst>
                <a:ext uri="{FF2B5EF4-FFF2-40B4-BE49-F238E27FC236}">
                  <a16:creationId xmlns:a16="http://schemas.microsoft.com/office/drawing/2014/main" id="{5E68F727-F719-DF40-E5B1-42204548F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61" y="5876925"/>
              <a:ext cx="8643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ca-ES" sz="1800" dirty="0" err="1">
                  <a:solidFill>
                    <a:schemeClr val="tx1"/>
                  </a:solidFill>
                </a:rPr>
                <a:t>exacto</a:t>
              </a:r>
              <a:endParaRPr lang="ca-ES" sz="1800" dirty="0">
                <a:solidFill>
                  <a:schemeClr val="tx1"/>
                </a:solidFill>
              </a:endParaRPr>
            </a:p>
          </p:txBody>
        </p:sp>
        <p:sp>
          <p:nvSpPr>
            <p:cNvPr id="52" name="60 CuadroTexto">
              <a:extLst>
                <a:ext uri="{FF2B5EF4-FFF2-40B4-BE49-F238E27FC236}">
                  <a16:creationId xmlns:a16="http://schemas.microsoft.com/office/drawing/2014/main" id="{20A64BAF-E483-A5FE-FD4F-44CA67244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575" y="5876925"/>
              <a:ext cx="10438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ca-ES" sz="1800" dirty="0" err="1">
                  <a:solidFill>
                    <a:schemeClr val="tx1"/>
                  </a:solidFill>
                </a:rPr>
                <a:t>inexacto</a:t>
              </a:r>
              <a:endParaRPr lang="ca-ES" sz="1800" dirty="0">
                <a:solidFill>
                  <a:schemeClr val="tx1"/>
                </a:solidFill>
              </a:endParaRPr>
            </a:p>
          </p:txBody>
        </p:sp>
        <p:sp>
          <p:nvSpPr>
            <p:cNvPr id="53" name="61 CuadroTexto">
              <a:extLst>
                <a:ext uri="{FF2B5EF4-FFF2-40B4-BE49-F238E27FC236}">
                  <a16:creationId xmlns:a16="http://schemas.microsoft.com/office/drawing/2014/main" id="{FF81F038-79C3-D0DD-F0A2-F6B075E73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7007" y="5876925"/>
              <a:ext cx="8643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ca-ES" sz="1800" dirty="0" err="1">
                  <a:solidFill>
                    <a:schemeClr val="tx1"/>
                  </a:solidFill>
                </a:rPr>
                <a:t>exacto</a:t>
              </a:r>
              <a:endParaRPr lang="ca-ES" sz="1800" dirty="0">
                <a:solidFill>
                  <a:schemeClr val="tx1"/>
                </a:solidFill>
              </a:endParaRPr>
            </a:p>
          </p:txBody>
        </p:sp>
        <p:sp>
          <p:nvSpPr>
            <p:cNvPr id="54" name="62 CuadroTexto">
              <a:extLst>
                <a:ext uri="{FF2B5EF4-FFF2-40B4-BE49-F238E27FC236}">
                  <a16:creationId xmlns:a16="http://schemas.microsoft.com/office/drawing/2014/main" id="{941B3791-0390-0CA5-B1B0-443CADBB0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6478" y="5877272"/>
              <a:ext cx="10438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ca-ES" sz="1800" dirty="0" err="1">
                  <a:solidFill>
                    <a:schemeClr val="tx1"/>
                  </a:solidFill>
                </a:rPr>
                <a:t>inexacto</a:t>
              </a:r>
              <a:endParaRPr lang="ca-ES" sz="1800" dirty="0">
                <a:solidFill>
                  <a:schemeClr val="tx1"/>
                </a:solidFill>
              </a:endParaRPr>
            </a:p>
          </p:txBody>
        </p:sp>
        <p:sp>
          <p:nvSpPr>
            <p:cNvPr id="55" name="63 CuadroTexto">
              <a:extLst>
                <a:ext uri="{FF2B5EF4-FFF2-40B4-BE49-F238E27FC236}">
                  <a16:creationId xmlns:a16="http://schemas.microsoft.com/office/drawing/2014/main" id="{49DEB117-874E-FF67-F37B-717252256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630" y="5876925"/>
              <a:ext cx="8643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ca-ES" sz="1800" dirty="0" err="1">
                  <a:solidFill>
                    <a:schemeClr val="tx1"/>
                  </a:solidFill>
                </a:rPr>
                <a:t>exacto</a:t>
              </a:r>
              <a:endParaRPr lang="ca-ES" sz="1800" dirty="0">
                <a:solidFill>
                  <a:schemeClr val="tx1"/>
                </a:solidFill>
              </a:endParaRPr>
            </a:p>
          </p:txBody>
        </p:sp>
        <p:sp>
          <p:nvSpPr>
            <p:cNvPr id="56" name="15 CuadroTexto">
              <a:extLst>
                <a:ext uri="{FF2B5EF4-FFF2-40B4-BE49-F238E27FC236}">
                  <a16:creationId xmlns:a16="http://schemas.microsoft.com/office/drawing/2014/main" id="{F48C2310-5A40-F5D6-DBEB-8D9E139CD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6198" y="3789040"/>
              <a:ext cx="44397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800" b="1" dirty="0">
                  <a:solidFill>
                    <a:schemeClr val="tx1"/>
                  </a:solidFill>
                </a:rPr>
                <a:t>R</a:t>
              </a:r>
              <a:endParaRPr lang="es-E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106 Conector recto">
              <a:extLst>
                <a:ext uri="{FF2B5EF4-FFF2-40B4-BE49-F238E27FC236}">
                  <a16:creationId xmlns:a16="http://schemas.microsoft.com/office/drawing/2014/main" id="{2AF2379A-A254-B06E-EC9D-4F86ADD19956}"/>
                </a:ext>
              </a:extLst>
            </p:cNvPr>
            <p:cNvCxnSpPr/>
            <p:nvPr/>
          </p:nvCxnSpPr>
          <p:spPr bwMode="auto">
            <a:xfrm>
              <a:off x="1115616" y="4365594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40 Rectángulo redondeado">
              <a:extLst>
                <a:ext uri="{FF2B5EF4-FFF2-40B4-BE49-F238E27FC236}">
                  <a16:creationId xmlns:a16="http://schemas.microsoft.com/office/drawing/2014/main" id="{BCA096D6-B88D-71C3-11E1-7D18CD23E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967" y="4267493"/>
              <a:ext cx="6846277" cy="339725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9849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14450-2692-1FE5-A222-30656800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Notas sobre la representación de números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17F4A-2965-08EE-FAA2-DC439BD22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Patrón de la representación de los números reales</a:t>
            </a:r>
          </a:p>
          <a:p>
            <a:pPr lvl="1"/>
            <a:r>
              <a:rPr lang="es-ES" dirty="0"/>
              <a:t>No hay valores representados muy cerca del cero</a:t>
            </a:r>
          </a:p>
          <a:p>
            <a:pPr lvl="1"/>
            <a:r>
              <a:rPr lang="es-ES_tradnl" dirty="0"/>
              <a:t>Para un mismo valor de exponente los números representados están separados por la misma distancia</a:t>
            </a:r>
          </a:p>
          <a:p>
            <a:pPr lvl="1"/>
            <a:r>
              <a:rPr lang="es-ES_tradnl" dirty="0"/>
              <a:t>Cuanto más grande es el exponente más distancia hay entre dos números representados consecutivos (la densidad de representación disminuye)</a:t>
            </a:r>
            <a:endParaRPr lang="es-ES" dirty="0"/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07ECA0-5D42-AD49-40BE-EF3E853D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0A021A7E-33D8-16EC-DB59-5385796BD6E6}"/>
              </a:ext>
            </a:extLst>
          </p:cNvPr>
          <p:cNvGrpSpPr/>
          <p:nvPr/>
        </p:nvGrpSpPr>
        <p:grpSpPr>
          <a:xfrm>
            <a:off x="1115616" y="3789040"/>
            <a:ext cx="7180660" cy="2664296"/>
            <a:chOff x="1115616" y="3789040"/>
            <a:chExt cx="7180660" cy="2664296"/>
          </a:xfrm>
        </p:grpSpPr>
        <p:cxnSp>
          <p:nvCxnSpPr>
            <p:cNvPr id="8" name="6 Conector recto">
              <a:extLst>
                <a:ext uri="{FF2B5EF4-FFF2-40B4-BE49-F238E27FC236}">
                  <a16:creationId xmlns:a16="http://schemas.microsoft.com/office/drawing/2014/main" id="{6B7849EC-3FBF-5D0B-526D-084D61614724}"/>
                </a:ext>
              </a:extLst>
            </p:cNvPr>
            <p:cNvCxnSpPr/>
            <p:nvPr/>
          </p:nvCxnSpPr>
          <p:spPr bwMode="auto">
            <a:xfrm>
              <a:off x="1184764" y="5103742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27 Rectángulo">
              <a:extLst>
                <a:ext uri="{FF2B5EF4-FFF2-40B4-BE49-F238E27FC236}">
                  <a16:creationId xmlns:a16="http://schemas.microsoft.com/office/drawing/2014/main" id="{BC4AE39A-82D8-1F5F-F9FD-F421A7CEF450}"/>
                </a:ext>
              </a:extLst>
            </p:cNvPr>
            <p:cNvSpPr/>
            <p:nvPr/>
          </p:nvSpPr>
          <p:spPr bwMode="auto">
            <a:xfrm>
              <a:off x="4679707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2" name="31 Rectángulo">
              <a:extLst>
                <a:ext uri="{FF2B5EF4-FFF2-40B4-BE49-F238E27FC236}">
                  <a16:creationId xmlns:a16="http://schemas.microsoft.com/office/drawing/2014/main" id="{559FABEA-E894-FD36-744E-820E83081F8F}"/>
                </a:ext>
              </a:extLst>
            </p:cNvPr>
            <p:cNvSpPr/>
            <p:nvPr/>
          </p:nvSpPr>
          <p:spPr bwMode="auto">
            <a:xfrm>
              <a:off x="5220434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3" name="33 Rectángulo">
              <a:extLst>
                <a:ext uri="{FF2B5EF4-FFF2-40B4-BE49-F238E27FC236}">
                  <a16:creationId xmlns:a16="http://schemas.microsoft.com/office/drawing/2014/main" id="{BEC560E5-F0DA-759E-D29B-8306C2D44D52}"/>
                </a:ext>
              </a:extLst>
            </p:cNvPr>
            <p:cNvSpPr/>
            <p:nvPr/>
          </p:nvSpPr>
          <p:spPr bwMode="auto">
            <a:xfrm>
              <a:off x="5361111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4" name="34 Rectángulo">
              <a:extLst>
                <a:ext uri="{FF2B5EF4-FFF2-40B4-BE49-F238E27FC236}">
                  <a16:creationId xmlns:a16="http://schemas.microsoft.com/office/drawing/2014/main" id="{13C5C2DD-7A4D-165E-F351-F6AFAED699E5}"/>
                </a:ext>
              </a:extLst>
            </p:cNvPr>
            <p:cNvSpPr/>
            <p:nvPr/>
          </p:nvSpPr>
          <p:spPr bwMode="auto">
            <a:xfrm>
              <a:off x="5487133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5" name="35 Rectángulo">
              <a:extLst>
                <a:ext uri="{FF2B5EF4-FFF2-40B4-BE49-F238E27FC236}">
                  <a16:creationId xmlns:a16="http://schemas.microsoft.com/office/drawing/2014/main" id="{5DAF5F31-10B9-A082-4C90-64F9711ECA25}"/>
                </a:ext>
              </a:extLst>
            </p:cNvPr>
            <p:cNvSpPr/>
            <p:nvPr/>
          </p:nvSpPr>
          <p:spPr bwMode="auto">
            <a:xfrm>
              <a:off x="5620484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36 Rectángulo">
              <a:extLst>
                <a:ext uri="{FF2B5EF4-FFF2-40B4-BE49-F238E27FC236}">
                  <a16:creationId xmlns:a16="http://schemas.microsoft.com/office/drawing/2014/main" id="{E4BA06E9-334E-9EE7-D927-28EA8B66065F}"/>
                </a:ext>
              </a:extLst>
            </p:cNvPr>
            <p:cNvSpPr/>
            <p:nvPr/>
          </p:nvSpPr>
          <p:spPr bwMode="auto">
            <a:xfrm>
              <a:off x="5819776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37 Rectángulo">
              <a:extLst>
                <a:ext uri="{FF2B5EF4-FFF2-40B4-BE49-F238E27FC236}">
                  <a16:creationId xmlns:a16="http://schemas.microsoft.com/office/drawing/2014/main" id="{5571AADE-9990-C046-FFE6-1A6B9B2E6FC3}"/>
                </a:ext>
              </a:extLst>
            </p:cNvPr>
            <p:cNvSpPr/>
            <p:nvPr/>
          </p:nvSpPr>
          <p:spPr bwMode="auto">
            <a:xfrm>
              <a:off x="6019069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8" name="38 Rectángulo">
              <a:extLst>
                <a:ext uri="{FF2B5EF4-FFF2-40B4-BE49-F238E27FC236}">
                  <a16:creationId xmlns:a16="http://schemas.microsoft.com/office/drawing/2014/main" id="{ACC09FF6-416A-D61E-70D5-617B1EA6916C}"/>
                </a:ext>
              </a:extLst>
            </p:cNvPr>
            <p:cNvSpPr/>
            <p:nvPr/>
          </p:nvSpPr>
          <p:spPr bwMode="auto">
            <a:xfrm>
              <a:off x="6218361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9" name="39 Rectángulo">
              <a:extLst>
                <a:ext uri="{FF2B5EF4-FFF2-40B4-BE49-F238E27FC236}">
                  <a16:creationId xmlns:a16="http://schemas.microsoft.com/office/drawing/2014/main" id="{459B3999-E93C-E147-3AB7-6E8BE95B3391}"/>
                </a:ext>
              </a:extLst>
            </p:cNvPr>
            <p:cNvSpPr/>
            <p:nvPr/>
          </p:nvSpPr>
          <p:spPr bwMode="auto">
            <a:xfrm>
              <a:off x="6417653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0" name="42 Rectángulo">
              <a:extLst>
                <a:ext uri="{FF2B5EF4-FFF2-40B4-BE49-F238E27FC236}">
                  <a16:creationId xmlns:a16="http://schemas.microsoft.com/office/drawing/2014/main" id="{0550FB98-FCA1-402A-0730-90E633AEBE6F}"/>
                </a:ext>
              </a:extLst>
            </p:cNvPr>
            <p:cNvSpPr/>
            <p:nvPr/>
          </p:nvSpPr>
          <p:spPr bwMode="auto">
            <a:xfrm>
              <a:off x="6750295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" name="47 Rectángulo">
              <a:extLst>
                <a:ext uri="{FF2B5EF4-FFF2-40B4-BE49-F238E27FC236}">
                  <a16:creationId xmlns:a16="http://schemas.microsoft.com/office/drawing/2014/main" id="{65E0562B-F1BF-22D7-ADBD-79CAE9A843CF}"/>
                </a:ext>
              </a:extLst>
            </p:cNvPr>
            <p:cNvSpPr/>
            <p:nvPr/>
          </p:nvSpPr>
          <p:spPr bwMode="auto">
            <a:xfrm>
              <a:off x="7081472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2" name="50 Rectángulo">
              <a:extLst>
                <a:ext uri="{FF2B5EF4-FFF2-40B4-BE49-F238E27FC236}">
                  <a16:creationId xmlns:a16="http://schemas.microsoft.com/office/drawing/2014/main" id="{641577E5-7283-B9E3-6D11-47EC6F099279}"/>
                </a:ext>
              </a:extLst>
            </p:cNvPr>
            <p:cNvSpPr/>
            <p:nvPr/>
          </p:nvSpPr>
          <p:spPr bwMode="auto">
            <a:xfrm>
              <a:off x="7414115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3" name="51 Rectángulo">
              <a:extLst>
                <a:ext uri="{FF2B5EF4-FFF2-40B4-BE49-F238E27FC236}">
                  <a16:creationId xmlns:a16="http://schemas.microsoft.com/office/drawing/2014/main" id="{2F3097BB-F451-5D01-BB0D-EB3BD0455F53}"/>
                </a:ext>
              </a:extLst>
            </p:cNvPr>
            <p:cNvSpPr/>
            <p:nvPr/>
          </p:nvSpPr>
          <p:spPr bwMode="auto">
            <a:xfrm>
              <a:off x="7746756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4" name="52 Rectángulo">
              <a:extLst>
                <a:ext uri="{FF2B5EF4-FFF2-40B4-BE49-F238E27FC236}">
                  <a16:creationId xmlns:a16="http://schemas.microsoft.com/office/drawing/2014/main" id="{E0478705-36D5-6298-3CF9-DAFE8CE73D55}"/>
                </a:ext>
              </a:extLst>
            </p:cNvPr>
            <p:cNvSpPr/>
            <p:nvPr/>
          </p:nvSpPr>
          <p:spPr bwMode="auto">
            <a:xfrm>
              <a:off x="4158030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5" name="53 Rectángulo">
              <a:extLst>
                <a:ext uri="{FF2B5EF4-FFF2-40B4-BE49-F238E27FC236}">
                  <a16:creationId xmlns:a16="http://schemas.microsoft.com/office/drawing/2014/main" id="{82995C4D-D1AF-479C-A6E7-EEA626AC5534}"/>
                </a:ext>
              </a:extLst>
            </p:cNvPr>
            <p:cNvSpPr/>
            <p:nvPr/>
          </p:nvSpPr>
          <p:spPr bwMode="auto">
            <a:xfrm>
              <a:off x="3757980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6" name="54 Rectángulo">
              <a:extLst>
                <a:ext uri="{FF2B5EF4-FFF2-40B4-BE49-F238E27FC236}">
                  <a16:creationId xmlns:a16="http://schemas.microsoft.com/office/drawing/2014/main" id="{51965F83-FCB3-D474-901A-B4571FE3487A}"/>
                </a:ext>
              </a:extLst>
            </p:cNvPr>
            <p:cNvSpPr/>
            <p:nvPr/>
          </p:nvSpPr>
          <p:spPr bwMode="auto">
            <a:xfrm>
              <a:off x="3898657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7" name="55 Rectángulo">
              <a:extLst>
                <a:ext uri="{FF2B5EF4-FFF2-40B4-BE49-F238E27FC236}">
                  <a16:creationId xmlns:a16="http://schemas.microsoft.com/office/drawing/2014/main" id="{7DAD3522-7E2B-2A78-E7EB-B94F03E24411}"/>
                </a:ext>
              </a:extLst>
            </p:cNvPr>
            <p:cNvSpPr/>
            <p:nvPr/>
          </p:nvSpPr>
          <p:spPr bwMode="auto">
            <a:xfrm>
              <a:off x="4024679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8" name="56 Rectángulo">
              <a:extLst>
                <a:ext uri="{FF2B5EF4-FFF2-40B4-BE49-F238E27FC236}">
                  <a16:creationId xmlns:a16="http://schemas.microsoft.com/office/drawing/2014/main" id="{6844F54F-2AFD-1584-87E3-09E08D92EC15}"/>
                </a:ext>
              </a:extLst>
            </p:cNvPr>
            <p:cNvSpPr/>
            <p:nvPr/>
          </p:nvSpPr>
          <p:spPr bwMode="auto">
            <a:xfrm>
              <a:off x="3558687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9" name="57 Rectángulo">
              <a:extLst>
                <a:ext uri="{FF2B5EF4-FFF2-40B4-BE49-F238E27FC236}">
                  <a16:creationId xmlns:a16="http://schemas.microsoft.com/office/drawing/2014/main" id="{25621F40-5AA9-C93A-9F05-8903A84F24C8}"/>
                </a:ext>
              </a:extLst>
            </p:cNvPr>
            <p:cNvSpPr/>
            <p:nvPr/>
          </p:nvSpPr>
          <p:spPr bwMode="auto">
            <a:xfrm>
              <a:off x="2960810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0" name="58 Rectángulo">
              <a:extLst>
                <a:ext uri="{FF2B5EF4-FFF2-40B4-BE49-F238E27FC236}">
                  <a16:creationId xmlns:a16="http://schemas.microsoft.com/office/drawing/2014/main" id="{106B3774-71E9-4745-4649-8BBD3A3CB049}"/>
                </a:ext>
              </a:extLst>
            </p:cNvPr>
            <p:cNvSpPr/>
            <p:nvPr/>
          </p:nvSpPr>
          <p:spPr bwMode="auto">
            <a:xfrm>
              <a:off x="3160103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1" name="59 Rectángulo">
              <a:extLst>
                <a:ext uri="{FF2B5EF4-FFF2-40B4-BE49-F238E27FC236}">
                  <a16:creationId xmlns:a16="http://schemas.microsoft.com/office/drawing/2014/main" id="{37245A76-2FA9-F88C-D0F2-5130D0D0199C}"/>
                </a:ext>
              </a:extLst>
            </p:cNvPr>
            <p:cNvSpPr/>
            <p:nvPr/>
          </p:nvSpPr>
          <p:spPr bwMode="auto">
            <a:xfrm>
              <a:off x="3359395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2" name="60 Rectángulo">
              <a:extLst>
                <a:ext uri="{FF2B5EF4-FFF2-40B4-BE49-F238E27FC236}">
                  <a16:creationId xmlns:a16="http://schemas.microsoft.com/office/drawing/2014/main" id="{FC1B9443-9F6B-441F-0475-75FDD1328890}"/>
                </a:ext>
              </a:extLst>
            </p:cNvPr>
            <p:cNvSpPr/>
            <p:nvPr/>
          </p:nvSpPr>
          <p:spPr bwMode="auto">
            <a:xfrm>
              <a:off x="2628169" y="4868792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3" name="61 Rectángulo">
              <a:extLst>
                <a:ext uri="{FF2B5EF4-FFF2-40B4-BE49-F238E27FC236}">
                  <a16:creationId xmlns:a16="http://schemas.microsoft.com/office/drawing/2014/main" id="{405F3293-D1CE-35E1-FE39-10582A0A870A}"/>
                </a:ext>
              </a:extLst>
            </p:cNvPr>
            <p:cNvSpPr/>
            <p:nvPr/>
          </p:nvSpPr>
          <p:spPr bwMode="auto">
            <a:xfrm>
              <a:off x="1631707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4" name="62 Rectángulo">
              <a:extLst>
                <a:ext uri="{FF2B5EF4-FFF2-40B4-BE49-F238E27FC236}">
                  <a16:creationId xmlns:a16="http://schemas.microsoft.com/office/drawing/2014/main" id="{AE559E07-252F-4056-9E50-51C45C5A6BDF}"/>
                </a:ext>
              </a:extLst>
            </p:cNvPr>
            <p:cNvSpPr/>
            <p:nvPr/>
          </p:nvSpPr>
          <p:spPr bwMode="auto">
            <a:xfrm>
              <a:off x="1964349" y="4868792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5" name="63 Rectángulo">
              <a:extLst>
                <a:ext uri="{FF2B5EF4-FFF2-40B4-BE49-F238E27FC236}">
                  <a16:creationId xmlns:a16="http://schemas.microsoft.com/office/drawing/2014/main" id="{B471ABA1-5E3C-F916-FEF6-29AE20D74050}"/>
                </a:ext>
              </a:extLst>
            </p:cNvPr>
            <p:cNvSpPr/>
            <p:nvPr/>
          </p:nvSpPr>
          <p:spPr bwMode="auto">
            <a:xfrm>
              <a:off x="2296992" y="4868792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6" name="65 Abrir llave">
              <a:extLst>
                <a:ext uri="{FF2B5EF4-FFF2-40B4-BE49-F238E27FC236}">
                  <a16:creationId xmlns:a16="http://schemas.microsoft.com/office/drawing/2014/main" id="{898A65CE-E239-C55B-1EFD-2B0DC461B407}"/>
                </a:ext>
              </a:extLst>
            </p:cNvPr>
            <p:cNvSpPr/>
            <p:nvPr/>
          </p:nvSpPr>
          <p:spPr bwMode="auto">
            <a:xfrm rot="16200000">
              <a:off x="5380860" y="5261238"/>
              <a:ext cx="143673" cy="531934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7" name="66 Abrir llave">
              <a:extLst>
                <a:ext uri="{FF2B5EF4-FFF2-40B4-BE49-F238E27FC236}">
                  <a16:creationId xmlns:a16="http://schemas.microsoft.com/office/drawing/2014/main" id="{572F2142-4AE6-BF74-A80E-54BD05F511D5}"/>
                </a:ext>
              </a:extLst>
            </p:cNvPr>
            <p:cNvSpPr/>
            <p:nvPr/>
          </p:nvSpPr>
          <p:spPr bwMode="auto">
            <a:xfrm rot="16200000">
              <a:off x="6079116" y="5169650"/>
              <a:ext cx="143674" cy="71510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8" name="67 Abrir llave">
              <a:extLst>
                <a:ext uri="{FF2B5EF4-FFF2-40B4-BE49-F238E27FC236}">
                  <a16:creationId xmlns:a16="http://schemas.microsoft.com/office/drawing/2014/main" id="{47008D44-C18D-B7FD-63B2-098DDD168B4C}"/>
                </a:ext>
              </a:extLst>
            </p:cNvPr>
            <p:cNvSpPr/>
            <p:nvPr/>
          </p:nvSpPr>
          <p:spPr bwMode="auto">
            <a:xfrm rot="16200000">
              <a:off x="7231397" y="4906856"/>
              <a:ext cx="150026" cy="1247043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9" name="68 Abrir llave">
              <a:extLst>
                <a:ext uri="{FF2B5EF4-FFF2-40B4-BE49-F238E27FC236}">
                  <a16:creationId xmlns:a16="http://schemas.microsoft.com/office/drawing/2014/main" id="{981E65B4-8E0F-F0A1-9D17-F26514BFD6D3}"/>
                </a:ext>
              </a:extLst>
            </p:cNvPr>
            <p:cNvSpPr/>
            <p:nvPr/>
          </p:nvSpPr>
          <p:spPr bwMode="auto">
            <a:xfrm rot="16200000">
              <a:off x="3912668" y="5269909"/>
              <a:ext cx="159547" cy="530469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0" name="69 Abrir llave">
              <a:extLst>
                <a:ext uri="{FF2B5EF4-FFF2-40B4-BE49-F238E27FC236}">
                  <a16:creationId xmlns:a16="http://schemas.microsoft.com/office/drawing/2014/main" id="{A9923D70-ED07-4B57-51C1-55F94EAA553A}"/>
                </a:ext>
              </a:extLst>
            </p:cNvPr>
            <p:cNvSpPr/>
            <p:nvPr/>
          </p:nvSpPr>
          <p:spPr bwMode="auto">
            <a:xfrm rot="16200000">
              <a:off x="3204888" y="5177590"/>
              <a:ext cx="159546" cy="71510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1" name="70 Abrir llave">
              <a:extLst>
                <a:ext uri="{FF2B5EF4-FFF2-40B4-BE49-F238E27FC236}">
                  <a16:creationId xmlns:a16="http://schemas.microsoft.com/office/drawing/2014/main" id="{705A9C87-0E58-5FE7-02CD-6E8DBE4A61B1}"/>
                </a:ext>
              </a:extLst>
            </p:cNvPr>
            <p:cNvSpPr/>
            <p:nvPr/>
          </p:nvSpPr>
          <p:spPr bwMode="auto">
            <a:xfrm rot="16200000">
              <a:off x="2062743" y="4910036"/>
              <a:ext cx="156370" cy="1247042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solidFill>
                  <a:schemeClr val="tx1"/>
                </a:solidFill>
                <a:latin typeface="Arial" charset="0"/>
              </a:endParaRPr>
            </a:p>
          </p:txBody>
        </p:sp>
        <p:cxnSp>
          <p:nvCxnSpPr>
            <p:cNvPr id="42" name="75 Conector recto de flecha">
              <a:extLst>
                <a:ext uri="{FF2B5EF4-FFF2-40B4-BE49-F238E27FC236}">
                  <a16:creationId xmlns:a16="http://schemas.microsoft.com/office/drawing/2014/main" id="{DFB7FEF4-D397-AD08-563D-4B2F32FEAC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267925" y="5773423"/>
              <a:ext cx="142875" cy="356089"/>
            </a:xfrm>
            <a:prstGeom prst="straightConnector1">
              <a:avLst/>
            </a:prstGeom>
            <a:noFill/>
            <a:ln w="12700">
              <a:noFill/>
              <a:round/>
              <a:headEnd/>
              <a:tailEnd type="arrow" w="med" len="med"/>
            </a:ln>
          </p:spPr>
        </p:cxnSp>
        <p:sp>
          <p:nvSpPr>
            <p:cNvPr id="43" name="85 CuadroTexto">
              <a:extLst>
                <a:ext uri="{FF2B5EF4-FFF2-40B4-BE49-F238E27FC236}">
                  <a16:creationId xmlns:a16="http://schemas.microsoft.com/office/drawing/2014/main" id="{4A5609B2-6704-77C1-DD63-93BDC77A8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472" y="5807005"/>
              <a:ext cx="424988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tx1"/>
                  </a:solidFill>
                </a:rPr>
                <a:t>Cada grupo de valores tiene el </a:t>
              </a:r>
            </a:p>
            <a:p>
              <a:pPr algn="ctr"/>
              <a:r>
                <a:rPr lang="es-ES" sz="1800" dirty="0">
                  <a:solidFill>
                    <a:schemeClr val="tx1"/>
                  </a:solidFill>
                </a:rPr>
                <a:t>mismo exponente y diferentes mantisas</a:t>
              </a:r>
            </a:p>
          </p:txBody>
        </p:sp>
        <p:sp>
          <p:nvSpPr>
            <p:cNvPr id="97" name="15 CuadroTexto">
              <a:extLst>
                <a:ext uri="{FF2B5EF4-FFF2-40B4-BE49-F238E27FC236}">
                  <a16:creationId xmlns:a16="http://schemas.microsoft.com/office/drawing/2014/main" id="{1B09EF37-3737-A354-92BE-FBA58664E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6198" y="3789040"/>
              <a:ext cx="44397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800" b="1" dirty="0">
                  <a:solidFill>
                    <a:schemeClr val="tx1"/>
                  </a:solidFill>
                </a:rPr>
                <a:t>R</a:t>
              </a:r>
              <a:endParaRPr lang="es-E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21 CuadroTexto">
              <a:extLst>
                <a:ext uri="{FF2B5EF4-FFF2-40B4-BE49-F238E27FC236}">
                  <a16:creationId xmlns:a16="http://schemas.microsoft.com/office/drawing/2014/main" id="{A8D16443-1722-2206-62BE-B26D19419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1989" y="3819818"/>
              <a:ext cx="35583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 dirty="0">
                  <a:solidFill>
                    <a:schemeClr val="tx1"/>
                  </a:solidFill>
                </a:rPr>
                <a:t>0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99" name="106 Conector recto">
              <a:extLst>
                <a:ext uri="{FF2B5EF4-FFF2-40B4-BE49-F238E27FC236}">
                  <a16:creationId xmlns:a16="http://schemas.microsoft.com/office/drawing/2014/main" id="{6A885269-6A69-7853-1D80-CBBA2207731E}"/>
                </a:ext>
              </a:extLst>
            </p:cNvPr>
            <p:cNvCxnSpPr/>
            <p:nvPr/>
          </p:nvCxnSpPr>
          <p:spPr bwMode="auto">
            <a:xfrm>
              <a:off x="1115616" y="4437355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0" name="40 Rectángulo redondeado">
              <a:extLst>
                <a:ext uri="{FF2B5EF4-FFF2-40B4-BE49-F238E27FC236}">
                  <a16:creationId xmlns:a16="http://schemas.microsoft.com/office/drawing/2014/main" id="{5A80C222-C677-2518-7976-9E910B35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967" y="4267493"/>
              <a:ext cx="6846277" cy="339725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52238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8568A-FB0D-BBC0-0684-57468E51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Notas sobre la representación de números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B2838-86EE-AA57-1D90-F11156146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valores cercanos al cero</a:t>
            </a:r>
          </a:p>
          <a:p>
            <a:pPr lvl="1"/>
            <a:r>
              <a:rPr lang="es-ES" dirty="0"/>
              <a:t>El formato IEEE 754 reserva un subconjunto de palabras de bits para representar números reales cerca del cero, que se interpretan de forma diferente del resto de valores (valores desnormalizados)</a:t>
            </a:r>
          </a:p>
          <a:p>
            <a:pPr lvl="1"/>
            <a:r>
              <a:rPr lang="es-ES_tradnl" dirty="0"/>
              <a:t>No todas las unidades de coma flotante soportan este subconjunto de valores</a:t>
            </a:r>
            <a:endParaRPr lang="es-ES" dirty="0"/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7DF475-D425-4A47-D51B-DDB24F71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072F87F3-8247-FFD8-C596-3F27ADBAB707}"/>
              </a:ext>
            </a:extLst>
          </p:cNvPr>
          <p:cNvGrpSpPr/>
          <p:nvPr/>
        </p:nvGrpSpPr>
        <p:grpSpPr>
          <a:xfrm>
            <a:off x="1115616" y="3789040"/>
            <a:ext cx="7111512" cy="2697183"/>
            <a:chOff x="1115616" y="3789040"/>
            <a:chExt cx="7111512" cy="2697183"/>
          </a:xfrm>
        </p:grpSpPr>
        <p:cxnSp>
          <p:nvCxnSpPr>
            <p:cNvPr id="11" name="6 Conector recto">
              <a:extLst>
                <a:ext uri="{FF2B5EF4-FFF2-40B4-BE49-F238E27FC236}">
                  <a16:creationId xmlns:a16="http://schemas.microsoft.com/office/drawing/2014/main" id="{0F5A9534-A505-7921-810D-71CEB9005C57}"/>
                </a:ext>
              </a:extLst>
            </p:cNvPr>
            <p:cNvCxnSpPr/>
            <p:nvPr/>
          </p:nvCxnSpPr>
          <p:spPr bwMode="auto">
            <a:xfrm>
              <a:off x="1115616" y="5075530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15 CuadroTexto">
              <a:extLst>
                <a:ext uri="{FF2B5EF4-FFF2-40B4-BE49-F238E27FC236}">
                  <a16:creationId xmlns:a16="http://schemas.microsoft.com/office/drawing/2014/main" id="{FBA0328E-1951-6633-626E-9EDC29F3B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6198" y="3789040"/>
              <a:ext cx="44397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800" b="1" dirty="0">
                  <a:solidFill>
                    <a:schemeClr val="tx1"/>
                  </a:solidFill>
                </a:rPr>
                <a:t>R</a:t>
              </a:r>
              <a:endParaRPr lang="es-E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21 CuadroTexto">
              <a:extLst>
                <a:ext uri="{FF2B5EF4-FFF2-40B4-BE49-F238E27FC236}">
                  <a16:creationId xmlns:a16="http://schemas.microsoft.com/office/drawing/2014/main" id="{73765596-76EB-988D-0644-1E96A837E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1989" y="3819818"/>
              <a:ext cx="35583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2400" dirty="0">
                  <a:solidFill>
                    <a:schemeClr val="tx1"/>
                  </a:solidFill>
                </a:rPr>
                <a:t>0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27 Rectángulo">
              <a:extLst>
                <a:ext uri="{FF2B5EF4-FFF2-40B4-BE49-F238E27FC236}">
                  <a16:creationId xmlns:a16="http://schemas.microsoft.com/office/drawing/2014/main" id="{DB51B8DF-0F19-769D-39E8-65E19FA9761A}"/>
                </a:ext>
              </a:extLst>
            </p:cNvPr>
            <p:cNvSpPr/>
            <p:nvPr/>
          </p:nvSpPr>
          <p:spPr bwMode="auto">
            <a:xfrm>
              <a:off x="4610559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15" name="31 Rectángulo">
              <a:extLst>
                <a:ext uri="{FF2B5EF4-FFF2-40B4-BE49-F238E27FC236}">
                  <a16:creationId xmlns:a16="http://schemas.microsoft.com/office/drawing/2014/main" id="{B7AD5C2F-7E8E-7CEE-17DE-F8089F1327FF}"/>
                </a:ext>
              </a:extLst>
            </p:cNvPr>
            <p:cNvSpPr/>
            <p:nvPr/>
          </p:nvSpPr>
          <p:spPr bwMode="auto">
            <a:xfrm>
              <a:off x="5287567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16" name="33 Rectángulo">
              <a:extLst>
                <a:ext uri="{FF2B5EF4-FFF2-40B4-BE49-F238E27FC236}">
                  <a16:creationId xmlns:a16="http://schemas.microsoft.com/office/drawing/2014/main" id="{6AECCC5A-A992-6040-C23E-4B60C0E65D5B}"/>
                </a:ext>
              </a:extLst>
            </p:cNvPr>
            <p:cNvSpPr/>
            <p:nvPr/>
          </p:nvSpPr>
          <p:spPr bwMode="auto">
            <a:xfrm>
              <a:off x="5428244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17" name="34 Rectángulo">
              <a:extLst>
                <a:ext uri="{FF2B5EF4-FFF2-40B4-BE49-F238E27FC236}">
                  <a16:creationId xmlns:a16="http://schemas.microsoft.com/office/drawing/2014/main" id="{81887F66-6A9F-E652-A208-02AA87D8E86C}"/>
                </a:ext>
              </a:extLst>
            </p:cNvPr>
            <p:cNvSpPr/>
            <p:nvPr/>
          </p:nvSpPr>
          <p:spPr bwMode="auto">
            <a:xfrm>
              <a:off x="5552801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18" name="35 Rectángulo">
              <a:extLst>
                <a:ext uri="{FF2B5EF4-FFF2-40B4-BE49-F238E27FC236}">
                  <a16:creationId xmlns:a16="http://schemas.microsoft.com/office/drawing/2014/main" id="{4ED86735-62E3-8918-124C-4AF2CB500B7C}"/>
                </a:ext>
              </a:extLst>
            </p:cNvPr>
            <p:cNvSpPr/>
            <p:nvPr/>
          </p:nvSpPr>
          <p:spPr bwMode="auto">
            <a:xfrm>
              <a:off x="5686152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19" name="36 Rectángulo">
              <a:extLst>
                <a:ext uri="{FF2B5EF4-FFF2-40B4-BE49-F238E27FC236}">
                  <a16:creationId xmlns:a16="http://schemas.microsoft.com/office/drawing/2014/main" id="{022F7D12-DBB6-6B2F-8D4B-7EBD961D6C76}"/>
                </a:ext>
              </a:extLst>
            </p:cNvPr>
            <p:cNvSpPr/>
            <p:nvPr/>
          </p:nvSpPr>
          <p:spPr bwMode="auto">
            <a:xfrm>
              <a:off x="5885444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0" name="37 Rectángulo">
              <a:extLst>
                <a:ext uri="{FF2B5EF4-FFF2-40B4-BE49-F238E27FC236}">
                  <a16:creationId xmlns:a16="http://schemas.microsoft.com/office/drawing/2014/main" id="{D8ED4327-D1BD-68A8-562C-3FCB3ED0EDAD}"/>
                </a:ext>
              </a:extLst>
            </p:cNvPr>
            <p:cNvSpPr/>
            <p:nvPr/>
          </p:nvSpPr>
          <p:spPr bwMode="auto">
            <a:xfrm>
              <a:off x="6084736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1" name="38 Rectángulo">
              <a:extLst>
                <a:ext uri="{FF2B5EF4-FFF2-40B4-BE49-F238E27FC236}">
                  <a16:creationId xmlns:a16="http://schemas.microsoft.com/office/drawing/2014/main" id="{A30B46FB-AB0F-2E93-51F7-9B054963D79B}"/>
                </a:ext>
              </a:extLst>
            </p:cNvPr>
            <p:cNvSpPr/>
            <p:nvPr/>
          </p:nvSpPr>
          <p:spPr bwMode="auto">
            <a:xfrm>
              <a:off x="6284028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2" name="39 Rectángulo">
              <a:extLst>
                <a:ext uri="{FF2B5EF4-FFF2-40B4-BE49-F238E27FC236}">
                  <a16:creationId xmlns:a16="http://schemas.microsoft.com/office/drawing/2014/main" id="{82BADE8E-0C98-92FA-2C96-2D5213849338}"/>
                </a:ext>
              </a:extLst>
            </p:cNvPr>
            <p:cNvSpPr/>
            <p:nvPr/>
          </p:nvSpPr>
          <p:spPr bwMode="auto">
            <a:xfrm>
              <a:off x="6483321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3" name="52 Rectángulo">
              <a:extLst>
                <a:ext uri="{FF2B5EF4-FFF2-40B4-BE49-F238E27FC236}">
                  <a16:creationId xmlns:a16="http://schemas.microsoft.com/office/drawing/2014/main" id="{A84338BC-791F-9E14-ACF6-13A18AF584FD}"/>
                </a:ext>
              </a:extLst>
            </p:cNvPr>
            <p:cNvSpPr/>
            <p:nvPr/>
          </p:nvSpPr>
          <p:spPr bwMode="auto">
            <a:xfrm>
              <a:off x="3923293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4" name="53 Rectángulo">
              <a:extLst>
                <a:ext uri="{FF2B5EF4-FFF2-40B4-BE49-F238E27FC236}">
                  <a16:creationId xmlns:a16="http://schemas.microsoft.com/office/drawing/2014/main" id="{594A391A-C39E-032B-E500-62AA8B2D8DAE}"/>
                </a:ext>
              </a:extLst>
            </p:cNvPr>
            <p:cNvSpPr/>
            <p:nvPr/>
          </p:nvSpPr>
          <p:spPr bwMode="auto">
            <a:xfrm>
              <a:off x="3524708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5" name="54 Rectángulo">
              <a:extLst>
                <a:ext uri="{FF2B5EF4-FFF2-40B4-BE49-F238E27FC236}">
                  <a16:creationId xmlns:a16="http://schemas.microsoft.com/office/drawing/2014/main" id="{041BCBB2-C745-E3B3-18EF-A96D41362F79}"/>
                </a:ext>
              </a:extLst>
            </p:cNvPr>
            <p:cNvSpPr/>
            <p:nvPr/>
          </p:nvSpPr>
          <p:spPr bwMode="auto">
            <a:xfrm>
              <a:off x="3665385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6" name="55 Rectángulo">
              <a:extLst>
                <a:ext uri="{FF2B5EF4-FFF2-40B4-BE49-F238E27FC236}">
                  <a16:creationId xmlns:a16="http://schemas.microsoft.com/office/drawing/2014/main" id="{51F3C891-CAA5-A2E7-BD58-53D55B137F3C}"/>
                </a:ext>
              </a:extLst>
            </p:cNvPr>
            <p:cNvSpPr/>
            <p:nvPr/>
          </p:nvSpPr>
          <p:spPr bwMode="auto">
            <a:xfrm>
              <a:off x="3789944" y="4840580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7" name="56 Rectángulo">
              <a:extLst>
                <a:ext uri="{FF2B5EF4-FFF2-40B4-BE49-F238E27FC236}">
                  <a16:creationId xmlns:a16="http://schemas.microsoft.com/office/drawing/2014/main" id="{28993D67-670A-E4FC-DC9B-7184A882B99D}"/>
                </a:ext>
              </a:extLst>
            </p:cNvPr>
            <p:cNvSpPr/>
            <p:nvPr/>
          </p:nvSpPr>
          <p:spPr bwMode="auto">
            <a:xfrm>
              <a:off x="3325416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8" name="57 Rectángulo">
              <a:extLst>
                <a:ext uri="{FF2B5EF4-FFF2-40B4-BE49-F238E27FC236}">
                  <a16:creationId xmlns:a16="http://schemas.microsoft.com/office/drawing/2014/main" id="{1A824967-4A0D-2D6A-E5F8-5310E96DEB7D}"/>
                </a:ext>
              </a:extLst>
            </p:cNvPr>
            <p:cNvSpPr/>
            <p:nvPr/>
          </p:nvSpPr>
          <p:spPr bwMode="auto">
            <a:xfrm>
              <a:off x="2726075" y="4840580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29" name="58 Rectángulo">
              <a:extLst>
                <a:ext uri="{FF2B5EF4-FFF2-40B4-BE49-F238E27FC236}">
                  <a16:creationId xmlns:a16="http://schemas.microsoft.com/office/drawing/2014/main" id="{879326B3-1340-F6F2-EA75-37B45E2C9D04}"/>
                </a:ext>
              </a:extLst>
            </p:cNvPr>
            <p:cNvSpPr/>
            <p:nvPr/>
          </p:nvSpPr>
          <p:spPr bwMode="auto">
            <a:xfrm>
              <a:off x="2926831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30" name="59 Rectángulo">
              <a:extLst>
                <a:ext uri="{FF2B5EF4-FFF2-40B4-BE49-F238E27FC236}">
                  <a16:creationId xmlns:a16="http://schemas.microsoft.com/office/drawing/2014/main" id="{8BA47591-70B7-BC42-AC3B-C57230B408BF}"/>
                </a:ext>
              </a:extLst>
            </p:cNvPr>
            <p:cNvSpPr/>
            <p:nvPr/>
          </p:nvSpPr>
          <p:spPr bwMode="auto">
            <a:xfrm>
              <a:off x="3126124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31" name="73 CuadroTexto">
              <a:extLst>
                <a:ext uri="{FF2B5EF4-FFF2-40B4-BE49-F238E27FC236}">
                  <a16:creationId xmlns:a16="http://schemas.microsoft.com/office/drawing/2014/main" id="{157F336F-07F8-CA88-B9E5-996E6138B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2316" y="5562893"/>
              <a:ext cx="2693879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tx1"/>
                  </a:solidFill>
                </a:rPr>
                <a:t>Valores especiales para </a:t>
              </a:r>
            </a:p>
            <a:p>
              <a:pPr algn="ctr"/>
              <a:r>
                <a:rPr lang="es-ES" sz="1800" dirty="0">
                  <a:solidFill>
                    <a:schemeClr val="tx1"/>
                  </a:solidFill>
                </a:rPr>
                <a:t>trabajar cerca del cero</a:t>
              </a:r>
            </a:p>
            <a:p>
              <a:pPr algn="ctr"/>
              <a:r>
                <a:rPr lang="es-ES" sz="1800" dirty="0">
                  <a:solidFill>
                    <a:schemeClr val="tx1"/>
                  </a:solidFill>
                </a:rPr>
                <a:t>(mismo exponente)</a:t>
              </a:r>
            </a:p>
          </p:txBody>
        </p:sp>
        <p:sp>
          <p:nvSpPr>
            <p:cNvPr id="32" name="71 Rectángulo">
              <a:extLst>
                <a:ext uri="{FF2B5EF4-FFF2-40B4-BE49-F238E27FC236}">
                  <a16:creationId xmlns:a16="http://schemas.microsoft.com/office/drawing/2014/main" id="{CBE64B37-0E19-AB25-3AE1-CA4363962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970" y="4842167"/>
              <a:ext cx="67408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74 Rectángulo">
              <a:extLst>
                <a:ext uri="{FF2B5EF4-FFF2-40B4-BE49-F238E27FC236}">
                  <a16:creationId xmlns:a16="http://schemas.microsoft.com/office/drawing/2014/main" id="{FFBD375A-8538-A9B7-5017-1286842FE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21" y="4842167"/>
              <a:ext cx="65942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76 Rectángulo">
              <a:extLst>
                <a:ext uri="{FF2B5EF4-FFF2-40B4-BE49-F238E27FC236}">
                  <a16:creationId xmlns:a16="http://schemas.microsoft.com/office/drawing/2014/main" id="{8E83D3CE-AFF4-FA16-8EE3-4582FDC18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555" y="4842167"/>
              <a:ext cx="67408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77 Rectángulo">
              <a:extLst>
                <a:ext uri="{FF2B5EF4-FFF2-40B4-BE49-F238E27FC236}">
                  <a16:creationId xmlns:a16="http://schemas.microsoft.com/office/drawing/2014/main" id="{99B37D65-A034-CA3F-1385-2A2D0B08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670" y="4842167"/>
              <a:ext cx="65943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F006A972-924A-06A4-3065-33061304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701" y="4842167"/>
              <a:ext cx="67408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85 Rectángulo">
              <a:extLst>
                <a:ext uri="{FF2B5EF4-FFF2-40B4-BE49-F238E27FC236}">
                  <a16:creationId xmlns:a16="http://schemas.microsoft.com/office/drawing/2014/main" id="{E4377EB5-533B-E7E0-84D5-C616D85B2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052" y="4842167"/>
              <a:ext cx="65942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86 Rectángulo">
              <a:extLst>
                <a:ext uri="{FF2B5EF4-FFF2-40B4-BE49-F238E27FC236}">
                  <a16:creationId xmlns:a16="http://schemas.microsoft.com/office/drawing/2014/main" id="{863C7FFA-6AF4-2198-2C4E-269FF2B34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286" y="4842167"/>
              <a:ext cx="67408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87 Rectángulo">
              <a:extLst>
                <a:ext uri="{FF2B5EF4-FFF2-40B4-BE49-F238E27FC236}">
                  <a16:creationId xmlns:a16="http://schemas.microsoft.com/office/drawing/2014/main" id="{0EE9B5EC-5AAE-C528-DCE6-5D5887460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401" y="4842167"/>
              <a:ext cx="65943" cy="433388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90 Abrir llave">
              <a:extLst>
                <a:ext uri="{FF2B5EF4-FFF2-40B4-BE49-F238E27FC236}">
                  <a16:creationId xmlns:a16="http://schemas.microsoft.com/office/drawing/2014/main" id="{7C16B614-2C45-F12A-E781-CC2C9041BD75}"/>
                </a:ext>
              </a:extLst>
            </p:cNvPr>
            <p:cNvSpPr/>
            <p:nvPr/>
          </p:nvSpPr>
          <p:spPr bwMode="auto">
            <a:xfrm rot="16200000">
              <a:off x="4842762" y="5153257"/>
              <a:ext cx="287337" cy="531935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1" name="91 Abrir llave">
              <a:extLst>
                <a:ext uri="{FF2B5EF4-FFF2-40B4-BE49-F238E27FC236}">
                  <a16:creationId xmlns:a16="http://schemas.microsoft.com/office/drawing/2014/main" id="{53CFCF03-47CF-0C32-DD8A-491C7316E14E}"/>
                </a:ext>
              </a:extLst>
            </p:cNvPr>
            <p:cNvSpPr/>
            <p:nvPr/>
          </p:nvSpPr>
          <p:spPr bwMode="auto">
            <a:xfrm rot="16200000">
              <a:off x="4162823" y="5153257"/>
              <a:ext cx="287337" cy="531935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54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2" name="96 Rectángulo">
              <a:extLst>
                <a:ext uri="{FF2B5EF4-FFF2-40B4-BE49-F238E27FC236}">
                  <a16:creationId xmlns:a16="http://schemas.microsoft.com/office/drawing/2014/main" id="{E9D2D04C-0958-A67D-F05F-726C9B62AE20}"/>
                </a:ext>
              </a:extLst>
            </p:cNvPr>
            <p:cNvSpPr/>
            <p:nvPr/>
          </p:nvSpPr>
          <p:spPr bwMode="auto">
            <a:xfrm>
              <a:off x="6780793" y="4840580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3" name="97 Rectángulo">
              <a:extLst>
                <a:ext uri="{FF2B5EF4-FFF2-40B4-BE49-F238E27FC236}">
                  <a16:creationId xmlns:a16="http://schemas.microsoft.com/office/drawing/2014/main" id="{88740F71-373B-2345-FA43-88EDC7159D18}"/>
                </a:ext>
              </a:extLst>
            </p:cNvPr>
            <p:cNvSpPr/>
            <p:nvPr/>
          </p:nvSpPr>
          <p:spPr bwMode="auto">
            <a:xfrm>
              <a:off x="7113436" y="4840580"/>
              <a:ext cx="67408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4" name="98 Rectángulo">
              <a:extLst>
                <a:ext uri="{FF2B5EF4-FFF2-40B4-BE49-F238E27FC236}">
                  <a16:creationId xmlns:a16="http://schemas.microsoft.com/office/drawing/2014/main" id="{A0B18624-1EE1-0E74-F834-4B1048732B32}"/>
                </a:ext>
              </a:extLst>
            </p:cNvPr>
            <p:cNvSpPr/>
            <p:nvPr/>
          </p:nvSpPr>
          <p:spPr bwMode="auto">
            <a:xfrm>
              <a:off x="7446078" y="4840580"/>
              <a:ext cx="65943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5" name="99 Rectángulo">
              <a:extLst>
                <a:ext uri="{FF2B5EF4-FFF2-40B4-BE49-F238E27FC236}">
                  <a16:creationId xmlns:a16="http://schemas.microsoft.com/office/drawing/2014/main" id="{E6FFA60E-259D-BF2E-7569-54F016658CA3}"/>
                </a:ext>
              </a:extLst>
            </p:cNvPr>
            <p:cNvSpPr/>
            <p:nvPr/>
          </p:nvSpPr>
          <p:spPr bwMode="auto">
            <a:xfrm>
              <a:off x="7778721" y="4840580"/>
              <a:ext cx="65942" cy="4318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 dirty="0">
                <a:latin typeface="Arial" charset="0"/>
              </a:endParaRPr>
            </a:p>
          </p:txBody>
        </p:sp>
        <p:sp>
          <p:nvSpPr>
            <p:cNvPr id="46" name="101 Rectángulo">
              <a:extLst>
                <a:ext uri="{FF2B5EF4-FFF2-40B4-BE49-F238E27FC236}">
                  <a16:creationId xmlns:a16="http://schemas.microsoft.com/office/drawing/2014/main" id="{D51E24CE-8E19-F8B0-8DAA-5FC94677C6F4}"/>
                </a:ext>
              </a:extLst>
            </p:cNvPr>
            <p:cNvSpPr/>
            <p:nvPr/>
          </p:nvSpPr>
          <p:spPr bwMode="auto">
            <a:xfrm>
              <a:off x="1448259" y="4842167"/>
              <a:ext cx="65942" cy="43338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 dirty="0">
                <a:latin typeface="Arial" charset="0"/>
              </a:endParaRPr>
            </a:p>
          </p:txBody>
        </p:sp>
        <p:sp>
          <p:nvSpPr>
            <p:cNvPr id="47" name="102 Rectángulo">
              <a:extLst>
                <a:ext uri="{FF2B5EF4-FFF2-40B4-BE49-F238E27FC236}">
                  <a16:creationId xmlns:a16="http://schemas.microsoft.com/office/drawing/2014/main" id="{97A09693-3F12-0E1A-1BAA-1C46430DB7AF}"/>
                </a:ext>
              </a:extLst>
            </p:cNvPr>
            <p:cNvSpPr/>
            <p:nvPr/>
          </p:nvSpPr>
          <p:spPr bwMode="auto">
            <a:xfrm>
              <a:off x="1779436" y="4842167"/>
              <a:ext cx="67408" cy="43338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8" name="103 Rectángulo">
              <a:extLst>
                <a:ext uri="{FF2B5EF4-FFF2-40B4-BE49-F238E27FC236}">
                  <a16:creationId xmlns:a16="http://schemas.microsoft.com/office/drawing/2014/main" id="{9D7072D7-A72F-6F86-D007-5F9BA7E74B32}"/>
                </a:ext>
              </a:extLst>
            </p:cNvPr>
            <p:cNvSpPr/>
            <p:nvPr/>
          </p:nvSpPr>
          <p:spPr bwMode="auto">
            <a:xfrm>
              <a:off x="2112078" y="4842167"/>
              <a:ext cx="67408" cy="43338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>
                <a:latin typeface="Arial" charset="0"/>
              </a:endParaRPr>
            </a:p>
          </p:txBody>
        </p:sp>
        <p:sp>
          <p:nvSpPr>
            <p:cNvPr id="49" name="104 Rectángulo">
              <a:extLst>
                <a:ext uri="{FF2B5EF4-FFF2-40B4-BE49-F238E27FC236}">
                  <a16:creationId xmlns:a16="http://schemas.microsoft.com/office/drawing/2014/main" id="{2363AEB7-74CA-D7CA-B59F-A9BE9CB72086}"/>
                </a:ext>
              </a:extLst>
            </p:cNvPr>
            <p:cNvSpPr/>
            <p:nvPr/>
          </p:nvSpPr>
          <p:spPr bwMode="auto">
            <a:xfrm>
              <a:off x="2444721" y="4842167"/>
              <a:ext cx="65942" cy="43338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s-ES" dirty="0">
                <a:latin typeface="Arial" charset="0"/>
              </a:endParaRPr>
            </a:p>
          </p:txBody>
        </p:sp>
        <p:cxnSp>
          <p:nvCxnSpPr>
            <p:cNvPr id="50" name="106 Conector recto">
              <a:extLst>
                <a:ext uri="{FF2B5EF4-FFF2-40B4-BE49-F238E27FC236}">
                  <a16:creationId xmlns:a16="http://schemas.microsoft.com/office/drawing/2014/main" id="{6E7D6B20-F40E-8C76-C966-C6CA9DA68025}"/>
                </a:ext>
              </a:extLst>
            </p:cNvPr>
            <p:cNvCxnSpPr/>
            <p:nvPr/>
          </p:nvCxnSpPr>
          <p:spPr bwMode="auto">
            <a:xfrm>
              <a:off x="1115616" y="4437355"/>
              <a:ext cx="7111512" cy="0"/>
            </a:xfrm>
            <a:prstGeom prst="line">
              <a:avLst/>
            </a:prstGeom>
            <a:noFill/>
            <a:ln w="508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40 Rectángulo redondeado">
              <a:extLst>
                <a:ext uri="{FF2B5EF4-FFF2-40B4-BE49-F238E27FC236}">
                  <a16:creationId xmlns:a16="http://schemas.microsoft.com/office/drawing/2014/main" id="{25016E8B-6A24-06EE-E9CF-E3A0F8496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967" y="4267493"/>
              <a:ext cx="6846277" cy="339725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220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9AA4D-5F77-5D23-4BEE-FB2181B5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FC1F32-595E-C52E-4329-96FE16D8E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Alcance de la norma</a:t>
            </a:r>
          </a:p>
          <a:p>
            <a:pPr lvl="1"/>
            <a:r>
              <a:rPr lang="es-ES" dirty="0"/>
              <a:t>La norma IEEE STD 754-2019 especifica:</a:t>
            </a:r>
          </a:p>
          <a:p>
            <a:pPr lvl="2"/>
            <a:r>
              <a:rPr lang="es-ES" dirty="0"/>
              <a:t>Codificación: cómo representar los números en diversos formatos (precisiones media, simple, doble y extendida: HP, SP, DP, EP) y el tratamiento de casos particulares: NaN (Not a Number), </a:t>
            </a:r>
            <a:r>
              <a:rPr lang="es-ES" dirty="0">
                <a:sym typeface="Symbol" pitchFamily="31" charset="2"/>
              </a:rPr>
              <a:t>±</a:t>
            </a:r>
            <a:r>
              <a:rPr lang="es-ES" sz="2800" dirty="0">
                <a:sym typeface="Symbol" pitchFamily="31" charset="2"/>
              </a:rPr>
              <a:t></a:t>
            </a:r>
            <a:r>
              <a:rPr lang="es-ES" dirty="0">
                <a:sym typeface="Symbol" pitchFamily="31" charset="2"/>
              </a:rPr>
              <a:t> (Infinity), 0 (</a:t>
            </a:r>
            <a:r>
              <a:rPr lang="es-ES" dirty="0" err="1">
                <a:sym typeface="Symbol" pitchFamily="31" charset="2"/>
              </a:rPr>
              <a:t>zero</a:t>
            </a:r>
            <a:r>
              <a:rPr lang="es-ES" dirty="0">
                <a:sym typeface="Symbol" pitchFamily="31" charset="2"/>
              </a:rPr>
              <a:t>)</a:t>
            </a:r>
            <a:endParaRPr lang="es-ES" dirty="0"/>
          </a:p>
          <a:p>
            <a:pPr lvl="2"/>
            <a:r>
              <a:rPr lang="es-ES" dirty="0"/>
              <a:t>Unos modos de funcionamiento (p. e., el método de redondeo aplicable durante los cálculos)</a:t>
            </a:r>
          </a:p>
          <a:p>
            <a:pPr lvl="2"/>
            <a:r>
              <a:rPr lang="es-ES" dirty="0"/>
              <a:t>Un conjunto de operaciones que se pueden implementar en el hardware o en forma de bibliotecas</a:t>
            </a:r>
            <a:endParaRPr lang="es-ES" dirty="0">
              <a:sym typeface="Symbol" pitchFamily="31" charset="2"/>
            </a:endParaRPr>
          </a:p>
          <a:p>
            <a:pPr lvl="2"/>
            <a:r>
              <a:rPr lang="es-ES" dirty="0">
                <a:sym typeface="Symbol" pitchFamily="31" charset="2"/>
              </a:rPr>
              <a:t>El soporte que debe dar el sistema de excepciones de los procesadores (para que se puedan diseñar buenas bibliotecas de cálculo científico)</a:t>
            </a:r>
            <a:endParaRPr lang="es-ES" dirty="0"/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A9BF27-B2A6-4CF9-3055-F6D90836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6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9AB97-1694-B418-7E66-9BA5D16C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5EE900-99D4-69ED-D1F1-480144BF7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Representación</a:t>
            </a:r>
          </a:p>
          <a:p>
            <a:pPr lvl="1"/>
            <a:r>
              <a:rPr lang="es-ES" sz="1800" dirty="0"/>
              <a:t>Símbolos: S es el signo, M la magnitud de la mantisa, E el exponente </a:t>
            </a:r>
          </a:p>
          <a:p>
            <a:pPr lvl="4"/>
            <a:endParaRPr lang="es-ES" sz="1400" dirty="0"/>
          </a:p>
          <a:p>
            <a:pPr lvl="2"/>
            <a:r>
              <a:rPr lang="es-ES" sz="1600" dirty="0"/>
              <a:t>Simple precisión (SP)</a:t>
            </a:r>
          </a:p>
          <a:p>
            <a:pPr lvl="3"/>
            <a:endParaRPr lang="es-ES" sz="1400" dirty="0"/>
          </a:p>
          <a:p>
            <a:pPr lvl="2"/>
            <a:r>
              <a:rPr lang="es-ES" sz="1600" dirty="0"/>
              <a:t>Doble precisión (DP)</a:t>
            </a:r>
          </a:p>
          <a:p>
            <a:pPr lvl="2"/>
            <a:endParaRPr lang="es-ES" sz="1600" dirty="0"/>
          </a:p>
          <a:p>
            <a:pPr lvl="1"/>
            <a:r>
              <a:rPr lang="es-ES" sz="1800" dirty="0"/>
              <a:t>Valores desnormalizados</a:t>
            </a:r>
          </a:p>
          <a:p>
            <a:pPr lvl="1"/>
            <a:r>
              <a:rPr lang="es-ES" sz="1800" dirty="0"/>
              <a:t>Valores especiales (SP y DP)</a:t>
            </a:r>
            <a:endParaRPr lang="es-ES" sz="1400" dirty="0"/>
          </a:p>
          <a:p>
            <a:pPr lvl="1"/>
            <a:endParaRPr lang="es-ES" sz="1400" dirty="0"/>
          </a:p>
          <a:p>
            <a:pPr lvl="1"/>
            <a:endParaRPr lang="es-ES" sz="1400" dirty="0"/>
          </a:p>
          <a:p>
            <a:pPr lvl="1"/>
            <a:endParaRPr lang="es-ES" sz="1400" dirty="0"/>
          </a:p>
          <a:p>
            <a:pPr lvl="1">
              <a:spcBef>
                <a:spcPts val="0"/>
              </a:spcBef>
            </a:pPr>
            <a:r>
              <a:rPr lang="es-ES" sz="1800" dirty="0"/>
              <a:t>Deep </a:t>
            </a:r>
            <a:r>
              <a:rPr lang="es-ES" sz="1800" dirty="0" err="1"/>
              <a:t>learning</a:t>
            </a:r>
            <a:r>
              <a:rPr lang="es-ES" sz="1800" dirty="0"/>
              <a:t>: HP (binary16) con 1 bit de signo, 5 de exponente en exceso a 15 y 0 de mantisa. Variante: bfloat16 (1-6-9); y muchos más…</a:t>
            </a:r>
          </a:p>
          <a:p>
            <a:endParaRPr lang="es-ES_tradn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BA48B1-A2E6-DC90-9C7F-A1529649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pSp>
        <p:nvGrpSpPr>
          <p:cNvPr id="8" name="Group 27">
            <a:extLst>
              <a:ext uri="{FF2B5EF4-FFF2-40B4-BE49-F238E27FC236}">
                <a16:creationId xmlns:a16="http://schemas.microsoft.com/office/drawing/2014/main" id="{8CDD2781-276A-15B1-4C9A-5019D04ECEB6}"/>
              </a:ext>
            </a:extLst>
          </p:cNvPr>
          <p:cNvGrpSpPr>
            <a:grpSpLocks/>
          </p:cNvGrpSpPr>
          <p:nvPr/>
        </p:nvGrpSpPr>
        <p:grpSpPr bwMode="auto">
          <a:xfrm>
            <a:off x="3851278" y="1932661"/>
            <a:ext cx="5070476" cy="712787"/>
            <a:chOff x="2544" y="672"/>
            <a:chExt cx="3194" cy="449"/>
          </a:xfrm>
        </p:grpSpPr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A23B8DFC-843E-55B4-87D6-908C65F08D4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44" y="833"/>
              <a:ext cx="1776" cy="288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10" name="Line 29">
              <a:extLst>
                <a:ext uri="{FF2B5EF4-FFF2-40B4-BE49-F238E27FC236}">
                  <a16:creationId xmlns:a16="http://schemas.microsoft.com/office/drawing/2014/main" id="{5406D829-3AD2-100C-4734-F5114822C5C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36" y="83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1" name="Line 30">
              <a:extLst>
                <a:ext uri="{FF2B5EF4-FFF2-40B4-BE49-F238E27FC236}">
                  <a16:creationId xmlns:a16="http://schemas.microsoft.com/office/drawing/2014/main" id="{EDED24D4-8E74-B59F-B0BC-793E8A235E1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360" y="83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2" name="Text Box 31">
              <a:extLst>
                <a:ext uri="{FF2B5EF4-FFF2-40B4-BE49-F238E27FC236}">
                  <a16:creationId xmlns:a16="http://schemas.microsoft.com/office/drawing/2014/main" id="{89107DF3-FE54-0C34-8C52-1B8547540D00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592" y="88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3" name="Text Box 32">
              <a:extLst>
                <a:ext uri="{FF2B5EF4-FFF2-40B4-BE49-F238E27FC236}">
                  <a16:creationId xmlns:a16="http://schemas.microsoft.com/office/drawing/2014/main" id="{C26A1DA9-FD29-58DC-EC2C-9E71800DFC1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65" y="88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E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4" name="Text Box 33">
              <a:extLst>
                <a:ext uri="{FF2B5EF4-FFF2-40B4-BE49-F238E27FC236}">
                  <a16:creationId xmlns:a16="http://schemas.microsoft.com/office/drawing/2014/main" id="{97B2983D-A1F3-1BFC-AEFD-46EF60CD500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752" y="881"/>
              <a:ext cx="13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M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5" name="Text Box 34">
              <a:extLst>
                <a:ext uri="{FF2B5EF4-FFF2-40B4-BE49-F238E27FC236}">
                  <a16:creationId xmlns:a16="http://schemas.microsoft.com/office/drawing/2014/main" id="{130F9394-A614-21CE-DE04-8E3F30329BB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604" y="672"/>
              <a:ext cx="7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6" name="Text Box 35">
              <a:extLst>
                <a:ext uri="{FF2B5EF4-FFF2-40B4-BE49-F238E27FC236}">
                  <a16:creationId xmlns:a16="http://schemas.microsoft.com/office/drawing/2014/main" id="{69C21E7E-E807-B458-1761-058A38BBF96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83" y="672"/>
              <a:ext cx="7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8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7" name="Text Box 36">
              <a:extLst>
                <a:ext uri="{FF2B5EF4-FFF2-40B4-BE49-F238E27FC236}">
                  <a16:creationId xmlns:a16="http://schemas.microsoft.com/office/drawing/2014/main" id="{AEEB32FF-24F5-AA73-80B9-8D4545B085E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750" y="672"/>
              <a:ext cx="144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23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8" name="Text Box 37">
              <a:extLst>
                <a:ext uri="{FF2B5EF4-FFF2-40B4-BE49-F238E27FC236}">
                  <a16:creationId xmlns:a16="http://schemas.microsoft.com/office/drawing/2014/main" id="{9262D97E-CF35-C7E8-D6D9-DA6C054D162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21" y="864"/>
              <a:ext cx="1317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(</a:t>
              </a:r>
              <a:r>
                <a:rPr lang="ca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1)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S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1.M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2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E</a:t>
              </a:r>
              <a:r>
                <a:rPr lang="ca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127</a:t>
              </a:r>
              <a:endParaRPr lang="ca-ES" b="1" baseline="30000" dirty="0">
                <a:solidFill>
                  <a:srgbClr val="C00000"/>
                </a:solidFill>
                <a:ea typeface="Arial" pitchFamily="31" charset="0"/>
                <a:cs typeface="Arial" pitchFamily="31" charset="0"/>
              </a:endParaRPr>
            </a:p>
          </p:txBody>
        </p:sp>
      </p:grpSp>
      <p:grpSp>
        <p:nvGrpSpPr>
          <p:cNvPr id="19" name="Group 38">
            <a:extLst>
              <a:ext uri="{FF2B5EF4-FFF2-40B4-BE49-F238E27FC236}">
                <a16:creationId xmlns:a16="http://schemas.microsoft.com/office/drawing/2014/main" id="{7265715A-6C97-1B36-DBF3-EA6EF91B9585}"/>
              </a:ext>
            </a:extLst>
          </p:cNvPr>
          <p:cNvGrpSpPr>
            <a:grpSpLocks/>
          </p:cNvGrpSpPr>
          <p:nvPr/>
        </p:nvGrpSpPr>
        <p:grpSpPr bwMode="auto">
          <a:xfrm>
            <a:off x="1246982" y="4758258"/>
            <a:ext cx="3071811" cy="457200"/>
            <a:chOff x="2289" y="2753"/>
            <a:chExt cx="1935" cy="288"/>
          </a:xfrm>
        </p:grpSpPr>
        <p:sp>
          <p:nvSpPr>
            <p:cNvPr id="20" name="Rectangle 39">
              <a:extLst>
                <a:ext uri="{FF2B5EF4-FFF2-40B4-BE49-F238E27FC236}">
                  <a16:creationId xmlns:a16="http://schemas.microsoft.com/office/drawing/2014/main" id="{63224CEC-0C35-0F92-EDD4-DDBB48872EF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44" y="2762"/>
              <a:ext cx="1680" cy="279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06D806F1-8EDA-AB47-D2CC-7F65AB29D8E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36" y="275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2" name="Line 41">
              <a:extLst>
                <a:ext uri="{FF2B5EF4-FFF2-40B4-BE49-F238E27FC236}">
                  <a16:creationId xmlns:a16="http://schemas.microsoft.com/office/drawing/2014/main" id="{38E1B139-B24D-6145-4EF1-D46C9EC7ED0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08" y="275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Text Box 42">
              <a:extLst>
                <a:ext uri="{FF2B5EF4-FFF2-40B4-BE49-F238E27FC236}">
                  <a16:creationId xmlns:a16="http://schemas.microsoft.com/office/drawing/2014/main" id="{AE672354-D7CB-22B9-9E5E-44D98535BD0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592" y="280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4" name="Text Box 43">
              <a:extLst>
                <a:ext uri="{FF2B5EF4-FFF2-40B4-BE49-F238E27FC236}">
                  <a16:creationId xmlns:a16="http://schemas.microsoft.com/office/drawing/2014/main" id="{2E43B3D7-2476-BC8F-B1FE-0D43342C4DA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92" y="2801"/>
              <a:ext cx="584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 dirty="0">
                  <a:solidFill>
                    <a:schemeClr val="tx2"/>
                  </a:solidFill>
                </a:rPr>
                <a:t>000...00</a:t>
              </a:r>
              <a:endParaRPr lang="ca-ES" b="1" dirty="0">
                <a:solidFill>
                  <a:schemeClr val="tx2"/>
                </a:solidFill>
              </a:endParaRPr>
            </a:p>
          </p:txBody>
        </p:sp>
        <p:sp>
          <p:nvSpPr>
            <p:cNvPr id="25" name="Text Box 44">
              <a:extLst>
                <a:ext uri="{FF2B5EF4-FFF2-40B4-BE49-F238E27FC236}">
                  <a16:creationId xmlns:a16="http://schemas.microsoft.com/office/drawing/2014/main" id="{062941E2-22A4-8D8C-A817-4793614D75B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548" y="2801"/>
              <a:ext cx="584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000...00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6" name="Rectangle 45">
              <a:extLst>
                <a:ext uri="{FF2B5EF4-FFF2-40B4-BE49-F238E27FC236}">
                  <a16:creationId xmlns:a16="http://schemas.microsoft.com/office/drawing/2014/main" id="{E80038DE-9129-2AC0-27DD-D453F5B844F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89" y="2783"/>
              <a:ext cx="189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ca-ES" b="1">
                  <a:solidFill>
                    <a:schemeClr val="tx2"/>
                  </a:solidFill>
                  <a:latin typeface="Arial Narrow" pitchFamily="31" charset="0"/>
                  <a:ea typeface="Arial" pitchFamily="31" charset="0"/>
                  <a:cs typeface="Arial" pitchFamily="31" charset="0"/>
                  <a:sym typeface="Symbol" pitchFamily="31" charset="2"/>
                </a:rPr>
                <a:t>±</a:t>
              </a:r>
              <a:r>
                <a:rPr lang="ca-ES" b="1">
                  <a:solidFill>
                    <a:schemeClr val="tx2"/>
                  </a:solidFill>
                  <a:latin typeface="Arial Narrow" pitchFamily="31" charset="0"/>
                  <a:sym typeface="Symbol" pitchFamily="31" charset="2"/>
                </a:rPr>
                <a:t>0</a:t>
              </a:r>
              <a:endParaRPr lang="es-ES_tradnl" b="1" i="1">
                <a:solidFill>
                  <a:schemeClr val="tx2"/>
                </a:solidFill>
                <a:latin typeface="Arial Narrow" pitchFamily="31" charset="0"/>
                <a:sym typeface="Symbol" pitchFamily="31" charset="2"/>
              </a:endParaRPr>
            </a:p>
          </p:txBody>
        </p:sp>
      </p:grpSp>
      <p:grpSp>
        <p:nvGrpSpPr>
          <p:cNvPr id="27" name="Group 46">
            <a:extLst>
              <a:ext uri="{FF2B5EF4-FFF2-40B4-BE49-F238E27FC236}">
                <a16:creationId xmlns:a16="http://schemas.microsoft.com/office/drawing/2014/main" id="{91C59AE2-8A03-F843-770C-F7AF42AB5FB1}"/>
              </a:ext>
            </a:extLst>
          </p:cNvPr>
          <p:cNvGrpSpPr>
            <a:grpSpLocks/>
          </p:cNvGrpSpPr>
          <p:nvPr/>
        </p:nvGrpSpPr>
        <p:grpSpPr bwMode="auto">
          <a:xfrm>
            <a:off x="5358607" y="4758258"/>
            <a:ext cx="3127374" cy="457200"/>
            <a:chOff x="2254" y="3120"/>
            <a:chExt cx="1970" cy="288"/>
          </a:xfrm>
        </p:grpSpPr>
        <p:sp>
          <p:nvSpPr>
            <p:cNvPr id="28" name="Rectangle 47">
              <a:extLst>
                <a:ext uri="{FF2B5EF4-FFF2-40B4-BE49-F238E27FC236}">
                  <a16:creationId xmlns:a16="http://schemas.microsoft.com/office/drawing/2014/main" id="{BF8655FE-8EFF-3156-0911-34E6837A0C9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54" y="3129"/>
              <a:ext cx="259" cy="2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ca-ES" b="1">
                  <a:solidFill>
                    <a:schemeClr val="tx2"/>
                  </a:solidFill>
                  <a:latin typeface="Arial Narrow" pitchFamily="31" charset="0"/>
                  <a:ea typeface="Arial" pitchFamily="31" charset="0"/>
                  <a:cs typeface="Arial" pitchFamily="31" charset="0"/>
                  <a:sym typeface="Symbol" pitchFamily="31" charset="2"/>
                </a:rPr>
                <a:t>±</a:t>
              </a:r>
              <a:r>
                <a:rPr lang="ca-ES" sz="2400">
                  <a:solidFill>
                    <a:schemeClr val="tx2"/>
                  </a:solidFill>
                  <a:latin typeface="Arial Narrow" pitchFamily="31" charset="0"/>
                  <a:sym typeface="Symbol" pitchFamily="31" charset="2"/>
                </a:rPr>
                <a:t></a:t>
              </a:r>
              <a:endParaRPr lang="es-ES_tradnl" sz="2400" b="1" i="1">
                <a:solidFill>
                  <a:schemeClr val="tx2"/>
                </a:solidFill>
                <a:latin typeface="Arial Narrow" pitchFamily="31" charset="0"/>
                <a:sym typeface="Symbol" pitchFamily="31" charset="2"/>
              </a:endParaRPr>
            </a:p>
          </p:txBody>
        </p:sp>
        <p:sp>
          <p:nvSpPr>
            <p:cNvPr id="29" name="Rectangle 48">
              <a:extLst>
                <a:ext uri="{FF2B5EF4-FFF2-40B4-BE49-F238E27FC236}">
                  <a16:creationId xmlns:a16="http://schemas.microsoft.com/office/drawing/2014/main" id="{011F3843-FF23-649B-022A-97BC45A6A1D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44" y="3129"/>
              <a:ext cx="1680" cy="279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30" name="Line 49">
              <a:extLst>
                <a:ext uri="{FF2B5EF4-FFF2-40B4-BE49-F238E27FC236}">
                  <a16:creationId xmlns:a16="http://schemas.microsoft.com/office/drawing/2014/main" id="{C827C139-E289-4F73-6503-1F76051E6B2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36" y="3120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1" name="Line 50">
              <a:extLst>
                <a:ext uri="{FF2B5EF4-FFF2-40B4-BE49-F238E27FC236}">
                  <a16:creationId xmlns:a16="http://schemas.microsoft.com/office/drawing/2014/main" id="{65180D77-7129-06B1-62AC-32222C26567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0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2" name="Text Box 51">
              <a:extLst>
                <a:ext uri="{FF2B5EF4-FFF2-40B4-BE49-F238E27FC236}">
                  <a16:creationId xmlns:a16="http://schemas.microsoft.com/office/drawing/2014/main" id="{12FE99B6-55B1-31D3-030F-7A635C2A47D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592" y="3168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33" name="Text Box 52">
              <a:extLst>
                <a:ext uri="{FF2B5EF4-FFF2-40B4-BE49-F238E27FC236}">
                  <a16:creationId xmlns:a16="http://schemas.microsoft.com/office/drawing/2014/main" id="{E87EA441-6529-4F82-C671-81559C5B6BA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802" y="3168"/>
              <a:ext cx="557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 dirty="0">
                  <a:solidFill>
                    <a:schemeClr val="tx2"/>
                  </a:solidFill>
                </a:rPr>
                <a:t>111...11</a:t>
              </a:r>
              <a:endParaRPr lang="ca-ES" b="1" dirty="0">
                <a:solidFill>
                  <a:schemeClr val="tx2"/>
                </a:solidFill>
              </a:endParaRPr>
            </a:p>
          </p:txBody>
        </p:sp>
        <p:sp>
          <p:nvSpPr>
            <p:cNvPr id="34" name="Text Box 53">
              <a:extLst>
                <a:ext uri="{FF2B5EF4-FFF2-40B4-BE49-F238E27FC236}">
                  <a16:creationId xmlns:a16="http://schemas.microsoft.com/office/drawing/2014/main" id="{CA861D39-5AC5-B641-839B-50D6D23FFAC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548" y="3168"/>
              <a:ext cx="584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000...00</a:t>
              </a:r>
              <a:endParaRPr lang="ca-ES" b="1">
                <a:solidFill>
                  <a:schemeClr val="tx2"/>
                </a:solidFill>
              </a:endParaRPr>
            </a:p>
          </p:txBody>
        </p:sp>
      </p:grpSp>
      <p:grpSp>
        <p:nvGrpSpPr>
          <p:cNvPr id="35" name="Group 54">
            <a:extLst>
              <a:ext uri="{FF2B5EF4-FFF2-40B4-BE49-F238E27FC236}">
                <a16:creationId xmlns:a16="http://schemas.microsoft.com/office/drawing/2014/main" id="{62EE4137-8F04-F4F8-C602-EF8C832D2ED1}"/>
              </a:ext>
            </a:extLst>
          </p:cNvPr>
          <p:cNvGrpSpPr>
            <a:grpSpLocks/>
          </p:cNvGrpSpPr>
          <p:nvPr/>
        </p:nvGrpSpPr>
        <p:grpSpPr bwMode="auto">
          <a:xfrm>
            <a:off x="3301205" y="5444058"/>
            <a:ext cx="3151185" cy="457200"/>
            <a:chOff x="2239" y="3120"/>
            <a:chExt cx="1985" cy="288"/>
          </a:xfrm>
        </p:grpSpPr>
        <p:sp>
          <p:nvSpPr>
            <p:cNvPr id="36" name="Rectangle 55">
              <a:extLst>
                <a:ext uri="{FF2B5EF4-FFF2-40B4-BE49-F238E27FC236}">
                  <a16:creationId xmlns:a16="http://schemas.microsoft.com/office/drawing/2014/main" id="{B22ABD6D-649E-4610-5DCB-29BDEC8098D3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39" y="3148"/>
              <a:ext cx="291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ca-ES" b="1" dirty="0" err="1">
                  <a:solidFill>
                    <a:schemeClr val="tx2"/>
                  </a:solidFill>
                  <a:latin typeface="Arial Narrow" pitchFamily="31" charset="0"/>
                  <a:ea typeface="Arial" pitchFamily="31" charset="0"/>
                  <a:cs typeface="Arial" pitchFamily="31" charset="0"/>
                  <a:sym typeface="Symbol" pitchFamily="31" charset="2"/>
                </a:rPr>
                <a:t>NaN</a:t>
              </a:r>
              <a:endParaRPr lang="es-ES_tradnl" sz="2400" b="1" i="1" dirty="0">
                <a:solidFill>
                  <a:schemeClr val="tx2"/>
                </a:solidFill>
                <a:latin typeface="Arial Narrow" pitchFamily="31" charset="0"/>
                <a:sym typeface="Symbol" pitchFamily="31" charset="2"/>
              </a:endParaRPr>
            </a:p>
          </p:txBody>
        </p:sp>
        <p:sp>
          <p:nvSpPr>
            <p:cNvPr id="37" name="Rectangle 56">
              <a:extLst>
                <a:ext uri="{FF2B5EF4-FFF2-40B4-BE49-F238E27FC236}">
                  <a16:creationId xmlns:a16="http://schemas.microsoft.com/office/drawing/2014/main" id="{246D3B46-B792-7D94-FAE5-F16460415F4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44" y="3120"/>
              <a:ext cx="1680" cy="288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38" name="Line 57">
              <a:extLst>
                <a:ext uri="{FF2B5EF4-FFF2-40B4-BE49-F238E27FC236}">
                  <a16:creationId xmlns:a16="http://schemas.microsoft.com/office/drawing/2014/main" id="{E7BD40B8-E2D1-7043-76CC-FC2C5821F5E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36" y="3120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9" name="Line 58">
              <a:extLst>
                <a:ext uri="{FF2B5EF4-FFF2-40B4-BE49-F238E27FC236}">
                  <a16:creationId xmlns:a16="http://schemas.microsoft.com/office/drawing/2014/main" id="{A11B0A4D-42A6-0B94-D2A9-F07E5BC465E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40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40" name="Text Box 59">
              <a:extLst>
                <a:ext uri="{FF2B5EF4-FFF2-40B4-BE49-F238E27FC236}">
                  <a16:creationId xmlns:a16="http://schemas.microsoft.com/office/drawing/2014/main" id="{70733E64-DCCD-8960-02BA-3FC0DBCFADE0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602" y="3168"/>
              <a:ext cx="89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>
                  <a:solidFill>
                    <a:schemeClr val="tx2"/>
                  </a:solidFill>
                </a:rPr>
                <a:t>x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41" name="Text Box 60">
              <a:extLst>
                <a:ext uri="{FF2B5EF4-FFF2-40B4-BE49-F238E27FC236}">
                  <a16:creationId xmlns:a16="http://schemas.microsoft.com/office/drawing/2014/main" id="{E6AB7627-5F1E-045C-1B2E-69EFA3C40FE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802" y="3168"/>
              <a:ext cx="557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111...11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42" name="Text Box 61">
              <a:extLst>
                <a:ext uri="{FF2B5EF4-FFF2-40B4-BE49-F238E27FC236}">
                  <a16:creationId xmlns:a16="http://schemas.microsoft.com/office/drawing/2014/main" id="{AB6C0CAA-716C-70E5-FA8B-4F148503867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636" y="3168"/>
              <a:ext cx="403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 dirty="0">
                  <a:solidFill>
                    <a:schemeClr val="tx2"/>
                  </a:solidFill>
                </a:rPr>
                <a:t>M ≠ 0</a:t>
              </a:r>
              <a:endParaRPr lang="ca-ES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3" name="Group 62">
            <a:extLst>
              <a:ext uri="{FF2B5EF4-FFF2-40B4-BE49-F238E27FC236}">
                <a16:creationId xmlns:a16="http://schemas.microsoft.com/office/drawing/2014/main" id="{BDAA7BA3-EB91-DA14-B197-27C75B0FCE17}"/>
              </a:ext>
            </a:extLst>
          </p:cNvPr>
          <p:cNvGrpSpPr>
            <a:grpSpLocks/>
          </p:cNvGrpSpPr>
          <p:nvPr/>
        </p:nvGrpSpPr>
        <p:grpSpPr bwMode="auto">
          <a:xfrm>
            <a:off x="3851278" y="2724819"/>
            <a:ext cx="5157788" cy="712788"/>
            <a:chOff x="2544" y="672"/>
            <a:chExt cx="3249" cy="449"/>
          </a:xfrm>
        </p:grpSpPr>
        <p:sp>
          <p:nvSpPr>
            <p:cNvPr id="44" name="Rectangle 63">
              <a:extLst>
                <a:ext uri="{FF2B5EF4-FFF2-40B4-BE49-F238E27FC236}">
                  <a16:creationId xmlns:a16="http://schemas.microsoft.com/office/drawing/2014/main" id="{270B61DB-E0A7-DD17-7399-0FD6D4569A7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44" y="833"/>
              <a:ext cx="1776" cy="288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45" name="Line 64">
              <a:extLst>
                <a:ext uri="{FF2B5EF4-FFF2-40B4-BE49-F238E27FC236}">
                  <a16:creationId xmlns:a16="http://schemas.microsoft.com/office/drawing/2014/main" id="{427F122E-443B-45DF-921D-61BC866A885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36" y="83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46" name="Line 65">
              <a:extLst>
                <a:ext uri="{FF2B5EF4-FFF2-40B4-BE49-F238E27FC236}">
                  <a16:creationId xmlns:a16="http://schemas.microsoft.com/office/drawing/2014/main" id="{2529DA03-EAE7-EDD0-F883-E7136B46157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360" y="83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47" name="Text Box 66">
              <a:extLst>
                <a:ext uri="{FF2B5EF4-FFF2-40B4-BE49-F238E27FC236}">
                  <a16:creationId xmlns:a16="http://schemas.microsoft.com/office/drawing/2014/main" id="{5BAFFD59-265C-4985-4CB9-0228D948F41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592" y="88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48" name="Text Box 67">
              <a:extLst>
                <a:ext uri="{FF2B5EF4-FFF2-40B4-BE49-F238E27FC236}">
                  <a16:creationId xmlns:a16="http://schemas.microsoft.com/office/drawing/2014/main" id="{47D76261-D0C3-2ED6-31BA-B0D4C232A41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65" y="88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E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49" name="Text Box 68">
              <a:extLst>
                <a:ext uri="{FF2B5EF4-FFF2-40B4-BE49-F238E27FC236}">
                  <a16:creationId xmlns:a16="http://schemas.microsoft.com/office/drawing/2014/main" id="{78061AFF-1774-5DBE-F133-F01B847CFDA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752" y="881"/>
              <a:ext cx="13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M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50" name="Text Box 69">
              <a:extLst>
                <a:ext uri="{FF2B5EF4-FFF2-40B4-BE49-F238E27FC236}">
                  <a16:creationId xmlns:a16="http://schemas.microsoft.com/office/drawing/2014/main" id="{FC4F2E74-8BEF-A72D-B965-0E6A963C7E6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604" y="672"/>
              <a:ext cx="7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51" name="Text Box 70">
              <a:extLst>
                <a:ext uri="{FF2B5EF4-FFF2-40B4-BE49-F238E27FC236}">
                  <a16:creationId xmlns:a16="http://schemas.microsoft.com/office/drawing/2014/main" id="{4A0ACB06-0DF9-7169-D9D4-8AEC42AA996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50" y="672"/>
              <a:ext cx="137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11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52" name="Text Box 71">
              <a:extLst>
                <a:ext uri="{FF2B5EF4-FFF2-40B4-BE49-F238E27FC236}">
                  <a16:creationId xmlns:a16="http://schemas.microsoft.com/office/drawing/2014/main" id="{B68D82B9-8521-6FA3-93A6-572F9222EAB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749" y="672"/>
              <a:ext cx="144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s-ES" sz="1600" b="1">
                  <a:solidFill>
                    <a:schemeClr val="tx2"/>
                  </a:solidFill>
                </a:rPr>
                <a:t>52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53" name="Text Box 72">
              <a:extLst>
                <a:ext uri="{FF2B5EF4-FFF2-40B4-BE49-F238E27FC236}">
                  <a16:creationId xmlns:a16="http://schemas.microsoft.com/office/drawing/2014/main" id="{3D0523AA-104B-BD91-149E-878595876BC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16" y="864"/>
              <a:ext cx="1377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(</a:t>
              </a:r>
              <a:r>
                <a:rPr lang="ca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1)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S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1.M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2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E</a:t>
              </a:r>
              <a:r>
                <a:rPr lang="ca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1023</a:t>
              </a:r>
              <a:endParaRPr lang="ca-ES" b="1" baseline="30000" dirty="0">
                <a:solidFill>
                  <a:srgbClr val="C00000"/>
                </a:solidFill>
                <a:ea typeface="Arial" pitchFamily="31" charset="0"/>
                <a:cs typeface="Arial" pitchFamily="31" charset="0"/>
              </a:endParaRPr>
            </a:p>
          </p:txBody>
        </p:sp>
      </p:grpSp>
      <p:grpSp>
        <p:nvGrpSpPr>
          <p:cNvPr id="54" name="Group 73">
            <a:extLst>
              <a:ext uri="{FF2B5EF4-FFF2-40B4-BE49-F238E27FC236}">
                <a16:creationId xmlns:a16="http://schemas.microsoft.com/office/drawing/2014/main" id="{EA38FEDC-7B28-2744-A2C7-F9B982E66517}"/>
              </a:ext>
            </a:extLst>
          </p:cNvPr>
          <p:cNvGrpSpPr>
            <a:grpSpLocks/>
          </p:cNvGrpSpPr>
          <p:nvPr/>
        </p:nvGrpSpPr>
        <p:grpSpPr bwMode="auto">
          <a:xfrm>
            <a:off x="3955656" y="3612237"/>
            <a:ext cx="5043488" cy="765176"/>
            <a:chOff x="2208" y="2160"/>
            <a:chExt cx="3177" cy="482"/>
          </a:xfrm>
        </p:grpSpPr>
        <p:sp>
          <p:nvSpPr>
            <p:cNvPr id="55" name="Rectangle 74">
              <a:extLst>
                <a:ext uri="{FF2B5EF4-FFF2-40B4-BE49-F238E27FC236}">
                  <a16:creationId xmlns:a16="http://schemas.microsoft.com/office/drawing/2014/main" id="{CF2F777C-608F-0CD2-9828-813CBD9E07F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08" y="2273"/>
              <a:ext cx="1776" cy="272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56" name="Line 75">
              <a:extLst>
                <a:ext uri="{FF2B5EF4-FFF2-40B4-BE49-F238E27FC236}">
                  <a16:creationId xmlns:a16="http://schemas.microsoft.com/office/drawing/2014/main" id="{BB8C4EA1-C3AE-9ECD-8B36-85B6D80BF19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400" y="227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57" name="Line 76">
              <a:extLst>
                <a:ext uri="{FF2B5EF4-FFF2-40B4-BE49-F238E27FC236}">
                  <a16:creationId xmlns:a16="http://schemas.microsoft.com/office/drawing/2014/main" id="{D4AC2CAB-7FCA-7A4E-4EE0-E266C6C4896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024" y="2273"/>
              <a:ext cx="0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/>
            </a:p>
          </p:txBody>
        </p:sp>
        <p:sp>
          <p:nvSpPr>
            <p:cNvPr id="58" name="Text Box 77">
              <a:extLst>
                <a:ext uri="{FF2B5EF4-FFF2-40B4-BE49-F238E27FC236}">
                  <a16:creationId xmlns:a16="http://schemas.microsoft.com/office/drawing/2014/main" id="{AB59A006-6123-77A2-3826-D9C8EFBCD71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256" y="2321"/>
              <a:ext cx="108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59" name="Text Box 78">
              <a:extLst>
                <a:ext uri="{FF2B5EF4-FFF2-40B4-BE49-F238E27FC236}">
                  <a16:creationId xmlns:a16="http://schemas.microsoft.com/office/drawing/2014/main" id="{AFAE3767-7BBF-198C-87CC-BE9A2994FD0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417" y="2321"/>
              <a:ext cx="539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es-ES" b="1">
                  <a:solidFill>
                    <a:schemeClr val="tx2"/>
                  </a:solidFill>
                </a:rPr>
                <a:t>000..00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60" name="Text Box 79">
              <a:extLst>
                <a:ext uri="{FF2B5EF4-FFF2-40B4-BE49-F238E27FC236}">
                  <a16:creationId xmlns:a16="http://schemas.microsoft.com/office/drawing/2014/main" id="{3B1D53E7-5FF9-A901-463F-FBF35250E51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282" y="2321"/>
              <a:ext cx="403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noAutofit/>
            </a:bodyPr>
            <a:lstStyle/>
            <a:p>
              <a:pPr algn="ctr" eaLnBrk="1" hangingPunct="1"/>
              <a:r>
                <a:rPr lang="es-ES" b="1" dirty="0">
                  <a:solidFill>
                    <a:schemeClr val="tx2"/>
                  </a:solidFill>
                </a:rPr>
                <a:t>M ≠ 0</a:t>
              </a:r>
              <a:endParaRPr lang="ca-ES" b="1" dirty="0">
                <a:solidFill>
                  <a:schemeClr val="tx2"/>
                </a:solidFill>
              </a:endParaRPr>
            </a:p>
          </p:txBody>
        </p:sp>
        <p:sp>
          <p:nvSpPr>
            <p:cNvPr id="61" name="Text Box 80">
              <a:extLst>
                <a:ext uri="{FF2B5EF4-FFF2-40B4-BE49-F238E27FC236}">
                  <a16:creationId xmlns:a16="http://schemas.microsoft.com/office/drawing/2014/main" id="{FB3B8E54-D74F-04E0-B8C4-1E090B1FD42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080" y="2160"/>
              <a:ext cx="124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(</a:t>
              </a:r>
              <a:r>
                <a:rPr lang="ca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1)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S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0.M</a:t>
              </a:r>
              <a:r>
                <a:rPr lang="es-ES" b="1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· </a:t>
              </a:r>
              <a:r>
                <a:rPr lang="es-ES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2</a:t>
              </a:r>
              <a:r>
                <a:rPr lang="ca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b="1" baseline="30000" dirty="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126</a:t>
              </a:r>
              <a:endParaRPr lang="ca-ES" b="1" baseline="30000" dirty="0">
                <a:solidFill>
                  <a:srgbClr val="C00000"/>
                </a:solidFill>
                <a:ea typeface="Arial" pitchFamily="31" charset="0"/>
                <a:cs typeface="Arial" pitchFamily="31" charset="0"/>
              </a:endParaRPr>
            </a:p>
          </p:txBody>
        </p:sp>
        <p:sp>
          <p:nvSpPr>
            <p:cNvPr id="62" name="Text Box 81">
              <a:extLst>
                <a:ext uri="{FF2B5EF4-FFF2-40B4-BE49-F238E27FC236}">
                  <a16:creationId xmlns:a16="http://schemas.microsoft.com/office/drawing/2014/main" id="{3EEC2615-BE2E-12FD-4FB5-FB9DE17D3A1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080" y="2448"/>
              <a:ext cx="1305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lang="es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(</a:t>
              </a:r>
              <a:r>
                <a:rPr lang="ca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1)</a:t>
              </a:r>
              <a:r>
                <a:rPr lang="es-ES" b="1" baseline="3000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S</a:t>
              </a:r>
              <a:r>
                <a:rPr lang="es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</a:t>
              </a:r>
              <a:r>
                <a:rPr lang="es-ES" b="1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· </a:t>
              </a:r>
              <a:r>
                <a:rPr lang="es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0.M</a:t>
              </a:r>
              <a:r>
                <a:rPr lang="es-ES" b="1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 · </a:t>
              </a:r>
              <a:r>
                <a:rPr lang="es-ES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2</a:t>
              </a:r>
              <a:r>
                <a:rPr lang="ca-ES" b="1" baseline="3000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–</a:t>
              </a:r>
              <a:r>
                <a:rPr lang="es-ES" b="1" baseline="30000">
                  <a:solidFill>
                    <a:srgbClr val="C00000"/>
                  </a:solidFill>
                  <a:ea typeface="Arial" pitchFamily="31" charset="0"/>
                  <a:cs typeface="Arial" pitchFamily="31" charset="0"/>
                </a:rPr>
                <a:t>1022</a:t>
              </a:r>
              <a:endParaRPr lang="ca-ES" b="1" baseline="30000">
                <a:solidFill>
                  <a:srgbClr val="C00000"/>
                </a:solidFill>
                <a:ea typeface="Arial" pitchFamily="31" charset="0"/>
                <a:cs typeface="Arial" pitchFamily="31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06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4EC9C-A793-06E5-FA0E-416D0228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6E2F2-3B2F-2872-9FA4-C398C64AE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" dirty="0"/>
              <a:t>Los valores especiales</a:t>
            </a:r>
          </a:p>
          <a:p>
            <a:pPr lvl="1"/>
            <a:r>
              <a:rPr lang="es-ES" dirty="0"/>
              <a:t>Son manipulados por las operaciones junto con los reales corrientes</a:t>
            </a:r>
          </a:p>
          <a:p>
            <a:pPr lvl="1"/>
            <a:r>
              <a:rPr lang="es-ES" dirty="0"/>
              <a:t>Cero e infinito: se entienden como límites matemáticos; por eso </a:t>
            </a:r>
          </a:p>
          <a:p>
            <a:pPr lvl="3"/>
            <a:r>
              <a:rPr lang="es-ES" dirty="0">
                <a:sym typeface="Symbol" pitchFamily="31" charset="2"/>
              </a:rPr>
              <a:t>+ + + = +; – + – = –; etc.</a:t>
            </a:r>
          </a:p>
          <a:p>
            <a:pPr lvl="3"/>
            <a:r>
              <a:rPr lang="es-ES" dirty="0">
                <a:sym typeface="Symbol" pitchFamily="31" charset="2"/>
              </a:rPr>
              <a:t>+ </a:t>
            </a:r>
            <a:r>
              <a:rPr lang="en-US" dirty="0">
                <a:sym typeface="Symbol" pitchFamily="31" charset="2"/>
              </a:rPr>
              <a:t>×</a:t>
            </a:r>
            <a:r>
              <a:rPr lang="ca-ES" dirty="0">
                <a:sym typeface="Symbol" pitchFamily="31" charset="2"/>
              </a:rPr>
              <a:t> </a:t>
            </a:r>
            <a:r>
              <a:rPr lang="es-ES" dirty="0">
                <a:sym typeface="Symbol" pitchFamily="31" charset="2"/>
              </a:rPr>
              <a:t>positivo = +; + </a:t>
            </a:r>
            <a:r>
              <a:rPr lang="en-US" dirty="0">
                <a:sym typeface="Symbol" pitchFamily="31" charset="2"/>
              </a:rPr>
              <a:t>×</a:t>
            </a:r>
            <a:r>
              <a:rPr lang="ca-ES" dirty="0">
                <a:sym typeface="Symbol" pitchFamily="31" charset="2"/>
              </a:rPr>
              <a:t> </a:t>
            </a:r>
            <a:r>
              <a:rPr lang="es-ES" dirty="0">
                <a:sym typeface="Symbol" pitchFamily="31" charset="2"/>
              </a:rPr>
              <a:t>negativo = –; etc.</a:t>
            </a:r>
          </a:p>
          <a:p>
            <a:pPr lvl="3"/>
            <a:r>
              <a:rPr lang="es-ES" dirty="0"/>
              <a:t>positivo / +0 = </a:t>
            </a:r>
            <a:r>
              <a:rPr lang="es-ES" dirty="0">
                <a:sym typeface="Symbol" pitchFamily="31" charset="2"/>
              </a:rPr>
              <a:t>+ ; positivo / –0 = –; etc.</a:t>
            </a:r>
            <a:endParaRPr lang="es-ES" dirty="0"/>
          </a:p>
          <a:p>
            <a:pPr lvl="2"/>
            <a:r>
              <a:rPr lang="es-ES" dirty="0"/>
              <a:t>Atención a las comparaciones: +0 y</a:t>
            </a:r>
            <a:r>
              <a:rPr lang="es-ES" dirty="0">
                <a:sym typeface="Symbol" pitchFamily="31" charset="2"/>
              </a:rPr>
              <a:t> –0</a:t>
            </a:r>
            <a:r>
              <a:rPr lang="es-ES" dirty="0"/>
              <a:t> son iguales</a:t>
            </a:r>
          </a:p>
          <a:p>
            <a:pPr lvl="1"/>
            <a:r>
              <a:rPr lang="es-ES" dirty="0">
                <a:solidFill>
                  <a:srgbClr val="C00000"/>
                </a:solidFill>
              </a:rPr>
              <a:t>Not a Number </a:t>
            </a:r>
            <a:r>
              <a:rPr lang="es-ES" dirty="0"/>
              <a:t>(NaN): </a:t>
            </a:r>
          </a:p>
          <a:p>
            <a:pPr lvl="2"/>
            <a:r>
              <a:rPr lang="es-ES" dirty="0"/>
              <a:t>Generación: NaN es el resultado de </a:t>
            </a:r>
            <a:r>
              <a:rPr lang="es-ES" dirty="0">
                <a:sym typeface="Symbol" pitchFamily="31" charset="2"/>
              </a:rPr>
              <a:t>(+) + (–), ±0 </a:t>
            </a:r>
            <a:r>
              <a:rPr lang="en-US" dirty="0">
                <a:sym typeface="Symbol" pitchFamily="31" charset="2"/>
              </a:rPr>
              <a:t>×</a:t>
            </a:r>
            <a:r>
              <a:rPr lang="ca-ES" dirty="0">
                <a:sym typeface="Symbol" pitchFamily="31" charset="2"/>
              </a:rPr>
              <a:t> </a:t>
            </a:r>
            <a:r>
              <a:rPr lang="es-ES" dirty="0">
                <a:sym typeface="Symbol" pitchFamily="31" charset="2"/>
              </a:rPr>
              <a:t>±, ±0 / ±0, ± / ± y otras</a:t>
            </a:r>
          </a:p>
          <a:p>
            <a:pPr lvl="2"/>
            <a:r>
              <a:rPr lang="es-ES" dirty="0"/>
              <a:t>Propagación: cualquier operación donde un operando es NaN dará como resultado NaN</a:t>
            </a:r>
          </a:p>
          <a:p>
            <a:pPr lvl="2"/>
            <a:r>
              <a:rPr lang="es-ES" dirty="0">
                <a:sym typeface="Symbol" pitchFamily="31" charset="2"/>
              </a:rPr>
              <a:t>Una comparación </a:t>
            </a:r>
            <a:r>
              <a:rPr lang="ca-ES" dirty="0"/>
              <a:t>(=, &lt;, ≥, </a:t>
            </a:r>
            <a:r>
              <a:rPr lang="ca-ES" dirty="0" err="1"/>
              <a:t>etc</a:t>
            </a:r>
            <a:r>
              <a:rPr lang="ca-ES" dirty="0"/>
              <a:t>) </a:t>
            </a:r>
            <a:r>
              <a:rPr lang="es-ES" dirty="0">
                <a:sym typeface="Symbol" pitchFamily="31" charset="2"/>
              </a:rPr>
              <a:t>entre NaN y otro número resulta siempre falsa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2F4972-F79D-EC0E-0ED9-E93211A5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45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63CED-7763-3B0E-4790-80C1C41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3F91B-2FC4-A6A6-FE67-7ADC445D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La norma y los lenguajes de programación</a:t>
            </a:r>
          </a:p>
          <a:p>
            <a:pPr lvl="1"/>
            <a:r>
              <a:rPr lang="es-ES_tradnl" dirty="0"/>
              <a:t>Los valores especiales permiten tratar los incidentes del cálculo</a:t>
            </a:r>
          </a:p>
          <a:p>
            <a:pPr lvl="1"/>
            <a:r>
              <a:rPr lang="es-ES_tradnl" dirty="0"/>
              <a:t>El desbordamiento aritmético produce un resultado representable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3B3377-49AC-E354-7428-487B0254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F214C6-535F-B9D6-181D-452D6CDCA55C}"/>
              </a:ext>
            </a:extLst>
          </p:cNvPr>
          <p:cNvSpPr txBox="1"/>
          <p:nvPr/>
        </p:nvSpPr>
        <p:spPr>
          <a:xfrm>
            <a:off x="1084461" y="2743200"/>
            <a:ext cx="5240139" cy="33609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 x = +0.0f;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 y = 1/x;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 z = </a:t>
            </a:r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Float.NEGATIVE_INFINITY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 t = 1/z;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float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 u = x*z;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("x = " + x);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("1/x = " + y);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("z = " + z);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("1/z = " + 1/z);</a:t>
            </a:r>
          </a:p>
          <a:p>
            <a:pPr algn="l"/>
            <a:r>
              <a:rPr lang="es-ES_tradnl" sz="180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800" dirty="0">
                <a:solidFill>
                  <a:srgbClr val="010000"/>
                </a:solidFill>
                <a:latin typeface="Courier New"/>
                <a:cs typeface="Courier New"/>
              </a:rPr>
              <a:t>("x * z = " + u);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224BC4-359B-07E0-E607-DAE23A765EB4}"/>
              </a:ext>
            </a:extLst>
          </p:cNvPr>
          <p:cNvSpPr/>
          <p:nvPr/>
        </p:nvSpPr>
        <p:spPr>
          <a:xfrm>
            <a:off x="6228184" y="4514344"/>
            <a:ext cx="2448272" cy="16989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s-ES_tradnl" sz="1800" dirty="0">
                <a:latin typeface="Courier New"/>
                <a:cs typeface="Courier New"/>
              </a:rPr>
              <a:t>x = 0.0</a:t>
            </a:r>
          </a:p>
          <a:p>
            <a:pPr algn="l"/>
            <a:r>
              <a:rPr lang="es-ES_tradnl" sz="1800" dirty="0">
                <a:latin typeface="Courier New"/>
                <a:cs typeface="Courier New"/>
              </a:rPr>
              <a:t>1/x = </a:t>
            </a:r>
            <a:r>
              <a:rPr lang="es-ES_tradnl" sz="1800" dirty="0" err="1">
                <a:latin typeface="Courier New"/>
                <a:cs typeface="Courier New"/>
              </a:rPr>
              <a:t>Infinity</a:t>
            </a:r>
            <a:endParaRPr lang="es-ES_tradnl" sz="1800" dirty="0">
              <a:latin typeface="Courier New"/>
              <a:cs typeface="Courier New"/>
            </a:endParaRPr>
          </a:p>
          <a:p>
            <a:pPr algn="l"/>
            <a:r>
              <a:rPr lang="es-ES_tradnl" sz="1800" dirty="0">
                <a:latin typeface="Courier New"/>
                <a:cs typeface="Courier New"/>
              </a:rPr>
              <a:t>z = -</a:t>
            </a:r>
            <a:r>
              <a:rPr lang="es-ES_tradnl" sz="1800" dirty="0" err="1">
                <a:latin typeface="Courier New"/>
                <a:cs typeface="Courier New"/>
              </a:rPr>
              <a:t>Infinity</a:t>
            </a:r>
            <a:endParaRPr lang="es-ES_tradnl" sz="1800" dirty="0">
              <a:latin typeface="Courier New"/>
              <a:cs typeface="Courier New"/>
            </a:endParaRPr>
          </a:p>
          <a:p>
            <a:pPr algn="l"/>
            <a:r>
              <a:rPr lang="es-ES_tradnl" sz="1800" dirty="0">
                <a:latin typeface="Courier New"/>
                <a:cs typeface="Courier New"/>
              </a:rPr>
              <a:t>1/z = -0.0</a:t>
            </a:r>
          </a:p>
          <a:p>
            <a:pPr algn="l"/>
            <a:r>
              <a:rPr lang="es-ES_tradnl" sz="1800" dirty="0">
                <a:latin typeface="Courier New"/>
                <a:cs typeface="Courier New"/>
              </a:rPr>
              <a:t>x * z = </a:t>
            </a:r>
            <a:r>
              <a:rPr lang="es-ES_tradnl" sz="1800" dirty="0" err="1">
                <a:latin typeface="Courier New"/>
                <a:cs typeface="Courier New"/>
              </a:rPr>
              <a:t>NaN</a:t>
            </a:r>
            <a:endParaRPr lang="es-ES_tradnl" dirty="0">
              <a:latin typeface="Courier New"/>
              <a:cs typeface="Courier New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A33C93-44F4-4170-618D-BA068E9E67ED}"/>
              </a:ext>
            </a:extLst>
          </p:cNvPr>
          <p:cNvSpPr txBox="1"/>
          <p:nvPr/>
        </p:nvSpPr>
        <p:spPr>
          <a:xfrm>
            <a:off x="5652346" y="2754868"/>
            <a:ext cx="67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dirty="0">
                <a:solidFill>
                  <a:srgbClr val="01000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826611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67999-4738-01A0-AF3F-AA0C5615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FD2A2-F7D1-FF03-CF1A-4E922413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" dirty="0"/>
              <a:t>El redondeo</a:t>
            </a:r>
            <a:endParaRPr lang="es-ES" altLang="ja-JP" dirty="0"/>
          </a:p>
          <a:p>
            <a:pPr lvl="1">
              <a:lnSpc>
                <a:spcPct val="100000"/>
              </a:lnSpc>
            </a:pPr>
            <a:r>
              <a:rPr lang="es-ES" dirty="0"/>
              <a:t>Situación frecuente: </a:t>
            </a:r>
            <a:r>
              <a:rPr lang="es-ES" altLang="ja-JP" dirty="0"/>
              <a:t>una operación genera una mantisa M de longitud más larga (</a:t>
            </a:r>
            <a:r>
              <a:rPr lang="es-ES" altLang="ja-JP" i="1" dirty="0"/>
              <a:t>p</a:t>
            </a:r>
            <a:r>
              <a:rPr lang="es-ES" altLang="ja-JP" dirty="0"/>
              <a:t> bits) que la prevista en el formato (</a:t>
            </a:r>
            <a:r>
              <a:rPr lang="es-ES" altLang="ja-JP" i="1" dirty="0"/>
              <a:t>m</a:t>
            </a:r>
            <a:r>
              <a:rPr lang="es-ES" altLang="ja-JP" dirty="0"/>
              <a:t> bits)</a:t>
            </a:r>
          </a:p>
          <a:p>
            <a:pPr lvl="2">
              <a:lnSpc>
                <a:spcPct val="100000"/>
              </a:lnSpc>
            </a:pPr>
            <a:r>
              <a:rPr lang="es-ES" altLang="ja-JP" dirty="0"/>
              <a:t>los </a:t>
            </a:r>
            <a:r>
              <a:rPr lang="es-ES" altLang="ja-JP" i="1" dirty="0"/>
              <a:t>m</a:t>
            </a:r>
            <a:r>
              <a:rPr lang="es-ES" altLang="ja-JP" dirty="0"/>
              <a:t> primeros bits de la mantisa M se llaman retenidos</a:t>
            </a:r>
          </a:p>
          <a:p>
            <a:pPr lvl="1">
              <a:lnSpc>
                <a:spcPct val="100000"/>
              </a:lnSpc>
            </a:pPr>
            <a:r>
              <a:rPr lang="es-ES" altLang="ja-JP" dirty="0"/>
              <a:t>Posibilidades: </a:t>
            </a:r>
          </a:p>
          <a:p>
            <a:pPr lvl="2">
              <a:lnSpc>
                <a:spcPct val="100000"/>
              </a:lnSpc>
            </a:pPr>
            <a:r>
              <a:rPr lang="es-ES" altLang="ja-JP" dirty="0"/>
              <a:t>M es representable de forma exacta en el formato: los </a:t>
            </a:r>
            <a:r>
              <a:rPr lang="es-ES" altLang="ja-JP" i="1" dirty="0"/>
              <a:t>p–m</a:t>
            </a:r>
            <a:r>
              <a:rPr lang="es-ES" altLang="ja-JP" dirty="0"/>
              <a:t> bits no retenidos son 0 y se pueden eliminar: </a:t>
            </a:r>
            <a:r>
              <a:rPr lang="es-ES" dirty="0"/>
              <a:t>010000 </a:t>
            </a:r>
            <a:r>
              <a:rPr lang="es-ES" dirty="0">
                <a:sym typeface="Symbol" pitchFamily="31" charset="2"/>
              </a:rPr>
              <a:t></a:t>
            </a:r>
            <a:r>
              <a:rPr lang="es-ES" dirty="0"/>
              <a:t> 0100</a:t>
            </a:r>
            <a:endParaRPr lang="es-ES" altLang="ja-JP" dirty="0"/>
          </a:p>
          <a:p>
            <a:pPr lvl="2">
              <a:lnSpc>
                <a:spcPct val="100000"/>
              </a:lnSpc>
            </a:pPr>
            <a:r>
              <a:rPr lang="es-ES" altLang="ja-JP" dirty="0"/>
              <a:t>M se encuentra entre dos valores representables M</a:t>
            </a:r>
            <a:r>
              <a:rPr lang="es-ES" baseline="-25000" dirty="0">
                <a:sym typeface="Symbol" pitchFamily="31" charset="2"/>
              </a:rPr>
              <a:t> –</a:t>
            </a:r>
            <a:r>
              <a:rPr lang="es-ES" altLang="ja-JP" dirty="0"/>
              <a:t> y M</a:t>
            </a:r>
            <a:r>
              <a:rPr lang="es-ES" baseline="-25000" dirty="0">
                <a:sym typeface="Symbol" pitchFamily="31" charset="2"/>
              </a:rPr>
              <a:t>+</a:t>
            </a:r>
            <a:r>
              <a:rPr lang="es-ES" dirty="0">
                <a:sym typeface="Symbol" pitchFamily="31" charset="2"/>
              </a:rPr>
              <a:t> </a:t>
            </a:r>
            <a:br>
              <a:rPr lang="es-ES" dirty="0">
                <a:sym typeface="Symbol" pitchFamily="31" charset="2"/>
              </a:rPr>
            </a:br>
            <a:r>
              <a:rPr lang="es-ES" dirty="0">
                <a:sym typeface="Symbol" pitchFamily="31" charset="2"/>
              </a:rPr>
              <a:t>(</a:t>
            </a:r>
            <a:r>
              <a:rPr lang="es-ES" altLang="ja-JP" dirty="0"/>
              <a:t>M</a:t>
            </a:r>
            <a:r>
              <a:rPr lang="es-ES" baseline="-25000" dirty="0">
                <a:sym typeface="Symbol" pitchFamily="31" charset="2"/>
              </a:rPr>
              <a:t>–</a:t>
            </a:r>
            <a:r>
              <a:rPr lang="es-ES" dirty="0">
                <a:sym typeface="Symbol" pitchFamily="31" charset="2"/>
              </a:rPr>
              <a:t> </a:t>
            </a:r>
            <a:r>
              <a:rPr lang="es-ES" altLang="ja-JP" dirty="0"/>
              <a:t>&lt; M &lt; M</a:t>
            </a:r>
            <a:r>
              <a:rPr lang="es-ES" baseline="-25000" dirty="0">
                <a:sym typeface="Symbol" pitchFamily="31" charset="2"/>
              </a:rPr>
              <a:t>+</a:t>
            </a:r>
            <a:r>
              <a:rPr lang="es-ES" dirty="0">
                <a:sym typeface="Symbol" pitchFamily="31" charset="2"/>
              </a:rPr>
              <a:t>), y</a:t>
            </a:r>
            <a:r>
              <a:rPr lang="es-ES" altLang="ja-JP" dirty="0"/>
              <a:t> hay que redondear: escoger uno de ellos como representación inexacta de M</a:t>
            </a:r>
          </a:p>
          <a:p>
            <a:pPr lvl="1">
              <a:lnSpc>
                <a:spcPct val="100000"/>
              </a:lnSpc>
            </a:pPr>
            <a:r>
              <a:rPr lang="es-ES" altLang="ja-JP" dirty="0"/>
              <a:t>La norma admite cuatro modos de redondeo:</a:t>
            </a:r>
          </a:p>
          <a:p>
            <a:pPr lvl="2">
              <a:lnSpc>
                <a:spcPct val="100000"/>
              </a:lnSpc>
            </a:pPr>
            <a:r>
              <a:rPr lang="es-ES" altLang="ja-JP" dirty="0"/>
              <a:t>Hacia </a:t>
            </a:r>
            <a:r>
              <a:rPr lang="es-ES" dirty="0">
                <a:sym typeface="Symbol" pitchFamily="31" charset="2"/>
              </a:rPr>
              <a:t>+</a:t>
            </a:r>
          </a:p>
          <a:p>
            <a:pPr lvl="2">
              <a:lnSpc>
                <a:spcPct val="100000"/>
              </a:lnSpc>
            </a:pPr>
            <a:r>
              <a:rPr lang="es-ES" dirty="0">
                <a:sym typeface="Symbol" pitchFamily="31" charset="2"/>
              </a:rPr>
              <a:t>Hacia –</a:t>
            </a:r>
          </a:p>
          <a:p>
            <a:pPr lvl="2">
              <a:lnSpc>
                <a:spcPct val="100000"/>
              </a:lnSpc>
            </a:pPr>
            <a:r>
              <a:rPr lang="es-ES" dirty="0">
                <a:sym typeface="Symbol" pitchFamily="31" charset="2"/>
              </a:rPr>
              <a:t>Hacia 0</a:t>
            </a:r>
          </a:p>
          <a:p>
            <a:pPr lvl="2">
              <a:lnSpc>
                <a:spcPct val="100000"/>
              </a:lnSpc>
            </a:pPr>
            <a:r>
              <a:rPr lang="es-ES" dirty="0">
                <a:sym typeface="Symbol" pitchFamily="31" charset="2"/>
              </a:rPr>
              <a:t>Escoger el más próximo de los dos (este es el modo por omisión)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2C1463-656C-3460-5678-3A7D4D1B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8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1B385-D7A0-4D08-5549-5639B7C9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</a:rPr>
              <a:t>La norma IEEE 754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4F94AC-F2BC-8B53-BC8A-39740DE8B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redondeo</a:t>
            </a:r>
            <a:r>
              <a:rPr lang="es-ES" altLang="ja-JP" dirty="0"/>
              <a:t> hacia el más próximo (sesgado al par)</a:t>
            </a:r>
          </a:p>
          <a:p>
            <a:pPr lvl="1"/>
            <a:r>
              <a:rPr lang="es-ES" altLang="ja-JP" dirty="0">
                <a:sym typeface="Symbol" pitchFamily="31" charset="2"/>
              </a:rPr>
              <a:t>La variante por omisión es “</a:t>
            </a:r>
            <a:r>
              <a:rPr lang="es-ES" altLang="ja-JP" dirty="0" err="1">
                <a:sym typeface="Symbol" pitchFamily="31" charset="2"/>
              </a:rPr>
              <a:t>tie</a:t>
            </a:r>
            <a:r>
              <a:rPr lang="es-ES" altLang="ja-JP" dirty="0">
                <a:sym typeface="Symbol" pitchFamily="31" charset="2"/>
              </a:rPr>
              <a:t> </a:t>
            </a:r>
            <a:r>
              <a:rPr lang="es-ES" altLang="ja-JP" dirty="0" err="1">
                <a:sym typeface="Symbol" pitchFamily="31" charset="2"/>
              </a:rPr>
              <a:t>to</a:t>
            </a:r>
            <a:r>
              <a:rPr lang="es-ES" altLang="ja-JP" dirty="0">
                <a:sym typeface="Symbol" pitchFamily="31" charset="2"/>
              </a:rPr>
              <a:t> </a:t>
            </a:r>
            <a:r>
              <a:rPr lang="es-ES" altLang="ja-JP" dirty="0" err="1">
                <a:sym typeface="Symbol" pitchFamily="31" charset="2"/>
              </a:rPr>
              <a:t>even</a:t>
            </a:r>
            <a:r>
              <a:rPr lang="es-ES" altLang="ja-JP" dirty="0">
                <a:sym typeface="Symbol" pitchFamily="31" charset="2"/>
              </a:rPr>
              <a:t>”: en caso de que M equidiste </a:t>
            </a:r>
            <a:r>
              <a:rPr lang="es-ES" dirty="0">
                <a:sym typeface="Symbol" pitchFamily="31" charset="2"/>
              </a:rPr>
              <a:t>de </a:t>
            </a:r>
            <a:r>
              <a:rPr lang="es-ES" altLang="ja-JP" dirty="0"/>
              <a:t>M</a:t>
            </a:r>
            <a:r>
              <a:rPr lang="es-ES" baseline="-25000" dirty="0">
                <a:sym typeface="Symbol" pitchFamily="31" charset="2"/>
              </a:rPr>
              <a:t> –</a:t>
            </a:r>
            <a:r>
              <a:rPr lang="es-ES" altLang="ja-JP" dirty="0"/>
              <a:t> y M</a:t>
            </a:r>
            <a:r>
              <a:rPr lang="es-ES" baseline="-25000" dirty="0">
                <a:sym typeface="Symbol" pitchFamily="31" charset="2"/>
              </a:rPr>
              <a:t>+</a:t>
            </a:r>
            <a:r>
              <a:rPr lang="es-ES" altLang="ja-JP" dirty="0">
                <a:sym typeface="Symbol" pitchFamily="31" charset="2"/>
              </a:rPr>
              <a:t>, hay que escoger la mantisa representable par (o sea, la que acabe en 0)</a:t>
            </a:r>
          </a:p>
          <a:p>
            <a:pPr lvl="1"/>
            <a:r>
              <a:rPr lang="es-ES" altLang="ja-JP" dirty="0">
                <a:sym typeface="Symbol" pitchFamily="31" charset="2"/>
              </a:rPr>
              <a:t>Ejemplo: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D30395-74D5-0A8B-5F89-B33B986C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F4FDC17-DA48-F118-C0A7-D7AACD3B954A}"/>
              </a:ext>
            </a:extLst>
          </p:cNvPr>
          <p:cNvGrpSpPr>
            <a:grpSpLocks/>
          </p:cNvGrpSpPr>
          <p:nvPr/>
        </p:nvGrpSpPr>
        <p:grpSpPr bwMode="auto">
          <a:xfrm>
            <a:off x="2988270" y="3284984"/>
            <a:ext cx="4414838" cy="2905125"/>
            <a:chOff x="1675" y="1536"/>
            <a:chExt cx="2781" cy="183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CCBD963A-BBD4-E270-F644-E134BBCCACF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675" y="1536"/>
              <a:ext cx="2781" cy="1830"/>
            </a:xfrm>
            <a:prstGeom prst="rect">
              <a:avLst/>
            </a:prstGeom>
            <a:grpFill/>
            <a:ln w="2857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  <a:latin typeface="Arial Narrow" pitchFamily="31" charset="0"/>
                </a:rPr>
                <a:t>M	  Se elige                M resultante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010000	</a:t>
              </a:r>
              <a:r>
                <a:rPr lang="es-ES_tradnl" sz="1600" dirty="0">
                  <a:solidFill>
                    <a:schemeClr val="tx1"/>
                  </a:solidFill>
                </a:rPr>
                <a:t>(exacta) </a:t>
              </a:r>
              <a:r>
                <a:rPr lang="es-ES_tradnl" sz="1600" b="1" dirty="0">
                  <a:solidFill>
                    <a:schemeClr val="tx1"/>
                  </a:solidFill>
                </a:rPr>
                <a:t>	    0100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010001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–</a:t>
              </a:r>
              <a:r>
                <a:rPr lang="es-ES_tradnl" sz="1600" dirty="0">
                  <a:solidFill>
                    <a:schemeClr val="tx1"/>
                  </a:solidFill>
                  <a:latin typeface="Arial Narrow" pitchFamily="34" charset="0"/>
                </a:rPr>
                <a:t>(más próxima)    	 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0100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010010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– </a:t>
              </a:r>
              <a:r>
                <a:rPr lang="es-ES_tradnl" sz="1600" dirty="0">
                  <a:solidFill>
                    <a:schemeClr val="tx1"/>
                  </a:solidFill>
                </a:rPr>
                <a:t>(par)	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0100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010011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+</a:t>
              </a:r>
              <a:r>
                <a:rPr lang="es-ES_tradnl" sz="1600" dirty="0">
                  <a:solidFill>
                    <a:schemeClr val="tx1"/>
                  </a:solidFill>
                  <a:latin typeface="Arial Narrow" pitchFamily="34" charset="0"/>
                </a:rPr>
                <a:t>(más próxima) </a:t>
              </a:r>
              <a:r>
                <a:rPr lang="es-ES_tradnl" sz="1600" b="1" dirty="0">
                  <a:solidFill>
                    <a:schemeClr val="tx1"/>
                  </a:solidFill>
                </a:rPr>
                <a:t>         0101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010100	</a:t>
              </a:r>
              <a:r>
                <a:rPr lang="es-ES_tradnl" sz="1600" dirty="0">
                  <a:solidFill>
                    <a:schemeClr val="tx1"/>
                  </a:solidFill>
                </a:rPr>
                <a:t>(exacta)	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0101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010101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–</a:t>
              </a:r>
              <a:r>
                <a:rPr lang="es-ES_tradnl" sz="1600" dirty="0">
                  <a:solidFill>
                    <a:schemeClr val="tx1"/>
                  </a:solidFill>
                  <a:latin typeface="Arial Narrow" pitchFamily="34" charset="0"/>
                </a:rPr>
                <a:t>(más próxima) </a:t>
              </a:r>
              <a:r>
                <a:rPr lang="es-ES_tradnl" sz="1600" b="1" dirty="0">
                  <a:solidFill>
                    <a:schemeClr val="tx1"/>
                  </a:solidFill>
                </a:rPr>
                <a:t>         0101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010110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+ </a:t>
              </a:r>
              <a:r>
                <a:rPr lang="es-ES_tradnl" sz="1600" b="1" dirty="0">
                  <a:solidFill>
                    <a:schemeClr val="tx1"/>
                  </a:solidFill>
                  <a:latin typeface="Arial Narrow" pitchFamily="31" charset="0"/>
                </a:rPr>
                <a:t>(par)</a:t>
              </a:r>
              <a:r>
                <a:rPr lang="es-ES_tradnl" sz="1600" dirty="0">
                  <a:solidFill>
                    <a:schemeClr val="tx1"/>
                  </a:solidFill>
                </a:rPr>
                <a:t>	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0110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010111	</a:t>
              </a:r>
              <a:r>
                <a:rPr lang="es-ES_tradnl" sz="1600" dirty="0">
                  <a:solidFill>
                    <a:schemeClr val="tx1"/>
                  </a:solidFill>
                </a:rPr>
                <a:t>M</a:t>
              </a:r>
              <a:r>
                <a:rPr lang="es-ES_tradnl" sz="1600" b="1" baseline="-25000" dirty="0">
                  <a:solidFill>
                    <a:schemeClr val="tx1"/>
                  </a:solidFill>
                </a:rPr>
                <a:t>+</a:t>
              </a:r>
              <a:r>
                <a:rPr lang="es-ES_tradnl" sz="1600" dirty="0">
                  <a:solidFill>
                    <a:schemeClr val="tx1"/>
                  </a:solidFill>
                  <a:latin typeface="Arial Narrow" pitchFamily="34" charset="0"/>
                </a:rPr>
                <a:t>(más próxima) </a:t>
              </a:r>
              <a:r>
                <a:rPr lang="es-ES_tradnl" sz="1600" dirty="0">
                  <a:solidFill>
                    <a:schemeClr val="tx1"/>
                  </a:solidFill>
                </a:rPr>
                <a:t>     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0110</a:t>
              </a:r>
            </a:p>
            <a:p>
              <a:pPr algn="l" eaLnBrk="1" hangingPunct="1">
                <a:tabLst>
                  <a:tab pos="1806575" algn="l"/>
                  <a:tab pos="3433763" algn="l"/>
                  <a:tab pos="4953000" algn="l"/>
                </a:tabLst>
              </a:pPr>
              <a:r>
                <a:rPr lang="es-ES_tradnl" sz="1600" b="1" dirty="0">
                  <a:solidFill>
                    <a:schemeClr val="tx1"/>
                  </a:solidFill>
                </a:rPr>
                <a:t> 011000	</a:t>
              </a:r>
              <a:r>
                <a:rPr lang="es-ES_tradnl" sz="1600" dirty="0">
                  <a:solidFill>
                    <a:schemeClr val="tx1"/>
                  </a:solidFill>
                </a:rPr>
                <a:t>(exacta)	    </a:t>
              </a:r>
              <a:r>
                <a:rPr lang="es-ES_tradnl" sz="1600" b="1" dirty="0">
                  <a:solidFill>
                    <a:schemeClr val="tx1"/>
                  </a:solidFill>
                </a:rPr>
                <a:t>0110</a:t>
              </a:r>
              <a:endParaRPr lang="es-ES_tradnl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ECA44027-9185-975C-C14E-D5C70EB96E5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1675" y="1717"/>
              <a:ext cx="2767" cy="0"/>
            </a:xfrm>
            <a:prstGeom prst="line">
              <a:avLst/>
            </a:prstGeom>
            <a:grp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</p:grpSp>
    </p:spTree>
    <p:extLst>
      <p:ext uri="{BB962C8B-B14F-4D97-AF65-F5344CB8AC3E}">
        <p14:creationId xmlns:p14="http://schemas.microsoft.com/office/powerpoint/2010/main" val="177530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599B-18C1-BC02-D386-2D9188E3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 coma flotante en RISC-V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AB9D4-916A-4DD4-6C70-3F0FCAE33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Visi</a:t>
            </a:r>
            <a:r>
              <a:rPr lang="es-ES" altLang="ja-JP" dirty="0"/>
              <a:t>ón</a:t>
            </a:r>
            <a:r>
              <a:rPr lang="ca-ES" altLang="ja-JP" dirty="0"/>
              <a:t> del programador</a:t>
            </a:r>
            <a:endParaRPr lang="ca-ES" dirty="0"/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CD541E-1497-07B4-72F2-D59BFE99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A82E7C7-A057-E90E-626C-AEE71788A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749" y="1798768"/>
            <a:ext cx="236655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Registros de enteros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DA15D4DD-77EC-4C0E-9432-BA0A54D7B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490" y="1798768"/>
            <a:ext cx="185297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Registros de CF</a:t>
            </a: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765F862D-8AC1-5119-C388-5B5633C3F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749" y="2851348"/>
            <a:ext cx="381000" cy="158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1D742392-80E5-DCB1-67A4-E3486C1C54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0194" y="3140968"/>
            <a:ext cx="381000" cy="158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FF043F6E-9054-7734-7B86-EE9582F55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896" y="2181359"/>
            <a:ext cx="1102866" cy="6093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fcvt.s.w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ctr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fmv.w.x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1D3373EB-B513-2211-9A55-F8361E5DA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884" y="3248160"/>
            <a:ext cx="1102866" cy="6093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fcvt.w.s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ctr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fmv.x.w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161884F8-6FA2-47EC-50C5-C38B6102F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62" y="2045394"/>
            <a:ext cx="551433" cy="225292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add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sub</a:t>
            </a:r>
            <a:br>
              <a:rPr lang="es-ES_tradnl" sz="1800" dirty="0">
                <a:solidFill>
                  <a:srgbClr val="C00000"/>
                </a:solidFill>
                <a:latin typeface="Courier New" pitchFamily="31" charset="0"/>
              </a:rPr>
            </a:br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mult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div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slt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beq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r>
              <a:rPr lang="es-ES_tradnl" dirty="0">
                <a:solidFill>
                  <a:srgbClr val="C00000"/>
                </a:solidFill>
                <a:latin typeface="Courier New" pitchFamily="31" charset="0"/>
              </a:rPr>
              <a:t>…</a:t>
            </a:r>
          </a:p>
        </p:txBody>
      </p:sp>
      <p:sp>
        <p:nvSpPr>
          <p:cNvPr id="12" name="Text Box 22">
            <a:extLst>
              <a:ext uri="{FF2B5EF4-FFF2-40B4-BE49-F238E27FC236}">
                <a16:creationId xmlns:a16="http://schemas.microsoft.com/office/drawing/2014/main" id="{255A37F2-4FEB-2317-085A-76F2DA536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237" y="1932262"/>
            <a:ext cx="1295400" cy="23267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fadd.s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fsub.s</a:t>
            </a:r>
            <a:br>
              <a:rPr lang="es-ES_tradnl" sz="1800" dirty="0">
                <a:solidFill>
                  <a:srgbClr val="C00000"/>
                </a:solidFill>
                <a:latin typeface="Courier New" pitchFamily="31" charset="0"/>
              </a:rPr>
            </a:br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fmul.s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fdiv.s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31" charset="0"/>
              </a:rPr>
              <a:t>flt.s</a:t>
            </a:r>
            <a:endParaRPr lang="es-ES_tradnl" sz="1800" dirty="0">
              <a:solidFill>
                <a:srgbClr val="C00000"/>
              </a:solidFill>
              <a:latin typeface="Courier New" pitchFamily="31" charset="0"/>
            </a:endParaRPr>
          </a:p>
          <a:p>
            <a:pPr algn="l"/>
            <a:r>
              <a:rPr lang="es-ES_tradnl" sz="1800" dirty="0">
                <a:solidFill>
                  <a:srgbClr val="C00000"/>
                </a:solidFill>
                <a:latin typeface="Courier New" pitchFamily="31" charset="0"/>
              </a:rPr>
              <a:t>bc1t</a:t>
            </a:r>
          </a:p>
          <a:p>
            <a:pPr algn="l"/>
            <a:r>
              <a:rPr lang="es-ES_tradnl" dirty="0">
                <a:solidFill>
                  <a:srgbClr val="C00000"/>
                </a:solidFill>
                <a:latin typeface="Courier New" pitchFamily="31" charset="0"/>
              </a:rPr>
              <a:t>…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73252572-0D27-930B-A48D-DDD93A639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002" y="2257459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x0</a:t>
            </a: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AA691788-BDC2-5C35-2781-E3FD7ADF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002" y="2559084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x1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8BFD817E-BDA3-5DFD-E843-ACD3CE9E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002" y="2863884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x2</a:t>
            </a: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EA54C455-35A7-0574-CFC1-687AE7BD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002" y="3549683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x31</a:t>
            </a: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EF7F2D51-75E5-CA87-98B6-A8D00092A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1602" y="3248055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18" name="Rectangle 28">
            <a:extLst>
              <a:ext uri="{FF2B5EF4-FFF2-40B4-BE49-F238E27FC236}">
                <a16:creationId xmlns:a16="http://schemas.microsoft.com/office/drawing/2014/main" id="{D3E6AAE4-3F7D-A26E-C9BE-6FB55BDF3A0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203026" y="2903670"/>
            <a:ext cx="65" cy="307777"/>
          </a:xfrm>
          <a:prstGeom prst="rect">
            <a:avLst/>
          </a:prstGeom>
          <a:solidFill>
            <a:schemeClr val="folHlink"/>
          </a:solidFill>
          <a:ln w="6350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9200" prstMaterial="legacyMetal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0" tIns="0" rIns="0" bIns="0" anchor="ctr">
            <a:prstTxWarp prst="textNoShape">
              <a:avLst/>
            </a:prstTxWarp>
            <a:spAutoFit/>
            <a:flatTx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27A83F36-CF45-99F6-8C9B-07A52A360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226" y="2257459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f0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832287A9-DA6E-5ACC-3AA2-54324E1CF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226" y="2559084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f1</a:t>
            </a:r>
          </a:p>
        </p:txBody>
      </p:sp>
      <p:sp>
        <p:nvSpPr>
          <p:cNvPr id="21" name="Rectangle 31">
            <a:extLst>
              <a:ext uri="{FF2B5EF4-FFF2-40B4-BE49-F238E27FC236}">
                <a16:creationId xmlns:a16="http://schemas.microsoft.com/office/drawing/2014/main" id="{DD83AD24-E61D-D890-AB12-A92B24083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226" y="2863884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f2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E4EABF65-9733-BFAA-1D47-8EF91D232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226" y="3549683"/>
            <a:ext cx="1219200" cy="307975"/>
          </a:xfrm>
          <a:prstGeom prst="rect">
            <a:avLst/>
          </a:prstGeom>
          <a:noFill/>
          <a:ln w="63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f31</a:t>
            </a:r>
          </a:p>
        </p:txBody>
      </p:sp>
      <p:sp>
        <p:nvSpPr>
          <p:cNvPr id="23" name="Line 33">
            <a:extLst>
              <a:ext uri="{FF2B5EF4-FFF2-40B4-BE49-F238E27FC236}">
                <a16:creationId xmlns:a16="http://schemas.microsoft.com/office/drawing/2014/main" id="{45861B41-5465-71D5-2D68-49B132F94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826" y="3248055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93E77661-94B5-F704-6429-817258D96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711" y="6140680"/>
            <a:ext cx="997068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Mem</a:t>
            </a:r>
            <a:r>
              <a:rPr lang="es-ES_tradnl" altLang="ja-JP" dirty="0">
                <a:solidFill>
                  <a:schemeClr val="tx1"/>
                </a:solidFill>
                <a:ea typeface="Geneva" pitchFamily="31" charset="0"/>
                <a:cs typeface="Geneva" pitchFamily="31" charset="0"/>
              </a:rPr>
              <a:t>oria</a:t>
            </a:r>
            <a:endParaRPr lang="es-ES_tradnl" dirty="0">
              <a:solidFill>
                <a:schemeClr val="tx1"/>
              </a:solidFill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DDD026F-D0DB-430E-3EC6-51A5C2794A7E}"/>
              </a:ext>
            </a:extLst>
          </p:cNvPr>
          <p:cNvGrpSpPr/>
          <p:nvPr/>
        </p:nvGrpSpPr>
        <p:grpSpPr>
          <a:xfrm>
            <a:off x="1225349" y="2370169"/>
            <a:ext cx="1371600" cy="1258888"/>
            <a:chOff x="1225349" y="2370169"/>
            <a:chExt cx="1371600" cy="1258888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3DA7D765-6971-6921-4343-7CEF8A30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349" y="2790857"/>
              <a:ext cx="1066800" cy="400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0B850F5-5802-443E-D1BF-C2FD5332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949" y="2370169"/>
              <a:ext cx="1143000" cy="307975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8" name="Freeform 38">
              <a:extLst>
                <a:ext uri="{FF2B5EF4-FFF2-40B4-BE49-F238E27FC236}">
                  <a16:creationId xmlns:a16="http://schemas.microsoft.com/office/drawing/2014/main" id="{C1CFEBA7-E90C-12CC-F022-0907DF394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3549" y="2486057"/>
              <a:ext cx="533400" cy="3048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9" name="Freeform 39">
              <a:extLst>
                <a:ext uri="{FF2B5EF4-FFF2-40B4-BE49-F238E27FC236}">
                  <a16:creationId xmlns:a16="http://schemas.microsoft.com/office/drawing/2014/main" id="{9ABBC87A-C3DC-AF8D-CE24-995AB072695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58749" y="3324257"/>
              <a:ext cx="838200" cy="3048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</p:grpSp>
      <p:sp>
        <p:nvSpPr>
          <p:cNvPr id="30" name="Freeform 81">
            <a:extLst>
              <a:ext uri="{FF2B5EF4-FFF2-40B4-BE49-F238E27FC236}">
                <a16:creationId xmlns:a16="http://schemas.microsoft.com/office/drawing/2014/main" id="{8F4191B8-E557-149B-BAE5-F32AF66575ED}"/>
              </a:ext>
            </a:extLst>
          </p:cNvPr>
          <p:cNvSpPr>
            <a:spLocks/>
          </p:cNvSpPr>
          <p:nvPr/>
        </p:nvSpPr>
        <p:spPr bwMode="auto">
          <a:xfrm>
            <a:off x="3435149" y="4237166"/>
            <a:ext cx="533400" cy="30777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240" y="288"/>
              </a:cxn>
            </a:cxnLst>
            <a:rect l="0" t="0" r="r" b="b"/>
            <a:pathLst>
              <a:path w="240" h="288">
                <a:moveTo>
                  <a:pt x="0" y="0"/>
                </a:moveTo>
                <a:lnTo>
                  <a:pt x="0" y="288"/>
                </a:lnTo>
                <a:lnTo>
                  <a:pt x="240" y="288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31" name="Freeform 82">
            <a:extLst>
              <a:ext uri="{FF2B5EF4-FFF2-40B4-BE49-F238E27FC236}">
                <a16:creationId xmlns:a16="http://schemas.microsoft.com/office/drawing/2014/main" id="{C85C4D9F-769D-2FB7-C612-C68792AA469F}"/>
              </a:ext>
            </a:extLst>
          </p:cNvPr>
          <p:cNvSpPr>
            <a:spLocks/>
          </p:cNvSpPr>
          <p:nvPr/>
        </p:nvSpPr>
        <p:spPr bwMode="auto">
          <a:xfrm flipH="1">
            <a:off x="5263949" y="4237166"/>
            <a:ext cx="533400" cy="30777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240" y="288"/>
              </a:cxn>
            </a:cxnLst>
            <a:rect l="0" t="0" r="r" b="b"/>
            <a:pathLst>
              <a:path w="240" h="288">
                <a:moveTo>
                  <a:pt x="0" y="0"/>
                </a:moveTo>
                <a:lnTo>
                  <a:pt x="0" y="288"/>
                </a:lnTo>
                <a:lnTo>
                  <a:pt x="240" y="288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  <p:sp>
        <p:nvSpPr>
          <p:cNvPr id="32" name="Text Box 83">
            <a:extLst>
              <a:ext uri="{FF2B5EF4-FFF2-40B4-BE49-F238E27FC236}">
                <a16:creationId xmlns:a16="http://schemas.microsoft.com/office/drawing/2014/main" id="{E5811D5B-4560-4287-3BA7-323CD51E2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749" y="4178891"/>
            <a:ext cx="275717" cy="164352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-112" charset="0"/>
              </a:rPr>
              <a:t>lw</a:t>
            </a:r>
            <a:endParaRPr lang="es-ES_tradnl" sz="1800" dirty="0">
              <a:solidFill>
                <a:srgbClr val="C00000"/>
              </a:solidFill>
              <a:latin typeface="Courier New" pitchFamily="-112" charset="0"/>
            </a:endParaRPr>
          </a:p>
          <a:p>
            <a:pPr algn="l"/>
            <a:r>
              <a:rPr lang="es-ES_tradnl" sz="1800" dirty="0">
                <a:solidFill>
                  <a:srgbClr val="C00000"/>
                </a:solidFill>
                <a:latin typeface="Courier New" pitchFamily="-112" charset="0"/>
              </a:rPr>
              <a:t>lb</a:t>
            </a: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-112" charset="0"/>
              </a:rPr>
              <a:t>sw</a:t>
            </a:r>
            <a:endParaRPr lang="es-ES_tradnl" sz="1800" dirty="0">
              <a:solidFill>
                <a:srgbClr val="C00000"/>
              </a:solidFill>
              <a:latin typeface="Courier New" pitchFamily="-112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-112" charset="0"/>
              </a:rPr>
              <a:t>sh</a:t>
            </a:r>
            <a:endParaRPr lang="es-ES_tradnl" sz="1800" dirty="0">
              <a:solidFill>
                <a:srgbClr val="C00000"/>
              </a:solidFill>
              <a:latin typeface="Courier New" pitchFamily="-112" charset="0"/>
            </a:endParaRPr>
          </a:p>
          <a:p>
            <a:pPr algn="l"/>
            <a:r>
              <a:rPr lang="es-ES_tradnl" sz="1800" dirty="0">
                <a:solidFill>
                  <a:srgbClr val="C00000"/>
                </a:solidFill>
                <a:latin typeface="Courier New" pitchFamily="-112" charset="0"/>
              </a:rPr>
              <a:t>…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93D91C3D-CBD5-2D93-82E0-DD8A20ABC373}"/>
              </a:ext>
            </a:extLst>
          </p:cNvPr>
          <p:cNvGrpSpPr/>
          <p:nvPr/>
        </p:nvGrpSpPr>
        <p:grpSpPr>
          <a:xfrm>
            <a:off x="6559349" y="2388427"/>
            <a:ext cx="1371600" cy="1258888"/>
            <a:chOff x="6559349" y="2388427"/>
            <a:chExt cx="1371600" cy="1258888"/>
          </a:xfrm>
        </p:grpSpPr>
        <p:sp>
          <p:nvSpPr>
            <p:cNvPr id="34" name="Freeform 44">
              <a:extLst>
                <a:ext uri="{FF2B5EF4-FFF2-40B4-BE49-F238E27FC236}">
                  <a16:creationId xmlns:a16="http://schemas.microsoft.com/office/drawing/2014/main" id="{54A02F9D-9AAA-F4DE-2A37-268128591BB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864149" y="2809115"/>
              <a:ext cx="1066800" cy="400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5" name="Freeform 45">
              <a:extLst>
                <a:ext uri="{FF2B5EF4-FFF2-40B4-BE49-F238E27FC236}">
                  <a16:creationId xmlns:a16="http://schemas.microsoft.com/office/drawing/2014/main" id="{70B4DA8C-FCB4-EFF0-5B38-4D3CE42FDF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559349" y="2388427"/>
              <a:ext cx="1143000" cy="307975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6" name="Freeform 46">
              <a:extLst>
                <a:ext uri="{FF2B5EF4-FFF2-40B4-BE49-F238E27FC236}">
                  <a16:creationId xmlns:a16="http://schemas.microsoft.com/office/drawing/2014/main" id="{A8A766B0-0E07-225A-9359-F0ADF3688AE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559349" y="2504315"/>
              <a:ext cx="533400" cy="3048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7" name="Freeform 47">
              <a:extLst>
                <a:ext uri="{FF2B5EF4-FFF2-40B4-BE49-F238E27FC236}">
                  <a16:creationId xmlns:a16="http://schemas.microsoft.com/office/drawing/2014/main" id="{955C43E0-8491-6946-22D0-271E3B194C8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559349" y="3342515"/>
              <a:ext cx="838200" cy="3048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0" y="192"/>
                </a:cxn>
              </a:cxnLst>
              <a:rect l="0" t="0" r="r" b="b"/>
              <a:pathLst>
                <a:path w="432" h="192">
                  <a:moveTo>
                    <a:pt x="432" y="0"/>
                  </a:move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 Box 86">
            <a:extLst>
              <a:ext uri="{FF2B5EF4-FFF2-40B4-BE49-F238E27FC236}">
                <a16:creationId xmlns:a16="http://schemas.microsoft.com/office/drawing/2014/main" id="{AE74E49E-2B77-4E15-E451-E742FD435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749" y="4543556"/>
            <a:ext cx="914400" cy="6093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-112" charset="0"/>
              </a:rPr>
              <a:t>flw</a:t>
            </a:r>
            <a:endParaRPr lang="es-ES_tradnl" sz="1800" dirty="0">
              <a:solidFill>
                <a:srgbClr val="C00000"/>
              </a:solidFill>
              <a:latin typeface="Courier New" pitchFamily="-112" charset="0"/>
            </a:endParaRPr>
          </a:p>
          <a:p>
            <a:pPr algn="l"/>
            <a:r>
              <a:rPr lang="es-ES_tradnl" sz="1800" dirty="0" err="1">
                <a:solidFill>
                  <a:srgbClr val="C00000"/>
                </a:solidFill>
                <a:latin typeface="Courier New" pitchFamily="-112" charset="0"/>
              </a:rPr>
              <a:t>fsw</a:t>
            </a:r>
            <a:endParaRPr lang="es-ES_tradnl" dirty="0">
              <a:solidFill>
                <a:srgbClr val="C00000"/>
              </a:solidFill>
              <a:latin typeface="Courier New" pitchFamily="-112" charset="0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058035AC-FD38-9EFD-BCF9-73F74D27E207}"/>
              </a:ext>
            </a:extLst>
          </p:cNvPr>
          <p:cNvGrpSpPr/>
          <p:nvPr/>
        </p:nvGrpSpPr>
        <p:grpSpPr>
          <a:xfrm>
            <a:off x="4054274" y="4287174"/>
            <a:ext cx="1143000" cy="1828800"/>
            <a:chOff x="4054274" y="4287174"/>
            <a:chExt cx="1143000" cy="18288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0" name="Rectangle 70">
              <a:extLst>
                <a:ext uri="{FF2B5EF4-FFF2-40B4-BE49-F238E27FC236}">
                  <a16:creationId xmlns:a16="http://schemas.microsoft.com/office/drawing/2014/main" id="{1C3D1566-1B63-0885-073C-8A69A2CD413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4054274" y="4287174"/>
              <a:ext cx="1143000" cy="1828800"/>
            </a:xfrm>
            <a:prstGeom prst="rect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1" name="Line 71">
              <a:extLst>
                <a:ext uri="{FF2B5EF4-FFF2-40B4-BE49-F238E27FC236}">
                  <a16:creationId xmlns:a16="http://schemas.microsoft.com/office/drawing/2014/main" id="{EA7D9381-F40E-D508-C924-12BFBEB14C9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44903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2" name="Line 72">
              <a:extLst>
                <a:ext uri="{FF2B5EF4-FFF2-40B4-BE49-F238E27FC236}">
                  <a16:creationId xmlns:a16="http://schemas.microsoft.com/office/drawing/2014/main" id="{9F0C37BC-736F-6571-58FE-C69783E6AD20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46935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3" name="Line 73">
              <a:extLst>
                <a:ext uri="{FF2B5EF4-FFF2-40B4-BE49-F238E27FC236}">
                  <a16:creationId xmlns:a16="http://schemas.microsoft.com/office/drawing/2014/main" id="{6251786A-EC89-0F7C-F073-E38CB62FE56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48967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4" name="Line 74">
              <a:extLst>
                <a:ext uri="{FF2B5EF4-FFF2-40B4-BE49-F238E27FC236}">
                  <a16:creationId xmlns:a16="http://schemas.microsoft.com/office/drawing/2014/main" id="{2C07E21D-AD0A-128D-6D41-34A357438FF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50999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5" name="Line 75">
              <a:extLst>
                <a:ext uri="{FF2B5EF4-FFF2-40B4-BE49-F238E27FC236}">
                  <a16:creationId xmlns:a16="http://schemas.microsoft.com/office/drawing/2014/main" id="{852F54CA-5BAA-B110-896B-8F6A212FBB6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53031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6" name="Line 76">
              <a:extLst>
                <a:ext uri="{FF2B5EF4-FFF2-40B4-BE49-F238E27FC236}">
                  <a16:creationId xmlns:a16="http://schemas.microsoft.com/office/drawing/2014/main" id="{1579304D-8E79-90F8-23A2-FF1B014DD95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55063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7" name="Line 77">
              <a:extLst>
                <a:ext uri="{FF2B5EF4-FFF2-40B4-BE49-F238E27FC236}">
                  <a16:creationId xmlns:a16="http://schemas.microsoft.com/office/drawing/2014/main" id="{4BF26853-E0CB-97EF-C6AB-CDCACA618D27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57095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48" name="Line 78">
              <a:extLst>
                <a:ext uri="{FF2B5EF4-FFF2-40B4-BE49-F238E27FC236}">
                  <a16:creationId xmlns:a16="http://schemas.microsoft.com/office/drawing/2014/main" id="{489F2418-58CE-9A7E-6BCE-F41837C3ED5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4274" y="5912774"/>
              <a:ext cx="1143000" cy="0"/>
            </a:xfrm>
            <a:prstGeom prst="line">
              <a:avLst/>
            </a:prstGeom>
            <a:grpFill/>
            <a:ln w="6350">
              <a:solidFill>
                <a:schemeClr val="accent2">
                  <a:lumMod val="75000"/>
                </a:schemeClr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etal">
              <a:bevelT w="13500" h="13500" prst="angle"/>
              <a:bevelB w="13500" h="13500" prst="angle"/>
              <a:extrusionClr>
                <a:schemeClr val="bg2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</p:grpSp>
    </p:spTree>
    <p:extLst>
      <p:ext uri="{BB962C8B-B14F-4D97-AF65-F5344CB8AC3E}">
        <p14:creationId xmlns:p14="http://schemas.microsoft.com/office/powerpoint/2010/main" val="2034106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2A15D-7B6B-0532-D687-48F64C15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038A97-02F5-3249-4D72-B8BD0303F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banco de registros</a:t>
            </a:r>
          </a:p>
          <a:p>
            <a:pPr lvl="1"/>
            <a:r>
              <a:rPr lang="es-ES" dirty="0"/>
              <a:t>Hay 32 registros: </a:t>
            </a:r>
            <a:r>
              <a:rPr lang="ca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  <a:r>
              <a:rPr lang="es-ES" sz="1800" dirty="0"/>
              <a:t>,</a:t>
            </a:r>
            <a:r>
              <a:rPr lang="ca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f1</a:t>
            </a:r>
            <a:r>
              <a:rPr lang="es-ES" sz="1800" dirty="0"/>
              <a:t>,…,</a:t>
            </a:r>
            <a:r>
              <a:rPr lang="ca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  <a:endParaRPr lang="es-ES_trad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s-ES_tradnl" dirty="0"/>
              <a:t>En la extensión RISC-V RV32, los registros de enteros y de coma flotante son de 32 bits</a:t>
            </a:r>
          </a:p>
          <a:p>
            <a:pPr lvl="1"/>
            <a:r>
              <a:rPr lang="es-ES_tradnl" dirty="0"/>
              <a:t>En la extensión RV64, ambos tipos de registros son de 64 bits</a:t>
            </a:r>
          </a:p>
          <a:p>
            <a:pPr lvl="1"/>
            <a:r>
              <a:rPr lang="es-ES_tradnl" dirty="0"/>
              <a:t>Cuando utilizamos una instrucción sobre CF de 32 bits, como </a:t>
            </a:r>
            <a:r>
              <a:rPr lang="es-ES_trad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fadd.s</a:t>
            </a:r>
            <a:r>
              <a:rPr lang="es-ES_trad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f0,f1,f2</a:t>
            </a:r>
            <a:r>
              <a:rPr lang="es-ES_tradnl" dirty="0"/>
              <a:t>, en una arquitectura RV64, solo se opera con los 32 bits menos significativos de los registros </a:t>
            </a:r>
            <a:r>
              <a:rPr lang="es-ES_tradnl" dirty="0">
                <a:latin typeface="Courier New" panose="02070309020205020404" pitchFamily="49" charset="0"/>
                <a:cs typeface="Courier New" panose="02070309020205020404" pitchFamily="49" charset="0"/>
              </a:rPr>
              <a:t>f1 </a:t>
            </a:r>
            <a:r>
              <a:rPr lang="es-ES" dirty="0"/>
              <a:t>y </a:t>
            </a:r>
            <a:r>
              <a:rPr lang="es-ES_tradnl" dirty="0">
                <a:latin typeface="Courier New" panose="02070309020205020404" pitchFamily="49" charset="0"/>
                <a:cs typeface="Courier New" panose="02070309020205020404" pitchFamily="49" charset="0"/>
              </a:rPr>
              <a:t>f2.</a:t>
            </a:r>
            <a:r>
              <a:rPr lang="es-ES_tradnl" dirty="0"/>
              <a:t> Además, el resultado se almacena en los 32 bits menos significativos del registro </a:t>
            </a:r>
            <a:r>
              <a:rPr lang="es-ES_tradnl" dirty="0"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  <a:r>
              <a:rPr lang="es-ES_tradnl" dirty="0"/>
              <a:t> y los 32 bits más significativos se rellenan con 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_tradnl" dirty="0"/>
              <a:t>s (NaN-</a:t>
            </a:r>
            <a:r>
              <a:rPr lang="es-ES_tradnl" dirty="0" err="1"/>
              <a:t>boxed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Para que el resultado sea correcto, los valores en los registros de entrada también deben estar NaN-</a:t>
            </a:r>
            <a:r>
              <a:rPr lang="es-ES_tradnl" dirty="0" err="1"/>
              <a:t>boxed</a:t>
            </a:r>
            <a:r>
              <a:rPr lang="es-ES_tradnl" dirty="0"/>
              <a:t>. Si no es así, se considera que la entrada es NaN y la salida será, por tanto, NaN también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F4A880-14D3-3512-3ECD-9AC153ED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07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EF3D5-9B2B-AAEA-BCEE-8476BEE4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CCD57-C148-D8BF-C7A1-6BE9A6CC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Convenio de uso de los registros</a:t>
            </a:r>
            <a:endParaRPr lang="es-ES" dirty="0"/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092E39-6676-DCD6-D2DD-84061372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graphicFrame>
        <p:nvGraphicFramePr>
          <p:cNvPr id="5" name="5 Tabla">
            <a:extLst>
              <a:ext uri="{FF2B5EF4-FFF2-40B4-BE49-F238E27FC236}">
                <a16:creationId xmlns:a16="http://schemas.microsoft.com/office/drawing/2014/main" id="{3B18D7E1-1022-47FD-E024-23C35387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58508"/>
              </p:ext>
            </p:extLst>
          </p:nvPr>
        </p:nvGraphicFramePr>
        <p:xfrm>
          <a:off x="827584" y="2348880"/>
          <a:ext cx="8064897" cy="1645920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099">
                  <a:extLst>
                    <a:ext uri="{9D8B030D-6E8A-4147-A177-3AD203B41FA5}">
                      <a16:colId xmlns:a16="http://schemas.microsoft.com/office/drawing/2014/main" val="1024357191"/>
                    </a:ext>
                  </a:extLst>
                </a:gridCol>
                <a:gridCol w="369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</a:rPr>
                        <a:t>Nombre del registro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1" kern="1200" dirty="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  <a:cs typeface="+mn-cs"/>
                        </a:rPr>
                        <a:t>Nombre ABI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</a:rPr>
                        <a:t>Utilización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0" dirty="0">
                          <a:latin typeface="Courier New"/>
                          <a:ea typeface="Times New Roman"/>
                        </a:rPr>
                        <a:t>f0-f7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+mn-cs"/>
                        </a:rPr>
                        <a:t>ft0-ft7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dirty="0">
                          <a:latin typeface="Calibri"/>
                          <a:ea typeface="Times New Roman"/>
                        </a:rPr>
                        <a:t>Temporales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0" dirty="0">
                          <a:latin typeface="Courier New"/>
                          <a:ea typeface="Times New Roman"/>
                        </a:rPr>
                        <a:t>f8-f9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+mn-cs"/>
                        </a:rPr>
                        <a:t>fs0-fs1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dirty="0" err="1">
                          <a:latin typeface="Calibri"/>
                          <a:ea typeface="Times New Roman"/>
                        </a:rPr>
                        <a:t>Callee-saved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0" dirty="0">
                          <a:latin typeface="Courier New"/>
                          <a:ea typeface="Times New Roman"/>
                        </a:rPr>
                        <a:t>f10-f17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+mn-cs"/>
                        </a:rPr>
                        <a:t>fa0-fa7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dirty="0">
                          <a:latin typeface="Calibri"/>
                          <a:ea typeface="Times New Roman"/>
                        </a:rPr>
                        <a:t>Argumentos de subrutinas/resultados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0" dirty="0">
                          <a:latin typeface="Courier New"/>
                          <a:ea typeface="Times New Roman"/>
                        </a:rPr>
                        <a:t>f18-f27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+mn-cs"/>
                        </a:rPr>
                        <a:t>fs2-fs11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dirty="0" err="1">
                          <a:latin typeface="Calibri"/>
                          <a:ea typeface="Times New Roman"/>
                        </a:rPr>
                        <a:t>Callee-saved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b="0" dirty="0">
                          <a:latin typeface="Courier New"/>
                          <a:ea typeface="Times New Roman"/>
                        </a:rPr>
                        <a:t>f28-f31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spcAft>
                          <a:spcPts val="0"/>
                        </a:spcAft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+mn-cs"/>
                        </a:rPr>
                        <a:t>ft8-ft11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800" dirty="0">
                          <a:latin typeface="Calibri"/>
                          <a:ea typeface="Times New Roman"/>
                        </a:rPr>
                        <a:t>Temporales</a:t>
                      </a:r>
                      <a:endParaRPr lang="es-E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250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F5F2-98DF-53C5-F78E-047863CC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C24E0-A841-A557-ABAC-297C8D4B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7FA369-2375-A051-BC49-362A73DE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Intercambio con memoria con CF de 32 bits</a:t>
            </a:r>
          </a:p>
          <a:p>
            <a:endParaRPr lang="es-ES" dirty="0"/>
          </a:p>
          <a:p>
            <a:endParaRPr lang="es-ES" dirty="0"/>
          </a:p>
          <a:p>
            <a:pPr marL="82550" indent="0">
              <a:buNone/>
            </a:pPr>
            <a:endParaRPr lang="es-ES" dirty="0"/>
          </a:p>
          <a:p>
            <a:pPr lvl="1"/>
            <a:r>
              <a:rPr lang="es-ES" dirty="0"/>
              <a:t>La instrucción de carga hace NaN-</a:t>
            </a:r>
            <a:r>
              <a:rPr lang="es-ES" dirty="0" err="1"/>
              <a:t>boxing</a:t>
            </a:r>
            <a:endParaRPr lang="es-ES" dirty="0"/>
          </a:p>
          <a:p>
            <a:pPr lvl="1"/>
            <a:r>
              <a:rPr lang="es-ES" dirty="0"/>
              <a:t>La instrucción de carga sigue el formato I mientras que la de almacenamiento sigue el formato S (igual que en las cargas/almacenamiento con enteros)</a:t>
            </a:r>
          </a:p>
          <a:p>
            <a:pPr lvl="1"/>
            <a:r>
              <a:rPr lang="es-ES" dirty="0"/>
              <a:t>Con números de 64 bits, las instrucciones equivalentes son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fld</a:t>
            </a:r>
            <a:r>
              <a:rPr lang="es-ES" dirty="0"/>
              <a:t> y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fsd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C8D6B0-3735-06DC-D9E3-FFBC53EB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CD1F7A6-79EB-BB5E-A695-43FAB5A30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792" y="1844824"/>
            <a:ext cx="6324600" cy="10002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15000"/>
              </a:spcBef>
              <a:tabLst>
                <a:tab pos="3716338" algn="l"/>
                <a:tab pos="4856163" algn="l"/>
              </a:tabLst>
            </a:pPr>
            <a:r>
              <a:rPr lang="es-ES" dirty="0">
                <a:solidFill>
                  <a:schemeClr val="tx1"/>
                </a:solidFill>
              </a:rPr>
              <a:t>Operación	Instrucción</a:t>
            </a:r>
          </a:p>
          <a:p>
            <a:pPr eaLnBrk="1" hangingPunct="1">
              <a:spcBef>
                <a:spcPct val="25000"/>
              </a:spcBef>
              <a:tabLst>
                <a:tab pos="3716338" algn="l"/>
                <a:tab pos="4856163" algn="l"/>
              </a:tabLst>
            </a:pPr>
            <a:r>
              <a:rPr lang="es-ES" dirty="0">
                <a:solidFill>
                  <a:schemeClr val="tx1"/>
                </a:solidFill>
              </a:rPr>
              <a:t>lectura </a:t>
            </a: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31" charset="2"/>
              </a:rPr>
              <a:t>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Mem[</a:t>
            </a: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X+rs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s-ES" dirty="0">
                <a:solidFill>
                  <a:schemeClr val="tx1"/>
                </a:solidFill>
              </a:rPr>
              <a:t>  	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flw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fd,X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(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rs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)</a:t>
            </a:r>
            <a:br>
              <a:rPr lang="es-ES" dirty="0">
                <a:solidFill>
                  <a:schemeClr val="accent3"/>
                </a:solidFill>
                <a:latin typeface="Courier New" pitchFamily="31" charset="0"/>
              </a:rPr>
            </a:br>
            <a:r>
              <a:rPr lang="es-ES" dirty="0">
                <a:solidFill>
                  <a:schemeClr val="tx1"/>
                </a:solidFill>
              </a:rPr>
              <a:t>escri</a:t>
            </a:r>
            <a:r>
              <a:rPr lang="es-ES_tradnl" dirty="0" err="1">
                <a:solidFill>
                  <a:schemeClr val="tx1"/>
                </a:solidFill>
              </a:rPr>
              <a:t>t</a:t>
            </a:r>
            <a:r>
              <a:rPr lang="es-ES" dirty="0">
                <a:solidFill>
                  <a:schemeClr val="tx1"/>
                </a:solidFill>
              </a:rPr>
              <a:t>ura 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Mem[</a:t>
            </a: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X+rs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31" charset="2"/>
              </a:rPr>
              <a:t>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es-ES" i="1"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fsw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fs,X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(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rs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)</a:t>
            </a:r>
            <a:endParaRPr lang="ca-ES" dirty="0">
              <a:solidFill>
                <a:schemeClr val="accent3"/>
              </a:solidFill>
              <a:latin typeface="Courier New" pitchFamily="31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ABC5C7D-9ABD-7744-4BD5-88F130477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6280" y="2132856"/>
            <a:ext cx="6172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018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60684-F389-D0EE-C053-BCAF24B9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6C01B-CBC1-BEAC-645E-4EF0530F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AAB71-F2EB-AABC-4E8A-1363AACE6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Transferencia entre los bancos de registros con CF de 32 bits</a:t>
            </a:r>
          </a:p>
          <a:p>
            <a:endParaRPr lang="es-ES" dirty="0"/>
          </a:p>
          <a:p>
            <a:endParaRPr lang="es-ES" dirty="0"/>
          </a:p>
          <a:p>
            <a:pPr marL="82550" indent="0">
              <a:buNone/>
            </a:pPr>
            <a:endParaRPr lang="es-ES" dirty="0"/>
          </a:p>
          <a:p>
            <a:pPr lvl="1"/>
            <a:r>
              <a:rPr lang="es-ES" dirty="0"/>
              <a:t>No convierten entre entero y coma flotante. Solo copian los 32 bits</a:t>
            </a:r>
          </a:p>
          <a:p>
            <a:pPr lvl="1"/>
            <a:r>
              <a:rPr lang="es-ES" dirty="0"/>
              <a:t>Al copiar de CF a entero, se hace extensión del signo para completar los 32 bits más </a:t>
            </a:r>
            <a:r>
              <a:rPr lang="es-ES" dirty="0" err="1"/>
              <a:t>significtivos</a:t>
            </a:r>
            <a:endParaRPr lang="es-ES" dirty="0"/>
          </a:p>
          <a:p>
            <a:pPr lvl="1"/>
            <a:r>
              <a:rPr lang="es-ES" dirty="0"/>
              <a:t> Al copiar de entero a CF, se hace NaN-</a:t>
            </a:r>
            <a:r>
              <a:rPr lang="es-ES" dirty="0" err="1"/>
              <a:t>boxing</a:t>
            </a:r>
            <a:endParaRPr lang="es-ES" dirty="0"/>
          </a:p>
          <a:p>
            <a:pPr lvl="1"/>
            <a:r>
              <a:rPr lang="es-ES" dirty="0"/>
              <a:t>Las instrucciones equivalentes para CF de 64 bits son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fmv.d.x</a:t>
            </a:r>
            <a:r>
              <a:rPr lang="es-ES" dirty="0"/>
              <a:t> y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fsd.x.d</a:t>
            </a:r>
            <a:endParaRPr lang="es-ES" dirty="0"/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640E71-4E51-6F52-A7DC-BE568CC1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869B097A-9DEC-7045-CFAD-042B2538E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792" y="1844824"/>
            <a:ext cx="6324600" cy="1077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15000"/>
              </a:spcBef>
              <a:tabLst>
                <a:tab pos="3716338" algn="l"/>
                <a:tab pos="4856163" algn="l"/>
              </a:tabLst>
            </a:pPr>
            <a:r>
              <a:rPr lang="es-ES" dirty="0">
                <a:solidFill>
                  <a:schemeClr val="tx1"/>
                </a:solidFill>
              </a:rPr>
              <a:t>Operación	Instrucción</a:t>
            </a:r>
          </a:p>
          <a:p>
            <a:pPr eaLnBrk="1" hangingPunct="1">
              <a:spcBef>
                <a:spcPct val="25000"/>
              </a:spcBef>
              <a:tabLst>
                <a:tab pos="3716338" algn="l"/>
                <a:tab pos="4856163" algn="l"/>
              </a:tabLst>
            </a:pP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31" charset="2"/>
              </a:rPr>
              <a:t></a:t>
            </a:r>
            <a:r>
              <a:rPr lang="es-E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s-ES" dirty="0">
                <a:solidFill>
                  <a:schemeClr val="tx1"/>
                </a:solidFill>
              </a:rPr>
              <a:t>  	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fmv.w.x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fd,rs</a:t>
            </a:r>
            <a:endParaRPr lang="es-ES" dirty="0">
              <a:solidFill>
                <a:schemeClr val="accent3"/>
              </a:solidFill>
              <a:latin typeface="Courier New" pitchFamily="31" charset="0"/>
            </a:endParaRPr>
          </a:p>
          <a:p>
            <a:pPr eaLnBrk="1" hangingPunct="1">
              <a:spcBef>
                <a:spcPct val="25000"/>
              </a:spcBef>
              <a:tabLst>
                <a:tab pos="3716338" algn="l"/>
                <a:tab pos="4856163" algn="l"/>
              </a:tabLst>
            </a:pP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  <a:sym typeface="Symbol" pitchFamily="31" charset="2"/>
              </a:rPr>
              <a:t>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s-ES" dirty="0">
                <a:solidFill>
                  <a:schemeClr val="tx1"/>
                </a:solidFill>
              </a:rPr>
              <a:t>	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fmv.x.w</a:t>
            </a:r>
            <a:r>
              <a:rPr lang="es-ES" dirty="0">
                <a:solidFill>
                  <a:schemeClr val="accent3"/>
                </a:solidFill>
                <a:latin typeface="Courier New" pitchFamily="31" charset="0"/>
              </a:rPr>
              <a:t> </a:t>
            </a:r>
            <a:r>
              <a:rPr lang="es-ES" dirty="0" err="1">
                <a:solidFill>
                  <a:schemeClr val="accent3"/>
                </a:solidFill>
                <a:latin typeface="Courier New" pitchFamily="31" charset="0"/>
              </a:rPr>
              <a:t>rd,fs</a:t>
            </a:r>
            <a:endParaRPr lang="ca-ES" dirty="0">
              <a:solidFill>
                <a:schemeClr val="accent3"/>
              </a:solidFill>
              <a:latin typeface="Courier New" pitchFamily="31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ADBB5A0D-04D8-6358-C828-7E667CB12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6280" y="2132856"/>
            <a:ext cx="6172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endParaRPr lang="ca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559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21A0-251B-61D9-7243-8CB0D910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C813E-FAC2-77B8-56BD-C854AFEF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211F5F-3F41-322F-BDE7-907368119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Conversión entre formatos</a:t>
            </a:r>
          </a:p>
          <a:p>
            <a:pPr lvl="1">
              <a:tabLst>
                <a:tab pos="7908925" algn="l"/>
              </a:tabLst>
            </a:pPr>
            <a:r>
              <a:rPr lang="es-ES" dirty="0"/>
              <a:t>Entre CF de 32 y 64 bits: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float→double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double→float</a:t>
            </a:r>
            <a:endParaRPr 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tabLst>
                <a:tab pos="7908925" algn="l"/>
              </a:tabLst>
            </a:pPr>
            <a:r>
              <a:rPr lang="es-ES" dirty="0"/>
              <a:t>Entre enteros de 32 bits y CF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fcvt.s.w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fd,xs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int32→float   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fcvt.w.s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float→int32 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fcvt.d.w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fd,xs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int32→double  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fcvt.w.d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double→int32</a:t>
            </a:r>
          </a:p>
          <a:p>
            <a:pPr lvl="1">
              <a:tabLst>
                <a:tab pos="7908925" algn="l"/>
              </a:tabLst>
            </a:pPr>
            <a:r>
              <a:rPr lang="es-ES" dirty="0"/>
              <a:t>Entre enteros de 64 bits y CF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fcvt.s.l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fd,xs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int64→float   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fcvt.l.s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float→int64 </a:t>
            </a:r>
          </a:p>
          <a:p>
            <a:pPr marL="657225" lvl="2" indent="0">
              <a:buNone/>
              <a:tabLst>
                <a:tab pos="7908925" algn="l"/>
              </a:tabLst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fcvt.d.l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fd,xs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int64→double  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fcvt.l.d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xd,fs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double→int64</a:t>
            </a:r>
            <a:endParaRPr lang="es-ES" dirty="0"/>
          </a:p>
          <a:p>
            <a:pPr lvl="1">
              <a:tabLst>
                <a:tab pos="7908925" algn="l"/>
              </a:tabLst>
            </a:pPr>
            <a:r>
              <a:rPr lang="es-ES" dirty="0"/>
              <a:t>También existen variantes para enteros sin signo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5D1DAB-F4AB-153D-4E14-14F61EF8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07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A1EE-AAC9-ACB4-EDE6-A2712243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78E9A-9DBA-1AA6-4958-08F3F045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C0AC99-63F5-CA90-6A56-2189492F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Instrucciones aritméticas básicas</a:t>
            </a:r>
          </a:p>
          <a:p>
            <a:pPr lvl="1"/>
            <a:r>
              <a:rPr lang="es-ES" dirty="0"/>
              <a:t>Hay dos versiones de cada operación: S (simple precisión) y D (doble precisión)</a:t>
            </a:r>
          </a:p>
          <a:p>
            <a:pPr lvl="2"/>
            <a:r>
              <a:rPr lang="es-ES" dirty="0"/>
              <a:t>Ejemplo: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f0,f1,f2</a:t>
            </a:r>
            <a:r>
              <a:rPr lang="es-ES" dirty="0"/>
              <a:t>; 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f2,f4,f6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026F73-FFBB-00B9-3154-5DD35ED5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grpSp>
        <p:nvGrpSpPr>
          <p:cNvPr id="5" name="Group 31">
            <a:extLst>
              <a:ext uri="{FF2B5EF4-FFF2-40B4-BE49-F238E27FC236}">
                <a16:creationId xmlns:a16="http://schemas.microsoft.com/office/drawing/2014/main" id="{CF8EC0BD-7B1D-E233-4C8C-9B1F27F84905}"/>
              </a:ext>
            </a:extLst>
          </p:cNvPr>
          <p:cNvGrpSpPr>
            <a:grpSpLocks/>
          </p:cNvGrpSpPr>
          <p:nvPr/>
        </p:nvGrpSpPr>
        <p:grpSpPr bwMode="auto">
          <a:xfrm>
            <a:off x="2412857" y="3140969"/>
            <a:ext cx="5183478" cy="2924176"/>
            <a:chOff x="796" y="2016"/>
            <a:chExt cx="2180" cy="1842"/>
          </a:xfrm>
        </p:grpSpPr>
        <p:sp>
          <p:nvSpPr>
            <p:cNvPr id="6" name="Text Box 29">
              <a:extLst>
                <a:ext uri="{FF2B5EF4-FFF2-40B4-BE49-F238E27FC236}">
                  <a16:creationId xmlns:a16="http://schemas.microsoft.com/office/drawing/2014/main" id="{D32DDD57-3E7A-99C2-A714-52338B53C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016"/>
              <a:ext cx="2160" cy="18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l" eaLnBrk="1" hangingPunct="1">
                <a:lnSpc>
                  <a:spcPct val="80000"/>
                </a:lnSpc>
                <a:tabLst>
                  <a:tab pos="1998663" algn="l"/>
                  <a:tab pos="3427413" algn="l"/>
                </a:tabLst>
              </a:pPr>
              <a:r>
                <a:rPr lang="es-ES" dirty="0">
                  <a:solidFill>
                    <a:schemeClr val="tx1"/>
                  </a:solidFill>
                </a:rPr>
                <a:t>operación	instrucción</a:t>
              </a:r>
            </a:p>
            <a:p>
              <a:pPr algn="l" eaLnBrk="1" hangingPunct="1">
                <a:spcBef>
                  <a:spcPct val="20000"/>
                </a:spcBef>
                <a:tabLst>
                  <a:tab pos="1998663" algn="l"/>
                  <a:tab pos="3427413" algn="l"/>
                </a:tabLst>
              </a:pPr>
              <a:r>
                <a:rPr lang="es-ES" dirty="0">
                  <a:solidFill>
                    <a:schemeClr val="tx1"/>
                  </a:solidFill>
                </a:rPr>
                <a:t>suma 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fadd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fd,fs1,fs2</a:t>
              </a:r>
              <a:br>
                <a:rPr lang="es-ES_tradnl" dirty="0">
                  <a:solidFill>
                    <a:schemeClr val="accent3"/>
                  </a:solidFill>
                  <a:latin typeface="Courier New" pitchFamily="31" charset="0"/>
                </a:rPr>
              </a:br>
              <a:r>
                <a:rPr lang="es-ES" dirty="0">
                  <a:solidFill>
                    <a:schemeClr val="tx1"/>
                  </a:solidFill>
                </a:rPr>
                <a:t>resta 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fsub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fd,fs1,fs2</a:t>
              </a:r>
              <a:br>
                <a:rPr lang="es-ES" dirty="0">
                  <a:solidFill>
                    <a:schemeClr val="tx1"/>
                  </a:solidFill>
                  <a:latin typeface="Courier New" pitchFamily="31" charset="0"/>
                </a:rPr>
              </a:br>
              <a:r>
                <a:rPr lang="es-ES" dirty="0">
                  <a:solidFill>
                    <a:schemeClr val="tx1"/>
                  </a:solidFill>
                </a:rPr>
                <a:t>multiplicación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fmul</a:t>
              </a:r>
              <a:r>
                <a:rPr lang="es-ES_tradnl" dirty="0">
                  <a:solidFill>
                    <a:schemeClr val="accent3"/>
                  </a:solidFill>
                  <a:latin typeface="Courier New" pitchFamily="31" charset="0"/>
                </a:rPr>
                <a:t>._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 fd,fs1,fs2</a:t>
              </a:r>
              <a:br>
                <a:rPr lang="es-ES" dirty="0">
                  <a:solidFill>
                    <a:schemeClr val="tx1"/>
                  </a:solidFill>
                  <a:latin typeface="Courier New" pitchFamily="31" charset="0"/>
                </a:rPr>
              </a:br>
              <a:r>
                <a:rPr lang="es-ES" dirty="0">
                  <a:solidFill>
                    <a:schemeClr val="tx1"/>
                  </a:solidFill>
                </a:rPr>
                <a:t>división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fdiv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fd,fs1,fs2</a:t>
              </a:r>
              <a:br>
                <a:rPr lang="es-ES" dirty="0">
                  <a:solidFill>
                    <a:schemeClr val="tx1"/>
                  </a:solidFill>
                  <a:latin typeface="Courier New" pitchFamily="31" charset="0"/>
                </a:rPr>
              </a:br>
              <a:r>
                <a:rPr lang="es-ES" dirty="0">
                  <a:solidFill>
                    <a:schemeClr val="tx1"/>
                  </a:solidFill>
                </a:rPr>
                <a:t>comparación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c.</a:t>
              </a:r>
              <a:r>
                <a:rPr lang="es-ES" i="1" dirty="0" err="1">
                  <a:solidFill>
                    <a:schemeClr val="accent3"/>
                  </a:solidFill>
                  <a:latin typeface="Courier New" pitchFamily="31" charset="0"/>
                </a:rPr>
                <a:t>cond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rd,fs1,fs2</a:t>
              </a:r>
              <a:endParaRPr lang="es-ES" dirty="0">
                <a:latin typeface="Courier New" pitchFamily="31" charset="0"/>
              </a:endParaRPr>
            </a:p>
            <a:p>
              <a:pPr algn="l" eaLnBrk="1" hangingPunct="1">
                <a:spcBef>
                  <a:spcPct val="20000"/>
                </a:spcBef>
                <a:tabLst>
                  <a:tab pos="1998663" algn="l"/>
                  <a:tab pos="3427413" algn="l"/>
                </a:tabLst>
              </a:pPr>
              <a:r>
                <a:rPr lang="es-ES" dirty="0">
                  <a:solidFill>
                    <a:schemeClr val="tx1"/>
                  </a:solidFill>
                </a:rPr>
                <a:t>copia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fmv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fd,fs</a:t>
              </a:r>
              <a:br>
                <a:rPr lang="es-ES" dirty="0">
                  <a:solidFill>
                    <a:schemeClr val="tx1"/>
                  </a:solidFill>
                  <a:latin typeface="Courier New" pitchFamily="31" charset="0"/>
                </a:rPr>
              </a:br>
              <a:r>
                <a:rPr lang="es-ES_tradnl" dirty="0">
                  <a:solidFill>
                    <a:schemeClr val="tx1"/>
                  </a:solidFill>
                </a:rPr>
                <a:t>cambio de signo</a:t>
              </a:r>
              <a:r>
                <a:rPr lang="es-ES" dirty="0">
                  <a:solidFill>
                    <a:schemeClr val="tx1"/>
                  </a:solidFill>
                </a:rPr>
                <a:t>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fneg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fd,fs</a:t>
              </a:r>
              <a:b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</a:br>
              <a:r>
                <a:rPr lang="es-ES" dirty="0">
                  <a:solidFill>
                    <a:schemeClr val="tx1"/>
                  </a:solidFill>
                </a:rPr>
                <a:t>valor absoluto	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fabs</a:t>
              </a:r>
              <a:r>
                <a:rPr lang="es-ES" dirty="0">
                  <a:solidFill>
                    <a:schemeClr val="accent3"/>
                  </a:solidFill>
                  <a:latin typeface="Courier New" pitchFamily="31" charset="0"/>
                </a:rPr>
                <a:t>._ </a:t>
              </a:r>
              <a:r>
                <a:rPr lang="es-ES" dirty="0" err="1">
                  <a:solidFill>
                    <a:schemeClr val="accent3"/>
                  </a:solidFill>
                  <a:latin typeface="Courier New" pitchFamily="31" charset="0"/>
                </a:rPr>
                <a:t>fd,fs</a:t>
              </a:r>
              <a:endParaRPr lang="ca-ES" dirty="0">
                <a:solidFill>
                  <a:schemeClr val="accent3"/>
                </a:solidFill>
                <a:latin typeface="Courier New" pitchFamily="31" charset="0"/>
              </a:endParaRPr>
            </a:p>
          </p:txBody>
        </p:sp>
        <p:sp>
          <p:nvSpPr>
            <p:cNvPr id="7" name="Line 30">
              <a:extLst>
                <a:ext uri="{FF2B5EF4-FFF2-40B4-BE49-F238E27FC236}">
                  <a16:creationId xmlns:a16="http://schemas.microsoft.com/office/drawing/2014/main" id="{43B36156-4018-FDA7-ABE3-A921FFF20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6" y="2197"/>
              <a:ext cx="21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037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6A0A-EF64-C9D6-4F54-919FDF1D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F439D-BD99-3569-02F3-B669E143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coma flotante en RISC-V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FDC2E-04A4-8708-C6EB-A9920C98E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Comparación</a:t>
            </a:r>
          </a:p>
          <a:p>
            <a:pPr lvl="1"/>
            <a:r>
              <a:rPr lang="es-ES" dirty="0"/>
              <a:t>Las instrucciones de comparación escriben el resultado en un registro entero que codifica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/>
              <a:t> si la condición es cierta o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dirty="0"/>
              <a:t> en caso contrario</a:t>
            </a:r>
          </a:p>
          <a:p>
            <a:pPr lvl="1"/>
            <a:r>
              <a:rPr lang="es-ES" dirty="0"/>
              <a:t>Las más importantes: (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c.__.s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rd,fs1,fs2 </a:t>
            </a:r>
            <a:r>
              <a:rPr lang="es-ES" dirty="0"/>
              <a:t>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c.__.d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rd,fs1,fs2</a:t>
            </a:r>
            <a:r>
              <a:rPr lang="es-ES" dirty="0"/>
              <a:t>)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r>
              <a:rPr lang="es-ES" dirty="0"/>
              <a:t>Las condiciones de mayor y mayor o igual se obtienen intercambiando el orden de los operandos</a:t>
            </a:r>
          </a:p>
          <a:p>
            <a:pPr lvl="1"/>
            <a:r>
              <a:rPr lang="es-ES" dirty="0"/>
              <a:t>El control de flujo se realiza entonces haciendo uso de las instrucciones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" dirty="0"/>
              <a:t> (o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s-ES" dirty="0"/>
              <a:t>) sobre el resultado en el registro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3225" lvl="1" indent="0">
              <a:buNone/>
            </a:pP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23B38A-EE31-457D-9205-73B77640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25811C40-C956-C261-CFE6-20C9F33FF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137" y="3285014"/>
            <a:ext cx="1262063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s-ES_tradnl" dirty="0">
                <a:latin typeface="Courier New" panose="02070309020205020404" pitchFamily="49" charset="0"/>
                <a:cs typeface="Courier New" panose="02070309020205020404" pitchFamily="49" charset="0"/>
              </a:rPr>
              <a:t>fs1&lt;fs2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0B45B224-D9A3-2C65-0FAB-318B81E53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775" y="3285014"/>
            <a:ext cx="184150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s-ES_tradnl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A318B417-9718-C40C-EC66-AA67905EF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200" y="3285014"/>
            <a:ext cx="1262063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s-ES_tradnl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fs1=fs2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4D5E82F4-782C-5A84-33BF-A20C85683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875" y="3794602"/>
            <a:ext cx="49212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endParaRPr lang="es-ES_tradnl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0ABED754-FB2B-873C-138F-93585104F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2737" y="3797777"/>
            <a:ext cx="4889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1F525BDF-81AB-615B-EFE6-5DC42F04B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375" y="3796189"/>
            <a:ext cx="488950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B312F2FF-FA5B-648B-06CE-2EFC995F7B9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979712" y="3683477"/>
            <a:ext cx="5715000" cy="68165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noAutofit/>
          </a:bodyPr>
          <a:lstStyle/>
          <a:p>
            <a:endParaRPr lang="ca-E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Line 26">
            <a:extLst>
              <a:ext uri="{FF2B5EF4-FFF2-40B4-BE49-F238E27FC236}">
                <a16:creationId xmlns:a16="http://schemas.microsoft.com/office/drawing/2014/main" id="{FCBC2242-594E-F3FF-64E5-0F506115964F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851920" y="3645055"/>
            <a:ext cx="0" cy="7200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D95AF70A-4F36-C9F4-D44E-E2AC63D18C2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796136" y="3717062"/>
            <a:ext cx="0" cy="6480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ca-E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9CECCAF0-3C6D-78E7-64E2-6A4BCC782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339" y="3284984"/>
            <a:ext cx="1249061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s-ES_tradnl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fs1</a:t>
            </a:r>
            <a:r>
              <a:rPr lang="es-ES_tradnl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-112" charset="2"/>
              </a:rPr>
              <a:t></a:t>
            </a:r>
            <a:r>
              <a:rPr lang="es-ES_tradnl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fs2</a:t>
            </a:r>
          </a:p>
        </p:txBody>
      </p:sp>
    </p:spTree>
    <p:extLst>
      <p:ext uri="{BB962C8B-B14F-4D97-AF65-F5344CB8AC3E}">
        <p14:creationId xmlns:p14="http://schemas.microsoft.com/office/powerpoint/2010/main" val="929021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4E80-F01A-CBE2-2FB9-90084580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3BD12-E39C-EB90-1574-FA806FC4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4F7B9-1B19-AF68-43FF-BEA22FCA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1 – Introducción</a:t>
            </a:r>
          </a:p>
          <a:p>
            <a:pPr lvl="1"/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Medida del rendimiento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2 – La norma IEEE y su implementación en RISC-V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Formato, valores especiales, redondeo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Visión del programador: banco de registros y movimiento de datos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Juego de instrucciones de coma flotante</a:t>
            </a:r>
          </a:p>
          <a:p>
            <a:pPr marL="82550" indent="0">
              <a:buNone/>
            </a:pP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3 – </a:t>
            </a:r>
            <a:r>
              <a:rPr lang="es-ES_tradnl" sz="2000" dirty="0">
                <a:solidFill>
                  <a:srgbClr val="FF0000"/>
                </a:solidFill>
                <a:cs typeface="Calibri" panose="020F0502020204030204" pitchFamily="34" charset="0"/>
              </a:rPr>
              <a:t>Operadores de coma flotante</a:t>
            </a:r>
            <a:endParaRPr lang="es-ES_tradnl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cambio de signo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Operadores de conversión de tipo</a:t>
            </a:r>
          </a:p>
          <a:p>
            <a:pPr lvl="1"/>
            <a:r>
              <a:rPr lang="es-ES_tradnl" sz="1800" dirty="0">
                <a:cs typeface="Calibri" panose="020F0502020204030204" pitchFamily="34" charset="0"/>
              </a:rPr>
              <a:t>Operador de multiplicación</a:t>
            </a:r>
            <a:endParaRPr lang="es-ES_tradnl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FC8672-8EFB-F115-5C6B-E5D76B18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mtClean="0"/>
              <a:pPr>
                <a:defRPr/>
              </a:pPr>
              <a:t>26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75517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DE4ED-1AE2-29DC-00D0-2D7F6309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coma flotante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FDDA6-CBDC-0373-5F8F-29722806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Operadores</a:t>
            </a:r>
          </a:p>
          <a:p>
            <a:pPr lvl="1"/>
            <a:r>
              <a:rPr lang="es-ES_tradnl" dirty="0"/>
              <a:t>Toman como entrada uno o dos operandos en un formato de CF dado</a:t>
            </a:r>
          </a:p>
          <a:p>
            <a:pPr lvl="1"/>
            <a:r>
              <a:rPr lang="es-ES_tradnl" dirty="0"/>
              <a:t>Su resultado </a:t>
            </a:r>
            <a:r>
              <a:rPr lang="es-ES_tradnl" altLang="ja-JP" dirty="0"/>
              <a:t>es un valor en CF codificado según la norma</a:t>
            </a:r>
          </a:p>
          <a:p>
            <a:pPr lvl="2"/>
            <a:r>
              <a:rPr lang="es-ES_tradnl" dirty="0"/>
              <a:t>excepto los operandos de comparaci</a:t>
            </a:r>
            <a:r>
              <a:rPr lang="es-ES_tradnl" altLang="ja-JP" dirty="0"/>
              <a:t>ón</a:t>
            </a:r>
          </a:p>
          <a:p>
            <a:pPr lvl="1"/>
            <a:r>
              <a:rPr lang="es-ES_tradnl" dirty="0"/>
              <a:t>Su diseño </a:t>
            </a:r>
            <a:r>
              <a:rPr lang="es-ES_tradnl" altLang="ja-JP" dirty="0"/>
              <a:t>es complejo porque, además de realizar la operación definida, se han de ocupar de ciertos detalles:</a:t>
            </a:r>
            <a:endParaRPr lang="es-ES_tradnl" dirty="0"/>
          </a:p>
          <a:p>
            <a:pPr lvl="2"/>
            <a:r>
              <a:rPr lang="es-ES_tradnl" dirty="0"/>
              <a:t>Han de suministrar el resultado correctamente normalizado según la precisi</a:t>
            </a:r>
            <a:r>
              <a:rPr lang="es-ES_tradnl" altLang="ja-JP" dirty="0"/>
              <a:t>ón con la que trabajan</a:t>
            </a:r>
            <a:r>
              <a:rPr lang="es-ES_tradnl" dirty="0"/>
              <a:t> </a:t>
            </a:r>
          </a:p>
          <a:p>
            <a:pPr lvl="2"/>
            <a:r>
              <a:rPr lang="es-ES_tradnl" dirty="0"/>
              <a:t>Han de gestionar los valores especiales definidos en la norma</a:t>
            </a:r>
          </a:p>
          <a:p>
            <a:pPr lvl="2"/>
            <a:r>
              <a:rPr lang="es-ES_tradnl" dirty="0"/>
              <a:t>Si procede, han de redondear el resultado según el modo programado</a:t>
            </a:r>
          </a:p>
          <a:p>
            <a:pPr lvl="2"/>
            <a:r>
              <a:rPr lang="es-ES_tradnl" dirty="0"/>
              <a:t>Han de señalar las excepciones previstas por la norma</a:t>
            </a:r>
          </a:p>
          <a:p>
            <a:pPr lvl="1"/>
            <a:r>
              <a:rPr lang="es-ES_tradnl" dirty="0"/>
              <a:t>Estudiaremos la estructura b</a:t>
            </a:r>
            <a:r>
              <a:rPr lang="es-ES_tradnl" altLang="ja-JP" dirty="0"/>
              <a:t>ásica de algunos operadores y veremos, en casos seleccionados, cómo resuelven los detalles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698D17-3195-4CB5-5C22-67C53E0C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583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DDBE6-FC55-DFDF-D8E0-709CC8B0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coma flotante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C6D0A-7A78-1873-CFDC-ED23B0E3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itchFamily="31" charset="2"/>
              <a:buChar char="§"/>
              <a:defRPr/>
            </a:pPr>
            <a:r>
              <a:rPr lang="es-ES_tradnl" kern="0" dirty="0"/>
              <a:t>Ejemplos de operadores:</a:t>
            </a:r>
          </a:p>
          <a:p>
            <a:pPr lvl="1">
              <a:lnSpc>
                <a:spcPct val="100000"/>
              </a:lnSpc>
            </a:pP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fneg.s</a:t>
            </a:r>
            <a:r>
              <a:rPr lang="es-ES_tradnl" sz="1600" kern="0" dirty="0">
                <a:solidFill>
                  <a:srgbClr val="C00000"/>
                </a:solidFill>
                <a:ea typeface="ＭＳ Ｐゴシック" pitchFamily="31" charset="-128"/>
                <a:cs typeface="Courier New" panose="02070309020205020404" pitchFamily="49" charset="0"/>
              </a:rPr>
              <a:t>, </a:t>
            </a: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fneg.d</a:t>
            </a:r>
            <a:r>
              <a:rPr lang="es-ES_tradnl" sz="1600" kern="0" dirty="0">
                <a:solidFill>
                  <a:srgbClr val="C00000"/>
                </a:solidFill>
                <a:ea typeface="ＭＳ Ｐゴシック" pitchFamily="31" charset="-128"/>
              </a:rPr>
              <a:t> </a:t>
            </a:r>
            <a:r>
              <a:rPr lang="es-ES_tradnl" sz="1600" kern="0" dirty="0">
                <a:ea typeface="ＭＳ Ｐゴシック" pitchFamily="31" charset="-128"/>
              </a:rPr>
              <a:t>(cambio de signo)</a:t>
            </a:r>
          </a:p>
          <a:p>
            <a:pPr lvl="2">
              <a:lnSpc>
                <a:spcPct val="100000"/>
              </a:lnSpc>
            </a:pPr>
            <a:r>
              <a:rPr lang="es-ES_tradnl" sz="1400" kern="0" dirty="0">
                <a:ea typeface="ＭＳ Ｐゴシック" pitchFamily="31" charset="-128"/>
              </a:rPr>
              <a:t>Estructura</a:t>
            </a:r>
          </a:p>
          <a:p>
            <a:pPr lvl="1">
              <a:lnSpc>
                <a:spcPct val="100000"/>
              </a:lnSpc>
            </a:pP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fcvt.d.s</a:t>
            </a:r>
            <a:r>
              <a:rPr lang="es-ES_tradnl" sz="1600" kern="0" dirty="0">
                <a:ea typeface="ＭＳ Ｐゴシック" pitchFamily="31" charset="-128"/>
              </a:rPr>
              <a:t> (conversi</a:t>
            </a:r>
            <a:r>
              <a:rPr lang="es-ES_tradnl" altLang="ja-JP" sz="1600" kern="0" dirty="0">
                <a:ea typeface="Geneva" pitchFamily="-112" charset="0"/>
                <a:cs typeface="Geneva" pitchFamily="-112" charset="0"/>
              </a:rPr>
              <a:t>ón de simple a doble precisión)</a:t>
            </a:r>
            <a:endParaRPr lang="es-ES_tradnl" sz="1600" kern="0" dirty="0">
              <a:ea typeface="ＭＳ Ｐゴシック" pitchFamily="31" charset="-128"/>
            </a:endParaRP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Estructura bá</a:t>
            </a:r>
            <a:r>
              <a:rPr lang="es-ES_tradnl" altLang="ja-JP" sz="1400" kern="0" dirty="0">
                <a:ea typeface="ＭＳ Ｐゴシック" pitchFamily="31" charset="-128"/>
              </a:rPr>
              <a:t>sica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altLang="ja-JP" sz="1400" kern="0" dirty="0">
                <a:ea typeface="ＭＳ Ｐゴシック" pitchFamily="31" charset="-128"/>
              </a:rPr>
              <a:t>Detalle: tratamiento de los valores especiales</a:t>
            </a:r>
          </a:p>
          <a:p>
            <a:pPr lvl="1">
              <a:lnSpc>
                <a:spcPct val="100000"/>
              </a:lnSpc>
            </a:pP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fcvt.s.d</a:t>
            </a:r>
            <a:r>
              <a:rPr lang="es-ES_tradnl" sz="1600" kern="0" dirty="0"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 </a:t>
            </a:r>
            <a:r>
              <a:rPr lang="es-ES_tradnl" sz="1600" kern="0" dirty="0">
                <a:ea typeface="ＭＳ Ｐゴシック" pitchFamily="31" charset="-128"/>
              </a:rPr>
              <a:t>(conversi</a:t>
            </a:r>
            <a:r>
              <a:rPr lang="es-ES_tradnl" altLang="ja-JP" sz="1600" kern="0" dirty="0">
                <a:ea typeface="Geneva" pitchFamily="-112" charset="0"/>
                <a:cs typeface="Geneva" pitchFamily="-112" charset="0"/>
              </a:rPr>
              <a:t>ón de doble a simple precisión)</a:t>
            </a:r>
            <a:endParaRPr lang="es-ES_tradnl" sz="1600" kern="0" dirty="0">
              <a:ea typeface="ＭＳ Ｐゴシック" pitchFamily="31" charset="-128"/>
            </a:endParaRP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Estructura bá</a:t>
            </a:r>
            <a:r>
              <a:rPr lang="es-ES_tradnl" altLang="ja-JP" sz="1400" kern="0" dirty="0">
                <a:ea typeface="ＭＳ Ｐゴシック" pitchFamily="31" charset="-128"/>
              </a:rPr>
              <a:t>sica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altLang="ja-JP" sz="1400" kern="0" dirty="0">
                <a:ea typeface="ＭＳ Ｐゴシック" pitchFamily="31" charset="-128"/>
              </a:rPr>
              <a:t>Detalle: el redondeo</a:t>
            </a:r>
          </a:p>
          <a:p>
            <a:pPr lvl="1">
              <a:lnSpc>
                <a:spcPct val="100000"/>
              </a:lnSpc>
            </a:pP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fcvt.d.w</a:t>
            </a:r>
            <a:r>
              <a:rPr lang="es-ES_tradnl" sz="1600" kern="0" dirty="0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 </a:t>
            </a:r>
            <a:r>
              <a:rPr lang="es-ES_tradnl" sz="1600" kern="0" dirty="0">
                <a:ea typeface="ＭＳ Ｐゴシック" pitchFamily="31" charset="-128"/>
              </a:rPr>
              <a:t>(conversión de entero de 32 bits a CF doble precisión)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Estructura básica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Detalle: la normalización</a:t>
            </a:r>
          </a:p>
          <a:p>
            <a:pPr marL="625475" indent="-285750">
              <a:lnSpc>
                <a:spcPct val="100000"/>
              </a:lnSpc>
              <a:buFont typeface="Wingdings" pitchFamily="2" charset="2"/>
              <a:buChar char="ü"/>
              <a:defRPr/>
            </a:pP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fmuls.s</a:t>
            </a:r>
            <a:r>
              <a:rPr lang="es-ES_tradnl" sz="1600" kern="0" dirty="0">
                <a:solidFill>
                  <a:srgbClr val="C00000"/>
                </a:solidFill>
                <a:ea typeface="ＭＳ Ｐゴシック" pitchFamily="31" charset="-128"/>
              </a:rPr>
              <a:t> </a:t>
            </a:r>
            <a:r>
              <a:rPr lang="es-ES_tradnl" sz="1600" kern="0" dirty="0">
                <a:ea typeface="ＭＳ Ｐゴシック" pitchFamily="31" charset="-128"/>
              </a:rPr>
              <a:t>y</a:t>
            </a:r>
            <a:r>
              <a:rPr lang="es-ES_tradnl" sz="1600" kern="0" dirty="0">
                <a:solidFill>
                  <a:srgbClr val="C00000"/>
                </a:solidFill>
                <a:ea typeface="ＭＳ Ｐゴシック" pitchFamily="31" charset="-128"/>
              </a:rPr>
              <a:t> </a:t>
            </a:r>
            <a:r>
              <a:rPr lang="es-ES_tradnl" sz="1600" kern="0" dirty="0" err="1">
                <a:solidFill>
                  <a:srgbClr val="C00000"/>
                </a:solidFill>
                <a:latin typeface="Courier New" panose="02070309020205020404" pitchFamily="49" charset="0"/>
                <a:ea typeface="ＭＳ Ｐゴシック" pitchFamily="31" charset="-128"/>
                <a:cs typeface="Courier New" panose="02070309020205020404" pitchFamily="49" charset="0"/>
              </a:rPr>
              <a:t>fmuls.d</a:t>
            </a:r>
            <a:r>
              <a:rPr lang="es-ES_tradnl" sz="1600" kern="0" dirty="0">
                <a:solidFill>
                  <a:srgbClr val="C00000"/>
                </a:solidFill>
                <a:ea typeface="ＭＳ Ｐゴシック" pitchFamily="31" charset="-128"/>
              </a:rPr>
              <a:t> </a:t>
            </a:r>
            <a:r>
              <a:rPr lang="es-ES_tradnl" sz="1600" kern="0" dirty="0">
                <a:ea typeface="ＭＳ Ｐゴシック" pitchFamily="31" charset="-128"/>
              </a:rPr>
              <a:t>(multiplicación)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Estructura básica</a:t>
            </a:r>
          </a:p>
          <a:p>
            <a:pPr lvl="2">
              <a:lnSpc>
                <a:spcPct val="100000"/>
              </a:lnSpc>
              <a:defRPr/>
            </a:pPr>
            <a:r>
              <a:rPr lang="es-ES_tradnl" sz="1400" kern="0" dirty="0">
                <a:ea typeface="ＭＳ Ｐゴシック" pitchFamily="31" charset="-128"/>
              </a:rPr>
              <a:t>Detalle: la normalización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2D6001-1F34-84C8-0EF9-CA019F23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60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3B56-CE7B-212E-44F8-1FEC5151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0B8CE-A749-E106-1382-ED760EE9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Cambio de signo: </a:t>
            </a:r>
            <a:r>
              <a:rPr lang="es-ES_trad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fneg.s</a:t>
            </a:r>
            <a:r>
              <a:rPr lang="es-ES_tradnl" dirty="0"/>
              <a:t> y </a:t>
            </a:r>
            <a:r>
              <a:rPr lang="es-ES_trad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fneg.d</a:t>
            </a:r>
            <a:endParaRPr lang="es-ES_trad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00DBC7-BDC5-E8E7-4C91-F28B60D8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Operador</a:t>
            </a:r>
            <a:endParaRPr lang="es-ES_tradnl" altLang="ja-JP" dirty="0"/>
          </a:p>
          <a:p>
            <a:pPr lvl="1"/>
            <a:r>
              <a:rPr lang="es-ES_tradnl" dirty="0"/>
              <a:t>Dos versiones:</a:t>
            </a:r>
          </a:p>
          <a:p>
            <a:pPr lvl="2"/>
            <a:r>
              <a:rPr lang="es-ES_tradnl" dirty="0"/>
              <a:t>Simple precisi</a:t>
            </a:r>
            <a:r>
              <a:rPr lang="es-ES_tradnl" altLang="ja-JP" dirty="0"/>
              <a:t>ón: </a:t>
            </a:r>
            <a:r>
              <a:rPr lang="es-ES_trad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fneg.s</a:t>
            </a:r>
            <a:endParaRPr lang="es-ES_tradnl" altLang="ja-JP" dirty="0"/>
          </a:p>
          <a:p>
            <a:pPr lvl="3"/>
            <a:r>
              <a:rPr lang="es-ES_tradnl" dirty="0"/>
              <a:t>Entrada: S</a:t>
            </a:r>
            <a:r>
              <a:rPr lang="es-ES_tradnl" baseline="-25000" dirty="0"/>
              <a:t>A</a:t>
            </a:r>
            <a:r>
              <a:rPr lang="es-ES_tradnl" dirty="0"/>
              <a:t> (1 bit), E</a:t>
            </a:r>
            <a:r>
              <a:rPr lang="es-ES_tradnl" baseline="-25000" dirty="0"/>
              <a:t>A</a:t>
            </a:r>
            <a:r>
              <a:rPr lang="es-ES_tradnl" dirty="0"/>
              <a:t> (8 bits) y M</a:t>
            </a:r>
            <a:r>
              <a:rPr lang="es-ES_tradnl" baseline="-25000" dirty="0"/>
              <a:t>A</a:t>
            </a:r>
            <a:r>
              <a:rPr lang="es-ES_tradnl" dirty="0"/>
              <a:t> (23 bits)</a:t>
            </a:r>
          </a:p>
          <a:p>
            <a:pPr lvl="3"/>
            <a:r>
              <a:rPr lang="es-ES_tradnl" dirty="0"/>
              <a:t>Salida: S</a:t>
            </a:r>
            <a:r>
              <a:rPr lang="es-ES_tradnl" baseline="-25000" dirty="0"/>
              <a:t>R</a:t>
            </a:r>
            <a:r>
              <a:rPr lang="es-ES_tradnl" dirty="0"/>
              <a:t> (1 bit), E</a:t>
            </a:r>
            <a:r>
              <a:rPr lang="es-ES_tradnl" baseline="-25000" dirty="0"/>
              <a:t>R</a:t>
            </a:r>
            <a:r>
              <a:rPr lang="es-ES_tradnl" dirty="0"/>
              <a:t> (8 bits) y M</a:t>
            </a:r>
            <a:r>
              <a:rPr lang="es-ES_tradnl" baseline="-25000" dirty="0"/>
              <a:t>R</a:t>
            </a:r>
            <a:r>
              <a:rPr lang="es-ES_tradnl" dirty="0"/>
              <a:t> (23 bits)</a:t>
            </a:r>
          </a:p>
          <a:p>
            <a:pPr lvl="2"/>
            <a:r>
              <a:rPr lang="es-ES_tradnl" dirty="0"/>
              <a:t>Doble precisi</a:t>
            </a:r>
            <a:r>
              <a:rPr lang="es-ES_tradnl" altLang="ja-JP" dirty="0"/>
              <a:t>ón: </a:t>
            </a:r>
            <a:r>
              <a:rPr lang="es-ES_trad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fneg.d</a:t>
            </a:r>
            <a:endParaRPr lang="es-ES_tradnl" altLang="ja-JP" dirty="0"/>
          </a:p>
          <a:p>
            <a:pPr lvl="3"/>
            <a:r>
              <a:rPr lang="es-ES_tradnl" dirty="0"/>
              <a:t>Entrada: S</a:t>
            </a:r>
            <a:r>
              <a:rPr lang="es-ES_tradnl" baseline="-25000" dirty="0"/>
              <a:t>A</a:t>
            </a:r>
            <a:r>
              <a:rPr lang="es-ES_tradnl" dirty="0"/>
              <a:t> (1 bit), E</a:t>
            </a:r>
            <a:r>
              <a:rPr lang="es-ES_tradnl" baseline="-25000" dirty="0"/>
              <a:t>A</a:t>
            </a:r>
            <a:r>
              <a:rPr lang="es-ES_tradnl" dirty="0"/>
              <a:t> (11 bits) y M</a:t>
            </a:r>
            <a:r>
              <a:rPr lang="es-ES_tradnl" baseline="-25000" dirty="0"/>
              <a:t>A</a:t>
            </a:r>
            <a:r>
              <a:rPr lang="es-ES_tradnl" dirty="0"/>
              <a:t> (52 bits)</a:t>
            </a:r>
          </a:p>
          <a:p>
            <a:pPr lvl="3"/>
            <a:r>
              <a:rPr lang="es-ES_tradnl" dirty="0"/>
              <a:t>Salida: S</a:t>
            </a:r>
            <a:r>
              <a:rPr lang="es-ES_tradnl" baseline="-25000" dirty="0"/>
              <a:t>R</a:t>
            </a:r>
            <a:r>
              <a:rPr lang="es-ES_tradnl" dirty="0"/>
              <a:t> (1 bit), E</a:t>
            </a:r>
            <a:r>
              <a:rPr lang="es-ES_tradnl" baseline="-25000" dirty="0"/>
              <a:t>R</a:t>
            </a:r>
            <a:r>
              <a:rPr lang="es-ES_tradnl" dirty="0"/>
              <a:t> (11 bits) y M</a:t>
            </a:r>
            <a:r>
              <a:rPr lang="es-ES_tradnl" baseline="-25000" dirty="0"/>
              <a:t>R</a:t>
            </a:r>
            <a:r>
              <a:rPr lang="es-ES_tradnl" dirty="0"/>
              <a:t> (52 bits)</a:t>
            </a:r>
          </a:p>
          <a:p>
            <a:pPr lvl="1"/>
            <a:r>
              <a:rPr lang="es-ES_tradnl" dirty="0"/>
              <a:t>Cambia el signo: S</a:t>
            </a:r>
            <a:r>
              <a:rPr lang="es-ES_tradnl" baseline="-25000" dirty="0"/>
              <a:t>R</a:t>
            </a:r>
            <a:r>
              <a:rPr lang="es-ES_tradnl" dirty="0"/>
              <a:t> = </a:t>
            </a:r>
            <a:r>
              <a:rPr lang="es-ES_tradnl" dirty="0" err="1"/>
              <a:t>not</a:t>
            </a:r>
            <a:r>
              <a:rPr lang="es-ES_tradnl" dirty="0"/>
              <a:t> S</a:t>
            </a:r>
            <a:r>
              <a:rPr lang="es-ES_tradnl" baseline="-25000" dirty="0"/>
              <a:t>A</a:t>
            </a:r>
            <a:r>
              <a:rPr lang="es-ES_tradnl" dirty="0"/>
              <a:t> </a:t>
            </a:r>
          </a:p>
          <a:p>
            <a:pPr lvl="1"/>
            <a:r>
              <a:rPr lang="es-ES_tradnl" dirty="0"/>
              <a:t>Copia el exponente: E</a:t>
            </a:r>
            <a:r>
              <a:rPr lang="es-ES_tradnl" baseline="-25000" dirty="0"/>
              <a:t>R</a:t>
            </a:r>
            <a:r>
              <a:rPr lang="es-ES_tradnl" dirty="0"/>
              <a:t> = E</a:t>
            </a:r>
            <a:r>
              <a:rPr lang="es-ES_tradnl" baseline="-25000" dirty="0"/>
              <a:t>A</a:t>
            </a:r>
            <a:endParaRPr lang="es-ES_tradnl" altLang="ja-JP" dirty="0"/>
          </a:p>
          <a:p>
            <a:pPr lvl="1"/>
            <a:r>
              <a:rPr lang="es-ES_tradnl" altLang="ja-JP" dirty="0"/>
              <a:t>Copia la mantisa: </a:t>
            </a:r>
            <a:r>
              <a:rPr lang="es-ES_tradnl" dirty="0"/>
              <a:t>M</a:t>
            </a:r>
            <a:r>
              <a:rPr lang="es-ES_tradnl" baseline="-25000" dirty="0"/>
              <a:t>R</a:t>
            </a:r>
            <a:r>
              <a:rPr lang="es-ES_tradnl" dirty="0"/>
              <a:t> = M</a:t>
            </a:r>
            <a:r>
              <a:rPr lang="es-ES_tradnl" baseline="-25000" dirty="0"/>
              <a:t>A</a:t>
            </a:r>
            <a:endParaRPr lang="es-ES_tradnl" sz="1400" kern="0" dirty="0">
              <a:ea typeface="ＭＳ Ｐゴシック" pitchFamily="31" charset="-128"/>
            </a:endParaRP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8B35B-F45E-BD30-3B90-162E6E4B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grpSp>
        <p:nvGrpSpPr>
          <p:cNvPr id="5" name="Agrupar 1">
            <a:extLst>
              <a:ext uri="{FF2B5EF4-FFF2-40B4-BE49-F238E27FC236}">
                <a16:creationId xmlns:a16="http://schemas.microsoft.com/office/drawing/2014/main" id="{63B5F307-2506-6367-F4D6-1774E6BE3E50}"/>
              </a:ext>
            </a:extLst>
          </p:cNvPr>
          <p:cNvGrpSpPr/>
          <p:nvPr/>
        </p:nvGrpSpPr>
        <p:grpSpPr>
          <a:xfrm>
            <a:off x="5943600" y="2590800"/>
            <a:ext cx="2819400" cy="2895600"/>
            <a:chOff x="5943600" y="2590800"/>
            <a:chExt cx="2819400" cy="28956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E91368A-3F4D-AC8B-6382-7123694E8F0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43600" y="2590800"/>
              <a:ext cx="2819400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16D2A382-2AD0-9145-B69D-E3D2375F2FC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6324600" y="25908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CD9B7452-079D-4267-5CA6-AB7236E1CEC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7239000" y="25908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6218C565-4F12-2046-98AF-1044131A39F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961063" y="2667000"/>
              <a:ext cx="288925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2"/>
                  </a:solidFill>
                </a:rPr>
                <a:t>S</a:t>
              </a:r>
              <a:r>
                <a:rPr lang="es-ES" b="1" baseline="-25000">
                  <a:solidFill>
                    <a:schemeClr val="tx2"/>
                  </a:solidFill>
                </a:rPr>
                <a:t>A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56EF527D-65AE-60AA-DAF6-5194D139E25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6415088" y="2667000"/>
              <a:ext cx="288925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>
                  <a:solidFill>
                    <a:schemeClr val="tx2"/>
                  </a:solidFill>
                </a:rPr>
                <a:t>E</a:t>
              </a:r>
              <a:r>
                <a:rPr lang="es-ES" b="1" baseline="-25000">
                  <a:solidFill>
                    <a:schemeClr val="tx2"/>
                  </a:solidFill>
                </a:rPr>
                <a:t>A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34C8BF66-2611-2EAB-E9C1-40DC259C923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7348538" y="2667000"/>
              <a:ext cx="3302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2"/>
                  </a:solidFill>
                </a:rPr>
                <a:t>M</a:t>
              </a:r>
              <a:r>
                <a:rPr lang="es-ES" b="1" baseline="-25000">
                  <a:solidFill>
                    <a:schemeClr val="tx2"/>
                  </a:solidFill>
                </a:rPr>
                <a:t>A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7ADE64DE-D75D-191A-D7EB-9144C790C1A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43600" y="5029200"/>
              <a:ext cx="2819400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CFA545CC-4156-6306-E030-5EEB86535B9D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6324600" y="5029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7A5290F2-8F32-2B54-2D18-30FF94D3C51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7315200" y="5029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1470711E-A392-82CA-2259-91AA799558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1800" y="3048000"/>
              <a:ext cx="0" cy="198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555217DF-9ACC-0CCE-2C22-792F25460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77200" y="3048000"/>
              <a:ext cx="0" cy="198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Line 29">
              <a:extLst>
                <a:ext uri="{FF2B5EF4-FFF2-40B4-BE49-F238E27FC236}">
                  <a16:creationId xmlns:a16="http://schemas.microsoft.com/office/drawing/2014/main" id="{A7922CF6-9A8A-B069-A6F5-42B02A0A3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4267200"/>
              <a:ext cx="0" cy="762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F5F0A82D-F0B0-1956-CFA8-18B228D0A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0" y="3048000"/>
              <a:ext cx="0" cy="685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9" name="Text Box 38">
              <a:extLst>
                <a:ext uri="{FF2B5EF4-FFF2-40B4-BE49-F238E27FC236}">
                  <a16:creationId xmlns:a16="http://schemas.microsoft.com/office/drawing/2014/main" id="{9654E223-9B96-0179-70E4-B0688B6E765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983288" y="5105400"/>
              <a:ext cx="288925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2"/>
                  </a:solidFill>
                </a:rPr>
                <a:t>S</a:t>
              </a:r>
              <a:r>
                <a:rPr lang="es-ES" b="1" baseline="-25000">
                  <a:solidFill>
                    <a:schemeClr val="tx2"/>
                  </a:solidFill>
                </a:rPr>
                <a:t>R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0" name="Text Box 39">
              <a:extLst>
                <a:ext uri="{FF2B5EF4-FFF2-40B4-BE49-F238E27FC236}">
                  <a16:creationId xmlns:a16="http://schemas.microsoft.com/office/drawing/2014/main" id="{4EB691DA-8FD1-FFB8-75AD-FD336C81202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6437313" y="5105400"/>
              <a:ext cx="288925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>
                  <a:solidFill>
                    <a:schemeClr val="tx2"/>
                  </a:solidFill>
                </a:rPr>
                <a:t>E</a:t>
              </a:r>
              <a:r>
                <a:rPr lang="es-ES" b="1" baseline="-25000">
                  <a:solidFill>
                    <a:schemeClr val="tx2"/>
                  </a:solidFill>
                </a:rPr>
                <a:t>R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1" name="Text Box 40">
              <a:extLst>
                <a:ext uri="{FF2B5EF4-FFF2-40B4-BE49-F238E27FC236}">
                  <a16:creationId xmlns:a16="http://schemas.microsoft.com/office/drawing/2014/main" id="{52F00C28-6AFC-C214-6F93-F3403ACB3F8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7370763" y="5105400"/>
              <a:ext cx="3302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2"/>
                  </a:solidFill>
                </a:rPr>
                <a:t>M</a:t>
              </a:r>
              <a:r>
                <a:rPr lang="es-ES" b="1" baseline="-25000">
                  <a:solidFill>
                    <a:schemeClr val="tx2"/>
                  </a:solidFill>
                </a:rPr>
                <a:t>R</a:t>
              </a:r>
              <a:endParaRPr lang="ca-ES" b="1">
                <a:solidFill>
                  <a:schemeClr val="tx2"/>
                </a:solidFill>
              </a:endParaRPr>
            </a:p>
          </p:txBody>
        </p:sp>
        <p:grpSp>
          <p:nvGrpSpPr>
            <p:cNvPr id="22" name="Group 43">
              <a:extLst>
                <a:ext uri="{FF2B5EF4-FFF2-40B4-BE49-F238E27FC236}">
                  <a16:creationId xmlns:a16="http://schemas.microsoft.com/office/drawing/2014/main" id="{10C307C0-5CAB-07E1-F5E2-8966FA7432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3600" y="3733800"/>
              <a:ext cx="304800" cy="533400"/>
              <a:chOff x="528" y="2352"/>
              <a:chExt cx="192" cy="336"/>
            </a:xfrm>
          </p:grpSpPr>
          <p:sp>
            <p:nvSpPr>
              <p:cNvPr id="23" name="AutoShape 41">
                <a:extLst>
                  <a:ext uri="{FF2B5EF4-FFF2-40B4-BE49-F238E27FC236}">
                    <a16:creationId xmlns:a16="http://schemas.microsoft.com/office/drawing/2014/main" id="{7F16E6BB-BB6B-EE04-7F28-F49B3BEA7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28" y="2352"/>
                <a:ext cx="192" cy="226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24" name="Oval 42">
                <a:extLst>
                  <a:ext uri="{FF2B5EF4-FFF2-40B4-BE49-F238E27FC236}">
                    <a16:creationId xmlns:a16="http://schemas.microsoft.com/office/drawing/2014/main" id="{E77F6DDE-3720-F7D9-C29B-46C6780DA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2950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96B1-1DCC-084B-F2D0-666A49B95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C0C63-E172-FC41-E74E-E2DE758E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Emulación del cambio de signo</a:t>
            </a:r>
            <a:endParaRPr lang="es-ES_trad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B1AECC-413C-C38A-B42E-17ED8BBE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27" name="3 Marcador de número de diapositiva">
            <a:extLst>
              <a:ext uri="{FF2B5EF4-FFF2-40B4-BE49-F238E27FC236}">
                <a16:creationId xmlns:a16="http://schemas.microsoft.com/office/drawing/2014/main" id="{DFC8E831-61F2-2734-38D9-66BAA50DE673}"/>
              </a:ext>
            </a:extLst>
          </p:cNvPr>
          <p:cNvSpPr txBox="1">
            <a:spLocks/>
          </p:cNvSpPr>
          <p:nvPr/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algn="ctr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itchFamily="48" charset="2"/>
              <a:buNone/>
              <a:defRPr lang="es-ES" sz="10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  <a:cs typeface="+mn-cs"/>
              </a:defRPr>
            </a:lvl1pPr>
            <a:lvl2pPr marL="4572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fld id="{3FFC385B-37DC-274C-A8CB-B7D76426A4D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8" name="Rectángulo 8">
            <a:extLst>
              <a:ext uri="{FF2B5EF4-FFF2-40B4-BE49-F238E27FC236}">
                <a16:creationId xmlns:a16="http://schemas.microsoft.com/office/drawing/2014/main" id="{8D158835-558C-7DA9-E9FB-310D7A6F59F5}"/>
              </a:ext>
            </a:extLst>
          </p:cNvPr>
          <p:cNvSpPr/>
          <p:nvPr/>
        </p:nvSpPr>
        <p:spPr>
          <a:xfrm>
            <a:off x="2195736" y="2276872"/>
            <a:ext cx="6948264" cy="29854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s-ES_tradnl" b="1" dirty="0">
                <a:latin typeface="Courier New"/>
                <a:cs typeface="Courier New"/>
              </a:rPr>
              <a:t>x:	.</a:t>
            </a:r>
            <a:r>
              <a:rPr lang="es-ES_tradnl" b="1" dirty="0" err="1">
                <a:latin typeface="Courier New"/>
                <a:cs typeface="Courier New"/>
              </a:rPr>
              <a:t>float</a:t>
            </a:r>
            <a:r>
              <a:rPr lang="es-ES_tradnl" b="1" dirty="0">
                <a:latin typeface="Courier New"/>
                <a:cs typeface="Courier New"/>
              </a:rPr>
              <a:t> 1.0</a:t>
            </a:r>
          </a:p>
          <a:p>
            <a:pPr algn="l"/>
            <a:endParaRPr lang="es-ES_tradnl" b="1" dirty="0">
              <a:latin typeface="Courier New"/>
              <a:cs typeface="Courier New"/>
            </a:endParaRP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	lwc1 $f2, x        # $f2 &lt;- x (1.0)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 	mfc1 $t0,$f2       # $t0 &lt;- $f2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	lui  $t1, 0x8000   # $t1 &lt;- 0x80000000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	</a:t>
            </a:r>
            <a:r>
              <a:rPr lang="es-ES_tradnl" b="1" dirty="0" err="1">
                <a:latin typeface="Courier New"/>
                <a:cs typeface="Courier New"/>
              </a:rPr>
              <a:t>xor</a:t>
            </a:r>
            <a:r>
              <a:rPr lang="es-ES_tradnl" b="1" dirty="0">
                <a:latin typeface="Courier New"/>
                <a:cs typeface="Courier New"/>
              </a:rPr>
              <a:t>  $t0, $t0, $t1 # $t0 &lt;- -1.0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	mtc1 $t0, $f2      # $f2 &lt;- $t0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	swc1 $f2, x        # x &lt;- $f2 (-1.0)</a:t>
            </a:r>
          </a:p>
        </p:txBody>
      </p:sp>
      <p:sp>
        <p:nvSpPr>
          <p:cNvPr id="29" name="Rectángulo 8">
            <a:extLst>
              <a:ext uri="{FF2B5EF4-FFF2-40B4-BE49-F238E27FC236}">
                <a16:creationId xmlns:a16="http://schemas.microsoft.com/office/drawing/2014/main" id="{1870F4C1-5A35-0153-5223-5390FA5DEABA}"/>
              </a:ext>
            </a:extLst>
          </p:cNvPr>
          <p:cNvSpPr/>
          <p:nvPr/>
        </p:nvSpPr>
        <p:spPr>
          <a:xfrm>
            <a:off x="899592" y="1124744"/>
            <a:ext cx="2592288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s-ES_tradnl" b="1" dirty="0" err="1">
                <a:latin typeface="Courier New"/>
                <a:cs typeface="Courier New"/>
              </a:rPr>
              <a:t>float</a:t>
            </a:r>
            <a:r>
              <a:rPr lang="es-ES_tradnl" b="1" dirty="0">
                <a:latin typeface="Courier New"/>
                <a:cs typeface="Courier New"/>
              </a:rPr>
              <a:t> x = 1.0;</a:t>
            </a:r>
          </a:p>
          <a:p>
            <a:pPr algn="l"/>
            <a:r>
              <a:rPr lang="es-ES_tradnl" b="1" dirty="0">
                <a:latin typeface="Courier New"/>
                <a:cs typeface="Courier New"/>
              </a:rPr>
              <a:t>x = -x;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9D045B83-DD5C-69BC-F735-A151B136D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505305"/>
            <a:ext cx="5300090" cy="1380079"/>
          </a:xfrm>
          <a:prstGeom prst="rect">
            <a:avLst/>
          </a:prstGeom>
        </p:spPr>
      </p:pic>
      <p:sp>
        <p:nvSpPr>
          <p:cNvPr id="33" name="Bocadillo: ovalado 10">
            <a:extLst>
              <a:ext uri="{FF2B5EF4-FFF2-40B4-BE49-F238E27FC236}">
                <a16:creationId xmlns:a16="http://schemas.microsoft.com/office/drawing/2014/main" id="{9C7F9A74-3C5D-CAAB-59C6-593C3A74246E}"/>
              </a:ext>
            </a:extLst>
          </p:cNvPr>
          <p:cNvSpPr/>
          <p:nvPr/>
        </p:nvSpPr>
        <p:spPr bwMode="auto">
          <a:xfrm>
            <a:off x="4581836" y="1223659"/>
            <a:ext cx="3744416" cy="1442641"/>
          </a:xfrm>
          <a:prstGeom prst="wedgeEllipseCallout">
            <a:avLst>
              <a:gd name="adj1" fmla="val -29079"/>
              <a:gd name="adj2" fmla="val 132097"/>
            </a:avLst>
          </a:prstGeom>
          <a:solidFill>
            <a:schemeClr val="bg2">
              <a:lumMod val="75000"/>
            </a:schemeClr>
          </a:solidFill>
          <a:ln w="381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itchFamily="31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1" charset="0"/>
              </a:rPr>
              <a:t>0x8000</a:t>
            </a:r>
            <a:r>
              <a:rPr kumimoji="0" lang="es-ES" sz="2000" b="0" i="0" u="none" strike="noStrike" cap="none" normalizeH="0" baseline="-2500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1" charset="0"/>
              </a:rPr>
              <a:t>16</a:t>
            </a:r>
            <a:r>
              <a:rPr kumimoji="0" 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1" charset="0"/>
              </a:rPr>
              <a:t> = 100 … 000</a:t>
            </a:r>
            <a:r>
              <a:rPr kumimoji="0" lang="es-ES" sz="2000" b="0" i="0" u="none" strike="noStrike" cap="none" normalizeH="0" baseline="-25000" dirty="0">
                <a:ln>
                  <a:noFill/>
                </a:ln>
                <a:solidFill>
                  <a:srgbClr val="FFFFFF"/>
                </a:solidFill>
                <a:effectLst/>
                <a:latin typeface="Arial" pitchFamily="31" charset="0"/>
              </a:rPr>
              <a:t>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baseline="-250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-25000" dirty="0">
              <a:ln>
                <a:noFill/>
              </a:ln>
              <a:solidFill>
                <a:srgbClr val="FFFFFF"/>
              </a:solidFill>
              <a:effectLst/>
              <a:latin typeface="Arial" pitchFamily="3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41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0526E-C9F8-BD87-2C62-C4B050D1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Conversión d</a:t>
            </a:r>
            <a:r>
              <a:rPr lang="es-ES_tradnl" altLang="ja-JP" dirty="0"/>
              <a:t>e </a:t>
            </a:r>
            <a:r>
              <a:rPr lang="es-ES_tradnl" dirty="0"/>
              <a:t>simple a doble precisi</a:t>
            </a:r>
            <a:r>
              <a:rPr lang="es-ES_tradnl" altLang="ja-JP" dirty="0"/>
              <a:t>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fcvt.d.s</a:t>
            </a: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F0559C-281C-229A-5C5A-6273F3DA4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Especificación del </a:t>
            </a:r>
            <a:r>
              <a:rPr lang="es-ES_tradnl" altLang="ja-JP" dirty="0"/>
              <a:t>operador:</a:t>
            </a:r>
          </a:p>
          <a:p>
            <a:pPr lvl="1"/>
            <a:r>
              <a:rPr lang="es-ES_tradnl" dirty="0"/>
              <a:t>Entrada: S</a:t>
            </a:r>
            <a:r>
              <a:rPr lang="es-ES_tradnl" baseline="-25000" dirty="0"/>
              <a:t>A</a:t>
            </a:r>
            <a:r>
              <a:rPr lang="es-ES_tradnl" dirty="0"/>
              <a:t> (1 bit), E</a:t>
            </a:r>
            <a:r>
              <a:rPr lang="es-ES_tradnl" baseline="-25000" dirty="0"/>
              <a:t>A</a:t>
            </a:r>
            <a:r>
              <a:rPr lang="es-ES_tradnl" dirty="0"/>
              <a:t> (8 bits) y M</a:t>
            </a:r>
            <a:r>
              <a:rPr lang="es-ES_tradnl" baseline="-25000" dirty="0"/>
              <a:t>A</a:t>
            </a:r>
            <a:r>
              <a:rPr lang="es-ES_tradnl" dirty="0"/>
              <a:t> (23 bits)</a:t>
            </a:r>
          </a:p>
          <a:p>
            <a:pPr lvl="1"/>
            <a:r>
              <a:rPr lang="es-ES_tradnl" dirty="0"/>
              <a:t>Salida: S</a:t>
            </a:r>
            <a:r>
              <a:rPr lang="es-ES_tradnl" baseline="-25000" dirty="0"/>
              <a:t>R</a:t>
            </a:r>
            <a:r>
              <a:rPr lang="es-ES_tradnl" dirty="0"/>
              <a:t> (1 bit), E</a:t>
            </a:r>
            <a:r>
              <a:rPr lang="es-ES_tradnl" baseline="-25000" dirty="0"/>
              <a:t>R</a:t>
            </a:r>
            <a:r>
              <a:rPr lang="es-ES_tradnl" dirty="0"/>
              <a:t> (11 bits) y M</a:t>
            </a:r>
            <a:r>
              <a:rPr lang="es-ES_tradnl" baseline="-25000" dirty="0"/>
              <a:t>R</a:t>
            </a:r>
            <a:r>
              <a:rPr lang="es-ES_tradnl" dirty="0"/>
              <a:t> (52 bits)</a:t>
            </a:r>
          </a:p>
          <a:p>
            <a:pPr lvl="1"/>
            <a:r>
              <a:rPr lang="es-ES_tradnl" dirty="0"/>
              <a:t>El signo no cambia: S</a:t>
            </a:r>
            <a:r>
              <a:rPr lang="es-ES_tradnl" baseline="-25000" dirty="0"/>
              <a:t>R</a:t>
            </a:r>
            <a:r>
              <a:rPr lang="es-ES_tradnl" dirty="0"/>
              <a:t> = S</a:t>
            </a:r>
            <a:r>
              <a:rPr lang="es-ES_tradnl" baseline="-25000" dirty="0"/>
              <a:t>A</a:t>
            </a:r>
            <a:r>
              <a:rPr lang="es-ES_tradnl" dirty="0"/>
              <a:t> </a:t>
            </a:r>
          </a:p>
          <a:p>
            <a:pPr lvl="1"/>
            <a:r>
              <a:rPr lang="es-ES_tradnl" dirty="0"/>
              <a:t>Exponente: hay que cambiar de exc</a:t>
            </a:r>
            <a:r>
              <a:rPr lang="es-ES_tradnl" altLang="ja-JP" dirty="0"/>
              <a:t>eso 127 a exceso 1023 </a:t>
            </a:r>
          </a:p>
          <a:p>
            <a:pPr lvl="2"/>
            <a:r>
              <a:rPr lang="es-ES_tradnl" dirty="0"/>
              <a:t>E</a:t>
            </a:r>
            <a:r>
              <a:rPr lang="es-ES_tradnl" baseline="-25000" dirty="0"/>
              <a:t>R</a:t>
            </a:r>
            <a:r>
              <a:rPr lang="es-ES_tradnl" dirty="0"/>
              <a:t> = E</a:t>
            </a:r>
            <a:r>
              <a:rPr lang="es-ES_tradnl" baseline="-25000" dirty="0"/>
              <a:t>A</a:t>
            </a:r>
            <a:r>
              <a:rPr lang="es-ES_tradnl" dirty="0"/>
              <a:t> + 896</a:t>
            </a:r>
            <a:endParaRPr lang="es-ES_tradnl" altLang="ja-JP" dirty="0"/>
          </a:p>
          <a:p>
            <a:pPr lvl="1"/>
            <a:r>
              <a:rPr lang="es-ES_tradnl" altLang="ja-JP" dirty="0"/>
              <a:t>Mantisa: hay que añadir 52–23=29 ceros a la derecha</a:t>
            </a:r>
          </a:p>
          <a:p>
            <a:pPr lvl="2"/>
            <a:r>
              <a:rPr lang="es-ES_tradnl" dirty="0"/>
              <a:t>M</a:t>
            </a:r>
            <a:r>
              <a:rPr lang="es-ES_tradnl" baseline="-25000" dirty="0"/>
              <a:t>R</a:t>
            </a:r>
            <a:r>
              <a:rPr lang="es-ES_tradnl" dirty="0"/>
              <a:t> = M</a:t>
            </a:r>
            <a:r>
              <a:rPr lang="es-ES_tradnl" baseline="-25000" dirty="0"/>
              <a:t>A</a:t>
            </a:r>
            <a:r>
              <a:rPr lang="es-ES_tradnl" dirty="0"/>
              <a:t> || 00….0</a:t>
            </a:r>
            <a:endParaRPr lang="es-ES_tradnl" altLang="ja-JP" dirty="0"/>
          </a:p>
          <a:p>
            <a:pPr lvl="1"/>
            <a:r>
              <a:rPr lang="es-ES_tradnl" altLang="ja-JP" dirty="0"/>
              <a:t>Detalle del tratamiento correcto de los valores especiales: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9B1D7C-500A-3519-95A8-956876A2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4 Rectángulo">
            <a:extLst>
              <a:ext uri="{FF2B5EF4-FFF2-40B4-BE49-F238E27FC236}">
                <a16:creationId xmlns:a16="http://schemas.microsoft.com/office/drawing/2014/main" id="{276BF2B6-2569-D06C-0F86-9CE5A4B007DC}"/>
              </a:ext>
            </a:extLst>
          </p:cNvPr>
          <p:cNvSpPr/>
          <p:nvPr/>
        </p:nvSpPr>
        <p:spPr bwMode="auto">
          <a:xfrm>
            <a:off x="459582" y="5085184"/>
            <a:ext cx="8648922" cy="1600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D548B4B1-EFE5-23B6-2361-D49030469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439" y="5157192"/>
            <a:ext cx="6180778" cy="15286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tabLst>
                <a:tab pos="1911350" algn="l"/>
                <a:tab pos="2663825" algn="l"/>
                <a:tab pos="4765675" algn="l"/>
              </a:tabLst>
            </a:pPr>
            <a:r>
              <a:rPr lang="es-ES_tradnl" dirty="0">
                <a:solidFill>
                  <a:schemeClr val="tx1"/>
                </a:solidFill>
              </a:rPr>
              <a:t>E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	S</a:t>
            </a:r>
            <a:r>
              <a:rPr lang="es-ES_tradnl" b="1" baseline="-25000" dirty="0">
                <a:solidFill>
                  <a:schemeClr val="tx1"/>
                </a:solidFill>
              </a:rPr>
              <a:t>R</a:t>
            </a:r>
            <a:r>
              <a:rPr lang="es-ES_tradnl" dirty="0">
                <a:solidFill>
                  <a:schemeClr val="tx1"/>
                </a:solidFill>
              </a:rPr>
              <a:t>	E</a:t>
            </a:r>
            <a:r>
              <a:rPr lang="es-ES_tradnl" b="1" baseline="-25000" dirty="0">
                <a:solidFill>
                  <a:schemeClr val="tx1"/>
                </a:solidFill>
              </a:rPr>
              <a:t>R</a:t>
            </a:r>
            <a:r>
              <a:rPr lang="es-ES_tradnl" dirty="0">
                <a:solidFill>
                  <a:schemeClr val="tx1"/>
                </a:solidFill>
              </a:rPr>
              <a:t>	M</a:t>
            </a:r>
            <a:r>
              <a:rPr lang="es-ES_tradnl" b="1" baseline="-25000" dirty="0">
                <a:solidFill>
                  <a:schemeClr val="tx1"/>
                </a:solidFill>
              </a:rPr>
              <a:t>R</a:t>
            </a:r>
          </a:p>
          <a:p>
            <a:pPr>
              <a:lnSpc>
                <a:spcPct val="130000"/>
              </a:lnSpc>
              <a:tabLst>
                <a:tab pos="1911350" algn="l"/>
                <a:tab pos="2663825" algn="l"/>
                <a:tab pos="4765675" algn="l"/>
              </a:tabLst>
            </a:pPr>
            <a:r>
              <a:rPr lang="es-ES_tradnl" dirty="0">
                <a:solidFill>
                  <a:schemeClr val="tx1"/>
                </a:solidFill>
              </a:rPr>
              <a:t>00000000</a:t>
            </a:r>
            <a:r>
              <a:rPr lang="es-ES_tradnl" b="1" baseline="-25000" dirty="0">
                <a:solidFill>
                  <a:schemeClr val="tx1"/>
                </a:solidFill>
              </a:rPr>
              <a:t>2</a:t>
            </a:r>
            <a:r>
              <a:rPr lang="es-ES_tradnl" dirty="0">
                <a:solidFill>
                  <a:schemeClr val="tx1"/>
                </a:solidFill>
              </a:rPr>
              <a:t>	S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	00000000000</a:t>
            </a:r>
            <a:r>
              <a:rPr lang="es-ES_tradnl" b="1" baseline="-25000" dirty="0">
                <a:solidFill>
                  <a:schemeClr val="tx1"/>
                </a:solidFill>
              </a:rPr>
              <a:t>2</a:t>
            </a:r>
            <a:r>
              <a:rPr lang="es-ES_tradnl" dirty="0">
                <a:solidFill>
                  <a:schemeClr val="tx1"/>
                </a:solidFill>
              </a:rPr>
              <a:t> 	M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 || 00….0</a:t>
            </a:r>
          </a:p>
          <a:p>
            <a:pPr>
              <a:tabLst>
                <a:tab pos="1911350" algn="l"/>
                <a:tab pos="2663825" algn="l"/>
                <a:tab pos="4765675" algn="l"/>
              </a:tabLst>
            </a:pPr>
            <a:r>
              <a:rPr lang="es-ES_tradnl" dirty="0">
                <a:solidFill>
                  <a:schemeClr val="tx1"/>
                </a:solidFill>
              </a:rPr>
              <a:t>11111111</a:t>
            </a:r>
            <a:r>
              <a:rPr lang="es-ES_tradnl" b="1" baseline="-25000" dirty="0">
                <a:solidFill>
                  <a:schemeClr val="tx1"/>
                </a:solidFill>
              </a:rPr>
              <a:t>2</a:t>
            </a:r>
            <a:r>
              <a:rPr lang="es-ES_tradnl" dirty="0">
                <a:solidFill>
                  <a:schemeClr val="tx1"/>
                </a:solidFill>
              </a:rPr>
              <a:t>	S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	11111111111</a:t>
            </a:r>
            <a:r>
              <a:rPr lang="es-ES_tradnl" b="1" baseline="-25000" dirty="0">
                <a:solidFill>
                  <a:schemeClr val="tx1"/>
                </a:solidFill>
              </a:rPr>
              <a:t>2</a:t>
            </a:r>
            <a:r>
              <a:rPr lang="es-ES_tradnl" dirty="0">
                <a:solidFill>
                  <a:schemeClr val="tx1"/>
                </a:solidFill>
              </a:rPr>
              <a:t>	M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 || 00….0</a:t>
            </a:r>
          </a:p>
          <a:p>
            <a:pPr>
              <a:tabLst>
                <a:tab pos="1911350" algn="l"/>
                <a:tab pos="2663825" algn="l"/>
                <a:tab pos="4765675" algn="l"/>
              </a:tabLst>
            </a:pPr>
            <a:r>
              <a:rPr lang="es-ES_tradnl" dirty="0">
                <a:solidFill>
                  <a:schemeClr val="tx1"/>
                </a:solidFill>
                <a:latin typeface="Arial Narrow" pitchFamily="31" charset="0"/>
              </a:rPr>
              <a:t>(otros valores)</a:t>
            </a:r>
            <a:r>
              <a:rPr lang="es-ES_tradnl" dirty="0">
                <a:solidFill>
                  <a:schemeClr val="tx1"/>
                </a:solidFill>
              </a:rPr>
              <a:t>	S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	E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 + 896	M</a:t>
            </a:r>
            <a:r>
              <a:rPr lang="es-ES_tradnl" b="1" baseline="-25000" dirty="0">
                <a:solidFill>
                  <a:schemeClr val="tx1"/>
                </a:solidFill>
              </a:rPr>
              <a:t>A</a:t>
            </a:r>
            <a:r>
              <a:rPr lang="es-ES_tradnl" dirty="0">
                <a:solidFill>
                  <a:schemeClr val="tx1"/>
                </a:solidFill>
              </a:rPr>
              <a:t> || 00….0</a:t>
            </a:r>
          </a:p>
          <a:p>
            <a:pPr>
              <a:tabLst>
                <a:tab pos="1911350" algn="l"/>
                <a:tab pos="2663825" algn="l"/>
                <a:tab pos="4765675" algn="l"/>
              </a:tabLst>
            </a:pPr>
            <a:endParaRPr lang="es-ES_tradnl" b="1" baseline="-25000" dirty="0">
              <a:solidFill>
                <a:schemeClr val="tx1"/>
              </a:solidFill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1373C20E-459F-176E-FA19-1BA5CC6939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44" y="5517232"/>
            <a:ext cx="8676456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AAC65100-2CCA-4689-7456-CE285E7CE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20" y="5602014"/>
            <a:ext cx="212054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dirty="0" err="1">
                <a:solidFill>
                  <a:schemeClr val="tx1"/>
                </a:solidFill>
              </a:rPr>
              <a:t>zero</a:t>
            </a:r>
            <a:r>
              <a:rPr lang="es-ES_tradnl" dirty="0">
                <a:solidFill>
                  <a:schemeClr val="tx1"/>
                </a:solidFill>
              </a:rPr>
              <a:t> y subnormal:</a:t>
            </a:r>
          </a:p>
          <a:p>
            <a:pPr algn="r"/>
            <a:r>
              <a:rPr lang="es-ES_tradnl" dirty="0">
                <a:solidFill>
                  <a:schemeClr val="tx1"/>
                </a:solidFill>
              </a:rPr>
              <a:t>±∞ y </a:t>
            </a:r>
            <a:r>
              <a:rPr lang="es-ES_tradnl" dirty="0" err="1">
                <a:solidFill>
                  <a:schemeClr val="tx1"/>
                </a:solidFill>
              </a:rPr>
              <a:t>NaN</a:t>
            </a:r>
            <a:r>
              <a:rPr lang="es-ES_tradnl" dirty="0">
                <a:solidFill>
                  <a:schemeClr val="tx1"/>
                </a:solidFill>
              </a:rPr>
              <a:t>:</a:t>
            </a:r>
          </a:p>
          <a:p>
            <a:pPr algn="r"/>
            <a:r>
              <a:rPr lang="es-ES_tradnl" dirty="0">
                <a:solidFill>
                  <a:schemeClr val="tx1"/>
                </a:solidFill>
              </a:rPr>
              <a:t>valores corrientes:</a:t>
            </a: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31D84A5C-90E4-F503-C52C-D855FEF30E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5976" y="5085184"/>
            <a:ext cx="0" cy="1584176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39663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888A-657F-D6FE-405A-D00BF310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25AE6-B47E-697F-22BF-48481AF5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Conversión d</a:t>
            </a:r>
            <a:r>
              <a:rPr lang="es-ES_tradnl" altLang="ja-JP" dirty="0"/>
              <a:t>e </a:t>
            </a:r>
            <a:r>
              <a:rPr lang="es-ES_tradnl" dirty="0"/>
              <a:t>simple a doble precisi</a:t>
            </a:r>
            <a:r>
              <a:rPr lang="es-ES_tradnl" altLang="ja-JP" dirty="0"/>
              <a:t>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fcvt.d.s</a:t>
            </a: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F02C0-D057-24AE-A554-800EBC91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Operador básico</a:t>
            </a:r>
            <a:endParaRPr lang="es-ES_tradnl" altLang="ja-JP" dirty="0"/>
          </a:p>
          <a:p>
            <a:pPr lvl="1"/>
            <a:r>
              <a:rPr lang="es-ES_tradnl" dirty="0"/>
              <a:t>No trata los valores especiales</a:t>
            </a:r>
          </a:p>
        </p:txBody>
      </p:sp>
      <p:grpSp>
        <p:nvGrpSpPr>
          <p:cNvPr id="5" name="Agrupar 34">
            <a:extLst>
              <a:ext uri="{FF2B5EF4-FFF2-40B4-BE49-F238E27FC236}">
                <a16:creationId xmlns:a16="http://schemas.microsoft.com/office/drawing/2014/main" id="{3DCAC36C-8314-0F34-7D55-2FBFD15407D4}"/>
              </a:ext>
            </a:extLst>
          </p:cNvPr>
          <p:cNvGrpSpPr/>
          <p:nvPr/>
        </p:nvGrpSpPr>
        <p:grpSpPr>
          <a:xfrm>
            <a:off x="2338389" y="2346325"/>
            <a:ext cx="4335537" cy="3386296"/>
            <a:chOff x="755576" y="2346325"/>
            <a:chExt cx="4335537" cy="338629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97536C4-9CD1-80FF-5D9C-F44BCC3D789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55576" y="2592547"/>
              <a:ext cx="2902024" cy="455454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95522D3F-704C-A01E-C467-387A9D1CEE5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219200" y="25908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EC7EA814-09FE-78AA-096B-E6CE8D4425C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133600" y="25908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70860D0B-D7C3-A186-2E67-7E4630CBDF4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855663" y="2667000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1"/>
                  </a:solidFill>
                </a:rPr>
                <a:t>S</a:t>
              </a:r>
              <a:r>
                <a:rPr lang="es-ES" b="1" baseline="-25000">
                  <a:solidFill>
                    <a:schemeClr val="tx1"/>
                  </a:solidFill>
                </a:rPr>
                <a:t>A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30146C6C-3161-CAA8-61A1-26A4A70C8D5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09688" y="2667000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>
                  <a:solidFill>
                    <a:schemeClr val="tx1"/>
                  </a:solidFill>
                </a:rPr>
                <a:t>E</a:t>
              </a:r>
              <a:r>
                <a:rPr lang="es-ES" b="1" baseline="-25000">
                  <a:solidFill>
                    <a:schemeClr val="tx1"/>
                  </a:solidFill>
                </a:rPr>
                <a:t>A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CF03A1F2-7692-8AB9-1E64-B6EE28FFC9B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243138" y="2667000"/>
              <a:ext cx="33663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1"/>
                  </a:solidFill>
                </a:rPr>
                <a:t>M</a:t>
              </a:r>
              <a:r>
                <a:rPr lang="es-ES" b="1" baseline="-25000">
                  <a:solidFill>
                    <a:schemeClr val="tx1"/>
                  </a:solidFill>
                </a:rPr>
                <a:t>A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32EAAF92-C003-6C0A-E412-4278A2276CA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933450" y="2346325"/>
              <a:ext cx="11271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1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7DF23DB2-8446-050D-2FF5-A2C6F4E516C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535113" y="2346325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8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552A96B6-FEA0-34BB-9C53-53D9E87A988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51138" y="2346325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23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69A9F673-2D24-4857-2913-99366AB80189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55576" y="5029201"/>
              <a:ext cx="4335537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no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D30D68EE-C53F-5F22-B013-FCC9C4A3DCB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219200" y="5029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7C60D3EE-34FD-3CC0-BBEF-EA6A99CA75A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209800" y="5029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4FCA2C7A-5B94-64A1-137F-0072A860A10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874713" y="5486400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1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24" name="Text Box 17">
              <a:extLst>
                <a:ext uri="{FF2B5EF4-FFF2-40B4-BE49-F238E27FC236}">
                  <a16:creationId xmlns:a16="http://schemas.microsoft.com/office/drawing/2014/main" id="{03F7B8CF-563C-6559-413C-1AD0386CA3A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530350" y="5486400"/>
              <a:ext cx="216278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11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C56B4FA2-5A47-7C57-6CFC-0DE40B1BEA8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508375" y="5486400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52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74BB8C05-58FA-6E24-8487-CC1C32994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0600" y="3048000"/>
              <a:ext cx="0" cy="198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52648192-023E-FFF1-03FE-312889008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3048000"/>
              <a:ext cx="0" cy="198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DCCB19B9-597C-2809-CBB2-5B059D4C0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2913" y="4316413"/>
              <a:ext cx="0" cy="685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9" name="Text Box 22">
              <a:extLst>
                <a:ext uri="{FF2B5EF4-FFF2-40B4-BE49-F238E27FC236}">
                  <a16:creationId xmlns:a16="http://schemas.microsoft.com/office/drawing/2014/main" id="{4860268D-87EA-E486-FA3D-301584CA5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113" y="3859213"/>
              <a:ext cx="5651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00..0</a:t>
              </a:r>
            </a:p>
          </p:txBody>
        </p:sp>
        <p:sp>
          <p:nvSpPr>
            <p:cNvPr id="30" name="AutoShape 23">
              <a:extLst>
                <a:ext uri="{FF2B5EF4-FFF2-40B4-BE49-F238E27FC236}">
                  <a16:creationId xmlns:a16="http://schemas.microsoft.com/office/drawing/2014/main" id="{150681CB-6DFB-25B4-F4E9-C80AB729C8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176713" y="3574653"/>
              <a:ext cx="76200" cy="340519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AC664DD4-E8F2-B95E-B87C-7E55B1DAE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3048000"/>
              <a:ext cx="0" cy="9906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46F794B-B39C-F2DF-A185-83C5C0B14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5400" y="4038600"/>
              <a:ext cx="1066800" cy="4001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3" name="Line 26">
              <a:extLst>
                <a:ext uri="{FF2B5EF4-FFF2-40B4-BE49-F238E27FC236}">
                  <a16:creationId xmlns:a16="http://schemas.microsoft.com/office/drawing/2014/main" id="{8EF6E3BF-221F-A450-2E6F-18FBCF30AB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36576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C6ADD36B-37BB-5B25-9C6C-6E909EA69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8800" y="45720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5" name="Text Box 28">
              <a:extLst>
                <a:ext uri="{FF2B5EF4-FFF2-40B4-BE49-F238E27FC236}">
                  <a16:creationId xmlns:a16="http://schemas.microsoft.com/office/drawing/2014/main" id="{DE6DB0BA-3FAE-0A9F-EAE4-4CADBA0CA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3352800"/>
              <a:ext cx="4572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896</a:t>
              </a:r>
            </a:p>
          </p:txBody>
        </p:sp>
        <p:sp>
          <p:nvSpPr>
            <p:cNvPr id="36" name="Text Box 29">
              <a:extLst>
                <a:ext uri="{FF2B5EF4-FFF2-40B4-BE49-F238E27FC236}">
                  <a16:creationId xmlns:a16="http://schemas.microsoft.com/office/drawing/2014/main" id="{3BB31E97-FB4D-5F67-1AC9-F09CBCB39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300" y="3352800"/>
              <a:ext cx="28257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29</a:t>
              </a:r>
            </a:p>
          </p:txBody>
        </p:sp>
        <p:sp>
          <p:nvSpPr>
            <p:cNvPr id="37" name="Line 30">
              <a:extLst>
                <a:ext uri="{FF2B5EF4-FFF2-40B4-BE49-F238E27FC236}">
                  <a16:creationId xmlns:a16="http://schemas.microsoft.com/office/drawing/2014/main" id="{EAACC5C3-BEAC-5A1E-D36D-6E6CC3C04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5029200"/>
              <a:ext cx="0" cy="4572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8" name="Text Box 31">
              <a:extLst>
                <a:ext uri="{FF2B5EF4-FFF2-40B4-BE49-F238E27FC236}">
                  <a16:creationId xmlns:a16="http://schemas.microsoft.com/office/drawing/2014/main" id="{40569DA2-9BAD-AF87-DC40-9C38EBFD8E65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877888" y="5105400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1"/>
                  </a:solidFill>
                </a:rPr>
                <a:t>S</a:t>
              </a:r>
              <a:r>
                <a:rPr lang="es-ES" b="1" baseline="-25000">
                  <a:solidFill>
                    <a:schemeClr val="tx1"/>
                  </a:solidFill>
                </a:rPr>
                <a:t>R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39" name="Text Box 32">
              <a:extLst>
                <a:ext uri="{FF2B5EF4-FFF2-40B4-BE49-F238E27FC236}">
                  <a16:creationId xmlns:a16="http://schemas.microsoft.com/office/drawing/2014/main" id="{F2AF86A0-B1E6-9844-F0B2-321898EB041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31913" y="5105400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>
                  <a:solidFill>
                    <a:schemeClr val="tx1"/>
                  </a:solidFill>
                </a:rPr>
                <a:t>E</a:t>
              </a:r>
              <a:r>
                <a:rPr lang="es-ES" b="1" baseline="-25000">
                  <a:solidFill>
                    <a:schemeClr val="tx1"/>
                  </a:solidFill>
                </a:rPr>
                <a:t>R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40" name="Text Box 33">
              <a:extLst>
                <a:ext uri="{FF2B5EF4-FFF2-40B4-BE49-F238E27FC236}">
                  <a16:creationId xmlns:a16="http://schemas.microsoft.com/office/drawing/2014/main" id="{6AB46E68-BFC6-68C8-EFF9-4331501A95B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265363" y="5105400"/>
              <a:ext cx="33663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>
                  <a:solidFill>
                    <a:schemeClr val="tx1"/>
                  </a:solidFill>
                </a:rPr>
                <a:t>M</a:t>
              </a:r>
              <a:r>
                <a:rPr lang="es-ES" b="1" baseline="-25000">
                  <a:solidFill>
                    <a:schemeClr val="tx1"/>
                  </a:solidFill>
                </a:rPr>
                <a:t>R</a:t>
              </a:r>
              <a:endParaRPr lang="ca-ES" b="1">
                <a:solidFill>
                  <a:schemeClr val="tx1"/>
                </a:solidFill>
              </a:endParaRPr>
            </a:p>
          </p:txBody>
        </p:sp>
      </p:grpSp>
      <p:sp>
        <p:nvSpPr>
          <p:cNvPr id="41" name="Marcador de número de diapositiva 3">
            <a:extLst>
              <a:ext uri="{FF2B5EF4-FFF2-40B4-BE49-F238E27FC236}">
                <a16:creationId xmlns:a16="http://schemas.microsoft.com/office/drawing/2014/main" id="{4F614595-D8C9-DDE1-05DC-98C297FD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5344"/>
            <a:ext cx="457200" cy="328612"/>
          </a:xfrm>
        </p:spPr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318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59E7-E91D-0E59-9A45-6B4957D8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75490-032A-D1E1-9959-2D87C70E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Conversión d</a:t>
            </a:r>
            <a:r>
              <a:rPr lang="es-ES_tradnl" altLang="ja-JP" dirty="0"/>
              <a:t>e </a:t>
            </a:r>
            <a:r>
              <a:rPr lang="es-ES_tradnl" dirty="0"/>
              <a:t>simple a doble precisi</a:t>
            </a:r>
            <a:r>
              <a:rPr lang="es-ES_tradnl" altLang="ja-JP" dirty="0"/>
              <a:t>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fcvt.d.s</a:t>
            </a: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632BB-4F76-5D3A-1BD4-62DDBD0E5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Tratamiento de valores especiales</a:t>
            </a:r>
            <a:endParaRPr lang="es-ES_tradnl" altLang="ja-JP" dirty="0"/>
          </a:p>
          <a:p>
            <a:pPr lvl="1"/>
            <a:r>
              <a:rPr lang="es-ES_tradnl" dirty="0"/>
              <a:t>Detalle del cálculo del exponente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33B1E21-581F-106B-46E2-EA25D03B9776}"/>
              </a:ext>
            </a:extLst>
          </p:cNvPr>
          <p:cNvGrpSpPr/>
          <p:nvPr/>
        </p:nvGrpSpPr>
        <p:grpSpPr>
          <a:xfrm>
            <a:off x="2123728" y="2060831"/>
            <a:ext cx="5715040" cy="4732513"/>
            <a:chOff x="1142976" y="1571612"/>
            <a:chExt cx="5715040" cy="4732513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6B0A221B-757C-A1FA-93FA-588061AB448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714480" y="1816087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229C3744-405C-77F8-D09F-B513DECAC5B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778235" y="1816087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E08A6A70-3761-4030-D7C7-7E00EE053AC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285852" y="1892287"/>
              <a:ext cx="30457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dirty="0">
                  <a:solidFill>
                    <a:schemeClr val="tx1"/>
                  </a:solidFill>
                </a:rPr>
                <a:t>S</a:t>
              </a:r>
              <a:r>
                <a:rPr lang="es-ES" b="1" baseline="-25000" dirty="0">
                  <a:solidFill>
                    <a:schemeClr val="tx1"/>
                  </a:solidFill>
                </a:rPr>
                <a:t>O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71407328-8C2D-833C-349F-129E485C8CB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54323" y="1892287"/>
              <a:ext cx="30457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 dirty="0">
                  <a:solidFill>
                    <a:schemeClr val="tx1"/>
                  </a:solidFill>
                </a:rPr>
                <a:t>E</a:t>
              </a:r>
              <a:r>
                <a:rPr lang="es-ES" b="1" baseline="-25000" dirty="0">
                  <a:solidFill>
                    <a:schemeClr val="tx1"/>
                  </a:solidFill>
                </a:rPr>
                <a:t>O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00EEB8F8-82C4-B93C-B42E-485E0D4012D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887773" y="1892287"/>
              <a:ext cx="346249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dirty="0">
                  <a:solidFill>
                    <a:schemeClr val="tx1"/>
                  </a:solidFill>
                </a:rPr>
                <a:t>M</a:t>
              </a:r>
              <a:r>
                <a:rPr lang="es-ES" b="1" baseline="-25000" dirty="0">
                  <a:solidFill>
                    <a:schemeClr val="tx1"/>
                  </a:solidFill>
                </a:rPr>
                <a:t>O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10">
              <a:extLst>
                <a:ext uri="{FF2B5EF4-FFF2-40B4-BE49-F238E27FC236}">
                  <a16:creationId xmlns:a16="http://schemas.microsoft.com/office/drawing/2014/main" id="{438DD7D3-F71F-3DEF-FD0B-33CDDE495F4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63639" y="1571612"/>
              <a:ext cx="11271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1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42" name="Text Box 11">
              <a:extLst>
                <a:ext uri="{FF2B5EF4-FFF2-40B4-BE49-F238E27FC236}">
                  <a16:creationId xmlns:a16="http://schemas.microsoft.com/office/drawing/2014/main" id="{76A124BD-9E67-1D06-25BA-55910802EB4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179748" y="1571612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8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2E884B8E-0C28-0F9F-D8DB-62D7F189087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395773" y="1571612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23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44" name="Line 19">
              <a:extLst>
                <a:ext uri="{FF2B5EF4-FFF2-40B4-BE49-F238E27FC236}">
                  <a16:creationId xmlns:a16="http://schemas.microsoft.com/office/drawing/2014/main" id="{96ED85B2-8482-6C5E-1BB4-492E6B546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7289" y="2357430"/>
              <a:ext cx="45719" cy="307183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45" name="Line 20">
              <a:extLst>
                <a:ext uri="{FF2B5EF4-FFF2-40B4-BE49-F238E27FC236}">
                  <a16:creationId xmlns:a16="http://schemas.microsoft.com/office/drawing/2014/main" id="{F3697E61-D0C6-C91A-9F37-5670A50B1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7785" y="2285992"/>
              <a:ext cx="45719" cy="321471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46" name="Line 24">
              <a:extLst>
                <a:ext uri="{FF2B5EF4-FFF2-40B4-BE49-F238E27FC236}">
                  <a16:creationId xmlns:a16="http://schemas.microsoft.com/office/drawing/2014/main" id="{1C8F1F92-71D2-C763-9F05-1FCE8A654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4678" y="2285992"/>
              <a:ext cx="0" cy="9906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7704E7F9-9924-9FAD-835D-AC9543763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40" y="3286124"/>
              <a:ext cx="1066800" cy="4001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48" name="Line 26">
              <a:extLst>
                <a:ext uri="{FF2B5EF4-FFF2-40B4-BE49-F238E27FC236}">
                  <a16:creationId xmlns:a16="http://schemas.microsoft.com/office/drawing/2014/main" id="{8D8A4FF4-AEFD-9FA5-5957-6672942EE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8235" y="2882887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49" name="Text Box 28">
              <a:extLst>
                <a:ext uri="{FF2B5EF4-FFF2-40B4-BE49-F238E27FC236}">
                  <a16:creationId xmlns:a16="http://schemas.microsoft.com/office/drawing/2014/main" id="{745D06C1-5229-8CB4-CFD1-8BA89AE8B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635" y="2578087"/>
              <a:ext cx="4572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896</a:t>
              </a:r>
            </a:p>
          </p:txBody>
        </p:sp>
        <p:grpSp>
          <p:nvGrpSpPr>
            <p:cNvPr id="50" name="84 Grupo">
              <a:extLst>
                <a:ext uri="{FF2B5EF4-FFF2-40B4-BE49-F238E27FC236}">
                  <a16:creationId xmlns:a16="http://schemas.microsoft.com/office/drawing/2014/main" id="{24613726-CE3A-A33E-56DF-C95CBA7B928D}"/>
                </a:ext>
              </a:extLst>
            </p:cNvPr>
            <p:cNvGrpSpPr/>
            <p:nvPr/>
          </p:nvGrpSpPr>
          <p:grpSpPr>
            <a:xfrm>
              <a:off x="5715008" y="3786190"/>
              <a:ext cx="565150" cy="1649413"/>
              <a:chOff x="5592748" y="2578087"/>
              <a:chExt cx="565150" cy="1649413"/>
            </a:xfrm>
          </p:grpSpPr>
          <p:sp>
            <p:nvSpPr>
              <p:cNvPr id="104" name="Line 21">
                <a:extLst>
                  <a:ext uri="{FF2B5EF4-FFF2-40B4-BE49-F238E27FC236}">
                    <a16:creationId xmlns:a16="http://schemas.microsoft.com/office/drawing/2014/main" id="{108C4C3B-8548-0D34-B09E-46FD940C6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97548" y="3541700"/>
                <a:ext cx="0" cy="685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Text Box 22">
                <a:extLst>
                  <a:ext uri="{FF2B5EF4-FFF2-40B4-BE49-F238E27FC236}">
                    <a16:creationId xmlns:a16="http://schemas.microsoft.com/office/drawing/2014/main" id="{B992C9E0-E18C-A9AB-D55C-9830B6D393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2748" y="3084500"/>
                <a:ext cx="565150" cy="304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 dirty="0">
                    <a:solidFill>
                      <a:schemeClr val="tx1"/>
                    </a:solidFill>
                  </a:rPr>
                  <a:t>00..0</a:t>
                </a:r>
              </a:p>
            </p:txBody>
          </p:sp>
          <p:sp>
            <p:nvSpPr>
              <p:cNvPr id="106" name="AutoShape 23">
                <a:extLst>
                  <a:ext uri="{FF2B5EF4-FFF2-40B4-BE49-F238E27FC236}">
                    <a16:creationId xmlns:a16="http://schemas.microsoft.com/office/drawing/2014/main" id="{9600788B-D5DC-1250-20B8-E9E338D1A53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5821348" y="2799940"/>
                <a:ext cx="76200" cy="340519"/>
              </a:xfrm>
              <a:prstGeom prst="leftBrace">
                <a:avLst>
                  <a:gd name="adj1" fmla="val 75000"/>
                  <a:gd name="adj2" fmla="val 50000"/>
                </a:avLst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Text Box 29">
                <a:extLst>
                  <a:ext uri="{FF2B5EF4-FFF2-40B4-BE49-F238E27FC236}">
                    <a16:creationId xmlns:a16="http://schemas.microsoft.com/office/drawing/2014/main" id="{86B16BB4-4ECA-4198-F45C-B4C24A0806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5935" y="2578087"/>
                <a:ext cx="282575" cy="304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 dirty="0">
                    <a:solidFill>
                      <a:schemeClr val="tx1"/>
                    </a:solidFill>
                  </a:rPr>
                  <a:t>29</a:t>
                </a:r>
              </a:p>
            </p:txBody>
          </p:sp>
        </p:grpSp>
        <p:sp>
          <p:nvSpPr>
            <p:cNvPr id="51" name="65 Rectángulo">
              <a:extLst>
                <a:ext uri="{FF2B5EF4-FFF2-40B4-BE49-F238E27FC236}">
                  <a16:creationId xmlns:a16="http://schemas.microsoft.com/office/drawing/2014/main" id="{E5E7A699-150C-1C35-133D-6B3FFE0FAF1A}"/>
                </a:ext>
              </a:extLst>
            </p:cNvPr>
            <p:cNvSpPr/>
            <p:nvPr/>
          </p:nvSpPr>
          <p:spPr bwMode="auto">
            <a:xfrm>
              <a:off x="1142976" y="1797031"/>
              <a:ext cx="4287841" cy="500066"/>
            </a:xfrm>
            <a:prstGeom prst="rect">
              <a:avLst/>
            </a:prstGeom>
            <a:noFill/>
            <a:ln w="31750" cmpd="sng">
              <a:solidFill>
                <a:schemeClr val="accent1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Line 14">
              <a:extLst>
                <a:ext uri="{FF2B5EF4-FFF2-40B4-BE49-F238E27FC236}">
                  <a16:creationId xmlns:a16="http://schemas.microsoft.com/office/drawing/2014/main" id="{9CE42E17-0384-9735-8940-E153CFC92DC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630339" y="5600704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53" name="Line 15">
              <a:extLst>
                <a:ext uri="{FF2B5EF4-FFF2-40B4-BE49-F238E27FC236}">
                  <a16:creationId xmlns:a16="http://schemas.microsoft.com/office/drawing/2014/main" id="{7E639337-700E-C7F9-D50C-E46A9BE93E2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852874" y="5600704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2911C8B5-5CC2-0138-BD56-6EDE79CB417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285852" y="6057904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1"/>
                  </a:solidFill>
                </a:rPr>
                <a:t>1</a:t>
              </a:r>
              <a:endParaRPr lang="ca-E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F6ED14AE-DAF9-E381-43B6-11CC17257CA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484421" y="6057904"/>
              <a:ext cx="216278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1"/>
                  </a:solidFill>
                </a:rPr>
                <a:t>11</a:t>
              </a:r>
              <a:endParaRPr lang="ca-E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Text Box 18">
              <a:extLst>
                <a:ext uri="{FF2B5EF4-FFF2-40B4-BE49-F238E27FC236}">
                  <a16:creationId xmlns:a16="http://schemas.microsoft.com/office/drawing/2014/main" id="{632DE184-5450-C188-C222-E9473C531EE0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151449" y="6057904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1"/>
                  </a:solidFill>
                </a:rPr>
                <a:t>52</a:t>
              </a:r>
              <a:endParaRPr lang="ca-ES" sz="1600" b="1">
                <a:solidFill>
                  <a:schemeClr val="tx1"/>
                </a:solidFill>
              </a:endParaRPr>
            </a:p>
          </p:txBody>
        </p:sp>
        <p:sp>
          <p:nvSpPr>
            <p:cNvPr id="57" name="Line 30">
              <a:extLst>
                <a:ext uri="{FF2B5EF4-FFF2-40B4-BE49-F238E27FC236}">
                  <a16:creationId xmlns:a16="http://schemas.microsoft.com/office/drawing/2014/main" id="{525F78EF-C241-5134-D8AF-285EDB299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0674" y="5600704"/>
              <a:ext cx="0" cy="4572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58" name="Text Box 31">
              <a:extLst>
                <a:ext uri="{FF2B5EF4-FFF2-40B4-BE49-F238E27FC236}">
                  <a16:creationId xmlns:a16="http://schemas.microsoft.com/office/drawing/2014/main" id="{D9FCF819-4795-5C3A-2197-44639CAAC47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289027" y="5676904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dirty="0">
                  <a:solidFill>
                    <a:schemeClr val="tx1"/>
                  </a:solidFill>
                </a:rPr>
                <a:t>S</a:t>
              </a:r>
              <a:r>
                <a:rPr lang="es-ES" b="1" baseline="-25000" dirty="0">
                  <a:solidFill>
                    <a:schemeClr val="tx1"/>
                  </a:solidFill>
                </a:rPr>
                <a:t>D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Text Box 32">
              <a:extLst>
                <a:ext uri="{FF2B5EF4-FFF2-40B4-BE49-F238E27FC236}">
                  <a16:creationId xmlns:a16="http://schemas.microsoft.com/office/drawing/2014/main" id="{682015C7-7CAA-2DC3-2364-88EB26A43ED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285984" y="5676904"/>
              <a:ext cx="294953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es-ES" dirty="0">
                  <a:solidFill>
                    <a:schemeClr val="tx1"/>
                  </a:solidFill>
                </a:rPr>
                <a:t>E</a:t>
              </a:r>
              <a:r>
                <a:rPr lang="es-ES" b="1" baseline="-25000" dirty="0">
                  <a:solidFill>
                    <a:schemeClr val="tx1"/>
                  </a:solidFill>
                </a:rPr>
                <a:t>D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Text Box 33">
              <a:extLst>
                <a:ext uri="{FF2B5EF4-FFF2-40B4-BE49-F238E27FC236}">
                  <a16:creationId xmlns:a16="http://schemas.microsoft.com/office/drawing/2014/main" id="{C6DD00F1-8284-1884-A8E1-5F9DB7600F1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378245" y="5676904"/>
              <a:ext cx="33663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dirty="0">
                  <a:solidFill>
                    <a:schemeClr val="tx1"/>
                  </a:solidFill>
                </a:rPr>
                <a:t>M</a:t>
              </a:r>
              <a:r>
                <a:rPr lang="es-ES" b="1" baseline="-25000" dirty="0">
                  <a:solidFill>
                    <a:schemeClr val="tx1"/>
                  </a:solidFill>
                </a:rPr>
                <a:t>D</a:t>
              </a:r>
              <a:endParaRPr lang="ca-ES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66 Rectángulo">
              <a:extLst>
                <a:ext uri="{FF2B5EF4-FFF2-40B4-BE49-F238E27FC236}">
                  <a16:creationId xmlns:a16="http://schemas.microsoft.com/office/drawing/2014/main" id="{605DC48D-E785-FADB-8F90-8CF2074FBE4B}"/>
                </a:ext>
              </a:extLst>
            </p:cNvPr>
            <p:cNvSpPr/>
            <p:nvPr/>
          </p:nvSpPr>
          <p:spPr bwMode="auto">
            <a:xfrm>
              <a:off x="1214414" y="5572140"/>
              <a:ext cx="5643602" cy="500066"/>
            </a:xfrm>
            <a:prstGeom prst="rect">
              <a:avLst/>
            </a:prstGeom>
            <a:noFill/>
            <a:ln w="31750" cmpd="sng">
              <a:solidFill>
                <a:srgbClr val="C00000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D829432B-FABC-5C2B-DA1E-BD219D0FD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612" y="4335462"/>
              <a:ext cx="1990716" cy="80805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s-ES_tradnl" dirty="0"/>
                <a:t> </a:t>
              </a:r>
              <a:r>
                <a:rPr lang="es-ES_tradnl" dirty="0">
                  <a:solidFill>
                    <a:srgbClr val="080808"/>
                  </a:solidFill>
                </a:rPr>
                <a:t>MUX</a:t>
              </a:r>
            </a:p>
          </p:txBody>
        </p:sp>
        <p:grpSp>
          <p:nvGrpSpPr>
            <p:cNvPr id="63" name="95 Grupo">
              <a:extLst>
                <a:ext uri="{FF2B5EF4-FFF2-40B4-BE49-F238E27FC236}">
                  <a16:creationId xmlns:a16="http://schemas.microsoft.com/office/drawing/2014/main" id="{8E1791C5-F805-BE0D-8D88-E3FAE6F4DF4D}"/>
                </a:ext>
              </a:extLst>
            </p:cNvPr>
            <p:cNvGrpSpPr/>
            <p:nvPr/>
          </p:nvGrpSpPr>
          <p:grpSpPr>
            <a:xfrm>
              <a:off x="3571868" y="3714752"/>
              <a:ext cx="533400" cy="528638"/>
              <a:chOff x="5562600" y="4114800"/>
              <a:chExt cx="533400" cy="457200"/>
            </a:xfrm>
          </p:grpSpPr>
          <p:sp>
            <p:nvSpPr>
              <p:cNvPr id="101" name="Line 30">
                <a:extLst>
                  <a:ext uri="{FF2B5EF4-FFF2-40B4-BE49-F238E27FC236}">
                    <a16:creationId xmlns:a16="http://schemas.microsoft.com/office/drawing/2014/main" id="{21F38FC2-8370-4F3A-6AFA-2EC4AAF84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15000" y="4114800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102" name="Line 33">
                <a:extLst>
                  <a:ext uri="{FF2B5EF4-FFF2-40B4-BE49-F238E27FC236}">
                    <a16:creationId xmlns:a16="http://schemas.microsoft.com/office/drawing/2014/main" id="{D80D954B-8B2E-DAB1-3BD0-CB40AC28B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62600" y="4361937"/>
                <a:ext cx="304800" cy="7620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103" name="Text Box 34">
                <a:extLst>
                  <a:ext uri="{FF2B5EF4-FFF2-40B4-BE49-F238E27FC236}">
                    <a16:creationId xmlns:a16="http://schemas.microsoft.com/office/drawing/2014/main" id="{5ABE53F7-14C6-0975-9379-3E8E292147E9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870575" y="4221855"/>
                <a:ext cx="225425" cy="24447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sz="1600" b="1" dirty="0">
                    <a:solidFill>
                      <a:schemeClr val="tx2"/>
                    </a:solidFill>
                  </a:rPr>
                  <a:t>11</a:t>
                </a:r>
                <a:endParaRPr lang="ca-ES" sz="16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64" name="97 Grupo">
              <a:extLst>
                <a:ext uri="{FF2B5EF4-FFF2-40B4-BE49-F238E27FC236}">
                  <a16:creationId xmlns:a16="http://schemas.microsoft.com/office/drawing/2014/main" id="{FF0B178D-E2E3-7981-8D6E-8E4EAE20D2A6}"/>
                </a:ext>
              </a:extLst>
            </p:cNvPr>
            <p:cNvGrpSpPr/>
            <p:nvPr/>
          </p:nvGrpSpPr>
          <p:grpSpPr>
            <a:xfrm>
              <a:off x="2357422" y="3500438"/>
              <a:ext cx="838200" cy="763587"/>
              <a:chOff x="4343400" y="3808413"/>
              <a:chExt cx="838200" cy="763587"/>
            </a:xfrm>
          </p:grpSpPr>
          <p:grpSp>
            <p:nvGrpSpPr>
              <p:cNvPr id="97" name="94 Grupo">
                <a:extLst>
                  <a:ext uri="{FF2B5EF4-FFF2-40B4-BE49-F238E27FC236}">
                    <a16:creationId xmlns:a16="http://schemas.microsoft.com/office/drawing/2014/main" id="{CCEDE9F9-FDDB-FC5B-6AE7-8782258E83C9}"/>
                  </a:ext>
                </a:extLst>
              </p:cNvPr>
              <p:cNvGrpSpPr/>
              <p:nvPr/>
            </p:nvGrpSpPr>
            <p:grpSpPr>
              <a:xfrm>
                <a:off x="4706938" y="4114800"/>
                <a:ext cx="304800" cy="457200"/>
                <a:chOff x="4706938" y="4114800"/>
                <a:chExt cx="304800" cy="457200"/>
              </a:xfrm>
            </p:grpSpPr>
            <p:sp>
              <p:nvSpPr>
                <p:cNvPr id="99" name="Line 69">
                  <a:extLst>
                    <a:ext uri="{FF2B5EF4-FFF2-40B4-BE49-F238E27FC236}">
                      <a16:creationId xmlns:a16="http://schemas.microsoft.com/office/drawing/2014/main" id="{E3F765CD-3C27-CA4A-2C57-35E838E269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9338" y="4114800"/>
                  <a:ext cx="0" cy="45720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lIns="0" tIns="0" rIns="0" bIns="0" anchor="ctr">
                  <a:prstTxWarp prst="textNoShape">
                    <a:avLst/>
                  </a:prstTxWarp>
                  <a:spAutoFit/>
                </a:bodyPr>
                <a:lstStyle/>
                <a:p>
                  <a:endParaRPr lang="ca-ES"/>
                </a:p>
              </p:txBody>
            </p:sp>
            <p:sp>
              <p:nvSpPr>
                <p:cNvPr id="100" name="Line 70">
                  <a:extLst>
                    <a:ext uri="{FF2B5EF4-FFF2-40B4-BE49-F238E27FC236}">
                      <a16:creationId xmlns:a16="http://schemas.microsoft.com/office/drawing/2014/main" id="{DE07D03F-5F97-B6A0-50CD-27678E4ED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6938" y="4267200"/>
                  <a:ext cx="304800" cy="7620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 anchor="ctr">
                  <a:prstTxWarp prst="textNoShape">
                    <a:avLst/>
                  </a:prstTxWarp>
                  <a:spAutoFit/>
                </a:bodyPr>
                <a:lstStyle/>
                <a:p>
                  <a:endParaRPr lang="ca-ES"/>
                </a:p>
              </p:txBody>
            </p:sp>
          </p:grpSp>
          <p:sp>
            <p:nvSpPr>
              <p:cNvPr id="98" name="Text Box 72">
                <a:extLst>
                  <a:ext uri="{FF2B5EF4-FFF2-40B4-BE49-F238E27FC236}">
                    <a16:creationId xmlns:a16="http://schemas.microsoft.com/office/drawing/2014/main" id="{A71040E1-8C0D-8E43-CCEC-9F92B7EABF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3400" y="3808413"/>
                <a:ext cx="838200" cy="304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 dirty="0">
                    <a:solidFill>
                      <a:schemeClr val="tx1"/>
                    </a:solidFill>
                  </a:rPr>
                  <a:t>00…0</a:t>
                </a:r>
                <a:r>
                  <a:rPr lang="es-ES_tradnl" b="1" baseline="-25000" dirty="0">
                    <a:solidFill>
                      <a:schemeClr val="tx1"/>
                    </a:solidFill>
                  </a:rPr>
                  <a:t>2</a:t>
                </a:r>
                <a:endParaRPr lang="es-ES_tradnl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96 Grupo">
              <a:extLst>
                <a:ext uri="{FF2B5EF4-FFF2-40B4-BE49-F238E27FC236}">
                  <a16:creationId xmlns:a16="http://schemas.microsoft.com/office/drawing/2014/main" id="{78D00B4A-E8FA-95C0-41C8-3996822AFF85}"/>
                </a:ext>
              </a:extLst>
            </p:cNvPr>
            <p:cNvGrpSpPr/>
            <p:nvPr/>
          </p:nvGrpSpPr>
          <p:grpSpPr>
            <a:xfrm>
              <a:off x="4214810" y="3500438"/>
              <a:ext cx="838200" cy="762000"/>
              <a:chOff x="6400800" y="3810000"/>
              <a:chExt cx="838200" cy="762000"/>
            </a:xfrm>
          </p:grpSpPr>
          <p:sp>
            <p:nvSpPr>
              <p:cNvPr id="94" name="Line 66">
                <a:extLst>
                  <a:ext uri="{FF2B5EF4-FFF2-40B4-BE49-F238E27FC236}">
                    <a16:creationId xmlns:a16="http://schemas.microsoft.com/office/drawing/2014/main" id="{54E8BCC9-CB76-1769-C382-73E262B22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29400" y="4114800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95" name="Line 67">
                <a:extLst>
                  <a:ext uri="{FF2B5EF4-FFF2-40B4-BE49-F238E27FC236}">
                    <a16:creationId xmlns:a16="http://schemas.microsoft.com/office/drawing/2014/main" id="{A2D434CF-9753-2BCD-53D8-CFCA50A48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77000" y="4267200"/>
                <a:ext cx="304800" cy="7620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96" name="Text Box 73">
                <a:extLst>
                  <a:ext uri="{FF2B5EF4-FFF2-40B4-BE49-F238E27FC236}">
                    <a16:creationId xmlns:a16="http://schemas.microsoft.com/office/drawing/2014/main" id="{51502BA0-2486-93C6-B21D-5946618306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0800" y="3810000"/>
                <a:ext cx="838200" cy="304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>
                    <a:solidFill>
                      <a:schemeClr val="tx1"/>
                    </a:solidFill>
                  </a:rPr>
                  <a:t>11…1</a:t>
                </a:r>
                <a:r>
                  <a:rPr lang="es-ES_tradnl" b="1" baseline="-25000">
                    <a:solidFill>
                      <a:schemeClr val="tx1"/>
                    </a:solidFill>
                  </a:rPr>
                  <a:t>2</a:t>
                </a:r>
                <a:endParaRPr lang="es-ES_tradnl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6" name="85 Retraso">
              <a:extLst>
                <a:ext uri="{FF2B5EF4-FFF2-40B4-BE49-F238E27FC236}">
                  <a16:creationId xmlns:a16="http://schemas.microsoft.com/office/drawing/2014/main" id="{42416C1F-FF6B-7928-CA8D-6A81B3C3EE6F}"/>
                </a:ext>
              </a:extLst>
            </p:cNvPr>
            <p:cNvSpPr/>
            <p:nvPr/>
          </p:nvSpPr>
          <p:spPr bwMode="auto">
            <a:xfrm>
              <a:off x="1928794" y="4143380"/>
              <a:ext cx="357190" cy="571504"/>
            </a:xfrm>
            <a:prstGeom prst="flowChartDelay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7" name="89 CuadroTexto">
              <a:extLst>
                <a:ext uri="{FF2B5EF4-FFF2-40B4-BE49-F238E27FC236}">
                  <a16:creationId xmlns:a16="http://schemas.microsoft.com/office/drawing/2014/main" id="{7F601CA2-626A-B152-1D94-722E5363B9B9}"/>
                </a:ext>
              </a:extLst>
            </p:cNvPr>
            <p:cNvSpPr txBox="1"/>
            <p:nvPr/>
          </p:nvSpPr>
          <p:spPr>
            <a:xfrm>
              <a:off x="2786050" y="43576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68" name="90 CuadroTexto">
              <a:extLst>
                <a:ext uri="{FF2B5EF4-FFF2-40B4-BE49-F238E27FC236}">
                  <a16:creationId xmlns:a16="http://schemas.microsoft.com/office/drawing/2014/main" id="{A9231A7E-3CB9-BC89-912A-BE99CA921F2C}"/>
                </a:ext>
              </a:extLst>
            </p:cNvPr>
            <p:cNvSpPr txBox="1"/>
            <p:nvPr/>
          </p:nvSpPr>
          <p:spPr>
            <a:xfrm>
              <a:off x="3143240" y="43576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69" name="91 CuadroTexto">
              <a:extLst>
                <a:ext uri="{FF2B5EF4-FFF2-40B4-BE49-F238E27FC236}">
                  <a16:creationId xmlns:a16="http://schemas.microsoft.com/office/drawing/2014/main" id="{BB9B37FF-1E5F-618A-6B8F-0C61CFFDE967}"/>
                </a:ext>
              </a:extLst>
            </p:cNvPr>
            <p:cNvSpPr txBox="1"/>
            <p:nvPr/>
          </p:nvSpPr>
          <p:spPr>
            <a:xfrm>
              <a:off x="3643306" y="43576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70" name="92 CuadroTexto">
              <a:extLst>
                <a:ext uri="{FF2B5EF4-FFF2-40B4-BE49-F238E27FC236}">
                  <a16:creationId xmlns:a16="http://schemas.microsoft.com/office/drawing/2014/main" id="{096DD27B-31A2-D009-D13B-ED202C4B525A}"/>
                </a:ext>
              </a:extLst>
            </p:cNvPr>
            <p:cNvSpPr txBox="1"/>
            <p:nvPr/>
          </p:nvSpPr>
          <p:spPr>
            <a:xfrm>
              <a:off x="4286248" y="43576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71" name="94 Conector recto de flecha">
              <a:extLst>
                <a:ext uri="{FF2B5EF4-FFF2-40B4-BE49-F238E27FC236}">
                  <a16:creationId xmlns:a16="http://schemas.microsoft.com/office/drawing/2014/main" id="{9C9E0114-EF09-B1BB-31AE-AFA7C6C2DC8C}"/>
                </a:ext>
              </a:extLst>
            </p:cNvPr>
            <p:cNvCxnSpPr/>
            <p:nvPr/>
          </p:nvCxnSpPr>
          <p:spPr bwMode="auto">
            <a:xfrm rot="5400000">
              <a:off x="3071802" y="5357826"/>
              <a:ext cx="428628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96 Conector recto">
              <a:extLst>
                <a:ext uri="{FF2B5EF4-FFF2-40B4-BE49-F238E27FC236}">
                  <a16:creationId xmlns:a16="http://schemas.microsoft.com/office/drawing/2014/main" id="{6491B71F-E8D3-DE65-7B15-E49CDB16BFAA}"/>
                </a:ext>
              </a:extLst>
            </p:cNvPr>
            <p:cNvCxnSpPr>
              <a:stCxn id="87" idx="2"/>
            </p:cNvCxnSpPr>
            <p:nvPr/>
          </p:nvCxnSpPr>
          <p:spPr bwMode="auto">
            <a:xfrm rot="10800000">
              <a:off x="1571604" y="2857496"/>
              <a:ext cx="1571636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98 Conector recto">
              <a:extLst>
                <a:ext uri="{FF2B5EF4-FFF2-40B4-BE49-F238E27FC236}">
                  <a16:creationId xmlns:a16="http://schemas.microsoft.com/office/drawing/2014/main" id="{2B635DCB-B077-729C-327D-292AB6657DCB}"/>
                </a:ext>
              </a:extLst>
            </p:cNvPr>
            <p:cNvCxnSpPr/>
            <p:nvPr/>
          </p:nvCxnSpPr>
          <p:spPr bwMode="auto">
            <a:xfrm rot="5400000">
              <a:off x="464315" y="3964785"/>
              <a:ext cx="2214578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101 Conector recto de flecha">
              <a:extLst>
                <a:ext uri="{FF2B5EF4-FFF2-40B4-BE49-F238E27FC236}">
                  <a16:creationId xmlns:a16="http://schemas.microsoft.com/office/drawing/2014/main" id="{44558632-0024-3D07-D748-0AA567FF69E3}"/>
                </a:ext>
              </a:extLst>
            </p:cNvPr>
            <p:cNvCxnSpPr>
              <a:endCxn id="66" idx="1"/>
            </p:cNvCxnSpPr>
            <p:nvPr/>
          </p:nvCxnSpPr>
          <p:spPr bwMode="auto">
            <a:xfrm>
              <a:off x="1571604" y="4429132"/>
              <a:ext cx="35719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Text Box 34">
              <a:extLst>
                <a:ext uri="{FF2B5EF4-FFF2-40B4-BE49-F238E27FC236}">
                  <a16:creationId xmlns:a16="http://schemas.microsoft.com/office/drawing/2014/main" id="{E8ECD77A-37E4-2635-8E8A-48EB0571FED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643042" y="4071942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8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cxnSp>
          <p:nvCxnSpPr>
            <p:cNvPr id="76" name="107 Conector recto">
              <a:extLst>
                <a:ext uri="{FF2B5EF4-FFF2-40B4-BE49-F238E27FC236}">
                  <a16:creationId xmlns:a16="http://schemas.microsoft.com/office/drawing/2014/main" id="{58026186-7EB1-F482-C33D-DDF1DFD8CFE8}"/>
                </a:ext>
              </a:extLst>
            </p:cNvPr>
            <p:cNvCxnSpPr>
              <a:stCxn id="75" idx="2"/>
            </p:cNvCxnSpPr>
            <p:nvPr/>
          </p:nvCxnSpPr>
          <p:spPr bwMode="auto">
            <a:xfrm rot="5400000">
              <a:off x="1544576" y="4416634"/>
              <a:ext cx="253844" cy="5690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114 Conector recto">
              <a:extLst>
                <a:ext uri="{FF2B5EF4-FFF2-40B4-BE49-F238E27FC236}">
                  <a16:creationId xmlns:a16="http://schemas.microsoft.com/office/drawing/2014/main" id="{C08E56AF-228D-296E-211F-F06B04073512}"/>
                </a:ext>
              </a:extLst>
            </p:cNvPr>
            <p:cNvCxnSpPr>
              <a:stCxn id="66" idx="3"/>
            </p:cNvCxnSpPr>
            <p:nvPr/>
          </p:nvCxnSpPr>
          <p:spPr bwMode="auto">
            <a:xfrm>
              <a:off x="2285984" y="4429132"/>
              <a:ext cx="285752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8" name="116 Datos almacenados">
              <a:extLst>
                <a:ext uri="{FF2B5EF4-FFF2-40B4-BE49-F238E27FC236}">
                  <a16:creationId xmlns:a16="http://schemas.microsoft.com/office/drawing/2014/main" id="{4186539F-F6F2-2A91-3D72-8EF1B976A844}"/>
                </a:ext>
              </a:extLst>
            </p:cNvPr>
            <p:cNvSpPr/>
            <p:nvPr/>
          </p:nvSpPr>
          <p:spPr bwMode="auto">
            <a:xfrm rot="10800000">
              <a:off x="1857356" y="4786322"/>
              <a:ext cx="428628" cy="469772"/>
            </a:xfrm>
            <a:prstGeom prst="flowChartOnlineStora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000" dirty="0">
                <a:solidFill>
                  <a:srgbClr val="080808"/>
                </a:solidFill>
              </a:endParaRPr>
            </a:p>
          </p:txBody>
        </p:sp>
        <p:cxnSp>
          <p:nvCxnSpPr>
            <p:cNvPr id="79" name="118 Conector recto de flecha">
              <a:extLst>
                <a:ext uri="{FF2B5EF4-FFF2-40B4-BE49-F238E27FC236}">
                  <a16:creationId xmlns:a16="http://schemas.microsoft.com/office/drawing/2014/main" id="{24EA43C1-E380-D0A0-5C90-596CF07B3653}"/>
                </a:ext>
              </a:extLst>
            </p:cNvPr>
            <p:cNvCxnSpPr/>
            <p:nvPr/>
          </p:nvCxnSpPr>
          <p:spPr bwMode="auto">
            <a:xfrm>
              <a:off x="1571604" y="5072074"/>
              <a:ext cx="35719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0" name="Text Box 34">
              <a:extLst>
                <a:ext uri="{FF2B5EF4-FFF2-40B4-BE49-F238E27FC236}">
                  <a16:creationId xmlns:a16="http://schemas.microsoft.com/office/drawing/2014/main" id="{D16145A6-F93A-FF30-EF24-6FCA17F786D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643042" y="4714884"/>
              <a:ext cx="113814" cy="24622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8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cxnSp>
          <p:nvCxnSpPr>
            <p:cNvPr id="81" name="120 Conector recto">
              <a:extLst>
                <a:ext uri="{FF2B5EF4-FFF2-40B4-BE49-F238E27FC236}">
                  <a16:creationId xmlns:a16="http://schemas.microsoft.com/office/drawing/2014/main" id="{CFCA8836-360E-62DB-5C45-6A9A9560C544}"/>
                </a:ext>
              </a:extLst>
            </p:cNvPr>
            <p:cNvCxnSpPr>
              <a:stCxn id="80" idx="2"/>
            </p:cNvCxnSpPr>
            <p:nvPr/>
          </p:nvCxnSpPr>
          <p:spPr bwMode="auto">
            <a:xfrm rot="5400000">
              <a:off x="1544576" y="5059576"/>
              <a:ext cx="253844" cy="5690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122 Conector recto">
              <a:extLst>
                <a:ext uri="{FF2B5EF4-FFF2-40B4-BE49-F238E27FC236}">
                  <a16:creationId xmlns:a16="http://schemas.microsoft.com/office/drawing/2014/main" id="{4507F018-37CF-1B20-B054-F15C09AB64C5}"/>
                </a:ext>
              </a:extLst>
            </p:cNvPr>
            <p:cNvCxnSpPr/>
            <p:nvPr/>
          </p:nvCxnSpPr>
          <p:spPr bwMode="auto">
            <a:xfrm>
              <a:off x="2285984" y="5072074"/>
              <a:ext cx="285752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123 Conector recto">
              <a:extLst>
                <a:ext uri="{FF2B5EF4-FFF2-40B4-BE49-F238E27FC236}">
                  <a16:creationId xmlns:a16="http://schemas.microsoft.com/office/drawing/2014/main" id="{6C948FC0-048F-6CBC-D72F-CD7761289545}"/>
                </a:ext>
              </a:extLst>
            </p:cNvPr>
            <p:cNvCxnSpPr/>
            <p:nvPr/>
          </p:nvCxnSpPr>
          <p:spPr bwMode="auto">
            <a:xfrm>
              <a:off x="2571736" y="4786322"/>
              <a:ext cx="142876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124 Conector recto">
              <a:extLst>
                <a:ext uri="{FF2B5EF4-FFF2-40B4-BE49-F238E27FC236}">
                  <a16:creationId xmlns:a16="http://schemas.microsoft.com/office/drawing/2014/main" id="{D8E77A3B-53A4-631E-569B-8FCB8A4F2CB0}"/>
                </a:ext>
              </a:extLst>
            </p:cNvPr>
            <p:cNvCxnSpPr/>
            <p:nvPr/>
          </p:nvCxnSpPr>
          <p:spPr bwMode="auto">
            <a:xfrm>
              <a:off x="2571736" y="4929198"/>
              <a:ext cx="142876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128 Conector recto">
              <a:extLst>
                <a:ext uri="{FF2B5EF4-FFF2-40B4-BE49-F238E27FC236}">
                  <a16:creationId xmlns:a16="http://schemas.microsoft.com/office/drawing/2014/main" id="{2EF3AC47-B757-1BC3-EE71-712F693D6F48}"/>
                </a:ext>
              </a:extLst>
            </p:cNvPr>
            <p:cNvCxnSpPr/>
            <p:nvPr/>
          </p:nvCxnSpPr>
          <p:spPr bwMode="auto">
            <a:xfrm rot="5400000" flipH="1" flipV="1">
              <a:off x="2393141" y="4607727"/>
              <a:ext cx="35719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131 Conector recto">
              <a:extLst>
                <a:ext uri="{FF2B5EF4-FFF2-40B4-BE49-F238E27FC236}">
                  <a16:creationId xmlns:a16="http://schemas.microsoft.com/office/drawing/2014/main" id="{AC8E6875-E5B3-D31F-B9E2-06E768491AFE}"/>
                </a:ext>
              </a:extLst>
            </p:cNvPr>
            <p:cNvCxnSpPr/>
            <p:nvPr/>
          </p:nvCxnSpPr>
          <p:spPr bwMode="auto">
            <a:xfrm rot="5400000" flipH="1" flipV="1">
              <a:off x="2501092" y="4999842"/>
              <a:ext cx="142876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133 Elipse">
              <a:extLst>
                <a:ext uri="{FF2B5EF4-FFF2-40B4-BE49-F238E27FC236}">
                  <a16:creationId xmlns:a16="http://schemas.microsoft.com/office/drawing/2014/main" id="{D8DFEA13-2C31-DBD1-2CF3-128036DB6402}"/>
                </a:ext>
              </a:extLst>
            </p:cNvPr>
            <p:cNvSpPr/>
            <p:nvPr/>
          </p:nvSpPr>
          <p:spPr bwMode="auto">
            <a:xfrm>
              <a:off x="3143240" y="2786058"/>
              <a:ext cx="142876" cy="142876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8" name="134 CuadroTexto">
              <a:extLst>
                <a:ext uri="{FF2B5EF4-FFF2-40B4-BE49-F238E27FC236}">
                  <a16:creationId xmlns:a16="http://schemas.microsoft.com/office/drawing/2014/main" id="{5D06ECA8-9412-2710-0228-95D38CF21B31}"/>
                </a:ext>
              </a:extLst>
            </p:cNvPr>
            <p:cNvSpPr txBox="1"/>
            <p:nvPr/>
          </p:nvSpPr>
          <p:spPr>
            <a:xfrm>
              <a:off x="2714612" y="4572008"/>
              <a:ext cx="481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sel</a:t>
              </a:r>
              <a:r>
                <a:rPr lang="es-ES" sz="1400" baseline="-250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es-ES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9" name="135 CuadroTexto">
              <a:extLst>
                <a:ext uri="{FF2B5EF4-FFF2-40B4-BE49-F238E27FC236}">
                  <a16:creationId xmlns:a16="http://schemas.microsoft.com/office/drawing/2014/main" id="{C1195668-248F-D15F-FF9D-B2478CA8C3DF}"/>
                </a:ext>
              </a:extLst>
            </p:cNvPr>
            <p:cNvSpPr txBox="1"/>
            <p:nvPr/>
          </p:nvSpPr>
          <p:spPr>
            <a:xfrm>
              <a:off x="2714612" y="4786322"/>
              <a:ext cx="481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sel</a:t>
              </a:r>
              <a:r>
                <a:rPr lang="es-ES" sz="1400" baseline="-25000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  <a:endParaRPr lang="es-ES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0" name="143 CuadroTexto">
              <a:extLst>
                <a:ext uri="{FF2B5EF4-FFF2-40B4-BE49-F238E27FC236}">
                  <a16:creationId xmlns:a16="http://schemas.microsoft.com/office/drawing/2014/main" id="{22C9433F-77C2-8A18-5CDD-B7B0137C6001}"/>
                </a:ext>
              </a:extLst>
            </p:cNvPr>
            <p:cNvSpPr txBox="1"/>
            <p:nvPr/>
          </p:nvSpPr>
          <p:spPr>
            <a:xfrm>
              <a:off x="1857356" y="4286256"/>
              <a:ext cx="508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>
                  <a:solidFill>
                    <a:schemeClr val="accent1">
                      <a:lumMod val="75000"/>
                    </a:schemeClr>
                  </a:solidFill>
                </a:rPr>
                <a:t>AND</a:t>
              </a:r>
            </a:p>
          </p:txBody>
        </p:sp>
        <p:sp>
          <p:nvSpPr>
            <p:cNvPr id="91" name="144 CuadroTexto">
              <a:extLst>
                <a:ext uri="{FF2B5EF4-FFF2-40B4-BE49-F238E27FC236}">
                  <a16:creationId xmlns:a16="http://schemas.microsoft.com/office/drawing/2014/main" id="{436AEBAA-0B14-AD24-BDBB-674C1DE1DE28}"/>
                </a:ext>
              </a:extLst>
            </p:cNvPr>
            <p:cNvSpPr txBox="1"/>
            <p:nvPr/>
          </p:nvSpPr>
          <p:spPr>
            <a:xfrm>
              <a:off x="1857356" y="4857760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>
                  <a:solidFill>
                    <a:schemeClr val="accent1">
                      <a:lumMod val="75000"/>
                    </a:schemeClr>
                  </a:solidFill>
                </a:rPr>
                <a:t>OR</a:t>
              </a:r>
            </a:p>
          </p:txBody>
        </p:sp>
        <p:sp>
          <p:nvSpPr>
            <p:cNvPr id="92" name="Text Box 34">
              <a:extLst>
                <a:ext uri="{FF2B5EF4-FFF2-40B4-BE49-F238E27FC236}">
                  <a16:creationId xmlns:a16="http://schemas.microsoft.com/office/drawing/2014/main" id="{0D233A94-51C3-7DAC-4FA3-1A9C426DA39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061016" y="3863970"/>
              <a:ext cx="225425" cy="2826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11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07F92CBA-D5D4-AAD1-3851-5A68347A70F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651700" y="3834098"/>
              <a:ext cx="225425" cy="2826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11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08" name="Marcador de número de diapositiva 3">
            <a:extLst>
              <a:ext uri="{FF2B5EF4-FFF2-40B4-BE49-F238E27FC236}">
                <a16:creationId xmlns:a16="http://schemas.microsoft.com/office/drawing/2014/main" id="{C15F14CE-B476-F2B0-BA30-CED0BF4E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23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FF719-1DEC-CFF3-ECA0-4D69D1C6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9437E-A2F1-8035-3526-6FFE4D4B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Conversión d</a:t>
            </a:r>
            <a:r>
              <a:rPr lang="es-ES_tradnl" altLang="ja-JP" dirty="0"/>
              <a:t>e </a:t>
            </a:r>
            <a:r>
              <a:rPr lang="es-ES_tradnl" dirty="0"/>
              <a:t>doble a simple precisi</a:t>
            </a:r>
            <a:r>
              <a:rPr lang="es-ES_tradnl" altLang="ja-JP" dirty="0"/>
              <a:t>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fcvt.s.d</a:t>
            </a: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10731-45AC-0042-DB1F-0874C230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25538"/>
            <a:ext cx="3527747" cy="5256212"/>
          </a:xfrm>
        </p:spPr>
        <p:txBody>
          <a:bodyPr/>
          <a:lstStyle/>
          <a:p>
            <a:r>
              <a:rPr lang="es-ES_tradnl" dirty="0"/>
              <a:t>Estructura del operador</a:t>
            </a:r>
            <a:endParaRPr lang="es-ES_tradnl" altLang="ja-JP" dirty="0"/>
          </a:p>
          <a:p>
            <a:pPr lvl="1"/>
            <a:r>
              <a:rPr lang="es-ES_tradnl" dirty="0"/>
              <a:t>El signo no cambia</a:t>
            </a:r>
          </a:p>
          <a:p>
            <a:pPr lvl="1"/>
            <a:r>
              <a:rPr lang="es-ES_tradnl" dirty="0"/>
              <a:t>Exponente: hay que cambiar de </a:t>
            </a:r>
            <a:r>
              <a:rPr lang="es-ES_tradnl" altLang="ja-JP" dirty="0"/>
              <a:t>11 bits en exceso 1023 a </a:t>
            </a:r>
            <a:r>
              <a:rPr lang="es-ES_tradnl" dirty="0"/>
              <a:t>8 bits en exc</a:t>
            </a:r>
            <a:r>
              <a:rPr lang="es-ES_tradnl" altLang="ja-JP" dirty="0"/>
              <a:t>eso 127</a:t>
            </a:r>
          </a:p>
          <a:p>
            <a:pPr lvl="2"/>
            <a:r>
              <a:rPr lang="es-ES_tradnl" altLang="ja-JP" dirty="0"/>
              <a:t>puede darse desbordamiento</a:t>
            </a:r>
          </a:p>
          <a:p>
            <a:pPr lvl="1"/>
            <a:r>
              <a:rPr lang="es-ES_tradnl" altLang="ja-JP" dirty="0"/>
              <a:t>Mantisa: hay que eliminar 29 bits por la derecha y redondear</a:t>
            </a:r>
            <a:endParaRPr lang="es-ES_tradnl" dirty="0"/>
          </a:p>
        </p:txBody>
      </p:sp>
      <p:sp>
        <p:nvSpPr>
          <p:cNvPr id="108" name="Marcador de número de diapositiva 3">
            <a:extLst>
              <a:ext uri="{FF2B5EF4-FFF2-40B4-BE49-F238E27FC236}">
                <a16:creationId xmlns:a16="http://schemas.microsoft.com/office/drawing/2014/main" id="{684EBDF6-2C49-D02F-77F9-BA925A3C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grpSp>
        <p:nvGrpSpPr>
          <p:cNvPr id="5" name="10 Grupo">
            <a:extLst>
              <a:ext uri="{FF2B5EF4-FFF2-40B4-BE49-F238E27FC236}">
                <a16:creationId xmlns:a16="http://schemas.microsoft.com/office/drawing/2014/main" id="{9D43BB1A-16DF-F473-4F2C-16DC77C9FA2E}"/>
              </a:ext>
            </a:extLst>
          </p:cNvPr>
          <p:cNvGrpSpPr/>
          <p:nvPr/>
        </p:nvGrpSpPr>
        <p:grpSpPr>
          <a:xfrm>
            <a:off x="4610100" y="2833687"/>
            <a:ext cx="4252913" cy="3384550"/>
            <a:chOff x="1295400" y="3184525"/>
            <a:chExt cx="4252913" cy="338455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4BC7BAA-88F6-6843-4573-F7E35019CD7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295400" y="5867400"/>
              <a:ext cx="2819400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1BC71AA-188A-8AF1-AD85-DBC88522B2A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600200" y="58674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A1192719-2F70-D398-C508-4713E2A29FC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590800" y="58674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A0F91EBF-1FA1-4DC5-66E4-80154B11349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71600" y="5943600"/>
              <a:ext cx="1698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01A00994-6545-984E-2930-7EFC8E4BD4E5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766888" y="5943600"/>
              <a:ext cx="169862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E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51156845-2FD6-DE2D-C13C-A41FB224C8E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57488" y="5943600"/>
              <a:ext cx="211137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M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D3098BA8-DE4B-BC9A-A3BD-AC81E1101D7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90650" y="6324600"/>
              <a:ext cx="11271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EE71966C-F1D1-9C97-F455-B80B3648F74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92313" y="6324600"/>
              <a:ext cx="112712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8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F49A5F1A-3AD2-1A05-3F0A-5F1F8AE2085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208338" y="6324600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23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DA7A58C7-6262-5D25-F6DF-DB4D254A41AA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295400" y="3429000"/>
              <a:ext cx="4252913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6742BC13-FC08-5EC3-0D3B-E947A02B2F2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600200" y="34290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89CE4AA6-D2AF-0D27-D30C-2ACD4F864B2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728913" y="34290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A64184F3-56BD-0743-C1B1-B14325BC95F0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71600" y="3505200"/>
              <a:ext cx="1698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033CD9C1-FD9B-B894-3C24-98CF93FAA8C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752600" y="3505200"/>
              <a:ext cx="1698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E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D0DD95EE-43CC-C057-F941-1A5A672F96F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819400" y="3505200"/>
              <a:ext cx="287338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M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A318E01D-964D-F1B4-D372-D5801C41290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401763" y="3184525"/>
              <a:ext cx="112712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27" name="Text Box 21">
              <a:extLst>
                <a:ext uri="{FF2B5EF4-FFF2-40B4-BE49-F238E27FC236}">
                  <a16:creationId xmlns:a16="http://schemas.microsoft.com/office/drawing/2014/main" id="{B8FCDC32-8328-ED92-D44E-11DE6731EBC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057400" y="3184525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11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28" name="Text Box 22">
              <a:extLst>
                <a:ext uri="{FF2B5EF4-FFF2-40B4-BE49-F238E27FC236}">
                  <a16:creationId xmlns:a16="http://schemas.microsoft.com/office/drawing/2014/main" id="{3CC9130E-5C46-11B6-2352-608FBBF6AB17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035425" y="3184525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52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A30CEC14-2F30-F45F-97A6-44BC8E18E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7800" y="3886200"/>
              <a:ext cx="0" cy="1981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C82205C1-3ED2-D673-C770-7949CBB59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3886200"/>
              <a:ext cx="0" cy="9906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1AEFBEA-FD6F-7E86-41DD-E5B2F2FE9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0" y="4876800"/>
              <a:ext cx="1066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2444D9EA-D3F7-7D5C-6F9D-7C9A3DE51C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44958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8FC810FA-319B-1DB0-CFC1-67F3198B7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6000" y="5410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C3920FC6-D732-8501-509D-8AD5F6DFA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4191000"/>
              <a:ext cx="6858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rgbClr val="FF0000"/>
                  </a:solidFill>
                </a:rPr>
                <a:t>–896</a:t>
              </a: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1E480DB6-97F2-0A4F-D842-D9A0D4422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429000"/>
              <a:ext cx="0" cy="4572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2B26F33A-293E-1EDE-F962-B62C6E174DFA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124200" y="4495800"/>
              <a:ext cx="1828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 Redondeo</a:t>
              </a:r>
            </a:p>
          </p:txBody>
        </p:sp>
        <p:sp>
          <p:nvSpPr>
            <p:cNvPr id="37" name="Freeform 41">
              <a:extLst>
                <a:ext uri="{FF2B5EF4-FFF2-40B4-BE49-F238E27FC236}">
                  <a16:creationId xmlns:a16="http://schemas.microsoft.com/office/drawing/2014/main" id="{9528F302-E370-68A9-AF33-F8713FE19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000" y="3886200"/>
              <a:ext cx="3048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8" name="Freeform 42">
              <a:extLst>
                <a:ext uri="{FF2B5EF4-FFF2-40B4-BE49-F238E27FC236}">
                  <a16:creationId xmlns:a16="http://schemas.microsoft.com/office/drawing/2014/main" id="{A2CDD9DE-9921-9B80-73AD-342338F612B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19600" y="3886200"/>
              <a:ext cx="3048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9" name="Freeform 43">
              <a:extLst>
                <a:ext uri="{FF2B5EF4-FFF2-40B4-BE49-F238E27FC236}">
                  <a16:creationId xmlns:a16="http://schemas.microsoft.com/office/drawing/2014/main" id="{FBFBFDE7-8E14-5A50-95DA-7E0067005F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52800" y="4876800"/>
              <a:ext cx="685800" cy="990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40" name="Freeform 45">
              <a:extLst>
                <a:ext uri="{FF2B5EF4-FFF2-40B4-BE49-F238E27FC236}">
                  <a16:creationId xmlns:a16="http://schemas.microsoft.com/office/drawing/2014/main" id="{A2E8B8B3-7583-F032-A1FB-A44ABB7A8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4648200"/>
              <a:ext cx="457200" cy="609600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176" y="0"/>
                </a:cxn>
                <a:cxn ang="0">
                  <a:pos x="176" y="384"/>
                </a:cxn>
                <a:cxn ang="0">
                  <a:pos x="0" y="384"/>
                </a:cxn>
              </a:cxnLst>
              <a:rect l="0" t="0" r="r" b="b"/>
              <a:pathLst>
                <a:path w="288" h="384">
                  <a:moveTo>
                    <a:pt x="288" y="0"/>
                  </a:moveTo>
                  <a:lnTo>
                    <a:pt x="176" y="0"/>
                  </a:lnTo>
                  <a:lnTo>
                    <a:pt x="176" y="384"/>
                  </a:lnTo>
                  <a:lnTo>
                    <a:pt x="0" y="384"/>
                  </a:ln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09" name="Rectangle 47">
              <a:extLst>
                <a:ext uri="{FF2B5EF4-FFF2-40B4-BE49-F238E27FC236}">
                  <a16:creationId xmlns:a16="http://schemas.microsoft.com/office/drawing/2014/main" id="{CA9E1E5D-1387-04F7-5958-A0BEE28DD83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971800" y="4953000"/>
              <a:ext cx="2460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ca-ES">
                  <a:solidFill>
                    <a:schemeClr val="tx2"/>
                  </a:solidFill>
                </a:rPr>
                <a:t>c</a:t>
              </a:r>
              <a:r>
                <a:rPr lang="ca-ES" b="1" baseline="-25000">
                  <a:solidFill>
                    <a:schemeClr val="tx2"/>
                  </a:solidFill>
                </a:rPr>
                <a:t>A</a:t>
              </a:r>
              <a:endParaRPr lang="ca-ES" b="1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2028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85">
            <a:extLst>
              <a:ext uri="{FF2B5EF4-FFF2-40B4-BE49-F238E27FC236}">
                <a16:creationId xmlns:a16="http://schemas.microsoft.com/office/drawing/2014/main" id="{A8E7B3A0-84CF-5BF8-023F-028FC466DE1E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6019800" y="2971800"/>
            <a:ext cx="2895600" cy="3505200"/>
          </a:xfrm>
          <a:prstGeom prst="roundRect">
            <a:avLst>
              <a:gd name="adj" fmla="val 6250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9200" prstMaterial="legacyMatte">
            <a:bevelT w="13500" h="13500" prst="angle"/>
            <a:bevelB w="13500" h="13500" prst="angle"/>
            <a:extrusionClr>
              <a:schemeClr val="bg2"/>
            </a:extrusionClr>
          </a:sp3d>
        </p:spPr>
        <p:txBody>
          <a:bodyPr lIns="0" tIns="0" rIns="0" bIns="0" anchor="ctr">
            <a:prstTxWarp prst="textNoShape">
              <a:avLst/>
            </a:prstTxWarp>
            <a:spAutoFit/>
            <a:flatTx/>
          </a:bodyPr>
          <a:lstStyle/>
          <a:p>
            <a:endParaRPr lang="ca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B7F4B1-8C7E-84A2-7CB9-FAA92C6A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Conversión d</a:t>
            </a:r>
            <a:r>
              <a:rPr lang="es-ES_tradnl" altLang="ja-JP" dirty="0"/>
              <a:t>e </a:t>
            </a:r>
            <a:r>
              <a:rPr lang="es-ES_tradnl" dirty="0"/>
              <a:t>doble a simple precisi</a:t>
            </a:r>
            <a:r>
              <a:rPr lang="es-ES_tradnl" altLang="ja-JP" dirty="0"/>
              <a:t>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fcvt.s.d</a:t>
            </a:r>
            <a:endParaRPr lang="es-ES_tradnl" sz="2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1A09D3-B0F0-5054-07FD-59021607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Circuito para el redondeo al más próximo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782338-D485-D35A-0AC4-43148BD7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grpSp>
        <p:nvGrpSpPr>
          <p:cNvPr id="5" name="Group 61">
            <a:extLst>
              <a:ext uri="{FF2B5EF4-FFF2-40B4-BE49-F238E27FC236}">
                <a16:creationId xmlns:a16="http://schemas.microsoft.com/office/drawing/2014/main" id="{BCDD2C0B-3BC9-2AC9-EE3F-0E5EB7A67D12}"/>
              </a:ext>
            </a:extLst>
          </p:cNvPr>
          <p:cNvGrpSpPr>
            <a:grpSpLocks/>
          </p:cNvGrpSpPr>
          <p:nvPr/>
        </p:nvGrpSpPr>
        <p:grpSpPr bwMode="auto">
          <a:xfrm>
            <a:off x="3853206" y="3968750"/>
            <a:ext cx="1981200" cy="1878013"/>
            <a:chOff x="2976" y="864"/>
            <a:chExt cx="1248" cy="1183"/>
          </a:xfrm>
        </p:grpSpPr>
        <p:sp>
          <p:nvSpPr>
            <p:cNvPr id="6" name="Rectangle 60">
              <a:extLst>
                <a:ext uri="{FF2B5EF4-FFF2-40B4-BE49-F238E27FC236}">
                  <a16:creationId xmlns:a16="http://schemas.microsoft.com/office/drawing/2014/main" id="{1589A862-F39A-2DA0-0E66-7ABF0CD3C7FF}"/>
                </a:ext>
              </a:extLst>
            </p:cNvPr>
            <p:cNvSpPr>
              <a:spLocks noChangeArrowheads="1"/>
            </p:cNvSpPr>
            <p:nvPr/>
          </p:nvSpPr>
          <p:spPr bwMode="grayWhite">
            <a:xfrm>
              <a:off x="2976" y="864"/>
              <a:ext cx="1248" cy="1104"/>
            </a:xfrm>
            <a:prstGeom prst="rect">
              <a:avLst/>
            </a:prstGeom>
            <a:solidFill>
              <a:schemeClr val="bg2"/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7" name="Text Box 50">
              <a:extLst>
                <a:ext uri="{FF2B5EF4-FFF2-40B4-BE49-F238E27FC236}">
                  <a16:creationId xmlns:a16="http://schemas.microsoft.com/office/drawing/2014/main" id="{0E357311-949C-AD8E-25DE-67E617174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864"/>
              <a:ext cx="1200" cy="1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tIns="0" rIns="0" bIns="0">
              <a:prstTxWarp prst="textNoShape">
                <a:avLst/>
              </a:prstTxWarp>
              <a:spAutoFit/>
            </a:bodyPr>
            <a:lstStyle/>
            <a:p>
              <a:pPr algn="l" defTabSz="949325">
                <a:tabLst>
                  <a:tab pos="187325" algn="ctr"/>
                  <a:tab pos="574675" algn="ctr"/>
                  <a:tab pos="949325" algn="ctr"/>
                  <a:tab pos="1524000" algn="ctr"/>
                </a:tabLst>
              </a:pPr>
              <a:r>
                <a:rPr lang="es-ES_tradnl" dirty="0"/>
                <a:t>	b</a:t>
              </a:r>
              <a:r>
                <a:rPr lang="es-ES_tradnl" b="1" baseline="-25000" dirty="0"/>
                <a:t>29</a:t>
              </a:r>
              <a:r>
                <a:rPr lang="es-ES_tradnl" dirty="0"/>
                <a:t>	g	red	R</a:t>
              </a:r>
            </a:p>
            <a:p>
              <a:pPr algn="l" defTabSz="949325">
                <a:lnSpc>
                  <a:spcPct val="130000"/>
                </a:lnSpc>
                <a:tabLst>
                  <a:tab pos="187325" algn="ctr"/>
                  <a:tab pos="574675" algn="ctr"/>
                  <a:tab pos="949325" algn="ctr"/>
                  <a:tab pos="1524000" algn="ctr"/>
                </a:tabLst>
              </a:pPr>
              <a:r>
                <a:rPr lang="es-ES_tradnl" dirty="0"/>
                <a:t>	</a:t>
              </a:r>
              <a:r>
                <a:rPr lang="es-ES_tradnl" dirty="0">
                  <a:latin typeface="Arial" panose="020B0604020202020204" pitchFamily="34" charset="0"/>
                  <a:cs typeface="Arial" panose="020B0604020202020204" pitchFamily="34" charset="0"/>
                </a:rPr>
                <a:t>x	0	x	0</a:t>
              </a:r>
            </a:p>
            <a:p>
              <a:pPr algn="l" defTabSz="949325">
                <a:tabLst>
                  <a:tab pos="187325" algn="ctr"/>
                  <a:tab pos="574675" algn="ctr"/>
                  <a:tab pos="949325" algn="ctr"/>
                  <a:tab pos="1524000" algn="ctr"/>
                </a:tabLst>
              </a:pPr>
              <a:r>
                <a:rPr lang="es-ES_tradnl" dirty="0">
                  <a:latin typeface="Arial" panose="020B0604020202020204" pitchFamily="34" charset="0"/>
                  <a:cs typeface="Arial" panose="020B0604020202020204" pitchFamily="34" charset="0"/>
                </a:rPr>
                <a:t>	0	1	0	0</a:t>
              </a:r>
            </a:p>
            <a:p>
              <a:pPr algn="l" defTabSz="949325">
                <a:tabLst>
                  <a:tab pos="187325" algn="ctr"/>
                  <a:tab pos="574675" algn="ctr"/>
                  <a:tab pos="949325" algn="ctr"/>
                  <a:tab pos="1524000" algn="ctr"/>
                </a:tabLst>
              </a:pPr>
              <a:r>
                <a:rPr lang="es-ES_tradnl" dirty="0">
                  <a:latin typeface="Arial" panose="020B0604020202020204" pitchFamily="34" charset="0"/>
                  <a:cs typeface="Arial" panose="020B0604020202020204" pitchFamily="34" charset="0"/>
                </a:rPr>
                <a:t>	1	1	0	1</a:t>
              </a:r>
            </a:p>
            <a:p>
              <a:pPr algn="l" defTabSz="949325">
                <a:tabLst>
                  <a:tab pos="187325" algn="ctr"/>
                  <a:tab pos="574675" algn="ctr"/>
                  <a:tab pos="949325" algn="ctr"/>
                  <a:tab pos="1524000" algn="ctr"/>
                </a:tabLst>
              </a:pPr>
              <a:r>
                <a:rPr lang="es-ES_tradnl" dirty="0">
                  <a:latin typeface="Arial" panose="020B0604020202020204" pitchFamily="34" charset="0"/>
                  <a:cs typeface="Arial" panose="020B0604020202020204" pitchFamily="34" charset="0"/>
                </a:rPr>
                <a:t>	x	1	1	1</a:t>
              </a:r>
            </a:p>
          </p:txBody>
        </p:sp>
        <p:sp>
          <p:nvSpPr>
            <p:cNvPr id="8" name="Line 51">
              <a:extLst>
                <a:ext uri="{FF2B5EF4-FFF2-40B4-BE49-F238E27FC236}">
                  <a16:creationId xmlns:a16="http://schemas.microsoft.com/office/drawing/2014/main" id="{C9660253-6349-CBF2-F838-CA6A0F43C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076"/>
              <a:ext cx="1152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9" name="Line 52">
              <a:extLst>
                <a:ext uri="{FF2B5EF4-FFF2-40B4-BE49-F238E27FC236}">
                  <a16:creationId xmlns:a16="http://schemas.microsoft.com/office/drawing/2014/main" id="{52BFF45A-73AF-4C7E-8FBB-B9E511167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7" y="912"/>
              <a:ext cx="3" cy="1109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</p:grpSp>
      <p:grpSp>
        <p:nvGrpSpPr>
          <p:cNvPr id="10" name="1 Grupo">
            <a:extLst>
              <a:ext uri="{FF2B5EF4-FFF2-40B4-BE49-F238E27FC236}">
                <a16:creationId xmlns:a16="http://schemas.microsoft.com/office/drawing/2014/main" id="{B1482BF4-29E3-C058-BE27-4A72113B0A7C}"/>
              </a:ext>
            </a:extLst>
          </p:cNvPr>
          <p:cNvGrpSpPr/>
          <p:nvPr/>
        </p:nvGrpSpPr>
        <p:grpSpPr>
          <a:xfrm>
            <a:off x="546468" y="1651000"/>
            <a:ext cx="3814553" cy="3568700"/>
            <a:chOff x="333375" y="1600200"/>
            <a:chExt cx="3814553" cy="356870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F755103-284F-39A8-B551-078F69718528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33400" y="1600200"/>
              <a:ext cx="3505200" cy="3810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eaLnBrk="1" hangingPunct="1"/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BF011A25-4C60-C6B2-7061-DB9E55A98D5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066800" y="2362200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F8F4F33-4799-A693-39A3-F550F2723893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1905000" y="4038600"/>
              <a:ext cx="838200" cy="381000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192" y="336"/>
                </a:cxn>
                <a:cxn ang="0">
                  <a:pos x="0" y="336"/>
                </a:cxn>
              </a:cxnLst>
              <a:rect l="0" t="0" r="r" b="b"/>
              <a:pathLst>
                <a:path w="192" h="336">
                  <a:moveTo>
                    <a:pt x="192" y="0"/>
                  </a:moveTo>
                  <a:lnTo>
                    <a:pt x="192" y="336"/>
                  </a:lnTo>
                  <a:lnTo>
                    <a:pt x="0" y="336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F2BEE8DC-2F89-604B-DCAE-6AFBF180A2E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343150" y="3568700"/>
              <a:ext cx="762000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ca-ES" b="1" dirty="0" err="1">
                  <a:solidFill>
                    <a:schemeClr val="tx2"/>
                  </a:solidFill>
                </a:rPr>
                <a:t>R</a:t>
              </a:r>
              <a:endParaRPr lang="ca-ES" b="1" dirty="0">
                <a:solidFill>
                  <a:schemeClr val="tx2"/>
                </a:solidFill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7D199DF9-6F3C-57A4-5A0E-D9A18184154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466850" y="4635500"/>
              <a:ext cx="0" cy="533400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D44EE054-5F30-54F2-2EC2-9A52EC3AA489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885825" y="4044950"/>
              <a:ext cx="12192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432" y="192"/>
                </a:cxn>
                <a:cxn ang="0">
                  <a:pos x="576" y="0"/>
                </a:cxn>
                <a:cxn ang="0">
                  <a:pos x="864" y="0"/>
                </a:cxn>
                <a:cxn ang="0">
                  <a:pos x="624" y="384"/>
                </a:cxn>
                <a:cxn ang="0">
                  <a:pos x="240" y="384"/>
                </a:cxn>
                <a:cxn ang="0">
                  <a:pos x="0" y="0"/>
                </a:cxn>
              </a:cxnLst>
              <a:rect l="0" t="0" r="r" b="b"/>
              <a:pathLst>
                <a:path w="864" h="384">
                  <a:moveTo>
                    <a:pt x="0" y="0"/>
                  </a:moveTo>
                  <a:lnTo>
                    <a:pt x="288" y="0"/>
                  </a:lnTo>
                  <a:lnTo>
                    <a:pt x="432" y="192"/>
                  </a:lnTo>
                  <a:lnTo>
                    <a:pt x="576" y="0"/>
                  </a:lnTo>
                  <a:lnTo>
                    <a:pt x="864" y="0"/>
                  </a:lnTo>
                  <a:lnTo>
                    <a:pt x="624" y="384"/>
                  </a:lnTo>
                  <a:lnTo>
                    <a:pt x="240" y="38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952BCA9F-2724-DDB9-0A97-180B6E50D64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2286000" y="1600200"/>
              <a:ext cx="0" cy="38100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prstDash val="dash"/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BF4F0808-EA2E-9B0E-0E2D-5189E232608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552450" y="4406900"/>
              <a:ext cx="533400" cy="0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F67BEA-074F-4CEE-5034-195C0C20F99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33375" y="4038600"/>
              <a:ext cx="2460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ca-ES">
                  <a:solidFill>
                    <a:schemeClr val="tx2"/>
                  </a:solidFill>
                </a:rPr>
                <a:t>c</a:t>
              </a:r>
              <a:r>
                <a:rPr lang="ca-ES" b="1" baseline="-25000">
                  <a:solidFill>
                    <a:schemeClr val="tx2"/>
                  </a:solidFill>
                </a:rPr>
                <a:t>A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20" name="Text Box 28">
              <a:extLst>
                <a:ext uri="{FF2B5EF4-FFF2-40B4-BE49-F238E27FC236}">
                  <a16:creationId xmlns:a16="http://schemas.microsoft.com/office/drawing/2014/main" id="{CD92E7F8-2CC8-8D9D-B950-A14F2B304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562" y="1600200"/>
              <a:ext cx="1752600" cy="381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51</a:t>
              </a:r>
              <a:r>
                <a:rPr lang="es-ES_tradnl" dirty="0">
                  <a:solidFill>
                    <a:schemeClr val="tx1"/>
                  </a:solidFill>
                </a:rPr>
                <a:t> 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50</a:t>
              </a:r>
              <a:r>
                <a:rPr lang="es-ES_tradnl" dirty="0">
                  <a:solidFill>
                    <a:schemeClr val="tx1"/>
                  </a:solidFill>
                </a:rPr>
                <a:t>  …  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29</a:t>
              </a:r>
            </a:p>
          </p:txBody>
        </p:sp>
        <p:sp>
          <p:nvSpPr>
            <p:cNvPr id="21" name="Text Box 29">
              <a:extLst>
                <a:ext uri="{FF2B5EF4-FFF2-40B4-BE49-F238E27FC236}">
                  <a16:creationId xmlns:a16="http://schemas.microsoft.com/office/drawing/2014/main" id="{74A141DD-54FA-B1BC-FD64-31E339907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750" y="1600200"/>
              <a:ext cx="1752600" cy="381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28</a:t>
              </a:r>
              <a:r>
                <a:rPr lang="es-ES_tradnl" dirty="0">
                  <a:solidFill>
                    <a:schemeClr val="tx1"/>
                  </a:solidFill>
                </a:rPr>
                <a:t> 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27</a:t>
              </a:r>
              <a:r>
                <a:rPr lang="es-ES_tradnl" dirty="0">
                  <a:solidFill>
                    <a:schemeClr val="tx1"/>
                  </a:solidFill>
                </a:rPr>
                <a:t>  …  b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AutoShape 30">
              <a:extLst>
                <a:ext uri="{FF2B5EF4-FFF2-40B4-BE49-F238E27FC236}">
                  <a16:creationId xmlns:a16="http://schemas.microsoft.com/office/drawing/2014/main" id="{F9819511-D0B1-0A3F-8721-9D55402B4533}"/>
                </a:ext>
              </a:extLst>
            </p:cNvPr>
            <p:cNvSpPr>
              <a:spLocks/>
            </p:cNvSpPr>
            <p:nvPr/>
          </p:nvSpPr>
          <p:spPr bwMode="blackWhite">
            <a:xfrm rot="16200000" flipV="1">
              <a:off x="1371600" y="1524000"/>
              <a:ext cx="152400" cy="1524000"/>
            </a:xfrm>
            <a:prstGeom prst="leftBrace">
              <a:avLst>
                <a:gd name="adj1" fmla="val 32269"/>
                <a:gd name="adj2" fmla="val 74894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Text Box 32">
              <a:extLst>
                <a:ext uri="{FF2B5EF4-FFF2-40B4-BE49-F238E27FC236}">
                  <a16:creationId xmlns:a16="http://schemas.microsoft.com/office/drawing/2014/main" id="{84943D5F-8D20-8FAD-5898-827309DCE56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259138" y="3351312"/>
              <a:ext cx="888790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ca-ES" dirty="0" err="1">
                  <a:solidFill>
                    <a:schemeClr val="tx1"/>
                  </a:solidFill>
                  <a:latin typeface="Arial Narrow" pitchFamily="-112" charset="0"/>
                </a:rPr>
                <a:t>redondeo</a:t>
              </a:r>
              <a:endParaRPr lang="ca-ES" b="1" dirty="0">
                <a:solidFill>
                  <a:schemeClr val="tx1"/>
                </a:solidFill>
                <a:latin typeface="Arial Narrow" pitchFamily="-112" charset="0"/>
              </a:endParaRPr>
            </a:p>
          </p:txBody>
        </p:sp>
        <p:grpSp>
          <p:nvGrpSpPr>
            <p:cNvPr id="24" name="Group 34">
              <a:extLst>
                <a:ext uri="{FF2B5EF4-FFF2-40B4-BE49-F238E27FC236}">
                  <a16:creationId xmlns:a16="http://schemas.microsoft.com/office/drawing/2014/main" id="{CF626071-F9E0-E5ED-7378-02A50E1B884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048000" y="2514600"/>
              <a:ext cx="685800" cy="533400"/>
              <a:chOff x="4309" y="1776"/>
              <a:chExt cx="491" cy="420"/>
            </a:xfrm>
          </p:grpSpPr>
          <p:sp>
            <p:nvSpPr>
              <p:cNvPr id="34" name="Freeform 35">
                <a:extLst>
                  <a:ext uri="{FF2B5EF4-FFF2-40B4-BE49-F238E27FC236}">
                    <a16:creationId xmlns:a16="http://schemas.microsoft.com/office/drawing/2014/main" id="{FF098D6B-04D2-9F47-3518-D6B36AE8E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35" name="Line 36">
                <a:extLst>
                  <a:ext uri="{FF2B5EF4-FFF2-40B4-BE49-F238E27FC236}">
                    <a16:creationId xmlns:a16="http://schemas.microsoft.com/office/drawing/2014/main" id="{92353164-95D9-701A-2C36-9166A7ECF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36" name="Freeform 37">
                <a:extLst>
                  <a:ext uri="{FF2B5EF4-FFF2-40B4-BE49-F238E27FC236}">
                    <a16:creationId xmlns:a16="http://schemas.microsoft.com/office/drawing/2014/main" id="{DDBE8394-1CA7-029D-1F50-0C2F56630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37" name="Freeform 38">
                <a:extLst>
                  <a:ext uri="{FF2B5EF4-FFF2-40B4-BE49-F238E27FC236}">
                    <a16:creationId xmlns:a16="http://schemas.microsoft.com/office/drawing/2014/main" id="{0C2100D3-2FBD-FC08-2944-12288F682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38" name="Line 39">
                <a:extLst>
                  <a:ext uri="{FF2B5EF4-FFF2-40B4-BE49-F238E27FC236}">
                    <a16:creationId xmlns:a16="http://schemas.microsoft.com/office/drawing/2014/main" id="{26CE19A6-D029-8A15-F78B-8E9F18052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39" name="Freeform 40">
                <a:extLst>
                  <a:ext uri="{FF2B5EF4-FFF2-40B4-BE49-F238E27FC236}">
                    <a16:creationId xmlns:a16="http://schemas.microsoft.com/office/drawing/2014/main" id="{220FBDF1-ADDD-A6D5-2658-55EB2F325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</p:grpSp>
        <p:sp>
          <p:nvSpPr>
            <p:cNvPr id="25" name="Freeform 41">
              <a:extLst>
                <a:ext uri="{FF2B5EF4-FFF2-40B4-BE49-F238E27FC236}">
                  <a16:creationId xmlns:a16="http://schemas.microsoft.com/office/drawing/2014/main" id="{FA5A4CA4-C5BB-DA9E-141D-2EC0D8345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800" y="1981200"/>
              <a:ext cx="228600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192" y="192"/>
                </a:cxn>
                <a:cxn ang="0">
                  <a:pos x="192" y="384"/>
                </a:cxn>
              </a:cxnLst>
              <a:rect l="0" t="0" r="r" b="b"/>
              <a:pathLst>
                <a:path w="192" h="384">
                  <a:moveTo>
                    <a:pt x="0" y="0"/>
                  </a:moveTo>
                  <a:lnTo>
                    <a:pt x="0" y="192"/>
                  </a:lnTo>
                  <a:lnTo>
                    <a:pt x="192" y="192"/>
                  </a:lnTo>
                  <a:lnTo>
                    <a:pt x="192" y="384"/>
                  </a:lnTo>
                </a:path>
              </a:pathLst>
            </a:cu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6" name="Freeform 42">
              <a:extLst>
                <a:ext uri="{FF2B5EF4-FFF2-40B4-BE49-F238E27FC236}">
                  <a16:creationId xmlns:a16="http://schemas.microsoft.com/office/drawing/2014/main" id="{7D40AD01-9B9B-839D-A9A7-C384900E2A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81400" y="1981200"/>
              <a:ext cx="228600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192" y="192"/>
                </a:cxn>
                <a:cxn ang="0">
                  <a:pos x="192" y="384"/>
                </a:cxn>
              </a:cxnLst>
              <a:rect l="0" t="0" r="r" b="b"/>
              <a:pathLst>
                <a:path w="192" h="384">
                  <a:moveTo>
                    <a:pt x="0" y="0"/>
                  </a:moveTo>
                  <a:lnTo>
                    <a:pt x="0" y="192"/>
                  </a:lnTo>
                  <a:lnTo>
                    <a:pt x="192" y="192"/>
                  </a:lnTo>
                  <a:lnTo>
                    <a:pt x="192" y="384"/>
                  </a:lnTo>
                </a:path>
              </a:pathLst>
            </a:cu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7" name="Freeform 43">
              <a:extLst>
                <a:ext uri="{FF2B5EF4-FFF2-40B4-BE49-F238E27FC236}">
                  <a16:creationId xmlns:a16="http://schemas.microsoft.com/office/drawing/2014/main" id="{93F568D7-E112-A577-3E84-6FB890B8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800" y="1981200"/>
              <a:ext cx="152400" cy="160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63"/>
                </a:cxn>
                <a:cxn ang="0">
                  <a:pos x="96" y="360"/>
                </a:cxn>
                <a:cxn ang="0">
                  <a:pos x="96" y="1008"/>
                </a:cxn>
              </a:cxnLst>
              <a:rect l="0" t="0" r="r" b="b"/>
              <a:pathLst>
                <a:path w="96" h="1008">
                  <a:moveTo>
                    <a:pt x="0" y="0"/>
                  </a:moveTo>
                  <a:lnTo>
                    <a:pt x="0" y="363"/>
                  </a:lnTo>
                  <a:lnTo>
                    <a:pt x="96" y="360"/>
                  </a:lnTo>
                  <a:lnTo>
                    <a:pt x="96" y="1008"/>
                  </a:lnTo>
                </a:path>
              </a:pathLst>
            </a:cu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8A39A82B-477F-6FB3-4BA6-E1FDAAB17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600" y="1981200"/>
              <a:ext cx="304800" cy="160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192" y="192"/>
                </a:cxn>
                <a:cxn ang="0">
                  <a:pos x="192" y="384"/>
                </a:cxn>
              </a:cxnLst>
              <a:rect l="0" t="0" r="r" b="b"/>
              <a:pathLst>
                <a:path w="192" h="384">
                  <a:moveTo>
                    <a:pt x="0" y="0"/>
                  </a:moveTo>
                  <a:lnTo>
                    <a:pt x="0" y="192"/>
                  </a:lnTo>
                  <a:lnTo>
                    <a:pt x="192" y="192"/>
                  </a:lnTo>
                  <a:lnTo>
                    <a:pt x="192" y="384"/>
                  </a:lnTo>
                </a:path>
              </a:pathLst>
            </a:cu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5CD15763-F6EC-D996-A615-AFAAF57439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048000" y="3124200"/>
              <a:ext cx="327025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192" y="192"/>
                </a:cxn>
                <a:cxn ang="0">
                  <a:pos x="192" y="384"/>
                </a:cxn>
              </a:cxnLst>
              <a:rect l="0" t="0" r="r" b="b"/>
              <a:pathLst>
                <a:path w="192" h="384">
                  <a:moveTo>
                    <a:pt x="0" y="0"/>
                  </a:moveTo>
                  <a:lnTo>
                    <a:pt x="0" y="192"/>
                  </a:lnTo>
                  <a:lnTo>
                    <a:pt x="192" y="192"/>
                  </a:lnTo>
                  <a:lnTo>
                    <a:pt x="192" y="384"/>
                  </a:lnTo>
                </a:path>
              </a:pathLst>
            </a:cu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0" name="Rectangle 46">
              <a:extLst>
                <a:ext uri="{FF2B5EF4-FFF2-40B4-BE49-F238E27FC236}">
                  <a16:creationId xmlns:a16="http://schemas.microsoft.com/office/drawing/2014/main" id="{EB02F3C9-E8E9-333A-9951-B6FAF4E9CA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342356" y="2189957"/>
              <a:ext cx="649287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ca-ES">
                  <a:solidFill>
                    <a:schemeClr val="tx1"/>
                  </a:solidFill>
                  <a:latin typeface="Arial Narrow" pitchFamily="-112" charset="0"/>
                </a:rPr>
                <a:t>guarda</a:t>
              </a:r>
              <a:endParaRPr lang="es-ES_tradnl">
                <a:solidFill>
                  <a:schemeClr val="tx1"/>
                </a:solidFill>
                <a:latin typeface="Arial Narrow" pitchFamily="-112" charset="0"/>
              </a:endParaRPr>
            </a:p>
          </p:txBody>
        </p:sp>
        <p:sp>
          <p:nvSpPr>
            <p:cNvPr id="31" name="Rectangle 47">
              <a:extLst>
                <a:ext uri="{FF2B5EF4-FFF2-40B4-BE49-F238E27FC236}">
                  <a16:creationId xmlns:a16="http://schemas.microsoft.com/office/drawing/2014/main" id="{BDC09143-0B2B-C0B8-EB4A-546AED7E2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360712"/>
              <a:ext cx="865246" cy="30777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ca-ES" dirty="0" err="1">
                  <a:solidFill>
                    <a:schemeClr val="tx1"/>
                  </a:solidFill>
                  <a:latin typeface="Arial Narrow" pitchFamily="-112" charset="0"/>
                </a:rPr>
                <a:t>retenidos</a:t>
              </a:r>
              <a:endParaRPr lang="es-ES_tradnl" dirty="0">
                <a:solidFill>
                  <a:schemeClr val="tx1"/>
                </a:solidFill>
                <a:latin typeface="Arial Narrow" pitchFamily="-112" charset="0"/>
              </a:endParaRPr>
            </a:p>
          </p:txBody>
        </p: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BD5B7996-F59E-5545-6AF6-267D07399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3352800"/>
              <a:ext cx="1524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ca-ES" b="1">
                  <a:solidFill>
                    <a:schemeClr val="tx2"/>
                  </a:solidFill>
                  <a:latin typeface="Courier New" pitchFamily="-112" charset="0"/>
                </a:rPr>
                <a:t>0</a:t>
              </a:r>
              <a:endParaRPr lang="es-ES_tradnl" b="1">
                <a:solidFill>
                  <a:schemeClr val="tx2"/>
                </a:solidFill>
                <a:latin typeface="Courier New" pitchFamily="-112" charset="0"/>
              </a:endParaRPr>
            </a:p>
          </p:txBody>
        </p:sp>
        <p:sp>
          <p:nvSpPr>
            <p:cNvPr id="33" name="Line 49">
              <a:extLst>
                <a:ext uri="{FF2B5EF4-FFF2-40B4-BE49-F238E27FC236}">
                  <a16:creationId xmlns:a16="http://schemas.microsoft.com/office/drawing/2014/main" id="{1121AD1A-F29A-A35C-99C6-4953D7228CC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828800" y="365760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</p:grpSp>
      <p:sp>
        <p:nvSpPr>
          <p:cNvPr id="40" name="AutoShape 84">
            <a:extLst>
              <a:ext uri="{FF2B5EF4-FFF2-40B4-BE49-F238E27FC236}">
                <a16:creationId xmlns:a16="http://schemas.microsoft.com/office/drawing/2014/main" id="{BBA31807-A3DC-DF0D-1F28-FC9930575F34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6553200" y="1143000"/>
            <a:ext cx="2362200" cy="1600200"/>
          </a:xfrm>
          <a:prstGeom prst="roundRect">
            <a:avLst>
              <a:gd name="adj" fmla="val 8750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9200" prstMaterial="legacyMatte">
            <a:bevelT w="13500" h="13500" prst="angle"/>
            <a:bevelB w="13500" h="13500" prst="angle"/>
            <a:extrusionClr>
              <a:schemeClr val="bg2"/>
            </a:extrusionClr>
          </a:sp3d>
        </p:spPr>
        <p:txBody>
          <a:bodyPr lIns="0" tIns="0" rIns="0" bIns="0" anchor="ctr">
            <a:prstTxWarp prst="textNoShape">
              <a:avLst/>
            </a:prstTxWarp>
            <a:spAutoFit/>
            <a:flatTx/>
          </a:bodyPr>
          <a:lstStyle/>
          <a:p>
            <a:endParaRPr lang="ca-ES"/>
          </a:p>
        </p:txBody>
      </p:sp>
      <p:sp>
        <p:nvSpPr>
          <p:cNvPr id="41" name="Text Box 63">
            <a:extLst>
              <a:ext uri="{FF2B5EF4-FFF2-40B4-BE49-F238E27FC236}">
                <a16:creationId xmlns:a16="http://schemas.microsoft.com/office/drawing/2014/main" id="{B688A080-44BC-B6F4-FB47-5862618206F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934200" y="4876800"/>
            <a:ext cx="1524000" cy="1524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 </a:t>
            </a:r>
            <a:r>
              <a:rPr lang="ca-ES">
                <a:solidFill>
                  <a:schemeClr val="tx1"/>
                </a:solidFill>
                <a:latin typeface="Courier New" pitchFamily="-112" charset="0"/>
              </a:rPr>
              <a:t>1.</a:t>
            </a: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11111</a:t>
            </a:r>
            <a:r>
              <a:rPr lang="ca-ES">
                <a:solidFill>
                  <a:schemeClr val="tx2"/>
                </a:solidFill>
                <a:latin typeface="Courier New" pitchFamily="-112" charset="0"/>
              </a:rPr>
              <a:t>11</a:t>
            </a:r>
            <a:br>
              <a:rPr lang="ca-ES" b="1">
                <a:solidFill>
                  <a:schemeClr val="tx1"/>
                </a:solidFill>
                <a:latin typeface="Courier New" pitchFamily="-112" charset="0"/>
              </a:rPr>
            </a:b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       </a:t>
            </a:r>
            <a:r>
              <a:rPr lang="ca-ES" b="1">
                <a:solidFill>
                  <a:schemeClr val="tx2"/>
                </a:solidFill>
                <a:latin typeface="Courier New" pitchFamily="-112" charset="0"/>
              </a:rPr>
              <a:t>1</a:t>
            </a:r>
            <a:endParaRPr lang="ca-ES" b="1">
              <a:solidFill>
                <a:schemeClr val="tx1"/>
              </a:solidFill>
              <a:latin typeface="Courier New" pitchFamily="-112" charset="0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ca-ES">
                <a:solidFill>
                  <a:schemeClr val="tx1"/>
                </a:solidFill>
                <a:latin typeface="Courier New" pitchFamily="-112" charset="0"/>
              </a:rPr>
              <a:t>10.</a:t>
            </a: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00000</a:t>
            </a:r>
          </a:p>
          <a:p>
            <a:pPr algn="l" eaLnBrk="1" hangingPunct="1">
              <a:spcBef>
                <a:spcPct val="50000"/>
              </a:spcBef>
            </a:pP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 </a:t>
            </a:r>
            <a:r>
              <a:rPr lang="ca-ES">
                <a:solidFill>
                  <a:schemeClr val="tx1"/>
                </a:solidFill>
                <a:latin typeface="Courier New" pitchFamily="-112" charset="0"/>
              </a:rPr>
              <a:t>1.</a:t>
            </a:r>
            <a:r>
              <a:rPr lang="ca-ES" b="1">
                <a:solidFill>
                  <a:schemeClr val="tx1"/>
                </a:solidFill>
                <a:latin typeface="Courier New" pitchFamily="-112" charset="0"/>
              </a:rPr>
              <a:t>00000</a:t>
            </a:r>
            <a:endParaRPr lang="ca-ES" b="1">
              <a:solidFill>
                <a:schemeClr val="tx2"/>
              </a:solidFill>
              <a:latin typeface="Courier New" pitchFamily="-112" charset="0"/>
            </a:endParaRPr>
          </a:p>
        </p:txBody>
      </p:sp>
      <p:sp>
        <p:nvSpPr>
          <p:cNvPr id="42" name="Line 64">
            <a:extLst>
              <a:ext uri="{FF2B5EF4-FFF2-40B4-BE49-F238E27FC236}">
                <a16:creationId xmlns:a16="http://schemas.microsoft.com/office/drawing/2014/main" id="{BC9E4BC7-2E74-353F-C9F3-7D39BAF2BC43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6743700" y="5562600"/>
            <a:ext cx="144780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43" name="Text Box 65">
            <a:extLst>
              <a:ext uri="{FF2B5EF4-FFF2-40B4-BE49-F238E27FC236}">
                <a16:creationId xmlns:a16="http://schemas.microsoft.com/office/drawing/2014/main" id="{06AE0CFC-12E4-74E4-F6C4-ADD78F09B35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705600" y="5159375"/>
            <a:ext cx="14763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r" eaLnBrk="1" hangingPunct="1"/>
            <a:r>
              <a:rPr lang="ca-ES" b="1">
                <a:solidFill>
                  <a:srgbClr val="FFCC66"/>
                </a:solidFill>
              </a:rPr>
              <a:t>+</a:t>
            </a:r>
          </a:p>
        </p:txBody>
      </p:sp>
      <p:grpSp>
        <p:nvGrpSpPr>
          <p:cNvPr id="44" name="Group 66">
            <a:extLst>
              <a:ext uri="{FF2B5EF4-FFF2-40B4-BE49-F238E27FC236}">
                <a16:creationId xmlns:a16="http://schemas.microsoft.com/office/drawing/2014/main" id="{0CDFD96B-EE37-D9F2-64D7-ECB040EE6F48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600200"/>
            <a:ext cx="1714500" cy="1066800"/>
            <a:chOff x="4368" y="3216"/>
            <a:chExt cx="1080" cy="672"/>
          </a:xfrm>
        </p:grpSpPr>
        <p:sp>
          <p:nvSpPr>
            <p:cNvPr id="45" name="Text Box 67">
              <a:extLst>
                <a:ext uri="{FF2B5EF4-FFF2-40B4-BE49-F238E27FC236}">
                  <a16:creationId xmlns:a16="http://schemas.microsoft.com/office/drawing/2014/main" id="{E2800126-AD2C-E847-16F8-A4B16B7EEC3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88" y="3216"/>
              <a:ext cx="960" cy="6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</a:t>
              </a:r>
              <a:r>
                <a:rPr lang="ca-ES">
                  <a:solidFill>
                    <a:schemeClr val="tx1"/>
                  </a:solidFill>
                  <a:latin typeface="Courier New" pitchFamily="-112" charset="0"/>
                </a:rPr>
                <a:t>1.</a:t>
              </a: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10011</a:t>
              </a:r>
              <a:r>
                <a:rPr lang="ca-ES">
                  <a:solidFill>
                    <a:schemeClr val="tx2"/>
                  </a:solidFill>
                  <a:latin typeface="Courier New" pitchFamily="-112" charset="0"/>
                </a:rPr>
                <a:t>01</a:t>
              </a:r>
              <a:br>
                <a:rPr lang="ca-ES" b="1">
                  <a:solidFill>
                    <a:schemeClr val="tx1"/>
                  </a:solidFill>
                  <a:latin typeface="Courier New" pitchFamily="-112" charset="0"/>
                </a:rPr>
              </a:b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      </a:t>
              </a:r>
              <a:r>
                <a:rPr lang="ca-ES" b="1">
                  <a:solidFill>
                    <a:schemeClr val="tx2"/>
                  </a:solidFill>
                  <a:latin typeface="Courier New" pitchFamily="-112" charset="0"/>
                </a:rPr>
                <a:t>0</a:t>
              </a:r>
              <a:endParaRPr lang="ca-ES" b="1">
                <a:solidFill>
                  <a:schemeClr val="tx1"/>
                </a:solidFill>
                <a:latin typeface="Courier New" pitchFamily="-112" charset="0"/>
              </a:endParaRPr>
            </a:p>
            <a:p>
              <a:pPr algn="l" eaLnBrk="1" hangingPunct="1">
                <a:spcBef>
                  <a:spcPct val="50000"/>
                </a:spcBef>
              </a:pP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</a:t>
              </a:r>
              <a:r>
                <a:rPr lang="ca-ES">
                  <a:solidFill>
                    <a:schemeClr val="tx1"/>
                  </a:solidFill>
                  <a:latin typeface="Courier New" pitchFamily="-112" charset="0"/>
                </a:rPr>
                <a:t>1.</a:t>
              </a: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10011</a:t>
              </a:r>
              <a:endParaRPr lang="ca-ES" b="1">
                <a:solidFill>
                  <a:schemeClr val="tx2"/>
                </a:solidFill>
                <a:latin typeface="Courier New" pitchFamily="-112" charset="0"/>
              </a:endParaRPr>
            </a:p>
          </p:txBody>
        </p:sp>
        <p:sp>
          <p:nvSpPr>
            <p:cNvPr id="46" name="Line 68">
              <a:extLst>
                <a:ext uri="{FF2B5EF4-FFF2-40B4-BE49-F238E27FC236}">
                  <a16:creationId xmlns:a16="http://schemas.microsoft.com/office/drawing/2014/main" id="{83E9CEFC-8935-44E7-1E47-821392BB116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4368" y="3648"/>
              <a:ext cx="9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47" name="Text Box 69">
              <a:extLst>
                <a:ext uri="{FF2B5EF4-FFF2-40B4-BE49-F238E27FC236}">
                  <a16:creationId xmlns:a16="http://schemas.microsoft.com/office/drawing/2014/main" id="{85C6DD76-F500-472E-81B9-E7668891D1B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16" y="3394"/>
              <a:ext cx="93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r" eaLnBrk="1" hangingPunct="1"/>
              <a:r>
                <a:rPr lang="ca-ES" b="1">
                  <a:solidFill>
                    <a:srgbClr val="FFCC66"/>
                  </a:solidFill>
                </a:rPr>
                <a:t>+</a:t>
              </a:r>
            </a:p>
          </p:txBody>
        </p:sp>
      </p:grpSp>
      <p:sp>
        <p:nvSpPr>
          <p:cNvPr id="48" name="Text Box 71">
            <a:extLst>
              <a:ext uri="{FF2B5EF4-FFF2-40B4-BE49-F238E27FC236}">
                <a16:creationId xmlns:a16="http://schemas.microsoft.com/office/drawing/2014/main" id="{4FDBE408-2E74-8529-1C76-0643AA144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219200"/>
            <a:ext cx="1771650" cy="3048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s-ES_tradnl"/>
              <a:t>Si R=0, truncar:</a:t>
            </a:r>
          </a:p>
        </p:txBody>
      </p:sp>
      <p:sp>
        <p:nvSpPr>
          <p:cNvPr id="49" name="Text Box 72">
            <a:extLst>
              <a:ext uri="{FF2B5EF4-FFF2-40B4-BE49-F238E27FC236}">
                <a16:creationId xmlns:a16="http://schemas.microsoft.com/office/drawing/2014/main" id="{3C4B86AB-715E-9FEA-1B3F-E39AA752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048000"/>
            <a:ext cx="2322513" cy="3048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s-ES_tradnl"/>
              <a:t>Si R=1, incrementar:</a:t>
            </a:r>
          </a:p>
        </p:txBody>
      </p:sp>
      <p:grpSp>
        <p:nvGrpSpPr>
          <p:cNvPr id="50" name="Group 73">
            <a:extLst>
              <a:ext uri="{FF2B5EF4-FFF2-40B4-BE49-F238E27FC236}">
                <a16:creationId xmlns:a16="http://schemas.microsoft.com/office/drawing/2014/main" id="{C8328DD0-A375-0C5A-A37B-EB276876B28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429000"/>
            <a:ext cx="1714500" cy="1066800"/>
            <a:chOff x="4368" y="3216"/>
            <a:chExt cx="1080" cy="672"/>
          </a:xfrm>
        </p:grpSpPr>
        <p:sp>
          <p:nvSpPr>
            <p:cNvPr id="51" name="Text Box 74">
              <a:extLst>
                <a:ext uri="{FF2B5EF4-FFF2-40B4-BE49-F238E27FC236}">
                  <a16:creationId xmlns:a16="http://schemas.microsoft.com/office/drawing/2014/main" id="{0622F3E3-CB23-8D61-6FBD-EC601AA1EEE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88" y="3216"/>
              <a:ext cx="960" cy="6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</a:t>
              </a:r>
              <a:r>
                <a:rPr lang="ca-ES">
                  <a:solidFill>
                    <a:schemeClr val="tx1"/>
                  </a:solidFill>
                  <a:latin typeface="Courier New" pitchFamily="-112" charset="0"/>
                </a:rPr>
                <a:t>1.</a:t>
              </a: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10011</a:t>
              </a:r>
              <a:r>
                <a:rPr lang="ca-ES">
                  <a:solidFill>
                    <a:schemeClr val="tx2"/>
                  </a:solidFill>
                  <a:latin typeface="Courier New" pitchFamily="-112" charset="0"/>
                </a:rPr>
                <a:t>11</a:t>
              </a:r>
              <a:br>
                <a:rPr lang="ca-ES" b="1">
                  <a:solidFill>
                    <a:schemeClr val="tx1"/>
                  </a:solidFill>
                  <a:latin typeface="Courier New" pitchFamily="-112" charset="0"/>
                </a:rPr>
              </a:b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      </a:t>
              </a:r>
              <a:r>
                <a:rPr lang="ca-ES" b="1">
                  <a:solidFill>
                    <a:schemeClr val="tx2"/>
                  </a:solidFill>
                  <a:latin typeface="Courier New" pitchFamily="-112" charset="0"/>
                </a:rPr>
                <a:t>1</a:t>
              </a:r>
              <a:endParaRPr lang="ca-ES" b="1">
                <a:solidFill>
                  <a:schemeClr val="tx1"/>
                </a:solidFill>
                <a:latin typeface="Courier New" pitchFamily="-112" charset="0"/>
              </a:endParaRPr>
            </a:p>
            <a:p>
              <a:pPr algn="l" eaLnBrk="1" hangingPunct="1">
                <a:spcBef>
                  <a:spcPct val="50000"/>
                </a:spcBef>
              </a:pP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 </a:t>
              </a:r>
              <a:r>
                <a:rPr lang="ca-ES">
                  <a:solidFill>
                    <a:schemeClr val="tx1"/>
                  </a:solidFill>
                  <a:latin typeface="Courier New" pitchFamily="-112" charset="0"/>
                </a:rPr>
                <a:t>1.</a:t>
              </a:r>
              <a:r>
                <a:rPr lang="ca-ES" b="1">
                  <a:solidFill>
                    <a:schemeClr val="tx1"/>
                  </a:solidFill>
                  <a:latin typeface="Courier New" pitchFamily="-112" charset="0"/>
                </a:rPr>
                <a:t>10100</a:t>
              </a:r>
              <a:endParaRPr lang="ca-ES" b="1">
                <a:solidFill>
                  <a:schemeClr val="tx2"/>
                </a:solidFill>
                <a:latin typeface="Courier New" pitchFamily="-112" charset="0"/>
              </a:endParaRPr>
            </a:p>
          </p:txBody>
        </p:sp>
        <p:sp>
          <p:nvSpPr>
            <p:cNvPr id="52" name="Line 75">
              <a:extLst>
                <a:ext uri="{FF2B5EF4-FFF2-40B4-BE49-F238E27FC236}">
                  <a16:creationId xmlns:a16="http://schemas.microsoft.com/office/drawing/2014/main" id="{C60778C7-4946-B2AA-FEF9-A06CEA4247F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4368" y="3648"/>
              <a:ext cx="9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53" name="Text Box 76">
              <a:extLst>
                <a:ext uri="{FF2B5EF4-FFF2-40B4-BE49-F238E27FC236}">
                  <a16:creationId xmlns:a16="http://schemas.microsoft.com/office/drawing/2014/main" id="{58F937A2-CD38-F1E9-F1FD-DB63C713FA4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416" y="3394"/>
              <a:ext cx="93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r" eaLnBrk="1" hangingPunct="1"/>
              <a:r>
                <a:rPr lang="ca-ES" b="1">
                  <a:solidFill>
                    <a:srgbClr val="FFCC66"/>
                  </a:solidFill>
                </a:rPr>
                <a:t>+</a:t>
              </a:r>
            </a:p>
          </p:txBody>
        </p:sp>
      </p:grpSp>
      <p:sp>
        <p:nvSpPr>
          <p:cNvPr id="54" name="AutoShape 77">
            <a:extLst>
              <a:ext uri="{FF2B5EF4-FFF2-40B4-BE49-F238E27FC236}">
                <a16:creationId xmlns:a16="http://schemas.microsoft.com/office/drawing/2014/main" id="{8CA66385-6AA0-BF05-5373-456963F32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600200"/>
            <a:ext cx="304800" cy="1066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55" name="Text Box 78">
            <a:extLst>
              <a:ext uri="{FF2B5EF4-FFF2-40B4-BE49-F238E27FC236}">
                <a16:creationId xmlns:a16="http://schemas.microsoft.com/office/drawing/2014/main" id="{03AD235B-1DD2-FB79-3803-595B7B521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088" y="2055912"/>
            <a:ext cx="940637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s-ES_tradnl" dirty="0">
                <a:solidFill>
                  <a:schemeClr val="tx1"/>
                </a:solidFill>
              </a:rPr>
              <a:t>implícito</a:t>
            </a:r>
          </a:p>
        </p:txBody>
      </p:sp>
      <p:sp>
        <p:nvSpPr>
          <p:cNvPr id="56" name="Line 79">
            <a:extLst>
              <a:ext uri="{FF2B5EF4-FFF2-40B4-BE49-F238E27FC236}">
                <a16:creationId xmlns:a16="http://schemas.microsoft.com/office/drawing/2014/main" id="{41C015BB-F15A-5E2E-7BB5-1274512A7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209800"/>
            <a:ext cx="990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57" name="AutoShape 80">
            <a:extLst>
              <a:ext uri="{FF2B5EF4-FFF2-40B4-BE49-F238E27FC236}">
                <a16:creationId xmlns:a16="http://schemas.microsoft.com/office/drawing/2014/main" id="{DE163515-F2FE-5432-3244-3925DC1E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429000"/>
            <a:ext cx="304800" cy="1066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58" name="AutoShape 81">
            <a:extLst>
              <a:ext uri="{FF2B5EF4-FFF2-40B4-BE49-F238E27FC236}">
                <a16:creationId xmlns:a16="http://schemas.microsoft.com/office/drawing/2014/main" id="{576CFEB9-F49F-CF77-5DAD-27F1846D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457200" cy="15240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  <p:sp>
        <p:nvSpPr>
          <p:cNvPr id="59" name="Rectangle 82">
            <a:extLst>
              <a:ext uri="{FF2B5EF4-FFF2-40B4-BE49-F238E27FC236}">
                <a16:creationId xmlns:a16="http://schemas.microsoft.com/office/drawing/2014/main" id="{928359EF-1B63-4E40-1E0A-B89D44B16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570512"/>
            <a:ext cx="1859483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s-ES_tradnl" dirty="0"/>
              <a:t>Si </a:t>
            </a:r>
            <a:r>
              <a:rPr lang="es-ES_tradnl" dirty="0" err="1"/>
              <a:t>c</a:t>
            </a:r>
            <a:r>
              <a:rPr lang="es-ES_tradnl" b="1" baseline="-25000" dirty="0" err="1"/>
              <a:t>A</a:t>
            </a:r>
            <a:r>
              <a:rPr lang="es-ES_tradnl" dirty="0"/>
              <a:t>=1, corregir</a:t>
            </a:r>
          </a:p>
        </p:txBody>
      </p:sp>
      <p:sp>
        <p:nvSpPr>
          <p:cNvPr id="60" name="Rectangle 16">
            <a:extLst>
              <a:ext uri="{FF2B5EF4-FFF2-40B4-BE49-F238E27FC236}">
                <a16:creationId xmlns:a16="http://schemas.microsoft.com/office/drawing/2014/main" id="{9FD7B9F9-8B97-6633-6C7A-9E30D24105D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5445224"/>
            <a:ext cx="27432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ca-ES" dirty="0">
                <a:solidFill>
                  <a:schemeClr val="tx1"/>
                </a:solidFill>
              </a:rPr>
              <a:t>M (simple </a:t>
            </a:r>
            <a:r>
              <a:rPr lang="ca-ES" dirty="0" err="1">
                <a:solidFill>
                  <a:schemeClr val="tx1"/>
                </a:solidFill>
              </a:rPr>
              <a:t>precisi</a:t>
            </a:r>
            <a:r>
              <a:rPr lang="ca-ES" altLang="ja-JP" dirty="0" err="1">
                <a:solidFill>
                  <a:schemeClr val="tx1"/>
                </a:solidFill>
                <a:ea typeface="Geneva" pitchFamily="-112" charset="0"/>
                <a:cs typeface="Geneva" pitchFamily="-112" charset="0"/>
              </a:rPr>
              <a:t>ón</a:t>
            </a:r>
            <a:r>
              <a:rPr lang="ca-ES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088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4A6F6-411D-FC32-DEEB-42099B7D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</a:t>
            </a:r>
            <a:r>
              <a:rPr lang="es-ES_tradnl" altLang="ja-JP" dirty="0"/>
              <a:t>ón de entero a doble precisión: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fcvt.d.w</a:t>
            </a: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F731E6-9EC7-80E3-5312-10ECA0FAA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>
                <a:solidFill>
                  <a:srgbClr val="000000"/>
                </a:solidFill>
                <a:latin typeface="Helvetica" pitchFamily="2" charset="0"/>
              </a:rPr>
              <a:t>Filosofía del operador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s-ES" sz="1800" dirty="0">
                <a:solidFill>
                  <a:srgbClr val="836B33"/>
                </a:solidFill>
                <a:latin typeface="Wingdings" pitchFamily="2" charset="2"/>
              </a:rPr>
              <a:t> 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Si es positivo, un entero W de 32 bits se puede escribir como +0.Wx2</a:t>
            </a:r>
            <a:r>
              <a:rPr lang="es-ES" sz="1800" baseline="30000" dirty="0">
                <a:solidFill>
                  <a:srgbClr val="000000"/>
                </a:solidFill>
                <a:latin typeface="Helvetica" pitchFamily="2" charset="0"/>
              </a:rPr>
              <a:t>32</a:t>
            </a:r>
          </a:p>
          <a:p>
            <a:pPr marL="642938" lvl="1" indent="-285750">
              <a:lnSpc>
                <a:spcPct val="100000"/>
              </a:lnSpc>
            </a:pP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Si es negativo, W se escribe como –0.(–W) x 2</a:t>
            </a:r>
            <a:r>
              <a:rPr lang="es-ES" sz="1800" baseline="30000" dirty="0">
                <a:solidFill>
                  <a:srgbClr val="000000"/>
                </a:solidFill>
                <a:latin typeface="Helvetica" pitchFamily="2" charset="0"/>
              </a:rPr>
              <a:t>32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</a:t>
            </a:r>
          </a:p>
          <a:p>
            <a:pPr marL="642938" lvl="1" indent="-285750">
              <a:lnSpc>
                <a:spcPct val="100000"/>
              </a:lnSpc>
            </a:pP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La mantisa W comienza por una serie de Z ceros (0 ≤ Z ≤ 32)</a:t>
            </a:r>
          </a:p>
          <a:p>
            <a:pPr marL="668338" lvl="1" indent="-311150">
              <a:lnSpc>
                <a:spcPct val="100000"/>
              </a:lnSpc>
            </a:pP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Habrá que normalizar la mantisa desplazándola Z+1 posiciones hacia la izquierda (eliminando el bit entero) y restar Z+1 al exponente</a:t>
            </a:r>
          </a:p>
          <a:p>
            <a:pPr marL="668338" lvl="1" indent="-311150">
              <a:lnSpc>
                <a:spcPct val="100000"/>
              </a:lnSpc>
            </a:pPr>
            <a:endParaRPr lang="es-ES" sz="1800" dirty="0">
              <a:solidFill>
                <a:srgbClr val="000000"/>
              </a:solidFill>
              <a:latin typeface="Helvetica" pitchFamily="2" charset="0"/>
            </a:endParaRPr>
          </a:p>
          <a:p>
            <a:pPr marL="82550" indent="0">
              <a:buNone/>
            </a:pPr>
            <a:r>
              <a:rPr lang="es-ES" sz="2800" dirty="0">
                <a:solidFill>
                  <a:srgbClr val="B77B07"/>
                </a:solidFill>
                <a:latin typeface="Wingdings 2" pitchFamily="2" charset="2"/>
              </a:rPr>
              <a:t> </a:t>
            </a:r>
            <a:r>
              <a:rPr lang="es-ES" sz="2800" dirty="0">
                <a:solidFill>
                  <a:srgbClr val="000000"/>
                </a:solidFill>
                <a:latin typeface="Helvetica" pitchFamily="2" charset="0"/>
              </a:rPr>
              <a:t>Especificación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s-ES" sz="1800" dirty="0">
                <a:solidFill>
                  <a:srgbClr val="836B33"/>
                </a:solidFill>
                <a:latin typeface="Wingdings" pitchFamily="2" charset="2"/>
              </a:rPr>
              <a:t> 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Entrada del operador: W (32 bits)</a:t>
            </a:r>
          </a:p>
          <a:p>
            <a:pPr marL="642938" lvl="1" indent="-285750">
              <a:lnSpc>
                <a:spcPct val="100000"/>
              </a:lnSpc>
            </a:pP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Salida del operador: S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(1 bit), E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(11 bits) y M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(52 bits)</a:t>
            </a:r>
          </a:p>
          <a:p>
            <a:pPr marL="642938" lvl="1" indent="-285750">
              <a:lnSpc>
                <a:spcPct val="100000"/>
              </a:lnSpc>
            </a:pP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S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= Signo(W)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s-ES" sz="1800" dirty="0">
                <a:solidFill>
                  <a:srgbClr val="836B33"/>
                </a:solidFill>
                <a:latin typeface="Wingdings" pitchFamily="2" charset="2"/>
              </a:rPr>
              <a:t> 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M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= |W| &lt;&lt; Z+1 (desplazamiento)</a:t>
            </a:r>
          </a:p>
          <a:p>
            <a:pPr marL="603250" lvl="2" indent="0">
              <a:lnSpc>
                <a:spcPct val="100000"/>
              </a:lnSpc>
              <a:buNone/>
            </a:pPr>
            <a:r>
              <a:rPr lang="es-ES" sz="1600" dirty="0">
                <a:solidFill>
                  <a:srgbClr val="000000"/>
                </a:solidFill>
                <a:latin typeface="Wingdings 2" pitchFamily="2" charset="2"/>
              </a:rPr>
              <a:t> </a:t>
            </a:r>
            <a:r>
              <a:rPr lang="es-ES" sz="1600" dirty="0">
                <a:solidFill>
                  <a:srgbClr val="000000"/>
                </a:solidFill>
                <a:latin typeface="Helvetica" pitchFamily="2" charset="0"/>
              </a:rPr>
              <a:t>Si W &lt; 0, hay que hacer W = –W</a:t>
            </a:r>
          </a:p>
          <a:p>
            <a:pPr marL="403225" lvl="1" indent="0">
              <a:lnSpc>
                <a:spcPct val="100000"/>
              </a:lnSpc>
              <a:buNone/>
              <a:tabLst>
                <a:tab pos="617538" algn="l"/>
              </a:tabLst>
            </a:pPr>
            <a:r>
              <a:rPr lang="es-ES" sz="1800" dirty="0">
                <a:solidFill>
                  <a:srgbClr val="836B33"/>
                </a:solidFill>
                <a:latin typeface="Wingdings" pitchFamily="2" charset="2"/>
              </a:rPr>
              <a:t> 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E</a:t>
            </a:r>
            <a:r>
              <a:rPr lang="es-ES" sz="1800" baseline="-25000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s-ES" sz="1800" dirty="0">
                <a:solidFill>
                  <a:srgbClr val="000000"/>
                </a:solidFill>
                <a:latin typeface="Helvetica" pitchFamily="2" charset="0"/>
              </a:rPr>
              <a:t> = 1023 + 32 – Z – 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285C1A-391A-4C2C-5E73-FAC3E3F1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28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6DB3-091F-013B-0E75-BF710B1C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6BB64-F73D-6ACF-5083-419B469F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</a:t>
            </a:r>
            <a:r>
              <a:rPr lang="es-ES_tradnl" altLang="ja-JP" dirty="0"/>
              <a:t>ón de entero a doble precisión:</a:t>
            </a:r>
            <a:r>
              <a:rPr lang="es-ES_tradnl" altLang="ja-JP" sz="2000" dirty="0"/>
              <a:t>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fcvt.d.w</a:t>
            </a:r>
            <a:endParaRPr lang="es-ES_trad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A19F51-15ED-A40F-198A-2E84725B8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25538"/>
            <a:ext cx="3959795" cy="5256212"/>
          </a:xfrm>
        </p:spPr>
        <p:txBody>
          <a:bodyPr/>
          <a:lstStyle/>
          <a:p>
            <a:r>
              <a:rPr lang="es-ES_tradnl" dirty="0"/>
              <a:t>Esquema</a:t>
            </a:r>
          </a:p>
          <a:p>
            <a:pPr lvl="1"/>
            <a:r>
              <a:rPr lang="es-ES_tradnl" dirty="0"/>
              <a:t>La normalizaci</a:t>
            </a:r>
            <a:r>
              <a:rPr lang="es-ES_tradnl" altLang="ja-JP" dirty="0"/>
              <a:t>ón debe contar el número de bits a cero por la izquierda (hasta el primer 1): Z</a:t>
            </a:r>
          </a:p>
          <a:p>
            <a:pPr lvl="1"/>
            <a:r>
              <a:rPr lang="es-ES_tradnl" altLang="ja-JP" dirty="0"/>
              <a:t>Hay que desplazar la mantisa Z posiciones hacia la izquierda</a:t>
            </a:r>
          </a:p>
          <a:p>
            <a:pPr lvl="2"/>
            <a:r>
              <a:rPr lang="es-ES_tradnl" altLang="ja-JP" dirty="0"/>
              <a:t>Hay que representar el exponente:</a:t>
            </a:r>
            <a:br>
              <a:rPr lang="es-ES_tradnl" altLang="ja-JP" dirty="0"/>
            </a:br>
            <a:r>
              <a:rPr lang="es-ES_tradnl" altLang="ja-JP" dirty="0"/>
              <a:t>    31 – Z</a:t>
            </a:r>
          </a:p>
          <a:p>
            <a:pPr lvl="2"/>
            <a:r>
              <a:rPr lang="es-ES_tradnl" altLang="ja-JP" dirty="0"/>
              <a:t>Sumando el exceso, tenemos</a:t>
            </a:r>
            <a:br>
              <a:rPr lang="es-ES_tradnl" altLang="ja-JP" dirty="0"/>
            </a:br>
            <a:r>
              <a:rPr lang="es-ES_tradnl" altLang="ja-JP" dirty="0"/>
              <a:t>    E = 1023 + 31 – Z</a:t>
            </a:r>
          </a:p>
          <a:p>
            <a:pPr lvl="1"/>
            <a:r>
              <a:rPr lang="es-ES_tradnl" dirty="0"/>
              <a:t>Hay que completar la mantisa con ceros</a:t>
            </a:r>
          </a:p>
          <a:p>
            <a:pPr marL="403225" lvl="1" indent="0">
              <a:lnSpc>
                <a:spcPct val="100000"/>
              </a:lnSpc>
              <a:buNone/>
              <a:tabLst>
                <a:tab pos="617538" algn="l"/>
              </a:tabLst>
            </a:pPr>
            <a:endParaRPr lang="es-ES" sz="180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F4ACFF-098C-BC8E-2079-530D9267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grpSp>
        <p:nvGrpSpPr>
          <p:cNvPr id="5" name="7 Grupo">
            <a:extLst>
              <a:ext uri="{FF2B5EF4-FFF2-40B4-BE49-F238E27FC236}">
                <a16:creationId xmlns:a16="http://schemas.microsoft.com/office/drawing/2014/main" id="{753A50D9-9A8F-B185-DBD9-2B12DAB0840E}"/>
              </a:ext>
            </a:extLst>
          </p:cNvPr>
          <p:cNvGrpSpPr/>
          <p:nvPr/>
        </p:nvGrpSpPr>
        <p:grpSpPr>
          <a:xfrm>
            <a:off x="5098529" y="1165225"/>
            <a:ext cx="3855665" cy="4953000"/>
            <a:chOff x="5181600" y="1143000"/>
            <a:chExt cx="3855665" cy="49530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00010C6C-A492-FDCC-BB66-D0609F5CC82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181600" y="5410200"/>
              <a:ext cx="3782888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7F4422C6-59F3-6DFD-E971-5B756474C97D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486400" y="5410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E21A1862-E38B-77A6-DD2F-94FA4B6A813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6553200" y="54102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49BB87C8-0F6C-7AB1-76D9-048D2B80E99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257800" y="5486400"/>
              <a:ext cx="1698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S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27F22820-641A-E71F-CCE1-E8FB205053E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653088" y="5486400"/>
              <a:ext cx="169862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E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338CC5DE-68BF-01A3-9A59-F0D9EB70637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6705600" y="5486400"/>
              <a:ext cx="211138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M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5CFAAC9B-A2F2-3835-5FC4-BC6C652CC9E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276850" y="5851525"/>
              <a:ext cx="11271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A6F6A5F4-CEDB-C871-643C-58A158C0963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822950" y="5851525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11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4B29B2AC-36E1-E3DE-81E4-E70228EE6E52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7696200" y="5851525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52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3ABF324C-A602-686A-1556-CF8BA65BE02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638800" y="1143000"/>
              <a:ext cx="2362200" cy="457200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181DD678-DC31-C39C-953B-EE2DC5E02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2590800"/>
              <a:ext cx="0" cy="457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A5AE3F23-25F4-E89E-3283-7DB71D77F0C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780088" y="1219200"/>
              <a:ext cx="239712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b="1">
                  <a:solidFill>
                    <a:schemeClr val="tx2"/>
                  </a:solidFill>
                </a:rPr>
                <a:t>W</a:t>
              </a:r>
              <a:endParaRPr lang="ca-ES" b="1">
                <a:solidFill>
                  <a:schemeClr val="tx2"/>
                </a:solidFill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378C0141-7038-19A9-040D-B953EB349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114800"/>
              <a:ext cx="0" cy="381000"/>
            </a:xfrm>
            <a:prstGeom prst="line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7938F27-AF28-7EC7-0D00-54F1CC0BE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4495800"/>
              <a:ext cx="1066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E8128B72-42E6-BBE4-92F6-3F8073A6F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82000" y="50292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6F062A7B-DA78-C0A1-A899-F722C41E9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5029200"/>
              <a:ext cx="0" cy="381000"/>
            </a:xfrm>
            <a:prstGeom prst="line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29F89927-7F05-DF0D-7F18-FC608B5BF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3810000"/>
              <a:ext cx="7620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1054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22B244C-DAD8-B592-6222-687414E7F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5410200"/>
              <a:ext cx="0" cy="4572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9E51D81D-3FDB-7256-5348-860A62A2E09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010400" y="4038600"/>
              <a:ext cx="1828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Normalización</a:t>
              </a: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9683D8F5-4E12-0315-30B9-E1A00953C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0" y="1600200"/>
              <a:ext cx="8382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C1CFE7C1-54F6-3E97-E728-4BEC025F7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5200" y="3429000"/>
              <a:ext cx="6096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3242693E-0576-4FE7-CD8D-37B3B126BC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39000" y="4419600"/>
              <a:ext cx="685800" cy="990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336" y="240"/>
                </a:cxn>
                <a:cxn ang="0">
                  <a:pos x="336" y="480"/>
                </a:cxn>
              </a:cxnLst>
              <a:rect l="0" t="0" r="r" b="b"/>
              <a:pathLst>
                <a:path w="336" h="480">
                  <a:moveTo>
                    <a:pt x="0" y="0"/>
                  </a:moveTo>
                  <a:lnTo>
                    <a:pt x="0" y="240"/>
                  </a:lnTo>
                  <a:lnTo>
                    <a:pt x="336" y="240"/>
                  </a:lnTo>
                  <a:lnTo>
                    <a:pt x="336" y="48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F06D0507-DB4C-5879-449A-86694C6635F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629400" y="3886200"/>
              <a:ext cx="155575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ca-ES">
                  <a:solidFill>
                    <a:schemeClr val="tx1"/>
                  </a:solidFill>
                </a:rPr>
                <a:t>Z</a:t>
              </a:r>
              <a:endParaRPr lang="ca-ES" b="1">
                <a:solidFill>
                  <a:schemeClr val="tx1"/>
                </a:solidFill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36919A8-9026-006D-1585-DB00B113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2238" y="4191000"/>
              <a:ext cx="533400" cy="304800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0" y="0"/>
                </a:cxn>
                <a:cxn ang="0">
                  <a:pos x="0" y="144"/>
                </a:cxn>
              </a:cxnLst>
              <a:rect l="0" t="0" r="r" b="b"/>
              <a:pathLst>
                <a:path w="384" h="144">
                  <a:moveTo>
                    <a:pt x="384" y="0"/>
                  </a:move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D324864A-A495-EC92-AA39-9195B689F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8900" y="4572000"/>
              <a:ext cx="1143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>
                <a:solidFill>
                  <a:schemeClr val="tx1"/>
                </a:solidFill>
              </a:endParaRP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9D00F997-2BEF-2C6D-576B-2C4A99E2A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0965" y="4721423"/>
              <a:ext cx="87630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000..0</a:t>
              </a: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3FBCB5C6-3D62-1C36-AE5B-B60B7DB88234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705600" y="3033713"/>
              <a:ext cx="1219200" cy="395287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11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MUX</a:t>
              </a: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31232D-DAF0-95BA-98A0-C65E2ABD60A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239000" y="2209800"/>
              <a:ext cx="914400" cy="395288"/>
            </a:xfrm>
            <a:prstGeom prst="rect">
              <a:avLst/>
            </a:prstGeom>
            <a:noFill/>
            <a:ln w="28575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11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Ca2</a:t>
              </a: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38CD809F-CD27-FA86-2DDD-BA461605B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1600200"/>
              <a:ext cx="0" cy="1447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77383177-C47B-3390-E8F7-077E7438B30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6934200" y="1676400"/>
              <a:ext cx="452438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>
                  <a:solidFill>
                    <a:schemeClr val="tx2"/>
                  </a:solidFill>
                </a:rPr>
                <a:t>31..0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FAFA0FB9-B7CB-8FF3-9219-F52A15415A9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443538" y="2057400"/>
              <a:ext cx="347662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>
                  <a:solidFill>
                    <a:schemeClr val="tx2"/>
                  </a:solidFill>
                </a:rPr>
                <a:t>W</a:t>
              </a:r>
              <a:r>
                <a:rPr lang="es-ES" sz="1600" b="1" baseline="-25000">
                  <a:solidFill>
                    <a:schemeClr val="tx2"/>
                  </a:solidFill>
                </a:rPr>
                <a:t>31</a:t>
              </a:r>
              <a:endParaRPr lang="ca-ES" sz="1600" b="1">
                <a:solidFill>
                  <a:schemeClr val="tx2"/>
                </a:solidFill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432F648C-5995-6ED3-9583-590E6288C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1600200"/>
              <a:ext cx="838200" cy="160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336" y="288"/>
                </a:cxn>
              </a:cxnLst>
              <a:rect l="0" t="0" r="r" b="b"/>
              <a:pathLst>
                <a:path w="336" h="288">
                  <a:moveTo>
                    <a:pt x="0" y="0"/>
                  </a:moveTo>
                  <a:lnTo>
                    <a:pt x="0" y="288"/>
                  </a:lnTo>
                  <a:lnTo>
                    <a:pt x="336" y="28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F49578F-6BE0-29CE-7154-841DC229A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0" y="3200400"/>
              <a:ext cx="533400" cy="2209800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0" y="0"/>
                </a:cxn>
                <a:cxn ang="0">
                  <a:pos x="0" y="144"/>
                </a:cxn>
              </a:cxnLst>
              <a:rect l="0" t="0" r="r" b="b"/>
              <a:pathLst>
                <a:path w="384" h="144">
                  <a:moveTo>
                    <a:pt x="384" y="0"/>
                  </a:move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DC79AFFE-C2EB-41AB-FEF8-1368238F5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641725"/>
              <a:ext cx="296863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" sz="1600">
                  <a:solidFill>
                    <a:schemeClr val="tx1"/>
                  </a:solidFill>
                </a:rPr>
                <a:t>|W|</a:t>
              </a:r>
              <a:endParaRPr lang="es-ES_tradnl" sz="1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347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72017-4AB0-0499-EAFB-33D21B1B8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784D8-D2A9-2C66-18F5-0C51809C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Conversi</a:t>
            </a:r>
            <a:r>
              <a:rPr lang="es-ES_tradnl" altLang="ja-JP" dirty="0"/>
              <a:t>ón de entero a doble precisión: </a:t>
            </a:r>
            <a:r>
              <a:rPr lang="es-ES_tradnl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fcvt.d.w</a:t>
            </a:r>
            <a:endParaRPr lang="es-ES_trad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D5390-9306-A952-1DC5-9FF2DF0BE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25538"/>
            <a:ext cx="4175819" cy="5256212"/>
          </a:xfrm>
        </p:spPr>
        <p:txBody>
          <a:bodyPr/>
          <a:lstStyle/>
          <a:p>
            <a:r>
              <a:rPr lang="es-ES_tradnl" dirty="0"/>
              <a:t>Circuito de normalizaci</a:t>
            </a:r>
            <a:r>
              <a:rPr lang="es-ES_tradnl" altLang="ja-JP" dirty="0"/>
              <a:t>ón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Un codificador prioritario (que codifica la entrada de</a:t>
            </a:r>
            <a:r>
              <a:rPr lang="es-ES_tradnl" altLang="ja-JP" dirty="0"/>
              <a:t> menor índice con un 1) para calcular Z</a:t>
            </a:r>
          </a:p>
          <a:p>
            <a:pPr lvl="1">
              <a:lnSpc>
                <a:spcPct val="100000"/>
              </a:lnSpc>
            </a:pPr>
            <a:r>
              <a:rPr lang="es-ES_tradnl" altLang="ja-JP" dirty="0"/>
              <a:t>Un </a:t>
            </a:r>
            <a:r>
              <a:rPr lang="es-ES_tradnl" altLang="ja-JP" dirty="0" err="1"/>
              <a:t>barrel</a:t>
            </a:r>
            <a:r>
              <a:rPr lang="es-ES_tradnl" altLang="ja-JP" dirty="0"/>
              <a:t> </a:t>
            </a:r>
            <a:r>
              <a:rPr lang="es-ES_tradnl" altLang="ja-JP" dirty="0" err="1"/>
              <a:t>shifter</a:t>
            </a:r>
            <a:r>
              <a:rPr lang="es-ES_tradnl" altLang="ja-JP" dirty="0"/>
              <a:t> desplaza la mantisa hacia la izquierda y elimina los ceros sobrantes</a:t>
            </a:r>
          </a:p>
          <a:p>
            <a:pPr lvl="1">
              <a:lnSpc>
                <a:spcPct val="100000"/>
              </a:lnSpc>
            </a:pPr>
            <a:r>
              <a:rPr lang="es-ES_tradnl" altLang="ja-JP" dirty="0"/>
              <a:t>Se descarta el bit implícito</a:t>
            </a:r>
            <a:endParaRPr lang="es-ES_tradnl" dirty="0"/>
          </a:p>
          <a:p>
            <a:endParaRPr lang="es-ES" sz="180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44ABCB-5ECF-F3C7-EEFC-58D14A93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0E3382-4CEB-E4D2-A898-1DB3DBF41839}"/>
              </a:ext>
            </a:extLst>
          </p:cNvPr>
          <p:cNvSpPr/>
          <p:nvPr/>
        </p:nvSpPr>
        <p:spPr bwMode="auto">
          <a:xfrm>
            <a:off x="5230688" y="2819401"/>
            <a:ext cx="2133600" cy="1066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a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</a:rPr>
              <a:t>Codificador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a-ES" dirty="0" err="1">
                <a:solidFill>
                  <a:schemeClr val="tx1"/>
                </a:solidFill>
              </a:rPr>
              <a:t>prioritario</a:t>
            </a:r>
            <a:endParaRPr kumimoji="0" lang="ca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</a:endParaRPr>
          </a:p>
        </p:txBody>
      </p:sp>
      <p:grpSp>
        <p:nvGrpSpPr>
          <p:cNvPr id="6" name="5 Grupo">
            <a:extLst>
              <a:ext uri="{FF2B5EF4-FFF2-40B4-BE49-F238E27FC236}">
                <a16:creationId xmlns:a16="http://schemas.microsoft.com/office/drawing/2014/main" id="{9C7625B8-A8F8-D7BC-6EBA-731905529F89}"/>
              </a:ext>
            </a:extLst>
          </p:cNvPr>
          <p:cNvGrpSpPr/>
          <p:nvPr/>
        </p:nvGrpSpPr>
        <p:grpSpPr>
          <a:xfrm>
            <a:off x="5002088" y="1066800"/>
            <a:ext cx="3962400" cy="5405437"/>
            <a:chOff x="5002088" y="1066800"/>
            <a:chExt cx="3962400" cy="540543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8407A43-B714-DC6F-EE65-F6DBB1D8F52E}"/>
                </a:ext>
              </a:extLst>
            </p:cNvPr>
            <p:cNvSpPr/>
            <p:nvPr/>
          </p:nvSpPr>
          <p:spPr bwMode="auto">
            <a:xfrm>
              <a:off x="7135688" y="4114800"/>
              <a:ext cx="1828800" cy="10667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a-E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-112" charset="0"/>
                </a:rPr>
                <a:t>Barrel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a-ES" dirty="0">
                  <a:solidFill>
                    <a:schemeClr val="tx1"/>
                  </a:solidFill>
                </a:rPr>
                <a:t>shifter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ca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</a:endParaRPr>
            </a:p>
          </p:txBody>
        </p:sp>
        <p:sp>
          <p:nvSpPr>
            <p:cNvPr id="8" name="Line 41">
              <a:extLst>
                <a:ext uri="{FF2B5EF4-FFF2-40B4-BE49-F238E27FC236}">
                  <a16:creationId xmlns:a16="http://schemas.microsoft.com/office/drawing/2014/main" id="{AB81CF95-41AA-49D8-9D5A-F387972EA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0088" y="5181600"/>
              <a:ext cx="0" cy="3048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793C64CA-9953-98D1-2841-89A1553246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297488" y="3886200"/>
              <a:ext cx="838200" cy="762000"/>
            </a:xfrm>
            <a:custGeom>
              <a:avLst/>
              <a:gdLst/>
              <a:ahLst/>
              <a:cxnLst>
                <a:cxn ang="0">
                  <a:pos x="624" y="0"/>
                </a:cxn>
                <a:cxn ang="0">
                  <a:pos x="624" y="480"/>
                </a:cxn>
                <a:cxn ang="0">
                  <a:pos x="0" y="480"/>
                </a:cxn>
              </a:cxnLst>
              <a:rect l="0" t="0" r="r" b="b"/>
              <a:pathLst>
                <a:path w="624" h="480">
                  <a:moveTo>
                    <a:pt x="624" y="0"/>
                  </a:moveTo>
                  <a:lnTo>
                    <a:pt x="624" y="480"/>
                  </a:lnTo>
                  <a:lnTo>
                    <a:pt x="0" y="480"/>
                  </a:lnTo>
                </a:path>
              </a:pathLst>
            </a:custGeom>
            <a:noFill/>
            <a:ln w="381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FE24463-C53B-0BA1-812B-F8D441EB3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288" y="2849563"/>
              <a:ext cx="152400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600" b="1"/>
                <a:t>0</a:t>
              </a: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D81ADF5F-6A99-1D94-D68F-6B83B71BB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888" y="2849563"/>
              <a:ext cx="152400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600" b="1"/>
                <a:t>1</a:t>
              </a: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C5B69C69-10B4-7C4D-22F8-1AFB8AFD8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6488" y="2849563"/>
              <a:ext cx="152400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600" b="1"/>
                <a:t>2</a:t>
              </a: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46573532-8365-2CB1-7D5E-95288FD76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8488" y="2849563"/>
              <a:ext cx="304800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600" b="1" dirty="0"/>
                <a:t>30</a:t>
              </a:r>
            </a:p>
          </p:txBody>
        </p:sp>
        <p:sp>
          <p:nvSpPr>
            <p:cNvPr id="14" name="Text Box 25">
              <a:extLst>
                <a:ext uri="{FF2B5EF4-FFF2-40B4-BE49-F238E27FC236}">
                  <a16:creationId xmlns:a16="http://schemas.microsoft.com/office/drawing/2014/main" id="{31BCB6E7-8F16-B54F-AF48-BA1BB7553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3288" y="2849563"/>
              <a:ext cx="304800" cy="2444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600" b="1"/>
                <a:t>31</a:t>
              </a:r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A8F49C18-5C71-C984-BFF9-7C7412780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5488" y="24384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D51E93F-9858-DA65-3382-24A69414F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4088" y="24384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A0316FEF-2A26-572E-161B-D6E18D9AC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2688" y="24384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03300B92-B202-7719-C1B8-971ECA9A3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0888" y="24384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93397192-5701-76BE-356B-552B680D1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488" y="24384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448BFAAB-5EF4-4511-1D99-4B99AF2E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5088" y="2590800"/>
              <a:ext cx="609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D0E27DA6-C299-BA4E-A1EE-93DF4D4A6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426" y="1066800"/>
              <a:ext cx="347662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22" name="AutoShape 29">
              <a:extLst>
                <a:ext uri="{FF2B5EF4-FFF2-40B4-BE49-F238E27FC236}">
                  <a16:creationId xmlns:a16="http://schemas.microsoft.com/office/drawing/2014/main" id="{622A7E6B-0682-3ACC-1C70-457334ADC0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83188" y="1409700"/>
              <a:ext cx="228600" cy="1676400"/>
            </a:xfrm>
            <a:prstGeom prst="leftBrace">
              <a:avLst>
                <a:gd name="adj1" fmla="val 40265"/>
                <a:gd name="adj2" fmla="val 50000"/>
              </a:avLst>
            </a:prstGeom>
            <a:noFill/>
            <a:ln w="28575">
              <a:solidFill>
                <a:schemeClr val="tx2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Text Box 30">
              <a:extLst>
                <a:ext uri="{FF2B5EF4-FFF2-40B4-BE49-F238E27FC236}">
                  <a16:creationId xmlns:a16="http://schemas.microsoft.com/office/drawing/2014/main" id="{C259741A-B2AA-65B0-C1A7-40BF454B6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088" y="2362200"/>
              <a:ext cx="4572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W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31</a:t>
              </a:r>
              <a:endParaRPr lang="es-ES_tradnl" dirty="0">
                <a:solidFill>
                  <a:schemeClr val="tx1"/>
                </a:solidFill>
              </a:endParaRPr>
            </a:p>
          </p:txBody>
        </p:sp>
        <p:sp>
          <p:nvSpPr>
            <p:cNvPr id="24" name="Text Box 31">
              <a:extLst>
                <a:ext uri="{FF2B5EF4-FFF2-40B4-BE49-F238E27FC236}">
                  <a16:creationId xmlns:a16="http://schemas.microsoft.com/office/drawing/2014/main" id="{6F85CC18-E393-5A4B-983A-278210670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5688" y="2362200"/>
              <a:ext cx="4572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W</a:t>
              </a:r>
              <a:r>
                <a:rPr lang="es-ES_tradnl" b="1" baseline="-25000" dirty="0">
                  <a:solidFill>
                    <a:schemeClr val="tx1"/>
                  </a:solidFill>
                </a:rPr>
                <a:t>0</a:t>
              </a:r>
              <a:endParaRPr lang="es-ES_tradnl" dirty="0">
                <a:solidFill>
                  <a:schemeClr val="tx1"/>
                </a:solidFill>
              </a:endParaRPr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001A41B5-2AA4-1E47-C148-442DD7E2D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488" y="1447800"/>
              <a:ext cx="0" cy="533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6" name="Freeform 35">
              <a:extLst>
                <a:ext uri="{FF2B5EF4-FFF2-40B4-BE49-F238E27FC236}">
                  <a16:creationId xmlns:a16="http://schemas.microsoft.com/office/drawing/2014/main" id="{06CBC4D2-E577-72F3-8FFF-0865F17A4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488" y="1524000"/>
              <a:ext cx="1752600" cy="2590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96"/>
                </a:cxn>
                <a:cxn ang="0">
                  <a:pos x="1152" y="1920"/>
                </a:cxn>
              </a:cxnLst>
              <a:rect l="0" t="0" r="r" b="b"/>
              <a:pathLst>
                <a:path w="1152" h="1920">
                  <a:moveTo>
                    <a:pt x="0" y="0"/>
                  </a:moveTo>
                  <a:lnTo>
                    <a:pt x="0" y="96"/>
                  </a:lnTo>
                  <a:lnTo>
                    <a:pt x="1152" y="96"/>
                  </a:lnTo>
                  <a:lnTo>
                    <a:pt x="1152" y="192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7" name="Freeform 36">
              <a:extLst>
                <a:ext uri="{FF2B5EF4-FFF2-40B4-BE49-F238E27FC236}">
                  <a16:creationId xmlns:a16="http://schemas.microsoft.com/office/drawing/2014/main" id="{03D80586-7149-120F-A704-89A3749EF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088" y="3886200"/>
              <a:ext cx="1295400" cy="762000"/>
            </a:xfrm>
            <a:custGeom>
              <a:avLst/>
              <a:gdLst/>
              <a:ahLst/>
              <a:cxnLst>
                <a:cxn ang="0">
                  <a:pos x="624" y="0"/>
                </a:cxn>
                <a:cxn ang="0">
                  <a:pos x="624" y="480"/>
                </a:cxn>
                <a:cxn ang="0">
                  <a:pos x="0" y="480"/>
                </a:cxn>
              </a:cxnLst>
              <a:rect l="0" t="0" r="r" b="b"/>
              <a:pathLst>
                <a:path w="624" h="480">
                  <a:moveTo>
                    <a:pt x="624" y="0"/>
                  </a:moveTo>
                  <a:lnTo>
                    <a:pt x="624" y="480"/>
                  </a:lnTo>
                  <a:lnTo>
                    <a:pt x="0" y="480"/>
                  </a:lnTo>
                </a:path>
              </a:pathLst>
            </a:custGeom>
            <a:noFill/>
            <a:ln w="381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8E600255-62AC-E0AF-6661-0CA35BD8D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288" y="4114800"/>
              <a:ext cx="347663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29" name="Text Box 40">
              <a:extLst>
                <a:ext uri="{FF2B5EF4-FFF2-40B4-BE49-F238E27FC236}">
                  <a16:creationId xmlns:a16="http://schemas.microsoft.com/office/drawing/2014/main" id="{868F6E72-4F1D-647C-C1DF-9F4C72A9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088" y="4714131"/>
              <a:ext cx="1449115" cy="55399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sz="1800" dirty="0">
                  <a:solidFill>
                    <a:schemeClr val="tx1"/>
                  </a:solidFill>
                </a:rPr>
                <a:t>Corrección</a:t>
              </a:r>
              <a:br>
                <a:rPr lang="es-ES_tradnl" altLang="ja-JP" sz="1800" dirty="0">
                  <a:solidFill>
                    <a:schemeClr val="tx1"/>
                  </a:solidFill>
                  <a:ea typeface="ＭＳ Ｐゴシック" pitchFamily="-112" charset="-128"/>
                  <a:cs typeface="ＭＳ Ｐゴシック" pitchFamily="-112" charset="-128"/>
                </a:rPr>
              </a:br>
              <a:r>
                <a:rPr lang="es-ES_tradnl" altLang="ja-JP" sz="1800" dirty="0">
                  <a:solidFill>
                    <a:schemeClr val="tx1"/>
                  </a:solidFill>
                  <a:ea typeface="ＭＳ Ｐゴシック" pitchFamily="-112" charset="-128"/>
                  <a:cs typeface="ＭＳ Ｐゴシック" pitchFamily="-112" charset="-128"/>
                </a:rPr>
                <a:t>del exponente</a:t>
              </a:r>
              <a:endParaRPr lang="es-ES_tradnl" sz="180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3B7094DE-6040-22D2-800B-B8A3EBE691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21488" y="4953000"/>
              <a:ext cx="3810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grpSp>
          <p:nvGrpSpPr>
            <p:cNvPr id="31" name="Group 63">
              <a:extLst>
                <a:ext uri="{FF2B5EF4-FFF2-40B4-BE49-F238E27FC236}">
                  <a16:creationId xmlns:a16="http://schemas.microsoft.com/office/drawing/2014/main" id="{25B8C05E-025A-6AE7-DD73-3227C4AF54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1288" y="5791200"/>
              <a:ext cx="2438400" cy="258763"/>
              <a:chOff x="3744" y="3427"/>
              <a:chExt cx="1536" cy="384"/>
            </a:xfrm>
          </p:grpSpPr>
          <p:sp>
            <p:nvSpPr>
              <p:cNvPr id="35" name="Line 44">
                <a:extLst>
                  <a:ext uri="{FF2B5EF4-FFF2-40B4-BE49-F238E27FC236}">
                    <a16:creationId xmlns:a16="http://schemas.microsoft.com/office/drawing/2014/main" id="{D6EB2357-32D4-108A-C338-A4F0E7909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427"/>
                <a:ext cx="0" cy="192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6" name="Line 45">
                <a:extLst>
                  <a:ext uri="{FF2B5EF4-FFF2-40B4-BE49-F238E27FC236}">
                    <a16:creationId xmlns:a16="http://schemas.microsoft.com/office/drawing/2014/main" id="{E091A13B-4A1B-1CCC-442E-D3822B8BB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7" name="Line 46">
                <a:extLst>
                  <a:ext uri="{FF2B5EF4-FFF2-40B4-BE49-F238E27FC236}">
                    <a16:creationId xmlns:a16="http://schemas.microsoft.com/office/drawing/2014/main" id="{A5745F7B-BC73-A6E3-78D2-10DC5D0E6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8" name="Line 47">
                <a:extLst>
                  <a:ext uri="{FF2B5EF4-FFF2-40B4-BE49-F238E27FC236}">
                    <a16:creationId xmlns:a16="http://schemas.microsoft.com/office/drawing/2014/main" id="{A2D32A78-827D-F16A-38E6-D5CB6AC34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9" name="Line 48">
                <a:extLst>
                  <a:ext uri="{FF2B5EF4-FFF2-40B4-BE49-F238E27FC236}">
                    <a16:creationId xmlns:a16="http://schemas.microsoft.com/office/drawing/2014/main" id="{0B553FD5-EF15-F7EC-AB27-D91C932D7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0" name="Line 49">
                <a:extLst>
                  <a:ext uri="{FF2B5EF4-FFF2-40B4-BE49-F238E27FC236}">
                    <a16:creationId xmlns:a16="http://schemas.microsoft.com/office/drawing/2014/main" id="{6E540A86-B799-596D-C13E-FB0324A45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1" name="Line 50">
                <a:extLst>
                  <a:ext uri="{FF2B5EF4-FFF2-40B4-BE49-F238E27FC236}">
                    <a16:creationId xmlns:a16="http://schemas.microsoft.com/office/drawing/2014/main" id="{5CF3B410-28F7-AA83-07BE-172040170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2" name="Line 51">
                <a:extLst>
                  <a:ext uri="{FF2B5EF4-FFF2-40B4-BE49-F238E27FC236}">
                    <a16:creationId xmlns:a16="http://schemas.microsoft.com/office/drawing/2014/main" id="{5E7DA2C8-CCE7-5B18-D9FE-0BE7A37C1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3" name="Line 52">
                <a:extLst>
                  <a:ext uri="{FF2B5EF4-FFF2-40B4-BE49-F238E27FC236}">
                    <a16:creationId xmlns:a16="http://schemas.microsoft.com/office/drawing/2014/main" id="{DDA76AF7-2917-3933-3DA4-8B1ECA754C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4" name="Line 53">
                <a:extLst>
                  <a:ext uri="{FF2B5EF4-FFF2-40B4-BE49-F238E27FC236}">
                    <a16:creationId xmlns:a16="http://schemas.microsoft.com/office/drawing/2014/main" id="{FCD8021A-5DBD-FED7-2E5B-D001AA79F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5" name="Line 54">
                <a:extLst>
                  <a:ext uri="{FF2B5EF4-FFF2-40B4-BE49-F238E27FC236}">
                    <a16:creationId xmlns:a16="http://schemas.microsoft.com/office/drawing/2014/main" id="{E63EA09F-B7B4-499B-C41E-9CE66D14F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6" name="Line 55">
                <a:extLst>
                  <a:ext uri="{FF2B5EF4-FFF2-40B4-BE49-F238E27FC236}">
                    <a16:creationId xmlns:a16="http://schemas.microsoft.com/office/drawing/2014/main" id="{A4DC0A0F-9B3B-A861-8E0E-6E9ABD475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7" name="Line 56">
                <a:extLst>
                  <a:ext uri="{FF2B5EF4-FFF2-40B4-BE49-F238E27FC236}">
                    <a16:creationId xmlns:a16="http://schemas.microsoft.com/office/drawing/2014/main" id="{3A9C05C8-07BE-0501-43E5-72EFEB6BB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8" name="Line 57">
                <a:extLst>
                  <a:ext uri="{FF2B5EF4-FFF2-40B4-BE49-F238E27FC236}">
                    <a16:creationId xmlns:a16="http://schemas.microsoft.com/office/drawing/2014/main" id="{16D1DFE6-E9B2-4E49-71EE-0F7577C52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9" name="Line 58">
                <a:extLst>
                  <a:ext uri="{FF2B5EF4-FFF2-40B4-BE49-F238E27FC236}">
                    <a16:creationId xmlns:a16="http://schemas.microsoft.com/office/drawing/2014/main" id="{F074C68F-FAF9-779E-52BA-7B210F311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0" name="Line 59">
                <a:extLst>
                  <a:ext uri="{FF2B5EF4-FFF2-40B4-BE49-F238E27FC236}">
                    <a16:creationId xmlns:a16="http://schemas.microsoft.com/office/drawing/2014/main" id="{9C37EDD9-CA26-5931-40E5-C9F77BFDC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1" name="Line 60">
                <a:extLst>
                  <a:ext uri="{FF2B5EF4-FFF2-40B4-BE49-F238E27FC236}">
                    <a16:creationId xmlns:a16="http://schemas.microsoft.com/office/drawing/2014/main" id="{8813E610-BEF3-9123-EFB4-FA3D85536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3427"/>
                <a:ext cx="0" cy="384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</p:grpSp>
        <p:sp>
          <p:nvSpPr>
            <p:cNvPr id="32" name="AutoShape 61">
              <a:extLst>
                <a:ext uri="{FF2B5EF4-FFF2-40B4-BE49-F238E27FC236}">
                  <a16:creationId xmlns:a16="http://schemas.microsoft.com/office/drawing/2014/main" id="{A9369CAE-7EC2-7070-CA55-5D78D3D90B0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73638" y="5943600"/>
              <a:ext cx="323850" cy="304800"/>
            </a:xfrm>
            <a:prstGeom prst="octagon">
              <a:avLst>
                <a:gd name="adj" fmla="val 25000"/>
              </a:avLst>
            </a:prstGeom>
            <a:solidFill>
              <a:srgbClr val="FF0000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r>
                <a:rPr lang="es-ES_tradnl" sz="1000">
                  <a:latin typeface="Arial Narrow" pitchFamily="-112" charset="0"/>
                </a:rPr>
                <a:t>STOP</a:t>
              </a:r>
              <a:endParaRPr lang="es-ES_tradnl" sz="1600">
                <a:latin typeface="Arial Narrow" pitchFamily="-112" charset="0"/>
              </a:endParaRPr>
            </a:p>
          </p:txBody>
        </p:sp>
        <p:sp>
          <p:nvSpPr>
            <p:cNvPr id="33" name="Rectangle 62">
              <a:extLst>
                <a:ext uri="{FF2B5EF4-FFF2-40B4-BE49-F238E27FC236}">
                  <a16:creationId xmlns:a16="http://schemas.microsoft.com/office/drawing/2014/main" id="{C713898A-362B-C537-6F3A-FDE62F88E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9725" y="6096000"/>
              <a:ext cx="2400747" cy="37623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s-ES_tradnl" sz="1800" dirty="0">
                  <a:solidFill>
                    <a:schemeClr val="tx1"/>
                  </a:solidFill>
                </a:rPr>
                <a:t>Mantisa normalizada</a:t>
              </a:r>
            </a:p>
          </p:txBody>
        </p:sp>
        <p:sp>
          <p:nvSpPr>
            <p:cNvPr id="34" name="AutoShape 64">
              <a:extLst>
                <a:ext uri="{FF2B5EF4-FFF2-40B4-BE49-F238E27FC236}">
                  <a16:creationId xmlns:a16="http://schemas.microsoft.com/office/drawing/2014/main" id="{466E9F64-AAFC-4831-0498-C643725D00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326188" y="4381500"/>
              <a:ext cx="228600" cy="2590800"/>
            </a:xfrm>
            <a:prstGeom prst="leftBrace">
              <a:avLst>
                <a:gd name="adj1" fmla="val 32373"/>
                <a:gd name="adj2" fmla="val 26407"/>
              </a:avLst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</p:grpSp>
      <p:grpSp>
        <p:nvGrpSpPr>
          <p:cNvPr id="52" name="4 Grupo">
            <a:extLst>
              <a:ext uri="{FF2B5EF4-FFF2-40B4-BE49-F238E27FC236}">
                <a16:creationId xmlns:a16="http://schemas.microsoft.com/office/drawing/2014/main" id="{7D563943-B1C7-9781-DF88-015E2DDF1A10}"/>
              </a:ext>
            </a:extLst>
          </p:cNvPr>
          <p:cNvGrpSpPr/>
          <p:nvPr/>
        </p:nvGrpSpPr>
        <p:grpSpPr>
          <a:xfrm>
            <a:off x="613470" y="4219545"/>
            <a:ext cx="4267200" cy="2533710"/>
            <a:chOff x="266700" y="3867090"/>
            <a:chExt cx="4267200" cy="2533710"/>
          </a:xfrm>
        </p:grpSpPr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EFE381E0-2831-6792-8268-EEEF8212E8CC}"/>
                </a:ext>
              </a:extLst>
            </p:cNvPr>
            <p:cNvSpPr txBox="1"/>
            <p:nvPr/>
          </p:nvSpPr>
          <p:spPr>
            <a:xfrm>
              <a:off x="266700" y="4307919"/>
              <a:ext cx="426720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sz="1800" dirty="0">
                  <a:solidFill>
                    <a:schemeClr val="tx1"/>
                  </a:solidFill>
                </a:rPr>
                <a:t>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31</a:t>
              </a:r>
              <a:r>
                <a:rPr lang="es-ES_tradnl" sz="1800" dirty="0">
                  <a:solidFill>
                    <a:schemeClr val="tx1"/>
                  </a:solidFill>
                </a:rPr>
                <a:t>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30</a:t>
              </a:r>
              <a:r>
                <a:rPr lang="es-ES_tradnl" sz="1800" dirty="0">
                  <a:solidFill>
                    <a:schemeClr val="tx1"/>
                  </a:solidFill>
                </a:rPr>
                <a:t>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29</a:t>
              </a:r>
              <a:r>
                <a:rPr lang="es-ES_tradnl" sz="1800" dirty="0">
                  <a:solidFill>
                    <a:schemeClr val="tx1"/>
                  </a:solidFill>
                </a:rPr>
                <a:t>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28</a:t>
              </a:r>
              <a:r>
                <a:rPr lang="es-ES_tradnl" sz="1800" dirty="0">
                  <a:solidFill>
                    <a:schemeClr val="tx1"/>
                  </a:solidFill>
                </a:rPr>
                <a:t>	…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1</a:t>
              </a:r>
              <a:r>
                <a:rPr lang="es-ES_tradnl" sz="1800" dirty="0">
                  <a:solidFill>
                    <a:schemeClr val="tx1"/>
                  </a:solidFill>
                </a:rPr>
                <a:t>	W</a:t>
              </a:r>
              <a:r>
                <a:rPr lang="es-ES_tradnl" sz="1800" baseline="-25000" dirty="0">
                  <a:solidFill>
                    <a:schemeClr val="tx1"/>
                  </a:solidFill>
                </a:rPr>
                <a:t>0	</a:t>
              </a:r>
              <a:r>
                <a:rPr lang="es-ES_tradnl" sz="1800" dirty="0">
                  <a:solidFill>
                    <a:schemeClr val="tx1"/>
                  </a:solidFill>
                </a:rPr>
                <a:t>Z</a:t>
              </a: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endParaRPr lang="es-ES_tradnl" sz="1800" baseline="-25000" dirty="0">
                <a:solidFill>
                  <a:schemeClr val="tx1"/>
                </a:solidFill>
              </a:endParaRP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dirty="0">
                  <a:solidFill>
                    <a:schemeClr val="tx1"/>
                  </a:solidFill>
                </a:rPr>
                <a:t>	1	X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…	X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00000</a:t>
              </a: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dirty="0">
                  <a:solidFill>
                    <a:schemeClr val="tx1"/>
                  </a:solidFill>
                </a:rPr>
                <a:t>	0	1	X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…	X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00001</a:t>
              </a: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dirty="0">
                  <a:solidFill>
                    <a:schemeClr val="tx1"/>
                  </a:solidFill>
                </a:rPr>
                <a:t>	0	0	1	X	…	X	</a:t>
              </a:r>
              <a:r>
                <a:rPr lang="es-ES_tradnl" dirty="0" err="1">
                  <a:solidFill>
                    <a:schemeClr val="tx1"/>
                  </a:solidFill>
                </a:rPr>
                <a:t>X</a:t>
              </a:r>
              <a:r>
                <a:rPr lang="es-ES_tradnl" dirty="0">
                  <a:solidFill>
                    <a:schemeClr val="tx1"/>
                  </a:solidFill>
                </a:rPr>
                <a:t>	00010</a:t>
              </a: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dirty="0">
                  <a:solidFill>
                    <a:schemeClr val="tx1"/>
                  </a:solidFill>
                </a:rPr>
                <a:t>	…	…	…	…	…	…	…	…</a:t>
              </a:r>
            </a:p>
            <a:p>
              <a:pPr algn="l">
                <a:tabLst>
                  <a:tab pos="355600" algn="ctr"/>
                  <a:tab pos="723900" algn="ctr"/>
                  <a:tab pos="1079500" algn="ctr"/>
                  <a:tab pos="1435100" algn="ctr"/>
                  <a:tab pos="1968500" algn="ctr"/>
                  <a:tab pos="2514600" algn="ctr"/>
                  <a:tab pos="2870200" algn="ctr"/>
                  <a:tab pos="3683000" algn="ctr"/>
                </a:tabLst>
              </a:pPr>
              <a:r>
                <a:rPr lang="es-ES_tradnl" dirty="0">
                  <a:solidFill>
                    <a:schemeClr val="tx1"/>
                  </a:solidFill>
                </a:rPr>
                <a:t>	0	0	0	0	…	0	1	11111</a:t>
              </a:r>
            </a:p>
          </p:txBody>
        </p:sp>
        <p:cxnSp>
          <p:nvCxnSpPr>
            <p:cNvPr id="54" name="Conector recto 54">
              <a:extLst>
                <a:ext uri="{FF2B5EF4-FFF2-40B4-BE49-F238E27FC236}">
                  <a16:creationId xmlns:a16="http://schemas.microsoft.com/office/drawing/2014/main" id="{ACC32A4E-CC0C-90F6-3E34-81CC78471465}"/>
                </a:ext>
              </a:extLst>
            </p:cNvPr>
            <p:cNvCxnSpPr/>
            <p:nvPr/>
          </p:nvCxnSpPr>
          <p:spPr bwMode="auto">
            <a:xfrm>
              <a:off x="457200" y="4742062"/>
              <a:ext cx="3886200" cy="1588"/>
            </a:xfrm>
            <a:prstGeom prst="line">
              <a:avLst/>
            </a:prstGeom>
            <a:noFill/>
            <a:ln w="63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Conector recto 55">
              <a:extLst>
                <a:ext uri="{FF2B5EF4-FFF2-40B4-BE49-F238E27FC236}">
                  <a16:creationId xmlns:a16="http://schemas.microsoft.com/office/drawing/2014/main" id="{52368786-675D-A7A4-714D-2D16B52F82EE}"/>
                </a:ext>
              </a:extLst>
            </p:cNvPr>
            <p:cNvCxnSpPr/>
            <p:nvPr/>
          </p:nvCxnSpPr>
          <p:spPr bwMode="auto">
            <a:xfrm rot="5400000">
              <a:off x="2477294" y="5371306"/>
              <a:ext cx="2057400" cy="1588"/>
            </a:xfrm>
            <a:prstGeom prst="line">
              <a:avLst/>
            </a:prstGeom>
            <a:noFill/>
            <a:ln w="63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CuadroTexto 58">
              <a:extLst>
                <a:ext uri="{FF2B5EF4-FFF2-40B4-BE49-F238E27FC236}">
                  <a16:creationId xmlns:a16="http://schemas.microsoft.com/office/drawing/2014/main" id="{7A2CB42D-2226-EF26-9DAA-80FFE68E97D6}"/>
                </a:ext>
              </a:extLst>
            </p:cNvPr>
            <p:cNvSpPr txBox="1"/>
            <p:nvPr/>
          </p:nvSpPr>
          <p:spPr>
            <a:xfrm>
              <a:off x="1088883" y="3867090"/>
              <a:ext cx="26228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Codificador prioritario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1774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5C794-A242-A3E2-F331-358AB7DB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</a:t>
            </a:r>
            <a:r>
              <a:rPr lang="es-ES_tradnl" altLang="ja-JP" dirty="0"/>
              <a:t>: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fmul.s</a:t>
            </a:r>
            <a:r>
              <a:rPr lang="es-ES_tradnl" altLang="ja-JP" sz="2400" dirty="0">
                <a:cs typeface="Courier New" panose="02070309020205020404" pitchFamily="49" charset="0"/>
              </a:rPr>
              <a:t> y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fmul.d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323ABF-F06A-2E7D-61A3-51672E029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_tradnl" altLang="ja-JP" dirty="0"/>
              <a:t>Especificación</a:t>
            </a:r>
          </a:p>
          <a:p>
            <a:pPr lvl="1">
              <a:lnSpc>
                <a:spcPct val="100000"/>
              </a:lnSpc>
            </a:pPr>
            <a:r>
              <a:rPr lang="es-ES_tradnl" altLang="ja-JP" dirty="0"/>
              <a:t>Dos versiones: simple precisión y doble precisión</a:t>
            </a:r>
          </a:p>
          <a:p>
            <a:pPr lvl="1">
              <a:lnSpc>
                <a:spcPct val="100000"/>
              </a:lnSpc>
            </a:pPr>
            <a:r>
              <a:rPr lang="es-ES_tradnl" altLang="ja-JP" dirty="0"/>
              <a:t>Dos </a:t>
            </a:r>
            <a:r>
              <a:rPr lang="es-ES_tradnl" dirty="0"/>
              <a:t>entradas (A y B): 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S</a:t>
            </a:r>
            <a:r>
              <a:rPr lang="es-ES_tradnl" baseline="-25000" dirty="0"/>
              <a:t>A</a:t>
            </a:r>
            <a:r>
              <a:rPr lang="es-ES_tradnl" dirty="0"/>
              <a:t> (1 bit), E</a:t>
            </a:r>
            <a:r>
              <a:rPr lang="es-ES_tradnl" baseline="-25000" dirty="0"/>
              <a:t>A</a:t>
            </a:r>
            <a:r>
              <a:rPr lang="es-ES_tradnl" dirty="0"/>
              <a:t> (8/11 bits) y M</a:t>
            </a:r>
            <a:r>
              <a:rPr lang="es-ES_tradnl" baseline="-25000" dirty="0"/>
              <a:t>A</a:t>
            </a:r>
            <a:r>
              <a:rPr lang="es-ES_tradnl" dirty="0"/>
              <a:t> (23/52 bits) 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S</a:t>
            </a:r>
            <a:r>
              <a:rPr lang="es-ES_tradnl" baseline="-25000" dirty="0"/>
              <a:t>B</a:t>
            </a:r>
            <a:r>
              <a:rPr lang="es-ES_tradnl" dirty="0"/>
              <a:t> (1 bit), E</a:t>
            </a:r>
            <a:r>
              <a:rPr lang="es-ES_tradnl" baseline="-25000" dirty="0"/>
              <a:t>B</a:t>
            </a:r>
            <a:r>
              <a:rPr lang="es-ES_tradnl" dirty="0"/>
              <a:t> (8/11 bits) y M</a:t>
            </a:r>
            <a:r>
              <a:rPr lang="es-ES_tradnl" baseline="-25000" dirty="0"/>
              <a:t>B</a:t>
            </a:r>
            <a:r>
              <a:rPr lang="es-ES_tradnl" dirty="0"/>
              <a:t> (23/52 bits)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Salida: S</a:t>
            </a:r>
            <a:r>
              <a:rPr lang="es-ES_tradnl" baseline="-25000" dirty="0"/>
              <a:t>R</a:t>
            </a:r>
            <a:r>
              <a:rPr lang="es-ES_tradnl" dirty="0"/>
              <a:t> (1 bit), E</a:t>
            </a:r>
            <a:r>
              <a:rPr lang="es-ES_tradnl" baseline="-25000" dirty="0"/>
              <a:t>R</a:t>
            </a:r>
            <a:r>
              <a:rPr lang="es-ES_tradnl" dirty="0"/>
              <a:t> (8/11 bits) y M</a:t>
            </a:r>
            <a:r>
              <a:rPr lang="es-ES_tradnl" baseline="-25000" dirty="0"/>
              <a:t>R</a:t>
            </a:r>
            <a:r>
              <a:rPr lang="es-ES_tradnl" dirty="0"/>
              <a:t> (23/52 bits)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C</a:t>
            </a:r>
            <a:r>
              <a:rPr lang="es-ES_tradnl" altLang="ja-JP" dirty="0"/>
              <a:t>álculo del s</a:t>
            </a:r>
            <a:r>
              <a:rPr lang="es-ES_tradnl" dirty="0"/>
              <a:t>igno: S</a:t>
            </a:r>
            <a:r>
              <a:rPr lang="es-ES_tradnl" baseline="-25000" dirty="0"/>
              <a:t>R</a:t>
            </a:r>
            <a:r>
              <a:rPr lang="es-ES_tradnl" dirty="0"/>
              <a:t> = S</a:t>
            </a:r>
            <a:r>
              <a:rPr lang="es-ES_tradnl" baseline="-25000" dirty="0"/>
              <a:t>A</a:t>
            </a:r>
            <a:r>
              <a:rPr lang="es-ES_tradnl" dirty="0"/>
              <a:t> </a:t>
            </a:r>
            <a:r>
              <a:rPr lang="es-ES_tradnl" dirty="0" err="1"/>
              <a:t>xor</a:t>
            </a:r>
            <a:r>
              <a:rPr lang="es-ES_tradnl" dirty="0"/>
              <a:t> S</a:t>
            </a:r>
            <a:r>
              <a:rPr lang="es-ES_tradnl" baseline="-25000" dirty="0"/>
              <a:t>B</a:t>
            </a:r>
            <a:endParaRPr lang="es-ES_tradnl" dirty="0"/>
          </a:p>
          <a:p>
            <a:pPr lvl="1">
              <a:lnSpc>
                <a:spcPct val="100000"/>
              </a:lnSpc>
            </a:pPr>
            <a:r>
              <a:rPr lang="es-ES_tradnl" dirty="0"/>
              <a:t>C</a:t>
            </a:r>
            <a:r>
              <a:rPr lang="es-ES_tradnl" altLang="ja-JP" dirty="0"/>
              <a:t>álculo del </a:t>
            </a:r>
            <a:r>
              <a:rPr lang="es-ES_tradnl" dirty="0"/>
              <a:t>exponente: hay que sumar y compensar el exc</a:t>
            </a:r>
            <a:r>
              <a:rPr lang="es-ES_tradnl" altLang="ja-JP" dirty="0"/>
              <a:t>eso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Simple precisi</a:t>
            </a:r>
            <a:r>
              <a:rPr lang="es-ES_tradnl" altLang="ja-JP" dirty="0"/>
              <a:t>ón </a:t>
            </a:r>
            <a:r>
              <a:rPr lang="es-ES_tradnl" dirty="0"/>
              <a:t>E</a:t>
            </a:r>
            <a:r>
              <a:rPr lang="es-ES_tradnl" baseline="-25000" dirty="0"/>
              <a:t>R</a:t>
            </a:r>
            <a:r>
              <a:rPr lang="es-ES_tradnl" dirty="0"/>
              <a:t> = E</a:t>
            </a:r>
            <a:r>
              <a:rPr lang="es-ES_tradnl" baseline="-25000" dirty="0"/>
              <a:t>A</a:t>
            </a:r>
            <a:r>
              <a:rPr lang="es-ES_tradnl" dirty="0"/>
              <a:t> + E</a:t>
            </a:r>
            <a:r>
              <a:rPr lang="es-ES_tradnl" baseline="-25000" dirty="0"/>
              <a:t>B</a:t>
            </a:r>
            <a:r>
              <a:rPr lang="es-ES_tradnl" dirty="0"/>
              <a:t> – 127</a:t>
            </a:r>
            <a:endParaRPr lang="es-ES_tradnl" altLang="ja-JP" dirty="0"/>
          </a:p>
          <a:p>
            <a:pPr lvl="2">
              <a:lnSpc>
                <a:spcPct val="100000"/>
              </a:lnSpc>
            </a:pPr>
            <a:r>
              <a:rPr lang="es-ES_tradnl" dirty="0"/>
              <a:t>Doble precisi</a:t>
            </a:r>
            <a:r>
              <a:rPr lang="es-ES_tradnl" altLang="ja-JP" dirty="0"/>
              <a:t>ón </a:t>
            </a:r>
            <a:r>
              <a:rPr lang="es-ES_tradnl" dirty="0"/>
              <a:t>E</a:t>
            </a:r>
            <a:r>
              <a:rPr lang="es-ES_tradnl" baseline="-25000" dirty="0"/>
              <a:t>R</a:t>
            </a:r>
            <a:r>
              <a:rPr lang="es-ES_tradnl" dirty="0"/>
              <a:t> = E</a:t>
            </a:r>
            <a:r>
              <a:rPr lang="es-ES_tradnl" baseline="-25000" dirty="0"/>
              <a:t>A</a:t>
            </a:r>
            <a:r>
              <a:rPr lang="es-ES_tradnl" dirty="0"/>
              <a:t> + E</a:t>
            </a:r>
            <a:r>
              <a:rPr lang="es-ES_tradnl" baseline="-25000" dirty="0"/>
              <a:t>B</a:t>
            </a:r>
            <a:r>
              <a:rPr lang="es-ES_tradnl" dirty="0"/>
              <a:t> – 1023</a:t>
            </a:r>
            <a:endParaRPr lang="es-ES_tradnl" altLang="ja-JP" dirty="0"/>
          </a:p>
          <a:p>
            <a:pPr lvl="1">
              <a:lnSpc>
                <a:spcPct val="100000"/>
              </a:lnSpc>
            </a:pPr>
            <a:r>
              <a:rPr lang="es-ES_tradnl" altLang="ja-JP" dirty="0"/>
              <a:t>Cálculo de la mantisa: </a:t>
            </a:r>
          </a:p>
          <a:p>
            <a:pPr lvl="2">
              <a:lnSpc>
                <a:spcPct val="100000"/>
              </a:lnSpc>
            </a:pPr>
            <a:r>
              <a:rPr lang="es-ES_tradnl" altLang="ja-JP" dirty="0"/>
              <a:t>Multiplicar 1.M</a:t>
            </a:r>
            <a:r>
              <a:rPr lang="es-ES_tradnl" baseline="-25000" dirty="0"/>
              <a:t>A</a:t>
            </a:r>
            <a:r>
              <a:rPr lang="es-ES_tradnl" altLang="ja-JP" dirty="0"/>
              <a:t> x 1.M</a:t>
            </a:r>
            <a:r>
              <a:rPr lang="es-ES_tradnl" baseline="-25000" dirty="0"/>
              <a:t>B</a:t>
            </a:r>
            <a:r>
              <a:rPr lang="es-ES_tradnl" altLang="ja-JP" dirty="0"/>
              <a:t> (considerando el bit implícito)</a:t>
            </a:r>
          </a:p>
          <a:p>
            <a:pPr lvl="2">
              <a:lnSpc>
                <a:spcPct val="100000"/>
              </a:lnSpc>
            </a:pPr>
            <a:r>
              <a:rPr lang="es-ES_tradnl" altLang="ja-JP" dirty="0"/>
              <a:t>El multiplicador depende de la precisión: 24x24 bits o 53x53 bits</a:t>
            </a:r>
          </a:p>
          <a:p>
            <a:pPr lvl="2">
              <a:lnSpc>
                <a:spcPct val="100000"/>
              </a:lnSpc>
            </a:pPr>
            <a:r>
              <a:rPr lang="es-ES_tradnl" altLang="ja-JP" dirty="0"/>
              <a:t>Habrá que </a:t>
            </a:r>
            <a:r>
              <a:rPr lang="es-ES_tradnl" altLang="ja-JP" dirty="0" err="1"/>
              <a:t>renormalizar</a:t>
            </a:r>
            <a:r>
              <a:rPr lang="es-ES_tradnl" altLang="ja-JP" dirty="0"/>
              <a:t> (quitando el bit implícito) y redondear la mantisa resultante dejándola en 23/52 bits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65BE62-146D-7AB7-0318-40BAA6F7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88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1710-2FCB-26AC-97D8-43F9CEA6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27888-BD07-4DD8-3E78-5AF2AE6A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</a:t>
            </a:r>
            <a:r>
              <a:rPr lang="es-ES_tradnl" altLang="ja-JP" dirty="0"/>
              <a:t>: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fmul.s</a:t>
            </a:r>
            <a:r>
              <a:rPr lang="es-ES_tradnl" altLang="ja-JP" sz="2400" dirty="0">
                <a:cs typeface="Courier New" panose="02070309020205020404" pitchFamily="49" charset="0"/>
              </a:rPr>
              <a:t> y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fmul.d</a:t>
            </a:r>
            <a:endParaRPr lang="es-ES_tradnl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7E41C-27EE-84F0-166C-B3DDEBD49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25538"/>
            <a:ext cx="3887787" cy="52562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ES_tradnl" sz="2000" dirty="0"/>
              <a:t>Operador (SP)</a:t>
            </a:r>
          </a:p>
          <a:p>
            <a:pPr lvl="1">
              <a:lnSpc>
                <a:spcPct val="100000"/>
              </a:lnSpc>
            </a:pPr>
            <a:r>
              <a:rPr lang="es-ES_tradnl" sz="1800" dirty="0"/>
              <a:t>Dos sumadores para sumar los exponentes representados en exc</a:t>
            </a:r>
            <a:r>
              <a:rPr lang="es-ES_tradnl" altLang="ja-JP" sz="1800" dirty="0"/>
              <a:t>eso 127</a:t>
            </a:r>
          </a:p>
          <a:p>
            <a:pPr lvl="1">
              <a:lnSpc>
                <a:spcPct val="100000"/>
              </a:lnSpc>
            </a:pPr>
            <a:r>
              <a:rPr lang="es-ES_tradnl" sz="1800" dirty="0"/>
              <a:t>Multiplicador para las mantisas</a:t>
            </a:r>
          </a:p>
          <a:p>
            <a:pPr lvl="2">
              <a:lnSpc>
                <a:spcPct val="100000"/>
              </a:lnSpc>
            </a:pPr>
            <a:r>
              <a:rPr lang="es-ES_tradnl" sz="1600" dirty="0"/>
              <a:t>Opera</a:t>
            </a:r>
            <a:r>
              <a:rPr lang="es-ES_tradnl" altLang="ja-JP" sz="1600" dirty="0"/>
              <a:t> con el bit implícito añadido: 24x24 bits</a:t>
            </a:r>
          </a:p>
          <a:p>
            <a:pPr lvl="1">
              <a:lnSpc>
                <a:spcPct val="100000"/>
              </a:lnSpc>
            </a:pPr>
            <a:r>
              <a:rPr lang="es-ES_tradnl" altLang="ja-JP" sz="1800" dirty="0"/>
              <a:t>Habrá que </a:t>
            </a:r>
            <a:r>
              <a:rPr lang="es-ES_tradnl" altLang="ja-JP" sz="1800" dirty="0" err="1"/>
              <a:t>renormalizar</a:t>
            </a:r>
            <a:r>
              <a:rPr lang="es-ES_tradnl" altLang="ja-JP" sz="1800" dirty="0"/>
              <a:t> el resultado (ahora lo veremos) y quitar el bit implícito</a:t>
            </a:r>
          </a:p>
          <a:p>
            <a:pPr lvl="2">
              <a:lnSpc>
                <a:spcPct val="100000"/>
              </a:lnSpc>
            </a:pPr>
            <a:r>
              <a:rPr lang="es-ES_tradnl" altLang="ja-JP" sz="1600" dirty="0"/>
              <a:t>Es posible que haya que decrementar el exponente</a:t>
            </a:r>
          </a:p>
          <a:p>
            <a:pPr lvl="1">
              <a:lnSpc>
                <a:spcPct val="100000"/>
              </a:lnSpc>
            </a:pPr>
            <a:r>
              <a:rPr lang="es-ES_tradnl" altLang="ja-JP" sz="1800" dirty="0"/>
              <a:t>El resultado ocupará 47 bits y habrá que redondearlo a 23</a:t>
            </a:r>
          </a:p>
          <a:p>
            <a:pPr lvl="2">
              <a:lnSpc>
                <a:spcPct val="100000"/>
              </a:lnSpc>
            </a:pPr>
            <a:r>
              <a:rPr lang="es-ES_tradnl" sz="1600" dirty="0"/>
              <a:t>Tal vez habr</a:t>
            </a:r>
            <a:r>
              <a:rPr lang="es-ES_tradnl" altLang="ja-JP" sz="1600" dirty="0"/>
              <a:t>á que incrementar el exponente</a:t>
            </a:r>
            <a:endParaRPr lang="es-ES_tradnl" sz="1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A6C14E-B59B-3C1E-1E30-BD53CC22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633B0B1-FE47-C1A0-53FB-BC150686C465}"/>
              </a:ext>
            </a:extLst>
          </p:cNvPr>
          <p:cNvGrpSpPr/>
          <p:nvPr/>
        </p:nvGrpSpPr>
        <p:grpSpPr>
          <a:xfrm>
            <a:off x="4876800" y="908720"/>
            <a:ext cx="4114800" cy="5263480"/>
            <a:chOff x="4876800" y="908720"/>
            <a:chExt cx="4114800" cy="5263480"/>
          </a:xfrm>
        </p:grpSpPr>
        <p:sp>
          <p:nvSpPr>
            <p:cNvPr id="6" name="Text Box 49">
              <a:extLst>
                <a:ext uri="{FF2B5EF4-FFF2-40B4-BE49-F238E27FC236}">
                  <a16:creationId xmlns:a16="http://schemas.microsoft.com/office/drawing/2014/main" id="{68231EBC-A409-4C88-3480-B41E89584BF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189538" y="908720"/>
              <a:ext cx="112712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1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7" name="Text Box 50">
              <a:extLst>
                <a:ext uri="{FF2B5EF4-FFF2-40B4-BE49-F238E27FC236}">
                  <a16:creationId xmlns:a16="http://schemas.microsoft.com/office/drawing/2014/main" id="{01F349E4-1839-E177-4253-0079E75859C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791200" y="908720"/>
              <a:ext cx="11271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8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8" name="Text Box 51">
              <a:extLst>
                <a:ext uri="{FF2B5EF4-FFF2-40B4-BE49-F238E27FC236}">
                  <a16:creationId xmlns:a16="http://schemas.microsoft.com/office/drawing/2014/main" id="{ACEE27B6-72F0-F4B1-A125-825058772C6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7007225" y="908720"/>
              <a:ext cx="22542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s-ES" sz="1600" b="1" dirty="0">
                  <a:solidFill>
                    <a:schemeClr val="tx2"/>
                  </a:solidFill>
                </a:rPr>
                <a:t>23</a:t>
              </a:r>
              <a:endParaRPr lang="ca-E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9" name="Line 52">
              <a:extLst>
                <a:ext uri="{FF2B5EF4-FFF2-40B4-BE49-F238E27FC236}">
                  <a16:creationId xmlns:a16="http://schemas.microsoft.com/office/drawing/2014/main" id="{8AE5D7A4-4030-493F-2E14-8D97EBC4D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7800" y="1648157"/>
              <a:ext cx="20636" cy="132364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0" name="Freeform 53">
              <a:extLst>
                <a:ext uri="{FF2B5EF4-FFF2-40B4-BE49-F238E27FC236}">
                  <a16:creationId xmlns:a16="http://schemas.microsoft.com/office/drawing/2014/main" id="{3F1C4ED4-FD9A-B5A3-8476-3C54EF58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199" y="1610395"/>
              <a:ext cx="1449389" cy="13614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1" y="408"/>
                </a:cxn>
                <a:cxn ang="0">
                  <a:pos x="720" y="576"/>
                </a:cxn>
              </a:cxnLst>
              <a:rect l="0" t="0" r="r" b="b"/>
              <a:pathLst>
                <a:path w="721" h="576">
                  <a:moveTo>
                    <a:pt x="0" y="0"/>
                  </a:moveTo>
                  <a:lnTo>
                    <a:pt x="721" y="408"/>
                  </a:lnTo>
                  <a:lnTo>
                    <a:pt x="720" y="576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1" name="Line 54">
              <a:extLst>
                <a:ext uri="{FF2B5EF4-FFF2-40B4-BE49-F238E27FC236}">
                  <a16:creationId xmlns:a16="http://schemas.microsoft.com/office/drawing/2014/main" id="{41E88074-3E32-BAC8-3431-C53360E0D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200" y="1610395"/>
              <a:ext cx="30162" cy="136140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2" name="Freeform 55">
              <a:extLst>
                <a:ext uri="{FF2B5EF4-FFF2-40B4-BE49-F238E27FC236}">
                  <a16:creationId xmlns:a16="http://schemas.microsoft.com/office/drawing/2014/main" id="{774BC114-5CFA-9C24-AF4A-40E3DCBDE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2971800"/>
              <a:ext cx="1066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3" name="Line 56">
              <a:extLst>
                <a:ext uri="{FF2B5EF4-FFF2-40B4-BE49-F238E27FC236}">
                  <a16:creationId xmlns:a16="http://schemas.microsoft.com/office/drawing/2014/main" id="{8241FCA6-1890-AC60-F0D9-D6162FD809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200" y="2743200"/>
              <a:ext cx="0" cy="2286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4" name="Text Box 58">
              <a:extLst>
                <a:ext uri="{FF2B5EF4-FFF2-40B4-BE49-F238E27FC236}">
                  <a16:creationId xmlns:a16="http://schemas.microsoft.com/office/drawing/2014/main" id="{66D0E530-AC59-FAD4-C154-8FFC1A4DD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438400"/>
              <a:ext cx="6096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dirty="0">
                  <a:solidFill>
                    <a:schemeClr val="tx1"/>
                  </a:solidFill>
                </a:rPr>
                <a:t>–127</a:t>
              </a:r>
            </a:p>
          </p:txBody>
        </p:sp>
        <p:grpSp>
          <p:nvGrpSpPr>
            <p:cNvPr id="15" name="Group 62">
              <a:extLst>
                <a:ext uri="{FF2B5EF4-FFF2-40B4-BE49-F238E27FC236}">
                  <a16:creationId xmlns:a16="http://schemas.microsoft.com/office/drawing/2014/main" id="{BFAAC5E7-E75F-91AF-148E-17653853A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1153195"/>
              <a:ext cx="2819400" cy="457200"/>
              <a:chOff x="1248" y="1152"/>
              <a:chExt cx="1776" cy="288"/>
            </a:xfrm>
          </p:grpSpPr>
          <p:sp>
            <p:nvSpPr>
              <p:cNvPr id="60" name="Rectangle 63">
                <a:extLst>
                  <a:ext uri="{FF2B5EF4-FFF2-40B4-BE49-F238E27FC236}">
                    <a16:creationId xmlns:a16="http://schemas.microsoft.com/office/drawing/2014/main" id="{29721817-1DDA-75FA-E74F-13C5E356F83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248" y="1152"/>
                <a:ext cx="1776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1" name="Line 64">
                <a:extLst>
                  <a:ext uri="{FF2B5EF4-FFF2-40B4-BE49-F238E27FC236}">
                    <a16:creationId xmlns:a16="http://schemas.microsoft.com/office/drawing/2014/main" id="{D86A4D40-589F-37F5-4363-68652432E9BC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1440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2" name="Line 65">
                <a:extLst>
                  <a:ext uri="{FF2B5EF4-FFF2-40B4-BE49-F238E27FC236}">
                    <a16:creationId xmlns:a16="http://schemas.microsoft.com/office/drawing/2014/main" id="{843004AA-DA35-5F71-B413-E85580FC9C86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2064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3" name="Text Box 66">
                <a:extLst>
                  <a:ext uri="{FF2B5EF4-FFF2-40B4-BE49-F238E27FC236}">
                    <a16:creationId xmlns:a16="http://schemas.microsoft.com/office/drawing/2014/main" id="{9D5D21AF-13C1-2772-A9F7-CC1BED9DC9E8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259" y="1200"/>
                <a:ext cx="182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S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B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64" name="Text Box 67">
                <a:extLst>
                  <a:ext uri="{FF2B5EF4-FFF2-40B4-BE49-F238E27FC236}">
                    <a16:creationId xmlns:a16="http://schemas.microsoft.com/office/drawing/2014/main" id="{2B48A7BC-7675-D15B-C6EC-65A7C8FA6E45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508" y="1200"/>
                <a:ext cx="182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E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B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65" name="Text Box 68">
                <a:extLst>
                  <a:ext uri="{FF2B5EF4-FFF2-40B4-BE49-F238E27FC236}">
                    <a16:creationId xmlns:a16="http://schemas.microsoft.com/office/drawing/2014/main" id="{0AC5B2A4-09C5-D3B6-53FD-461BA2374542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2132" y="1200"/>
                <a:ext cx="208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M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B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6" name="Line 69">
              <a:extLst>
                <a:ext uri="{FF2B5EF4-FFF2-40B4-BE49-F238E27FC236}">
                  <a16:creationId xmlns:a16="http://schemas.microsoft.com/office/drawing/2014/main" id="{65A957A2-A92A-ACBA-AD84-AFD99BC97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29200" y="2209800"/>
              <a:ext cx="0" cy="762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Freeform 70">
              <a:extLst>
                <a:ext uri="{FF2B5EF4-FFF2-40B4-BE49-F238E27FC236}">
                  <a16:creationId xmlns:a16="http://schemas.microsoft.com/office/drawing/2014/main" id="{2DFAE44B-6020-A6FB-8A77-0D3EEC2FF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2209800"/>
              <a:ext cx="533400" cy="762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1" y="228"/>
                </a:cxn>
                <a:cxn ang="0">
                  <a:pos x="288" y="432"/>
                </a:cxn>
              </a:cxnLst>
              <a:rect l="0" t="0" r="r" b="b"/>
              <a:pathLst>
                <a:path w="288" h="432">
                  <a:moveTo>
                    <a:pt x="0" y="0"/>
                  </a:moveTo>
                  <a:lnTo>
                    <a:pt x="271" y="228"/>
                  </a:lnTo>
                  <a:lnTo>
                    <a:pt x="288" y="432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8" name="Line 71">
              <a:extLst>
                <a:ext uri="{FF2B5EF4-FFF2-40B4-BE49-F238E27FC236}">
                  <a16:creationId xmlns:a16="http://schemas.microsoft.com/office/drawing/2014/main" id="{817DE399-1EE2-31C5-F2E7-1A03DC492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2209800"/>
              <a:ext cx="0" cy="1600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grpSp>
          <p:nvGrpSpPr>
            <p:cNvPr id="19" name="Group 72">
              <a:extLst>
                <a:ext uri="{FF2B5EF4-FFF2-40B4-BE49-F238E27FC236}">
                  <a16:creationId xmlns:a16="http://schemas.microsoft.com/office/drawing/2014/main" id="{E936E5A5-7E6F-D9DE-CB6A-044E29242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800" y="1752600"/>
              <a:ext cx="2819400" cy="457200"/>
              <a:chOff x="1248" y="1152"/>
              <a:chExt cx="1776" cy="288"/>
            </a:xfrm>
          </p:grpSpPr>
          <p:sp>
            <p:nvSpPr>
              <p:cNvPr id="54" name="Rectangle 73">
                <a:extLst>
                  <a:ext uri="{FF2B5EF4-FFF2-40B4-BE49-F238E27FC236}">
                    <a16:creationId xmlns:a16="http://schemas.microsoft.com/office/drawing/2014/main" id="{3F3F28C7-8833-E9ED-D962-8B65BD304D9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248" y="1152"/>
                <a:ext cx="1776" cy="288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28575">
                <a:solidFill>
                  <a:schemeClr val="tx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5" name="Line 74">
                <a:extLst>
                  <a:ext uri="{FF2B5EF4-FFF2-40B4-BE49-F238E27FC236}">
                    <a16:creationId xmlns:a16="http://schemas.microsoft.com/office/drawing/2014/main" id="{D887CF57-A776-A0CE-1DB2-C040727252AE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1440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6" name="Line 75">
                <a:extLst>
                  <a:ext uri="{FF2B5EF4-FFF2-40B4-BE49-F238E27FC236}">
                    <a16:creationId xmlns:a16="http://schemas.microsoft.com/office/drawing/2014/main" id="{EB8E730B-849E-41BC-5E2A-38C3ABA351DA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2064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7" name="Text Box 76">
                <a:extLst>
                  <a:ext uri="{FF2B5EF4-FFF2-40B4-BE49-F238E27FC236}">
                    <a16:creationId xmlns:a16="http://schemas.microsoft.com/office/drawing/2014/main" id="{00D53EF1-2FC0-A238-AEA5-978597824DF7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259" y="1200"/>
                <a:ext cx="182" cy="192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 dirty="0">
                    <a:solidFill>
                      <a:schemeClr val="tx2"/>
                    </a:solidFill>
                  </a:rPr>
                  <a:t>S</a:t>
                </a:r>
                <a:r>
                  <a:rPr lang="es-ES" b="1" baseline="-25000" dirty="0">
                    <a:solidFill>
                      <a:schemeClr val="tx2"/>
                    </a:solidFill>
                  </a:rPr>
                  <a:t>A</a:t>
                </a:r>
                <a:endParaRPr lang="ca-E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8" name="Text Box 77">
                <a:extLst>
                  <a:ext uri="{FF2B5EF4-FFF2-40B4-BE49-F238E27FC236}">
                    <a16:creationId xmlns:a16="http://schemas.microsoft.com/office/drawing/2014/main" id="{5961E1C3-F922-B36F-3805-810DE1DA3223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508" y="1200"/>
                <a:ext cx="182" cy="192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 dirty="0">
                    <a:solidFill>
                      <a:schemeClr val="tx2"/>
                    </a:solidFill>
                  </a:rPr>
                  <a:t>E</a:t>
                </a:r>
                <a:r>
                  <a:rPr lang="es-ES" b="1" baseline="-25000" dirty="0">
                    <a:solidFill>
                      <a:schemeClr val="tx2"/>
                    </a:solidFill>
                  </a:rPr>
                  <a:t>A</a:t>
                </a:r>
                <a:endParaRPr lang="ca-ES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9" name="Text Box 78">
                <a:extLst>
                  <a:ext uri="{FF2B5EF4-FFF2-40B4-BE49-F238E27FC236}">
                    <a16:creationId xmlns:a16="http://schemas.microsoft.com/office/drawing/2014/main" id="{92A111EB-8BB5-9DC0-A88F-DC7CEA443157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2132" y="1200"/>
                <a:ext cx="208" cy="192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M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A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0" name="Group 79">
              <a:extLst>
                <a:ext uri="{FF2B5EF4-FFF2-40B4-BE49-F238E27FC236}">
                  <a16:creationId xmlns:a16="http://schemas.microsoft.com/office/drawing/2014/main" id="{95655616-87CE-CC0A-BD2A-81DA53C85FC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76800" y="3048000"/>
              <a:ext cx="533400" cy="381000"/>
              <a:chOff x="3264" y="3312"/>
              <a:chExt cx="678" cy="900"/>
            </a:xfrm>
          </p:grpSpPr>
          <p:sp>
            <p:nvSpPr>
              <p:cNvPr id="46" name="Freeform 80">
                <a:extLst>
                  <a:ext uri="{FF2B5EF4-FFF2-40B4-BE49-F238E27FC236}">
                    <a16:creationId xmlns:a16="http://schemas.microsoft.com/office/drawing/2014/main" id="{FB4AB46F-3AD1-8BE5-BF06-8BAE6E4E7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47" name="Line 81">
                <a:extLst>
                  <a:ext uri="{FF2B5EF4-FFF2-40B4-BE49-F238E27FC236}">
                    <a16:creationId xmlns:a16="http://schemas.microsoft.com/office/drawing/2014/main" id="{55419387-9A4D-71ED-7FA7-FBA34724B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48" name="Freeform 82">
                <a:extLst>
                  <a:ext uri="{FF2B5EF4-FFF2-40B4-BE49-F238E27FC236}">
                    <a16:creationId xmlns:a16="http://schemas.microsoft.com/office/drawing/2014/main" id="{026CF911-3A47-0384-3CF5-37A36F559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49" name="Freeform 83">
                <a:extLst>
                  <a:ext uri="{FF2B5EF4-FFF2-40B4-BE49-F238E27FC236}">
                    <a16:creationId xmlns:a16="http://schemas.microsoft.com/office/drawing/2014/main" id="{371F99B7-61B9-2A1D-81E2-78D25750D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50" name="Line 84">
                <a:extLst>
                  <a:ext uri="{FF2B5EF4-FFF2-40B4-BE49-F238E27FC236}">
                    <a16:creationId xmlns:a16="http://schemas.microsoft.com/office/drawing/2014/main" id="{C2CF585C-BF85-0116-2D09-4E392BC88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51" name="Freeform 85">
                <a:extLst>
                  <a:ext uri="{FF2B5EF4-FFF2-40B4-BE49-F238E27FC236}">
                    <a16:creationId xmlns:a16="http://schemas.microsoft.com/office/drawing/2014/main" id="{B9B3B358-A9ED-9165-6D1B-62C070070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52" name="Freeform 86">
                <a:extLst>
                  <a:ext uri="{FF2B5EF4-FFF2-40B4-BE49-F238E27FC236}">
                    <a16:creationId xmlns:a16="http://schemas.microsoft.com/office/drawing/2014/main" id="{C75A53C5-E0C3-44EC-F729-5E37D5D2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  <p:sp>
            <p:nvSpPr>
              <p:cNvPr id="53" name="Freeform 87">
                <a:extLst>
                  <a:ext uri="{FF2B5EF4-FFF2-40B4-BE49-F238E27FC236}">
                    <a16:creationId xmlns:a16="http://schemas.microsoft.com/office/drawing/2014/main" id="{D56366BE-F006-39B9-DDE0-313796F69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ca-ES"/>
              </a:p>
            </p:txBody>
          </p:sp>
        </p:grpSp>
        <p:sp>
          <p:nvSpPr>
            <p:cNvPr id="21" name="Freeform 88">
              <a:extLst>
                <a:ext uri="{FF2B5EF4-FFF2-40B4-BE49-F238E27FC236}">
                  <a16:creationId xmlns:a16="http://schemas.microsoft.com/office/drawing/2014/main" id="{CBE52A68-6F6B-9294-1959-781034E18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4648200"/>
              <a:ext cx="1066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2" name="Line 89">
              <a:extLst>
                <a:ext uri="{FF2B5EF4-FFF2-40B4-BE49-F238E27FC236}">
                  <a16:creationId xmlns:a16="http://schemas.microsoft.com/office/drawing/2014/main" id="{25C31F08-0E34-8334-0496-C16BF06908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4343400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Rectangle 91">
              <a:extLst>
                <a:ext uri="{FF2B5EF4-FFF2-40B4-BE49-F238E27FC236}">
                  <a16:creationId xmlns:a16="http://schemas.microsoft.com/office/drawing/2014/main" id="{15A4C1EB-341F-A115-6690-259178B4E582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858000" y="3048000"/>
              <a:ext cx="21336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Multiplicador CBN</a:t>
              </a:r>
              <a:br>
                <a:rPr lang="es-ES_tradnl" dirty="0">
                  <a:solidFill>
                    <a:schemeClr val="tx1"/>
                  </a:solidFill>
                </a:rPr>
              </a:br>
              <a:r>
                <a:rPr lang="es-ES_tradnl" dirty="0">
                  <a:solidFill>
                    <a:schemeClr val="tx1"/>
                  </a:solidFill>
                </a:rPr>
                <a:t>(24x24 bits)</a:t>
              </a:r>
            </a:p>
          </p:txBody>
        </p:sp>
        <p:sp>
          <p:nvSpPr>
            <p:cNvPr id="24" name="Text Box 92">
              <a:extLst>
                <a:ext uri="{FF2B5EF4-FFF2-40B4-BE49-F238E27FC236}">
                  <a16:creationId xmlns:a16="http://schemas.microsoft.com/office/drawing/2014/main" id="{D8F90E7A-B132-F9B6-6437-4CFC65075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590800"/>
              <a:ext cx="141288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Rectangle 106">
              <a:extLst>
                <a:ext uri="{FF2B5EF4-FFF2-40B4-BE49-F238E27FC236}">
                  <a16:creationId xmlns:a16="http://schemas.microsoft.com/office/drawing/2014/main" id="{FFECE58F-39AE-1A25-5E10-D7022179741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934200" y="4800600"/>
              <a:ext cx="19812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Redondeo</a:t>
              </a:r>
            </a:p>
          </p:txBody>
        </p:sp>
        <p:sp>
          <p:nvSpPr>
            <p:cNvPr id="26" name="Line 107">
              <a:extLst>
                <a:ext uri="{FF2B5EF4-FFF2-40B4-BE49-F238E27FC236}">
                  <a16:creationId xmlns:a16="http://schemas.microsoft.com/office/drawing/2014/main" id="{4ABBBAA3-1978-F3C0-CE44-6AB2C5110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53200" y="4953000"/>
              <a:ext cx="381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7" name="Line 109">
              <a:extLst>
                <a:ext uri="{FF2B5EF4-FFF2-40B4-BE49-F238E27FC236}">
                  <a16:creationId xmlns:a16="http://schemas.microsoft.com/office/drawing/2014/main" id="{1B111E73-1131-3693-5C36-FE49FE309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4800" y="36576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8" name="Freeform 110">
              <a:extLst>
                <a:ext uri="{FF2B5EF4-FFF2-40B4-BE49-F238E27FC236}">
                  <a16:creationId xmlns:a16="http://schemas.microsoft.com/office/drawing/2014/main" id="{4734F46D-74A9-51D4-AFEA-9B7D4C99E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150" y="3505200"/>
              <a:ext cx="74613" cy="2209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36"/>
                </a:cxn>
                <a:cxn ang="0">
                  <a:pos x="124" y="1136"/>
                </a:cxn>
                <a:cxn ang="0">
                  <a:pos x="123" y="1344"/>
                </a:cxn>
              </a:cxnLst>
              <a:rect l="0" t="0" r="r" b="b"/>
              <a:pathLst>
                <a:path w="124" h="1344">
                  <a:moveTo>
                    <a:pt x="0" y="0"/>
                  </a:moveTo>
                  <a:lnTo>
                    <a:pt x="0" y="1136"/>
                  </a:lnTo>
                  <a:lnTo>
                    <a:pt x="124" y="1136"/>
                  </a:lnTo>
                  <a:lnTo>
                    <a:pt x="123" y="1344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grpSp>
          <p:nvGrpSpPr>
            <p:cNvPr id="29" name="Group 111">
              <a:extLst>
                <a:ext uri="{FF2B5EF4-FFF2-40B4-BE49-F238E27FC236}">
                  <a16:creationId xmlns:a16="http://schemas.microsoft.com/office/drawing/2014/main" id="{399F853F-BC7E-5473-5905-F28C70CD2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9200" y="5715000"/>
              <a:ext cx="2819400" cy="457200"/>
              <a:chOff x="1248" y="1152"/>
              <a:chExt cx="1776" cy="288"/>
            </a:xfrm>
          </p:grpSpPr>
          <p:sp>
            <p:nvSpPr>
              <p:cNvPr id="40" name="Rectangle 112">
                <a:extLst>
                  <a:ext uri="{FF2B5EF4-FFF2-40B4-BE49-F238E27FC236}">
                    <a16:creationId xmlns:a16="http://schemas.microsoft.com/office/drawing/2014/main" id="{C87752C4-0EF4-1C8E-0993-040D1AD6E840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248" y="1152"/>
                <a:ext cx="1776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1" name="Line 113">
                <a:extLst>
                  <a:ext uri="{FF2B5EF4-FFF2-40B4-BE49-F238E27FC236}">
                    <a16:creationId xmlns:a16="http://schemas.microsoft.com/office/drawing/2014/main" id="{7AEC33B4-066F-33A1-0186-8FFF50DCD24E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1440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2" name="Line 114">
                <a:extLst>
                  <a:ext uri="{FF2B5EF4-FFF2-40B4-BE49-F238E27FC236}">
                    <a16:creationId xmlns:a16="http://schemas.microsoft.com/office/drawing/2014/main" id="{F6BB2D5A-5DCB-8804-5F4F-E2D0B2610B77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2064" y="11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3" name="Text Box 115">
                <a:extLst>
                  <a:ext uri="{FF2B5EF4-FFF2-40B4-BE49-F238E27FC236}">
                    <a16:creationId xmlns:a16="http://schemas.microsoft.com/office/drawing/2014/main" id="{133F29CF-BB95-5F32-9F63-0D5A4F140EDD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259" y="1200"/>
                <a:ext cx="182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S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R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44" name="Text Box 116">
                <a:extLst>
                  <a:ext uri="{FF2B5EF4-FFF2-40B4-BE49-F238E27FC236}">
                    <a16:creationId xmlns:a16="http://schemas.microsoft.com/office/drawing/2014/main" id="{9A759A65-E5B9-76A4-675A-D23D91109F24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508" y="1200"/>
                <a:ext cx="182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E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R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Text Box 117">
                <a:extLst>
                  <a:ext uri="{FF2B5EF4-FFF2-40B4-BE49-F238E27FC236}">
                    <a16:creationId xmlns:a16="http://schemas.microsoft.com/office/drawing/2014/main" id="{4F01F73B-FFAA-9EE7-6697-535C893553A2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2132" y="1200"/>
                <a:ext cx="208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s-ES" b="1">
                    <a:solidFill>
                      <a:schemeClr val="tx2"/>
                    </a:solidFill>
                  </a:rPr>
                  <a:t>M</a:t>
                </a:r>
                <a:r>
                  <a:rPr lang="es-ES" b="1" baseline="-25000">
                    <a:solidFill>
                      <a:schemeClr val="tx2"/>
                    </a:solidFill>
                  </a:rPr>
                  <a:t>R</a:t>
                </a:r>
                <a:endParaRPr lang="ca-ES" b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30" name="Freeform 118">
              <a:extLst>
                <a:ext uri="{FF2B5EF4-FFF2-40B4-BE49-F238E27FC236}">
                  <a16:creationId xmlns:a16="http://schemas.microsoft.com/office/drawing/2014/main" id="{F231178E-3DD5-F38B-0F6B-2EAF79CE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800" y="5181600"/>
              <a:ext cx="762000" cy="5334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432" y="144"/>
                </a:cxn>
                <a:cxn ang="0">
                  <a:pos x="0" y="144"/>
                </a:cxn>
                <a:cxn ang="0">
                  <a:pos x="0" y="288"/>
                </a:cxn>
              </a:cxnLst>
              <a:rect l="0" t="0" r="r" b="b"/>
              <a:pathLst>
                <a:path w="432" h="288">
                  <a:moveTo>
                    <a:pt x="432" y="0"/>
                  </a:moveTo>
                  <a:lnTo>
                    <a:pt x="432" y="144"/>
                  </a:lnTo>
                  <a:lnTo>
                    <a:pt x="0" y="144"/>
                  </a:lnTo>
                  <a:lnTo>
                    <a:pt x="0" y="288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1" name="Rectangle 119">
              <a:extLst>
                <a:ext uri="{FF2B5EF4-FFF2-40B4-BE49-F238E27FC236}">
                  <a16:creationId xmlns:a16="http://schemas.microsoft.com/office/drawing/2014/main" id="{1304B506-BA10-6536-770A-8ED95BCBCA1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934200" y="4038600"/>
              <a:ext cx="19812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dirty="0" err="1">
                  <a:solidFill>
                    <a:schemeClr val="tx1"/>
                  </a:solidFill>
                </a:rPr>
                <a:t>Renormalizaci</a:t>
              </a:r>
              <a:r>
                <a:rPr lang="es-ES_tradnl" altLang="ja-JP" dirty="0" err="1">
                  <a:solidFill>
                    <a:schemeClr val="tx1"/>
                  </a:solidFill>
                  <a:ea typeface="Geneva" pitchFamily="-112" charset="0"/>
                  <a:cs typeface="Geneva" pitchFamily="-112" charset="0"/>
                </a:rPr>
                <a:t>ón</a:t>
              </a:r>
              <a:endParaRPr lang="es-ES_tradnl" dirty="0">
                <a:solidFill>
                  <a:schemeClr val="tx1"/>
                </a:solidFill>
              </a:endParaRPr>
            </a:p>
          </p:txBody>
        </p:sp>
        <p:sp>
          <p:nvSpPr>
            <p:cNvPr id="32" name="Line 120">
              <a:extLst>
                <a:ext uri="{FF2B5EF4-FFF2-40B4-BE49-F238E27FC236}">
                  <a16:creationId xmlns:a16="http://schemas.microsoft.com/office/drawing/2014/main" id="{CCF3DB45-3212-8516-1047-F9920A5FD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4800" y="4419600"/>
              <a:ext cx="0" cy="381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3" name="Freeform 121">
              <a:extLst>
                <a:ext uri="{FF2B5EF4-FFF2-40B4-BE49-F238E27FC236}">
                  <a16:creationId xmlns:a16="http://schemas.microsoft.com/office/drawing/2014/main" id="{AAC995E3-1B5A-371C-51A1-B0131D2AB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3200" y="4267200"/>
              <a:ext cx="381000" cy="381000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0" y="0"/>
                </a:cxn>
                <a:cxn ang="0">
                  <a:pos x="0" y="264"/>
                </a:cxn>
              </a:cxnLst>
              <a:rect l="0" t="0" r="r" b="b"/>
              <a:pathLst>
                <a:path w="288" h="264">
                  <a:moveTo>
                    <a:pt x="288" y="0"/>
                  </a:moveTo>
                  <a:lnTo>
                    <a:pt x="0" y="0"/>
                  </a:lnTo>
                  <a:lnTo>
                    <a:pt x="0" y="264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4" name="Freeform 122">
              <a:extLst>
                <a:ext uri="{FF2B5EF4-FFF2-40B4-BE49-F238E27FC236}">
                  <a16:creationId xmlns:a16="http://schemas.microsoft.com/office/drawing/2014/main" id="{443CEAE0-2862-27AF-ACD7-29EBF4C31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0" y="3810000"/>
              <a:ext cx="1066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288" y="96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432" y="192"/>
                </a:cxn>
                <a:cxn ang="0">
                  <a:pos x="144" y="192"/>
                </a:cxn>
                <a:cxn ang="0">
                  <a:pos x="0" y="0"/>
                </a:cxn>
              </a:cxnLst>
              <a:rect l="0" t="0" r="r" b="b"/>
              <a:pathLst>
                <a:path w="576" h="192">
                  <a:moveTo>
                    <a:pt x="0" y="0"/>
                  </a:moveTo>
                  <a:lnTo>
                    <a:pt x="192" y="0"/>
                  </a:lnTo>
                  <a:lnTo>
                    <a:pt x="288" y="96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432" y="192"/>
                  </a:lnTo>
                  <a:lnTo>
                    <a:pt x="144" y="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5" name="Line 123">
              <a:extLst>
                <a:ext uri="{FF2B5EF4-FFF2-40B4-BE49-F238E27FC236}">
                  <a16:creationId xmlns:a16="http://schemas.microsoft.com/office/drawing/2014/main" id="{AEA52E16-8EFD-1E74-A622-51CACD533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3505200"/>
              <a:ext cx="0" cy="3048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6" name="Freeform 126">
              <a:extLst>
                <a:ext uri="{FF2B5EF4-FFF2-40B4-BE49-F238E27FC236}">
                  <a16:creationId xmlns:a16="http://schemas.microsoft.com/office/drawing/2014/main" id="{C280180B-8A16-F235-58CA-FFBBBE7D8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5181600"/>
              <a:ext cx="304800" cy="533400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432" y="144"/>
                </a:cxn>
                <a:cxn ang="0">
                  <a:pos x="0" y="144"/>
                </a:cxn>
                <a:cxn ang="0">
                  <a:pos x="0" y="288"/>
                </a:cxn>
              </a:cxnLst>
              <a:rect l="0" t="0" r="r" b="b"/>
              <a:pathLst>
                <a:path w="432" h="288">
                  <a:moveTo>
                    <a:pt x="432" y="0"/>
                  </a:moveTo>
                  <a:lnTo>
                    <a:pt x="432" y="144"/>
                  </a:lnTo>
                  <a:lnTo>
                    <a:pt x="0" y="144"/>
                  </a:lnTo>
                  <a:lnTo>
                    <a:pt x="0" y="288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7" name="Line 127">
              <a:extLst>
                <a:ext uri="{FF2B5EF4-FFF2-40B4-BE49-F238E27FC236}">
                  <a16:creationId xmlns:a16="http://schemas.microsoft.com/office/drawing/2014/main" id="{0D5094F1-754E-CC7E-0D23-BDE379306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5200" y="2819400"/>
              <a:ext cx="0" cy="15240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38" name="Text Box 128">
              <a:extLst>
                <a:ext uri="{FF2B5EF4-FFF2-40B4-BE49-F238E27FC236}">
                  <a16:creationId xmlns:a16="http://schemas.microsoft.com/office/drawing/2014/main" id="{E087BF76-235E-6E24-72B0-3B7485E49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2590800"/>
              <a:ext cx="141288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" name="Line 129">
              <a:extLst>
                <a:ext uri="{FF2B5EF4-FFF2-40B4-BE49-F238E27FC236}">
                  <a16:creationId xmlns:a16="http://schemas.microsoft.com/office/drawing/2014/main" id="{68A2A1F9-443D-F770-F66B-97C15C827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9600" y="2819400"/>
              <a:ext cx="0" cy="15240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</p:grpSp>
    </p:spTree>
    <p:extLst>
      <p:ext uri="{BB962C8B-B14F-4D97-AF65-F5344CB8AC3E}">
        <p14:creationId xmlns:p14="http://schemas.microsoft.com/office/powerpoint/2010/main" val="1009726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A792-59F1-61AB-4721-7E01E528D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ACE53-A2BD-414C-17CD-F8A1BC07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</a:t>
            </a:r>
            <a:r>
              <a:rPr lang="es-ES_tradnl" altLang="ja-JP" dirty="0"/>
              <a:t>: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fmul.s</a:t>
            </a:r>
            <a:r>
              <a:rPr lang="es-ES_tradnl" altLang="ja-JP" sz="2400" dirty="0">
                <a:cs typeface="Courier New" panose="02070309020205020404" pitchFamily="49" charset="0"/>
              </a:rPr>
              <a:t> y </a:t>
            </a:r>
            <a:r>
              <a:rPr lang="es-ES_tradnl" altLang="ja-JP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fmul.d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ACA314-6629-C7C0-D939-180CDC105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_tradnl" dirty="0"/>
              <a:t>Renormalizaci</a:t>
            </a:r>
            <a:r>
              <a:rPr lang="es-ES_tradnl" altLang="ja-JP" dirty="0"/>
              <a:t>ón después de un producto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Si la mantisa del producto comienza por 0: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Desplazar a la izquierda una posici</a:t>
            </a:r>
            <a:r>
              <a:rPr lang="es-ES_tradnl" altLang="ja-JP" dirty="0"/>
              <a:t>ón</a:t>
            </a:r>
            <a:endParaRPr lang="es-ES_tradnl" dirty="0"/>
          </a:p>
          <a:p>
            <a:pPr lvl="1">
              <a:lnSpc>
                <a:spcPct val="100000"/>
              </a:lnSpc>
            </a:pPr>
            <a:r>
              <a:rPr lang="es-ES_tradnl" dirty="0"/>
              <a:t>Si comienza por 1: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Incrementar el exponente en 1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En cualquier caso:</a:t>
            </a:r>
          </a:p>
          <a:p>
            <a:pPr lvl="2">
              <a:lnSpc>
                <a:spcPct val="100000"/>
              </a:lnSpc>
            </a:pPr>
            <a:r>
              <a:rPr lang="es-ES_tradnl" dirty="0"/>
              <a:t>Eliminar el bit entero impl</a:t>
            </a:r>
            <a:r>
              <a:rPr lang="es-ES_tradnl" altLang="ja-JP" dirty="0"/>
              <a:t>ícito</a:t>
            </a: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94B380-6205-C493-36C8-58FFA4D0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1144F90-8BF6-8B93-9F13-54BC6B4B1DFC}"/>
              </a:ext>
            </a:extLst>
          </p:cNvPr>
          <p:cNvGrpSpPr/>
          <p:nvPr/>
        </p:nvGrpSpPr>
        <p:grpSpPr>
          <a:xfrm>
            <a:off x="6804248" y="1126753"/>
            <a:ext cx="1512168" cy="5121647"/>
            <a:chOff x="6804248" y="1126753"/>
            <a:chExt cx="1512168" cy="5121647"/>
          </a:xfrm>
        </p:grpSpPr>
        <p:sp>
          <p:nvSpPr>
            <p:cNvPr id="6" name="Rectangle 24">
              <a:extLst>
                <a:ext uri="{FF2B5EF4-FFF2-40B4-BE49-F238E27FC236}">
                  <a16:creationId xmlns:a16="http://schemas.microsoft.com/office/drawing/2014/main" id="{7F3972A0-362E-3678-AD0A-C75BD28A74B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804248" y="3559175"/>
              <a:ext cx="228600" cy="228600"/>
            </a:xfrm>
            <a:prstGeom prst="rect">
              <a:avLst/>
            </a:prstGeom>
            <a:solidFill>
              <a:srgbClr val="FF0000"/>
            </a:solidFill>
            <a:ln w="635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atte">
              <a:bevelT w="13500" h="13500" prst="angle"/>
              <a:bevelB w="13500" h="13500" prst="angle"/>
              <a:extrusionClr>
                <a:srgbClr val="FF0000"/>
              </a:extrusionClr>
            </a:sp3d>
          </p:spPr>
          <p:txBody>
            <a:bodyPr wrap="none"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1DE80D11-DDC4-6499-1FD6-2E8F34E50EF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804248" y="5380764"/>
              <a:ext cx="228600" cy="228600"/>
            </a:xfrm>
            <a:prstGeom prst="rect">
              <a:avLst/>
            </a:prstGeom>
            <a:solidFill>
              <a:srgbClr val="FF0000"/>
            </a:solidFill>
            <a:ln w="635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atte">
              <a:bevelT w="13500" h="13500" prst="angle"/>
              <a:bevelB w="13500" h="13500" prst="angle"/>
              <a:extrusionClr>
                <a:srgbClr val="FF0000"/>
              </a:extrusionClr>
            </a:sp3d>
          </p:spPr>
          <p:txBody>
            <a:bodyPr wrap="none"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A7E4B41F-FA91-CD68-692E-5360602619B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6804248" y="1785938"/>
              <a:ext cx="228600" cy="228600"/>
            </a:xfrm>
            <a:prstGeom prst="rect">
              <a:avLst/>
            </a:prstGeom>
            <a:solidFill>
              <a:srgbClr val="FF0000"/>
            </a:solidFill>
            <a:ln w="635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9200" prstMaterial="legacyMatte">
              <a:bevelT w="13500" h="13500" prst="angle"/>
              <a:bevelB w="13500" h="13500" prst="angle"/>
              <a:extrusionClr>
                <a:srgbClr val="FF0000"/>
              </a:extrusionClr>
            </a:sp3d>
          </p:spPr>
          <p:txBody>
            <a:bodyPr wrap="none" lIns="0" tIns="0" rIns="0" bIns="0" anchor="ctr">
              <a:prstTxWarp prst="textNoShape">
                <a:avLst/>
              </a:prstTxWarp>
              <a:spAutoFit/>
              <a:flatTx/>
            </a:bodyPr>
            <a:lstStyle/>
            <a:p>
              <a:endParaRPr lang="ca-ES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355AD4F9-E266-4A71-40D5-5ED776FB9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2811" y="1126753"/>
              <a:ext cx="1376789" cy="9233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1.000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1.000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01.000000</a:t>
              </a: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42A3B62D-B789-9662-E859-4B51C9380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1752600"/>
              <a:ext cx="1219200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3AF6F7A0-B9EA-FD56-A8DD-15D8D7A79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1447800"/>
              <a:ext cx="1270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/>
                <a:t>x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675E218D-1D17-F9A5-EE83-1CC15C482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2811" y="2879353"/>
              <a:ext cx="1384995" cy="9233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1.011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1.101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01.110101</a:t>
              </a: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614C0B13-785E-2DDC-87CB-ACFDEDC02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3505200"/>
              <a:ext cx="1219200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547FCEF8-FC28-38C9-F2A8-BAD349AAE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3200400"/>
              <a:ext cx="1270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/>
                <a:t>x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F8C317F-B266-7637-9224-DB3C94322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2811" y="4708153"/>
              <a:ext cx="1384995" cy="92333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1.111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1.111</a:t>
              </a:r>
            </a:p>
            <a:p>
              <a:pPr algn="r"/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11.100001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9974F705-D0B8-2AAF-78E4-B466CAE87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5334000"/>
              <a:ext cx="1219200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CFE3FF39-E9C3-7EFE-62DD-78E8254A9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1270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/>
                <a:t>x</a:t>
              </a: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8F1BAA09-0E02-2C58-457D-1AA1C34A6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2057400"/>
              <a:ext cx="381000" cy="228600"/>
            </a:xfrm>
            <a:prstGeom prst="downArrow">
              <a:avLst>
                <a:gd name="adj1" fmla="val 60833"/>
                <a:gd name="adj2" fmla="val 48611"/>
              </a:avLst>
            </a:prstGeom>
            <a:noFill/>
            <a:ln w="63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CDAD4666-57E6-F1E6-795B-9815BFFFF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2388393"/>
              <a:ext cx="10668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0000000</a:t>
              </a:r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18CB1692-FA98-3436-ACAF-14A6D5B38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810000"/>
              <a:ext cx="381000" cy="228600"/>
            </a:xfrm>
            <a:prstGeom prst="downArrow">
              <a:avLst>
                <a:gd name="adj1" fmla="val 60833"/>
                <a:gd name="adj2" fmla="val 48611"/>
              </a:avLst>
            </a:prstGeom>
            <a:noFill/>
            <a:ln w="63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3F310065-BD30-2B68-710A-A9A362F86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4140993"/>
              <a:ext cx="10668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1101010</a:t>
              </a:r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EA0972C4-9E08-F41A-6D61-6F1114318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5638800"/>
              <a:ext cx="381000" cy="228600"/>
            </a:xfrm>
            <a:prstGeom prst="downArrow">
              <a:avLst>
                <a:gd name="adj1" fmla="val 60833"/>
                <a:gd name="adj2" fmla="val 48611"/>
              </a:avLst>
            </a:prstGeom>
            <a:noFill/>
            <a:ln w="63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99DBE44B-DA83-21B2-09C7-D1383AD54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943600"/>
              <a:ext cx="1066800" cy="3048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r>
                <a:rPr lang="es-ES_tradnl" b="1" dirty="0">
                  <a:solidFill>
                    <a:schemeClr val="tx1"/>
                  </a:solidFill>
                  <a:latin typeface="Courier New" pitchFamily="-112" charset="0"/>
                </a:rPr>
                <a:t>1100001</a:t>
              </a:r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9C77E2E7-CB69-710B-1A93-016D55F3DFA4}"/>
                </a:ext>
              </a:extLst>
            </p:cNvPr>
            <p:cNvCxnSpPr/>
            <p:nvPr/>
          </p:nvCxnSpPr>
          <p:spPr bwMode="auto">
            <a:xfrm flipH="1">
              <a:off x="7901508" y="2132856"/>
              <a:ext cx="342900" cy="0"/>
            </a:xfrm>
            <a:prstGeom prst="straightConnector1">
              <a:avLst/>
            </a:prstGeom>
            <a:noFill/>
            <a:ln w="476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2F666F72-8ECB-48DA-994B-1BF40B9E11F5}"/>
                </a:ext>
              </a:extLst>
            </p:cNvPr>
            <p:cNvCxnSpPr/>
            <p:nvPr/>
          </p:nvCxnSpPr>
          <p:spPr bwMode="auto">
            <a:xfrm flipH="1">
              <a:off x="7973516" y="3933056"/>
              <a:ext cx="342900" cy="0"/>
            </a:xfrm>
            <a:prstGeom prst="straightConnector1">
              <a:avLst/>
            </a:prstGeom>
            <a:noFill/>
            <a:ln w="476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302C3AD-ED20-3D4B-30E2-4774113F20EB}"/>
              </a:ext>
            </a:extLst>
          </p:cNvPr>
          <p:cNvGrpSpPr/>
          <p:nvPr/>
        </p:nvGrpSpPr>
        <p:grpSpPr>
          <a:xfrm>
            <a:off x="1300775" y="4160044"/>
            <a:ext cx="5241648" cy="2441377"/>
            <a:chOff x="1300775" y="4160044"/>
            <a:chExt cx="5241648" cy="2441377"/>
          </a:xfrm>
        </p:grpSpPr>
        <p:sp>
          <p:nvSpPr>
            <p:cNvPr id="27" name="Rectangle 44">
              <a:extLst>
                <a:ext uri="{FF2B5EF4-FFF2-40B4-BE49-F238E27FC236}">
                  <a16:creationId xmlns:a16="http://schemas.microsoft.com/office/drawing/2014/main" id="{F3CD2908-CFD5-11BB-F3E2-1306B24091D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014031" y="5161088"/>
              <a:ext cx="3276600" cy="3762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sz="1800" dirty="0" err="1">
                  <a:solidFill>
                    <a:schemeClr val="tx1"/>
                  </a:solidFill>
                </a:rPr>
                <a:t>Desp</a:t>
              </a:r>
              <a:r>
                <a:rPr lang="es-ES_tradnl" sz="1800" dirty="0">
                  <a:solidFill>
                    <a:schemeClr val="tx1"/>
                  </a:solidFill>
                </a:rPr>
                <a:t>. izqda.: 0 o 1 posici</a:t>
              </a:r>
              <a:r>
                <a:rPr lang="es-ES_tradnl" altLang="ja-JP" sz="1800" dirty="0">
                  <a:solidFill>
                    <a:schemeClr val="tx1"/>
                  </a:solidFill>
                </a:rPr>
                <a:t>ón</a:t>
              </a:r>
              <a:endParaRPr lang="es-ES_tradnl" sz="1800" dirty="0">
                <a:solidFill>
                  <a:schemeClr val="tx1"/>
                </a:solidFill>
              </a:endParaRPr>
            </a:p>
          </p:txBody>
        </p:sp>
        <p:sp>
          <p:nvSpPr>
            <p:cNvPr id="28" name="Line 66">
              <a:extLst>
                <a:ext uri="{FF2B5EF4-FFF2-40B4-BE49-F238E27FC236}">
                  <a16:creationId xmlns:a16="http://schemas.microsoft.com/office/drawing/2014/main" id="{1360A90D-1D19-DA18-B8E9-35D990AB5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8889" y="4452146"/>
              <a:ext cx="123411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ca-ES"/>
            </a:p>
          </p:txBody>
        </p:sp>
        <p:grpSp>
          <p:nvGrpSpPr>
            <p:cNvPr id="29" name="5 Grupo">
              <a:extLst>
                <a:ext uri="{FF2B5EF4-FFF2-40B4-BE49-F238E27FC236}">
                  <a16:creationId xmlns:a16="http://schemas.microsoft.com/office/drawing/2014/main" id="{8AAEAEF7-0072-044E-A685-8B59F73AA919}"/>
                </a:ext>
              </a:extLst>
            </p:cNvPr>
            <p:cNvGrpSpPr/>
            <p:nvPr/>
          </p:nvGrpSpPr>
          <p:grpSpPr>
            <a:xfrm>
              <a:off x="1300775" y="4160044"/>
              <a:ext cx="5241648" cy="2441377"/>
              <a:chOff x="1300775" y="4160044"/>
              <a:chExt cx="5241648" cy="2441377"/>
            </a:xfrm>
          </p:grpSpPr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6D359DEA-E2D1-3219-956E-9F9E407FE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823" y="4160044"/>
                <a:ext cx="3276600" cy="3762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s-ES_tradnl" dirty="0">
                    <a:solidFill>
                      <a:schemeClr val="tx1"/>
                    </a:solidFill>
                  </a:rPr>
                  <a:t>Mantisa por normalizar</a:t>
                </a:r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C18D7FDA-E275-B650-D396-B371FDD24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0622" y="4452145"/>
                <a:ext cx="2381" cy="6937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squar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2" name="Line 27">
                <a:extLst>
                  <a:ext uri="{FF2B5EF4-FFF2-40B4-BE49-F238E27FC236}">
                    <a16:creationId xmlns:a16="http://schemas.microsoft.com/office/drawing/2014/main" id="{3FD266CC-6BD2-176D-835F-00946D59B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30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3" name="Line 28">
                <a:extLst>
                  <a:ext uri="{FF2B5EF4-FFF2-40B4-BE49-F238E27FC236}">
                    <a16:creationId xmlns:a16="http://schemas.microsoft.com/office/drawing/2014/main" id="{9BD8A45B-AD9A-5006-19A4-6CE5A3819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54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4" name="Line 29">
                <a:extLst>
                  <a:ext uri="{FF2B5EF4-FFF2-40B4-BE49-F238E27FC236}">
                    <a16:creationId xmlns:a16="http://schemas.microsoft.com/office/drawing/2014/main" id="{DED9845C-ACEE-CD1D-1547-88834B599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78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5" name="Line 30">
                <a:extLst>
                  <a:ext uri="{FF2B5EF4-FFF2-40B4-BE49-F238E27FC236}">
                    <a16:creationId xmlns:a16="http://schemas.microsoft.com/office/drawing/2014/main" id="{2D6B1526-93AD-4045-A133-9ADD543FC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02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6" name="Line 31">
                <a:extLst>
                  <a:ext uri="{FF2B5EF4-FFF2-40B4-BE49-F238E27FC236}">
                    <a16:creationId xmlns:a16="http://schemas.microsoft.com/office/drawing/2014/main" id="{5ACCDA15-4145-5B1D-897A-D5CE514C9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26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7" name="Line 32">
                <a:extLst>
                  <a:ext uri="{FF2B5EF4-FFF2-40B4-BE49-F238E27FC236}">
                    <a16:creationId xmlns:a16="http://schemas.microsoft.com/office/drawing/2014/main" id="{FEB51B8E-A209-0F57-3D39-BFCE54D98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0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8" name="Line 33">
                <a:extLst>
                  <a:ext uri="{FF2B5EF4-FFF2-40B4-BE49-F238E27FC236}">
                    <a16:creationId xmlns:a16="http://schemas.microsoft.com/office/drawing/2014/main" id="{1B6783DB-91F1-4193-89AC-F907D3A0D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74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39" name="Line 34">
                <a:extLst>
                  <a:ext uri="{FF2B5EF4-FFF2-40B4-BE49-F238E27FC236}">
                    <a16:creationId xmlns:a16="http://schemas.microsoft.com/office/drawing/2014/main" id="{2FF4A874-F66F-2701-3C35-A423BA682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98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0" name="Line 35">
                <a:extLst>
                  <a:ext uri="{FF2B5EF4-FFF2-40B4-BE49-F238E27FC236}">
                    <a16:creationId xmlns:a16="http://schemas.microsoft.com/office/drawing/2014/main" id="{42ED92FF-6437-350D-9B64-6A41F1B20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22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1" name="Line 36">
                <a:extLst>
                  <a:ext uri="{FF2B5EF4-FFF2-40B4-BE49-F238E27FC236}">
                    <a16:creationId xmlns:a16="http://schemas.microsoft.com/office/drawing/2014/main" id="{22612216-27F0-B2C7-1851-4B3D22F1F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6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2" name="Line 37">
                <a:extLst>
                  <a:ext uri="{FF2B5EF4-FFF2-40B4-BE49-F238E27FC236}">
                    <a16:creationId xmlns:a16="http://schemas.microsoft.com/office/drawing/2014/main" id="{807B0FF3-CCCD-B4BE-079E-BE88297BD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70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3" name="Line 38">
                <a:extLst>
                  <a:ext uri="{FF2B5EF4-FFF2-40B4-BE49-F238E27FC236}">
                    <a16:creationId xmlns:a16="http://schemas.microsoft.com/office/drawing/2014/main" id="{F8C204CC-14E8-28C0-21E7-B017E5B98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94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4" name="Line 39">
                <a:extLst>
                  <a:ext uri="{FF2B5EF4-FFF2-40B4-BE49-F238E27FC236}">
                    <a16:creationId xmlns:a16="http://schemas.microsoft.com/office/drawing/2014/main" id="{0A4A552C-B0BD-D114-9B91-812F4B5EB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18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5" name="Line 40">
                <a:extLst>
                  <a:ext uri="{FF2B5EF4-FFF2-40B4-BE49-F238E27FC236}">
                    <a16:creationId xmlns:a16="http://schemas.microsoft.com/office/drawing/2014/main" id="{3D46B153-7D1E-595B-0750-C77E5AAF4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42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6" name="Line 41">
                <a:extLst>
                  <a:ext uri="{FF2B5EF4-FFF2-40B4-BE49-F238E27FC236}">
                    <a16:creationId xmlns:a16="http://schemas.microsoft.com/office/drawing/2014/main" id="{BBA89D79-2C78-00E8-D1FA-F487436B4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566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16304935-ED51-3301-5ED4-372779D71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9023" y="45362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8" name="Freeform 46">
                <a:extLst>
                  <a:ext uri="{FF2B5EF4-FFF2-40B4-BE49-F238E27FC236}">
                    <a16:creationId xmlns:a16="http://schemas.microsoft.com/office/drawing/2014/main" id="{9DD4673D-5616-6B66-71B5-72B7844E8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4823" y="4769644"/>
                <a:ext cx="685800" cy="561975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0" y="0"/>
                  </a:cxn>
                  <a:cxn ang="0">
                    <a:pos x="0" y="357"/>
                  </a:cxn>
                  <a:cxn ang="0">
                    <a:pos x="233" y="356"/>
                  </a:cxn>
                </a:cxnLst>
                <a:rect l="0" t="0" r="r" b="b"/>
                <a:pathLst>
                  <a:path w="432" h="357">
                    <a:moveTo>
                      <a:pt x="432" y="0"/>
                    </a:moveTo>
                    <a:lnTo>
                      <a:pt x="0" y="0"/>
                    </a:lnTo>
                    <a:lnTo>
                      <a:pt x="0" y="357"/>
                    </a:lnTo>
                    <a:lnTo>
                      <a:pt x="233" y="356"/>
                    </a:ln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49" name="Line 47">
                <a:extLst>
                  <a:ext uri="{FF2B5EF4-FFF2-40B4-BE49-F238E27FC236}">
                    <a16:creationId xmlns:a16="http://schemas.microsoft.com/office/drawing/2014/main" id="{B73A90FE-64FD-42F3-48F1-694193AD7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0623" y="5526882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0" name="Line 48">
                <a:extLst>
                  <a:ext uri="{FF2B5EF4-FFF2-40B4-BE49-F238E27FC236}">
                    <a16:creationId xmlns:a16="http://schemas.microsoft.com/office/drawing/2014/main" id="{4FA65C53-00D0-E228-522C-C60AD997B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30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1" name="Line 49">
                <a:extLst>
                  <a:ext uri="{FF2B5EF4-FFF2-40B4-BE49-F238E27FC236}">
                    <a16:creationId xmlns:a16="http://schemas.microsoft.com/office/drawing/2014/main" id="{6B05D1BB-D32E-2153-790A-A9775990A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54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2" name="Line 50">
                <a:extLst>
                  <a:ext uri="{FF2B5EF4-FFF2-40B4-BE49-F238E27FC236}">
                    <a16:creationId xmlns:a16="http://schemas.microsoft.com/office/drawing/2014/main" id="{0D490612-6831-63FA-E537-ED5E00288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78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3" name="Line 51">
                <a:extLst>
                  <a:ext uri="{FF2B5EF4-FFF2-40B4-BE49-F238E27FC236}">
                    <a16:creationId xmlns:a16="http://schemas.microsoft.com/office/drawing/2014/main" id="{93ACE26C-300F-1ABD-7C52-7733D0F38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02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4" name="Line 52">
                <a:extLst>
                  <a:ext uri="{FF2B5EF4-FFF2-40B4-BE49-F238E27FC236}">
                    <a16:creationId xmlns:a16="http://schemas.microsoft.com/office/drawing/2014/main" id="{BF85AB32-6A11-FE32-15B3-8C7784630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26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5" name="Line 53">
                <a:extLst>
                  <a:ext uri="{FF2B5EF4-FFF2-40B4-BE49-F238E27FC236}">
                    <a16:creationId xmlns:a16="http://schemas.microsoft.com/office/drawing/2014/main" id="{E87CDCD6-2C43-08F2-2922-C45F909DD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0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6" name="Line 54">
                <a:extLst>
                  <a:ext uri="{FF2B5EF4-FFF2-40B4-BE49-F238E27FC236}">
                    <a16:creationId xmlns:a16="http://schemas.microsoft.com/office/drawing/2014/main" id="{15F9DADF-624B-9B8F-C2A4-97432ABC4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74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7" name="Line 55">
                <a:extLst>
                  <a:ext uri="{FF2B5EF4-FFF2-40B4-BE49-F238E27FC236}">
                    <a16:creationId xmlns:a16="http://schemas.microsoft.com/office/drawing/2014/main" id="{5BC8D8DD-B021-2D69-13FE-16590C8CB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98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8" name="Line 56">
                <a:extLst>
                  <a:ext uri="{FF2B5EF4-FFF2-40B4-BE49-F238E27FC236}">
                    <a16:creationId xmlns:a16="http://schemas.microsoft.com/office/drawing/2014/main" id="{FC54DFA3-5AF9-1B01-50B9-A92464032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22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59" name="Line 57">
                <a:extLst>
                  <a:ext uri="{FF2B5EF4-FFF2-40B4-BE49-F238E27FC236}">
                    <a16:creationId xmlns:a16="http://schemas.microsoft.com/office/drawing/2014/main" id="{77A410C0-0116-23DE-62A6-8812861C6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6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0" name="Line 58">
                <a:extLst>
                  <a:ext uri="{FF2B5EF4-FFF2-40B4-BE49-F238E27FC236}">
                    <a16:creationId xmlns:a16="http://schemas.microsoft.com/office/drawing/2014/main" id="{AC3B0CF5-F718-6D5B-73C6-BF0FF6AF4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70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1" name="Line 59">
                <a:extLst>
                  <a:ext uri="{FF2B5EF4-FFF2-40B4-BE49-F238E27FC236}">
                    <a16:creationId xmlns:a16="http://schemas.microsoft.com/office/drawing/2014/main" id="{22DAB1AE-8787-7835-4787-5291FF678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94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2" name="Line 60">
                <a:extLst>
                  <a:ext uri="{FF2B5EF4-FFF2-40B4-BE49-F238E27FC236}">
                    <a16:creationId xmlns:a16="http://schemas.microsoft.com/office/drawing/2014/main" id="{67F81DF9-12A9-52EB-70B9-12D8A3CEE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18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3" name="Line 61">
                <a:extLst>
                  <a:ext uri="{FF2B5EF4-FFF2-40B4-BE49-F238E27FC236}">
                    <a16:creationId xmlns:a16="http://schemas.microsoft.com/office/drawing/2014/main" id="{ABBF09D8-C2E0-821D-77A1-D0576C9A9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42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4" name="Line 62">
                <a:extLst>
                  <a:ext uri="{FF2B5EF4-FFF2-40B4-BE49-F238E27FC236}">
                    <a16:creationId xmlns:a16="http://schemas.microsoft.com/office/drawing/2014/main" id="{716A7061-B086-B422-6805-FA1E0551E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566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5" name="Line 63">
                <a:extLst>
                  <a:ext uri="{FF2B5EF4-FFF2-40B4-BE49-F238E27FC236}">
                    <a16:creationId xmlns:a16="http://schemas.microsoft.com/office/drawing/2014/main" id="{1CB345EC-9229-65FE-3658-5BE17BFC1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9023" y="5526882"/>
                <a:ext cx="0" cy="6096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6" name="AutoShape 64">
                <a:extLst>
                  <a:ext uri="{FF2B5EF4-FFF2-40B4-BE49-F238E27FC236}">
                    <a16:creationId xmlns:a16="http://schemas.microsoft.com/office/drawing/2014/main" id="{89D872E5-7920-B7BA-B4AE-42C0ACDC0542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 rot="16200000">
                <a:off x="2894373" y="4598194"/>
                <a:ext cx="304800" cy="34290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7" name="Oval 45">
                <a:extLst>
                  <a:ext uri="{FF2B5EF4-FFF2-40B4-BE49-F238E27FC236}">
                    <a16:creationId xmlns:a16="http://schemas.microsoft.com/office/drawing/2014/main" id="{9C4BFB5E-2941-DD29-A6D8-17799BC53137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 rot="16200000">
                <a:off x="2767373" y="4712494"/>
                <a:ext cx="101600" cy="1143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68" name="Text Box 67">
                <a:extLst>
                  <a:ext uri="{FF2B5EF4-FFF2-40B4-BE49-F238E27FC236}">
                    <a16:creationId xmlns:a16="http://schemas.microsoft.com/office/drawing/2014/main" id="{C6F01820-136B-65CE-6A4D-82853252B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9494" y="5985868"/>
                <a:ext cx="1554537" cy="61555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 dirty="0"/>
                  <a:t>Correcci</a:t>
                </a:r>
                <a:r>
                  <a:rPr lang="es-ES_tradnl" altLang="ja-JP" dirty="0">
                    <a:ea typeface="Geneva" pitchFamily="-112" charset="0"/>
                    <a:cs typeface="Geneva" pitchFamily="-112" charset="0"/>
                  </a:rPr>
                  <a:t>ón </a:t>
                </a:r>
                <a:br>
                  <a:rPr lang="es-ES_tradnl" altLang="ja-JP" dirty="0">
                    <a:ea typeface="Geneva" pitchFamily="-112" charset="0"/>
                    <a:cs typeface="Geneva" pitchFamily="-112" charset="0"/>
                  </a:rPr>
                </a:br>
                <a:r>
                  <a:rPr lang="es-ES_tradnl" altLang="ja-JP" dirty="0">
                    <a:ea typeface="Geneva" pitchFamily="-112" charset="0"/>
                    <a:cs typeface="Geneva" pitchFamily="-112" charset="0"/>
                  </a:rPr>
                  <a:t>de exponente</a:t>
                </a:r>
                <a:endParaRPr lang="es-ES_tradnl" dirty="0"/>
              </a:p>
            </p:txBody>
          </p:sp>
          <p:sp>
            <p:nvSpPr>
              <p:cNvPr id="69" name="Freeform 78">
                <a:extLst>
                  <a:ext uri="{FF2B5EF4-FFF2-40B4-BE49-F238E27FC236}">
                    <a16:creationId xmlns:a16="http://schemas.microsoft.com/office/drawing/2014/main" id="{61EE3D96-ECAB-0426-0688-E4C801208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775" y="5761733"/>
                <a:ext cx="1066800" cy="533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288" y="96"/>
                  </a:cxn>
                  <a:cxn ang="0">
                    <a:pos x="384" y="0"/>
                  </a:cxn>
                  <a:cxn ang="0">
                    <a:pos x="576" y="0"/>
                  </a:cxn>
                  <a:cxn ang="0">
                    <a:pos x="432" y="192"/>
                  </a:cxn>
                  <a:cxn ang="0">
                    <a:pos x="144" y="192"/>
                  </a:cxn>
                  <a:cxn ang="0">
                    <a:pos x="0" y="0"/>
                  </a:cxn>
                </a:cxnLst>
                <a:rect l="0" t="0" r="r" b="b"/>
                <a:pathLst>
                  <a:path w="576" h="192">
                    <a:moveTo>
                      <a:pt x="0" y="0"/>
                    </a:moveTo>
                    <a:lnTo>
                      <a:pt x="192" y="0"/>
                    </a:lnTo>
                    <a:lnTo>
                      <a:pt x="288" y="96"/>
                    </a:lnTo>
                    <a:lnTo>
                      <a:pt x="384" y="0"/>
                    </a:lnTo>
                    <a:lnTo>
                      <a:pt x="576" y="0"/>
                    </a:lnTo>
                    <a:lnTo>
                      <a:pt x="432" y="192"/>
                    </a:lnTo>
                    <a:lnTo>
                      <a:pt x="144" y="19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  <p:sp>
            <p:nvSpPr>
              <p:cNvPr id="70" name="Text Box 81">
                <a:extLst>
                  <a:ext uri="{FF2B5EF4-FFF2-40B4-BE49-F238E27FC236}">
                    <a16:creationId xmlns:a16="http://schemas.microsoft.com/office/drawing/2014/main" id="{3B0EFECD-B723-9270-191B-973EA542E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7711" y="5453956"/>
                <a:ext cx="504946" cy="30777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r>
                  <a:rPr lang="es-ES_tradnl"/>
                  <a:t>0/+1</a:t>
                </a:r>
              </a:p>
            </p:txBody>
          </p:sp>
          <p:sp>
            <p:nvSpPr>
              <p:cNvPr id="71" name="AutoShape 82">
                <a:extLst>
                  <a:ext uri="{FF2B5EF4-FFF2-40B4-BE49-F238E27FC236}">
                    <a16:creationId xmlns:a16="http://schemas.microsoft.com/office/drawing/2014/main" id="{3FDE1E1C-6543-FB59-7706-3EEF9A04E2EA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3142023" y="5684044"/>
                <a:ext cx="323850" cy="304800"/>
              </a:xfrm>
              <a:prstGeom prst="octagon">
                <a:avLst>
                  <a:gd name="adj" fmla="val 25000"/>
                </a:avLst>
              </a:prstGeom>
              <a:solidFill>
                <a:srgbClr val="FF0000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prstTxWarp prst="textNoShape">
                  <a:avLst/>
                </a:prstTxWarp>
              </a:bodyPr>
              <a:lstStyle/>
              <a:p>
                <a:r>
                  <a:rPr lang="es-ES_tradnl" sz="1000" dirty="0">
                    <a:latin typeface="Arial Narrow" pitchFamily="-112" charset="0"/>
                  </a:rPr>
                  <a:t>STOP</a:t>
                </a:r>
                <a:endParaRPr lang="es-ES_tradnl" sz="1600" dirty="0">
                  <a:latin typeface="Arial Narrow" pitchFamily="-112" charset="0"/>
                </a:endParaRPr>
              </a:p>
            </p:txBody>
          </p:sp>
          <p:sp>
            <p:nvSpPr>
              <p:cNvPr id="72" name="Rectangle 83">
                <a:extLst>
                  <a:ext uri="{FF2B5EF4-FFF2-40B4-BE49-F238E27FC236}">
                    <a16:creationId xmlns:a16="http://schemas.microsoft.com/office/drawing/2014/main" id="{3E67B1EC-93A9-C46D-98DB-09700826D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5823" y="6146007"/>
                <a:ext cx="3276600" cy="37623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s-ES_tradnl" dirty="0">
                    <a:solidFill>
                      <a:schemeClr val="tx1"/>
                    </a:solidFill>
                  </a:rPr>
                  <a:t>Mantisa normalizada</a:t>
                </a:r>
              </a:p>
            </p:txBody>
          </p:sp>
          <p:sp>
            <p:nvSpPr>
              <p:cNvPr id="73" name="Line 68">
                <a:extLst>
                  <a:ext uri="{FF2B5EF4-FFF2-40B4-BE49-F238E27FC236}">
                    <a16:creationId xmlns:a16="http://schemas.microsoft.com/office/drawing/2014/main" id="{368CDF37-2724-3D8D-969A-7720DD818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8889" y="4452145"/>
                <a:ext cx="9748" cy="1270000"/>
              </a:xfrm>
              <a:prstGeom prst="line">
                <a:avLst/>
              </a:prstGeom>
              <a:noFill/>
              <a:ln w="28575">
                <a:solidFill>
                  <a:schemeClr val="tx2">
                    <a:lumMod val="75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 wrap="squar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ca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452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xC1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VxC1</Template>
  <TotalTime>42136</TotalTime>
  <Words>4445</Words>
  <Application>Microsoft Macintosh PowerPoint</Application>
  <PresentationFormat>Presentación en pantalla (4:3)</PresentationFormat>
  <Paragraphs>704</Paragraphs>
  <Slides>41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  <vt:variant>
        <vt:lpstr>Presentaciones personalizadas</vt:lpstr>
      </vt:variant>
      <vt:variant>
        <vt:i4>2</vt:i4>
      </vt:variant>
    </vt:vector>
  </HeadingPairs>
  <TitlesOfParts>
    <vt:vector size="56" baseType="lpstr">
      <vt:lpstr>ＭＳ Ｐゴシック</vt:lpstr>
      <vt:lpstr>Arial</vt:lpstr>
      <vt:lpstr>Arial Narrow</vt:lpstr>
      <vt:lpstr>Calibri</vt:lpstr>
      <vt:lpstr>Courier New</vt:lpstr>
      <vt:lpstr>Geneva</vt:lpstr>
      <vt:lpstr>Gill Sans MT</vt:lpstr>
      <vt:lpstr>Helvetica</vt:lpstr>
      <vt:lpstr>Symbol</vt:lpstr>
      <vt:lpstr>Times New Roman</vt:lpstr>
      <vt:lpstr>Wingdings</vt:lpstr>
      <vt:lpstr>Wingdings 2</vt:lpstr>
      <vt:lpstr>VxC1</vt:lpstr>
      <vt:lpstr>Tema 4:  Aritmética de coma flotante</vt:lpstr>
      <vt:lpstr>Contenido</vt:lpstr>
      <vt:lpstr>Bibliografía</vt:lpstr>
      <vt:lpstr>Introducción</vt:lpstr>
      <vt:lpstr>Introducción</vt:lpstr>
      <vt:lpstr>Introducción</vt:lpstr>
      <vt:lpstr>Contenido</vt:lpstr>
      <vt:lpstr>Notas sobre la representación de números</vt:lpstr>
      <vt:lpstr>Notas sobre la representación de números</vt:lpstr>
      <vt:lpstr>Notas sobre la representación de números</vt:lpstr>
      <vt:lpstr>Notas sobre la representación de números</vt:lpstr>
      <vt:lpstr>La norma IEEE 754</vt:lpstr>
      <vt:lpstr>La norma IEEE 754</vt:lpstr>
      <vt:lpstr>La norma IEEE 754</vt:lpstr>
      <vt:lpstr>La norma IEEE 754</vt:lpstr>
      <vt:lpstr>La norma IEEE 754</vt:lpstr>
      <vt:lpstr>La norma IEEE 754</vt:lpstr>
      <vt:lpstr>La coma flotante en RISC-V</vt:lpstr>
      <vt:lpstr>La coma flotante en RISC-V</vt:lpstr>
      <vt:lpstr>La coma flotante en RISC-V</vt:lpstr>
      <vt:lpstr>La coma flotante en RISC-V</vt:lpstr>
      <vt:lpstr>La coma flotante en RISC-V</vt:lpstr>
      <vt:lpstr>La coma flotante en RISC-V</vt:lpstr>
      <vt:lpstr>La coma flotante en RISC-V</vt:lpstr>
      <vt:lpstr>La coma flotante en RISC-V</vt:lpstr>
      <vt:lpstr>Contenido</vt:lpstr>
      <vt:lpstr>Operadores de coma flotante</vt:lpstr>
      <vt:lpstr>Operadores de coma flotante</vt:lpstr>
      <vt:lpstr>Cambio de signo: fneg.s y fneg.d</vt:lpstr>
      <vt:lpstr>Emulación del cambio de signo</vt:lpstr>
      <vt:lpstr>Conversión de simple a doble precisión: fcvt.d.s</vt:lpstr>
      <vt:lpstr>Conversión de simple a doble precisión: fcvt.d.s</vt:lpstr>
      <vt:lpstr>Conversión de simple a doble precisión: fcvt.d.s</vt:lpstr>
      <vt:lpstr>Conversión de doble a simple precisión: fcvt.s.d</vt:lpstr>
      <vt:lpstr>Conversión de doble a simple precisión: fcvt.s.d</vt:lpstr>
      <vt:lpstr>Conversión de entero a doble precisión: fcvt.d.w</vt:lpstr>
      <vt:lpstr>Conversión de entero a doble precisión: fcvt.d.w</vt:lpstr>
      <vt:lpstr>Conversión de entero a doble precisión: fcvt.d.w</vt:lpstr>
      <vt:lpstr>Multiplicación: fmul.s y fmul.d</vt:lpstr>
      <vt:lpstr>Multiplicación: fmul.s y fmul.d</vt:lpstr>
      <vt:lpstr>Multiplicación: fmul.s y fmul.d</vt:lpstr>
      <vt:lpstr>Formato instrucciones</vt:lpstr>
      <vt:lpstr>Fases de ejecución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9: Sincronización de la E/S</dc:title>
  <dc:subject>Estructura de Computadores</dc:subject>
  <dc:creator>José Miguel Valiente</dc:creator>
  <cp:lastModifiedBy>ENRIQUE SALVADOR QUINTANA ORTI</cp:lastModifiedBy>
  <cp:revision>1143</cp:revision>
  <cp:lastPrinted>2013-09-09T11:28:19Z</cp:lastPrinted>
  <dcterms:created xsi:type="dcterms:W3CDTF">2012-09-17T10:12:03Z</dcterms:created>
  <dcterms:modified xsi:type="dcterms:W3CDTF">2026-08-09T15:17:13Z</dcterms:modified>
</cp:coreProperties>
</file>