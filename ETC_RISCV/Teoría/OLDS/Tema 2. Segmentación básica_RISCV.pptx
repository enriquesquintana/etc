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6" r:id="rId1"/>
  </p:sldMasterIdLst>
  <p:notesMasterIdLst>
    <p:notesMasterId r:id="rId74"/>
  </p:notesMasterIdLst>
  <p:handoutMasterIdLst>
    <p:handoutMasterId r:id="rId75"/>
  </p:handoutMasterIdLst>
  <p:sldIdLst>
    <p:sldId id="257" r:id="rId2"/>
    <p:sldId id="619" r:id="rId3"/>
    <p:sldId id="510" r:id="rId4"/>
    <p:sldId id="512" r:id="rId5"/>
    <p:sldId id="513" r:id="rId6"/>
    <p:sldId id="649" r:id="rId7"/>
    <p:sldId id="650" r:id="rId8"/>
    <p:sldId id="516" r:id="rId9"/>
    <p:sldId id="517" r:id="rId10"/>
    <p:sldId id="518" r:id="rId11"/>
    <p:sldId id="622" r:id="rId12"/>
    <p:sldId id="523" r:id="rId13"/>
    <p:sldId id="524" r:id="rId14"/>
    <p:sldId id="525" r:id="rId15"/>
    <p:sldId id="526" r:id="rId16"/>
    <p:sldId id="528" r:id="rId17"/>
    <p:sldId id="529" r:id="rId18"/>
    <p:sldId id="851" r:id="rId19"/>
    <p:sldId id="589" r:id="rId20"/>
    <p:sldId id="591" r:id="rId21"/>
    <p:sldId id="592" r:id="rId22"/>
    <p:sldId id="593" r:id="rId23"/>
    <p:sldId id="850" r:id="rId24"/>
    <p:sldId id="531" r:id="rId25"/>
    <p:sldId id="532" r:id="rId26"/>
    <p:sldId id="533" r:id="rId27"/>
    <p:sldId id="534" r:id="rId28"/>
    <p:sldId id="535" r:id="rId29"/>
    <p:sldId id="849" r:id="rId30"/>
    <p:sldId id="537" r:id="rId31"/>
    <p:sldId id="538" r:id="rId32"/>
    <p:sldId id="846" r:id="rId33"/>
    <p:sldId id="848" r:id="rId34"/>
    <p:sldId id="543" r:id="rId35"/>
    <p:sldId id="544" r:id="rId36"/>
    <p:sldId id="545" r:id="rId37"/>
    <p:sldId id="546" r:id="rId38"/>
    <p:sldId id="547" r:id="rId39"/>
    <p:sldId id="548" r:id="rId40"/>
    <p:sldId id="715" r:id="rId41"/>
    <p:sldId id="549" r:id="rId42"/>
    <p:sldId id="550" r:id="rId43"/>
    <p:sldId id="551" r:id="rId44"/>
    <p:sldId id="660" r:id="rId45"/>
    <p:sldId id="847" r:id="rId46"/>
    <p:sldId id="662" r:id="rId47"/>
    <p:sldId id="852" r:id="rId48"/>
    <p:sldId id="552" r:id="rId49"/>
    <p:sldId id="640" r:id="rId50"/>
    <p:sldId id="590" r:id="rId51"/>
    <p:sldId id="588" r:id="rId52"/>
    <p:sldId id="595" r:id="rId53"/>
    <p:sldId id="651" r:id="rId54"/>
    <p:sldId id="652" r:id="rId55"/>
    <p:sldId id="853" r:id="rId56"/>
    <p:sldId id="601" r:id="rId57"/>
    <p:sldId id="653" r:id="rId58"/>
    <p:sldId id="654" r:id="rId59"/>
    <p:sldId id="655" r:id="rId60"/>
    <p:sldId id="656" r:id="rId61"/>
    <p:sldId id="657" r:id="rId62"/>
    <p:sldId id="658" r:id="rId63"/>
    <p:sldId id="607" r:id="rId64"/>
    <p:sldId id="608" r:id="rId65"/>
    <p:sldId id="609" r:id="rId66"/>
    <p:sldId id="610" r:id="rId67"/>
    <p:sldId id="611" r:id="rId68"/>
    <p:sldId id="612" r:id="rId69"/>
    <p:sldId id="615" r:id="rId70"/>
    <p:sldId id="616" r:id="rId71"/>
    <p:sldId id="617" r:id="rId72"/>
    <p:sldId id="626" r:id="rId73"/>
  </p:sldIdLst>
  <p:sldSz cx="9144000" cy="6858000" type="screen4x3"/>
  <p:notesSz cx="6797675" cy="9928225"/>
  <p:custShowLst>
    <p:custShow name="Ruta salto" id="0">
      <p:sldLst/>
    </p:custShow>
  </p:custShowLst>
  <p:defaultTextStyle>
    <a:defPPr>
      <a:defRPr lang="en-US"/>
    </a:defPPr>
    <a:lvl1pPr algn="ctr" rtl="0" eaLnBrk="0" fontAlgn="base" hangingPunct="0">
      <a:spcBef>
        <a:spcPct val="20000"/>
      </a:spcBef>
      <a:spcAft>
        <a:spcPct val="0"/>
      </a:spcAft>
      <a:buFont typeface="Wingdings" pitchFamily="2" charset="2"/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ctr" rtl="0" eaLnBrk="0" fontAlgn="base" hangingPunct="0">
      <a:spcBef>
        <a:spcPct val="20000"/>
      </a:spcBef>
      <a:spcAft>
        <a:spcPct val="0"/>
      </a:spcAft>
      <a:buFont typeface="Wingdings" pitchFamily="2" charset="2"/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ctr" rtl="0" eaLnBrk="0" fontAlgn="base" hangingPunct="0">
      <a:spcBef>
        <a:spcPct val="20000"/>
      </a:spcBef>
      <a:spcAft>
        <a:spcPct val="0"/>
      </a:spcAft>
      <a:buFont typeface="Wingdings" pitchFamily="2" charset="2"/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ctr" rtl="0" eaLnBrk="0" fontAlgn="base" hangingPunct="0">
      <a:spcBef>
        <a:spcPct val="20000"/>
      </a:spcBef>
      <a:spcAft>
        <a:spcPct val="0"/>
      </a:spcAft>
      <a:buFont typeface="Wingdings" pitchFamily="2" charset="2"/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ctr" rtl="0" eaLnBrk="0" fontAlgn="base" hangingPunct="0">
      <a:spcBef>
        <a:spcPct val="20000"/>
      </a:spcBef>
      <a:spcAft>
        <a:spcPct val="0"/>
      </a:spcAft>
      <a:buFont typeface="Wingdings" pitchFamily="2" charset="2"/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gray"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697A"/>
    <a:srgbClr val="FF8AD8"/>
    <a:srgbClr val="FF3300"/>
    <a:srgbClr val="00CC00"/>
    <a:srgbClr val="FFFFFF"/>
    <a:srgbClr val="CC3300"/>
    <a:srgbClr val="CCFFCC"/>
    <a:srgbClr val="9999FF"/>
    <a:srgbClr val="008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8" autoAdjust="0"/>
    <p:restoredTop sz="90902" autoAdjust="0"/>
  </p:normalViewPr>
  <p:slideViewPr>
    <p:cSldViewPr snapToGrid="0">
      <p:cViewPr varScale="1">
        <p:scale>
          <a:sx n="205" d="100"/>
          <a:sy n="205" d="100"/>
        </p:scale>
        <p:origin x="4000" y="184"/>
      </p:cViewPr>
      <p:guideLst>
        <p:guide orient="horz" pos="4319"/>
        <p:guide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-1902" y="-10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21047"/>
            <a:ext cx="2968663" cy="292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6" tIns="45666" rIns="91336" bIns="45666" numCol="1" anchor="ctr" anchorCtr="0" compatLnSpc="1">
            <a:prstTxWarp prst="textNoShape">
              <a:avLst/>
            </a:prstTxWarp>
            <a:spAutoFit/>
          </a:bodyPr>
          <a:lstStyle>
            <a:lvl1pPr algn="l" defTabSz="914472">
              <a:buFontTx/>
              <a:buNone/>
              <a:defRPr sz="1300" b="1">
                <a:solidFill>
                  <a:schemeClr val="bg1"/>
                </a:solidFill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8295" y="121047"/>
            <a:ext cx="2892660" cy="292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6" tIns="45666" rIns="91336" bIns="45666" numCol="1" anchor="ctr" anchorCtr="0" compatLnSpc="1">
            <a:prstTxWarp prst="textNoShape">
              <a:avLst/>
            </a:prstTxWarp>
            <a:spAutoFit/>
          </a:bodyPr>
          <a:lstStyle>
            <a:lvl1pPr algn="r" defTabSz="914472">
              <a:buFontTx/>
              <a:buNone/>
              <a:defRPr sz="1300" b="1">
                <a:solidFill>
                  <a:schemeClr val="bg1"/>
                </a:solidFill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614386"/>
            <a:ext cx="2968663" cy="292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6" tIns="45666" rIns="91336" bIns="45666" numCol="1" anchor="b" anchorCtr="0" compatLnSpc="1">
            <a:prstTxWarp prst="textNoShape">
              <a:avLst/>
            </a:prstTxWarp>
            <a:spAutoFit/>
          </a:bodyPr>
          <a:lstStyle>
            <a:lvl1pPr algn="l" defTabSz="914472">
              <a:buFontTx/>
              <a:buNone/>
              <a:defRPr sz="1300" b="1">
                <a:solidFill>
                  <a:schemeClr val="bg1"/>
                </a:solidFill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8295" y="9614386"/>
            <a:ext cx="2892660" cy="292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6" tIns="45666" rIns="91336" bIns="45666" numCol="1" anchor="b" anchorCtr="0" compatLnSpc="1">
            <a:prstTxWarp prst="textNoShape">
              <a:avLst/>
            </a:prstTxWarp>
            <a:spAutoFit/>
          </a:bodyPr>
          <a:lstStyle>
            <a:lvl1pPr algn="r" defTabSz="914472">
              <a:buFontTx/>
              <a:buNone/>
              <a:defRPr sz="1300" b="1">
                <a:solidFill>
                  <a:schemeClr val="bg1"/>
                </a:solidFill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E2AEC8A5-E10B-4D8C-B8C5-EBD3EC80F16F}" type="slidenum">
              <a:rPr lang="es-ES_tradnl"/>
              <a:pPr>
                <a:defRPr/>
              </a:pPr>
              <a:t>‹Nº›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3636771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4342" cy="495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6" tIns="45666" rIns="91336" bIns="45666" numCol="1" anchor="t" anchorCtr="0" compatLnSpc="1">
            <a:prstTxWarp prst="textNoShape">
              <a:avLst/>
            </a:prstTxWarp>
          </a:bodyPr>
          <a:lstStyle>
            <a:lvl1pPr algn="l" defTabSz="914472">
              <a:spcBef>
                <a:spcPct val="0"/>
              </a:spcBef>
              <a:buFontTx/>
              <a:buNone/>
              <a:defRPr sz="1300">
                <a:latin typeface="Times New Roman" pitchFamily="48" charset="0"/>
                <a:ea typeface="ＭＳ Ｐゴシック" pitchFamily="48" charset="-128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3334" y="1"/>
            <a:ext cx="2944341" cy="495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6" tIns="45666" rIns="91336" bIns="45666" numCol="1" anchor="t" anchorCtr="0" compatLnSpc="1">
            <a:prstTxWarp prst="textNoShape">
              <a:avLst/>
            </a:prstTxWarp>
          </a:bodyPr>
          <a:lstStyle>
            <a:lvl1pPr algn="r" defTabSz="914472">
              <a:spcBef>
                <a:spcPct val="0"/>
              </a:spcBef>
              <a:buFontTx/>
              <a:buNone/>
              <a:defRPr sz="1300">
                <a:latin typeface="Times New Roman" pitchFamily="48" charset="0"/>
                <a:ea typeface="ＭＳ Ｐゴシック" pitchFamily="48" charset="-128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6093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5952" y="4715406"/>
            <a:ext cx="4985772" cy="4467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6" tIns="45666" rIns="91336" bIns="456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noProof="0"/>
              <a:t>Haga clic para modificar el estilo de texto del patrón</a:t>
            </a:r>
          </a:p>
          <a:p>
            <a:pPr lvl="1"/>
            <a:r>
              <a:rPr lang="es-ES_tradnl" noProof="0"/>
              <a:t>Segundo nivel</a:t>
            </a:r>
          </a:p>
          <a:p>
            <a:pPr lvl="2"/>
            <a:r>
              <a:rPr lang="es-ES_tradnl" noProof="0"/>
              <a:t>Tercer nivel</a:t>
            </a:r>
          </a:p>
          <a:p>
            <a:pPr lvl="3"/>
            <a:r>
              <a:rPr lang="es-ES_tradnl" noProof="0"/>
              <a:t>Cuarto nivel</a:t>
            </a:r>
          </a:p>
          <a:p>
            <a:pPr lvl="4"/>
            <a:r>
              <a:rPr lang="es-ES_tradnl" noProof="0"/>
              <a:t>Quinto nivel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353"/>
            <a:ext cx="2944342" cy="495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6" tIns="45666" rIns="91336" bIns="45666" numCol="1" anchor="b" anchorCtr="0" compatLnSpc="1">
            <a:prstTxWarp prst="textNoShape">
              <a:avLst/>
            </a:prstTxWarp>
          </a:bodyPr>
          <a:lstStyle>
            <a:lvl1pPr algn="l" defTabSz="914472">
              <a:spcBef>
                <a:spcPct val="0"/>
              </a:spcBef>
              <a:buFontTx/>
              <a:buNone/>
              <a:defRPr sz="1300">
                <a:latin typeface="Times New Roman" pitchFamily="48" charset="0"/>
                <a:ea typeface="ＭＳ Ｐゴシック" pitchFamily="48" charset="-128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3334" y="9432353"/>
            <a:ext cx="2944341" cy="495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6" tIns="45666" rIns="91336" bIns="45666" numCol="1" anchor="b" anchorCtr="0" compatLnSpc="1">
            <a:prstTxWarp prst="textNoShape">
              <a:avLst/>
            </a:prstTxWarp>
          </a:bodyPr>
          <a:lstStyle>
            <a:lvl1pPr algn="r" defTabSz="914472">
              <a:spcBef>
                <a:spcPct val="0"/>
              </a:spcBef>
              <a:buFontTx/>
              <a:buNone/>
              <a:defRPr sz="1300">
                <a:latin typeface="Times New Roman" pitchFamily="48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AB90BAE6-DC3E-4CE4-BA88-EF7C5446036B}" type="slidenum">
              <a:rPr lang="es-ES_tradnl"/>
              <a:pPr>
                <a:defRPr/>
              </a:pPr>
              <a:t>‹Nº›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5842628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31" charset="0"/>
        <a:ea typeface="ＭＳ Ｐゴシック" pitchFamily="4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31" charset="0"/>
        <a:ea typeface="ＭＳ Ｐゴシック" pitchFamily="3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31" charset="0"/>
        <a:ea typeface="ＭＳ Ｐゴシック" pitchFamily="3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31" charset="0"/>
        <a:ea typeface="ＭＳ Ｐゴシック" pitchFamily="3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31" charset="0"/>
        <a:ea typeface="ＭＳ Ｐゴシック" pitchFamily="3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CA5636-1F55-41A3-BDB9-3417D041D1D5}" type="slidenum">
              <a:rPr lang="es-ES_tradnl" smtClean="0">
                <a:latin typeface="Times New Roman" pitchFamily="18" charset="0"/>
                <a:ea typeface="ＭＳ Ｐゴシック" pitchFamily="34" charset="-128"/>
              </a:rPr>
              <a:pPr/>
              <a:t>1</a:t>
            </a:fld>
            <a:endParaRPr lang="es-ES_tradnl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a-E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ABDE1E6-239F-D443-9731-4B66D06751F0}" type="slidenum">
              <a:rPr lang="es-ES"/>
              <a:pPr/>
              <a:t>3</a:t>
            </a:fld>
            <a:endParaRPr lang="es-ES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err="1">
                <a:solidFill>
                  <a:srgbClr val="FF0000"/>
                </a:solidFill>
                <a:latin typeface="Times New Roman" pitchFamily="-84" charset="0"/>
              </a:rPr>
              <a:t>Eliminado</a:t>
            </a:r>
            <a:r>
              <a:rPr lang="en-US" dirty="0">
                <a:solidFill>
                  <a:srgbClr val="FF0000"/>
                </a:solidFill>
                <a:latin typeface="Times New Roman" pitchFamily="-84" charset="0"/>
              </a:rPr>
              <a:t>: Control de la </a:t>
            </a:r>
            <a:r>
              <a:rPr lang="en-US" dirty="0" err="1">
                <a:solidFill>
                  <a:srgbClr val="FF0000"/>
                </a:solidFill>
                <a:latin typeface="Times New Roman" pitchFamily="-84" charset="0"/>
              </a:rPr>
              <a:t>segmentación</a:t>
            </a:r>
            <a:endParaRPr lang="en-US" dirty="0">
              <a:solidFill>
                <a:srgbClr val="FF0000"/>
              </a:solidFill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0191F9C-46D4-C14C-84EA-5AD613C8F1C2}" type="slidenum">
              <a:rPr lang="es-ES"/>
              <a:pPr/>
              <a:t>4</a:t>
            </a:fld>
            <a:endParaRPr lang="es-ES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F5D4CAD-EB91-934F-BF0A-40CB411C5460}" type="slidenum">
              <a:rPr lang="es-ES"/>
              <a:pPr/>
              <a:t>5</a:t>
            </a:fld>
            <a:endParaRPr lang="es-ES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F5D4CAD-EB91-934F-BF0A-40CB411C5460}" type="slidenum">
              <a:rPr lang="es-ES"/>
              <a:pPr/>
              <a:t>6</a:t>
            </a:fld>
            <a:endParaRPr lang="es-ES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4C4305-309A-6340-9488-2B57A77CD313}" type="slidenum">
              <a:rPr lang="es-ES"/>
              <a:pPr/>
              <a:t>8</a:t>
            </a:fld>
            <a:endParaRPr lang="es-ES"/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7E53C0-93A1-D644-A7EB-B08EDFEF0586}" type="slidenum">
              <a:rPr lang="es-ES"/>
              <a:pPr/>
              <a:t>9</a:t>
            </a:fld>
            <a:endParaRPr lang="es-ES"/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82B4DAA-9E9B-2D41-91A4-60DB7A86A5AB}" type="slidenum">
              <a:rPr lang="es-ES"/>
              <a:pPr/>
              <a:t>10</a:t>
            </a:fld>
            <a:endParaRPr lang="es-ES"/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12130F-90F5-9843-8A4A-6874EDBCEF0C}" type="slidenum">
              <a:rPr lang="es-ES"/>
              <a:pPr/>
              <a:t>12</a:t>
            </a:fld>
            <a:endParaRPr lang="es-ES"/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5E03C2-75CF-0141-9D17-73699F82B5BC}" type="slidenum">
              <a:rPr lang="es-ES"/>
              <a:pPr/>
              <a:t>13</a:t>
            </a:fld>
            <a:endParaRPr lang="es-ES"/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B82D5E-0D0C-C44E-BA45-23CC76237CFD}" type="slidenum">
              <a:rPr lang="es-ES"/>
              <a:pPr/>
              <a:t>14</a:t>
            </a:fld>
            <a:endParaRPr lang="es-ES"/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A69CB7F-2AAC-6A4F-808E-E223D31B41B0}" type="slidenum">
              <a:rPr lang="ca-ES"/>
              <a:pPr/>
              <a:t>15</a:t>
            </a:fld>
            <a:endParaRPr lang="ca-ES"/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3A2552-15E1-6442-B915-02CE265BF764}" type="slidenum">
              <a:rPr lang="ca-ES"/>
              <a:pPr/>
              <a:t>16</a:t>
            </a:fld>
            <a:endParaRPr lang="ca-ES"/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423270-A5A0-FB4D-BD5D-66D6523B9374}" type="slidenum">
              <a:rPr lang="ca-ES"/>
              <a:pPr/>
              <a:t>17</a:t>
            </a:fld>
            <a:endParaRPr lang="ca-ES"/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32FFC19-CB55-5F4A-9C30-B8F7A4256B43}" type="slidenum">
              <a:rPr lang="ca-ES"/>
              <a:pPr/>
              <a:t>19</a:t>
            </a:fld>
            <a:endParaRPr lang="ca-ES"/>
          </a:p>
        </p:txBody>
      </p:sp>
      <p:sp>
        <p:nvSpPr>
          <p:cNvPr id="211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46A0C8-6F92-9543-A538-23B36AC29B55}" type="slidenum">
              <a:rPr lang="ca-ES"/>
              <a:pPr/>
              <a:t>20</a:t>
            </a:fld>
            <a:endParaRPr lang="ca-ES"/>
          </a:p>
        </p:txBody>
      </p:sp>
      <p:sp>
        <p:nvSpPr>
          <p:cNvPr id="214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5EBC6A1-924D-4849-B78B-0AFE034F71B5}" type="slidenum">
              <a:rPr lang="ca-ES"/>
              <a:pPr/>
              <a:t>21</a:t>
            </a:fld>
            <a:endParaRPr lang="ca-ES"/>
          </a:p>
        </p:txBody>
      </p:sp>
      <p:sp>
        <p:nvSpPr>
          <p:cNvPr id="215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E50B49-1EBB-514B-9276-D42047A0D4CE}" type="slidenum">
              <a:rPr lang="ca-ES"/>
              <a:pPr/>
              <a:t>22</a:t>
            </a:fld>
            <a:endParaRPr lang="ca-ES"/>
          </a:p>
        </p:txBody>
      </p:sp>
      <p:sp>
        <p:nvSpPr>
          <p:cNvPr id="216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6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020DFD-E790-E34B-8EFF-65CE47FCC483}" type="slidenum">
              <a:rPr lang="ca-ES"/>
              <a:pPr/>
              <a:t>24</a:t>
            </a:fld>
            <a:endParaRPr lang="ca-ES"/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71FA70-2E97-E745-A9F6-03E87122B6CD}" type="slidenum">
              <a:rPr lang="ca-ES"/>
              <a:pPr/>
              <a:t>25</a:t>
            </a:fld>
            <a:endParaRPr lang="ca-ES"/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049192-3D41-3A4D-A1A7-F0F63F0A2971}" type="slidenum">
              <a:rPr lang="ca-ES"/>
              <a:pPr/>
              <a:t>26</a:t>
            </a:fld>
            <a:endParaRPr lang="ca-ES"/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E5DB1BD-C534-E141-8FB3-413AB436EC25}" type="slidenum">
              <a:rPr lang="ca-ES"/>
              <a:pPr/>
              <a:t>27</a:t>
            </a:fld>
            <a:endParaRPr lang="ca-ES"/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78197D9-FD85-D544-B226-666136A51AF2}" type="slidenum">
              <a:rPr lang="ca-ES"/>
              <a:pPr/>
              <a:t>28</a:t>
            </a:fld>
            <a:endParaRPr lang="ca-ES"/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2F999BD-6098-034D-B323-1A3250307362}" type="slidenum">
              <a:rPr lang="ca-ES"/>
              <a:pPr/>
              <a:t>30</a:t>
            </a:fld>
            <a:endParaRPr lang="ca-ES"/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8EE72AB-CF7C-DF4E-9A6C-2E3396E3CC08}" type="slidenum">
              <a:rPr lang="ca-ES"/>
              <a:pPr/>
              <a:t>31</a:t>
            </a:fld>
            <a:endParaRPr lang="ca-ES"/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131C3C-4335-3640-98A2-58AA504CE4D7}" type="slidenum">
              <a:rPr lang="ca-ES"/>
              <a:pPr/>
              <a:t>34</a:t>
            </a:fld>
            <a:endParaRPr lang="ca-ES"/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CCBE7B-8FB8-0E42-AC80-73E71BD34591}" type="slidenum">
              <a:rPr lang="ca-ES"/>
              <a:pPr/>
              <a:t>35</a:t>
            </a:fld>
            <a:endParaRPr lang="ca-ES"/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0B1CB6D-D622-694A-A745-B4CA7543DA95}" type="slidenum">
              <a:rPr lang="ca-ES"/>
              <a:pPr/>
              <a:t>36</a:t>
            </a:fld>
            <a:endParaRPr lang="ca-ES"/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CE18F4-F24A-254A-AD34-13A04B8CF47B}" type="slidenum">
              <a:rPr lang="ca-ES"/>
              <a:pPr/>
              <a:t>37</a:t>
            </a:fld>
            <a:endParaRPr lang="ca-ES"/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4428635-FD99-D44F-B16D-06FF41C9B80C}" type="slidenum">
              <a:rPr lang="ca-ES"/>
              <a:pPr/>
              <a:t>38</a:t>
            </a:fld>
            <a:endParaRPr lang="ca-ES"/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9B05655-2B47-3F49-8A21-15BD245B5468}" type="slidenum">
              <a:rPr lang="ca-ES"/>
              <a:pPr/>
              <a:t>39</a:t>
            </a:fld>
            <a:endParaRPr lang="ca-ES"/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9B05655-2B47-3F49-8A21-15BD245B5468}" type="slidenum">
              <a:rPr lang="ca-ES"/>
              <a:pPr/>
              <a:t>40</a:t>
            </a:fld>
            <a:endParaRPr lang="ca-ES"/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8933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66DEC0-C99B-524F-B5EA-BFB2BAE809AB}" type="slidenum">
              <a:rPr lang="ca-ES"/>
              <a:pPr/>
              <a:t>41</a:t>
            </a:fld>
            <a:endParaRPr lang="ca-ES"/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3C65427-E7AC-F845-9F7F-C4690053E635}" type="slidenum">
              <a:rPr lang="ca-ES"/>
              <a:pPr/>
              <a:t>42</a:t>
            </a:fld>
            <a:endParaRPr lang="ca-ES"/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0DD6C8E-436A-874A-85B2-164A837D5991}" type="slidenum">
              <a:rPr lang="ca-ES"/>
              <a:pPr/>
              <a:t>43</a:t>
            </a:fld>
            <a:endParaRPr lang="ca-ES"/>
          </a:p>
        </p:txBody>
      </p:sp>
      <p:sp>
        <p:nvSpPr>
          <p:cNvPr id="173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6AAE236-1FB9-F243-B3CC-D3B49501D861}" type="slidenum">
              <a:rPr lang="ca-ES"/>
              <a:pPr/>
              <a:t>46</a:t>
            </a:fld>
            <a:endParaRPr lang="ca-ES"/>
          </a:p>
        </p:txBody>
      </p:sp>
      <p:sp>
        <p:nvSpPr>
          <p:cNvPr id="205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5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E2FC2-3FE0-2345-C440-8CC628C5B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7">
            <a:extLst>
              <a:ext uri="{FF2B5EF4-FFF2-40B4-BE49-F238E27FC236}">
                <a16:creationId xmlns:a16="http://schemas.microsoft.com/office/drawing/2014/main" id="{95DBFC4C-90B5-0954-C355-257407037B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6AAE236-1FB9-F243-B3CC-D3B49501D861}" type="slidenum">
              <a:rPr lang="ca-ES"/>
              <a:pPr/>
              <a:t>47</a:t>
            </a:fld>
            <a:endParaRPr lang="ca-ES"/>
          </a:p>
        </p:txBody>
      </p:sp>
      <p:sp>
        <p:nvSpPr>
          <p:cNvPr id="205827" name="Rectangle 2">
            <a:extLst>
              <a:ext uri="{FF2B5EF4-FFF2-40B4-BE49-F238E27FC236}">
                <a16:creationId xmlns:a16="http://schemas.microsoft.com/office/drawing/2014/main" id="{79DEB6EC-839A-47D9-49E2-597EE4EB77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5828" name="Rectangle 3">
            <a:extLst>
              <a:ext uri="{FF2B5EF4-FFF2-40B4-BE49-F238E27FC236}">
                <a16:creationId xmlns:a16="http://schemas.microsoft.com/office/drawing/2014/main" id="{D7BB3DE9-BBB2-E817-4EA9-60C66F12B5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99515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5F2A88-47EE-0242-ADC7-6ABC5D8651ED}" type="slidenum">
              <a:rPr lang="ca-ES"/>
              <a:pPr/>
              <a:t>48</a:t>
            </a:fld>
            <a:endParaRPr lang="ca-ES"/>
          </a:p>
        </p:txBody>
      </p:sp>
      <p:sp>
        <p:nvSpPr>
          <p:cNvPr id="174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F992C13-6E9A-A24F-A98C-978E2E01FCD7}" type="slidenum">
              <a:rPr lang="ca-ES"/>
              <a:pPr/>
              <a:t>49</a:t>
            </a:fld>
            <a:endParaRPr lang="ca-ES"/>
          </a:p>
        </p:txBody>
      </p:sp>
      <p:sp>
        <p:nvSpPr>
          <p:cNvPr id="208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8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6E5D9AD-944D-574C-9116-9748263A49F4}" type="slidenum">
              <a:rPr lang="ca-ES"/>
              <a:pPr/>
              <a:t>50</a:t>
            </a:fld>
            <a:endParaRPr lang="ca-ES"/>
          </a:p>
        </p:txBody>
      </p:sp>
      <p:sp>
        <p:nvSpPr>
          <p:cNvPr id="212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2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CCFCF0-F555-7243-B491-7F385C20BB1B}" type="slidenum">
              <a:rPr lang="ca-ES"/>
              <a:pPr/>
              <a:t>51</a:t>
            </a:fld>
            <a:endParaRPr lang="ca-ES"/>
          </a:p>
        </p:txBody>
      </p:sp>
      <p:sp>
        <p:nvSpPr>
          <p:cNvPr id="210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0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931AA93-AAB9-A045-A430-DD4C562B4234}" type="slidenum">
              <a:rPr lang="ca-ES"/>
              <a:pPr/>
              <a:t>52</a:t>
            </a:fld>
            <a:endParaRPr lang="ca-ES"/>
          </a:p>
        </p:txBody>
      </p:sp>
      <p:sp>
        <p:nvSpPr>
          <p:cNvPr id="218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0937" cy="37211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11259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D79530-756D-3A49-B2FA-FAAA01CEF30F}" type="slidenum">
              <a:rPr lang="ca-ES"/>
              <a:pPr/>
              <a:t>54</a:t>
            </a:fld>
            <a:endParaRPr lang="ca-ES"/>
          </a:p>
        </p:txBody>
      </p:sp>
      <p:sp>
        <p:nvSpPr>
          <p:cNvPr id="219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19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EDABFA-456A-464D-BEC5-66C3E0400211}" type="slidenum">
              <a:rPr lang="ca-ES"/>
              <a:pPr/>
              <a:t>56</a:t>
            </a:fld>
            <a:endParaRPr lang="ca-ES"/>
          </a:p>
        </p:txBody>
      </p:sp>
      <p:sp>
        <p:nvSpPr>
          <p:cNvPr id="224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0937" cy="37211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59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421535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0937" cy="37211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60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828967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0937" cy="37211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62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789116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09D8DA-9C92-574C-BACA-FAEDB2C38D88}" type="slidenum">
              <a:rPr lang="ca-ES"/>
              <a:pPr/>
              <a:t>63</a:t>
            </a:fld>
            <a:endParaRPr lang="ca-ES"/>
          </a:p>
        </p:txBody>
      </p:sp>
      <p:sp>
        <p:nvSpPr>
          <p:cNvPr id="230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AA25B13-0DB3-6E4E-8C14-5B5BC1492D21}" type="slidenum">
              <a:rPr lang="ca-ES"/>
              <a:pPr/>
              <a:t>64</a:t>
            </a:fld>
            <a:endParaRPr lang="ca-ES"/>
          </a:p>
        </p:txBody>
      </p:sp>
      <p:sp>
        <p:nvSpPr>
          <p:cNvPr id="231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1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88FEB54-E831-1A45-B508-5A1F0452372B}" type="slidenum">
              <a:rPr lang="ca-ES"/>
              <a:pPr/>
              <a:t>65</a:t>
            </a:fld>
            <a:endParaRPr lang="ca-ES"/>
          </a:p>
        </p:txBody>
      </p:sp>
      <p:sp>
        <p:nvSpPr>
          <p:cNvPr id="232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045420-8CD9-A844-AD8A-E184D86BDAA5}" type="slidenum">
              <a:rPr lang="ca-ES"/>
              <a:pPr/>
              <a:t>66</a:t>
            </a:fld>
            <a:endParaRPr lang="ca-ES"/>
          </a:p>
        </p:txBody>
      </p:sp>
      <p:sp>
        <p:nvSpPr>
          <p:cNvPr id="233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3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76C8B3-2B2D-B64B-B1A7-17FCBFE72F76}" type="slidenum">
              <a:rPr lang="ca-ES"/>
              <a:pPr/>
              <a:t>67</a:t>
            </a:fld>
            <a:endParaRPr lang="ca-ES"/>
          </a:p>
        </p:txBody>
      </p:sp>
      <p:sp>
        <p:nvSpPr>
          <p:cNvPr id="234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E97AE1-75D9-CC42-9D38-617F3E1F2914}" type="slidenum">
              <a:rPr lang="ca-ES"/>
              <a:pPr/>
              <a:t>68</a:t>
            </a:fld>
            <a:endParaRPr lang="ca-ES"/>
          </a:p>
        </p:txBody>
      </p:sp>
      <p:sp>
        <p:nvSpPr>
          <p:cNvPr id="235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7"/>
          <p:cNvSpPr/>
          <p:nvPr/>
        </p:nvSpPr>
        <p:spPr>
          <a:xfrm>
            <a:off x="755576" y="141277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50000" t="50000" r="100000" b="1250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5" name="Oval 8"/>
          <p:cNvSpPr/>
          <p:nvPr/>
        </p:nvSpPr>
        <p:spPr>
          <a:xfrm>
            <a:off x="971550" y="1268413"/>
            <a:ext cx="63500" cy="65087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5608" y="435936"/>
            <a:ext cx="7406640" cy="1472184"/>
          </a:xfrm>
        </p:spPr>
        <p:txBody>
          <a:bodyPr anchor="b"/>
          <a:lstStyle>
            <a:lvl1pPr algn="l" latinLnBrk="0">
              <a:defRPr lang="es-ES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03648" y="2636912"/>
            <a:ext cx="7406640" cy="1752600"/>
          </a:xfrm>
        </p:spPr>
        <p:txBody>
          <a:bodyPr>
            <a:normAutofit/>
          </a:bodyPr>
          <a:lstStyle>
            <a:lvl1pPr marL="73152" indent="0" algn="l" latinLnBrk="0">
              <a:buNone/>
              <a:defRPr lang="es-ES" sz="24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8235F0-53CE-465E-8D3A-9DC1B1486A06}" type="datetime1">
              <a:rPr lang="es-ES" smtClean="0"/>
              <a:pPr>
                <a:defRPr/>
              </a:pPr>
              <a:t>20/1/26</a:t>
            </a:fld>
            <a:endParaRPr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694CD1-4EBB-4CC9-A43D-A4D61A4E6E64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>
              <a:buClr>
                <a:schemeClr val="accent2">
                  <a:lumMod val="75000"/>
                </a:schemeClr>
              </a:buClr>
              <a:defRPr/>
            </a:lvl1pPr>
            <a:lvl2pPr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  <a:defRPr/>
            </a:lvl2pPr>
          </a:lstStyle>
          <a:p>
            <a:pPr lvl="0"/>
            <a:r>
              <a:rPr lang="es-ES" noProof="0" dirty="0"/>
              <a:t>Haga clic para modificar el estilo de texto del patrón</a:t>
            </a:r>
          </a:p>
          <a:p>
            <a:pPr lvl="1"/>
            <a:r>
              <a:rPr lang="es-ES" noProof="0" dirty="0"/>
              <a:t>Segundo nivel</a:t>
            </a:r>
          </a:p>
          <a:p>
            <a:pPr lvl="2"/>
            <a:r>
              <a:rPr lang="es-ES" noProof="0" dirty="0"/>
              <a:t>Tercer nivel</a:t>
            </a:r>
          </a:p>
          <a:p>
            <a:pPr lvl="3"/>
            <a:r>
              <a:rPr lang="es-ES" noProof="0" dirty="0"/>
              <a:t>Cuarto nivel</a:t>
            </a:r>
          </a:p>
          <a:p>
            <a:pPr lvl="4"/>
            <a:r>
              <a:rPr lang="es-ES" noProof="0" dirty="0"/>
              <a:t>Quinto nivel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pPr>
              <a:defRPr/>
            </a:pPr>
            <a:fld id="{1069CC27-7017-486F-93F9-D5B463D0B764}" type="datetime1">
              <a:rPr lang="es-ES" smtClean="0"/>
              <a:pPr>
                <a:defRPr/>
              </a:pPr>
              <a:t>20/1/26</a:t>
            </a:fld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/>
          <p:nvPr/>
        </p:nvSpPr>
        <p:spPr bwMode="invGray">
          <a:xfrm>
            <a:off x="2286000" y="0"/>
            <a:ext cx="762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6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50000" t="50000" r="100000" b="1250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7" name="Oval 8"/>
          <p:cNvSpPr/>
          <p:nvPr/>
        </p:nvSpPr>
        <p:spPr>
          <a:xfrm>
            <a:off x="2408238" y="2746375"/>
            <a:ext cx="63500" cy="63500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 latinLnBrk="0">
              <a:lnSpc>
                <a:spcPts val="4500"/>
              </a:lnSpc>
              <a:buNone/>
              <a:defRPr lang="es-ES"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100138"/>
            <a:ext cx="6400800" cy="1509712"/>
          </a:xfrm>
        </p:spPr>
        <p:txBody>
          <a:bodyPr anchor="b"/>
          <a:lstStyle>
            <a:lvl1pPr marL="27432" indent="0" latinLnBrk="0">
              <a:lnSpc>
                <a:spcPts val="2300"/>
              </a:lnSpc>
              <a:spcBef>
                <a:spcPts val="0"/>
              </a:spcBef>
              <a:buNone/>
              <a:defRPr lang="es-ES"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lang="es-ES"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749D96-D3F7-464B-AE22-5BC30077CC73}" type="datetime1">
              <a:rPr lang="es-ES" smtClean="0"/>
              <a:pPr>
                <a:defRPr/>
              </a:pPr>
              <a:t>20/1/26</a:t>
            </a:fld>
            <a:endParaRPr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99BF12-8ABE-4E61-9E56-D7A65AFDF1BE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Contenido 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e 8"/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6" name="Oval 9"/>
          <p:cNvSpPr/>
          <p:nvPr/>
        </p:nvSpPr>
        <p:spPr>
          <a:xfrm>
            <a:off x="168275" y="20638"/>
            <a:ext cx="1703388" cy="170338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7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85000" t="100000" r="1000000" b="30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116632"/>
            <a:ext cx="8136904" cy="936104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3568" y="1340768"/>
            <a:ext cx="3888432" cy="4824536"/>
          </a:xfrm>
        </p:spPr>
        <p:txBody>
          <a:bodyPr>
            <a:normAutofit/>
          </a:bodyPr>
          <a:lstStyle>
            <a:lvl1pPr latinLnBrk="0">
              <a:defRPr lang="es-ES" sz="2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s-ES" sz="20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s-E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s-E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s-E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032" y="1340768"/>
            <a:ext cx="4001648" cy="4824536"/>
          </a:xfrm>
        </p:spPr>
        <p:txBody>
          <a:bodyPr>
            <a:normAutofit/>
          </a:bodyPr>
          <a:lstStyle>
            <a:lvl1pPr algn="l" rtl="0" eaLnBrk="0" fontAlgn="base" latinLnBrk="0" hangingPunct="0">
              <a:spcAft>
                <a:spcPct val="0"/>
              </a:spcAft>
              <a:defRPr lang="es-ES" sz="2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s-ES" sz="20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s-E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s-E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s-E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C7DEBA-46E8-4090-8DBD-6334ED08EC11}" type="datetime1">
              <a:rPr lang="es-ES" smtClean="0"/>
              <a:pPr>
                <a:defRPr/>
              </a:pPr>
              <a:t>20/1/26</a:t>
            </a:fld>
            <a:endParaRPr dirty="0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CB5AE4-A292-4B6C-BA7D-67E7BB52BE03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116632"/>
            <a:ext cx="8250120" cy="864096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0B0E74-F7AB-4C11-B164-731583444FAF}" type="datetime1">
              <a:rPr lang="es-ES" smtClean="0"/>
              <a:pPr>
                <a:defRPr/>
              </a:pPr>
              <a:t>20/1/26</a:t>
            </a:fld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035083-A155-4028-8A67-2E61E721E30B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B24627-BD8E-4DC4-8228-A63DC6655C26}" type="datetime1">
              <a:rPr lang="es-ES" smtClean="0"/>
              <a:pPr>
                <a:defRPr/>
              </a:pPr>
              <a:t>20/1/26</a:t>
            </a:fld>
            <a:endParaRPr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3512A6-B289-4C6F-A5FC-D4B27A6C4E6A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logoDISCA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96188" y="5516563"/>
            <a:ext cx="1436687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2"/>
          <p:cNvSpPr txBox="1">
            <a:spLocks noChangeArrowheads="1"/>
          </p:cNvSpPr>
          <p:nvPr userDrawn="1"/>
        </p:nvSpPr>
        <p:spPr>
          <a:xfrm>
            <a:off x="755650" y="115888"/>
            <a:ext cx="7772400" cy="1676400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pPr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es-ES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Estructura de Computadores</a:t>
            </a:r>
            <a:endParaRPr lang="ca-ES" dirty="0"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4 CuadroTexto"/>
          <p:cNvSpPr txBox="1"/>
          <p:nvPr userDrawn="1"/>
        </p:nvSpPr>
        <p:spPr>
          <a:xfrm>
            <a:off x="2565400" y="1844675"/>
            <a:ext cx="4152900" cy="904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2400" dirty="0">
                <a:solidFill>
                  <a:schemeClr val="accent1">
                    <a:lumMod val="5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Grado de Ingeniería Informática</a:t>
            </a:r>
          </a:p>
          <a:p>
            <a:pPr>
              <a:defRPr/>
            </a:pPr>
            <a:r>
              <a:rPr lang="es-ES" sz="2400" dirty="0">
                <a:solidFill>
                  <a:schemeClr val="accent1">
                    <a:lumMod val="5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ETSINF</a:t>
            </a:r>
          </a:p>
        </p:txBody>
      </p:sp>
      <p:sp>
        <p:nvSpPr>
          <p:cNvPr id="7" name="Oval 7"/>
          <p:cNvSpPr/>
          <p:nvPr userDrawn="1"/>
        </p:nvSpPr>
        <p:spPr>
          <a:xfrm>
            <a:off x="204788" y="1844675"/>
            <a:ext cx="1271587" cy="1270000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8" name="Pie 6"/>
          <p:cNvSpPr/>
          <p:nvPr userDrawn="1"/>
        </p:nvSpPr>
        <p:spPr>
          <a:xfrm>
            <a:off x="-1422400" y="-1295400"/>
            <a:ext cx="2844800" cy="25908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9" name="Oval 7"/>
          <p:cNvSpPr/>
          <p:nvPr userDrawn="1"/>
        </p:nvSpPr>
        <p:spPr>
          <a:xfrm>
            <a:off x="7440613" y="1376363"/>
            <a:ext cx="1452562" cy="1450975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0" name="Donut 10"/>
          <p:cNvSpPr/>
          <p:nvPr userDrawn="1"/>
        </p:nvSpPr>
        <p:spPr>
          <a:xfrm rot="2315675">
            <a:off x="7097228" y="2075521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85000" t="100000" r="1000000" b="30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1" name="Donut 10"/>
          <p:cNvSpPr/>
          <p:nvPr userDrawn="1"/>
        </p:nvSpPr>
        <p:spPr>
          <a:xfrm rot="2315675">
            <a:off x="3025756" y="5560002"/>
            <a:ext cx="560076" cy="548587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85000" t="100000" r="1000000" b="30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2" name="11 Arco de bloque"/>
          <p:cNvSpPr/>
          <p:nvPr userDrawn="1"/>
        </p:nvSpPr>
        <p:spPr>
          <a:xfrm rot="5400000">
            <a:off x="-1404144" y="1988344"/>
            <a:ext cx="2808287" cy="2809876"/>
          </a:xfrm>
          <a:prstGeom prst="blockArc">
            <a:avLst>
              <a:gd name="adj1" fmla="val 10800000"/>
              <a:gd name="adj2" fmla="val 21582511"/>
              <a:gd name="adj3" fmla="val 0"/>
            </a:avLst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3" name="12 Arco de bloque"/>
          <p:cNvSpPr/>
          <p:nvPr userDrawn="1"/>
        </p:nvSpPr>
        <p:spPr>
          <a:xfrm rot="5400000">
            <a:off x="6696075" y="4410075"/>
            <a:ext cx="4895850" cy="4895850"/>
          </a:xfrm>
          <a:prstGeom prst="blockArc">
            <a:avLst>
              <a:gd name="adj1" fmla="val 5434997"/>
              <a:gd name="adj2" fmla="val 10779070"/>
              <a:gd name="adj3" fmla="val 78"/>
            </a:avLst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024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15616" y="3356992"/>
            <a:ext cx="7412620" cy="1676400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s-ES"/>
              <a:t>Clic para editar estilo título patrón</a:t>
            </a:r>
            <a:endParaRPr lang="ca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ítulo, text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47800" y="152400"/>
            <a:ext cx="7524750" cy="4572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168275" y="838200"/>
            <a:ext cx="4341813" cy="55626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62488" y="838200"/>
            <a:ext cx="4343400" cy="55626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Capítulo   6</a:t>
            </a:r>
            <a:endParaRPr lang="ca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A3C0F7-AD13-594E-80F6-0C23F97DE648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7480"/>
            <a:ext cx="8153400" cy="1341120"/>
          </a:xfrm>
        </p:spPr>
        <p:txBody>
          <a:bodyPr anchor="b"/>
          <a:lstStyle>
            <a:lvl1pPr algn="l" eaLnBrk="1" latinLnBrk="0" hangingPunct="1">
              <a:buNone/>
              <a:defRPr kumimoji="0" lang="es-ES" sz="4200" b="0"/>
            </a:lvl1pPr>
            <a:extLst/>
          </a:lstStyle>
          <a:p>
            <a:pPr eaLnBrk="1" latinLnBrk="0" hangingPunct="1"/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34966-FC44-45D4-B2FF-FB1119FACA5A}" type="datetime1">
              <a:rPr lang="es-ES" smtClean="0"/>
              <a:t>20/1/26</a:t>
            </a:fld>
            <a:endParaRPr kumimoji="0"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9602" y="6248207"/>
            <a:ext cx="5421083" cy="365125"/>
          </a:xfrm>
          <a:prstGeom prst="rect">
            <a:avLst/>
          </a:prstGeom>
        </p:spPr>
        <p:txBody>
          <a:bodyPr/>
          <a:lstStyle/>
          <a:p>
            <a:endParaRPr kumimoji="0"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es-ES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kumimoji="0" lang="es-ES">
                <a:solidFill>
                  <a:srgbClr val="FFFFFF"/>
                </a:solidFill>
              </a:rPr>
              <a:pPr/>
              <a:t>‹Nº›</a:t>
            </a:fld>
            <a:endParaRPr kumimoji="0" lang="es-ES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905000"/>
            <a:ext cx="1600200" cy="41656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 eaLnBrk="1" latinLnBrk="0" hangingPunct="1">
              <a:spcAft>
                <a:spcPts val="1000"/>
              </a:spcAft>
              <a:buNone/>
              <a:defRPr kumimoji="0" lang="es-ES" sz="1800"/>
            </a:lvl1pPr>
            <a:lvl2pPr eaLnBrk="1" latinLnBrk="0" hangingPunct="1">
              <a:buNone/>
              <a:defRPr kumimoji="0" lang="es-ES" sz="1200"/>
            </a:lvl2pPr>
            <a:lvl3pPr eaLnBrk="1" latinLnBrk="0" hangingPunct="1">
              <a:buNone/>
              <a:defRPr kumimoji="0" lang="es-ES" sz="1000"/>
            </a:lvl3pPr>
            <a:lvl4pPr eaLnBrk="1" latinLnBrk="0" hangingPunct="1">
              <a:buNone/>
              <a:defRPr kumimoji="0" lang="es-ES" sz="900"/>
            </a:lvl4pPr>
            <a:lvl5pPr eaLnBrk="1" latinLnBrk="0" hangingPunct="1">
              <a:buNone/>
              <a:defRPr kumimoji="0" lang="es-ES" sz="900"/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905000"/>
            <a:ext cx="6400800" cy="42672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77385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7"/>
          <p:cNvSpPr/>
          <p:nvPr userDrawn="1"/>
        </p:nvSpPr>
        <p:spPr>
          <a:xfrm>
            <a:off x="250825" y="5013325"/>
            <a:ext cx="1703388" cy="1701800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7" name="Pie 6"/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8" name="Oval 7"/>
          <p:cNvSpPr/>
          <p:nvPr/>
        </p:nvSpPr>
        <p:spPr>
          <a:xfrm>
            <a:off x="168275" y="20638"/>
            <a:ext cx="1703388" cy="170338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85000" t="100000" r="1000000" b="30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2" name="Rectangle 11"/>
          <p:cNvSpPr/>
          <p:nvPr/>
        </p:nvSpPr>
        <p:spPr>
          <a:xfrm>
            <a:off x="539750" y="0"/>
            <a:ext cx="860425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684213" y="115888"/>
            <a:ext cx="8250237" cy="865187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s-ES" noProof="0" dirty="0"/>
              <a:t>Haga clic el estilo de título del patrón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684213" y="1125538"/>
            <a:ext cx="8250237" cy="525621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s-ES" noProof="0" dirty="0"/>
              <a:t>Haga clic para modificar los estilos de título del patrón</a:t>
            </a:r>
          </a:p>
          <a:p>
            <a:pPr lvl="1"/>
            <a:r>
              <a:rPr lang="es-ES" noProof="0" dirty="0"/>
              <a:t>Segundo nivel</a:t>
            </a:r>
          </a:p>
          <a:p>
            <a:pPr lvl="2"/>
            <a:r>
              <a:rPr lang="es-ES" noProof="0" dirty="0"/>
              <a:t>Tercer nivel</a:t>
            </a:r>
          </a:p>
          <a:p>
            <a:pPr lvl="3"/>
            <a:r>
              <a:rPr lang="es-ES" noProof="0" dirty="0"/>
              <a:t>Cuarto nivel</a:t>
            </a:r>
          </a:p>
          <a:p>
            <a:pPr lvl="4"/>
            <a:r>
              <a:rPr lang="es-ES" noProof="0" dirty="0"/>
              <a:t>Quinto nivel</a:t>
            </a:r>
          </a:p>
          <a:p>
            <a:pPr lvl="5"/>
            <a:r>
              <a:rPr lang="es-ES" noProof="0" dirty="0"/>
              <a:t>Sexto nivel</a:t>
            </a:r>
          </a:p>
          <a:p>
            <a:pPr lvl="6"/>
            <a:r>
              <a:rPr lang="es-ES" noProof="0" dirty="0"/>
              <a:t>Séptimo nivel</a:t>
            </a:r>
          </a:p>
          <a:p>
            <a:pPr lvl="7"/>
            <a:r>
              <a:rPr lang="es-ES" noProof="0" dirty="0"/>
              <a:t>Octavo nivel</a:t>
            </a:r>
          </a:p>
          <a:p>
            <a:pPr lvl="8"/>
            <a:r>
              <a:rPr lang="es-ES" noProof="0" dirty="0"/>
              <a:t>Noveno nivel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635375" y="6529388"/>
            <a:ext cx="2133600" cy="328612"/>
          </a:xfrm>
          <a:prstGeom prst="rect">
            <a:avLst/>
          </a:prstGeom>
        </p:spPr>
        <p:txBody>
          <a:bodyPr anchor="b"/>
          <a:lstStyle>
            <a:lvl1pPr algn="r" latinLnBrk="0">
              <a:buFont typeface="Wingdings" pitchFamily="48" charset="2"/>
              <a:buNone/>
              <a:defRPr lang="es-ES" sz="1100">
                <a:solidFill>
                  <a:schemeClr val="bg2">
                    <a:shade val="50000"/>
                    <a:satMod val="200000"/>
                  </a:schemeClr>
                </a:solidFill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D3CC5109-EACF-4D29-A965-72F8EF4B326C}" type="datetime1">
              <a:rPr lang="es-ES" smtClean="0"/>
              <a:pPr>
                <a:defRPr/>
              </a:pPr>
              <a:t>20/1/26</a:t>
            </a:fld>
            <a:endParaRPr lang="es-ES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86800" y="6529388"/>
            <a:ext cx="457200" cy="328612"/>
          </a:xfrm>
          <a:prstGeom prst="rect">
            <a:avLst/>
          </a:prstGeom>
        </p:spPr>
        <p:txBody>
          <a:bodyPr anchor="b"/>
          <a:lstStyle>
            <a:lvl1pPr algn="ctr" latinLnBrk="0">
              <a:buFont typeface="Wingdings" pitchFamily="48" charset="2"/>
              <a:buNone/>
              <a:defRPr lang="es-ES" sz="10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9F24CC15-B2D5-4EA3-B498-48A14C7038C6}" type="slidenum">
              <a:rPr lang="en-US" smtClean="0"/>
              <a:pPr>
                <a:defRPr/>
              </a:pPr>
              <a:t>‹Nº›</a:t>
            </a:fld>
            <a:endParaRPr lang="en-US" dirty="0"/>
          </a:p>
        </p:txBody>
      </p:sp>
      <p:sp>
        <p:nvSpPr>
          <p:cNvPr id="14" name="13 Rectángulo"/>
          <p:cNvSpPr/>
          <p:nvPr userDrawn="1"/>
        </p:nvSpPr>
        <p:spPr>
          <a:xfrm rot="16200000">
            <a:off x="-799306" y="5796756"/>
            <a:ext cx="1860550" cy="2619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48" charset="2"/>
              <a:buNone/>
              <a:defRPr/>
            </a:pPr>
            <a:r>
              <a:rPr lang="es-ES" sz="110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Estructura de Computadores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6" r:id="rId7"/>
    <p:sldLayoutId id="2147483917" r:id="rId8"/>
    <p:sldLayoutId id="2147483918" r:id="rId9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es-ES" sz="2800" kern="1200">
          <a:solidFill>
            <a:srgbClr val="572314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9pPr>
    </p:titleStyle>
    <p:bodyStyle>
      <a:lvl1pPr marL="365125" indent="-282575" algn="l" rtl="0" eaLnBrk="0" fontAlgn="base" hangingPunct="0">
        <a:lnSpc>
          <a:spcPts val="3000"/>
        </a:lnSpc>
        <a:spcBef>
          <a:spcPts val="6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lang="es-ES"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39763" indent="-236538" algn="l" rtl="0" eaLnBrk="0" fontAlgn="base" hangingPunct="0">
        <a:lnSpc>
          <a:spcPts val="3000"/>
        </a:lnSpc>
        <a:spcBef>
          <a:spcPts val="550"/>
        </a:spcBef>
        <a:spcAft>
          <a:spcPct val="0"/>
        </a:spcAft>
        <a:buClr>
          <a:srgbClr val="C58D01"/>
        </a:buClr>
        <a:buSzPct val="85000"/>
        <a:buFont typeface="Wingdings" pitchFamily="2" charset="2"/>
        <a:buChar char="ü"/>
        <a:defRPr lang="es-ES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85825" indent="-228600" algn="l" rtl="0" eaLnBrk="0" fontAlgn="base" hangingPunct="0">
        <a:lnSpc>
          <a:spcPts val="2800"/>
        </a:lnSpc>
        <a:spcBef>
          <a:spcPct val="20000"/>
        </a:spcBef>
        <a:spcAft>
          <a:spcPct val="0"/>
        </a:spcAft>
        <a:buFont typeface="Wingdings 2" pitchFamily="18" charset="2"/>
        <a:buChar char=""/>
        <a:defRPr lang="es-ES"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096963" indent="-173038" algn="l" rtl="0" eaLnBrk="0" fontAlgn="base" hangingPunct="0">
        <a:spcBef>
          <a:spcPct val="20000"/>
        </a:spcBef>
        <a:spcAft>
          <a:spcPct val="0"/>
        </a:spcAft>
        <a:buClr>
          <a:srgbClr val="C32D2E"/>
        </a:buClr>
        <a:buFont typeface="Wingdings 2" pitchFamily="18" charset="2"/>
        <a:buChar char=""/>
        <a:defRPr lang="es-ES"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296988" indent="-182563" algn="l" rtl="0" eaLnBrk="0" fontAlgn="base" hangingPunct="0">
        <a:spcBef>
          <a:spcPct val="20000"/>
        </a:spcBef>
        <a:spcAft>
          <a:spcPct val="0"/>
        </a:spcAft>
        <a:buClr>
          <a:srgbClr val="84AA33"/>
        </a:buClr>
        <a:buFont typeface="Wingdings 2" pitchFamily="18" charset="2"/>
        <a:buChar char=""/>
        <a:defRPr lang="es-ES"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508760" indent="-182880" algn="l" rtl="0" eaLnBrk="1" latinLnBrk="0" hangingPunct="1">
        <a:spcBef>
          <a:spcPct val="20000"/>
        </a:spcBef>
        <a:buClr>
          <a:schemeClr val="accent5"/>
        </a:buClr>
        <a:buFont typeface="Wingdings 2"/>
        <a:buChar char=""/>
        <a:defRPr lang="es-ES"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1719072" indent="-18288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"/>
        <a:defRPr lang="es-ES"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1920240" indent="-18288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"/>
        <a:defRPr lang="es-ES"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2130552" indent="-18288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"/>
        <a:defRPr lang="es-ES"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lvl1pPr marL="0" algn="l" rtl="0" eaLnBrk="1" latinLnBrk="0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4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8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6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1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7" Type="http://schemas.openxmlformats.org/officeDocument/2006/relationships/image" Target="../media/image31.png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3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9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3"/>
          <p:cNvSpPr>
            <a:spLocks noGrp="1" noChangeArrowheads="1"/>
          </p:cNvSpPr>
          <p:nvPr>
            <p:ph type="ctrTitle"/>
          </p:nvPr>
        </p:nvSpPr>
        <p:spPr>
          <a:xfrm>
            <a:off x="900113" y="3068638"/>
            <a:ext cx="7772400" cy="16764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ES" dirty="0">
                <a:solidFill>
                  <a:schemeClr val="tx2">
                    <a:satMod val="130000"/>
                  </a:schemeClr>
                </a:solidFill>
              </a:rPr>
              <a:t>Tema 2: Segmentación Básica </a:t>
            </a:r>
            <a:br>
              <a:rPr lang="es-ES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s-ES" dirty="0">
                <a:solidFill>
                  <a:schemeClr val="tx2">
                    <a:satMod val="130000"/>
                  </a:schemeClr>
                </a:solidFill>
              </a:rPr>
              <a:t>del Procesador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Objetivos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Conocer el concepto de segmentación como técnica de mejora de prestaciones</a:t>
            </a:r>
          </a:p>
          <a:p>
            <a:r>
              <a:rPr lang="es-ES" dirty="0"/>
              <a:t>Conocer la segmentación básica del procesador RISC-V</a:t>
            </a:r>
          </a:p>
          <a:p>
            <a:r>
              <a:rPr lang="es-ES" dirty="0"/>
              <a:t>Detectar conflictos y riesgos sencillos</a:t>
            </a:r>
          </a:p>
          <a:p>
            <a:r>
              <a:rPr lang="es-ES" dirty="0"/>
              <a:t>Conocer algunas de las técnicas de solución de conflictos que aparecen en la ruta de datos segmentada del RISC-V</a:t>
            </a:r>
          </a:p>
          <a:p>
            <a:r>
              <a:rPr lang="es-ES" dirty="0"/>
              <a:t>Saber evaluar las prestaciones de una ruta de datos segmentada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48C9D04-07E9-0147-8449-0BDA24089BDC}" type="slidenum">
              <a:rPr lang="en-US"/>
              <a:pPr/>
              <a:t>3</a:t>
            </a:fld>
            <a:endParaRPr lang="en-US"/>
          </a:p>
        </p:txBody>
      </p:sp>
      <p:sp>
        <p:nvSpPr>
          <p:cNvPr id="30725" name="Rectangle 4"/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8250237" cy="865187"/>
          </a:xfrm>
        </p:spPr>
        <p:txBody>
          <a:bodyPr/>
          <a:lstStyle/>
          <a:p>
            <a:r>
              <a:rPr lang="es-ES_tradnl" dirty="0"/>
              <a:t>Contenidos y Bibliografía</a:t>
            </a:r>
          </a:p>
        </p:txBody>
      </p:sp>
      <p:sp>
        <p:nvSpPr>
          <p:cNvPr id="3072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4213" y="838200"/>
            <a:ext cx="8250237" cy="52562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s-ES_tradnl" sz="2200" dirty="0">
                <a:latin typeface="Arial" pitchFamily="-84" charset="0"/>
                <a:ea typeface="ＭＳ Ｐゴシック" pitchFamily="-84" charset="-128"/>
              </a:rPr>
              <a:t>El proceso de segmentación</a:t>
            </a:r>
          </a:p>
          <a:p>
            <a:pPr lvl="1">
              <a:lnSpc>
                <a:spcPct val="90000"/>
              </a:lnSpc>
            </a:pPr>
            <a:r>
              <a:rPr lang="es-ES_tradnl" sz="2000" dirty="0">
                <a:latin typeface="Arial" pitchFamily="-84" charset="0"/>
                <a:ea typeface="ＭＳ Ｐゴシック" pitchFamily="-84" charset="-128"/>
              </a:rPr>
              <a:t>Concepto</a:t>
            </a:r>
          </a:p>
          <a:p>
            <a:pPr lvl="1">
              <a:lnSpc>
                <a:spcPct val="90000"/>
              </a:lnSpc>
            </a:pPr>
            <a:r>
              <a:rPr lang="es-ES_tradnl" sz="2000" dirty="0">
                <a:latin typeface="Arial" pitchFamily="-84" charset="0"/>
                <a:ea typeface="ＭＳ Ｐゴシック" pitchFamily="-84" charset="-128"/>
              </a:rPr>
              <a:t>Diagramas temporales</a:t>
            </a:r>
          </a:p>
          <a:p>
            <a:pPr lvl="1">
              <a:lnSpc>
                <a:spcPct val="90000"/>
              </a:lnSpc>
            </a:pPr>
            <a:r>
              <a:rPr lang="es-ES_tradnl" dirty="0">
                <a:latin typeface="Arial" pitchFamily="-84" charset="0"/>
                <a:ea typeface="ＭＳ Ｐゴシック" pitchFamily="-84" charset="-128"/>
              </a:rPr>
              <a:t>Prestaciones</a:t>
            </a:r>
            <a:endParaRPr lang="es-ES_tradnl" sz="2000" dirty="0">
              <a:latin typeface="Arial" pitchFamily="-84" charset="0"/>
              <a:ea typeface="ＭＳ Ｐゴシック" pitchFamily="-84" charset="-128"/>
            </a:endParaRPr>
          </a:p>
          <a:p>
            <a:pPr>
              <a:lnSpc>
                <a:spcPct val="90000"/>
              </a:lnSpc>
            </a:pPr>
            <a:r>
              <a:rPr lang="es-ES_tradnl" sz="2200" dirty="0">
                <a:latin typeface="Arial" pitchFamily="-84" charset="0"/>
                <a:ea typeface="ＭＳ Ｐゴシック" pitchFamily="-84" charset="-128"/>
              </a:rPr>
              <a:t>Segmentación de la ruta de datos básica</a:t>
            </a:r>
          </a:p>
          <a:p>
            <a:pPr lvl="1">
              <a:lnSpc>
                <a:spcPct val="90000"/>
              </a:lnSpc>
            </a:pPr>
            <a:r>
              <a:rPr lang="es-ES_tradnl" sz="2000" dirty="0">
                <a:latin typeface="Arial" pitchFamily="-84" charset="0"/>
                <a:ea typeface="ＭＳ Ｐゴシック" pitchFamily="-84" charset="-128"/>
              </a:rPr>
              <a:t>Identificación de las fases de ejecución de las instrucciones</a:t>
            </a:r>
          </a:p>
          <a:p>
            <a:pPr lvl="1">
              <a:lnSpc>
                <a:spcPct val="90000"/>
              </a:lnSpc>
            </a:pPr>
            <a:r>
              <a:rPr lang="es-ES_tradnl" sz="2000" dirty="0">
                <a:latin typeface="Arial" pitchFamily="-84" charset="0"/>
                <a:ea typeface="ＭＳ Ｐゴシック" pitchFamily="-84" charset="-128"/>
              </a:rPr>
              <a:t>Diseño de las etapas</a:t>
            </a:r>
          </a:p>
          <a:p>
            <a:pPr>
              <a:lnSpc>
                <a:spcPct val="90000"/>
              </a:lnSpc>
            </a:pPr>
            <a:r>
              <a:rPr lang="es-ES_tradnl" sz="2200" dirty="0">
                <a:latin typeface="Arial" pitchFamily="-84" charset="0"/>
                <a:ea typeface="ＭＳ Ｐゴシック" pitchFamily="-84" charset="-128"/>
              </a:rPr>
              <a:t>Conflictos y riesgos</a:t>
            </a:r>
          </a:p>
          <a:p>
            <a:pPr lvl="1">
              <a:lnSpc>
                <a:spcPct val="90000"/>
              </a:lnSpc>
            </a:pPr>
            <a:r>
              <a:rPr lang="es-ES_tradnl" sz="2000" dirty="0">
                <a:latin typeface="Arial" pitchFamily="-84" charset="0"/>
                <a:ea typeface="ＭＳ Ｐゴシック" pitchFamily="-84" charset="-128"/>
              </a:rPr>
              <a:t>Conflictos de datos</a:t>
            </a:r>
          </a:p>
          <a:p>
            <a:pPr lvl="1">
              <a:lnSpc>
                <a:spcPct val="90000"/>
              </a:lnSpc>
            </a:pPr>
            <a:r>
              <a:rPr lang="es-ES_tradnl" sz="2000" dirty="0">
                <a:latin typeface="Arial" pitchFamily="-84" charset="0"/>
                <a:ea typeface="ＭＳ Ｐゴシック" pitchFamily="-84" charset="-128"/>
              </a:rPr>
              <a:t>Conflictos de control (flujo)</a:t>
            </a:r>
          </a:p>
          <a:p>
            <a:pPr>
              <a:lnSpc>
                <a:spcPct val="90000"/>
              </a:lnSpc>
            </a:pPr>
            <a:r>
              <a:rPr lang="es-ES_tradnl" sz="2200" dirty="0">
                <a:latin typeface="Arial" pitchFamily="-84" charset="0"/>
                <a:ea typeface="ＭＳ Ｐゴシック" pitchFamily="-84" charset="-128"/>
              </a:rPr>
              <a:t>Perspectiva histórica. RISC-CISC y otras alternativas</a:t>
            </a:r>
          </a:p>
          <a:p>
            <a:pPr>
              <a:lnSpc>
                <a:spcPct val="90000"/>
              </a:lnSpc>
            </a:pPr>
            <a:endParaRPr lang="es-ES_tradnl" sz="2200" dirty="0">
              <a:latin typeface="Arial" pitchFamily="-84" charset="0"/>
              <a:ea typeface="ＭＳ Ｐゴシック" pitchFamily="-84" charset="-128"/>
            </a:endParaRPr>
          </a:p>
          <a:p>
            <a:pPr marL="365125" lvl="2" indent="-282575">
              <a:lnSpc>
                <a:spcPct val="90000"/>
              </a:lnSpc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80000"/>
              <a:buNone/>
            </a:pPr>
            <a:endParaRPr lang="es-ES" dirty="0">
              <a:solidFill>
                <a:srgbClr val="FF0000"/>
              </a:solidFill>
            </a:endParaRPr>
          </a:p>
          <a:p>
            <a:pPr lvl="2" algn="just">
              <a:buNone/>
            </a:pPr>
            <a:endParaRPr lang="es-ES" noProof="1">
              <a:solidFill>
                <a:srgbClr val="FF0000"/>
              </a:solidFill>
            </a:endParaRPr>
          </a:p>
          <a:p>
            <a:pPr marL="360000" lvl="2" algn="just">
              <a:buNone/>
            </a:pPr>
            <a:r>
              <a:rPr lang="es-ES_tradnl" noProof="1">
                <a:solidFill>
                  <a:srgbClr val="FF0000"/>
                </a:solidFill>
              </a:rPr>
              <a:t>Bibliografía</a:t>
            </a:r>
            <a:r>
              <a:rPr lang="es-ES_tradnl" noProof="1"/>
              <a:t>: Patterson, D.A., Hennessy, J.L., “Computer Organization and Design RISC-V Edition: The Hardware-Software Interface,” 2ª edición, Ed. MK, 2020</a:t>
            </a:r>
          </a:p>
          <a:p>
            <a:pPr>
              <a:lnSpc>
                <a:spcPct val="90000"/>
              </a:lnSpc>
            </a:pPr>
            <a:endParaRPr lang="es-ES_tradnl" sz="2200" dirty="0">
              <a:latin typeface="Arial" pitchFamily="-84" charset="0"/>
              <a:ea typeface="ＭＳ Ｐゴシック" pitchFamily="-84" charset="-128"/>
            </a:endParaRPr>
          </a:p>
          <a:p>
            <a:pPr lvl="2">
              <a:lnSpc>
                <a:spcPct val="90000"/>
              </a:lnSpc>
            </a:pPr>
            <a:endParaRPr lang="es-ES_tradnl" sz="1800" dirty="0">
              <a:latin typeface="Arial" pitchFamily="-84" charset="0"/>
              <a:ea typeface="ＭＳ Ｐゴシック" pitchFamily="-84" charset="-128"/>
            </a:endParaRPr>
          </a:p>
          <a:p>
            <a:pPr lvl="1">
              <a:lnSpc>
                <a:spcPct val="90000"/>
              </a:lnSpc>
            </a:pPr>
            <a:endParaRPr lang="es-ES_tradnl" sz="1800" dirty="0">
              <a:latin typeface="Arial" pitchFamily="-84" charset="0"/>
              <a:ea typeface="ＭＳ Ｐゴシック" pitchFamily="-84" charset="-128"/>
            </a:endParaRPr>
          </a:p>
          <a:p>
            <a:pPr lvl="2">
              <a:buFontTx/>
              <a:buNone/>
            </a:pPr>
            <a:r>
              <a:rPr lang="es-ES_tradnl" sz="1800" dirty="0">
                <a:latin typeface="Arial" pitchFamily="-84" charset="0"/>
                <a:ea typeface="ＭＳ Ｐゴシック" pitchFamily="-84" charset="-128"/>
              </a:rPr>
              <a:t>	</a:t>
            </a:r>
          </a:p>
          <a:p>
            <a:pPr lvl="1">
              <a:lnSpc>
                <a:spcPct val="90000"/>
              </a:lnSpc>
            </a:pPr>
            <a:endParaRPr lang="ca-ES" sz="1800" dirty="0">
              <a:latin typeface="Arial" pitchFamily="-84" charset="0"/>
              <a:ea typeface="ＭＳ Ｐゴシック" pitchFamily="-84" charset="-128"/>
            </a:endParaRPr>
          </a:p>
          <a:p>
            <a:pPr lvl="1">
              <a:lnSpc>
                <a:spcPct val="90000"/>
              </a:lnSpc>
            </a:pPr>
            <a:endParaRPr lang="es-ES" sz="1800" dirty="0">
              <a:latin typeface="Arial" pitchFamily="-84" charset="0"/>
              <a:ea typeface="ＭＳ Ｐゴシック" pitchFamily="-84" charset="-128"/>
            </a:endParaRPr>
          </a:p>
        </p:txBody>
      </p:sp>
      <p:cxnSp>
        <p:nvCxnSpPr>
          <p:cNvPr id="7" name="Conector recto 6"/>
          <p:cNvCxnSpPr/>
          <p:nvPr/>
        </p:nvCxnSpPr>
        <p:spPr bwMode="auto">
          <a:xfrm>
            <a:off x="685800" y="5713412"/>
            <a:ext cx="76200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Concepto de Segmentación</a:t>
            </a:r>
            <a:endParaRPr lang="ca-ES" dirty="0"/>
          </a:p>
        </p:txBody>
      </p:sp>
      <p:sp>
        <p:nvSpPr>
          <p:cNvPr id="10" name="Marcador de contenido 9"/>
          <p:cNvSpPr>
            <a:spLocks noGrp="1"/>
          </p:cNvSpPr>
          <p:nvPr>
            <p:ph idx="1"/>
          </p:nvPr>
        </p:nvSpPr>
        <p:spPr>
          <a:xfrm>
            <a:off x="457199" y="1125538"/>
            <a:ext cx="8686801" cy="5256212"/>
          </a:xfrm>
        </p:spPr>
        <p:txBody>
          <a:bodyPr/>
          <a:lstStyle/>
          <a:p>
            <a:r>
              <a:rPr lang="es-ES_tradnl" dirty="0"/>
              <a:t>Definición de segmentación</a:t>
            </a:r>
          </a:p>
          <a:p>
            <a:pPr lvl="1"/>
            <a:r>
              <a:rPr lang="es-ES_tradnl" dirty="0"/>
              <a:t>Descomposición de un sistema que ejecuta un determinado proceso en varias etapas, de manera que:</a:t>
            </a:r>
          </a:p>
          <a:p>
            <a:pPr lvl="2"/>
            <a:r>
              <a:rPr lang="es-ES_tradnl" dirty="0"/>
              <a:t>Cada etapa se ocupa de una parte del proceso global utilizando recursos propios</a:t>
            </a:r>
          </a:p>
          <a:p>
            <a:pPr lvl="2"/>
            <a:r>
              <a:rPr lang="es-ES_tradnl" dirty="0"/>
              <a:t>El proceso global requiere la aplicación ordenada de todas las etapas</a:t>
            </a:r>
          </a:p>
          <a:p>
            <a:pPr lvl="2"/>
            <a:r>
              <a:rPr lang="es-ES_tradnl" dirty="0"/>
              <a:t>Todas las etapas trabajan simultáneamente (cada una en un proceso distinto)</a:t>
            </a:r>
          </a:p>
          <a:p>
            <a:r>
              <a:rPr lang="es-ES_tradnl" dirty="0"/>
              <a:t>Objetivo:  Aumentar el paralelismo (temporal) de los procesos y, por tanto, aumentar la productividad</a:t>
            </a:r>
          </a:p>
        </p:txBody>
      </p:sp>
      <p:sp>
        <p:nvSpPr>
          <p:cNvPr id="32770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7D7C1-D3F9-914C-A552-8ACC007D854D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1" name="Picture 7" descr="productividad-en-el-trabaj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86200" y="5105400"/>
            <a:ext cx="152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5" descr="Cadena_montaje_fabrica_china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90600" y="4800600"/>
            <a:ext cx="2317651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6" descr="CadenaProduccionB73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172200" y="4800600"/>
            <a:ext cx="2241451" cy="169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Concepto de Segmentación</a:t>
            </a:r>
          </a:p>
        </p:txBody>
      </p:sp>
      <p:sp>
        <p:nvSpPr>
          <p:cNvPr id="11" name="Marcador de contenido 10"/>
          <p:cNvSpPr>
            <a:spLocks noGrp="1"/>
          </p:cNvSpPr>
          <p:nvPr>
            <p:ph idx="1"/>
          </p:nvPr>
        </p:nvSpPr>
        <p:spPr>
          <a:xfrm>
            <a:off x="684213" y="1125538"/>
            <a:ext cx="8250237" cy="703262"/>
          </a:xfrm>
        </p:spPr>
        <p:txBody>
          <a:bodyPr/>
          <a:lstStyle/>
          <a:p>
            <a:r>
              <a:rPr lang="es-ES_tradnl"/>
              <a:t>Ejemplos</a:t>
            </a:r>
          </a:p>
        </p:txBody>
      </p:sp>
      <p:sp>
        <p:nvSpPr>
          <p:cNvPr id="3379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7506-F82D-F34A-A4F7-B5882ABFC56F}" type="slidenum">
              <a:rPr lang="es-ES_tradnl" smtClean="0"/>
              <a:pPr/>
              <a:t>5</a:t>
            </a:fld>
            <a:endParaRPr lang="es-ES_tradnl"/>
          </a:p>
        </p:txBody>
      </p:sp>
      <p:pic>
        <p:nvPicPr>
          <p:cNvPr id="33797" name="Picture 5" descr="ford_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95084" y="1967692"/>
            <a:ext cx="2438400" cy="20061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798" name="Picture 6" descr="seat3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352800" y="1981200"/>
            <a:ext cx="2753600" cy="1981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799" name="Text Box 7"/>
          <p:cNvSpPr txBox="1">
            <a:spLocks noChangeArrowheads="1"/>
          </p:cNvSpPr>
          <p:nvPr/>
        </p:nvSpPr>
        <p:spPr bwMode="auto">
          <a:xfrm>
            <a:off x="1371600" y="1676400"/>
            <a:ext cx="1172692" cy="27699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_tradnl" sz="1200">
                <a:latin typeface="Calibri" pitchFamily="-84" charset="0"/>
              </a:rPr>
              <a:t>Ford 1907-1908</a:t>
            </a:r>
          </a:p>
        </p:txBody>
      </p:sp>
      <p:sp>
        <p:nvSpPr>
          <p:cNvPr id="33800" name="Text Box 8"/>
          <p:cNvSpPr txBox="1">
            <a:spLocks noChangeArrowheads="1"/>
          </p:cNvSpPr>
          <p:nvPr/>
        </p:nvSpPr>
        <p:spPr bwMode="auto">
          <a:xfrm>
            <a:off x="4120855" y="1676400"/>
            <a:ext cx="1132554" cy="27699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_tradnl" sz="1200" dirty="0" err="1">
                <a:latin typeface="Calibri" pitchFamily="-84" charset="0"/>
              </a:rPr>
              <a:t>Seat</a:t>
            </a:r>
            <a:r>
              <a:rPr lang="es-ES_tradnl" sz="1200" dirty="0">
                <a:latin typeface="Calibri" pitchFamily="-84" charset="0"/>
              </a:rPr>
              <a:t> década 50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762000" y="3962400"/>
            <a:ext cx="5334000" cy="56630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Cadena de montaje de un coche </a:t>
            </a:r>
          </a:p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(montaje motor, ensamblado interior, pintado, …)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Concepto de Segmentación</a:t>
            </a:r>
          </a:p>
        </p:txBody>
      </p:sp>
      <p:sp>
        <p:nvSpPr>
          <p:cNvPr id="11" name="Marcador de contenido 10"/>
          <p:cNvSpPr>
            <a:spLocks noGrp="1"/>
          </p:cNvSpPr>
          <p:nvPr>
            <p:ph idx="1"/>
          </p:nvPr>
        </p:nvSpPr>
        <p:spPr>
          <a:xfrm>
            <a:off x="684213" y="1125538"/>
            <a:ext cx="8250237" cy="703262"/>
          </a:xfrm>
        </p:spPr>
        <p:txBody>
          <a:bodyPr/>
          <a:lstStyle/>
          <a:p>
            <a:r>
              <a:rPr lang="es-ES_tradnl"/>
              <a:t>Ejemplos</a:t>
            </a:r>
          </a:p>
        </p:txBody>
      </p:sp>
      <p:sp>
        <p:nvSpPr>
          <p:cNvPr id="3379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7506-F82D-F34A-A4F7-B5882ABFC56F}" type="slidenum">
              <a:rPr lang="es-ES_tradnl" smtClean="0"/>
              <a:pPr/>
              <a:t>6</a:t>
            </a:fld>
            <a:endParaRPr lang="es-ES_tradnl"/>
          </a:p>
        </p:txBody>
      </p:sp>
      <p:pic>
        <p:nvPicPr>
          <p:cNvPr id="12" name="Picture 5" descr="lavanderi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14413" y="1006071"/>
            <a:ext cx="2684457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CuadroTexto 12"/>
          <p:cNvSpPr txBox="1"/>
          <p:nvPr/>
        </p:nvSpPr>
        <p:spPr>
          <a:xfrm>
            <a:off x="5148064" y="2991820"/>
            <a:ext cx="2667000" cy="56630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Lavandería </a:t>
            </a:r>
          </a:p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(lavado, secado, planchado)</a:t>
            </a:r>
          </a:p>
        </p:txBody>
      </p:sp>
      <p:grpSp>
        <p:nvGrpSpPr>
          <p:cNvPr id="15" name="14 Grupo"/>
          <p:cNvGrpSpPr/>
          <p:nvPr/>
        </p:nvGrpSpPr>
        <p:grpSpPr>
          <a:xfrm>
            <a:off x="564968" y="3856070"/>
            <a:ext cx="7095142" cy="2386427"/>
            <a:chOff x="996619" y="1896011"/>
            <a:chExt cx="7180881" cy="2547947"/>
          </a:xfrm>
        </p:grpSpPr>
        <p:grpSp>
          <p:nvGrpSpPr>
            <p:cNvPr id="16" name="15 Grupo"/>
            <p:cNvGrpSpPr/>
            <p:nvPr/>
          </p:nvGrpSpPr>
          <p:grpSpPr>
            <a:xfrm>
              <a:off x="996619" y="2249837"/>
              <a:ext cx="7167547" cy="1871466"/>
              <a:chOff x="996619" y="2577712"/>
              <a:chExt cx="7167547" cy="1871466"/>
            </a:xfrm>
          </p:grpSpPr>
          <p:grpSp>
            <p:nvGrpSpPr>
              <p:cNvPr id="31" name="30 Grupo"/>
              <p:cNvGrpSpPr/>
              <p:nvPr/>
            </p:nvGrpSpPr>
            <p:grpSpPr>
              <a:xfrm>
                <a:off x="2279860" y="2579733"/>
                <a:ext cx="4176310" cy="1062759"/>
                <a:chOff x="2133600" y="5410200"/>
                <a:chExt cx="4191000" cy="990600"/>
              </a:xfrm>
            </p:grpSpPr>
            <p:sp>
              <p:nvSpPr>
                <p:cNvPr id="45" name="CuadroTexto 14"/>
                <p:cNvSpPr txBox="1"/>
                <p:nvPr/>
              </p:nvSpPr>
              <p:spPr>
                <a:xfrm>
                  <a:off x="2133600" y="5410200"/>
                  <a:ext cx="838200" cy="276999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ES_tradnl" sz="1200">
                      <a:solidFill>
                        <a:schemeClr val="accent1">
                          <a:lumMod val="75000"/>
                        </a:schemeClr>
                      </a:solidFill>
                    </a:rPr>
                    <a:t>Lavado</a:t>
                  </a:r>
                </a:p>
              </p:txBody>
            </p:sp>
            <p:sp>
              <p:nvSpPr>
                <p:cNvPr id="46" name="CuadroTexto 15"/>
                <p:cNvSpPr txBox="1"/>
                <p:nvPr/>
              </p:nvSpPr>
              <p:spPr>
                <a:xfrm>
                  <a:off x="2971800" y="5410200"/>
                  <a:ext cx="838200" cy="258191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ES_tradnl" sz="1200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Secado</a:t>
                  </a:r>
                </a:p>
              </p:txBody>
            </p:sp>
            <p:sp>
              <p:nvSpPr>
                <p:cNvPr id="47" name="CuadroTexto 16"/>
                <p:cNvSpPr txBox="1"/>
                <p:nvPr/>
              </p:nvSpPr>
              <p:spPr>
                <a:xfrm>
                  <a:off x="3810000" y="5410200"/>
                  <a:ext cx="838200" cy="258191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ES_tradnl" sz="1200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Planchado</a:t>
                  </a:r>
                </a:p>
              </p:txBody>
            </p:sp>
            <p:sp>
              <p:nvSpPr>
                <p:cNvPr id="48" name="CuadroTexto 17"/>
                <p:cNvSpPr txBox="1"/>
                <p:nvPr/>
              </p:nvSpPr>
              <p:spPr>
                <a:xfrm>
                  <a:off x="2971800" y="5742801"/>
                  <a:ext cx="838200" cy="276999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ES_tradnl" sz="1200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Lavado</a:t>
                  </a:r>
                </a:p>
              </p:txBody>
            </p:sp>
            <p:sp>
              <p:nvSpPr>
                <p:cNvPr id="49" name="CuadroTexto 18"/>
                <p:cNvSpPr txBox="1"/>
                <p:nvPr/>
              </p:nvSpPr>
              <p:spPr>
                <a:xfrm>
                  <a:off x="3810000" y="5742801"/>
                  <a:ext cx="838200" cy="258191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ES_tradnl" sz="1200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Secado</a:t>
                  </a:r>
                </a:p>
              </p:txBody>
            </p:sp>
            <p:sp>
              <p:nvSpPr>
                <p:cNvPr id="50" name="CuadroTexto 19"/>
                <p:cNvSpPr txBox="1"/>
                <p:nvPr/>
              </p:nvSpPr>
              <p:spPr>
                <a:xfrm>
                  <a:off x="4648200" y="5742801"/>
                  <a:ext cx="838200" cy="258191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ES_tradnl" sz="1200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Planchado</a:t>
                  </a:r>
                </a:p>
              </p:txBody>
            </p:sp>
            <p:sp>
              <p:nvSpPr>
                <p:cNvPr id="51" name="CuadroTexto 20"/>
                <p:cNvSpPr txBox="1"/>
                <p:nvPr/>
              </p:nvSpPr>
              <p:spPr>
                <a:xfrm>
                  <a:off x="3810000" y="6123801"/>
                  <a:ext cx="838200" cy="276999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ES_tradnl" sz="1200">
                      <a:solidFill>
                        <a:schemeClr val="accent1">
                          <a:lumMod val="75000"/>
                        </a:schemeClr>
                      </a:solidFill>
                    </a:rPr>
                    <a:t>Lavado</a:t>
                  </a:r>
                </a:p>
              </p:txBody>
            </p:sp>
            <p:sp>
              <p:nvSpPr>
                <p:cNvPr id="52" name="CuadroTexto 21"/>
                <p:cNvSpPr txBox="1"/>
                <p:nvPr/>
              </p:nvSpPr>
              <p:spPr>
                <a:xfrm>
                  <a:off x="4648200" y="6123801"/>
                  <a:ext cx="838200" cy="258191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ES_tradnl" sz="1200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Secado</a:t>
                  </a:r>
                </a:p>
              </p:txBody>
            </p:sp>
            <p:sp>
              <p:nvSpPr>
                <p:cNvPr id="53" name="CuadroTexto 22"/>
                <p:cNvSpPr txBox="1"/>
                <p:nvPr/>
              </p:nvSpPr>
              <p:spPr>
                <a:xfrm>
                  <a:off x="5486400" y="6123801"/>
                  <a:ext cx="838200" cy="258191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ES_tradnl" sz="1200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Planchado</a:t>
                  </a:r>
                </a:p>
              </p:txBody>
            </p:sp>
          </p:grpSp>
          <p:grpSp>
            <p:nvGrpSpPr>
              <p:cNvPr id="32" name="31 Grupo"/>
              <p:cNvGrpSpPr/>
              <p:nvPr/>
            </p:nvGrpSpPr>
            <p:grpSpPr>
              <a:xfrm>
                <a:off x="4803672" y="3750833"/>
                <a:ext cx="2505786" cy="297177"/>
                <a:chOff x="5294470" y="3867894"/>
                <a:chExt cx="2505786" cy="297177"/>
              </a:xfrm>
            </p:grpSpPr>
            <p:sp>
              <p:nvSpPr>
                <p:cNvPr id="42" name="CuadroTexto 20"/>
                <p:cNvSpPr txBox="1"/>
                <p:nvPr/>
              </p:nvSpPr>
              <p:spPr>
                <a:xfrm>
                  <a:off x="5294470" y="3867894"/>
                  <a:ext cx="835262" cy="297177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ES_tradnl" sz="1200">
                      <a:solidFill>
                        <a:schemeClr val="accent1">
                          <a:lumMod val="75000"/>
                        </a:schemeClr>
                      </a:solidFill>
                    </a:rPr>
                    <a:t>Lavado</a:t>
                  </a:r>
                </a:p>
              </p:txBody>
            </p:sp>
            <p:sp>
              <p:nvSpPr>
                <p:cNvPr id="43" name="CuadroTexto 21"/>
                <p:cNvSpPr txBox="1"/>
                <p:nvPr/>
              </p:nvSpPr>
              <p:spPr>
                <a:xfrm>
                  <a:off x="6129732" y="3867894"/>
                  <a:ext cx="835262" cy="276999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ES_tradnl" sz="1200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Secado</a:t>
                  </a:r>
                </a:p>
              </p:txBody>
            </p:sp>
            <p:sp>
              <p:nvSpPr>
                <p:cNvPr id="44" name="CuadroTexto 22"/>
                <p:cNvSpPr txBox="1"/>
                <p:nvPr/>
              </p:nvSpPr>
              <p:spPr>
                <a:xfrm>
                  <a:off x="6964994" y="3867894"/>
                  <a:ext cx="835262" cy="276999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ES_tradnl" sz="1200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Planchado</a:t>
                  </a:r>
                </a:p>
              </p:txBody>
            </p:sp>
          </p:grpSp>
          <p:grpSp>
            <p:nvGrpSpPr>
              <p:cNvPr id="33" name="32 Grupo"/>
              <p:cNvGrpSpPr/>
              <p:nvPr/>
            </p:nvGrpSpPr>
            <p:grpSpPr>
              <a:xfrm>
                <a:off x="5658380" y="4151353"/>
                <a:ext cx="2505786" cy="297177"/>
                <a:chOff x="5294470" y="3867894"/>
                <a:chExt cx="2505786" cy="297177"/>
              </a:xfrm>
            </p:grpSpPr>
            <p:sp>
              <p:nvSpPr>
                <p:cNvPr id="39" name="CuadroTexto 20"/>
                <p:cNvSpPr txBox="1"/>
                <p:nvPr/>
              </p:nvSpPr>
              <p:spPr>
                <a:xfrm>
                  <a:off x="5294470" y="3867894"/>
                  <a:ext cx="835262" cy="297177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ES_tradnl" sz="1200">
                      <a:solidFill>
                        <a:schemeClr val="accent1">
                          <a:lumMod val="75000"/>
                        </a:schemeClr>
                      </a:solidFill>
                    </a:rPr>
                    <a:t>Lavado</a:t>
                  </a:r>
                </a:p>
              </p:txBody>
            </p:sp>
            <p:sp>
              <p:nvSpPr>
                <p:cNvPr id="40" name="CuadroTexto 21"/>
                <p:cNvSpPr txBox="1"/>
                <p:nvPr/>
              </p:nvSpPr>
              <p:spPr>
                <a:xfrm>
                  <a:off x="6129732" y="3867894"/>
                  <a:ext cx="835262" cy="276999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ES_tradnl" sz="1200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Secado</a:t>
                  </a:r>
                </a:p>
              </p:txBody>
            </p:sp>
            <p:sp>
              <p:nvSpPr>
                <p:cNvPr id="41" name="CuadroTexto 22"/>
                <p:cNvSpPr txBox="1"/>
                <p:nvPr/>
              </p:nvSpPr>
              <p:spPr>
                <a:xfrm>
                  <a:off x="6964994" y="3867894"/>
                  <a:ext cx="835262" cy="276999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ES_tradnl" sz="1200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Planchado</a:t>
                  </a:r>
                </a:p>
              </p:txBody>
            </p:sp>
          </p:grpSp>
          <p:sp>
            <p:nvSpPr>
              <p:cNvPr id="34" name="33 CuadroTexto"/>
              <p:cNvSpPr txBox="1"/>
              <p:nvPr/>
            </p:nvSpPr>
            <p:spPr>
              <a:xfrm>
                <a:off x="1001428" y="2577712"/>
                <a:ext cx="1051623" cy="3614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600" b="1" dirty="0"/>
                  <a:t>Colada 1</a:t>
                </a:r>
              </a:p>
            </p:txBody>
          </p:sp>
          <p:sp>
            <p:nvSpPr>
              <p:cNvPr id="35" name="34 CuadroTexto"/>
              <p:cNvSpPr txBox="1"/>
              <p:nvPr/>
            </p:nvSpPr>
            <p:spPr>
              <a:xfrm>
                <a:off x="1001428" y="2939299"/>
                <a:ext cx="1051623" cy="3614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600" b="1" dirty="0"/>
                  <a:t>Colada 2</a:t>
                </a:r>
              </a:p>
            </p:txBody>
          </p:sp>
          <p:sp>
            <p:nvSpPr>
              <p:cNvPr id="36" name="35 CuadroTexto"/>
              <p:cNvSpPr txBox="1"/>
              <p:nvPr/>
            </p:nvSpPr>
            <p:spPr>
              <a:xfrm>
                <a:off x="996619" y="3345315"/>
                <a:ext cx="1051623" cy="3614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600" b="1" dirty="0"/>
                  <a:t>Colada 3</a:t>
                </a:r>
              </a:p>
            </p:txBody>
          </p:sp>
          <p:sp>
            <p:nvSpPr>
              <p:cNvPr id="37" name="36 CuadroTexto"/>
              <p:cNvSpPr txBox="1"/>
              <p:nvPr/>
            </p:nvSpPr>
            <p:spPr>
              <a:xfrm>
                <a:off x="1001428" y="3689734"/>
                <a:ext cx="1051623" cy="3614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600" b="1" dirty="0"/>
                  <a:t>Colada 4</a:t>
                </a:r>
              </a:p>
            </p:txBody>
          </p:sp>
          <p:sp>
            <p:nvSpPr>
              <p:cNvPr id="38" name="37 CuadroTexto"/>
              <p:cNvSpPr txBox="1"/>
              <p:nvPr/>
            </p:nvSpPr>
            <p:spPr>
              <a:xfrm>
                <a:off x="1001428" y="4087710"/>
                <a:ext cx="1051623" cy="3614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600" b="1" dirty="0"/>
                  <a:t>Colada 5</a:t>
                </a:r>
              </a:p>
            </p:txBody>
          </p:sp>
        </p:grpSp>
        <p:cxnSp>
          <p:nvCxnSpPr>
            <p:cNvPr id="17" name="16 Conector recto"/>
            <p:cNvCxnSpPr/>
            <p:nvPr/>
          </p:nvCxnSpPr>
          <p:spPr>
            <a:xfrm>
              <a:off x="3115122" y="2067694"/>
              <a:ext cx="0" cy="2376264"/>
            </a:xfrm>
            <a:prstGeom prst="line">
              <a:avLst/>
            </a:prstGeom>
            <a:ln w="38100">
              <a:solidFill>
                <a:srgbClr val="00206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17 Conector recto"/>
            <p:cNvCxnSpPr/>
            <p:nvPr/>
          </p:nvCxnSpPr>
          <p:spPr>
            <a:xfrm>
              <a:off x="8177500" y="2067694"/>
              <a:ext cx="0" cy="2376264"/>
            </a:xfrm>
            <a:prstGeom prst="line">
              <a:avLst/>
            </a:prstGeom>
            <a:ln w="38100">
              <a:solidFill>
                <a:srgbClr val="00206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18 Conector recto"/>
            <p:cNvCxnSpPr/>
            <p:nvPr/>
          </p:nvCxnSpPr>
          <p:spPr>
            <a:xfrm>
              <a:off x="7317137" y="2067694"/>
              <a:ext cx="0" cy="2376264"/>
            </a:xfrm>
            <a:prstGeom prst="line">
              <a:avLst/>
            </a:prstGeom>
            <a:ln w="38100">
              <a:solidFill>
                <a:srgbClr val="00206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19 Conector recto"/>
            <p:cNvCxnSpPr/>
            <p:nvPr/>
          </p:nvCxnSpPr>
          <p:spPr>
            <a:xfrm>
              <a:off x="6474196" y="2067694"/>
              <a:ext cx="0" cy="2376264"/>
            </a:xfrm>
            <a:prstGeom prst="line">
              <a:avLst/>
            </a:prstGeom>
            <a:ln w="38100">
              <a:solidFill>
                <a:srgbClr val="00206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20 Conector recto"/>
            <p:cNvCxnSpPr/>
            <p:nvPr/>
          </p:nvCxnSpPr>
          <p:spPr>
            <a:xfrm>
              <a:off x="5620908" y="2067694"/>
              <a:ext cx="0" cy="2376264"/>
            </a:xfrm>
            <a:prstGeom prst="line">
              <a:avLst/>
            </a:prstGeom>
            <a:ln w="38100">
              <a:solidFill>
                <a:srgbClr val="00206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21 Conector recto"/>
            <p:cNvCxnSpPr/>
            <p:nvPr/>
          </p:nvCxnSpPr>
          <p:spPr>
            <a:xfrm>
              <a:off x="4786526" y="2067694"/>
              <a:ext cx="0" cy="2376264"/>
            </a:xfrm>
            <a:prstGeom prst="line">
              <a:avLst/>
            </a:prstGeom>
            <a:ln w="38100">
              <a:solidFill>
                <a:srgbClr val="00206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22 Conector recto"/>
            <p:cNvCxnSpPr/>
            <p:nvPr/>
          </p:nvCxnSpPr>
          <p:spPr>
            <a:xfrm>
              <a:off x="3951167" y="2067694"/>
              <a:ext cx="0" cy="2376264"/>
            </a:xfrm>
            <a:prstGeom prst="line">
              <a:avLst/>
            </a:prstGeom>
            <a:ln w="38100">
              <a:solidFill>
                <a:srgbClr val="00206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23 CuadroTexto"/>
            <p:cNvSpPr txBox="1"/>
            <p:nvPr/>
          </p:nvSpPr>
          <p:spPr>
            <a:xfrm>
              <a:off x="2627784" y="1896011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accent4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25" name="24 CuadroTexto"/>
            <p:cNvSpPr txBox="1"/>
            <p:nvPr/>
          </p:nvSpPr>
          <p:spPr>
            <a:xfrm>
              <a:off x="3396288" y="1896011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accent4">
                      <a:lumMod val="75000"/>
                    </a:schemeClr>
                  </a:solidFill>
                </a:rPr>
                <a:t>2</a:t>
              </a:r>
            </a:p>
          </p:txBody>
        </p:sp>
        <p:sp>
          <p:nvSpPr>
            <p:cNvPr id="26" name="25 CuadroTexto"/>
            <p:cNvSpPr txBox="1"/>
            <p:nvPr/>
          </p:nvSpPr>
          <p:spPr>
            <a:xfrm>
              <a:off x="5004048" y="1896011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accent4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27" name="26 CuadroTexto"/>
            <p:cNvSpPr txBox="1"/>
            <p:nvPr/>
          </p:nvSpPr>
          <p:spPr>
            <a:xfrm>
              <a:off x="5900913" y="1896011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accent4">
                      <a:lumMod val="75000"/>
                    </a:schemeClr>
                  </a:solidFill>
                </a:rPr>
                <a:t>5</a:t>
              </a:r>
            </a:p>
          </p:txBody>
        </p:sp>
        <p:sp>
          <p:nvSpPr>
            <p:cNvPr id="28" name="27 CuadroTexto"/>
            <p:cNvSpPr txBox="1"/>
            <p:nvPr/>
          </p:nvSpPr>
          <p:spPr>
            <a:xfrm>
              <a:off x="4212363" y="1896011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accent4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29" name="28 CuadroTexto"/>
            <p:cNvSpPr txBox="1"/>
            <p:nvPr/>
          </p:nvSpPr>
          <p:spPr>
            <a:xfrm>
              <a:off x="7524328" y="1896011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accent4">
                      <a:lumMod val="75000"/>
                    </a:schemeClr>
                  </a:solidFill>
                </a:rPr>
                <a:t>7</a:t>
              </a:r>
            </a:p>
          </p:txBody>
        </p:sp>
        <p:sp>
          <p:nvSpPr>
            <p:cNvPr id="30" name="29 CuadroTexto"/>
            <p:cNvSpPr txBox="1"/>
            <p:nvPr/>
          </p:nvSpPr>
          <p:spPr>
            <a:xfrm>
              <a:off x="6736175" y="1896011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accent4">
                      <a:lumMod val="75000"/>
                    </a:schemeClr>
                  </a:solidFill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9730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Elipse"/>
          <p:cNvSpPr/>
          <p:nvPr/>
        </p:nvSpPr>
        <p:spPr>
          <a:xfrm>
            <a:off x="7452320" y="2372883"/>
            <a:ext cx="432048" cy="85260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El Símil de la Lavandería</a:t>
            </a:r>
          </a:p>
        </p:txBody>
      </p:sp>
      <p:sp>
        <p:nvSpPr>
          <p:cNvPr id="30" name="29 CuadroTexto"/>
          <p:cNvSpPr txBox="1"/>
          <p:nvPr/>
        </p:nvSpPr>
        <p:spPr>
          <a:xfrm>
            <a:off x="1055061" y="1340768"/>
            <a:ext cx="164731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s-ES" dirty="0"/>
              <a:t>3 etapas	 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" dirty="0"/>
              <a:t> = 3</a:t>
            </a:r>
          </a:p>
        </p:txBody>
      </p:sp>
      <p:sp>
        <p:nvSpPr>
          <p:cNvPr id="33" name="32 CuadroTexto"/>
          <p:cNvSpPr txBox="1"/>
          <p:nvPr/>
        </p:nvSpPr>
        <p:spPr>
          <a:xfrm>
            <a:off x="539551" y="5929458"/>
            <a:ext cx="8580905" cy="843308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Terminar 5 coladas requerirá el tiempo de duración de un total de  7 etapas:  </a:t>
            </a:r>
          </a:p>
          <a:p>
            <a:r>
              <a:rPr lang="es-E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+ n - 1</a:t>
            </a:r>
          </a:p>
        </p:txBody>
      </p:sp>
      <p:sp>
        <p:nvSpPr>
          <p:cNvPr id="41" name="40 CuadroTexto"/>
          <p:cNvSpPr txBox="1"/>
          <p:nvPr/>
        </p:nvSpPr>
        <p:spPr>
          <a:xfrm>
            <a:off x="3328948" y="1340768"/>
            <a:ext cx="1750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s-ES" dirty="0"/>
              <a:t>5 coladas	 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" dirty="0"/>
              <a:t> = 5</a:t>
            </a:r>
          </a:p>
        </p:txBody>
      </p:sp>
      <p:grpSp>
        <p:nvGrpSpPr>
          <p:cNvPr id="47" name="46 Grupo"/>
          <p:cNvGrpSpPr/>
          <p:nvPr/>
        </p:nvGrpSpPr>
        <p:grpSpPr>
          <a:xfrm>
            <a:off x="1002897" y="2999783"/>
            <a:ext cx="7161269" cy="2375187"/>
            <a:chOff x="1002897" y="2577712"/>
            <a:chExt cx="7161269" cy="1781390"/>
          </a:xfrm>
        </p:grpSpPr>
        <p:grpSp>
          <p:nvGrpSpPr>
            <p:cNvPr id="6" name="5 Grupo"/>
            <p:cNvGrpSpPr/>
            <p:nvPr/>
          </p:nvGrpSpPr>
          <p:grpSpPr>
            <a:xfrm>
              <a:off x="2279860" y="2579732"/>
              <a:ext cx="4176310" cy="973332"/>
              <a:chOff x="2133600" y="5410200"/>
              <a:chExt cx="4191000" cy="907245"/>
            </a:xfrm>
          </p:grpSpPr>
          <p:sp>
            <p:nvSpPr>
              <p:cNvPr id="7" name="CuadroTexto 14"/>
              <p:cNvSpPr txBox="1"/>
              <p:nvPr/>
            </p:nvSpPr>
            <p:spPr>
              <a:xfrm>
                <a:off x="2133600" y="5410200"/>
                <a:ext cx="838200" cy="19364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ES_tradnl" sz="1200">
                    <a:solidFill>
                      <a:schemeClr val="accent1">
                        <a:lumMod val="75000"/>
                      </a:schemeClr>
                    </a:solidFill>
                  </a:rPr>
                  <a:t>Lavado</a:t>
                </a:r>
              </a:p>
            </p:txBody>
          </p:sp>
          <p:sp>
            <p:nvSpPr>
              <p:cNvPr id="8" name="CuadroTexto 15"/>
              <p:cNvSpPr txBox="1"/>
              <p:nvPr/>
            </p:nvSpPr>
            <p:spPr>
              <a:xfrm>
                <a:off x="2971800" y="5410200"/>
                <a:ext cx="838200" cy="193644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ES_tradnl" sz="1200" dirty="0">
                    <a:solidFill>
                      <a:schemeClr val="accent1">
                        <a:lumMod val="75000"/>
                      </a:schemeClr>
                    </a:solidFill>
                  </a:rPr>
                  <a:t>Secado</a:t>
                </a:r>
              </a:p>
            </p:txBody>
          </p:sp>
          <p:sp>
            <p:nvSpPr>
              <p:cNvPr id="9" name="CuadroTexto 16"/>
              <p:cNvSpPr txBox="1"/>
              <p:nvPr/>
            </p:nvSpPr>
            <p:spPr>
              <a:xfrm>
                <a:off x="3810000" y="5410200"/>
                <a:ext cx="838200" cy="19364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ES_tradnl" sz="1200" dirty="0">
                    <a:solidFill>
                      <a:schemeClr val="accent1">
                        <a:lumMod val="75000"/>
                      </a:schemeClr>
                    </a:solidFill>
                  </a:rPr>
                  <a:t>Planchado</a:t>
                </a:r>
              </a:p>
            </p:txBody>
          </p:sp>
          <p:sp>
            <p:nvSpPr>
              <p:cNvPr id="10" name="CuadroTexto 17"/>
              <p:cNvSpPr txBox="1"/>
              <p:nvPr/>
            </p:nvSpPr>
            <p:spPr>
              <a:xfrm>
                <a:off x="2971800" y="5742801"/>
                <a:ext cx="838200" cy="19364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ES_tradnl" sz="1200" dirty="0">
                    <a:solidFill>
                      <a:schemeClr val="accent1">
                        <a:lumMod val="75000"/>
                      </a:schemeClr>
                    </a:solidFill>
                  </a:rPr>
                  <a:t>Lavado</a:t>
                </a:r>
              </a:p>
            </p:txBody>
          </p:sp>
          <p:sp>
            <p:nvSpPr>
              <p:cNvPr id="11" name="CuadroTexto 18"/>
              <p:cNvSpPr txBox="1"/>
              <p:nvPr/>
            </p:nvSpPr>
            <p:spPr>
              <a:xfrm>
                <a:off x="3810000" y="5742801"/>
                <a:ext cx="838200" cy="193644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ES_tradnl" sz="1200" dirty="0">
                    <a:solidFill>
                      <a:schemeClr val="accent1">
                        <a:lumMod val="75000"/>
                      </a:schemeClr>
                    </a:solidFill>
                  </a:rPr>
                  <a:t>Secado</a:t>
                </a:r>
              </a:p>
            </p:txBody>
          </p:sp>
          <p:sp>
            <p:nvSpPr>
              <p:cNvPr id="12" name="CuadroTexto 19"/>
              <p:cNvSpPr txBox="1"/>
              <p:nvPr/>
            </p:nvSpPr>
            <p:spPr>
              <a:xfrm>
                <a:off x="4648200" y="5742801"/>
                <a:ext cx="838200" cy="19364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ES_tradnl" sz="1200" dirty="0">
                    <a:solidFill>
                      <a:schemeClr val="accent1">
                        <a:lumMod val="75000"/>
                      </a:schemeClr>
                    </a:solidFill>
                  </a:rPr>
                  <a:t>Planchado</a:t>
                </a:r>
              </a:p>
            </p:txBody>
          </p:sp>
          <p:sp>
            <p:nvSpPr>
              <p:cNvPr id="13" name="CuadroTexto 20"/>
              <p:cNvSpPr txBox="1"/>
              <p:nvPr/>
            </p:nvSpPr>
            <p:spPr>
              <a:xfrm>
                <a:off x="3810000" y="6123801"/>
                <a:ext cx="838200" cy="19364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ES_tradnl" sz="1200">
                    <a:solidFill>
                      <a:schemeClr val="accent1">
                        <a:lumMod val="75000"/>
                      </a:schemeClr>
                    </a:solidFill>
                  </a:rPr>
                  <a:t>Lavado</a:t>
                </a:r>
              </a:p>
            </p:txBody>
          </p:sp>
          <p:sp>
            <p:nvSpPr>
              <p:cNvPr id="14" name="CuadroTexto 21"/>
              <p:cNvSpPr txBox="1"/>
              <p:nvPr/>
            </p:nvSpPr>
            <p:spPr>
              <a:xfrm>
                <a:off x="4648200" y="6123801"/>
                <a:ext cx="838200" cy="193644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ES_tradnl" sz="1200" dirty="0">
                    <a:solidFill>
                      <a:schemeClr val="accent1">
                        <a:lumMod val="75000"/>
                      </a:schemeClr>
                    </a:solidFill>
                  </a:rPr>
                  <a:t>Secado</a:t>
                </a:r>
              </a:p>
            </p:txBody>
          </p:sp>
          <p:sp>
            <p:nvSpPr>
              <p:cNvPr id="15" name="CuadroTexto 22"/>
              <p:cNvSpPr txBox="1"/>
              <p:nvPr/>
            </p:nvSpPr>
            <p:spPr>
              <a:xfrm>
                <a:off x="5486400" y="6123801"/>
                <a:ext cx="838200" cy="19364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ES_tradnl" sz="1200" dirty="0">
                    <a:solidFill>
                      <a:schemeClr val="accent1">
                        <a:lumMod val="75000"/>
                      </a:schemeClr>
                    </a:solidFill>
                  </a:rPr>
                  <a:t>Planchado</a:t>
                </a:r>
              </a:p>
            </p:txBody>
          </p:sp>
        </p:grpSp>
        <p:grpSp>
          <p:nvGrpSpPr>
            <p:cNvPr id="19" name="18 Grupo"/>
            <p:cNvGrpSpPr/>
            <p:nvPr/>
          </p:nvGrpSpPr>
          <p:grpSpPr>
            <a:xfrm>
              <a:off x="4803672" y="3750833"/>
              <a:ext cx="2505786" cy="207749"/>
              <a:chOff x="5294470" y="3867894"/>
              <a:chExt cx="2505786" cy="207749"/>
            </a:xfrm>
          </p:grpSpPr>
          <p:sp>
            <p:nvSpPr>
              <p:cNvPr id="34" name="CuadroTexto 20"/>
              <p:cNvSpPr txBox="1"/>
              <p:nvPr/>
            </p:nvSpPr>
            <p:spPr>
              <a:xfrm>
                <a:off x="5294470" y="3867894"/>
                <a:ext cx="835262" cy="20774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ES_tradnl" sz="1200">
                    <a:solidFill>
                      <a:schemeClr val="accent1">
                        <a:lumMod val="75000"/>
                      </a:schemeClr>
                    </a:solidFill>
                  </a:rPr>
                  <a:t>Lavado</a:t>
                </a:r>
              </a:p>
            </p:txBody>
          </p:sp>
          <p:sp>
            <p:nvSpPr>
              <p:cNvPr id="35" name="CuadroTexto 21"/>
              <p:cNvSpPr txBox="1"/>
              <p:nvPr/>
            </p:nvSpPr>
            <p:spPr>
              <a:xfrm>
                <a:off x="6129732" y="3867894"/>
                <a:ext cx="835262" cy="207749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ES_tradnl" sz="1200" dirty="0">
                    <a:solidFill>
                      <a:schemeClr val="accent1">
                        <a:lumMod val="75000"/>
                      </a:schemeClr>
                    </a:solidFill>
                  </a:rPr>
                  <a:t>Secado</a:t>
                </a:r>
              </a:p>
            </p:txBody>
          </p:sp>
          <p:sp>
            <p:nvSpPr>
              <p:cNvPr id="36" name="CuadroTexto 22"/>
              <p:cNvSpPr txBox="1"/>
              <p:nvPr/>
            </p:nvSpPr>
            <p:spPr>
              <a:xfrm>
                <a:off x="6964994" y="3867894"/>
                <a:ext cx="835262" cy="20774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ES_tradnl" sz="1200" dirty="0">
                    <a:solidFill>
                      <a:schemeClr val="accent1">
                        <a:lumMod val="75000"/>
                      </a:schemeClr>
                    </a:solidFill>
                  </a:rPr>
                  <a:t>Planchado</a:t>
                </a:r>
              </a:p>
            </p:txBody>
          </p:sp>
        </p:grpSp>
        <p:grpSp>
          <p:nvGrpSpPr>
            <p:cNvPr id="37" name="36 Grupo"/>
            <p:cNvGrpSpPr/>
            <p:nvPr/>
          </p:nvGrpSpPr>
          <p:grpSpPr>
            <a:xfrm>
              <a:off x="5658380" y="4151353"/>
              <a:ext cx="2505786" cy="207749"/>
              <a:chOff x="5294470" y="3867894"/>
              <a:chExt cx="2505786" cy="207749"/>
            </a:xfrm>
          </p:grpSpPr>
          <p:sp>
            <p:nvSpPr>
              <p:cNvPr id="38" name="CuadroTexto 20"/>
              <p:cNvSpPr txBox="1"/>
              <p:nvPr/>
            </p:nvSpPr>
            <p:spPr>
              <a:xfrm>
                <a:off x="5294470" y="3867894"/>
                <a:ext cx="835262" cy="20774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ES_tradnl" sz="1200">
                    <a:solidFill>
                      <a:schemeClr val="accent1">
                        <a:lumMod val="75000"/>
                      </a:schemeClr>
                    </a:solidFill>
                  </a:rPr>
                  <a:t>Lavado</a:t>
                </a:r>
              </a:p>
            </p:txBody>
          </p:sp>
          <p:sp>
            <p:nvSpPr>
              <p:cNvPr id="39" name="CuadroTexto 21"/>
              <p:cNvSpPr txBox="1"/>
              <p:nvPr/>
            </p:nvSpPr>
            <p:spPr>
              <a:xfrm>
                <a:off x="6129732" y="3867894"/>
                <a:ext cx="835262" cy="207749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ES_tradnl" sz="1200" dirty="0">
                    <a:solidFill>
                      <a:schemeClr val="accent1">
                        <a:lumMod val="75000"/>
                      </a:schemeClr>
                    </a:solidFill>
                  </a:rPr>
                  <a:t>Secado</a:t>
                </a:r>
              </a:p>
            </p:txBody>
          </p:sp>
          <p:sp>
            <p:nvSpPr>
              <p:cNvPr id="40" name="CuadroTexto 22"/>
              <p:cNvSpPr txBox="1"/>
              <p:nvPr/>
            </p:nvSpPr>
            <p:spPr>
              <a:xfrm>
                <a:off x="6964994" y="3867894"/>
                <a:ext cx="835262" cy="20774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ES_tradnl" sz="1200" dirty="0">
                    <a:solidFill>
                      <a:schemeClr val="accent1">
                        <a:lumMod val="75000"/>
                      </a:schemeClr>
                    </a:solidFill>
                  </a:rPr>
                  <a:t>Planchado</a:t>
                </a:r>
              </a:p>
            </p:txBody>
          </p:sp>
        </p:grpSp>
        <p:sp>
          <p:nvSpPr>
            <p:cNvPr id="42" name="41 CuadroTexto"/>
            <p:cNvSpPr txBox="1"/>
            <p:nvPr/>
          </p:nvSpPr>
          <p:spPr>
            <a:xfrm>
              <a:off x="1007706" y="2577712"/>
              <a:ext cx="103906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b="1" dirty="0"/>
                <a:t>Colada 1</a:t>
              </a:r>
            </a:p>
          </p:txBody>
        </p:sp>
        <p:sp>
          <p:nvSpPr>
            <p:cNvPr id="43" name="42 CuadroTexto"/>
            <p:cNvSpPr txBox="1"/>
            <p:nvPr/>
          </p:nvSpPr>
          <p:spPr>
            <a:xfrm>
              <a:off x="1007706" y="2939299"/>
              <a:ext cx="103906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b="1" dirty="0"/>
                <a:t>Colada 2</a:t>
              </a:r>
            </a:p>
          </p:txBody>
        </p:sp>
        <p:sp>
          <p:nvSpPr>
            <p:cNvPr id="44" name="43 CuadroTexto"/>
            <p:cNvSpPr txBox="1"/>
            <p:nvPr/>
          </p:nvSpPr>
          <p:spPr>
            <a:xfrm>
              <a:off x="1002897" y="3345315"/>
              <a:ext cx="103906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b="1" dirty="0"/>
                <a:t>Colada 3</a:t>
              </a:r>
            </a:p>
          </p:txBody>
        </p:sp>
        <p:sp>
          <p:nvSpPr>
            <p:cNvPr id="45" name="44 CuadroTexto"/>
            <p:cNvSpPr txBox="1"/>
            <p:nvPr/>
          </p:nvSpPr>
          <p:spPr>
            <a:xfrm>
              <a:off x="1007706" y="3689734"/>
              <a:ext cx="103906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b="1" dirty="0"/>
                <a:t>Colada 4</a:t>
              </a:r>
            </a:p>
          </p:txBody>
        </p:sp>
        <p:sp>
          <p:nvSpPr>
            <p:cNvPr id="46" name="45 CuadroTexto"/>
            <p:cNvSpPr txBox="1"/>
            <p:nvPr/>
          </p:nvSpPr>
          <p:spPr>
            <a:xfrm>
              <a:off x="1007706" y="4087710"/>
              <a:ext cx="103906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b="1" dirty="0"/>
                <a:t>Colada 5</a:t>
              </a:r>
            </a:p>
          </p:txBody>
        </p:sp>
      </p:grpSp>
      <p:cxnSp>
        <p:nvCxnSpPr>
          <p:cNvPr id="49" name="48 Conector recto"/>
          <p:cNvCxnSpPr/>
          <p:nvPr/>
        </p:nvCxnSpPr>
        <p:spPr>
          <a:xfrm>
            <a:off x="3115122" y="2756925"/>
            <a:ext cx="0" cy="3168352"/>
          </a:xfrm>
          <a:prstGeom prst="line">
            <a:avLst/>
          </a:prstGeom>
          <a:ln w="3810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49 Conector recto"/>
          <p:cNvCxnSpPr/>
          <p:nvPr/>
        </p:nvCxnSpPr>
        <p:spPr>
          <a:xfrm>
            <a:off x="8177500" y="2756925"/>
            <a:ext cx="0" cy="3168352"/>
          </a:xfrm>
          <a:prstGeom prst="line">
            <a:avLst/>
          </a:prstGeom>
          <a:ln w="3810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"/>
          <p:cNvCxnSpPr/>
          <p:nvPr/>
        </p:nvCxnSpPr>
        <p:spPr>
          <a:xfrm>
            <a:off x="7317137" y="2756925"/>
            <a:ext cx="0" cy="3168352"/>
          </a:xfrm>
          <a:prstGeom prst="line">
            <a:avLst/>
          </a:prstGeom>
          <a:ln w="3810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51 Conector recto"/>
          <p:cNvCxnSpPr/>
          <p:nvPr/>
        </p:nvCxnSpPr>
        <p:spPr>
          <a:xfrm>
            <a:off x="6474196" y="2756925"/>
            <a:ext cx="0" cy="3168352"/>
          </a:xfrm>
          <a:prstGeom prst="line">
            <a:avLst/>
          </a:prstGeom>
          <a:ln w="3810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recto"/>
          <p:cNvCxnSpPr/>
          <p:nvPr/>
        </p:nvCxnSpPr>
        <p:spPr>
          <a:xfrm>
            <a:off x="5620908" y="2756925"/>
            <a:ext cx="0" cy="3168352"/>
          </a:xfrm>
          <a:prstGeom prst="line">
            <a:avLst/>
          </a:prstGeom>
          <a:ln w="3810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53 Conector recto"/>
          <p:cNvCxnSpPr/>
          <p:nvPr/>
        </p:nvCxnSpPr>
        <p:spPr>
          <a:xfrm>
            <a:off x="4786526" y="2756925"/>
            <a:ext cx="0" cy="3168352"/>
          </a:xfrm>
          <a:prstGeom prst="line">
            <a:avLst/>
          </a:prstGeom>
          <a:ln w="3810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54 Conector recto"/>
          <p:cNvCxnSpPr/>
          <p:nvPr/>
        </p:nvCxnSpPr>
        <p:spPr>
          <a:xfrm>
            <a:off x="3951167" y="2756925"/>
            <a:ext cx="0" cy="3168352"/>
          </a:xfrm>
          <a:prstGeom prst="line">
            <a:avLst/>
          </a:prstGeom>
          <a:ln w="3810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55 CuadroTexto"/>
          <p:cNvSpPr txBox="1"/>
          <p:nvPr/>
        </p:nvSpPr>
        <p:spPr>
          <a:xfrm>
            <a:off x="2619769" y="252801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accent4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57" name="56 CuadroTexto"/>
          <p:cNvSpPr txBox="1"/>
          <p:nvPr/>
        </p:nvSpPr>
        <p:spPr>
          <a:xfrm>
            <a:off x="3388273" y="252801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58" name="57 CuadroTexto"/>
          <p:cNvSpPr txBox="1"/>
          <p:nvPr/>
        </p:nvSpPr>
        <p:spPr>
          <a:xfrm>
            <a:off x="4996033" y="252801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accent4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59" name="58 CuadroTexto"/>
          <p:cNvSpPr txBox="1"/>
          <p:nvPr/>
        </p:nvSpPr>
        <p:spPr>
          <a:xfrm>
            <a:off x="5892898" y="252801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accent4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60" name="59 CuadroTexto"/>
          <p:cNvSpPr txBox="1"/>
          <p:nvPr/>
        </p:nvSpPr>
        <p:spPr>
          <a:xfrm>
            <a:off x="4204348" y="252801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accent4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61" name="60 CuadroTexto"/>
          <p:cNvSpPr txBox="1"/>
          <p:nvPr/>
        </p:nvSpPr>
        <p:spPr>
          <a:xfrm>
            <a:off x="7516313" y="252801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accent4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62" name="61 CuadroTexto"/>
          <p:cNvSpPr txBox="1"/>
          <p:nvPr/>
        </p:nvSpPr>
        <p:spPr>
          <a:xfrm>
            <a:off x="6728160" y="252801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accent4">
                    <a:lumMod val="75000"/>
                  </a:schemeClr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75765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Proceso de </a:t>
            </a:r>
            <a:r>
              <a:rPr lang="es-ES_tradnl" dirty="0"/>
              <a:t>Segmentación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Entrada</a:t>
            </a:r>
            <a:endParaRPr lang="ca-ES" dirty="0"/>
          </a:p>
          <a:p>
            <a:pPr lvl="1"/>
            <a:r>
              <a:rPr lang="ca-ES" dirty="0"/>
              <a:t>Operador </a:t>
            </a:r>
            <a:r>
              <a:rPr lang="es-ES" dirty="0"/>
              <a:t>lógico </a:t>
            </a:r>
            <a:r>
              <a:rPr lang="es-ES" i="1" dirty="0"/>
              <a:t>P </a:t>
            </a:r>
            <a:r>
              <a:rPr lang="es-ES" dirty="0"/>
              <a:t>que opera sobre datos de entrada</a:t>
            </a:r>
          </a:p>
          <a:p>
            <a:pPr lvl="1"/>
            <a:r>
              <a:rPr lang="es-ES" i="1" dirty="0"/>
              <a:t>P</a:t>
            </a:r>
            <a:r>
              <a:rPr lang="es-ES" dirty="0"/>
              <a:t> se considera constituido por </a:t>
            </a:r>
            <a:r>
              <a:rPr lang="es-E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" dirty="0"/>
              <a:t>  etapas </a:t>
            </a:r>
            <a:r>
              <a:rPr lang="es-ES" i="1" dirty="0"/>
              <a:t>P</a:t>
            </a:r>
            <a:r>
              <a:rPr lang="es-ES" sz="3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s-ES" dirty="0"/>
              <a:t> que operan de manera secuencial sobre los datos</a:t>
            </a:r>
          </a:p>
          <a:p>
            <a:pPr lvl="1"/>
            <a:r>
              <a:rPr lang="es-ES" dirty="0"/>
              <a:t>Consideraciones temporales:</a:t>
            </a:r>
          </a:p>
          <a:p>
            <a:pPr lvl="2"/>
            <a:r>
              <a:rPr lang="es-ES" dirty="0"/>
              <a:t>Cada etapa </a:t>
            </a:r>
            <a:r>
              <a:rPr lang="es-ES" i="1" dirty="0"/>
              <a:t>P</a:t>
            </a:r>
            <a:r>
              <a:rPr lang="es-ES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s-ES" dirty="0"/>
              <a:t> tiene necesidades temporales (retardo) distintas: </a:t>
            </a:r>
            <a:r>
              <a:rPr lang="es-ES_tradnl" sz="2400" i="1" dirty="0">
                <a:solidFill>
                  <a:schemeClr val="tx2"/>
                </a:solidFill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</a:t>
            </a:r>
            <a:r>
              <a:rPr lang="es-ES_tradnl" sz="2400" b="1" i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</a:rPr>
              <a:t>i</a:t>
            </a:r>
            <a:endParaRPr lang="es-ES_tradnl" b="1" i="1" baseline="-25000" dirty="0">
              <a:solidFill>
                <a:schemeClr val="tx2"/>
              </a:solidFill>
              <a:latin typeface="Times New Roman" panose="02020603050405020304" pitchFamily="18" charset="0"/>
              <a:ea typeface="ＭＳ Ｐゴシック" pitchFamily="-84" charset="-128"/>
              <a:cs typeface="Times New Roman" panose="02020603050405020304" pitchFamily="18" charset="0"/>
            </a:endParaRPr>
          </a:p>
          <a:p>
            <a:pPr lvl="2"/>
            <a:r>
              <a:rPr lang="es-ES" dirty="0"/>
              <a:t>Retardo del circuito:</a:t>
            </a:r>
          </a:p>
        </p:txBody>
      </p:sp>
      <p:sp>
        <p:nvSpPr>
          <p:cNvPr id="3686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D4E22-4926-344C-AEDF-87127A44275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6880" name="Text Box 16"/>
          <p:cNvSpPr txBox="1">
            <a:spLocks noChangeArrowheads="1"/>
          </p:cNvSpPr>
          <p:nvPr/>
        </p:nvSpPr>
        <p:spPr bwMode="auto">
          <a:xfrm>
            <a:off x="529963" y="5270316"/>
            <a:ext cx="1070237" cy="646331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_tradnl" sz="1800" b="0" dirty="0"/>
              <a:t>Entrada</a:t>
            </a:r>
            <a:br>
              <a:rPr lang="es-ES_tradnl" sz="1800" b="0" dirty="0"/>
            </a:br>
            <a:r>
              <a:rPr lang="es-ES_tradnl" sz="1800" b="0" dirty="0"/>
              <a:t>de datos</a:t>
            </a:r>
          </a:p>
        </p:txBody>
      </p:sp>
      <p:sp>
        <p:nvSpPr>
          <p:cNvPr id="36881" name="Text Box 17"/>
          <p:cNvSpPr txBox="1">
            <a:spLocks noChangeArrowheads="1"/>
          </p:cNvSpPr>
          <p:nvPr/>
        </p:nvSpPr>
        <p:spPr bwMode="auto">
          <a:xfrm>
            <a:off x="7848600" y="5330641"/>
            <a:ext cx="1070237" cy="646331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_tradnl" sz="1800" b="0" dirty="0"/>
              <a:t>Salida</a:t>
            </a:r>
            <a:br>
              <a:rPr lang="es-ES_tradnl" sz="1800" b="0" dirty="0"/>
            </a:br>
            <a:r>
              <a:rPr lang="es-ES_tradnl" sz="1800" b="0" dirty="0"/>
              <a:t>de datos</a:t>
            </a:r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1828800" y="5153744"/>
            <a:ext cx="5791200" cy="9223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/>
          </a:p>
        </p:txBody>
      </p:sp>
      <p:grpSp>
        <p:nvGrpSpPr>
          <p:cNvPr id="19" name="Group 21"/>
          <p:cNvGrpSpPr>
            <a:grpSpLocks/>
          </p:cNvGrpSpPr>
          <p:nvPr/>
        </p:nvGrpSpPr>
        <p:grpSpPr bwMode="auto">
          <a:xfrm>
            <a:off x="1395413" y="5225182"/>
            <a:ext cx="6553200" cy="762000"/>
            <a:chOff x="960" y="1344"/>
            <a:chExt cx="4128" cy="480"/>
          </a:xfrm>
          <a:gradFill>
            <a:gsLst>
              <a:gs pos="0">
                <a:schemeClr val="accent2"/>
              </a:gs>
              <a:gs pos="15000">
                <a:schemeClr val="accent2"/>
              </a:gs>
              <a:gs pos="62000">
                <a:schemeClr val="accent2"/>
              </a:gs>
              <a:gs pos="97000">
                <a:schemeClr val="accent2"/>
              </a:gs>
              <a:gs pos="100000">
                <a:schemeClr val="accent2"/>
              </a:gs>
            </a:gsLst>
            <a:path path="circle">
              <a:fillToRect l="100000" t="100000" r="100000" b="100000"/>
            </a:path>
          </a:gradFill>
        </p:grpSpPr>
        <p:sp>
          <p:nvSpPr>
            <p:cNvPr id="20" name="Rectangle 7"/>
            <p:cNvSpPr>
              <a:spLocks noChangeArrowheads="1"/>
            </p:cNvSpPr>
            <p:nvPr/>
          </p:nvSpPr>
          <p:spPr bwMode="blackWhite">
            <a:xfrm>
              <a:off x="1392" y="1344"/>
              <a:ext cx="576" cy="480"/>
            </a:xfrm>
            <a:prstGeom prst="rect">
              <a:avLst/>
            </a:prstGeom>
            <a:grpFill/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rgbClr val="FF9900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>
                <a:lnSpc>
                  <a:spcPct val="80000"/>
                </a:lnSpc>
              </a:pPr>
              <a:r>
                <a:rPr lang="es-ES" b="0" i="1" dirty="0">
                  <a:solidFill>
                    <a:srgbClr val="000000"/>
                  </a:solidFill>
                </a:rPr>
                <a:t>P</a:t>
              </a:r>
              <a:r>
                <a:rPr lang="es-ES" i="1" baseline="-25000" dirty="0">
                  <a:solidFill>
                    <a:srgbClr val="000000"/>
                  </a:solidFill>
                </a:rPr>
                <a:t>1</a:t>
              </a:r>
            </a:p>
            <a:p>
              <a:pPr algn="ctr" eaLnBrk="0" hangingPunct="0">
                <a:lnSpc>
                  <a:spcPct val="80000"/>
                </a:lnSpc>
              </a:pPr>
              <a:r>
                <a:rPr lang="es-ES" b="0" dirty="0">
                  <a:solidFill>
                    <a:srgbClr val="000000"/>
                  </a:solidFill>
                </a:rPr>
                <a:t>(</a:t>
              </a:r>
              <a:r>
                <a:rPr lang="es-ES" sz="2400" dirty="0">
                  <a:solidFill>
                    <a:srgbClr val="000000"/>
                  </a:solidFill>
                  <a:ea typeface="Arial" pitchFamily="-84" charset="0"/>
                  <a:cs typeface="Arial" pitchFamily="-84" charset="0"/>
                  <a:sym typeface="Symbol" pitchFamily="-84" charset="2"/>
                </a:rPr>
                <a:t></a:t>
              </a:r>
              <a:r>
                <a:rPr lang="es-ES" sz="2400" i="1" baseline="-25000" dirty="0">
                  <a:solidFill>
                    <a:srgbClr val="000000"/>
                  </a:solidFill>
                  <a:ea typeface="Arial" pitchFamily="-84" charset="0"/>
                  <a:cs typeface="Arial" pitchFamily="-84" charset="0"/>
                </a:rPr>
                <a:t>1</a:t>
              </a:r>
              <a:r>
                <a:rPr lang="es-ES" b="0" dirty="0">
                  <a:solidFill>
                    <a:srgbClr val="000000"/>
                  </a:solidFill>
                  <a:ea typeface="Arial" pitchFamily="-84" charset="0"/>
                  <a:cs typeface="Arial" pitchFamily="-84" charset="0"/>
                </a:rPr>
                <a:t>)</a:t>
              </a:r>
              <a:endParaRPr lang="ca-ES" b="0" dirty="0">
                <a:solidFill>
                  <a:srgbClr val="000000"/>
                </a:solidFill>
                <a:ea typeface="Arial" pitchFamily="-84" charset="0"/>
                <a:cs typeface="Arial" pitchFamily="-84" charset="0"/>
              </a:endParaRPr>
            </a:p>
          </p:txBody>
        </p:sp>
        <p:sp>
          <p:nvSpPr>
            <p:cNvPr id="21" name="Rectangle 9"/>
            <p:cNvSpPr>
              <a:spLocks noChangeArrowheads="1"/>
            </p:cNvSpPr>
            <p:nvPr/>
          </p:nvSpPr>
          <p:spPr bwMode="blackWhite">
            <a:xfrm>
              <a:off x="2208" y="1344"/>
              <a:ext cx="576" cy="480"/>
            </a:xfrm>
            <a:prstGeom prst="rect">
              <a:avLst/>
            </a:prstGeom>
            <a:grpFill/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rgbClr val="FF9900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>
                <a:lnSpc>
                  <a:spcPct val="80000"/>
                </a:lnSpc>
              </a:pPr>
              <a:r>
                <a:rPr lang="es-ES" b="0" i="1" dirty="0">
                  <a:solidFill>
                    <a:srgbClr val="000000"/>
                  </a:solidFill>
                </a:rPr>
                <a:t>P</a:t>
              </a:r>
              <a:r>
                <a:rPr lang="es-ES" i="1" baseline="-25000" dirty="0">
                  <a:solidFill>
                    <a:srgbClr val="000000"/>
                  </a:solidFill>
                </a:rPr>
                <a:t>2</a:t>
              </a:r>
            </a:p>
            <a:p>
              <a:pPr algn="ctr" eaLnBrk="0" hangingPunct="0">
                <a:lnSpc>
                  <a:spcPct val="80000"/>
                </a:lnSpc>
              </a:pPr>
              <a:r>
                <a:rPr lang="es-ES" b="0" dirty="0">
                  <a:solidFill>
                    <a:srgbClr val="000000"/>
                  </a:solidFill>
                </a:rPr>
                <a:t>(</a:t>
              </a:r>
              <a:r>
                <a:rPr lang="es-ES" sz="2400" dirty="0">
                  <a:solidFill>
                    <a:srgbClr val="000000"/>
                  </a:solidFill>
                  <a:ea typeface="Arial" pitchFamily="-84" charset="0"/>
                  <a:cs typeface="Arial" pitchFamily="-84" charset="0"/>
                  <a:sym typeface="Symbol" pitchFamily="-84" charset="2"/>
                </a:rPr>
                <a:t></a:t>
              </a:r>
              <a:r>
                <a:rPr lang="es-ES" sz="2400" i="1" baseline="-25000" dirty="0">
                  <a:solidFill>
                    <a:srgbClr val="000000"/>
                  </a:solidFill>
                  <a:ea typeface="Arial" pitchFamily="-84" charset="0"/>
                  <a:cs typeface="Arial" pitchFamily="-84" charset="0"/>
                </a:rPr>
                <a:t>2</a:t>
              </a:r>
              <a:r>
                <a:rPr lang="es-ES" b="0" dirty="0">
                  <a:solidFill>
                    <a:srgbClr val="000000"/>
                  </a:solidFill>
                  <a:ea typeface="Arial" pitchFamily="-84" charset="0"/>
                  <a:cs typeface="Arial" pitchFamily="-84" charset="0"/>
                </a:rPr>
                <a:t>)</a:t>
              </a:r>
              <a:endParaRPr lang="ca-ES" b="0" dirty="0">
                <a:solidFill>
                  <a:srgbClr val="000000"/>
                </a:solidFill>
                <a:ea typeface="Arial" pitchFamily="-84" charset="0"/>
                <a:cs typeface="Arial" pitchFamily="-84" charset="0"/>
              </a:endParaRPr>
            </a:p>
          </p:txBody>
        </p:sp>
        <p:sp>
          <p:nvSpPr>
            <p:cNvPr id="22" name="Rectangle 11"/>
            <p:cNvSpPr>
              <a:spLocks noChangeArrowheads="1"/>
            </p:cNvSpPr>
            <p:nvPr/>
          </p:nvSpPr>
          <p:spPr bwMode="blackWhite">
            <a:xfrm>
              <a:off x="4080" y="1344"/>
              <a:ext cx="576" cy="480"/>
            </a:xfrm>
            <a:prstGeom prst="rect">
              <a:avLst/>
            </a:prstGeom>
            <a:grpFill/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rgbClr val="FF9900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>
                <a:lnSpc>
                  <a:spcPct val="80000"/>
                </a:lnSpc>
              </a:pPr>
              <a:r>
                <a:rPr lang="es-ES" b="0" i="1" dirty="0" err="1">
                  <a:solidFill>
                    <a:srgbClr val="000000"/>
                  </a:solidFill>
                </a:rPr>
                <a:t>P</a:t>
              </a:r>
              <a:r>
                <a:rPr lang="es-ES" sz="24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es-ES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80000"/>
                </a:lnSpc>
              </a:pPr>
              <a:r>
                <a:rPr lang="es-ES" b="0" dirty="0">
                  <a:solidFill>
                    <a:srgbClr val="000000"/>
                  </a:solidFill>
                </a:rPr>
                <a:t>(</a:t>
              </a:r>
              <a:r>
                <a:rPr lang="es-ES" sz="2400" dirty="0">
                  <a:solidFill>
                    <a:srgbClr val="000000"/>
                  </a:solidFill>
                  <a:ea typeface="Arial" pitchFamily="-84" charset="0"/>
                  <a:cs typeface="Arial" pitchFamily="-84" charset="0"/>
                  <a:sym typeface="Symbol" pitchFamily="-84" charset="2"/>
                </a:rPr>
                <a:t></a:t>
              </a:r>
              <a:r>
                <a:rPr lang="es-ES" sz="2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s-ES" b="0" dirty="0">
                  <a:solidFill>
                    <a:srgbClr val="000000"/>
                  </a:solidFill>
                  <a:ea typeface="Arial" pitchFamily="-84" charset="0"/>
                  <a:cs typeface="Arial" pitchFamily="-84" charset="0"/>
                </a:rPr>
                <a:t>)</a:t>
              </a:r>
              <a:endParaRPr lang="ca-ES" b="0" dirty="0">
                <a:solidFill>
                  <a:srgbClr val="000000"/>
                </a:solidFill>
                <a:ea typeface="Arial" pitchFamily="-84" charset="0"/>
                <a:cs typeface="Arial" pitchFamily="-84" charset="0"/>
              </a:endParaRPr>
            </a:p>
          </p:txBody>
        </p:sp>
        <p:grpSp>
          <p:nvGrpSpPr>
            <p:cNvPr id="23" name="Group 20"/>
            <p:cNvGrpSpPr>
              <a:grpSpLocks/>
            </p:cNvGrpSpPr>
            <p:nvPr/>
          </p:nvGrpSpPr>
          <p:grpSpPr bwMode="auto">
            <a:xfrm>
              <a:off x="960" y="1584"/>
              <a:ext cx="4128" cy="0"/>
              <a:chOff x="960" y="1584"/>
              <a:chExt cx="4128" cy="0"/>
            </a:xfrm>
            <a:grpFill/>
          </p:grpSpPr>
          <p:sp>
            <p:nvSpPr>
              <p:cNvPr id="24" name="Line 8"/>
              <p:cNvSpPr>
                <a:spLocks noChangeShapeType="1"/>
              </p:cNvSpPr>
              <p:nvPr/>
            </p:nvSpPr>
            <p:spPr bwMode="auto">
              <a:xfrm>
                <a:off x="960" y="1584"/>
                <a:ext cx="432" cy="0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5" name="Line 10"/>
              <p:cNvSpPr>
                <a:spLocks noChangeShapeType="1"/>
              </p:cNvSpPr>
              <p:nvPr/>
            </p:nvSpPr>
            <p:spPr bwMode="auto">
              <a:xfrm>
                <a:off x="1968" y="1584"/>
                <a:ext cx="240" cy="0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6" name="Line 12"/>
              <p:cNvSpPr>
                <a:spLocks noChangeShapeType="1"/>
              </p:cNvSpPr>
              <p:nvPr/>
            </p:nvSpPr>
            <p:spPr bwMode="auto">
              <a:xfrm>
                <a:off x="3840" y="1584"/>
                <a:ext cx="240" cy="0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Line 13"/>
              <p:cNvSpPr>
                <a:spLocks noChangeShapeType="1"/>
              </p:cNvSpPr>
              <p:nvPr/>
            </p:nvSpPr>
            <p:spPr bwMode="auto">
              <a:xfrm>
                <a:off x="2784" y="1584"/>
                <a:ext cx="240" cy="0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8" name="Line 14"/>
              <p:cNvSpPr>
                <a:spLocks noChangeShapeType="1"/>
              </p:cNvSpPr>
              <p:nvPr/>
            </p:nvSpPr>
            <p:spPr bwMode="auto">
              <a:xfrm>
                <a:off x="4656" y="1584"/>
                <a:ext cx="432" cy="0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Line 15"/>
              <p:cNvSpPr>
                <a:spLocks noChangeShapeType="1"/>
              </p:cNvSpPr>
              <p:nvPr/>
            </p:nvSpPr>
            <p:spPr bwMode="auto">
              <a:xfrm>
                <a:off x="3168" y="1584"/>
                <a:ext cx="480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30" name="Line 23"/>
          <p:cNvSpPr>
            <a:spLocks noChangeShapeType="1"/>
          </p:cNvSpPr>
          <p:nvPr/>
        </p:nvSpPr>
        <p:spPr bwMode="blackWhite">
          <a:xfrm>
            <a:off x="1828800" y="6090369"/>
            <a:ext cx="0" cy="36036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Line 24"/>
          <p:cNvSpPr>
            <a:spLocks noChangeShapeType="1"/>
          </p:cNvSpPr>
          <p:nvPr/>
        </p:nvSpPr>
        <p:spPr bwMode="blackWhite">
          <a:xfrm>
            <a:off x="7616825" y="6090369"/>
            <a:ext cx="0" cy="36036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2" name="Line 25"/>
          <p:cNvSpPr>
            <a:spLocks noChangeShapeType="1"/>
          </p:cNvSpPr>
          <p:nvPr/>
        </p:nvSpPr>
        <p:spPr bwMode="blackWhite">
          <a:xfrm>
            <a:off x="1828800" y="6233244"/>
            <a:ext cx="57594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Text Box 26"/>
          <p:cNvSpPr txBox="1">
            <a:spLocks noChangeArrowheads="1"/>
          </p:cNvSpPr>
          <p:nvPr/>
        </p:nvSpPr>
        <p:spPr bwMode="blackWhite">
          <a:xfrm>
            <a:off x="4695825" y="6220544"/>
            <a:ext cx="155575" cy="3048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i="1" dirty="0">
                <a:solidFill>
                  <a:schemeClr val="tx1"/>
                </a:solidFill>
                <a:latin typeface="Times" pitchFamily="-84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1 CuadroTexto"/>
              <p:cNvSpPr txBox="1"/>
              <p:nvPr/>
            </p:nvSpPr>
            <p:spPr>
              <a:xfrm>
                <a:off x="3923928" y="4149080"/>
                <a:ext cx="1242226" cy="8769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8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/>
                        </a:rPr>
                        <m:t>𝑇</m:t>
                      </m:r>
                      <m:r>
                        <a:rPr lang="pt-BR" sz="18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18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sz="18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pt-BR" sz="18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s-ES" sz="18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es-ES" sz="18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pt-BR" sz="180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pt-BR" sz="180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s-ES" sz="18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4149080"/>
                <a:ext cx="1242226" cy="876907"/>
              </a:xfrm>
              <a:prstGeom prst="rect">
                <a:avLst/>
              </a:prstGeom>
              <a:blipFill>
                <a:blip r:embed="rId3"/>
                <a:stretch>
                  <a:fillRect l="-25510" t="-92857" r="-14286" b="-1485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8250237" cy="865187"/>
          </a:xfrm>
        </p:spPr>
        <p:txBody>
          <a:bodyPr/>
          <a:lstStyle/>
          <a:p>
            <a:r>
              <a:rPr lang="es-ES" dirty="0"/>
              <a:t>Proceso de Segmentación</a:t>
            </a:r>
            <a:endParaRPr lang="ca-ES" dirty="0"/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85800"/>
            <a:ext cx="8250237" cy="5199062"/>
          </a:xfrm>
        </p:spPr>
        <p:txBody>
          <a:bodyPr/>
          <a:lstStyle/>
          <a:p>
            <a:r>
              <a:rPr lang="es-ES_tradnl" dirty="0"/>
              <a:t>Salida (circuito segmentado)</a:t>
            </a:r>
          </a:p>
          <a:p>
            <a:pPr lvl="1"/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_tradnl" dirty="0"/>
              <a:t> etapas (profundidad de segmentación: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_tradnl" dirty="0"/>
              <a:t>)</a:t>
            </a:r>
          </a:p>
          <a:p>
            <a:pPr lvl="2"/>
            <a:r>
              <a:rPr lang="es-ES_tradnl" dirty="0"/>
              <a:t>Cada etapa va precedida de un registro de etapa (</a:t>
            </a:r>
            <a:r>
              <a:rPr lang="es-ES_tradnl" i="1" dirty="0" err="1"/>
              <a:t>staging</a:t>
            </a:r>
            <a:r>
              <a:rPr lang="es-ES_tradnl" i="1" dirty="0"/>
              <a:t> </a:t>
            </a:r>
            <a:r>
              <a:rPr lang="es-ES_tradnl" i="1" dirty="0" err="1"/>
              <a:t>latch</a:t>
            </a:r>
            <a:r>
              <a:rPr lang="es-ES_tradnl" dirty="0"/>
              <a:t>)</a:t>
            </a:r>
          </a:p>
          <a:p>
            <a:pPr lvl="2"/>
            <a:r>
              <a:rPr lang="es-ES_tradnl" dirty="0"/>
              <a:t>Etapa </a:t>
            </a:r>
            <a:r>
              <a:rPr lang="es-ES_tradnl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i:</a:t>
            </a:r>
          </a:p>
          <a:p>
            <a:pPr lvl="3"/>
            <a:r>
              <a:rPr lang="es-ES_tradnl" dirty="0"/>
              <a:t>Entrada: contenido del registro </a:t>
            </a:r>
            <a:r>
              <a:rPr lang="es-ES_tradnl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  <a:p>
            <a:pPr lvl="3"/>
            <a:r>
              <a:rPr lang="es-ES_tradnl" dirty="0"/>
              <a:t>Salida: se almacena en el registro </a:t>
            </a:r>
            <a:r>
              <a:rPr lang="es-ES_tradnl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+ 1</a:t>
            </a:r>
          </a:p>
          <a:p>
            <a:pPr lvl="2"/>
            <a:r>
              <a:rPr lang="es-ES_tradnl" dirty="0"/>
              <a:t>Registro de etapa </a:t>
            </a:r>
            <a:r>
              <a:rPr lang="es-ES_tradnl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i:</a:t>
            </a:r>
          </a:p>
          <a:p>
            <a:pPr lvl="3"/>
            <a:r>
              <a:rPr lang="es-ES_tradnl" dirty="0"/>
              <a:t>Recoge los datos producidos por la etapa </a:t>
            </a:r>
            <a:r>
              <a:rPr lang="es-ES_tradnl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- 1</a:t>
            </a:r>
          </a:p>
          <a:p>
            <a:pPr lvl="3"/>
            <a:r>
              <a:rPr lang="es-ES_tradnl" dirty="0"/>
              <a:t>Suministra datos a la etapa </a:t>
            </a:r>
            <a:r>
              <a:rPr lang="es-ES_tradnl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s-ES_tradnl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s-ES_tradnl" dirty="0"/>
              <a:t>Todos los registros de etapa se actualizan en el mismo flanco de reloj</a:t>
            </a:r>
          </a:p>
          <a:p>
            <a:pPr lvl="2"/>
            <a:r>
              <a:rPr lang="es-ES_tradnl" dirty="0"/>
              <a:t>Los registros de etapa incrementan el coste del circuito</a:t>
            </a:r>
          </a:p>
        </p:txBody>
      </p:sp>
      <p:sp>
        <p:nvSpPr>
          <p:cNvPr id="37890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F6B2-FF83-6B49-8817-65575CE3B2CE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1" name="Rectangle 5"/>
          <p:cNvSpPr>
            <a:spLocks noChangeArrowheads="1"/>
          </p:cNvSpPr>
          <p:nvPr/>
        </p:nvSpPr>
        <p:spPr bwMode="blackWhite">
          <a:xfrm>
            <a:off x="1801813" y="5467290"/>
            <a:ext cx="914400" cy="762000"/>
          </a:xfrm>
          <a:prstGeom prst="rect">
            <a:avLst/>
          </a:prstGeom>
          <a:gradFill>
            <a:gsLst>
              <a:gs pos="0">
                <a:schemeClr val="accent2"/>
              </a:gs>
              <a:gs pos="15000">
                <a:schemeClr val="accent2"/>
              </a:gs>
              <a:gs pos="62000">
                <a:schemeClr val="accent2"/>
              </a:gs>
              <a:gs pos="97000">
                <a:schemeClr val="accent2"/>
              </a:gs>
              <a:gs pos="100000">
                <a:schemeClr val="accent2"/>
              </a:gs>
            </a:gsLst>
            <a:path path="circle">
              <a:fillToRect l="100000" t="100000" r="100000" b="100000"/>
            </a:path>
          </a:gra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9200" prstMaterial="legacyMetal">
            <a:bevelT w="13500" h="13500" prst="angle"/>
            <a:bevelB w="13500" h="13500" prst="angle"/>
            <a:extrusionClr>
              <a:srgbClr val="FF9900"/>
            </a:extrusionClr>
          </a:sp3d>
        </p:spPr>
        <p:txBody>
          <a:bodyPr wrap="none" anchor="ctr">
            <a:prstTxWarp prst="textNoShape">
              <a:avLst/>
            </a:prstTxWarp>
            <a:flatTx/>
          </a:bodyPr>
          <a:lstStyle/>
          <a:p>
            <a:pPr algn="ctr" eaLnBrk="0" hangingPunct="0">
              <a:lnSpc>
                <a:spcPct val="80000"/>
              </a:lnSpc>
            </a:pPr>
            <a:r>
              <a:rPr lang="es-ES" b="0" i="1" dirty="0">
                <a:solidFill>
                  <a:srgbClr val="000000"/>
                </a:solidFill>
              </a:rPr>
              <a:t>P</a:t>
            </a:r>
            <a:r>
              <a:rPr lang="es-ES" i="1" baseline="-25000" dirty="0">
                <a:solidFill>
                  <a:srgbClr val="000000"/>
                </a:solidFill>
              </a:rPr>
              <a:t>1</a:t>
            </a:r>
          </a:p>
          <a:p>
            <a:pPr>
              <a:lnSpc>
                <a:spcPct val="80000"/>
              </a:lnSpc>
            </a:pPr>
            <a:r>
              <a:rPr lang="es-ES" b="0" dirty="0">
                <a:solidFill>
                  <a:srgbClr val="000000"/>
                </a:solidFill>
              </a:rPr>
              <a:t>(</a:t>
            </a:r>
            <a:r>
              <a:rPr lang="es-ES" sz="2400" i="1" dirty="0">
                <a:solidFill>
                  <a:srgbClr val="000000"/>
                </a:solidFill>
                <a:sym typeface="Symbol" pitchFamily="-84" charset="2"/>
              </a:rPr>
              <a:t></a:t>
            </a:r>
            <a:r>
              <a:rPr lang="es-ES" sz="2400" i="1" baseline="-25000" dirty="0">
                <a:solidFill>
                  <a:srgbClr val="000000"/>
                </a:solidFill>
                <a:ea typeface="Arial" pitchFamily="-84" charset="0"/>
                <a:cs typeface="Arial" pitchFamily="-84" charset="0"/>
              </a:rPr>
              <a:t>1</a:t>
            </a:r>
            <a:r>
              <a:rPr lang="es-ES" b="0" dirty="0">
                <a:solidFill>
                  <a:srgbClr val="000000"/>
                </a:solidFill>
                <a:ea typeface="Arial" pitchFamily="-84" charset="0"/>
                <a:cs typeface="Arial" pitchFamily="-84" charset="0"/>
              </a:rPr>
              <a:t>)</a:t>
            </a:r>
            <a:endParaRPr lang="ca-ES" b="0" dirty="0">
              <a:solidFill>
                <a:srgbClr val="000000"/>
              </a:solidFill>
              <a:ea typeface="Arial" pitchFamily="-84" charset="0"/>
              <a:cs typeface="Arial" pitchFamily="-84" charset="0"/>
            </a:endParaRPr>
          </a:p>
        </p:txBody>
      </p:sp>
      <p:sp>
        <p:nvSpPr>
          <p:cNvPr id="32" name="Line 6"/>
          <p:cNvSpPr>
            <a:spLocks noChangeShapeType="1"/>
          </p:cNvSpPr>
          <p:nvPr/>
        </p:nvSpPr>
        <p:spPr bwMode="auto">
          <a:xfrm>
            <a:off x="1039813" y="584829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Line 7"/>
          <p:cNvSpPr>
            <a:spLocks noChangeShapeType="1"/>
          </p:cNvSpPr>
          <p:nvPr/>
        </p:nvSpPr>
        <p:spPr bwMode="auto">
          <a:xfrm>
            <a:off x="7745413" y="584829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Rectangle 8"/>
          <p:cNvSpPr>
            <a:spLocks noChangeArrowheads="1"/>
          </p:cNvSpPr>
          <p:nvPr/>
        </p:nvSpPr>
        <p:spPr bwMode="blackWhite">
          <a:xfrm>
            <a:off x="1344613" y="5238690"/>
            <a:ext cx="152400" cy="1219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5" name="Line 9"/>
          <p:cNvSpPr>
            <a:spLocks noChangeShapeType="1"/>
          </p:cNvSpPr>
          <p:nvPr/>
        </p:nvSpPr>
        <p:spPr bwMode="auto">
          <a:xfrm>
            <a:off x="1497013" y="584829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Rectangle 10"/>
          <p:cNvSpPr>
            <a:spLocks noChangeArrowheads="1"/>
          </p:cNvSpPr>
          <p:nvPr/>
        </p:nvSpPr>
        <p:spPr bwMode="blackWhite">
          <a:xfrm>
            <a:off x="3478213" y="5467290"/>
            <a:ext cx="914400" cy="762000"/>
          </a:xfrm>
          <a:prstGeom prst="rect">
            <a:avLst/>
          </a:prstGeom>
          <a:gradFill>
            <a:gsLst>
              <a:gs pos="0">
                <a:schemeClr val="accent2"/>
              </a:gs>
              <a:gs pos="15000">
                <a:schemeClr val="accent2"/>
              </a:gs>
              <a:gs pos="62000">
                <a:schemeClr val="accent2"/>
              </a:gs>
              <a:gs pos="97000">
                <a:schemeClr val="accent2"/>
              </a:gs>
              <a:gs pos="100000">
                <a:schemeClr val="accent2"/>
              </a:gs>
            </a:gsLst>
            <a:path path="circle">
              <a:fillToRect l="100000" t="100000" r="100000" b="100000"/>
            </a:path>
          </a:gra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9200" prstMaterial="legacyMetal">
            <a:bevelT w="13500" h="13500" prst="angle"/>
            <a:bevelB w="13500" h="13500" prst="angle"/>
            <a:extrusionClr>
              <a:srgbClr val="FF9900"/>
            </a:extrusionClr>
          </a:sp3d>
        </p:spPr>
        <p:txBody>
          <a:bodyPr wrap="none" anchor="ctr">
            <a:prstTxWarp prst="textNoShape">
              <a:avLst/>
            </a:prstTxWarp>
            <a:flatTx/>
          </a:bodyPr>
          <a:lstStyle/>
          <a:p>
            <a:pPr algn="ctr" eaLnBrk="0" hangingPunct="0">
              <a:lnSpc>
                <a:spcPct val="80000"/>
              </a:lnSpc>
            </a:pPr>
            <a:r>
              <a:rPr lang="es-ES" b="0" i="1" dirty="0">
                <a:solidFill>
                  <a:srgbClr val="000000"/>
                </a:solidFill>
              </a:rPr>
              <a:t>P</a:t>
            </a:r>
            <a:r>
              <a:rPr lang="es-ES" i="1" baseline="-25000" dirty="0">
                <a:solidFill>
                  <a:srgbClr val="000000"/>
                </a:solidFill>
              </a:rPr>
              <a:t>2</a:t>
            </a:r>
          </a:p>
          <a:p>
            <a:pPr>
              <a:lnSpc>
                <a:spcPct val="80000"/>
              </a:lnSpc>
            </a:pPr>
            <a:r>
              <a:rPr lang="es-ES" b="0" dirty="0">
                <a:solidFill>
                  <a:srgbClr val="000000"/>
                </a:solidFill>
              </a:rPr>
              <a:t>(</a:t>
            </a:r>
            <a:r>
              <a:rPr lang="es-ES" sz="2400" i="1" dirty="0">
                <a:solidFill>
                  <a:srgbClr val="000000"/>
                </a:solidFill>
                <a:sym typeface="Symbol" pitchFamily="-84" charset="2"/>
              </a:rPr>
              <a:t></a:t>
            </a:r>
            <a:r>
              <a:rPr lang="es-ES" sz="2400" i="1" baseline="-25000" dirty="0">
                <a:solidFill>
                  <a:srgbClr val="000000"/>
                </a:solidFill>
                <a:ea typeface="Arial" pitchFamily="-84" charset="0"/>
                <a:cs typeface="Arial" pitchFamily="-84" charset="0"/>
              </a:rPr>
              <a:t>2</a:t>
            </a:r>
            <a:r>
              <a:rPr lang="es-ES" b="0" dirty="0">
                <a:solidFill>
                  <a:srgbClr val="000000"/>
                </a:solidFill>
                <a:ea typeface="Arial" pitchFamily="-84" charset="0"/>
                <a:cs typeface="Arial" pitchFamily="-84" charset="0"/>
              </a:rPr>
              <a:t>)</a:t>
            </a:r>
            <a:endParaRPr lang="ca-ES" b="0" dirty="0">
              <a:solidFill>
                <a:srgbClr val="000000"/>
              </a:solidFill>
              <a:ea typeface="Arial" pitchFamily="-84" charset="0"/>
              <a:cs typeface="Arial" pitchFamily="-84" charset="0"/>
            </a:endParaRPr>
          </a:p>
        </p:txBody>
      </p:sp>
      <p:sp>
        <p:nvSpPr>
          <p:cNvPr id="37" name="Line 11"/>
          <p:cNvSpPr>
            <a:spLocks noChangeShapeType="1"/>
          </p:cNvSpPr>
          <p:nvPr/>
        </p:nvSpPr>
        <p:spPr bwMode="auto">
          <a:xfrm>
            <a:off x="2716213" y="584829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Rectangle 12"/>
          <p:cNvSpPr>
            <a:spLocks noChangeArrowheads="1"/>
          </p:cNvSpPr>
          <p:nvPr/>
        </p:nvSpPr>
        <p:spPr bwMode="blackWhite">
          <a:xfrm>
            <a:off x="3021013" y="5238690"/>
            <a:ext cx="152400" cy="1219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9" name="Line 13"/>
          <p:cNvSpPr>
            <a:spLocks noChangeShapeType="1"/>
          </p:cNvSpPr>
          <p:nvPr/>
        </p:nvSpPr>
        <p:spPr bwMode="auto">
          <a:xfrm>
            <a:off x="3173413" y="584829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Line 14"/>
          <p:cNvSpPr>
            <a:spLocks noChangeShapeType="1"/>
          </p:cNvSpPr>
          <p:nvPr/>
        </p:nvSpPr>
        <p:spPr bwMode="auto">
          <a:xfrm>
            <a:off x="4392613" y="584829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Rectangle 15"/>
          <p:cNvSpPr>
            <a:spLocks noChangeArrowheads="1"/>
          </p:cNvSpPr>
          <p:nvPr/>
        </p:nvSpPr>
        <p:spPr bwMode="blackWhite">
          <a:xfrm>
            <a:off x="6831013" y="5467290"/>
            <a:ext cx="914400" cy="762000"/>
          </a:xfrm>
          <a:prstGeom prst="rect">
            <a:avLst/>
          </a:prstGeom>
          <a:gradFill>
            <a:gsLst>
              <a:gs pos="0">
                <a:schemeClr val="accent2"/>
              </a:gs>
              <a:gs pos="15000">
                <a:schemeClr val="accent2"/>
              </a:gs>
              <a:gs pos="62000">
                <a:schemeClr val="accent2"/>
              </a:gs>
              <a:gs pos="97000">
                <a:schemeClr val="accent2"/>
              </a:gs>
              <a:gs pos="100000">
                <a:schemeClr val="accent2"/>
              </a:gs>
            </a:gsLst>
            <a:path path="circle">
              <a:fillToRect l="100000" t="100000" r="100000" b="100000"/>
            </a:path>
          </a:gra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9200" prstMaterial="legacyMetal">
            <a:bevelT w="13500" h="13500" prst="angle"/>
            <a:bevelB w="13500" h="13500" prst="angle"/>
            <a:extrusionClr>
              <a:srgbClr val="FF9900"/>
            </a:extrusionClr>
          </a:sp3d>
        </p:spPr>
        <p:txBody>
          <a:bodyPr wrap="none" anchor="ctr">
            <a:prstTxWarp prst="textNoShape">
              <a:avLst/>
            </a:prstTxWarp>
            <a:flatTx/>
          </a:bodyPr>
          <a:lstStyle/>
          <a:p>
            <a:pPr>
              <a:lnSpc>
                <a:spcPct val="80000"/>
              </a:lnSpc>
            </a:pPr>
            <a:r>
              <a:rPr lang="es-ES" b="0" i="1" dirty="0" err="1">
                <a:solidFill>
                  <a:srgbClr val="000000"/>
                </a:solidFill>
              </a:rPr>
              <a:t>P</a:t>
            </a:r>
            <a:r>
              <a:rPr lang="es-ES" sz="24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s-ES" i="1" baseline="-25000" dirty="0">
              <a:solidFill>
                <a:srgbClr val="000000"/>
              </a:solidFill>
            </a:endParaRPr>
          </a:p>
          <a:p>
            <a:pPr>
              <a:lnSpc>
                <a:spcPct val="80000"/>
              </a:lnSpc>
            </a:pPr>
            <a:r>
              <a:rPr lang="es-ES" b="0" dirty="0">
                <a:solidFill>
                  <a:srgbClr val="000000"/>
                </a:solidFill>
              </a:rPr>
              <a:t>(</a:t>
            </a:r>
            <a:r>
              <a:rPr lang="es-ES" sz="2400" i="1" dirty="0">
                <a:solidFill>
                  <a:srgbClr val="000000"/>
                </a:solidFill>
                <a:sym typeface="Symbol" pitchFamily="-84" charset="2"/>
              </a:rPr>
              <a:t></a:t>
            </a:r>
            <a:r>
              <a:rPr lang="es-ES" sz="24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" b="0" dirty="0">
                <a:solidFill>
                  <a:srgbClr val="000000"/>
                </a:solidFill>
                <a:ea typeface="Arial" pitchFamily="-84" charset="0"/>
                <a:cs typeface="Arial" pitchFamily="-84" charset="0"/>
              </a:rPr>
              <a:t>)</a:t>
            </a:r>
            <a:endParaRPr lang="ca-ES" b="0" dirty="0">
              <a:solidFill>
                <a:srgbClr val="000000"/>
              </a:solidFill>
              <a:ea typeface="Arial" pitchFamily="-84" charset="0"/>
              <a:cs typeface="Arial" pitchFamily="-84" charset="0"/>
            </a:endParaRPr>
          </a:p>
        </p:txBody>
      </p:sp>
      <p:sp>
        <p:nvSpPr>
          <p:cNvPr id="42" name="Line 16"/>
          <p:cNvSpPr>
            <a:spLocks noChangeShapeType="1"/>
          </p:cNvSpPr>
          <p:nvPr/>
        </p:nvSpPr>
        <p:spPr bwMode="auto">
          <a:xfrm>
            <a:off x="6069013" y="584829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Rectangle 17"/>
          <p:cNvSpPr>
            <a:spLocks noChangeArrowheads="1"/>
          </p:cNvSpPr>
          <p:nvPr/>
        </p:nvSpPr>
        <p:spPr bwMode="blackWhite">
          <a:xfrm>
            <a:off x="6373813" y="5238690"/>
            <a:ext cx="152400" cy="1219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4" name="Line 18"/>
          <p:cNvSpPr>
            <a:spLocks noChangeShapeType="1"/>
          </p:cNvSpPr>
          <p:nvPr/>
        </p:nvSpPr>
        <p:spPr bwMode="auto">
          <a:xfrm>
            <a:off x="6526213" y="584829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Line 19"/>
          <p:cNvSpPr>
            <a:spLocks noChangeShapeType="1"/>
          </p:cNvSpPr>
          <p:nvPr/>
        </p:nvSpPr>
        <p:spPr bwMode="auto">
          <a:xfrm>
            <a:off x="5076056" y="5848290"/>
            <a:ext cx="7620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6" name="Text Box 20"/>
          <p:cNvSpPr txBox="1">
            <a:spLocks noChangeArrowheads="1"/>
          </p:cNvSpPr>
          <p:nvPr/>
        </p:nvSpPr>
        <p:spPr bwMode="auto">
          <a:xfrm>
            <a:off x="1165200" y="6457890"/>
            <a:ext cx="511226" cy="40011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b="0" i="1" dirty="0">
                <a:solidFill>
                  <a:srgbClr val="000000"/>
                </a:solidFill>
              </a:rPr>
              <a:t>R</a:t>
            </a:r>
            <a:r>
              <a:rPr lang="es-ES" i="1" baseline="-25000" dirty="0">
                <a:solidFill>
                  <a:srgbClr val="000000"/>
                </a:solidFill>
              </a:rPr>
              <a:t>1</a:t>
            </a:r>
            <a:endParaRPr lang="ca-ES" i="1" baseline="-25000" dirty="0">
              <a:solidFill>
                <a:srgbClr val="000000"/>
              </a:solidFill>
            </a:endParaRPr>
          </a:p>
        </p:txBody>
      </p:sp>
      <p:sp>
        <p:nvSpPr>
          <p:cNvPr id="47" name="Text Box 21"/>
          <p:cNvSpPr txBox="1">
            <a:spLocks noChangeArrowheads="1"/>
          </p:cNvSpPr>
          <p:nvPr/>
        </p:nvSpPr>
        <p:spPr bwMode="auto">
          <a:xfrm>
            <a:off x="2840013" y="6457890"/>
            <a:ext cx="511226" cy="40011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b="0" i="1">
                <a:solidFill>
                  <a:srgbClr val="000000"/>
                </a:solidFill>
              </a:rPr>
              <a:t>R</a:t>
            </a:r>
            <a:r>
              <a:rPr lang="es-ES" i="1" baseline="-25000">
                <a:solidFill>
                  <a:srgbClr val="000000"/>
                </a:solidFill>
              </a:rPr>
              <a:t>2</a:t>
            </a:r>
            <a:endParaRPr lang="ca-ES" i="1" baseline="-25000">
              <a:solidFill>
                <a:srgbClr val="000000"/>
              </a:solidFill>
            </a:endParaRPr>
          </a:p>
        </p:txBody>
      </p:sp>
      <p:sp>
        <p:nvSpPr>
          <p:cNvPr id="48" name="Text Box 22"/>
          <p:cNvSpPr txBox="1">
            <a:spLocks noChangeArrowheads="1"/>
          </p:cNvSpPr>
          <p:nvPr/>
        </p:nvSpPr>
        <p:spPr bwMode="auto">
          <a:xfrm>
            <a:off x="6269050" y="6457890"/>
            <a:ext cx="501625" cy="40011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b="0" i="1">
                <a:solidFill>
                  <a:srgbClr val="000000"/>
                </a:solidFill>
              </a:rPr>
              <a:t>R</a:t>
            </a:r>
            <a:r>
              <a:rPr lang="es-ES" i="1" baseline="-25000">
                <a:solidFill>
                  <a:srgbClr val="000000"/>
                </a:solidFill>
              </a:rPr>
              <a:t>k</a:t>
            </a:r>
            <a:endParaRPr lang="ca-ES" i="1" baseline="-25000">
              <a:solidFill>
                <a:srgbClr val="000000"/>
              </a:solidFill>
            </a:endParaRPr>
          </a:p>
        </p:txBody>
      </p:sp>
      <p:sp>
        <p:nvSpPr>
          <p:cNvPr id="49" name="Line 23"/>
          <p:cNvSpPr>
            <a:spLocks noChangeShapeType="1"/>
          </p:cNvSpPr>
          <p:nvPr/>
        </p:nvSpPr>
        <p:spPr bwMode="auto">
          <a:xfrm>
            <a:off x="3097213" y="493389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Freeform 24"/>
          <p:cNvSpPr>
            <a:spLocks/>
          </p:cNvSpPr>
          <p:nvPr/>
        </p:nvSpPr>
        <p:spPr bwMode="auto">
          <a:xfrm>
            <a:off x="1420813" y="4476690"/>
            <a:ext cx="5741987" cy="762000"/>
          </a:xfrm>
          <a:custGeom>
            <a:avLst/>
            <a:gdLst>
              <a:gd name="T0" fmla="*/ 2147483647 w 3648"/>
              <a:gd name="T1" fmla="*/ 0 h 480"/>
              <a:gd name="T2" fmla="*/ 2147483647 w 3648"/>
              <a:gd name="T3" fmla="*/ 2147483647 h 480"/>
              <a:gd name="T4" fmla="*/ 0 w 3648"/>
              <a:gd name="T5" fmla="*/ 2147483647 h 480"/>
              <a:gd name="T6" fmla="*/ 0 w 3648"/>
              <a:gd name="T7" fmla="*/ 2147483647 h 480"/>
              <a:gd name="T8" fmla="*/ 0 60000 65536"/>
              <a:gd name="T9" fmla="*/ 0 60000 65536"/>
              <a:gd name="T10" fmla="*/ 0 60000 65536"/>
              <a:gd name="T11" fmla="*/ 0 60000 65536"/>
              <a:gd name="T12" fmla="*/ 0 w 3648"/>
              <a:gd name="T13" fmla="*/ 0 h 480"/>
              <a:gd name="T14" fmla="*/ 3648 w 3648"/>
              <a:gd name="T15" fmla="*/ 480 h 4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648" h="480">
                <a:moveTo>
                  <a:pt x="3648" y="0"/>
                </a:moveTo>
                <a:lnTo>
                  <a:pt x="3648" y="288"/>
                </a:lnTo>
                <a:lnTo>
                  <a:pt x="0" y="288"/>
                </a:lnTo>
                <a:lnTo>
                  <a:pt x="0" y="48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Line 25"/>
          <p:cNvSpPr>
            <a:spLocks noChangeShapeType="1"/>
          </p:cNvSpPr>
          <p:nvPr/>
        </p:nvSpPr>
        <p:spPr bwMode="auto">
          <a:xfrm>
            <a:off x="6450013" y="493389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Text Box 26"/>
          <p:cNvSpPr txBox="1">
            <a:spLocks noChangeArrowheads="1"/>
          </p:cNvSpPr>
          <p:nvPr/>
        </p:nvSpPr>
        <p:spPr bwMode="auto">
          <a:xfrm>
            <a:off x="7391400" y="4860925"/>
            <a:ext cx="66516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_tradnl" b="0" dirty="0">
                <a:solidFill>
                  <a:srgbClr val="000000"/>
                </a:solidFill>
              </a:rPr>
              <a:t>reloj</a:t>
            </a:r>
          </a:p>
        </p:txBody>
      </p:sp>
      <p:sp>
        <p:nvSpPr>
          <p:cNvPr id="53" name="Freeform 27"/>
          <p:cNvSpPr>
            <a:spLocks/>
          </p:cNvSpPr>
          <p:nvPr/>
        </p:nvSpPr>
        <p:spPr bwMode="auto">
          <a:xfrm>
            <a:off x="7419975" y="4632325"/>
            <a:ext cx="685800" cy="228600"/>
          </a:xfrm>
          <a:custGeom>
            <a:avLst/>
            <a:gdLst>
              <a:gd name="T0" fmla="*/ 0 w 1056"/>
              <a:gd name="T1" fmla="*/ 2147483647 h 192"/>
              <a:gd name="T2" fmla="*/ 2147483647 w 1056"/>
              <a:gd name="T3" fmla="*/ 2147483647 h 192"/>
              <a:gd name="T4" fmla="*/ 2147483647 w 1056"/>
              <a:gd name="T5" fmla="*/ 0 h 192"/>
              <a:gd name="T6" fmla="*/ 2147483647 w 1056"/>
              <a:gd name="T7" fmla="*/ 0 h 192"/>
              <a:gd name="T8" fmla="*/ 2147483647 w 1056"/>
              <a:gd name="T9" fmla="*/ 2147483647 h 192"/>
              <a:gd name="T10" fmla="*/ 2147483647 w 1056"/>
              <a:gd name="T11" fmla="*/ 2147483647 h 192"/>
              <a:gd name="T12" fmla="*/ 2147483647 w 1056"/>
              <a:gd name="T13" fmla="*/ 0 h 192"/>
              <a:gd name="T14" fmla="*/ 2147483647 w 1056"/>
              <a:gd name="T15" fmla="*/ 0 h 192"/>
              <a:gd name="T16" fmla="*/ 2147483647 w 1056"/>
              <a:gd name="T17" fmla="*/ 2147483647 h 192"/>
              <a:gd name="T18" fmla="*/ 2147483647 w 1056"/>
              <a:gd name="T19" fmla="*/ 2147483647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056"/>
              <a:gd name="T31" fmla="*/ 0 h 192"/>
              <a:gd name="T32" fmla="*/ 1056 w 1056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056" h="192">
                <a:moveTo>
                  <a:pt x="0" y="192"/>
                </a:moveTo>
                <a:lnTo>
                  <a:pt x="192" y="192"/>
                </a:lnTo>
                <a:lnTo>
                  <a:pt x="192" y="0"/>
                </a:lnTo>
                <a:lnTo>
                  <a:pt x="384" y="0"/>
                </a:lnTo>
                <a:lnTo>
                  <a:pt x="384" y="192"/>
                </a:lnTo>
                <a:lnTo>
                  <a:pt x="624" y="192"/>
                </a:lnTo>
                <a:lnTo>
                  <a:pt x="624" y="0"/>
                </a:lnTo>
                <a:lnTo>
                  <a:pt x="816" y="0"/>
                </a:lnTo>
                <a:lnTo>
                  <a:pt x="816" y="192"/>
                </a:lnTo>
                <a:lnTo>
                  <a:pt x="1056" y="192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95300" y="762000"/>
            <a:ext cx="8724900" cy="57150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_tradnl" sz="2000" dirty="0"/>
              <a:t>Sincronización del circuito</a:t>
            </a:r>
          </a:p>
          <a:p>
            <a:pPr>
              <a:lnSpc>
                <a:spcPct val="90000"/>
              </a:lnSpc>
            </a:pPr>
            <a:endParaRPr lang="es-ES_tradnl" sz="2000" dirty="0"/>
          </a:p>
          <a:p>
            <a:pPr lvl="1">
              <a:lnSpc>
                <a:spcPct val="90000"/>
              </a:lnSpc>
            </a:pPr>
            <a:r>
              <a:rPr lang="es-ES_tradnl" sz="1800" dirty="0">
                <a:latin typeface="Arial" pitchFamily="-84" charset="0"/>
                <a:ea typeface="ＭＳ Ｐゴシック" pitchFamily="-84" charset="-128"/>
              </a:rPr>
              <a:t>Parámetros del reloj: </a:t>
            </a:r>
            <a:r>
              <a:rPr lang="es-ES_tradnl" sz="1800" i="1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</a:rPr>
              <a:t>f</a:t>
            </a:r>
            <a:r>
              <a:rPr lang="es-ES_tradnl" sz="1800" dirty="0">
                <a:latin typeface="Arial" pitchFamily="-84" charset="0"/>
                <a:ea typeface="ＭＳ Ｐゴシック" pitchFamily="-84" charset="-128"/>
              </a:rPr>
              <a:t> (frecuencia) y </a:t>
            </a:r>
            <a:r>
              <a:rPr lang="es-ES_tradnl" sz="1800" b="1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</a:t>
            </a:r>
            <a:r>
              <a:rPr lang="es-ES_tradnl" sz="1800" dirty="0">
                <a:latin typeface="Arial" pitchFamily="-84" charset="0"/>
                <a:ea typeface="ＭＳ Ｐゴシック" pitchFamily="-84" charset="-128"/>
              </a:rPr>
              <a:t> (tiempo de ciclo)</a:t>
            </a:r>
          </a:p>
          <a:p>
            <a:pPr lvl="1">
              <a:lnSpc>
                <a:spcPct val="90000"/>
              </a:lnSpc>
            </a:pPr>
            <a:endParaRPr lang="es-ES_tradnl" sz="1800" dirty="0">
              <a:latin typeface="Arial" pitchFamily="-84" charset="0"/>
              <a:ea typeface="ＭＳ Ｐゴシック" pitchFamily="-84" charset="-128"/>
            </a:endParaRPr>
          </a:p>
          <a:p>
            <a:pPr lvl="1">
              <a:lnSpc>
                <a:spcPct val="90000"/>
              </a:lnSpc>
            </a:pPr>
            <a:endParaRPr lang="es-ES_tradnl" sz="1800" dirty="0">
              <a:latin typeface="Arial" pitchFamily="-84" charset="0"/>
              <a:ea typeface="ＭＳ Ｐゴシック" pitchFamily="-84" charset="-128"/>
            </a:endParaRPr>
          </a:p>
          <a:p>
            <a:pPr lvl="1">
              <a:lnSpc>
                <a:spcPct val="90000"/>
              </a:lnSpc>
            </a:pPr>
            <a:endParaRPr lang="es-ES_tradnl" sz="1800" dirty="0">
              <a:latin typeface="Arial" pitchFamily="-84" charset="0"/>
              <a:ea typeface="ＭＳ Ｐゴシック" pitchFamily="-84" charset="-128"/>
            </a:endParaRPr>
          </a:p>
          <a:p>
            <a:pPr lvl="1">
              <a:lnSpc>
                <a:spcPct val="90000"/>
              </a:lnSpc>
            </a:pPr>
            <a:endParaRPr lang="es-ES_tradnl" sz="1800" dirty="0">
              <a:latin typeface="Arial" pitchFamily="-84" charset="0"/>
              <a:ea typeface="ＭＳ Ｐゴシック" pitchFamily="-84" charset="-128"/>
            </a:endParaRPr>
          </a:p>
          <a:p>
            <a:pPr lvl="1">
              <a:lnSpc>
                <a:spcPct val="90000"/>
              </a:lnSpc>
            </a:pPr>
            <a:endParaRPr lang="es-ES_tradnl" sz="1800" dirty="0">
              <a:latin typeface="Arial" pitchFamily="-84" charset="0"/>
              <a:ea typeface="ＭＳ Ｐゴシック" pitchFamily="-84" charset="-128"/>
            </a:endParaRPr>
          </a:p>
          <a:p>
            <a:pPr lvl="1">
              <a:lnSpc>
                <a:spcPct val="90000"/>
              </a:lnSpc>
            </a:pPr>
            <a:endParaRPr lang="es-ES_tradnl" sz="1800" dirty="0">
              <a:latin typeface="Arial" pitchFamily="-84" charset="0"/>
              <a:ea typeface="ＭＳ Ｐゴシック" pitchFamily="-84" charset="-128"/>
            </a:endParaRPr>
          </a:p>
          <a:p>
            <a:pPr lvl="1">
              <a:lnSpc>
                <a:spcPct val="90000"/>
              </a:lnSpc>
            </a:pPr>
            <a:r>
              <a:rPr lang="es-ES_tradnl" sz="1800" dirty="0">
                <a:latin typeface="Arial" pitchFamily="-84" charset="0"/>
                <a:ea typeface="ＭＳ Ｐゴシック" pitchFamily="-84" charset="-128"/>
              </a:rPr>
              <a:t>Consideraciones temporales:</a:t>
            </a:r>
          </a:p>
          <a:p>
            <a:pPr lvl="2">
              <a:lnSpc>
                <a:spcPct val="90000"/>
              </a:lnSpc>
            </a:pPr>
            <a:r>
              <a:rPr lang="es-ES_tradnl" sz="1800" dirty="0">
                <a:latin typeface="Arial" pitchFamily="-84" charset="0"/>
                <a:ea typeface="ＭＳ Ｐゴシック" pitchFamily="-84" charset="-128"/>
              </a:rPr>
              <a:t>El retardo de los registros </a:t>
            </a:r>
            <a:r>
              <a:rPr lang="es-ES_tradnl" sz="1800" i="1" dirty="0">
                <a:solidFill>
                  <a:schemeClr val="tx2"/>
                </a:solidFill>
                <a:latin typeface="Arial" pitchFamily="-84" charset="0"/>
                <a:ea typeface="ＭＳ Ｐゴシック" pitchFamily="-84" charset="-128"/>
              </a:rPr>
              <a:t>T</a:t>
            </a:r>
            <a:r>
              <a:rPr lang="es-ES_tradnl" sz="1800" b="1" i="1" baseline="-25000" dirty="0">
                <a:solidFill>
                  <a:schemeClr val="tx2"/>
                </a:solidFill>
                <a:latin typeface="Arial" pitchFamily="-84" charset="0"/>
                <a:ea typeface="ＭＳ Ｐゴシック" pitchFamily="-84" charset="-128"/>
              </a:rPr>
              <a:t>R</a:t>
            </a:r>
            <a:r>
              <a:rPr lang="es-ES_tradnl" sz="1800" dirty="0">
                <a:latin typeface="Arial" pitchFamily="-84" charset="0"/>
                <a:ea typeface="ＭＳ Ｐゴシック" pitchFamily="-84" charset="-128"/>
              </a:rPr>
              <a:t> debe considerarse en el tiempo de ciclo:</a:t>
            </a:r>
          </a:p>
          <a:p>
            <a:pPr marL="657225" lvl="2" indent="0">
              <a:lnSpc>
                <a:spcPct val="90000"/>
              </a:lnSpc>
              <a:buNone/>
            </a:pPr>
            <a:r>
              <a:rPr lang="es-ES_tradnl" sz="1800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	           </a:t>
            </a:r>
            <a:r>
              <a:rPr lang="es-ES_tradnl" sz="2400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 </a:t>
            </a:r>
            <a:r>
              <a:rPr lang="es-ES_tradnl" sz="2000" i="1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  <a:sym typeface="Symbol" pitchFamily="-84" charset="2"/>
              </a:rPr>
              <a:t>= </a:t>
            </a:r>
            <a:r>
              <a:rPr lang="es-ES_tradnl" sz="2000" i="1" dirty="0" err="1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  <a:sym typeface="Symbol" pitchFamily="-84" charset="2"/>
              </a:rPr>
              <a:t>máx</a:t>
            </a:r>
            <a:r>
              <a:rPr lang="es-ES_tradnl" sz="2000" i="1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  <a:sym typeface="Symbol" pitchFamily="-84" charset="2"/>
              </a:rPr>
              <a:t>{</a:t>
            </a:r>
            <a:r>
              <a:rPr lang="es-ES_tradnl" sz="2000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</a:t>
            </a:r>
            <a:r>
              <a:rPr lang="es-ES_tradnl" sz="2800" i="1" baseline="-25000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  <a:sym typeface="Symbol" pitchFamily="-84" charset="2"/>
              </a:rPr>
              <a:t>i</a:t>
            </a:r>
            <a:r>
              <a:rPr lang="es-ES_tradnl" sz="2000" i="1" baseline="-25000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  <a:sym typeface="Symbol" pitchFamily="-84" charset="2"/>
              </a:rPr>
              <a:t> </a:t>
            </a:r>
            <a:r>
              <a:rPr lang="es-ES_tradnl" sz="2000" i="1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  <a:sym typeface="Symbol" pitchFamily="-84" charset="2"/>
              </a:rPr>
              <a:t>} + T</a:t>
            </a:r>
            <a:r>
              <a:rPr lang="es-ES_tradnl" sz="2000" i="1" baseline="-25000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  <a:sym typeface="Symbol" pitchFamily="-84" charset="2"/>
              </a:rPr>
              <a:t>R</a:t>
            </a:r>
            <a:r>
              <a:rPr lang="es-ES_tradnl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                 </a:t>
            </a:r>
            <a:r>
              <a:rPr lang="es-ES_tradnl" sz="2400" i="1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  <a:sym typeface="Symbol" pitchFamily="-84" charset="2"/>
              </a:rPr>
              <a:t>f = 1 / </a:t>
            </a:r>
            <a:r>
              <a:rPr lang="es-ES_tradnl" sz="2400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</a:t>
            </a:r>
            <a:endParaRPr lang="es-ES_tradnl" sz="1838" dirty="0">
              <a:latin typeface="Arial" pitchFamily="-84" charset="0"/>
              <a:ea typeface="ＭＳ Ｐゴシック" pitchFamily="-84" charset="-128"/>
            </a:endParaRPr>
          </a:p>
          <a:p>
            <a:pPr lvl="2">
              <a:lnSpc>
                <a:spcPct val="90000"/>
              </a:lnSpc>
            </a:pPr>
            <a:endParaRPr lang="es-ES_tradnl" sz="1838" dirty="0">
              <a:latin typeface="Arial" pitchFamily="-84" charset="0"/>
              <a:ea typeface="ＭＳ Ｐゴシック" pitchFamily="-84" charset="-128"/>
            </a:endParaRPr>
          </a:p>
          <a:p>
            <a:pPr lvl="2">
              <a:lnSpc>
                <a:spcPct val="90000"/>
              </a:lnSpc>
            </a:pPr>
            <a:r>
              <a:rPr lang="es-ES_tradnl" sz="1838" dirty="0">
                <a:latin typeface="Arial" pitchFamily="-84" charset="0"/>
                <a:ea typeface="ＭＳ Ｐゴシック" pitchFamily="-84" charset="-128"/>
              </a:rPr>
              <a:t>La segmentación penaliza el tiempo de proceso de una operación individual</a:t>
            </a:r>
          </a:p>
          <a:p>
            <a:pPr marL="657225" lvl="2" indent="0">
              <a:lnSpc>
                <a:spcPct val="90000"/>
              </a:lnSpc>
              <a:buNone/>
            </a:pPr>
            <a:r>
              <a:rPr lang="es-ES_tradnl" sz="2400" i="1" dirty="0">
                <a:latin typeface="Arial" pitchFamily="-84" charset="0"/>
                <a:ea typeface="ＭＳ Ｐゴシック" pitchFamily="-84" charset="-128"/>
                <a:cs typeface="Times New Roman" panose="02020603050405020304" pitchFamily="18" charset="0"/>
                <a:sym typeface="Symbol" pitchFamily="-84" charset="2"/>
              </a:rPr>
              <a:t>				</a:t>
            </a:r>
            <a:r>
              <a:rPr lang="es-ES_tradnl" sz="2400" i="1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  <a:sym typeface="Symbol" pitchFamily="-84" charset="2"/>
              </a:rPr>
              <a:t>T ≤ k </a:t>
            </a:r>
            <a:r>
              <a:rPr lang="es-ES_tradnl" dirty="0">
                <a:ea typeface="ＭＳ Ｐゴシック" pitchFamily="-84" charset="-128"/>
                <a:sym typeface="Symbol" pitchFamily="-84" charset="2"/>
              </a:rPr>
              <a:t>x</a:t>
            </a:r>
            <a:r>
              <a:rPr lang="es-ES_tradnl" sz="2400" i="1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  <a:sym typeface="Symbol" pitchFamily="-84" charset="2"/>
              </a:rPr>
              <a:t> </a:t>
            </a:r>
            <a:r>
              <a:rPr lang="es-ES_tradnl" sz="2400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</a:t>
            </a:r>
            <a:endParaRPr lang="es-ES_tradnl" sz="1838" dirty="0">
              <a:latin typeface="Arial" pitchFamily="-84" charset="0"/>
              <a:ea typeface="ＭＳ Ｐゴシック" pitchFamily="-84" charset="-128"/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8250237" cy="865187"/>
          </a:xfrm>
        </p:spPr>
        <p:txBody>
          <a:bodyPr/>
          <a:lstStyle/>
          <a:p>
            <a:r>
              <a:rPr lang="es-ES" dirty="0"/>
              <a:t>Proceso de Segmentación</a:t>
            </a:r>
            <a:endParaRPr lang="ca-ES" dirty="0"/>
          </a:p>
        </p:txBody>
      </p:sp>
      <p:sp>
        <p:nvSpPr>
          <p:cNvPr id="1028" name="6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3380611-CC61-A34A-89DD-3903535E8DFE}" type="slidenum">
              <a:rPr lang="en-US"/>
              <a:pPr/>
              <a:t>10</a:t>
            </a:fld>
            <a:endParaRPr lang="en-US"/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blackWhite">
          <a:xfrm>
            <a:off x="1801813" y="2362200"/>
            <a:ext cx="914400" cy="762000"/>
          </a:xfrm>
          <a:prstGeom prst="rect">
            <a:avLst/>
          </a:prstGeom>
          <a:gradFill>
            <a:gsLst>
              <a:gs pos="0">
                <a:schemeClr val="accent2"/>
              </a:gs>
              <a:gs pos="15000">
                <a:schemeClr val="accent2"/>
              </a:gs>
              <a:gs pos="62000">
                <a:schemeClr val="accent2"/>
              </a:gs>
              <a:gs pos="97000">
                <a:schemeClr val="accent2"/>
              </a:gs>
              <a:gs pos="100000">
                <a:schemeClr val="accent2"/>
              </a:gs>
            </a:gsLst>
            <a:path path="circle">
              <a:fillToRect l="100000" t="100000" r="100000" b="100000"/>
            </a:path>
          </a:gra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9200" prstMaterial="legacyMetal">
            <a:bevelT w="13500" h="13500" prst="angle"/>
            <a:bevelB w="13500" h="13500" prst="angle"/>
            <a:extrusionClr>
              <a:srgbClr val="FF9900"/>
            </a:extrusionClr>
          </a:sp3d>
        </p:spPr>
        <p:txBody>
          <a:bodyPr wrap="none" anchor="ctr">
            <a:prstTxWarp prst="textNoShape">
              <a:avLst/>
            </a:prstTxWarp>
            <a:flatTx/>
          </a:bodyPr>
          <a:lstStyle/>
          <a:p>
            <a:pPr algn="ctr" eaLnBrk="0" hangingPunct="0">
              <a:lnSpc>
                <a:spcPct val="80000"/>
              </a:lnSpc>
            </a:pPr>
            <a:r>
              <a:rPr lang="es-ES" b="0" i="1" dirty="0">
                <a:solidFill>
                  <a:srgbClr val="000000"/>
                </a:solidFill>
              </a:rPr>
              <a:t>P</a:t>
            </a:r>
            <a:r>
              <a:rPr lang="es-ES" i="1" baseline="-25000" dirty="0">
                <a:solidFill>
                  <a:srgbClr val="000000"/>
                </a:solidFill>
              </a:rPr>
              <a:t>1</a:t>
            </a:r>
          </a:p>
          <a:p>
            <a:pPr>
              <a:lnSpc>
                <a:spcPct val="80000"/>
              </a:lnSpc>
            </a:pPr>
            <a:r>
              <a:rPr lang="es-ES" dirty="0">
                <a:solidFill>
                  <a:srgbClr val="000000"/>
                </a:solidFill>
              </a:rPr>
              <a:t>(</a:t>
            </a:r>
            <a:r>
              <a:rPr lang="es-ES" i="1" dirty="0">
                <a:solidFill>
                  <a:srgbClr val="000000"/>
                </a:solidFill>
                <a:sym typeface="Symbol" pitchFamily="-84" charset="2"/>
              </a:rPr>
              <a:t></a:t>
            </a:r>
            <a:r>
              <a:rPr lang="es-ES" i="1" baseline="-25000" dirty="0">
                <a:solidFill>
                  <a:srgbClr val="000000"/>
                </a:solidFill>
              </a:rPr>
              <a:t>1</a:t>
            </a:r>
            <a:r>
              <a:rPr lang="es-ES" dirty="0">
                <a:solidFill>
                  <a:srgbClr val="000000"/>
                </a:solidFill>
              </a:rPr>
              <a:t>)</a:t>
            </a:r>
            <a:endParaRPr lang="ca-ES" dirty="0">
              <a:solidFill>
                <a:srgbClr val="000000"/>
              </a:solidFill>
            </a:endParaRPr>
          </a:p>
        </p:txBody>
      </p:sp>
      <p:sp>
        <p:nvSpPr>
          <p:cNvPr id="24" name="Line 6"/>
          <p:cNvSpPr>
            <a:spLocks noChangeShapeType="1"/>
          </p:cNvSpPr>
          <p:nvPr/>
        </p:nvSpPr>
        <p:spPr bwMode="auto">
          <a:xfrm>
            <a:off x="1039813" y="27432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Line 7"/>
          <p:cNvSpPr>
            <a:spLocks noChangeShapeType="1"/>
          </p:cNvSpPr>
          <p:nvPr/>
        </p:nvSpPr>
        <p:spPr bwMode="auto">
          <a:xfrm>
            <a:off x="7745413" y="27432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Rectangle 8"/>
          <p:cNvSpPr>
            <a:spLocks noChangeArrowheads="1"/>
          </p:cNvSpPr>
          <p:nvPr/>
        </p:nvSpPr>
        <p:spPr bwMode="blackWhite">
          <a:xfrm>
            <a:off x="1344613" y="2133600"/>
            <a:ext cx="152400" cy="1219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7" name="Line 9"/>
          <p:cNvSpPr>
            <a:spLocks noChangeShapeType="1"/>
          </p:cNvSpPr>
          <p:nvPr/>
        </p:nvSpPr>
        <p:spPr bwMode="auto">
          <a:xfrm>
            <a:off x="1497013" y="27432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Rectangle 10"/>
          <p:cNvSpPr>
            <a:spLocks noChangeArrowheads="1"/>
          </p:cNvSpPr>
          <p:nvPr/>
        </p:nvSpPr>
        <p:spPr bwMode="blackWhite">
          <a:xfrm>
            <a:off x="3478213" y="2362200"/>
            <a:ext cx="914400" cy="762000"/>
          </a:xfrm>
          <a:prstGeom prst="rect">
            <a:avLst/>
          </a:prstGeom>
          <a:gradFill>
            <a:gsLst>
              <a:gs pos="0">
                <a:schemeClr val="accent2"/>
              </a:gs>
              <a:gs pos="15000">
                <a:schemeClr val="accent2"/>
              </a:gs>
              <a:gs pos="62000">
                <a:schemeClr val="accent2"/>
              </a:gs>
              <a:gs pos="97000">
                <a:schemeClr val="accent2"/>
              </a:gs>
              <a:gs pos="100000">
                <a:schemeClr val="accent2"/>
              </a:gs>
            </a:gsLst>
            <a:path path="circle">
              <a:fillToRect l="100000" t="100000" r="100000" b="100000"/>
            </a:path>
          </a:gra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9200" prstMaterial="legacyMetal">
            <a:bevelT w="13500" h="13500" prst="angle"/>
            <a:bevelB w="13500" h="13500" prst="angle"/>
            <a:extrusionClr>
              <a:srgbClr val="FF9900"/>
            </a:extrusionClr>
          </a:sp3d>
        </p:spPr>
        <p:txBody>
          <a:bodyPr wrap="none" anchor="ctr">
            <a:prstTxWarp prst="textNoShape">
              <a:avLst/>
            </a:prstTxWarp>
            <a:flatTx/>
          </a:bodyPr>
          <a:lstStyle/>
          <a:p>
            <a:pPr algn="ctr" eaLnBrk="0" hangingPunct="0">
              <a:lnSpc>
                <a:spcPct val="80000"/>
              </a:lnSpc>
            </a:pPr>
            <a:r>
              <a:rPr lang="es-ES" b="0" i="1" dirty="0">
                <a:solidFill>
                  <a:srgbClr val="000000"/>
                </a:solidFill>
              </a:rPr>
              <a:t>P</a:t>
            </a:r>
            <a:r>
              <a:rPr lang="es-ES" i="1" baseline="-25000" dirty="0">
                <a:solidFill>
                  <a:srgbClr val="000000"/>
                </a:solidFill>
              </a:rPr>
              <a:t>2</a:t>
            </a:r>
          </a:p>
          <a:p>
            <a:pPr>
              <a:lnSpc>
                <a:spcPct val="80000"/>
              </a:lnSpc>
            </a:pPr>
            <a:r>
              <a:rPr lang="es-ES" dirty="0">
                <a:solidFill>
                  <a:srgbClr val="000000"/>
                </a:solidFill>
              </a:rPr>
              <a:t>(</a:t>
            </a:r>
            <a:r>
              <a:rPr lang="es-ES" i="1" dirty="0">
                <a:solidFill>
                  <a:srgbClr val="000000"/>
                </a:solidFill>
                <a:sym typeface="Symbol" pitchFamily="-84" charset="2"/>
              </a:rPr>
              <a:t></a:t>
            </a:r>
            <a:r>
              <a:rPr lang="es-ES" i="1" baseline="-25000" dirty="0">
                <a:solidFill>
                  <a:srgbClr val="000000"/>
                </a:solidFill>
                <a:sym typeface="Symbol" pitchFamily="-84" charset="2"/>
              </a:rPr>
              <a:t>2</a:t>
            </a:r>
            <a:r>
              <a:rPr lang="es-ES" dirty="0">
                <a:solidFill>
                  <a:srgbClr val="000000"/>
                </a:solidFill>
              </a:rPr>
              <a:t>)</a:t>
            </a:r>
            <a:endParaRPr lang="ca-ES" dirty="0">
              <a:solidFill>
                <a:srgbClr val="000000"/>
              </a:solidFill>
            </a:endParaRPr>
          </a:p>
        </p:txBody>
      </p:sp>
      <p:sp>
        <p:nvSpPr>
          <p:cNvPr id="29" name="Line 11"/>
          <p:cNvSpPr>
            <a:spLocks noChangeShapeType="1"/>
          </p:cNvSpPr>
          <p:nvPr/>
        </p:nvSpPr>
        <p:spPr bwMode="auto">
          <a:xfrm>
            <a:off x="2716213" y="27432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Rectangle 12"/>
          <p:cNvSpPr>
            <a:spLocks noChangeArrowheads="1"/>
          </p:cNvSpPr>
          <p:nvPr/>
        </p:nvSpPr>
        <p:spPr bwMode="blackWhite">
          <a:xfrm>
            <a:off x="3021013" y="2133600"/>
            <a:ext cx="152400" cy="1219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1" name="Line 13"/>
          <p:cNvSpPr>
            <a:spLocks noChangeShapeType="1"/>
          </p:cNvSpPr>
          <p:nvPr/>
        </p:nvSpPr>
        <p:spPr bwMode="auto">
          <a:xfrm>
            <a:off x="3173413" y="27432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Line 14"/>
          <p:cNvSpPr>
            <a:spLocks noChangeShapeType="1"/>
          </p:cNvSpPr>
          <p:nvPr/>
        </p:nvSpPr>
        <p:spPr bwMode="auto">
          <a:xfrm>
            <a:off x="4392613" y="27432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Rectangle 15"/>
          <p:cNvSpPr>
            <a:spLocks noChangeArrowheads="1"/>
          </p:cNvSpPr>
          <p:nvPr/>
        </p:nvSpPr>
        <p:spPr bwMode="blackWhite">
          <a:xfrm>
            <a:off x="6831013" y="2362200"/>
            <a:ext cx="914400" cy="762000"/>
          </a:xfrm>
          <a:prstGeom prst="rect">
            <a:avLst/>
          </a:prstGeom>
          <a:gradFill>
            <a:gsLst>
              <a:gs pos="0">
                <a:schemeClr val="accent2"/>
              </a:gs>
              <a:gs pos="15000">
                <a:schemeClr val="accent2"/>
              </a:gs>
              <a:gs pos="62000">
                <a:schemeClr val="accent2"/>
              </a:gs>
              <a:gs pos="97000">
                <a:schemeClr val="accent2"/>
              </a:gs>
              <a:gs pos="100000">
                <a:schemeClr val="accent2"/>
              </a:gs>
            </a:gsLst>
            <a:path path="circle">
              <a:fillToRect l="100000" t="100000" r="100000" b="100000"/>
            </a:path>
          </a:gra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9200" prstMaterial="legacyMetal">
            <a:bevelT w="13500" h="13500" prst="angle"/>
            <a:bevelB w="13500" h="13500" prst="angle"/>
            <a:extrusionClr>
              <a:srgbClr val="FF9900"/>
            </a:extrusionClr>
          </a:sp3d>
        </p:spPr>
        <p:txBody>
          <a:bodyPr wrap="none" anchor="ctr">
            <a:prstTxWarp prst="textNoShape">
              <a:avLst/>
            </a:prstTxWarp>
            <a:flatTx/>
          </a:bodyPr>
          <a:lstStyle/>
          <a:p>
            <a:pPr algn="ctr" eaLnBrk="0" hangingPunct="0">
              <a:lnSpc>
                <a:spcPct val="80000"/>
              </a:lnSpc>
            </a:pPr>
            <a:r>
              <a:rPr lang="es-ES" b="0" i="1" dirty="0" err="1">
                <a:solidFill>
                  <a:srgbClr val="000000"/>
                </a:solidFill>
              </a:rPr>
              <a:t>P</a:t>
            </a:r>
            <a:r>
              <a:rPr lang="es-ES" sz="24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s-ES" i="1" baseline="-25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s-ES" dirty="0">
                <a:solidFill>
                  <a:srgbClr val="000000"/>
                </a:solidFill>
              </a:rPr>
              <a:t>(</a:t>
            </a:r>
            <a:r>
              <a:rPr lang="es-ES" i="1" dirty="0">
                <a:solidFill>
                  <a:srgbClr val="000000"/>
                </a:solidFill>
                <a:sym typeface="Symbol" pitchFamily="-84" charset="2"/>
              </a:rPr>
              <a:t></a:t>
            </a:r>
            <a:r>
              <a:rPr lang="es-ES" sz="2400" i="1" u="sng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-84" charset="2"/>
              </a:rPr>
              <a:t>k</a:t>
            </a:r>
            <a:r>
              <a:rPr lang="es-ES" dirty="0">
                <a:solidFill>
                  <a:srgbClr val="000000"/>
                </a:solidFill>
              </a:rPr>
              <a:t>)</a:t>
            </a:r>
            <a:endParaRPr lang="ca-ES" dirty="0">
              <a:solidFill>
                <a:srgbClr val="000000"/>
              </a:solidFill>
            </a:endParaRPr>
          </a:p>
        </p:txBody>
      </p:sp>
      <p:sp>
        <p:nvSpPr>
          <p:cNvPr id="34" name="Line 16"/>
          <p:cNvSpPr>
            <a:spLocks noChangeShapeType="1"/>
          </p:cNvSpPr>
          <p:nvPr/>
        </p:nvSpPr>
        <p:spPr bwMode="auto">
          <a:xfrm>
            <a:off x="6069013" y="27432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Rectangle 17"/>
          <p:cNvSpPr>
            <a:spLocks noChangeArrowheads="1"/>
          </p:cNvSpPr>
          <p:nvPr/>
        </p:nvSpPr>
        <p:spPr bwMode="blackWhite">
          <a:xfrm>
            <a:off x="6373813" y="2133600"/>
            <a:ext cx="152400" cy="1219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6" name="Line 18"/>
          <p:cNvSpPr>
            <a:spLocks noChangeShapeType="1"/>
          </p:cNvSpPr>
          <p:nvPr/>
        </p:nvSpPr>
        <p:spPr bwMode="auto">
          <a:xfrm>
            <a:off x="6526213" y="27432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Line 19"/>
          <p:cNvSpPr>
            <a:spLocks noChangeShapeType="1"/>
          </p:cNvSpPr>
          <p:nvPr/>
        </p:nvSpPr>
        <p:spPr bwMode="auto">
          <a:xfrm>
            <a:off x="5002213" y="2743200"/>
            <a:ext cx="7620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Line 23"/>
          <p:cNvSpPr>
            <a:spLocks noChangeShapeType="1"/>
          </p:cNvSpPr>
          <p:nvPr/>
        </p:nvSpPr>
        <p:spPr bwMode="auto">
          <a:xfrm>
            <a:off x="3097213" y="18288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Freeform 24"/>
          <p:cNvSpPr>
            <a:spLocks/>
          </p:cNvSpPr>
          <p:nvPr/>
        </p:nvSpPr>
        <p:spPr bwMode="auto">
          <a:xfrm>
            <a:off x="1420813" y="1371600"/>
            <a:ext cx="5741987" cy="762000"/>
          </a:xfrm>
          <a:custGeom>
            <a:avLst/>
            <a:gdLst>
              <a:gd name="T0" fmla="*/ 2147483647 w 3648"/>
              <a:gd name="T1" fmla="*/ 0 h 480"/>
              <a:gd name="T2" fmla="*/ 2147483647 w 3648"/>
              <a:gd name="T3" fmla="*/ 2147483647 h 480"/>
              <a:gd name="T4" fmla="*/ 0 w 3648"/>
              <a:gd name="T5" fmla="*/ 2147483647 h 480"/>
              <a:gd name="T6" fmla="*/ 0 w 3648"/>
              <a:gd name="T7" fmla="*/ 2147483647 h 480"/>
              <a:gd name="T8" fmla="*/ 0 60000 65536"/>
              <a:gd name="T9" fmla="*/ 0 60000 65536"/>
              <a:gd name="T10" fmla="*/ 0 60000 65536"/>
              <a:gd name="T11" fmla="*/ 0 60000 65536"/>
              <a:gd name="T12" fmla="*/ 0 w 3648"/>
              <a:gd name="T13" fmla="*/ 0 h 480"/>
              <a:gd name="T14" fmla="*/ 3648 w 3648"/>
              <a:gd name="T15" fmla="*/ 480 h 4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648" h="480">
                <a:moveTo>
                  <a:pt x="3648" y="0"/>
                </a:moveTo>
                <a:lnTo>
                  <a:pt x="3648" y="288"/>
                </a:lnTo>
                <a:lnTo>
                  <a:pt x="0" y="288"/>
                </a:lnTo>
                <a:lnTo>
                  <a:pt x="0" y="48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Line 25"/>
          <p:cNvSpPr>
            <a:spLocks noChangeShapeType="1"/>
          </p:cNvSpPr>
          <p:nvPr/>
        </p:nvSpPr>
        <p:spPr bwMode="auto">
          <a:xfrm>
            <a:off x="6450013" y="18288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Text Box 26"/>
          <p:cNvSpPr txBox="1">
            <a:spLocks noChangeArrowheads="1"/>
          </p:cNvSpPr>
          <p:nvPr/>
        </p:nvSpPr>
        <p:spPr bwMode="auto">
          <a:xfrm>
            <a:off x="7391400" y="1755835"/>
            <a:ext cx="66516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_tradnl" b="0" dirty="0">
                <a:solidFill>
                  <a:srgbClr val="000000"/>
                </a:solidFill>
              </a:rPr>
              <a:t>reloj</a:t>
            </a:r>
          </a:p>
        </p:txBody>
      </p:sp>
      <p:sp>
        <p:nvSpPr>
          <p:cNvPr id="42" name="Freeform 27"/>
          <p:cNvSpPr>
            <a:spLocks/>
          </p:cNvSpPr>
          <p:nvPr/>
        </p:nvSpPr>
        <p:spPr bwMode="auto">
          <a:xfrm>
            <a:off x="7419975" y="1527235"/>
            <a:ext cx="685800" cy="228600"/>
          </a:xfrm>
          <a:custGeom>
            <a:avLst/>
            <a:gdLst>
              <a:gd name="T0" fmla="*/ 0 w 1056"/>
              <a:gd name="T1" fmla="*/ 2147483647 h 192"/>
              <a:gd name="T2" fmla="*/ 2147483647 w 1056"/>
              <a:gd name="T3" fmla="*/ 2147483647 h 192"/>
              <a:gd name="T4" fmla="*/ 2147483647 w 1056"/>
              <a:gd name="T5" fmla="*/ 0 h 192"/>
              <a:gd name="T6" fmla="*/ 2147483647 w 1056"/>
              <a:gd name="T7" fmla="*/ 0 h 192"/>
              <a:gd name="T8" fmla="*/ 2147483647 w 1056"/>
              <a:gd name="T9" fmla="*/ 2147483647 h 192"/>
              <a:gd name="T10" fmla="*/ 2147483647 w 1056"/>
              <a:gd name="T11" fmla="*/ 2147483647 h 192"/>
              <a:gd name="T12" fmla="*/ 2147483647 w 1056"/>
              <a:gd name="T13" fmla="*/ 0 h 192"/>
              <a:gd name="T14" fmla="*/ 2147483647 w 1056"/>
              <a:gd name="T15" fmla="*/ 0 h 192"/>
              <a:gd name="T16" fmla="*/ 2147483647 w 1056"/>
              <a:gd name="T17" fmla="*/ 2147483647 h 192"/>
              <a:gd name="T18" fmla="*/ 2147483647 w 1056"/>
              <a:gd name="T19" fmla="*/ 2147483647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056"/>
              <a:gd name="T31" fmla="*/ 0 h 192"/>
              <a:gd name="T32" fmla="*/ 1056 w 1056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056" h="192">
                <a:moveTo>
                  <a:pt x="0" y="192"/>
                </a:moveTo>
                <a:lnTo>
                  <a:pt x="192" y="192"/>
                </a:lnTo>
                <a:lnTo>
                  <a:pt x="192" y="0"/>
                </a:lnTo>
                <a:lnTo>
                  <a:pt x="384" y="0"/>
                </a:lnTo>
                <a:lnTo>
                  <a:pt x="384" y="192"/>
                </a:lnTo>
                <a:lnTo>
                  <a:pt x="624" y="192"/>
                </a:lnTo>
                <a:lnTo>
                  <a:pt x="624" y="0"/>
                </a:lnTo>
                <a:lnTo>
                  <a:pt x="816" y="0"/>
                </a:lnTo>
                <a:lnTo>
                  <a:pt x="816" y="192"/>
                </a:lnTo>
                <a:lnTo>
                  <a:pt x="1056" y="192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Diagramas Temporales: Diagrama Instrucciones/Tiempo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4213" y="1124744"/>
            <a:ext cx="8250237" cy="627062"/>
          </a:xfrm>
        </p:spPr>
        <p:txBody>
          <a:bodyPr/>
          <a:lstStyle/>
          <a:p>
            <a:r>
              <a:rPr lang="es-ES_tradnl" dirty="0"/>
              <a:t>Ejemplo de segmentación con </a:t>
            </a:r>
            <a:r>
              <a:rPr lang="es-ES_tradnl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_tradnl" dirty="0"/>
              <a:t>=5 etapas y </a:t>
            </a:r>
            <a:r>
              <a:rPr lang="es-ES_tradnl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_tradnl" dirty="0"/>
              <a:t>=5 instrucciones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smtClean="0"/>
              <a:pPr>
                <a:defRPr/>
              </a:pPr>
              <a:t>11</a:t>
            </a:fld>
            <a:endParaRPr lang="es-ES_tradnl"/>
          </a:p>
        </p:txBody>
      </p:sp>
      <p:sp>
        <p:nvSpPr>
          <p:cNvPr id="15" name="CuadroTexto 14"/>
          <p:cNvSpPr txBox="1"/>
          <p:nvPr/>
        </p:nvSpPr>
        <p:spPr>
          <a:xfrm>
            <a:off x="2208174" y="2606082"/>
            <a:ext cx="365956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P1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CuadroTexto 15"/>
          <p:cNvSpPr txBox="1"/>
          <p:nvPr/>
        </p:nvSpPr>
        <p:spPr>
          <a:xfrm>
            <a:off x="2893974" y="2606876"/>
            <a:ext cx="365956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P2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CuadroTexto 16"/>
          <p:cNvSpPr txBox="1"/>
          <p:nvPr/>
        </p:nvSpPr>
        <p:spPr>
          <a:xfrm>
            <a:off x="3579774" y="2606876"/>
            <a:ext cx="365956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P3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4265574" y="2606876"/>
            <a:ext cx="365956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P4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4951374" y="2606876"/>
            <a:ext cx="365956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P5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0" name="CuadroTexto 39"/>
          <p:cNvSpPr txBox="1"/>
          <p:nvPr/>
        </p:nvSpPr>
        <p:spPr>
          <a:xfrm>
            <a:off x="1166086" y="2775416"/>
            <a:ext cx="7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_tradnl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1" name="CuadroTexto 40"/>
          <p:cNvSpPr txBox="1"/>
          <p:nvPr/>
        </p:nvSpPr>
        <p:spPr>
          <a:xfrm>
            <a:off x="1089886" y="2623016"/>
            <a:ext cx="333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I1</a:t>
            </a:r>
          </a:p>
        </p:txBody>
      </p:sp>
      <p:sp>
        <p:nvSpPr>
          <p:cNvPr id="42" name="CuadroTexto 41"/>
          <p:cNvSpPr txBox="1"/>
          <p:nvPr/>
        </p:nvSpPr>
        <p:spPr>
          <a:xfrm>
            <a:off x="1089886" y="3001039"/>
            <a:ext cx="333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I2</a:t>
            </a:r>
          </a:p>
        </p:txBody>
      </p:sp>
      <p:sp>
        <p:nvSpPr>
          <p:cNvPr id="43" name="CuadroTexto 42"/>
          <p:cNvSpPr txBox="1"/>
          <p:nvPr/>
        </p:nvSpPr>
        <p:spPr>
          <a:xfrm>
            <a:off x="1089886" y="3385016"/>
            <a:ext cx="333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I3</a:t>
            </a:r>
          </a:p>
        </p:txBody>
      </p:sp>
      <p:sp>
        <p:nvSpPr>
          <p:cNvPr id="44" name="CuadroTexto 43"/>
          <p:cNvSpPr txBox="1"/>
          <p:nvPr/>
        </p:nvSpPr>
        <p:spPr>
          <a:xfrm>
            <a:off x="1089886" y="3763039"/>
            <a:ext cx="333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I4</a:t>
            </a:r>
          </a:p>
        </p:txBody>
      </p:sp>
      <p:sp>
        <p:nvSpPr>
          <p:cNvPr id="45" name="CuadroTexto 44"/>
          <p:cNvSpPr txBox="1"/>
          <p:nvPr/>
        </p:nvSpPr>
        <p:spPr>
          <a:xfrm>
            <a:off x="1089886" y="4147016"/>
            <a:ext cx="333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I5</a:t>
            </a:r>
          </a:p>
        </p:txBody>
      </p:sp>
      <p:cxnSp>
        <p:nvCxnSpPr>
          <p:cNvPr id="52" name="Conector recto 51"/>
          <p:cNvCxnSpPr/>
          <p:nvPr/>
        </p:nvCxnSpPr>
        <p:spPr bwMode="auto">
          <a:xfrm>
            <a:off x="1166084" y="2547610"/>
            <a:ext cx="7239000" cy="1588"/>
          </a:xfrm>
          <a:prstGeom prst="line">
            <a:avLst/>
          </a:prstGeom>
          <a:ln w="12700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3" name="Conector recto 52"/>
          <p:cNvCxnSpPr/>
          <p:nvPr/>
        </p:nvCxnSpPr>
        <p:spPr bwMode="auto">
          <a:xfrm>
            <a:off x="1166086" y="2979055"/>
            <a:ext cx="7238998" cy="25755"/>
          </a:xfrm>
          <a:prstGeom prst="line">
            <a:avLst/>
          </a:prstGeom>
          <a:ln w="12700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" name="Conector recto 53"/>
          <p:cNvCxnSpPr/>
          <p:nvPr/>
        </p:nvCxnSpPr>
        <p:spPr bwMode="auto">
          <a:xfrm flipV="1">
            <a:off x="1166086" y="3335364"/>
            <a:ext cx="7162800" cy="50446"/>
          </a:xfrm>
          <a:prstGeom prst="line">
            <a:avLst/>
          </a:prstGeom>
          <a:ln w="12700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5" name="Conector recto 54"/>
          <p:cNvCxnSpPr/>
          <p:nvPr/>
        </p:nvCxnSpPr>
        <p:spPr bwMode="auto">
          <a:xfrm flipV="1">
            <a:off x="1166086" y="3690610"/>
            <a:ext cx="7162800" cy="50446"/>
          </a:xfrm>
          <a:prstGeom prst="line">
            <a:avLst/>
          </a:prstGeom>
          <a:ln w="12700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6" name="Conector recto 55"/>
          <p:cNvCxnSpPr/>
          <p:nvPr/>
        </p:nvCxnSpPr>
        <p:spPr bwMode="auto">
          <a:xfrm>
            <a:off x="1106818" y="4120821"/>
            <a:ext cx="7315200" cy="1588"/>
          </a:xfrm>
          <a:prstGeom prst="line">
            <a:avLst/>
          </a:prstGeom>
          <a:ln w="12700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7" name="Conector recto 56"/>
          <p:cNvCxnSpPr/>
          <p:nvPr/>
        </p:nvCxnSpPr>
        <p:spPr bwMode="auto">
          <a:xfrm>
            <a:off x="1166086" y="4503055"/>
            <a:ext cx="7162800" cy="25755"/>
          </a:xfrm>
          <a:prstGeom prst="line">
            <a:avLst/>
          </a:prstGeom>
          <a:ln w="12700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3" name="Conector recto 62"/>
          <p:cNvCxnSpPr/>
          <p:nvPr/>
        </p:nvCxnSpPr>
        <p:spPr bwMode="auto">
          <a:xfrm rot="5400000">
            <a:off x="823583" y="3423513"/>
            <a:ext cx="2362200" cy="794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4" name="Conector recto 63"/>
          <p:cNvCxnSpPr/>
          <p:nvPr/>
        </p:nvCxnSpPr>
        <p:spPr bwMode="auto">
          <a:xfrm rot="5400000">
            <a:off x="1530152" y="3462010"/>
            <a:ext cx="24384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8" name="CuadroTexto 67"/>
          <p:cNvSpPr txBox="1"/>
          <p:nvPr/>
        </p:nvSpPr>
        <p:spPr>
          <a:xfrm>
            <a:off x="2226743" y="1938010"/>
            <a:ext cx="2702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>
                <a:solidFill>
                  <a:schemeClr val="accent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69" name="CuadroTexto 68"/>
          <p:cNvSpPr txBox="1"/>
          <p:nvPr/>
        </p:nvSpPr>
        <p:spPr>
          <a:xfrm>
            <a:off x="2950928" y="1938010"/>
            <a:ext cx="2702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>
                <a:solidFill>
                  <a:schemeClr val="accent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3645181" y="1938010"/>
            <a:ext cx="2702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>
                <a:solidFill>
                  <a:schemeClr val="accent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360343" y="1938010"/>
            <a:ext cx="2702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72" name="CuadroTexto 71"/>
          <p:cNvSpPr txBox="1"/>
          <p:nvPr/>
        </p:nvSpPr>
        <p:spPr>
          <a:xfrm>
            <a:off x="4898475" y="1938010"/>
            <a:ext cx="5068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5 (</a:t>
            </a:r>
            <a:r>
              <a:rPr lang="es-ES_tradnl" sz="1600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100" name="CuadroTexto 99"/>
          <p:cNvSpPr txBox="1"/>
          <p:nvPr/>
        </p:nvSpPr>
        <p:spPr>
          <a:xfrm>
            <a:off x="1928086" y="1676400"/>
            <a:ext cx="6248397" cy="3077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Tiempo (ciclos)</a:t>
            </a:r>
          </a:p>
        </p:txBody>
      </p:sp>
      <p:sp>
        <p:nvSpPr>
          <p:cNvPr id="101" name="CuadroTexto 100"/>
          <p:cNvSpPr txBox="1"/>
          <p:nvPr/>
        </p:nvSpPr>
        <p:spPr>
          <a:xfrm rot="16200000">
            <a:off x="-150911" y="3231921"/>
            <a:ext cx="2286000" cy="3077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Instrucciones</a:t>
            </a:r>
          </a:p>
        </p:txBody>
      </p:sp>
      <p:sp>
        <p:nvSpPr>
          <p:cNvPr id="102" name="CuadroTexto 101"/>
          <p:cNvSpPr txBox="1"/>
          <p:nvPr/>
        </p:nvSpPr>
        <p:spPr>
          <a:xfrm>
            <a:off x="2884821" y="3021744"/>
            <a:ext cx="365956" cy="3077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P1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3" name="CuadroTexto 102"/>
          <p:cNvSpPr txBox="1"/>
          <p:nvPr/>
        </p:nvSpPr>
        <p:spPr>
          <a:xfrm>
            <a:off x="3570621" y="3022538"/>
            <a:ext cx="365956" cy="3077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P2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4" name="CuadroTexto 103"/>
          <p:cNvSpPr txBox="1"/>
          <p:nvPr/>
        </p:nvSpPr>
        <p:spPr>
          <a:xfrm>
            <a:off x="4256421" y="3022538"/>
            <a:ext cx="365956" cy="3077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P3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5" name="CuadroTexto 104"/>
          <p:cNvSpPr txBox="1"/>
          <p:nvPr/>
        </p:nvSpPr>
        <p:spPr>
          <a:xfrm>
            <a:off x="4942221" y="3022538"/>
            <a:ext cx="365956" cy="3077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P4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6" name="CuadroTexto 105"/>
          <p:cNvSpPr txBox="1"/>
          <p:nvPr/>
        </p:nvSpPr>
        <p:spPr>
          <a:xfrm>
            <a:off x="5628021" y="3022538"/>
            <a:ext cx="365956" cy="3077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P5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7" name="CuadroTexto 106"/>
          <p:cNvSpPr txBox="1"/>
          <p:nvPr/>
        </p:nvSpPr>
        <p:spPr>
          <a:xfrm>
            <a:off x="3577195" y="3382039"/>
            <a:ext cx="365956" cy="307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P1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8" name="CuadroTexto 107"/>
          <p:cNvSpPr txBox="1"/>
          <p:nvPr/>
        </p:nvSpPr>
        <p:spPr>
          <a:xfrm>
            <a:off x="4262995" y="3382833"/>
            <a:ext cx="365956" cy="307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P2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9" name="CuadroTexto 108"/>
          <p:cNvSpPr txBox="1"/>
          <p:nvPr/>
        </p:nvSpPr>
        <p:spPr>
          <a:xfrm>
            <a:off x="4948795" y="3382833"/>
            <a:ext cx="365956" cy="307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P3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0" name="CuadroTexto 109"/>
          <p:cNvSpPr txBox="1"/>
          <p:nvPr/>
        </p:nvSpPr>
        <p:spPr>
          <a:xfrm>
            <a:off x="5634595" y="3382833"/>
            <a:ext cx="365956" cy="307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P4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1" name="CuadroTexto 110"/>
          <p:cNvSpPr txBox="1"/>
          <p:nvPr/>
        </p:nvSpPr>
        <p:spPr>
          <a:xfrm>
            <a:off x="6320395" y="3382833"/>
            <a:ext cx="365956" cy="307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P5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2" name="CuadroTexto 111"/>
          <p:cNvSpPr txBox="1"/>
          <p:nvPr/>
        </p:nvSpPr>
        <p:spPr>
          <a:xfrm>
            <a:off x="4271462" y="3766016"/>
            <a:ext cx="365956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P1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3" name="CuadroTexto 112"/>
          <p:cNvSpPr txBox="1"/>
          <p:nvPr/>
        </p:nvSpPr>
        <p:spPr>
          <a:xfrm>
            <a:off x="4957262" y="3766810"/>
            <a:ext cx="365956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P2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4" name="CuadroTexto 113"/>
          <p:cNvSpPr txBox="1"/>
          <p:nvPr/>
        </p:nvSpPr>
        <p:spPr>
          <a:xfrm>
            <a:off x="5643062" y="3766810"/>
            <a:ext cx="365956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P3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5" name="CuadroTexto 114"/>
          <p:cNvSpPr txBox="1"/>
          <p:nvPr/>
        </p:nvSpPr>
        <p:spPr>
          <a:xfrm>
            <a:off x="6328862" y="3766810"/>
            <a:ext cx="365956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P4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6" name="CuadroTexto 115"/>
          <p:cNvSpPr txBox="1"/>
          <p:nvPr/>
        </p:nvSpPr>
        <p:spPr>
          <a:xfrm>
            <a:off x="7014662" y="3766810"/>
            <a:ext cx="365956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P5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7" name="CuadroTexto 116"/>
          <p:cNvSpPr txBox="1"/>
          <p:nvPr/>
        </p:nvSpPr>
        <p:spPr>
          <a:xfrm>
            <a:off x="4959152" y="4147810"/>
            <a:ext cx="365956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P1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8" name="CuadroTexto 117"/>
          <p:cNvSpPr txBox="1"/>
          <p:nvPr/>
        </p:nvSpPr>
        <p:spPr>
          <a:xfrm>
            <a:off x="5644952" y="4148604"/>
            <a:ext cx="365956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P2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9" name="CuadroTexto 118"/>
          <p:cNvSpPr txBox="1"/>
          <p:nvPr/>
        </p:nvSpPr>
        <p:spPr>
          <a:xfrm>
            <a:off x="6330752" y="4148604"/>
            <a:ext cx="365956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P3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0" name="CuadroTexto 119"/>
          <p:cNvSpPr txBox="1"/>
          <p:nvPr/>
        </p:nvSpPr>
        <p:spPr>
          <a:xfrm>
            <a:off x="7016552" y="4148604"/>
            <a:ext cx="365956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P4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1" name="CuadroTexto 120"/>
          <p:cNvSpPr txBox="1"/>
          <p:nvPr/>
        </p:nvSpPr>
        <p:spPr>
          <a:xfrm>
            <a:off x="7702352" y="4148604"/>
            <a:ext cx="365956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P5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91" name="Conector recto 190"/>
          <p:cNvCxnSpPr/>
          <p:nvPr/>
        </p:nvCxnSpPr>
        <p:spPr bwMode="auto">
          <a:xfrm rot="5400000">
            <a:off x="2206690" y="3461216"/>
            <a:ext cx="24384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2" name="Conector recto 191"/>
          <p:cNvCxnSpPr/>
          <p:nvPr/>
        </p:nvCxnSpPr>
        <p:spPr bwMode="auto">
          <a:xfrm rot="5400000">
            <a:off x="2884024" y="3461216"/>
            <a:ext cx="24384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3" name="Conector recto 192"/>
          <p:cNvCxnSpPr/>
          <p:nvPr/>
        </p:nvCxnSpPr>
        <p:spPr bwMode="auto">
          <a:xfrm rot="5400000">
            <a:off x="3578291" y="3461216"/>
            <a:ext cx="24384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4" name="Conector recto 193"/>
          <p:cNvCxnSpPr/>
          <p:nvPr/>
        </p:nvCxnSpPr>
        <p:spPr bwMode="auto">
          <a:xfrm rot="5400000">
            <a:off x="4264091" y="3461216"/>
            <a:ext cx="24384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5" name="Conector recto 194"/>
          <p:cNvCxnSpPr/>
          <p:nvPr/>
        </p:nvCxnSpPr>
        <p:spPr bwMode="auto">
          <a:xfrm rot="5400000">
            <a:off x="4949891" y="3461216"/>
            <a:ext cx="24384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6" name="Conector recto 195"/>
          <p:cNvCxnSpPr/>
          <p:nvPr/>
        </p:nvCxnSpPr>
        <p:spPr bwMode="auto">
          <a:xfrm rot="5400000">
            <a:off x="5635691" y="3461216"/>
            <a:ext cx="24384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7" name="Conector recto 196"/>
          <p:cNvCxnSpPr/>
          <p:nvPr/>
        </p:nvCxnSpPr>
        <p:spPr bwMode="auto">
          <a:xfrm rot="5400000">
            <a:off x="6321491" y="3461216"/>
            <a:ext cx="24384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8" name="CuadroTexto 197"/>
          <p:cNvSpPr txBox="1"/>
          <p:nvPr/>
        </p:nvSpPr>
        <p:spPr>
          <a:xfrm>
            <a:off x="5701884" y="1938010"/>
            <a:ext cx="2702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>
                <a:solidFill>
                  <a:schemeClr val="accent1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199" name="CuadroTexto 198"/>
          <p:cNvSpPr txBox="1"/>
          <p:nvPr/>
        </p:nvSpPr>
        <p:spPr>
          <a:xfrm>
            <a:off x="6358324" y="1938010"/>
            <a:ext cx="2702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>
                <a:solidFill>
                  <a:schemeClr val="accent1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200" name="CuadroTexto 199"/>
          <p:cNvSpPr txBox="1"/>
          <p:nvPr/>
        </p:nvSpPr>
        <p:spPr>
          <a:xfrm>
            <a:off x="7057397" y="1938010"/>
            <a:ext cx="2702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>
                <a:solidFill>
                  <a:schemeClr val="accent1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201" name="CuadroTexto 200"/>
          <p:cNvSpPr txBox="1"/>
          <p:nvPr/>
        </p:nvSpPr>
        <p:spPr>
          <a:xfrm>
            <a:off x="7433628" y="1938010"/>
            <a:ext cx="9188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9 (</a:t>
            </a:r>
            <a:r>
              <a:rPr lang="es-ES_tradnl" sz="1600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_tradnl" sz="1600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s-ES_tradnl" sz="1600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_tradnl" sz="1600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202" name="Flecha derecha 201"/>
          <p:cNvSpPr/>
          <p:nvPr/>
        </p:nvSpPr>
        <p:spPr bwMode="auto">
          <a:xfrm rot="5400000">
            <a:off x="4480785" y="5405111"/>
            <a:ext cx="1447800" cy="761998"/>
          </a:xfrm>
          <a:prstGeom prst="rightArrow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 dirty="0">
                <a:solidFill>
                  <a:srgbClr val="000000"/>
                </a:solidFill>
              </a:rPr>
              <a:t>I</a:t>
            </a:r>
            <a:r>
              <a:rPr lang="es-ES_tradnl" sz="1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s-ES_tradnl" sz="1000" dirty="0">
                <a:solidFill>
                  <a:srgbClr val="000000"/>
                </a:solidFill>
              </a:rPr>
              <a:t> en 5 ciclos </a:t>
            </a:r>
          </a:p>
          <a:p>
            <a:pPr algn="ctr"/>
            <a:r>
              <a:rPr lang="es-ES_tradnl" sz="1000" dirty="0">
                <a:solidFill>
                  <a:srgbClr val="000000"/>
                </a:solidFill>
              </a:rPr>
              <a:t>(</a:t>
            </a:r>
            <a:r>
              <a:rPr lang="es-ES_tradnl" sz="11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_tradnl" sz="1000" dirty="0">
                <a:solidFill>
                  <a:srgbClr val="000000"/>
                </a:solidFill>
              </a:rPr>
              <a:t> ciclos)</a:t>
            </a:r>
          </a:p>
        </p:txBody>
      </p:sp>
      <p:sp>
        <p:nvSpPr>
          <p:cNvPr id="203" name="Flecha derecha 202"/>
          <p:cNvSpPr/>
          <p:nvPr/>
        </p:nvSpPr>
        <p:spPr bwMode="auto">
          <a:xfrm rot="5400000">
            <a:off x="5128484" y="5443210"/>
            <a:ext cx="1447800" cy="685800"/>
          </a:xfrm>
          <a:prstGeom prst="rightArrow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 dirty="0">
                <a:solidFill>
                  <a:srgbClr val="000000"/>
                </a:solidFill>
              </a:rPr>
              <a:t>I2 en 5 ciclos </a:t>
            </a:r>
          </a:p>
          <a:p>
            <a:pPr algn="ctr"/>
            <a:r>
              <a:rPr lang="es-ES_tradnl" sz="1000" dirty="0">
                <a:solidFill>
                  <a:srgbClr val="000000"/>
                </a:solidFill>
              </a:rPr>
              <a:t>(</a:t>
            </a:r>
            <a:r>
              <a:rPr lang="es-ES_tradnl" sz="11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_tradnl" sz="1000" dirty="0">
                <a:solidFill>
                  <a:srgbClr val="000000"/>
                </a:solidFill>
              </a:rPr>
              <a:t> ciclos)</a:t>
            </a:r>
          </a:p>
        </p:txBody>
      </p:sp>
      <p:sp>
        <p:nvSpPr>
          <p:cNvPr id="204" name="CuadroTexto 203"/>
          <p:cNvSpPr txBox="1"/>
          <p:nvPr/>
        </p:nvSpPr>
        <p:spPr>
          <a:xfrm>
            <a:off x="6119084" y="5443210"/>
            <a:ext cx="434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. . .</a:t>
            </a:r>
          </a:p>
        </p:txBody>
      </p:sp>
      <p:cxnSp>
        <p:nvCxnSpPr>
          <p:cNvPr id="212" name="Conector recto de flecha 211"/>
          <p:cNvCxnSpPr/>
          <p:nvPr/>
        </p:nvCxnSpPr>
        <p:spPr bwMode="auto">
          <a:xfrm rot="10800000">
            <a:off x="4290284" y="4909810"/>
            <a:ext cx="11430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3" name="Conector recto de flecha 212"/>
          <p:cNvCxnSpPr/>
          <p:nvPr/>
        </p:nvCxnSpPr>
        <p:spPr bwMode="auto">
          <a:xfrm>
            <a:off x="2080484" y="4884409"/>
            <a:ext cx="1292039" cy="11501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4" name="CuadroTexto 213"/>
          <p:cNvSpPr txBox="1"/>
          <p:nvPr/>
        </p:nvSpPr>
        <p:spPr>
          <a:xfrm>
            <a:off x="3445447" y="4757410"/>
            <a:ext cx="702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600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 ciclos</a:t>
            </a:r>
          </a:p>
        </p:txBody>
      </p:sp>
      <p:cxnSp>
        <p:nvCxnSpPr>
          <p:cNvPr id="215" name="Conector recto de flecha 214"/>
          <p:cNvCxnSpPr/>
          <p:nvPr/>
        </p:nvCxnSpPr>
        <p:spPr bwMode="auto">
          <a:xfrm rot="10800000">
            <a:off x="7338284" y="4909810"/>
            <a:ext cx="7620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6" name="CuadroTexto 215"/>
          <p:cNvSpPr txBox="1"/>
          <p:nvPr/>
        </p:nvSpPr>
        <p:spPr>
          <a:xfrm>
            <a:off x="6400149" y="4757410"/>
            <a:ext cx="8851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600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 ciclos</a:t>
            </a:r>
          </a:p>
        </p:txBody>
      </p:sp>
      <p:cxnSp>
        <p:nvCxnSpPr>
          <p:cNvPr id="217" name="Conector recto de flecha 216"/>
          <p:cNvCxnSpPr>
            <a:endCxn id="216" idx="1"/>
          </p:cNvCxnSpPr>
          <p:nvPr/>
        </p:nvCxnSpPr>
        <p:spPr bwMode="auto">
          <a:xfrm>
            <a:off x="5585684" y="4909810"/>
            <a:ext cx="814465" cy="16877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8" name="Conector recto 217"/>
          <p:cNvCxnSpPr/>
          <p:nvPr/>
        </p:nvCxnSpPr>
        <p:spPr bwMode="auto">
          <a:xfrm rot="5400000">
            <a:off x="5370577" y="4870916"/>
            <a:ext cx="2286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9" name="Conector recto 218"/>
          <p:cNvCxnSpPr/>
          <p:nvPr/>
        </p:nvCxnSpPr>
        <p:spPr bwMode="auto">
          <a:xfrm rot="5400000">
            <a:off x="1890778" y="4870916"/>
            <a:ext cx="2286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0" name="Conector recto 219"/>
          <p:cNvCxnSpPr/>
          <p:nvPr/>
        </p:nvCxnSpPr>
        <p:spPr bwMode="auto">
          <a:xfrm rot="5400000">
            <a:off x="8062978" y="4947116"/>
            <a:ext cx="2286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3" name="Conector recto 222"/>
          <p:cNvCxnSpPr/>
          <p:nvPr/>
        </p:nvCxnSpPr>
        <p:spPr bwMode="auto">
          <a:xfrm rot="5400000">
            <a:off x="6956490" y="3461216"/>
            <a:ext cx="24384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8" name="Llamada rectangular redondeada 227"/>
          <p:cNvSpPr/>
          <p:nvPr/>
        </p:nvSpPr>
        <p:spPr bwMode="auto">
          <a:xfrm>
            <a:off x="6347684" y="5290810"/>
            <a:ext cx="1981200" cy="685800"/>
          </a:xfrm>
          <a:prstGeom prst="wedgeRoundRectCallout">
            <a:avLst>
              <a:gd name="adj1" fmla="val 35915"/>
              <a:gd name="adj2" fmla="val -86882"/>
              <a:gd name="adj3" fmla="val 16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_tradnl" sz="1400" dirty="0">
                <a:solidFill>
                  <a:srgbClr val="000000"/>
                </a:solidFill>
              </a:rPr>
              <a:t> instrucciones procesadas en </a:t>
            </a:r>
            <a:r>
              <a:rPr lang="es-ES_tradnl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k+n-1 </a:t>
            </a:r>
            <a:r>
              <a:rPr lang="es-ES_tradnl" sz="1400" dirty="0">
                <a:solidFill>
                  <a:srgbClr val="000000"/>
                </a:solidFill>
              </a:rPr>
              <a:t>ciclos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Prestaciones de la Segmentación </a:t>
            </a:r>
          </a:p>
        </p:txBody>
      </p:sp>
      <p:sp>
        <p:nvSpPr>
          <p:cNvPr id="2055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609601" y="1125538"/>
            <a:ext cx="8534400" cy="5580062"/>
          </a:xfrm>
        </p:spPr>
        <p:txBody>
          <a:bodyPr/>
          <a:lstStyle/>
          <a:p>
            <a:r>
              <a:rPr lang="es-ES_tradnl" dirty="0"/>
              <a:t>Medidas de prestaciones (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_tradnl" dirty="0"/>
              <a:t> instrucciones y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_tradnl" dirty="0"/>
              <a:t> etapas)</a:t>
            </a:r>
          </a:p>
          <a:p>
            <a:pPr lvl="1"/>
            <a:r>
              <a:rPr lang="es-ES_tradnl" b="1" dirty="0">
                <a:solidFill>
                  <a:srgbClr val="FF0000"/>
                </a:solidFill>
              </a:rPr>
              <a:t>Productividad</a:t>
            </a:r>
            <a:r>
              <a:rPr lang="es-ES_tradnl" dirty="0"/>
              <a:t>: trabajo realizado por unidad de tiempo</a:t>
            </a:r>
          </a:p>
          <a:p>
            <a:pPr lvl="1">
              <a:buNone/>
            </a:pPr>
            <a:endParaRPr lang="es-ES_tradnl" dirty="0"/>
          </a:p>
          <a:p>
            <a:pPr lvl="1">
              <a:buNone/>
            </a:pPr>
            <a:endParaRPr lang="es-ES_tradnl" dirty="0"/>
          </a:p>
          <a:p>
            <a:pPr lvl="2"/>
            <a:r>
              <a:rPr lang="es-ES_tradnl" dirty="0"/>
              <a:t>Incrementa:</a:t>
            </a:r>
          </a:p>
          <a:p>
            <a:pPr lvl="3"/>
            <a:r>
              <a:rPr lang="es-ES_tradnl" dirty="0"/>
              <a:t>Con el número de datos </a:t>
            </a:r>
          </a:p>
          <a:p>
            <a:pPr lvl="3"/>
            <a:r>
              <a:rPr lang="es-ES_tradnl" dirty="0"/>
              <a:t>Con la frecuencia de reloj</a:t>
            </a:r>
          </a:p>
          <a:p>
            <a:pPr lvl="2"/>
            <a:r>
              <a:rPr lang="es-ES_tradnl" dirty="0"/>
              <a:t>Límite teórico (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_tradnl" dirty="0"/>
              <a:t> suficientemente grande): </a:t>
            </a:r>
          </a:p>
          <a:p>
            <a:pPr lvl="3"/>
            <a:r>
              <a:rPr lang="es-ES_tradnl" dirty="0"/>
              <a:t>Una operación por ciclo</a:t>
            </a:r>
          </a:p>
          <a:p>
            <a:pPr lvl="1">
              <a:buNone/>
            </a:pPr>
            <a:endParaRPr lang="es-ES_tradnl" dirty="0"/>
          </a:p>
          <a:p>
            <a:pPr lvl="1"/>
            <a:r>
              <a:rPr lang="es-ES_tradnl" b="1" dirty="0">
                <a:solidFill>
                  <a:srgbClr val="FF0000"/>
                </a:solidFill>
              </a:rPr>
              <a:t>Aceleración</a:t>
            </a:r>
            <a:r>
              <a:rPr lang="es-ES_tradnl" dirty="0"/>
              <a:t>: Ganancia de velocidad respecto al circuito no segmentado:</a:t>
            </a:r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2"/>
            <a:endParaRPr lang="es-ES_tradnl" dirty="0"/>
          </a:p>
        </p:txBody>
      </p:sp>
      <p:sp>
        <p:nvSpPr>
          <p:cNvPr id="2053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79D34-A8DA-1F49-8E74-994F366BC167}" type="slidenum">
              <a:rPr lang="es-ES_tradnl" smtClean="0"/>
              <a:pPr/>
              <a:t>12</a:t>
            </a:fld>
            <a:endParaRPr lang="es-ES_tradnl"/>
          </a:p>
        </p:txBody>
      </p:sp>
      <p:graphicFrame>
        <p:nvGraphicFramePr>
          <p:cNvPr id="9" name="8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360373"/>
              </p:ext>
            </p:extLst>
          </p:nvPr>
        </p:nvGraphicFramePr>
        <p:xfrm>
          <a:off x="2411761" y="2060847"/>
          <a:ext cx="3858975" cy="646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2577960" imgH="431640" progId="Equation.3">
                  <p:embed/>
                </p:oleObj>
              </mc:Choice>
              <mc:Fallback>
                <p:oleObj name="Ecuación" r:id="rId3" imgW="2577960" imgH="4316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1" y="2060847"/>
                        <a:ext cx="3858975" cy="6463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5840231"/>
              </p:ext>
            </p:extLst>
          </p:nvPr>
        </p:nvGraphicFramePr>
        <p:xfrm>
          <a:off x="5610324" y="3690689"/>
          <a:ext cx="195580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901440" imgH="393480" progId="Equation.3">
                  <p:embed/>
                </p:oleObj>
              </mc:Choice>
              <mc:Fallback>
                <p:oleObj name="Ecuación" r:id="rId5" imgW="901440" imgH="3934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0324" y="3690689"/>
                        <a:ext cx="1955800" cy="854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8" name="Object 10"/>
          <p:cNvGraphicFramePr>
            <a:graphicFrameLocks noChangeAspect="1"/>
          </p:cNvGraphicFramePr>
          <p:nvPr/>
        </p:nvGraphicFramePr>
        <p:xfrm>
          <a:off x="1259632" y="5661248"/>
          <a:ext cx="385445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7" imgW="1777680" imgH="431640" progId="Equation.3">
                  <p:embed/>
                </p:oleObj>
              </mc:Choice>
              <mc:Fallback>
                <p:oleObj name="Ecuación" r:id="rId7" imgW="1777680" imgH="43164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5661248"/>
                        <a:ext cx="3854450" cy="93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9" name="Object 11"/>
          <p:cNvGraphicFramePr>
            <a:graphicFrameLocks noChangeAspect="1"/>
          </p:cNvGraphicFramePr>
          <p:nvPr/>
        </p:nvGraphicFramePr>
        <p:xfrm>
          <a:off x="6588224" y="5733256"/>
          <a:ext cx="1376363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9" imgW="634680" imgH="393480" progId="Equation.3">
                  <p:embed/>
                </p:oleObj>
              </mc:Choice>
              <mc:Fallback>
                <p:oleObj name="Ecuación" r:id="rId9" imgW="634680" imgH="39348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224" y="5733256"/>
                        <a:ext cx="1376363" cy="854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FD8126D1-2A0A-0BAB-CD4B-D46A571F661D}"/>
              </a:ext>
            </a:extLst>
          </p:cNvPr>
          <p:cNvSpPr txBox="1"/>
          <p:nvPr/>
        </p:nvSpPr>
        <p:spPr>
          <a:xfrm>
            <a:off x="5076056" y="2137047"/>
            <a:ext cx="280831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_tradnl" sz="1800" dirty="0"/>
              <a:t>Instrucciones/unidad de tiempo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5D03848-71C3-BB4F-BE72-C26B859640B6}" type="slidenum">
              <a:rPr lang="es-ES_tradnl" smtClean="0"/>
              <a:pPr/>
              <a:t>13</a:t>
            </a:fld>
            <a:endParaRPr lang="es-ES_tradnl"/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Prestaciones de la Segmentación 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Conclusiones</a:t>
            </a:r>
          </a:p>
          <a:p>
            <a:endParaRPr lang="es-ES_tradnl" dirty="0"/>
          </a:p>
          <a:p>
            <a:endParaRPr lang="es-ES_tradnl" dirty="0"/>
          </a:p>
          <a:p>
            <a:pPr lvl="1"/>
            <a:r>
              <a:rPr lang="es-ES_tradnl" dirty="0">
                <a:latin typeface="Arial" pitchFamily="-84" charset="0"/>
                <a:ea typeface="ＭＳ Ｐゴシック" pitchFamily="-84" charset="-128"/>
              </a:rPr>
              <a:t>Como </a:t>
            </a:r>
            <a:r>
              <a:rPr lang="es-ES_tradnl" i="1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  <a:sym typeface="Symbol" pitchFamily="-84" charset="2"/>
              </a:rPr>
              <a:t>T ≤ k </a:t>
            </a:r>
            <a:r>
              <a:rPr lang="es-ES_tradnl" dirty="0">
                <a:ea typeface="ＭＳ Ｐゴシック" pitchFamily="-84" charset="-128"/>
                <a:sym typeface="Symbol" pitchFamily="-84" charset="2"/>
              </a:rPr>
              <a:t>x</a:t>
            </a:r>
            <a:r>
              <a:rPr lang="es-ES_tradnl" i="1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  <a:sym typeface="Symbol" pitchFamily="-84" charset="2"/>
              </a:rPr>
              <a:t> </a:t>
            </a:r>
            <a:r>
              <a:rPr lang="es-ES_tradnl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,</a:t>
            </a:r>
            <a:r>
              <a:rPr lang="es-ES_tradnl" b="1" i="1" dirty="0">
                <a:solidFill>
                  <a:schemeClr val="tx2"/>
                </a:solidFill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  </a:t>
            </a:r>
            <a:r>
              <a:rPr lang="es-ES_tradnl" dirty="0">
                <a:latin typeface="Arial" pitchFamily="-84" charset="0"/>
                <a:ea typeface="ＭＳ Ｐゴシック" pitchFamily="-84" charset="-128"/>
              </a:rPr>
              <a:t>si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_tradnl" dirty="0">
                <a:latin typeface="Arial" pitchFamily="-84" charset="0"/>
                <a:ea typeface="ＭＳ Ｐゴシック" pitchFamily="-84" charset="-128"/>
              </a:rPr>
              <a:t>=1 entonces </a:t>
            </a:r>
            <a:r>
              <a:rPr lang="es-ES_tradnl" i="1" dirty="0">
                <a:latin typeface="Arial" pitchFamily="-84" charset="0"/>
                <a:ea typeface="ＭＳ Ｐゴシック" pitchFamily="-84" charset="-128"/>
              </a:rPr>
              <a:t>S</a:t>
            </a:r>
            <a:r>
              <a:rPr lang="es-ES_tradnl" b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</a:t>
            </a:r>
            <a:r>
              <a:rPr lang="es-ES_tradnl" dirty="0">
                <a:latin typeface="Arial" pitchFamily="-84" charset="0"/>
                <a:ea typeface="ＭＳ Ｐゴシック" pitchFamily="-84" charset="-128"/>
              </a:rPr>
              <a:t>1: la segmentación no beneficia</a:t>
            </a:r>
          </a:p>
          <a:p>
            <a:pPr lvl="1"/>
            <a:r>
              <a:rPr lang="es-ES_tradnl" dirty="0">
                <a:latin typeface="Arial" pitchFamily="-84" charset="0"/>
                <a:ea typeface="ＭＳ Ｐゴシック" pitchFamily="-84" charset="-128"/>
              </a:rPr>
              <a:t>Cuanto mayor sea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_tradnl" i="1" dirty="0">
                <a:latin typeface="Arial" pitchFamily="-84" charset="0"/>
                <a:ea typeface="ＭＳ Ｐゴシック" pitchFamily="-84" charset="-128"/>
              </a:rPr>
              <a:t> </a:t>
            </a:r>
            <a:r>
              <a:rPr lang="es-ES_tradnl" dirty="0">
                <a:latin typeface="Arial" pitchFamily="-84" charset="0"/>
                <a:ea typeface="ＭＳ Ｐゴシック" pitchFamily="-84" charset="-128"/>
              </a:rPr>
              <a:t>(datos a procesar), mayores beneficios (</a:t>
            </a:r>
            <a:r>
              <a:rPr lang="es-ES_tradnl" i="1" dirty="0">
                <a:latin typeface="Arial" pitchFamily="-84" charset="0"/>
                <a:ea typeface="ＭＳ Ｐゴシック" pitchFamily="-84" charset="-128"/>
              </a:rPr>
              <a:t>S</a:t>
            </a:r>
            <a:r>
              <a:rPr lang="es-ES_tradnl" dirty="0">
                <a:latin typeface="Arial" pitchFamily="-84" charset="0"/>
                <a:ea typeface="ＭＳ Ｐゴシック" pitchFamily="-84" charset="-128"/>
              </a:rPr>
              <a:t>)</a:t>
            </a:r>
          </a:p>
          <a:p>
            <a:pPr lvl="2"/>
            <a:r>
              <a:rPr lang="es-ES_tradnl" dirty="0">
                <a:latin typeface="Arial" pitchFamily="-84" charset="0"/>
                <a:ea typeface="ＭＳ Ｐゴシック" pitchFamily="-84" charset="-128"/>
              </a:rPr>
              <a:t>Si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_tradnl" dirty="0">
                <a:latin typeface="Arial" pitchFamily="-84" charset="0"/>
                <a:ea typeface="ＭＳ Ｐゴシック" pitchFamily="-84" charset="-128"/>
              </a:rPr>
              <a:t> </a:t>
            </a:r>
            <a:r>
              <a:rPr lang="es-ES_tradnl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 </a:t>
            </a:r>
            <a:r>
              <a:rPr lang="es-ES_tradnl" b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</a:t>
            </a:r>
            <a:r>
              <a:rPr lang="es-ES_tradnl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, entonces se obtiene que la ganancia máxima es </a:t>
            </a:r>
            <a:r>
              <a:rPr lang="es-ES_tradnl" i="1" dirty="0">
                <a:latin typeface="Arial" pitchFamily="-84" charset="0"/>
                <a:ea typeface="ＭＳ Ｐゴシック" pitchFamily="-84" charset="-128"/>
              </a:rPr>
              <a:t>S </a:t>
            </a:r>
            <a:r>
              <a:rPr lang="es-ES_tradnl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 T/</a:t>
            </a:r>
            <a:r>
              <a:rPr lang="es-ES_tradnl" b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 </a:t>
            </a:r>
            <a:r>
              <a:rPr lang="es-ES_tradnl" b="1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 </a:t>
            </a:r>
            <a:r>
              <a:rPr lang="es-ES_tradnl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k</a:t>
            </a:r>
            <a:r>
              <a:rPr lang="es-ES_tradnl" b="1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 </a:t>
            </a:r>
          </a:p>
          <a:p>
            <a:pPr lvl="1"/>
            <a:r>
              <a:rPr lang="es-ES_tradnl" b="1" i="1" dirty="0">
                <a:solidFill>
                  <a:srgbClr val="FF0000"/>
                </a:solidFill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Ganancia teórica máxima o caso ideal</a:t>
            </a:r>
          </a:p>
          <a:p>
            <a:pPr lvl="2"/>
            <a:r>
              <a:rPr lang="es-ES_tradnl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Si </a:t>
            </a:r>
            <a:r>
              <a:rPr lang="es-ES_tradnl" i="1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  <a:sym typeface="Symbol" pitchFamily="-84" charset="2"/>
              </a:rPr>
              <a:t>T = k </a:t>
            </a:r>
            <a:r>
              <a:rPr lang="es-ES_tradnl" dirty="0">
                <a:ea typeface="ＭＳ Ｐゴシック" pitchFamily="-84" charset="-128"/>
                <a:sym typeface="Symbol" pitchFamily="-84" charset="2"/>
              </a:rPr>
              <a:t>x</a:t>
            </a:r>
            <a:r>
              <a:rPr lang="es-ES_tradnl" i="1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  <a:sym typeface="Symbol" pitchFamily="-84" charset="2"/>
              </a:rPr>
              <a:t> </a:t>
            </a:r>
            <a:r>
              <a:rPr lang="es-ES_tradnl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 </a:t>
            </a:r>
            <a:r>
              <a:rPr lang="es-ES_tradnl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(caso ideal), la ganancia sería </a:t>
            </a:r>
            <a:r>
              <a:rPr lang="es-ES_tradnl" sz="1800" i="1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  <a:sym typeface="Symbol" pitchFamily="-84" charset="2"/>
              </a:rPr>
              <a:t>S = k</a:t>
            </a:r>
            <a:r>
              <a:rPr lang="es-ES_tradnl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. Ello se cumpliría sólo si todas las etapas tuvieran igual retardo (</a:t>
            </a:r>
            <a:r>
              <a:rPr lang="es-ES_tradnl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</a:t>
            </a:r>
            <a:r>
              <a:rPr lang="es-ES_tradnl" sz="2000" i="1" baseline="-25000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</a:rPr>
              <a:t>i</a:t>
            </a:r>
            <a:r>
              <a:rPr lang="es-ES_tradnl" b="1" i="1" baseline="-25000" dirty="0">
                <a:latin typeface="Arial" pitchFamily="-84" charset="0"/>
                <a:ea typeface="ＭＳ Ｐゴシック" pitchFamily="-84" charset="-128"/>
              </a:rPr>
              <a:t> </a:t>
            </a:r>
            <a:r>
              <a:rPr lang="es-ES_tradnl" i="1" dirty="0">
                <a:latin typeface="Arial" pitchFamily="-84" charset="0"/>
                <a:ea typeface="ＭＳ Ｐゴシック" pitchFamily="-84" charset="-128"/>
              </a:rPr>
              <a:t>) </a:t>
            </a:r>
            <a:r>
              <a:rPr lang="es-ES_tradnl" dirty="0">
                <a:latin typeface="Arial" pitchFamily="-84" charset="0"/>
                <a:ea typeface="ＭＳ Ｐゴシック" pitchFamily="-84" charset="-128"/>
              </a:rPr>
              <a:t>y el retardo de los registros de segmentación (</a:t>
            </a:r>
            <a:r>
              <a:rPr lang="es-ES_tradnl" i="1" dirty="0">
                <a:latin typeface="Arial" pitchFamily="-84" charset="0"/>
                <a:ea typeface="ＭＳ Ｐゴシック" pitchFamily="-84" charset="-128"/>
              </a:rPr>
              <a:t>T</a:t>
            </a:r>
            <a:r>
              <a:rPr lang="es-ES_tradnl" b="1" i="1" baseline="-25000" dirty="0">
                <a:latin typeface="Arial" pitchFamily="-84" charset="0"/>
                <a:ea typeface="ＭＳ Ｐゴシック" pitchFamily="-84" charset="-128"/>
              </a:rPr>
              <a:t>R </a:t>
            </a:r>
            <a:r>
              <a:rPr lang="es-ES_tradnl" dirty="0">
                <a:latin typeface="Arial" pitchFamily="-84" charset="0"/>
                <a:ea typeface="ＭＳ Ｐゴシック" pitchFamily="-84" charset="-128"/>
              </a:rPr>
              <a:t>) fuera igual a cero</a:t>
            </a:r>
            <a:endParaRPr lang="es-ES_tradnl" dirty="0">
              <a:latin typeface="Arial" pitchFamily="-84" charset="0"/>
              <a:ea typeface="ＭＳ Ｐゴシック" pitchFamily="-84" charset="-128"/>
              <a:sym typeface="Symbol" pitchFamily="-84" charset="2"/>
            </a:endParaRPr>
          </a:p>
          <a:p>
            <a:pPr lvl="2"/>
            <a:r>
              <a:rPr lang="es-ES_tradnl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En principio, y con suficientes datos, a menor </a:t>
            </a:r>
            <a:r>
              <a:rPr lang="es-ES_tradnl" sz="2000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</a:t>
            </a:r>
            <a:r>
              <a:rPr lang="es-ES_tradnl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 mayor aceleración</a:t>
            </a:r>
            <a:endParaRPr lang="es-ES_tradnl" i="1" dirty="0">
              <a:latin typeface="Arial" pitchFamily="-84" charset="0"/>
              <a:ea typeface="ＭＳ Ｐゴシック" pitchFamily="-84" charset="-128"/>
            </a:endParaRPr>
          </a:p>
          <a:p>
            <a:pPr lvl="2"/>
            <a:endParaRPr lang="es-ES_tradnl" dirty="0">
              <a:latin typeface="Arial" pitchFamily="-84" charset="0"/>
              <a:ea typeface="ＭＳ Ｐゴシック" pitchFamily="-84" charset="-128"/>
              <a:sym typeface="Symbol" pitchFamily="-84" charset="2"/>
            </a:endParaRPr>
          </a:p>
        </p:txBody>
      </p:sp>
      <p:graphicFrame>
        <p:nvGraphicFramePr>
          <p:cNvPr id="106502" name="Object 6"/>
          <p:cNvGraphicFramePr>
            <a:graphicFrameLocks noChangeAspect="1"/>
          </p:cNvGraphicFramePr>
          <p:nvPr/>
        </p:nvGraphicFramePr>
        <p:xfrm>
          <a:off x="2555776" y="1556792"/>
          <a:ext cx="385445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777680" imgH="431640" progId="Equation.3">
                  <p:embed/>
                </p:oleObj>
              </mc:Choice>
              <mc:Fallback>
                <p:oleObj name="Ecuación" r:id="rId3" imgW="1777680" imgH="431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1556792"/>
                        <a:ext cx="3854450" cy="93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B8867E6-6B21-324D-B7BE-0858D94FEE21}" type="slidenum">
              <a:rPr lang="en-US"/>
              <a:pPr/>
              <a:t>14</a:t>
            </a:fld>
            <a:endParaRPr lang="en-US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Prestaciones de la Segmentación</a:t>
            </a:r>
            <a:endParaRPr lang="es-ES_tradnl" dirty="0"/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Consideraciones temporales</a:t>
            </a:r>
          </a:p>
          <a:p>
            <a:pPr lvl="1"/>
            <a:r>
              <a:rPr lang="ca-ES" dirty="0">
                <a:latin typeface="Arial" pitchFamily="-84" charset="0"/>
                <a:ea typeface="ＭＳ Ｐゴシック" pitchFamily="-84" charset="-128"/>
              </a:rPr>
              <a:t>El período mínimo de </a:t>
            </a:r>
            <a:r>
              <a:rPr lang="ca-ES" dirty="0" err="1">
                <a:latin typeface="Arial" pitchFamily="-84" charset="0"/>
                <a:ea typeface="ＭＳ Ｐゴシック" pitchFamily="-84" charset="-128"/>
              </a:rPr>
              <a:t>reloj</a:t>
            </a:r>
            <a:r>
              <a:rPr lang="ca-ES" dirty="0">
                <a:latin typeface="Arial" pitchFamily="-84" charset="0"/>
                <a:ea typeface="ＭＳ Ｐゴシック" pitchFamily="-84" charset="-128"/>
              </a:rPr>
              <a:t> es </a:t>
            </a:r>
            <a:r>
              <a:rPr lang="ca-ES" b="1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</a:t>
            </a:r>
            <a:r>
              <a:rPr lang="ca-ES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 </a:t>
            </a:r>
            <a:r>
              <a:rPr lang="ca-ES" i="1" dirty="0">
                <a:latin typeface="Arial" pitchFamily="-84" charset="0"/>
                <a:ea typeface="ＭＳ Ｐゴシック" pitchFamily="-84" charset="-128"/>
              </a:rPr>
              <a:t>= </a:t>
            </a:r>
            <a:r>
              <a:rPr lang="ca-ES" i="1" dirty="0" err="1">
                <a:latin typeface="Arial" pitchFamily="-84" charset="0"/>
                <a:ea typeface="ＭＳ Ｐゴシック" pitchFamily="-84" charset="-128"/>
              </a:rPr>
              <a:t>máx</a:t>
            </a:r>
            <a:r>
              <a:rPr lang="ca-ES" i="1" dirty="0">
                <a:latin typeface="Arial" pitchFamily="-84" charset="0"/>
                <a:ea typeface="ＭＳ Ｐゴシック" pitchFamily="-84" charset="-128"/>
              </a:rPr>
              <a:t>{</a:t>
            </a:r>
            <a:r>
              <a:rPr lang="ca-ES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</a:t>
            </a:r>
            <a:r>
              <a:rPr lang="ca-ES" sz="2400" i="1" baseline="-25000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</a:rPr>
              <a:t>i</a:t>
            </a:r>
            <a:r>
              <a:rPr lang="ca-ES" i="1" dirty="0">
                <a:latin typeface="Arial" pitchFamily="-84" charset="0"/>
                <a:ea typeface="ＭＳ Ｐゴシック" pitchFamily="-84" charset="-128"/>
              </a:rPr>
              <a:t> } + T</a:t>
            </a:r>
            <a:r>
              <a:rPr lang="ca-ES" b="1" i="1" baseline="-25000" dirty="0">
                <a:latin typeface="Arial" pitchFamily="-84" charset="0"/>
                <a:ea typeface="ＭＳ Ｐゴシック" pitchFamily="-84" charset="-128"/>
              </a:rPr>
              <a:t>R</a:t>
            </a:r>
            <a:endParaRPr lang="ca-ES" dirty="0">
              <a:latin typeface="Arial" pitchFamily="-84" charset="0"/>
              <a:ea typeface="ＭＳ Ｐゴシック" pitchFamily="-84" charset="-128"/>
            </a:endParaRPr>
          </a:p>
          <a:p>
            <a:pPr lvl="1"/>
            <a:r>
              <a:rPr lang="ca-ES" dirty="0">
                <a:latin typeface="Arial" pitchFamily="-84" charset="0"/>
                <a:ea typeface="ＭＳ Ｐゴシック" pitchFamily="-84" charset="-128"/>
              </a:rPr>
              <a:t>Para incrementar la productivitat (1/</a:t>
            </a:r>
            <a:r>
              <a:rPr lang="ca-ES" b="1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</a:t>
            </a:r>
            <a:r>
              <a:rPr lang="ca-ES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) se reducirá:</a:t>
            </a:r>
            <a:endParaRPr lang="ca-ES" dirty="0">
              <a:latin typeface="Arial" pitchFamily="-84" charset="0"/>
              <a:ea typeface="ＭＳ Ｐゴシック" pitchFamily="-84" charset="-128"/>
            </a:endParaRPr>
          </a:p>
          <a:p>
            <a:pPr lvl="2"/>
            <a:r>
              <a:rPr lang="ca-ES" dirty="0">
                <a:latin typeface="Arial" pitchFamily="-84" charset="0"/>
                <a:ea typeface="ＭＳ Ｐゴシック" pitchFamily="-84" charset="-128"/>
              </a:rPr>
              <a:t>el retardo máximo de etapa (aumentando k y manteniendo los retardos equilibrados)</a:t>
            </a:r>
          </a:p>
          <a:p>
            <a:pPr lvl="2"/>
            <a:r>
              <a:rPr lang="ca-ES" dirty="0">
                <a:latin typeface="Arial" pitchFamily="-84" charset="0"/>
                <a:ea typeface="ＭＳ Ｐゴシック" pitchFamily="-84" charset="-128"/>
              </a:rPr>
              <a:t>el retardo de los </a:t>
            </a:r>
            <a:r>
              <a:rPr lang="ca-ES" dirty="0" err="1">
                <a:latin typeface="Arial" pitchFamily="-84" charset="0"/>
                <a:ea typeface="ＭＳ Ｐゴシック" pitchFamily="-84" charset="-128"/>
              </a:rPr>
              <a:t>registros</a:t>
            </a:r>
            <a:r>
              <a:rPr lang="ca-ES" dirty="0">
                <a:latin typeface="Arial" pitchFamily="-84" charset="0"/>
                <a:ea typeface="ＭＳ Ｐゴシック" pitchFamily="-84" charset="-128"/>
              </a:rPr>
              <a:t> (</a:t>
            </a:r>
            <a:r>
              <a:rPr lang="ca-ES" i="1" dirty="0">
                <a:latin typeface="Arial" pitchFamily="-84" charset="0"/>
                <a:ea typeface="ＭＳ Ｐゴシック" pitchFamily="-84" charset="-128"/>
              </a:rPr>
              <a:t>T</a:t>
            </a:r>
            <a:r>
              <a:rPr lang="ca-ES" b="1" i="1" baseline="-25000" dirty="0">
                <a:latin typeface="Arial" pitchFamily="-84" charset="0"/>
                <a:ea typeface="ＭＳ Ｐゴシック" pitchFamily="-84" charset="-128"/>
              </a:rPr>
              <a:t>R</a:t>
            </a:r>
            <a:r>
              <a:rPr lang="ca-ES" dirty="0">
                <a:latin typeface="Arial" pitchFamily="-84" charset="0"/>
                <a:ea typeface="ＭＳ Ｐゴシック" pitchFamily="-84" charset="-128"/>
              </a:rPr>
              <a:t>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4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"/>
            <a:ext cx="8250237" cy="609600"/>
          </a:xfrm>
        </p:spPr>
        <p:txBody>
          <a:bodyPr/>
          <a:lstStyle/>
          <a:p>
            <a:r>
              <a:rPr lang="es-ES_tradnl" sz="2800" dirty="0">
                <a:latin typeface="Arial" panose="020B0604020202020204" pitchFamily="34" charset="0"/>
                <a:cs typeface="Arial" panose="020B0604020202020204" pitchFamily="34" charset="0"/>
              </a:rPr>
              <a:t>Segmentación de la Ruta de Datos</a:t>
            </a:r>
          </a:p>
        </p:txBody>
      </p:sp>
      <p:sp>
        <p:nvSpPr>
          <p:cNvPr id="440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592138"/>
            <a:ext cx="8250237" cy="1160462"/>
          </a:xfrm>
        </p:spPr>
        <p:txBody>
          <a:bodyPr/>
          <a:lstStyle/>
          <a:p>
            <a:r>
              <a:rPr lang="es-ES_tradnl"/>
              <a:t>Especificación del ciclo de instrucción</a:t>
            </a:r>
          </a:p>
          <a:p>
            <a:pPr lvl="1"/>
            <a:r>
              <a:rPr lang="es-ES_tradnl"/>
              <a:t>Distribución en etapas de los componentes de la ruta</a:t>
            </a:r>
          </a:p>
        </p:txBody>
      </p:sp>
      <p:sp>
        <p:nvSpPr>
          <p:cNvPr id="4403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F7599-8E8C-F34D-A786-F934C767A35B}" type="slidenum">
              <a:rPr lang="es-ES_tradnl" smtClean="0"/>
              <a:pPr/>
              <a:t>15</a:t>
            </a:fld>
            <a:endParaRPr lang="es-ES_tradnl" dirty="0"/>
          </a:p>
        </p:txBody>
      </p:sp>
      <p:sp>
        <p:nvSpPr>
          <p:cNvPr id="50" name="Rectángulo redondeado 49"/>
          <p:cNvSpPr/>
          <p:nvPr/>
        </p:nvSpPr>
        <p:spPr bwMode="auto">
          <a:xfrm>
            <a:off x="3657600" y="1770525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600"/>
              <a:t>Lectura en Mem. Instrucciones</a:t>
            </a:r>
          </a:p>
        </p:txBody>
      </p:sp>
      <p:sp>
        <p:nvSpPr>
          <p:cNvPr id="51" name="Rectángulo redondeado 50"/>
          <p:cNvSpPr/>
          <p:nvPr/>
        </p:nvSpPr>
        <p:spPr bwMode="auto">
          <a:xfrm>
            <a:off x="3657600" y="2532525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600"/>
              <a:t>Descodificación</a:t>
            </a:r>
          </a:p>
        </p:txBody>
      </p:sp>
      <p:sp>
        <p:nvSpPr>
          <p:cNvPr id="52" name="Rectángulo redondeado 51"/>
          <p:cNvSpPr/>
          <p:nvPr/>
        </p:nvSpPr>
        <p:spPr bwMode="auto">
          <a:xfrm>
            <a:off x="4648200" y="3370725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600" dirty="0"/>
              <a:t>Lectura </a:t>
            </a:r>
          </a:p>
          <a:p>
            <a:pPr algn="ctr"/>
            <a:r>
              <a:rPr lang="es-ES_trad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rs1</a:t>
            </a:r>
            <a:r>
              <a:rPr lang="es-ES_tradnl" sz="1600" dirty="0"/>
              <a:t> y </a:t>
            </a:r>
            <a:r>
              <a:rPr lang="es-ES_trad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rs2</a:t>
            </a:r>
          </a:p>
        </p:txBody>
      </p:sp>
      <p:sp>
        <p:nvSpPr>
          <p:cNvPr id="53" name="Rectángulo redondeado 52"/>
          <p:cNvSpPr/>
          <p:nvPr/>
        </p:nvSpPr>
        <p:spPr bwMode="auto">
          <a:xfrm>
            <a:off x="2743200" y="3370725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600" dirty="0"/>
              <a:t>Lectura </a:t>
            </a:r>
            <a:r>
              <a:rPr lang="es-ES_trad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rs1</a:t>
            </a:r>
          </a:p>
        </p:txBody>
      </p:sp>
      <p:sp>
        <p:nvSpPr>
          <p:cNvPr id="54" name="Rectángulo redondeado 53"/>
          <p:cNvSpPr/>
          <p:nvPr/>
        </p:nvSpPr>
        <p:spPr bwMode="auto">
          <a:xfrm>
            <a:off x="6553200" y="3370725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600" dirty="0"/>
              <a:t>Lectura </a:t>
            </a:r>
          </a:p>
          <a:p>
            <a:pPr algn="ctr"/>
            <a:r>
              <a:rPr lang="es-ES_trad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rs1</a:t>
            </a:r>
            <a:r>
              <a:rPr lang="es-ES_tradnl" sz="1600" dirty="0"/>
              <a:t> y </a:t>
            </a:r>
            <a:r>
              <a:rPr lang="es-ES_trad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rs2</a:t>
            </a:r>
          </a:p>
        </p:txBody>
      </p:sp>
      <p:sp>
        <p:nvSpPr>
          <p:cNvPr id="55" name="Rectángulo redondeado 54"/>
          <p:cNvSpPr/>
          <p:nvPr/>
        </p:nvSpPr>
        <p:spPr bwMode="auto">
          <a:xfrm>
            <a:off x="762000" y="3370725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600" dirty="0"/>
              <a:t>Lectura </a:t>
            </a:r>
          </a:p>
          <a:p>
            <a:pPr algn="ctr"/>
            <a:r>
              <a:rPr lang="es-ES_trad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rs1</a:t>
            </a:r>
            <a:r>
              <a:rPr lang="es-ES_tradnl" sz="1600" dirty="0"/>
              <a:t> y </a:t>
            </a:r>
            <a:r>
              <a:rPr lang="es-ES_trad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rs2</a:t>
            </a:r>
          </a:p>
        </p:txBody>
      </p:sp>
      <p:sp>
        <p:nvSpPr>
          <p:cNvPr id="56" name="Rectángulo redondeado 55"/>
          <p:cNvSpPr/>
          <p:nvPr/>
        </p:nvSpPr>
        <p:spPr bwMode="auto">
          <a:xfrm>
            <a:off x="762000" y="4132725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600"/>
              <a:t>Cálculo resultado</a:t>
            </a:r>
          </a:p>
        </p:txBody>
      </p:sp>
      <p:sp>
        <p:nvSpPr>
          <p:cNvPr id="57" name="Rectángulo redondeado 56"/>
          <p:cNvSpPr/>
          <p:nvPr/>
        </p:nvSpPr>
        <p:spPr bwMode="auto">
          <a:xfrm>
            <a:off x="2743200" y="4132725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600"/>
              <a:t>Cálculo dirección memoria</a:t>
            </a:r>
          </a:p>
        </p:txBody>
      </p:sp>
      <p:sp>
        <p:nvSpPr>
          <p:cNvPr id="58" name="Rectángulo redondeado 57"/>
          <p:cNvSpPr/>
          <p:nvPr/>
        </p:nvSpPr>
        <p:spPr bwMode="auto">
          <a:xfrm>
            <a:off x="4648200" y="4132725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600"/>
              <a:t>Cálculo dirección memoria</a:t>
            </a:r>
          </a:p>
        </p:txBody>
      </p:sp>
      <p:sp>
        <p:nvSpPr>
          <p:cNvPr id="59" name="Rectángulo redondeado 58"/>
          <p:cNvSpPr/>
          <p:nvPr/>
        </p:nvSpPr>
        <p:spPr bwMode="auto">
          <a:xfrm>
            <a:off x="6553200" y="4132725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600" dirty="0"/>
              <a:t>Cálculo dirección salto y condición</a:t>
            </a:r>
          </a:p>
        </p:txBody>
      </p:sp>
      <p:sp>
        <p:nvSpPr>
          <p:cNvPr id="60" name="Rectángulo redondeado 59"/>
          <p:cNvSpPr/>
          <p:nvPr/>
        </p:nvSpPr>
        <p:spPr bwMode="auto">
          <a:xfrm>
            <a:off x="762000" y="5656725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600" dirty="0"/>
              <a:t>Escritura </a:t>
            </a:r>
            <a:r>
              <a:rPr lang="es-ES_trad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endParaRPr lang="es-ES_trad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1" name="Rectángulo redondeado 60"/>
          <p:cNvSpPr/>
          <p:nvPr/>
        </p:nvSpPr>
        <p:spPr bwMode="auto">
          <a:xfrm>
            <a:off x="2743200" y="4894725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600"/>
              <a:t>Lectura en Mem. datos</a:t>
            </a:r>
          </a:p>
        </p:txBody>
      </p:sp>
      <p:sp>
        <p:nvSpPr>
          <p:cNvPr id="62" name="Rectángulo redondeado 61"/>
          <p:cNvSpPr/>
          <p:nvPr/>
        </p:nvSpPr>
        <p:spPr bwMode="auto">
          <a:xfrm>
            <a:off x="4648200" y="4894725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600"/>
              <a:t>Escritura en Mem. datos</a:t>
            </a:r>
          </a:p>
        </p:txBody>
      </p:sp>
      <p:sp>
        <p:nvSpPr>
          <p:cNvPr id="63" name="Rectángulo redondeado 62"/>
          <p:cNvSpPr/>
          <p:nvPr/>
        </p:nvSpPr>
        <p:spPr bwMode="auto">
          <a:xfrm>
            <a:off x="2743200" y="5656725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600" dirty="0"/>
              <a:t>Escritura </a:t>
            </a:r>
            <a:r>
              <a:rPr lang="es-ES_trad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endParaRPr lang="es-ES_trad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4" name="Conector recto de flecha 63"/>
          <p:cNvCxnSpPr>
            <a:stCxn id="50" idx="2"/>
            <a:endCxn id="51" idx="0"/>
          </p:cNvCxnSpPr>
          <p:nvPr/>
        </p:nvCxnSpPr>
        <p:spPr bwMode="auto">
          <a:xfrm rot="5400000">
            <a:off x="4419600" y="2418225"/>
            <a:ext cx="228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5" name="Conector angular 64"/>
          <p:cNvCxnSpPr>
            <a:stCxn id="51" idx="2"/>
            <a:endCxn id="55" idx="0"/>
          </p:cNvCxnSpPr>
          <p:nvPr/>
        </p:nvCxnSpPr>
        <p:spPr bwMode="auto">
          <a:xfrm rot="5400000">
            <a:off x="2933700" y="1770525"/>
            <a:ext cx="304800" cy="2895600"/>
          </a:xfrm>
          <a:prstGeom prst="bentConnector3">
            <a:avLst>
              <a:gd name="adj1" fmla="val 50000"/>
            </a:avLst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6" name="Conector angular 65"/>
          <p:cNvCxnSpPr>
            <a:stCxn id="51" idx="2"/>
            <a:endCxn id="53" idx="0"/>
          </p:cNvCxnSpPr>
          <p:nvPr/>
        </p:nvCxnSpPr>
        <p:spPr bwMode="auto">
          <a:xfrm rot="5400000">
            <a:off x="3924300" y="2761125"/>
            <a:ext cx="304800" cy="914400"/>
          </a:xfrm>
          <a:prstGeom prst="bentConnector3">
            <a:avLst>
              <a:gd name="adj1" fmla="val 50000"/>
            </a:avLst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ector angular 66"/>
          <p:cNvCxnSpPr>
            <a:stCxn id="51" idx="2"/>
            <a:endCxn id="52" idx="0"/>
          </p:cNvCxnSpPr>
          <p:nvPr/>
        </p:nvCxnSpPr>
        <p:spPr bwMode="auto">
          <a:xfrm rot="16200000" flipH="1">
            <a:off x="4876800" y="2723025"/>
            <a:ext cx="304800" cy="990600"/>
          </a:xfrm>
          <a:prstGeom prst="bentConnector3">
            <a:avLst>
              <a:gd name="adj1" fmla="val 50000"/>
            </a:avLst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8" name="Conector angular 67"/>
          <p:cNvCxnSpPr>
            <a:stCxn id="51" idx="2"/>
            <a:endCxn id="54" idx="0"/>
          </p:cNvCxnSpPr>
          <p:nvPr/>
        </p:nvCxnSpPr>
        <p:spPr bwMode="auto">
          <a:xfrm rot="16200000" flipH="1">
            <a:off x="5829300" y="1770525"/>
            <a:ext cx="304800" cy="2895600"/>
          </a:xfrm>
          <a:prstGeom prst="bentConnector3">
            <a:avLst>
              <a:gd name="adj1" fmla="val 50000"/>
            </a:avLst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9" name="Conector recto de flecha 68"/>
          <p:cNvCxnSpPr>
            <a:stCxn id="55" idx="2"/>
            <a:endCxn id="56" idx="0"/>
          </p:cNvCxnSpPr>
          <p:nvPr/>
        </p:nvCxnSpPr>
        <p:spPr bwMode="auto">
          <a:xfrm rot="5400000">
            <a:off x="1524000" y="4018425"/>
            <a:ext cx="228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0" name="Conector recto de flecha 69"/>
          <p:cNvCxnSpPr>
            <a:stCxn id="53" idx="2"/>
            <a:endCxn id="57" idx="0"/>
          </p:cNvCxnSpPr>
          <p:nvPr/>
        </p:nvCxnSpPr>
        <p:spPr bwMode="auto">
          <a:xfrm rot="5400000">
            <a:off x="3505200" y="4018425"/>
            <a:ext cx="228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1" name="Conector recto de flecha 70"/>
          <p:cNvCxnSpPr>
            <a:stCxn id="52" idx="2"/>
            <a:endCxn id="58" idx="0"/>
          </p:cNvCxnSpPr>
          <p:nvPr/>
        </p:nvCxnSpPr>
        <p:spPr bwMode="auto">
          <a:xfrm rot="5400000">
            <a:off x="5410200" y="4018425"/>
            <a:ext cx="228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Conector recto de flecha 71"/>
          <p:cNvCxnSpPr>
            <a:stCxn id="54" idx="2"/>
            <a:endCxn id="59" idx="0"/>
          </p:cNvCxnSpPr>
          <p:nvPr/>
        </p:nvCxnSpPr>
        <p:spPr bwMode="auto">
          <a:xfrm rot="5400000">
            <a:off x="7315200" y="4018425"/>
            <a:ext cx="228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3" name="Conector recto de flecha 72"/>
          <p:cNvCxnSpPr>
            <a:stCxn id="56" idx="2"/>
            <a:endCxn id="60" idx="0"/>
          </p:cNvCxnSpPr>
          <p:nvPr/>
        </p:nvCxnSpPr>
        <p:spPr bwMode="auto">
          <a:xfrm rot="5400000">
            <a:off x="1143000" y="5161425"/>
            <a:ext cx="990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4" name="Conector recto de flecha 73"/>
          <p:cNvCxnSpPr>
            <a:stCxn id="57" idx="2"/>
            <a:endCxn id="61" idx="0"/>
          </p:cNvCxnSpPr>
          <p:nvPr/>
        </p:nvCxnSpPr>
        <p:spPr bwMode="auto">
          <a:xfrm rot="5400000">
            <a:off x="3505200" y="4780425"/>
            <a:ext cx="228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5" name="Conector recto de flecha 74"/>
          <p:cNvCxnSpPr>
            <a:stCxn id="58" idx="2"/>
            <a:endCxn id="62" idx="0"/>
          </p:cNvCxnSpPr>
          <p:nvPr/>
        </p:nvCxnSpPr>
        <p:spPr bwMode="auto">
          <a:xfrm rot="5400000">
            <a:off x="5410200" y="4780425"/>
            <a:ext cx="228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6" name="Conector recto de flecha 75"/>
          <p:cNvCxnSpPr>
            <a:stCxn id="61" idx="2"/>
            <a:endCxn id="63" idx="0"/>
          </p:cNvCxnSpPr>
          <p:nvPr/>
        </p:nvCxnSpPr>
        <p:spPr bwMode="auto">
          <a:xfrm rot="5400000">
            <a:off x="3505200" y="5542425"/>
            <a:ext cx="228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7" name="CuadroTexto 76"/>
          <p:cNvSpPr txBox="1"/>
          <p:nvPr/>
        </p:nvSpPr>
        <p:spPr>
          <a:xfrm>
            <a:off x="569060" y="6324600"/>
            <a:ext cx="2044150" cy="49859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2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Instr</a:t>
            </a:r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. Aritméticas</a:t>
            </a:r>
          </a:p>
          <a:p>
            <a:r>
              <a:rPr lang="es-ES_tradnl" sz="12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Ej</a:t>
            </a:r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: </a:t>
            </a:r>
            <a:r>
              <a:rPr lang="es-ES_tradnl" sz="12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add</a:t>
            </a:r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</a:t>
            </a:r>
            <a:r>
              <a:rPr lang="es-ES_tradnl" sz="12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rd</a:t>
            </a:r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, rs1, rs2</a:t>
            </a:r>
          </a:p>
        </p:txBody>
      </p:sp>
      <p:sp>
        <p:nvSpPr>
          <p:cNvPr id="78" name="CuadroTexto 77"/>
          <p:cNvSpPr txBox="1"/>
          <p:nvPr/>
        </p:nvSpPr>
        <p:spPr>
          <a:xfrm>
            <a:off x="2830853" y="6324600"/>
            <a:ext cx="1579278" cy="49859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2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Instr</a:t>
            </a:r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. Carga</a:t>
            </a:r>
          </a:p>
          <a:p>
            <a:r>
              <a:rPr lang="es-ES_tradnl" sz="12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lw</a:t>
            </a:r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</a:t>
            </a:r>
            <a:r>
              <a:rPr lang="es-ES_tradnl" sz="12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rd</a:t>
            </a:r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, </a:t>
            </a:r>
            <a:r>
              <a:rPr lang="es-ES_tradnl" sz="12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inm</a:t>
            </a:r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(rs1)</a:t>
            </a:r>
          </a:p>
        </p:txBody>
      </p:sp>
      <p:sp>
        <p:nvSpPr>
          <p:cNvPr id="79" name="CuadroTexto 78"/>
          <p:cNvSpPr txBox="1"/>
          <p:nvPr/>
        </p:nvSpPr>
        <p:spPr>
          <a:xfrm>
            <a:off x="4752444" y="6324600"/>
            <a:ext cx="1662234" cy="49859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Inst. </a:t>
            </a:r>
            <a:r>
              <a:rPr lang="es-ES_tradnl" sz="12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Almacenam</a:t>
            </a:r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.</a:t>
            </a:r>
          </a:p>
          <a:p>
            <a:r>
              <a:rPr lang="es-ES_tradnl" sz="12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sw</a:t>
            </a:r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rs2, </a:t>
            </a:r>
            <a:r>
              <a:rPr lang="es-ES_tradnl" sz="12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inm</a:t>
            </a:r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(rs1)</a:t>
            </a:r>
          </a:p>
        </p:txBody>
      </p:sp>
      <p:sp>
        <p:nvSpPr>
          <p:cNvPr id="80" name="CuadroTexto 79"/>
          <p:cNvSpPr txBox="1"/>
          <p:nvPr/>
        </p:nvSpPr>
        <p:spPr>
          <a:xfrm>
            <a:off x="6515271" y="6324600"/>
            <a:ext cx="1858202" cy="49859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Inst. Salto Cond.</a:t>
            </a:r>
          </a:p>
          <a:p>
            <a:r>
              <a:rPr lang="es-ES_tradnl" sz="12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beq</a:t>
            </a:r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rs1, rs2, </a:t>
            </a:r>
            <a:r>
              <a:rPr lang="es-ES_tradnl" sz="12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etiq</a:t>
            </a:r>
            <a:endParaRPr lang="es-ES_tradnl" sz="1200" dirty="0">
              <a:solidFill>
                <a:schemeClr val="accent1">
                  <a:lumMod val="75000"/>
                </a:schemeClr>
              </a:solidFill>
              <a:latin typeface="Courier New"/>
              <a:cs typeface="Courier New"/>
            </a:endParaRPr>
          </a:p>
        </p:txBody>
      </p:sp>
      <p:sp>
        <p:nvSpPr>
          <p:cNvPr id="81" name="CuadroTexto 80"/>
          <p:cNvSpPr txBox="1"/>
          <p:nvPr/>
        </p:nvSpPr>
        <p:spPr>
          <a:xfrm>
            <a:off x="8254744" y="3252193"/>
            <a:ext cx="780984" cy="66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dirty="0">
                <a:solidFill>
                  <a:schemeClr val="accent1">
                    <a:lumMod val="75000"/>
                  </a:schemeClr>
                </a:solidFill>
              </a:rPr>
              <a:t>Banco de</a:t>
            </a:r>
          </a:p>
          <a:p>
            <a:r>
              <a:rPr lang="es-ES_tradnl" sz="1100" dirty="0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  <a:p>
            <a:r>
              <a:rPr lang="es-ES_tradnl" sz="1100" dirty="0">
                <a:solidFill>
                  <a:schemeClr val="accent1">
                    <a:lumMod val="75000"/>
                  </a:schemeClr>
                </a:solidFill>
              </a:rPr>
              <a:t> (lectura)</a:t>
            </a:r>
          </a:p>
        </p:txBody>
      </p:sp>
      <p:sp>
        <p:nvSpPr>
          <p:cNvPr id="82" name="CuadroTexto 81"/>
          <p:cNvSpPr txBox="1"/>
          <p:nvPr/>
        </p:nvSpPr>
        <p:spPr>
          <a:xfrm>
            <a:off x="8383884" y="4285125"/>
            <a:ext cx="4719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>
                <a:solidFill>
                  <a:schemeClr val="accent1">
                    <a:lumMod val="75000"/>
                  </a:schemeClr>
                </a:solidFill>
              </a:rPr>
              <a:t>ALU</a:t>
            </a:r>
          </a:p>
        </p:txBody>
      </p:sp>
      <p:sp>
        <p:nvSpPr>
          <p:cNvPr id="83" name="CuadroTexto 82"/>
          <p:cNvSpPr txBox="1"/>
          <p:nvPr/>
        </p:nvSpPr>
        <p:spPr>
          <a:xfrm>
            <a:off x="8209084" y="5656725"/>
            <a:ext cx="858716" cy="66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>
                <a:solidFill>
                  <a:schemeClr val="accent1">
                    <a:lumMod val="75000"/>
                  </a:schemeClr>
                </a:solidFill>
              </a:rPr>
              <a:t>Banco</a:t>
            </a:r>
          </a:p>
          <a:p>
            <a:r>
              <a:rPr lang="es-ES_tradnl" sz="1100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  <a:p>
            <a:r>
              <a:rPr lang="es-ES_tradnl" sz="1100">
                <a:solidFill>
                  <a:schemeClr val="accent1">
                    <a:lumMod val="75000"/>
                  </a:schemeClr>
                </a:solidFill>
              </a:rPr>
              <a:t> (escritura)</a:t>
            </a:r>
          </a:p>
        </p:txBody>
      </p:sp>
      <p:sp>
        <p:nvSpPr>
          <p:cNvPr id="84" name="CuadroTexto 83"/>
          <p:cNvSpPr txBox="1"/>
          <p:nvPr/>
        </p:nvSpPr>
        <p:spPr>
          <a:xfrm>
            <a:off x="8258244" y="4963382"/>
            <a:ext cx="733356" cy="4647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>
                <a:solidFill>
                  <a:schemeClr val="accent1">
                    <a:lumMod val="75000"/>
                  </a:schemeClr>
                </a:solidFill>
              </a:rPr>
              <a:t>Memoria</a:t>
            </a:r>
          </a:p>
          <a:p>
            <a:r>
              <a:rPr lang="es-ES_tradnl" sz="1100">
                <a:solidFill>
                  <a:schemeClr val="accent1">
                    <a:lumMod val="75000"/>
                  </a:schemeClr>
                </a:solidFill>
              </a:rPr>
              <a:t>Datos</a:t>
            </a:r>
          </a:p>
        </p:txBody>
      </p:sp>
      <p:cxnSp>
        <p:nvCxnSpPr>
          <p:cNvPr id="85" name="Conector recto 84"/>
          <p:cNvCxnSpPr/>
          <p:nvPr/>
        </p:nvCxnSpPr>
        <p:spPr bwMode="auto">
          <a:xfrm>
            <a:off x="609600" y="2456325"/>
            <a:ext cx="8382000" cy="1588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6" name="Conector recto 85"/>
          <p:cNvCxnSpPr/>
          <p:nvPr/>
        </p:nvCxnSpPr>
        <p:spPr bwMode="auto">
          <a:xfrm>
            <a:off x="609600" y="3980325"/>
            <a:ext cx="8382000" cy="1588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7" name="Conector recto 86"/>
          <p:cNvCxnSpPr/>
          <p:nvPr/>
        </p:nvCxnSpPr>
        <p:spPr bwMode="auto">
          <a:xfrm>
            <a:off x="609600" y="4742325"/>
            <a:ext cx="8382000" cy="1588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Conector recto 87"/>
          <p:cNvCxnSpPr/>
          <p:nvPr/>
        </p:nvCxnSpPr>
        <p:spPr bwMode="auto">
          <a:xfrm>
            <a:off x="609600" y="5502737"/>
            <a:ext cx="8382000" cy="1588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Conector recto 88"/>
          <p:cNvCxnSpPr/>
          <p:nvPr/>
        </p:nvCxnSpPr>
        <p:spPr bwMode="auto">
          <a:xfrm>
            <a:off x="609600" y="1618125"/>
            <a:ext cx="8382000" cy="1588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0" name="Conector recto 89"/>
          <p:cNvCxnSpPr/>
          <p:nvPr/>
        </p:nvCxnSpPr>
        <p:spPr bwMode="auto">
          <a:xfrm>
            <a:off x="609600" y="3140537"/>
            <a:ext cx="8382000" cy="1588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1" name="CuadroTexto 90"/>
          <p:cNvSpPr txBox="1"/>
          <p:nvPr/>
        </p:nvSpPr>
        <p:spPr>
          <a:xfrm>
            <a:off x="8117043" y="1846725"/>
            <a:ext cx="1015760" cy="4647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>
                <a:solidFill>
                  <a:schemeClr val="accent1">
                    <a:lumMod val="75000"/>
                  </a:schemeClr>
                </a:solidFill>
              </a:rPr>
              <a:t>Memoria</a:t>
            </a:r>
          </a:p>
          <a:p>
            <a:r>
              <a:rPr lang="es-ES_tradnl" sz="1100">
                <a:solidFill>
                  <a:schemeClr val="accent1">
                    <a:lumMod val="75000"/>
                  </a:schemeClr>
                </a:solidFill>
              </a:rPr>
              <a:t>Instrucciones</a:t>
            </a:r>
          </a:p>
        </p:txBody>
      </p:sp>
      <p:sp>
        <p:nvSpPr>
          <p:cNvPr id="92" name="CuadroTexto 91"/>
          <p:cNvSpPr txBox="1"/>
          <p:nvPr/>
        </p:nvSpPr>
        <p:spPr>
          <a:xfrm>
            <a:off x="8171190" y="2601182"/>
            <a:ext cx="827789" cy="4647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dirty="0">
                <a:solidFill>
                  <a:schemeClr val="accent1">
                    <a:lumMod val="75000"/>
                  </a:schemeClr>
                </a:solidFill>
              </a:rPr>
              <a:t>Unidad de </a:t>
            </a:r>
          </a:p>
          <a:p>
            <a:r>
              <a:rPr lang="es-ES_tradnl" sz="1100" dirty="0">
                <a:solidFill>
                  <a:schemeClr val="accent1">
                    <a:lumMod val="75000"/>
                  </a:schemeClr>
                </a:solidFill>
              </a:rPr>
              <a:t>Control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Segmentación de la R</a:t>
            </a:r>
            <a:r>
              <a:rPr lang="es-ES_tradnl" dirty="0" err="1"/>
              <a:t>uta</a:t>
            </a:r>
            <a:r>
              <a:rPr lang="es-ES_tradnl" dirty="0"/>
              <a:t> de Datos</a:t>
            </a:r>
            <a:endParaRPr lang="es-ES" dirty="0"/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990600"/>
            <a:ext cx="8250237" cy="5732462"/>
          </a:xfrm>
        </p:spPr>
        <p:txBody>
          <a:bodyPr/>
          <a:lstStyle/>
          <a:p>
            <a:r>
              <a:rPr lang="es-ES" dirty="0"/>
              <a:t>Definición de las etapas</a:t>
            </a:r>
          </a:p>
          <a:p>
            <a:pPr lvl="1"/>
            <a:r>
              <a:rPr lang="es-ES" dirty="0"/>
              <a:t>Etapas comunes a todas las instrucciones</a:t>
            </a:r>
          </a:p>
          <a:p>
            <a:pPr lvl="2"/>
            <a:r>
              <a:rPr lang="es-ES" b="1" dirty="0">
                <a:solidFill>
                  <a:srgbClr val="0070C0"/>
                </a:solidFill>
              </a:rPr>
              <a:t>LI:</a:t>
            </a:r>
            <a:r>
              <a:rPr lang="es-ES" dirty="0">
                <a:solidFill>
                  <a:srgbClr val="0070C0"/>
                </a:solidFill>
              </a:rPr>
              <a:t> </a:t>
            </a:r>
            <a:r>
              <a:rPr lang="es-ES" dirty="0"/>
              <a:t>Etapa de lectura de instrucción (e incremento del PC)</a:t>
            </a:r>
          </a:p>
          <a:p>
            <a:pPr lvl="2"/>
            <a:r>
              <a:rPr lang="es-ES" b="1" dirty="0">
                <a:solidFill>
                  <a:srgbClr val="0070C0"/>
                </a:solidFill>
              </a:rPr>
              <a:t>DI</a:t>
            </a:r>
            <a:r>
              <a:rPr lang="es-ES" dirty="0">
                <a:solidFill>
                  <a:srgbClr val="0070C0"/>
                </a:solidFill>
              </a:rPr>
              <a:t>: </a:t>
            </a:r>
            <a:r>
              <a:rPr lang="es-ES" dirty="0"/>
              <a:t>Etapa de descodificación de instrucción y lectura de registros</a:t>
            </a:r>
          </a:p>
          <a:p>
            <a:pPr lvl="1"/>
            <a:r>
              <a:rPr lang="es-ES" dirty="0"/>
              <a:t>Etapas que dependen del tipo de instrucción</a:t>
            </a:r>
          </a:p>
          <a:p>
            <a:pPr lvl="2"/>
            <a:r>
              <a:rPr lang="es-ES" b="1" dirty="0">
                <a:solidFill>
                  <a:srgbClr val="0070C0"/>
                </a:solidFill>
              </a:rPr>
              <a:t>EX</a:t>
            </a:r>
            <a:r>
              <a:rPr lang="es-ES" dirty="0">
                <a:solidFill>
                  <a:srgbClr val="0070C0"/>
                </a:solidFill>
              </a:rPr>
              <a:t>: </a:t>
            </a:r>
            <a:r>
              <a:rPr lang="es-ES" dirty="0"/>
              <a:t>Etapa de ejecución</a:t>
            </a:r>
          </a:p>
          <a:p>
            <a:pPr lvl="3">
              <a:buClr>
                <a:schemeClr val="tx1"/>
              </a:buClr>
            </a:pPr>
            <a:r>
              <a:rPr lang="es-ES" dirty="0"/>
              <a:t>Instrucciones de cálculo: cálculo del resultado</a:t>
            </a:r>
          </a:p>
          <a:p>
            <a:pPr lvl="3">
              <a:buClr>
                <a:schemeClr val="tx1"/>
              </a:buClr>
            </a:pPr>
            <a:r>
              <a:rPr lang="es-ES" dirty="0"/>
              <a:t>Load y Store: cálculo dirección de memoria</a:t>
            </a:r>
          </a:p>
          <a:p>
            <a:pPr lvl="3">
              <a:buClr>
                <a:schemeClr val="tx1"/>
              </a:buClr>
            </a:pPr>
            <a:r>
              <a:rPr lang="es-ES" dirty="0"/>
              <a:t>Instrucciones de salto: Cálculo de la dirección de salto y de la condición de salto</a:t>
            </a:r>
          </a:p>
          <a:p>
            <a:pPr lvl="2"/>
            <a:r>
              <a:rPr lang="es-ES" b="1" dirty="0">
                <a:solidFill>
                  <a:srgbClr val="0070C0"/>
                </a:solidFill>
              </a:rPr>
              <a:t>M</a:t>
            </a:r>
            <a:r>
              <a:rPr lang="es-ES" dirty="0">
                <a:solidFill>
                  <a:srgbClr val="0070C0"/>
                </a:solidFill>
              </a:rPr>
              <a:t>: </a:t>
            </a:r>
            <a:r>
              <a:rPr lang="es-ES" dirty="0"/>
              <a:t>Etapa de memoria</a:t>
            </a:r>
          </a:p>
          <a:p>
            <a:pPr lvl="3">
              <a:buClr>
                <a:schemeClr val="tx1"/>
              </a:buClr>
            </a:pPr>
            <a:r>
              <a:rPr lang="es-ES" dirty="0"/>
              <a:t>Load y Store: acceso a la memoria</a:t>
            </a:r>
          </a:p>
          <a:p>
            <a:pPr lvl="3">
              <a:buClr>
                <a:schemeClr val="tx1"/>
              </a:buClr>
            </a:pPr>
            <a:r>
              <a:rPr lang="es-ES" dirty="0"/>
              <a:t>Instrucciones de cálculo y salto: nada</a:t>
            </a:r>
          </a:p>
          <a:p>
            <a:pPr lvl="2"/>
            <a:r>
              <a:rPr lang="es-ES" b="1" dirty="0">
                <a:solidFill>
                  <a:srgbClr val="0070C0"/>
                </a:solidFill>
              </a:rPr>
              <a:t>ER</a:t>
            </a:r>
            <a:r>
              <a:rPr lang="es-ES" dirty="0">
                <a:solidFill>
                  <a:srgbClr val="0070C0"/>
                </a:solidFill>
              </a:rPr>
              <a:t>:</a:t>
            </a:r>
            <a:r>
              <a:rPr lang="es-ES" dirty="0"/>
              <a:t> Etapa de escritura de registro</a:t>
            </a:r>
          </a:p>
          <a:p>
            <a:pPr lvl="3">
              <a:buClr>
                <a:schemeClr val="tx1"/>
              </a:buClr>
            </a:pPr>
            <a:r>
              <a:rPr lang="es-ES" dirty="0"/>
              <a:t>Instrucciones de cálculo y Load : escritura del registro</a:t>
            </a:r>
          </a:p>
          <a:p>
            <a:pPr lvl="3">
              <a:buClr>
                <a:schemeClr val="tx1"/>
              </a:buClr>
            </a:pPr>
            <a:r>
              <a:rPr lang="es-ES" dirty="0"/>
              <a:t>Store e instrucciones de salto: nada</a:t>
            </a:r>
          </a:p>
        </p:txBody>
      </p:sp>
      <p:sp>
        <p:nvSpPr>
          <p:cNvPr id="46082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138D-970A-7446-A32C-3D1295A65FC2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3124200" y="6477000"/>
            <a:ext cx="2895600" cy="228600"/>
          </a:xfrm>
          <a:noFill/>
        </p:spPr>
        <p:txBody>
          <a:bodyPr/>
          <a:lstStyle/>
          <a:p>
            <a:pPr algn="ctr"/>
            <a:fld id="{7EADCD81-7B79-C148-9FAC-59FBDF7FB88F}" type="slidenum">
              <a:rPr lang="en-US"/>
              <a:pPr algn="ctr"/>
              <a:t>17</a:t>
            </a:fld>
            <a:endParaRPr lang="en-US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Segmentación de la </a:t>
            </a:r>
            <a:r>
              <a:rPr lang="es-ES_tradnl" dirty="0"/>
              <a:t>Ruta de Datos</a:t>
            </a:r>
            <a:endParaRPr lang="es-ES" dirty="0"/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Los registros de segmentación</a:t>
            </a:r>
          </a:p>
          <a:p>
            <a:pPr lvl="1"/>
            <a:r>
              <a:rPr lang="es-ES" dirty="0">
                <a:latin typeface="Arial" pitchFamily="-84" charset="0"/>
                <a:ea typeface="ＭＳ Ｐゴシック" pitchFamily="-84" charset="-128"/>
              </a:rPr>
              <a:t>Hacen falta cuatro</a:t>
            </a:r>
          </a:p>
          <a:p>
            <a:pPr lvl="2"/>
            <a:r>
              <a:rPr lang="es-ES" dirty="0">
                <a:latin typeface="Arial" pitchFamily="-84" charset="0"/>
                <a:ea typeface="ＭＳ Ｐゴシック" pitchFamily="-84" charset="-128"/>
              </a:rPr>
              <a:t>Cada uno está estructurado en subregistros</a:t>
            </a:r>
          </a:p>
          <a:p>
            <a:pPr lvl="1"/>
            <a:r>
              <a:rPr lang="es-ES" dirty="0">
                <a:latin typeface="Arial" pitchFamily="-84" charset="0"/>
                <a:ea typeface="ＭＳ Ｐゴシック" pitchFamily="-84" charset="-128"/>
              </a:rPr>
              <a:t>Nomenclatura</a:t>
            </a:r>
          </a:p>
          <a:p>
            <a:pPr lvl="2"/>
            <a:r>
              <a:rPr lang="es-ES" dirty="0">
                <a:latin typeface="Arial" pitchFamily="-84" charset="0"/>
                <a:ea typeface="ＭＳ Ｐゴシック" pitchFamily="-84" charset="-128"/>
              </a:rPr>
              <a:t>Nombre de cada registro de etapa: el de las etapas que separa</a:t>
            </a:r>
          </a:p>
          <a:p>
            <a:pPr lvl="3"/>
            <a:r>
              <a:rPr lang="es-ES" dirty="0">
                <a:latin typeface="Arial" pitchFamily="-84" charset="0"/>
                <a:ea typeface="ＭＳ Ｐゴシック" pitchFamily="-84" charset="-128"/>
              </a:rPr>
              <a:t>Ej.: registro LI/DI </a:t>
            </a:r>
          </a:p>
          <a:p>
            <a:pPr lvl="2"/>
            <a:r>
              <a:rPr lang="es-ES" dirty="0">
                <a:latin typeface="Arial" pitchFamily="-84" charset="0"/>
                <a:ea typeface="ＭＳ Ｐゴシック" pitchFamily="-84" charset="-128"/>
              </a:rPr>
              <a:t>Para referirnos a los subregistros: </a:t>
            </a:r>
            <a:r>
              <a:rPr lang="es-ES" i="1" dirty="0" err="1">
                <a:latin typeface="Arial" pitchFamily="-84" charset="0"/>
                <a:ea typeface="ＭＳ Ｐゴシック" pitchFamily="-84" charset="-128"/>
              </a:rPr>
              <a:t>reg</a:t>
            </a:r>
            <a:r>
              <a:rPr lang="es-ES" i="1" dirty="0" err="1">
                <a:latin typeface="Arial Black" pitchFamily="-84" charset="0"/>
                <a:ea typeface="ＭＳ Ｐゴシック" pitchFamily="-84" charset="-128"/>
              </a:rPr>
              <a:t>.</a:t>
            </a:r>
            <a:r>
              <a:rPr lang="es-ES" i="1" dirty="0" err="1">
                <a:latin typeface="Arial" pitchFamily="-84" charset="0"/>
                <a:ea typeface="ＭＳ Ｐゴシック" pitchFamily="-84" charset="-128"/>
              </a:rPr>
              <a:t>subreg</a:t>
            </a:r>
            <a:endParaRPr lang="es-ES" i="1" dirty="0">
              <a:latin typeface="Arial" pitchFamily="-84" charset="0"/>
              <a:ea typeface="ＭＳ Ｐゴシック" pitchFamily="-84" charset="-128"/>
            </a:endParaRPr>
          </a:p>
          <a:p>
            <a:pPr lvl="3"/>
            <a:r>
              <a:rPr lang="es-ES" dirty="0">
                <a:latin typeface="Arial" pitchFamily="-84" charset="0"/>
                <a:ea typeface="ＭＳ Ｐゴシック" pitchFamily="-84" charset="-128"/>
              </a:rPr>
              <a:t>Ej.: LI/DI.RI </a:t>
            </a:r>
            <a:r>
              <a:rPr lang="es-ES" i="1" dirty="0">
                <a:latin typeface="Arial" pitchFamily="-84" charset="0"/>
                <a:ea typeface="ＭＳ Ｐゴシック" pitchFamily="-84" charset="-128"/>
              </a:rPr>
              <a:t>= </a:t>
            </a:r>
            <a:r>
              <a:rPr lang="es-ES" dirty="0">
                <a:latin typeface="Arial" pitchFamily="-84" charset="0"/>
                <a:ea typeface="ＭＳ Ｐゴシック" pitchFamily="-84" charset="-128"/>
              </a:rPr>
              <a:t>registro de instrucción de la instrucción que está en la etapa DI  </a:t>
            </a:r>
            <a:endParaRPr lang="es-ES" i="1" dirty="0">
              <a:latin typeface="Arial" pitchFamily="-84" charset="0"/>
              <a:ea typeface="ＭＳ Ｐゴシック" pitchFamily="-84" charset="-128"/>
            </a:endParaRPr>
          </a:p>
          <a:p>
            <a:pPr lvl="2"/>
            <a:r>
              <a:rPr lang="es-ES" dirty="0">
                <a:latin typeface="Arial" pitchFamily="-84" charset="0"/>
                <a:ea typeface="ＭＳ Ｐゴシック" pitchFamily="-84" charset="-128"/>
              </a:rPr>
              <a:t>Para referirnos a un rango de bits de un subregistro: subíndices</a:t>
            </a:r>
          </a:p>
          <a:p>
            <a:pPr lvl="3"/>
            <a:r>
              <a:rPr lang="es-ES" dirty="0">
                <a:latin typeface="Arial" pitchFamily="-84" charset="0"/>
                <a:ea typeface="ＭＳ Ｐゴシック" pitchFamily="-84" charset="-128"/>
              </a:rPr>
              <a:t>Ej.: LI/DI.RI</a:t>
            </a:r>
            <a:r>
              <a:rPr lang="es-ES" b="1" baseline="-25000" dirty="0">
                <a:latin typeface="Arial" pitchFamily="-84" charset="0"/>
                <a:ea typeface="ＭＳ Ｐゴシック" pitchFamily="-84" charset="-128"/>
              </a:rPr>
              <a:t>6..0  </a:t>
            </a:r>
            <a:r>
              <a:rPr lang="es-ES" dirty="0">
                <a:latin typeface="Arial" pitchFamily="-84" charset="0"/>
                <a:ea typeface="ＭＳ Ｐゴシック" pitchFamily="-84" charset="-128"/>
              </a:rPr>
              <a:t> = código de operación de la instrucción contenida en DI</a:t>
            </a:r>
            <a:br>
              <a:rPr lang="es-ES" dirty="0">
                <a:latin typeface="Arial" pitchFamily="-84" charset="0"/>
                <a:ea typeface="ＭＳ Ｐゴシック" pitchFamily="-84" charset="-128"/>
              </a:rPr>
            </a:br>
            <a:r>
              <a:rPr lang="es-ES" dirty="0">
                <a:latin typeface="Arial" pitchFamily="-84" charset="0"/>
                <a:ea typeface="ＭＳ Ｐゴシック" pitchFamily="-84" charset="-128"/>
              </a:rPr>
              <a:t>o bien: LI/DI.RI[</a:t>
            </a:r>
            <a:r>
              <a:rPr lang="es-ES" dirty="0" err="1">
                <a:latin typeface="Courier New" panose="02070309020205020404" pitchFamily="49" charset="0"/>
                <a:ea typeface="ＭＳ Ｐゴシック" pitchFamily="-84" charset="-128"/>
                <a:cs typeface="Courier New" panose="02070309020205020404" pitchFamily="49" charset="0"/>
              </a:rPr>
              <a:t>opcode</a:t>
            </a:r>
            <a:r>
              <a:rPr lang="es-ES" dirty="0">
                <a:latin typeface="Arial" pitchFamily="-84" charset="0"/>
                <a:ea typeface="ＭＳ Ｐゴシック" pitchFamily="-84" charset="-128"/>
              </a:rPr>
              <a:t>]</a:t>
            </a:r>
          </a:p>
          <a:p>
            <a:pPr lvl="3"/>
            <a:endParaRPr lang="es-ES" dirty="0">
              <a:latin typeface="Arial" pitchFamily="-84" charset="0"/>
              <a:ea typeface="ＭＳ Ｐゴシック" pitchFamily="-84" charset="-128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88CBA-ED76-AC6B-CAE5-B1BEDE0BB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C1404719-875D-73DE-7125-5C50EAEB40F2}"/>
              </a:ext>
            </a:extLst>
          </p:cNvPr>
          <p:cNvCxnSpPr/>
          <p:nvPr/>
        </p:nvCxnSpPr>
        <p:spPr bwMode="auto">
          <a:xfrm>
            <a:off x="2620507" y="3503612"/>
            <a:ext cx="609600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9" name="Conector recto 198">
            <a:extLst>
              <a:ext uri="{FF2B5EF4-FFF2-40B4-BE49-F238E27FC236}">
                <a16:creationId xmlns:a16="http://schemas.microsoft.com/office/drawing/2014/main" id="{E33A258C-9F41-F2BB-D96E-755033A782A5}"/>
              </a:ext>
            </a:extLst>
          </p:cNvPr>
          <p:cNvCxnSpPr>
            <a:cxnSpLocks/>
          </p:cNvCxnSpPr>
          <p:nvPr/>
        </p:nvCxnSpPr>
        <p:spPr bwMode="auto">
          <a:xfrm>
            <a:off x="2569725" y="6292868"/>
            <a:ext cx="191688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09F1B17A-E79C-B0F8-56BB-91BFE4077C60}"/>
              </a:ext>
            </a:extLst>
          </p:cNvPr>
          <p:cNvSpPr/>
          <p:nvPr/>
        </p:nvSpPr>
        <p:spPr bwMode="auto">
          <a:xfrm>
            <a:off x="957603" y="4307947"/>
            <a:ext cx="838200" cy="3048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2D1921D-89AF-A847-BDD1-AB9ECCF262EA}"/>
              </a:ext>
            </a:extLst>
          </p:cNvPr>
          <p:cNvSpPr/>
          <p:nvPr/>
        </p:nvSpPr>
        <p:spPr bwMode="auto">
          <a:xfrm>
            <a:off x="957603" y="4993747"/>
            <a:ext cx="838200" cy="990600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900" dirty="0">
                <a:solidFill>
                  <a:srgbClr val="000000"/>
                </a:solidFill>
              </a:rPr>
              <a:t>Memoria de</a:t>
            </a:r>
          </a:p>
          <a:p>
            <a:pPr algn="l"/>
            <a:r>
              <a:rPr lang="es-ES_tradnl" sz="900" dirty="0">
                <a:solidFill>
                  <a:srgbClr val="000000"/>
                </a:solidFill>
              </a:rPr>
              <a:t>Instrucciones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A753AFE7-A235-5101-7D28-DB7D6CC65446}"/>
              </a:ext>
            </a:extLst>
          </p:cNvPr>
          <p:cNvCxnSpPr>
            <a:stCxn id="7" idx="2"/>
            <a:endCxn id="8" idx="0"/>
          </p:cNvCxnSpPr>
          <p:nvPr/>
        </p:nvCxnSpPr>
        <p:spPr bwMode="auto">
          <a:xfrm rot="5400000">
            <a:off x="1186203" y="4803247"/>
            <a:ext cx="381000" cy="1588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Freeform 42">
            <a:extLst>
              <a:ext uri="{FF2B5EF4-FFF2-40B4-BE49-F238E27FC236}">
                <a16:creationId xmlns:a16="http://schemas.microsoft.com/office/drawing/2014/main" id="{23EB4003-EF78-B1CC-27C4-EE40FCCA18AE}"/>
              </a:ext>
            </a:extLst>
          </p:cNvPr>
          <p:cNvSpPr>
            <a:spLocks/>
          </p:cNvSpPr>
          <p:nvPr/>
        </p:nvSpPr>
        <p:spPr bwMode="blackWhite">
          <a:xfrm rot="5400000">
            <a:off x="1046496" y="2822048"/>
            <a:ext cx="381000" cy="762000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t" anchorCtr="0">
            <a:prstTxWarp prst="textNoShape">
              <a:avLst/>
            </a:prstTxWarp>
            <a:flatTx/>
          </a:bodyPr>
          <a:lstStyle/>
          <a:p>
            <a:r>
              <a:rPr lang="es-ES_tradnl"/>
              <a:t>+</a:t>
            </a:r>
          </a:p>
        </p:txBody>
      </p:sp>
      <p:cxnSp>
        <p:nvCxnSpPr>
          <p:cNvPr id="11" name="Conector angular 10">
            <a:extLst>
              <a:ext uri="{FF2B5EF4-FFF2-40B4-BE49-F238E27FC236}">
                <a16:creationId xmlns:a16="http://schemas.microsoft.com/office/drawing/2014/main" id="{B8605C82-5723-43F6-27DA-3AFC744D8302}"/>
              </a:ext>
            </a:extLst>
          </p:cNvPr>
          <p:cNvCxnSpPr/>
          <p:nvPr/>
        </p:nvCxnSpPr>
        <p:spPr bwMode="auto">
          <a:xfrm rot="16200000" flipH="1">
            <a:off x="733233" y="2686578"/>
            <a:ext cx="347134" cy="304801"/>
          </a:xfrm>
          <a:prstGeom prst="bentConnector3">
            <a:avLst>
              <a:gd name="adj1" fmla="val -1490"/>
            </a:avLst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6F20B18A-FB23-8C70-B585-BA4E268F1E6B}"/>
              </a:ext>
            </a:extLst>
          </p:cNvPr>
          <p:cNvCxnSpPr/>
          <p:nvPr/>
        </p:nvCxnSpPr>
        <p:spPr bwMode="auto">
          <a:xfrm rot="16200000" flipH="1">
            <a:off x="1279330" y="2817814"/>
            <a:ext cx="381000" cy="8467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C7089AB-4B78-5FD7-2955-60EE7E6C29CC}"/>
              </a:ext>
            </a:extLst>
          </p:cNvPr>
          <p:cNvSpPr txBox="1"/>
          <p:nvPr/>
        </p:nvSpPr>
        <p:spPr>
          <a:xfrm>
            <a:off x="1409681" y="2326747"/>
            <a:ext cx="284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02E8CB1A-ED81-2735-549B-1897CE047C97}"/>
              </a:ext>
            </a:extLst>
          </p:cNvPr>
          <p:cNvCxnSpPr>
            <a:cxnSpLocks/>
          </p:cNvCxnSpPr>
          <p:nvPr/>
        </p:nvCxnSpPr>
        <p:spPr bwMode="auto">
          <a:xfrm>
            <a:off x="2430801" y="5496808"/>
            <a:ext cx="176492" cy="0"/>
          </a:xfrm>
          <a:prstGeom prst="line">
            <a:avLst/>
          </a:prstGeom>
          <a:ln w="38100" cmpd="sng">
            <a:solidFill>
              <a:srgbClr val="2669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A74CA882-84B4-BD3D-F310-BC8B45E2A8C0}"/>
              </a:ext>
            </a:extLst>
          </p:cNvPr>
          <p:cNvSpPr txBox="1"/>
          <p:nvPr/>
        </p:nvSpPr>
        <p:spPr>
          <a:xfrm>
            <a:off x="2544307" y="3254787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i="1" dirty="0">
                <a:solidFill>
                  <a:schemeClr val="accent1">
                    <a:lumMod val="75000"/>
                  </a:schemeClr>
                </a:solidFill>
              </a:rPr>
              <a:t>19..15(rs1)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9F1F5FE-9D43-1F4C-D9D3-50BCE3030B93}"/>
              </a:ext>
            </a:extLst>
          </p:cNvPr>
          <p:cNvSpPr txBox="1"/>
          <p:nvPr/>
        </p:nvSpPr>
        <p:spPr>
          <a:xfrm>
            <a:off x="2544307" y="3645024"/>
            <a:ext cx="782587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ES_tradnl" sz="1000" i="1" dirty="0">
                <a:solidFill>
                  <a:schemeClr val="accent1">
                    <a:lumMod val="75000"/>
                  </a:schemeClr>
                </a:solidFill>
              </a:rPr>
              <a:t>24..20(rs2)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308006AE-9121-1A78-F99E-F9154F323715}"/>
              </a:ext>
            </a:extLst>
          </p:cNvPr>
          <p:cNvSpPr/>
          <p:nvPr/>
        </p:nvSpPr>
        <p:spPr bwMode="auto">
          <a:xfrm>
            <a:off x="3230107" y="4841346"/>
            <a:ext cx="1060916" cy="598687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rgbClr val="000000"/>
                </a:solidFill>
              </a:rPr>
              <a:t>Generador de Inmediatos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1A031244-C84D-7A32-98D2-4434639FF235}"/>
              </a:ext>
            </a:extLst>
          </p:cNvPr>
          <p:cNvCxnSpPr>
            <a:cxnSpLocks/>
            <a:endCxn id="32" idx="1"/>
          </p:cNvCxnSpPr>
          <p:nvPr/>
        </p:nvCxnSpPr>
        <p:spPr bwMode="auto">
          <a:xfrm flipV="1">
            <a:off x="2626107" y="5140690"/>
            <a:ext cx="604000" cy="1121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83EAECD-0314-1A36-5B46-4DB50FF4F8E8}"/>
              </a:ext>
            </a:extLst>
          </p:cNvPr>
          <p:cNvSpPr txBox="1"/>
          <p:nvPr/>
        </p:nvSpPr>
        <p:spPr>
          <a:xfrm>
            <a:off x="2788515" y="5180543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31..0</a:t>
            </a:r>
          </a:p>
        </p:txBody>
      </p:sp>
      <p:sp>
        <p:nvSpPr>
          <p:cNvPr id="37" name="Freeform 42">
            <a:extLst>
              <a:ext uri="{FF2B5EF4-FFF2-40B4-BE49-F238E27FC236}">
                <a16:creationId xmlns:a16="http://schemas.microsoft.com/office/drawing/2014/main" id="{750318F3-DAA8-C48C-F270-62A6FABD0E6F}"/>
              </a:ext>
            </a:extLst>
          </p:cNvPr>
          <p:cNvSpPr>
            <a:spLocks/>
          </p:cNvSpPr>
          <p:nvPr/>
        </p:nvSpPr>
        <p:spPr bwMode="blackWhite">
          <a:xfrm>
            <a:off x="5782807" y="3275012"/>
            <a:ext cx="495300" cy="1028700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r>
              <a:rPr lang="es-ES_tradnl" sz="1200" dirty="0"/>
              <a:t>ALU</a:t>
            </a:r>
            <a:endParaRPr lang="es-ES_tradnl" sz="1800" dirty="0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44450B88-A0D1-DB6E-9D68-7C01FF6E089B}"/>
              </a:ext>
            </a:extLst>
          </p:cNvPr>
          <p:cNvSpPr/>
          <p:nvPr/>
        </p:nvSpPr>
        <p:spPr bwMode="auto">
          <a:xfrm>
            <a:off x="7002800" y="4265612"/>
            <a:ext cx="782039" cy="990600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dirty="0">
                <a:solidFill>
                  <a:srgbClr val="000000"/>
                </a:solidFill>
              </a:rPr>
              <a:t>Memoria de datos</a:t>
            </a:r>
          </a:p>
        </p:txBody>
      </p: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199E114E-C612-6525-8575-FF3928ABCBC1}"/>
              </a:ext>
            </a:extLst>
          </p:cNvPr>
          <p:cNvCxnSpPr>
            <a:cxnSpLocks/>
            <a:stCxn id="148" idx="2"/>
            <a:endCxn id="43" idx="0"/>
          </p:cNvCxnSpPr>
          <p:nvPr/>
        </p:nvCxnSpPr>
        <p:spPr bwMode="auto">
          <a:xfrm>
            <a:off x="7383799" y="3770311"/>
            <a:ext cx="10021" cy="495301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8" name="Rectángulo 47">
            <a:extLst>
              <a:ext uri="{FF2B5EF4-FFF2-40B4-BE49-F238E27FC236}">
                <a16:creationId xmlns:a16="http://schemas.microsoft.com/office/drawing/2014/main" id="{1B31AF46-0297-6690-0449-72367BB552C3}"/>
              </a:ext>
            </a:extLst>
          </p:cNvPr>
          <p:cNvSpPr/>
          <p:nvPr/>
        </p:nvSpPr>
        <p:spPr bwMode="auto">
          <a:xfrm rot="16200000">
            <a:off x="8395567" y="4134379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35EE645D-E8A0-8AE6-7811-3E836D907394}"/>
              </a:ext>
            </a:extLst>
          </p:cNvPr>
          <p:cNvCxnSpPr/>
          <p:nvPr/>
        </p:nvCxnSpPr>
        <p:spPr bwMode="auto">
          <a:xfrm>
            <a:off x="7764800" y="4949824"/>
            <a:ext cx="228600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2755489A-F6A9-0F02-5B9A-68D51505A42C}"/>
              </a:ext>
            </a:extLst>
          </p:cNvPr>
          <p:cNvCxnSpPr>
            <a:cxnSpLocks/>
          </p:cNvCxnSpPr>
          <p:nvPr/>
        </p:nvCxnSpPr>
        <p:spPr bwMode="auto">
          <a:xfrm>
            <a:off x="8983206" y="4229100"/>
            <a:ext cx="0" cy="234950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761BE675-310F-EC94-D7ED-1815CAFFCFD1}"/>
              </a:ext>
            </a:extLst>
          </p:cNvPr>
          <p:cNvCxnSpPr>
            <a:cxnSpLocks/>
          </p:cNvCxnSpPr>
          <p:nvPr/>
        </p:nvCxnSpPr>
        <p:spPr bwMode="auto">
          <a:xfrm>
            <a:off x="2772907" y="6554788"/>
            <a:ext cx="6192279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E7533D0A-8531-5189-2440-72ABEF6C2938}"/>
              </a:ext>
            </a:extLst>
          </p:cNvPr>
          <p:cNvCxnSpPr>
            <a:cxnSpLocks/>
          </p:cNvCxnSpPr>
          <p:nvPr/>
        </p:nvCxnSpPr>
        <p:spPr bwMode="auto">
          <a:xfrm flipV="1">
            <a:off x="2772907" y="4190206"/>
            <a:ext cx="794" cy="2385219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DA5BCD52-C1D7-C5AC-A461-9265316FF37D}"/>
              </a:ext>
            </a:extLst>
          </p:cNvPr>
          <p:cNvCxnSpPr>
            <a:cxnSpLocks/>
          </p:cNvCxnSpPr>
          <p:nvPr/>
        </p:nvCxnSpPr>
        <p:spPr bwMode="auto">
          <a:xfrm>
            <a:off x="2766557" y="4191000"/>
            <a:ext cx="45720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4563111B-E688-245E-C405-FA4777F6444B}"/>
              </a:ext>
            </a:extLst>
          </p:cNvPr>
          <p:cNvCxnSpPr/>
          <p:nvPr/>
        </p:nvCxnSpPr>
        <p:spPr bwMode="auto">
          <a:xfrm>
            <a:off x="2849107" y="6475412"/>
            <a:ext cx="5753893" cy="1588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4001C024-B4F8-DF92-0A1A-0DE864B88D65}"/>
              </a:ext>
            </a:extLst>
          </p:cNvPr>
          <p:cNvCxnSpPr>
            <a:cxnSpLocks/>
          </p:cNvCxnSpPr>
          <p:nvPr/>
        </p:nvCxnSpPr>
        <p:spPr bwMode="auto">
          <a:xfrm flipV="1">
            <a:off x="2849107" y="4418806"/>
            <a:ext cx="794" cy="2056606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2" name="CuadroTexto 61">
            <a:extLst>
              <a:ext uri="{FF2B5EF4-FFF2-40B4-BE49-F238E27FC236}">
                <a16:creationId xmlns:a16="http://schemas.microsoft.com/office/drawing/2014/main" id="{142F129E-AF0C-0740-A7A6-8D7A6EAB09DA}"/>
              </a:ext>
            </a:extLst>
          </p:cNvPr>
          <p:cNvSpPr txBox="1"/>
          <p:nvPr/>
        </p:nvSpPr>
        <p:spPr>
          <a:xfrm rot="16200000">
            <a:off x="8558929" y="5114873"/>
            <a:ext cx="5885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>
                <a:solidFill>
                  <a:schemeClr val="accent1">
                    <a:lumMod val="75000"/>
                  </a:schemeClr>
                </a:solidFill>
              </a:rPr>
              <a:t>Datos</a:t>
            </a:r>
          </a:p>
        </p:txBody>
      </p: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8D3442A0-C8BC-7711-0FC7-4AF0398250D0}"/>
              </a:ext>
            </a:extLst>
          </p:cNvPr>
          <p:cNvCxnSpPr>
            <a:cxnSpLocks/>
            <a:endCxn id="221" idx="2"/>
          </p:cNvCxnSpPr>
          <p:nvPr/>
        </p:nvCxnSpPr>
        <p:spPr bwMode="auto">
          <a:xfrm flipV="1">
            <a:off x="2592286" y="3540124"/>
            <a:ext cx="4553" cy="2740044"/>
          </a:xfrm>
          <a:prstGeom prst="line">
            <a:avLst/>
          </a:prstGeom>
          <a:ln w="38100" cmpd="sng">
            <a:solidFill>
              <a:srgbClr val="2669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Conector recto de flecha 87">
            <a:extLst>
              <a:ext uri="{FF2B5EF4-FFF2-40B4-BE49-F238E27FC236}">
                <a16:creationId xmlns:a16="http://schemas.microsoft.com/office/drawing/2014/main" id="{1E3B0714-D049-C86D-FB7B-3919462C5E82}"/>
              </a:ext>
            </a:extLst>
          </p:cNvPr>
          <p:cNvCxnSpPr>
            <a:cxnSpLocks/>
          </p:cNvCxnSpPr>
          <p:nvPr/>
        </p:nvCxnSpPr>
        <p:spPr bwMode="auto">
          <a:xfrm>
            <a:off x="1245469" y="3393547"/>
            <a:ext cx="0" cy="899549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2" name="Rectángulo 91">
            <a:extLst>
              <a:ext uri="{FF2B5EF4-FFF2-40B4-BE49-F238E27FC236}">
                <a16:creationId xmlns:a16="http://schemas.microsoft.com/office/drawing/2014/main" id="{0A27DC7D-0FB8-BC11-8D10-F078CA39A5E2}"/>
              </a:ext>
            </a:extLst>
          </p:cNvPr>
          <p:cNvSpPr/>
          <p:nvPr/>
        </p:nvSpPr>
        <p:spPr bwMode="auto">
          <a:xfrm>
            <a:off x="2126001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3" name="Rectángulo 92">
            <a:extLst>
              <a:ext uri="{FF2B5EF4-FFF2-40B4-BE49-F238E27FC236}">
                <a16:creationId xmlns:a16="http://schemas.microsoft.com/office/drawing/2014/main" id="{D7E3B39D-14FF-1878-830C-35625D1B26E7}"/>
              </a:ext>
            </a:extLst>
          </p:cNvPr>
          <p:cNvSpPr/>
          <p:nvPr/>
        </p:nvSpPr>
        <p:spPr bwMode="auto">
          <a:xfrm rot="16200000">
            <a:off x="1907279" y="5390270"/>
            <a:ext cx="7620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RI</a:t>
            </a:r>
          </a:p>
        </p:txBody>
      </p:sp>
      <p:sp>
        <p:nvSpPr>
          <p:cNvPr id="95" name="Rectángulo 94">
            <a:extLst>
              <a:ext uri="{FF2B5EF4-FFF2-40B4-BE49-F238E27FC236}">
                <a16:creationId xmlns:a16="http://schemas.microsoft.com/office/drawing/2014/main" id="{C9235A04-96D2-BC41-BA2A-7499F6B36CD0}"/>
              </a:ext>
            </a:extLst>
          </p:cNvPr>
          <p:cNvSpPr/>
          <p:nvPr/>
        </p:nvSpPr>
        <p:spPr bwMode="auto">
          <a:xfrm>
            <a:off x="4488201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6" name="Rectángulo 95">
            <a:extLst>
              <a:ext uri="{FF2B5EF4-FFF2-40B4-BE49-F238E27FC236}">
                <a16:creationId xmlns:a16="http://schemas.microsoft.com/office/drawing/2014/main" id="{859CB64B-0FB4-AA44-AA77-25202503A1E6}"/>
              </a:ext>
            </a:extLst>
          </p:cNvPr>
          <p:cNvSpPr/>
          <p:nvPr/>
        </p:nvSpPr>
        <p:spPr bwMode="auto">
          <a:xfrm rot="16200000">
            <a:off x="4406353" y="3385080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S</a:t>
            </a:r>
          </a:p>
        </p:txBody>
      </p:sp>
      <p:sp>
        <p:nvSpPr>
          <p:cNvPr id="97" name="Rectángulo 96">
            <a:extLst>
              <a:ext uri="{FF2B5EF4-FFF2-40B4-BE49-F238E27FC236}">
                <a16:creationId xmlns:a16="http://schemas.microsoft.com/office/drawing/2014/main" id="{6D4BCC22-D36D-1729-91E8-27E707F68274}"/>
              </a:ext>
            </a:extLst>
          </p:cNvPr>
          <p:cNvSpPr/>
          <p:nvPr/>
        </p:nvSpPr>
        <p:spPr bwMode="auto">
          <a:xfrm rot="16200000">
            <a:off x="4406354" y="3936350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T</a:t>
            </a:r>
          </a:p>
        </p:txBody>
      </p:sp>
      <p:sp>
        <p:nvSpPr>
          <p:cNvPr id="98" name="Rectángulo 97">
            <a:extLst>
              <a:ext uri="{FF2B5EF4-FFF2-40B4-BE49-F238E27FC236}">
                <a16:creationId xmlns:a16="http://schemas.microsoft.com/office/drawing/2014/main" id="{852D14FA-B7EA-8363-D6BB-12476F9EDC5D}"/>
              </a:ext>
            </a:extLst>
          </p:cNvPr>
          <p:cNvSpPr/>
          <p:nvPr/>
        </p:nvSpPr>
        <p:spPr bwMode="auto">
          <a:xfrm rot="16200000">
            <a:off x="4407298" y="4431386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K</a:t>
            </a:r>
          </a:p>
        </p:txBody>
      </p:sp>
      <p:sp>
        <p:nvSpPr>
          <p:cNvPr id="101" name="Rectángulo 100">
            <a:extLst>
              <a:ext uri="{FF2B5EF4-FFF2-40B4-BE49-F238E27FC236}">
                <a16:creationId xmlns:a16="http://schemas.microsoft.com/office/drawing/2014/main" id="{C7E3D81F-4163-F88C-8514-6BA068D7129D}"/>
              </a:ext>
            </a:extLst>
          </p:cNvPr>
          <p:cNvSpPr/>
          <p:nvPr/>
        </p:nvSpPr>
        <p:spPr bwMode="auto">
          <a:xfrm>
            <a:off x="6469400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2" name="Rectángulo 101">
            <a:extLst>
              <a:ext uri="{FF2B5EF4-FFF2-40B4-BE49-F238E27FC236}">
                <a16:creationId xmlns:a16="http://schemas.microsoft.com/office/drawing/2014/main" id="{2423EB00-4E4F-ACBB-9929-ED62431CBF68}"/>
              </a:ext>
            </a:extLst>
          </p:cNvPr>
          <p:cNvSpPr/>
          <p:nvPr/>
        </p:nvSpPr>
        <p:spPr bwMode="auto">
          <a:xfrm>
            <a:off x="7993400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31325874-E97C-B1D7-D598-B602E32AAF8E}"/>
              </a:ext>
            </a:extLst>
          </p:cNvPr>
          <p:cNvSpPr/>
          <p:nvPr/>
        </p:nvSpPr>
        <p:spPr bwMode="auto">
          <a:xfrm rot="16200000">
            <a:off x="6174479" y="36179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ALUout</a:t>
            </a:r>
          </a:p>
        </p:txBody>
      </p:sp>
      <p:sp>
        <p:nvSpPr>
          <p:cNvPr id="104" name="Rectángulo 103">
            <a:extLst>
              <a:ext uri="{FF2B5EF4-FFF2-40B4-BE49-F238E27FC236}">
                <a16:creationId xmlns:a16="http://schemas.microsoft.com/office/drawing/2014/main" id="{C96DB077-21C0-048D-2F9A-F71C77D00340}"/>
              </a:ext>
            </a:extLst>
          </p:cNvPr>
          <p:cNvSpPr/>
          <p:nvPr/>
        </p:nvSpPr>
        <p:spPr bwMode="auto">
          <a:xfrm rot="16200000">
            <a:off x="7698479" y="36179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ALUout</a:t>
            </a:r>
          </a:p>
        </p:txBody>
      </p:sp>
      <p:sp>
        <p:nvSpPr>
          <p:cNvPr id="107" name="Rectángulo 106">
            <a:extLst>
              <a:ext uri="{FF2B5EF4-FFF2-40B4-BE49-F238E27FC236}">
                <a16:creationId xmlns:a16="http://schemas.microsoft.com/office/drawing/2014/main" id="{38A62A5D-7231-19FF-2272-25F4D6884F11}"/>
              </a:ext>
            </a:extLst>
          </p:cNvPr>
          <p:cNvSpPr/>
          <p:nvPr/>
        </p:nvSpPr>
        <p:spPr bwMode="auto">
          <a:xfrm rot="16200000">
            <a:off x="7698479" y="48371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MEMout</a:t>
            </a:r>
          </a:p>
        </p:txBody>
      </p:sp>
      <p:sp>
        <p:nvSpPr>
          <p:cNvPr id="108" name="Rectángulo 107">
            <a:extLst>
              <a:ext uri="{FF2B5EF4-FFF2-40B4-BE49-F238E27FC236}">
                <a16:creationId xmlns:a16="http://schemas.microsoft.com/office/drawing/2014/main" id="{F64B420E-9323-F296-FFCD-A1118E8B7221}"/>
              </a:ext>
            </a:extLst>
          </p:cNvPr>
          <p:cNvSpPr/>
          <p:nvPr/>
        </p:nvSpPr>
        <p:spPr bwMode="auto">
          <a:xfrm rot="16200000">
            <a:off x="6406518" y="4863434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T</a:t>
            </a:r>
          </a:p>
        </p:txBody>
      </p:sp>
      <p:cxnSp>
        <p:nvCxnSpPr>
          <p:cNvPr id="120" name="Conector recto 119">
            <a:extLst>
              <a:ext uri="{FF2B5EF4-FFF2-40B4-BE49-F238E27FC236}">
                <a16:creationId xmlns:a16="http://schemas.microsoft.com/office/drawing/2014/main" id="{88B68FB7-C1CB-6A6B-301B-2C9F247BF6E8}"/>
              </a:ext>
            </a:extLst>
          </p:cNvPr>
          <p:cNvCxnSpPr/>
          <p:nvPr/>
        </p:nvCxnSpPr>
        <p:spPr bwMode="auto">
          <a:xfrm>
            <a:off x="8374400" y="4037012"/>
            <a:ext cx="228600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Conector recto 120">
            <a:extLst>
              <a:ext uri="{FF2B5EF4-FFF2-40B4-BE49-F238E27FC236}">
                <a16:creationId xmlns:a16="http://schemas.microsoft.com/office/drawing/2014/main" id="{BF1BABB2-BA36-73FD-E18E-DA9F3212344D}"/>
              </a:ext>
            </a:extLst>
          </p:cNvPr>
          <p:cNvCxnSpPr>
            <a:cxnSpLocks/>
          </p:cNvCxnSpPr>
          <p:nvPr/>
        </p:nvCxnSpPr>
        <p:spPr bwMode="auto">
          <a:xfrm>
            <a:off x="8373606" y="4494211"/>
            <a:ext cx="229394" cy="1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2" name="Conector recto 121">
            <a:extLst>
              <a:ext uri="{FF2B5EF4-FFF2-40B4-BE49-F238E27FC236}">
                <a16:creationId xmlns:a16="http://schemas.microsoft.com/office/drawing/2014/main" id="{7B72BEEB-3234-D6AD-C37C-6B191D7B38EE}"/>
              </a:ext>
            </a:extLst>
          </p:cNvPr>
          <p:cNvCxnSpPr>
            <a:cxnSpLocks/>
          </p:cNvCxnSpPr>
          <p:nvPr/>
        </p:nvCxnSpPr>
        <p:spPr bwMode="auto">
          <a:xfrm flipV="1">
            <a:off x="8373609" y="3711167"/>
            <a:ext cx="0" cy="346483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Conector recto 122">
            <a:extLst>
              <a:ext uri="{FF2B5EF4-FFF2-40B4-BE49-F238E27FC236}">
                <a16:creationId xmlns:a16="http://schemas.microsoft.com/office/drawing/2014/main" id="{E0D15751-385A-5F80-8A45-D07AFAF64A07}"/>
              </a:ext>
            </a:extLst>
          </p:cNvPr>
          <p:cNvCxnSpPr>
            <a:cxnSpLocks/>
          </p:cNvCxnSpPr>
          <p:nvPr/>
        </p:nvCxnSpPr>
        <p:spPr bwMode="auto">
          <a:xfrm flipV="1">
            <a:off x="8373606" y="4479925"/>
            <a:ext cx="0" cy="476248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5" name="Conector recto 124">
            <a:extLst>
              <a:ext uri="{FF2B5EF4-FFF2-40B4-BE49-F238E27FC236}">
                <a16:creationId xmlns:a16="http://schemas.microsoft.com/office/drawing/2014/main" id="{DA20BBEB-22F6-E771-7F05-980396834815}"/>
              </a:ext>
            </a:extLst>
          </p:cNvPr>
          <p:cNvCxnSpPr/>
          <p:nvPr/>
        </p:nvCxnSpPr>
        <p:spPr bwMode="auto">
          <a:xfrm rot="10800000">
            <a:off x="8298200" y="3732212"/>
            <a:ext cx="76200" cy="1588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9" name="Conector recto 128">
            <a:extLst>
              <a:ext uri="{FF2B5EF4-FFF2-40B4-BE49-F238E27FC236}">
                <a16:creationId xmlns:a16="http://schemas.microsoft.com/office/drawing/2014/main" id="{0282EC25-1D0E-8FA5-6C39-9982F7F1B504}"/>
              </a:ext>
            </a:extLst>
          </p:cNvPr>
          <p:cNvCxnSpPr/>
          <p:nvPr/>
        </p:nvCxnSpPr>
        <p:spPr bwMode="auto">
          <a:xfrm>
            <a:off x="6287835" y="3789039"/>
            <a:ext cx="190027" cy="1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0" name="CuadroTexto 129">
            <a:extLst>
              <a:ext uri="{FF2B5EF4-FFF2-40B4-BE49-F238E27FC236}">
                <a16:creationId xmlns:a16="http://schemas.microsoft.com/office/drawing/2014/main" id="{51E82DCE-925A-FD40-344C-9F071B7BC775}"/>
              </a:ext>
            </a:extLst>
          </p:cNvPr>
          <p:cNvSpPr txBox="1"/>
          <p:nvPr/>
        </p:nvSpPr>
        <p:spPr>
          <a:xfrm rot="16200000">
            <a:off x="1992834" y="604691"/>
            <a:ext cx="562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LI/DI</a:t>
            </a:r>
          </a:p>
        </p:txBody>
      </p:sp>
      <p:sp>
        <p:nvSpPr>
          <p:cNvPr id="131" name="CuadroTexto 130">
            <a:extLst>
              <a:ext uri="{FF2B5EF4-FFF2-40B4-BE49-F238E27FC236}">
                <a16:creationId xmlns:a16="http://schemas.microsoft.com/office/drawing/2014/main" id="{621B31DC-84CB-B64A-8D52-91D4522DD5B8}"/>
              </a:ext>
            </a:extLst>
          </p:cNvPr>
          <p:cNvSpPr txBox="1"/>
          <p:nvPr/>
        </p:nvSpPr>
        <p:spPr>
          <a:xfrm rot="16200000">
            <a:off x="4336034" y="2070736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DI/EX</a:t>
            </a:r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034D31B1-2B49-04E3-0C01-B4F0F6B16F68}"/>
              </a:ext>
            </a:extLst>
          </p:cNvPr>
          <p:cNvSpPr txBox="1"/>
          <p:nvPr/>
        </p:nvSpPr>
        <p:spPr>
          <a:xfrm rot="16200000">
            <a:off x="7805688" y="1305865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M/ ER</a:t>
            </a:r>
          </a:p>
        </p:txBody>
      </p:sp>
      <p:cxnSp>
        <p:nvCxnSpPr>
          <p:cNvPr id="157" name="Conector recto 156">
            <a:extLst>
              <a:ext uri="{FF2B5EF4-FFF2-40B4-BE49-F238E27FC236}">
                <a16:creationId xmlns:a16="http://schemas.microsoft.com/office/drawing/2014/main" id="{4F8260C9-91C5-5D32-2B5C-2B1613BAA806}"/>
              </a:ext>
            </a:extLst>
          </p:cNvPr>
          <p:cNvCxnSpPr>
            <a:cxnSpLocks/>
          </p:cNvCxnSpPr>
          <p:nvPr/>
        </p:nvCxnSpPr>
        <p:spPr bwMode="auto">
          <a:xfrm>
            <a:off x="6774200" y="3733800"/>
            <a:ext cx="121920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4" name="Conector recto 173">
            <a:extLst>
              <a:ext uri="{FF2B5EF4-FFF2-40B4-BE49-F238E27FC236}">
                <a16:creationId xmlns:a16="http://schemas.microsoft.com/office/drawing/2014/main" id="{15CA69EB-8158-1C5E-9835-03861084F46B}"/>
              </a:ext>
            </a:extLst>
          </p:cNvPr>
          <p:cNvCxnSpPr/>
          <p:nvPr/>
        </p:nvCxnSpPr>
        <p:spPr bwMode="auto">
          <a:xfrm rot="5400000" flipH="1" flipV="1">
            <a:off x="-312400" y="3732212"/>
            <a:ext cx="2133600" cy="1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5" name="Conector recto 174">
            <a:extLst>
              <a:ext uri="{FF2B5EF4-FFF2-40B4-BE49-F238E27FC236}">
                <a16:creationId xmlns:a16="http://schemas.microsoft.com/office/drawing/2014/main" id="{CA172F69-9AD9-A1E5-0A83-ADD40A93E265}"/>
              </a:ext>
            </a:extLst>
          </p:cNvPr>
          <p:cNvCxnSpPr>
            <a:cxnSpLocks/>
          </p:cNvCxnSpPr>
          <p:nvPr/>
        </p:nvCxnSpPr>
        <p:spPr bwMode="auto">
          <a:xfrm>
            <a:off x="728225" y="4791193"/>
            <a:ext cx="645442" cy="0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9AAF9CB0-751B-C151-A656-89CD1CC6F2A4}"/>
              </a:ext>
            </a:extLst>
          </p:cNvPr>
          <p:cNvSpPr txBox="1"/>
          <p:nvPr/>
        </p:nvSpPr>
        <p:spPr>
          <a:xfrm>
            <a:off x="3230107" y="6038626"/>
            <a:ext cx="6992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11..7(</a:t>
            </a:r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rd</a:t>
            </a:r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ADE475C7-7FB3-5758-05FA-C4B9C120CB5C}"/>
              </a:ext>
            </a:extLst>
          </p:cNvPr>
          <p:cNvCxnSpPr>
            <a:cxnSpLocks/>
            <a:stCxn id="147" idx="2"/>
          </p:cNvCxnSpPr>
          <p:nvPr/>
        </p:nvCxnSpPr>
        <p:spPr bwMode="auto">
          <a:xfrm>
            <a:off x="5589345" y="4115379"/>
            <a:ext cx="193462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EA9ED958-F001-0FD1-8E62-4771765995FB}"/>
              </a:ext>
            </a:extLst>
          </p:cNvPr>
          <p:cNvCxnSpPr>
            <a:cxnSpLocks/>
          </p:cNvCxnSpPr>
          <p:nvPr/>
        </p:nvCxnSpPr>
        <p:spPr bwMode="auto">
          <a:xfrm>
            <a:off x="4793000" y="4077072"/>
            <a:ext cx="567745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Rectángulo 50">
            <a:extLst>
              <a:ext uri="{FF2B5EF4-FFF2-40B4-BE49-F238E27FC236}">
                <a16:creationId xmlns:a16="http://schemas.microsoft.com/office/drawing/2014/main" id="{18146883-6A84-0E8D-3833-4999451A1396}"/>
              </a:ext>
            </a:extLst>
          </p:cNvPr>
          <p:cNvSpPr/>
          <p:nvPr/>
        </p:nvSpPr>
        <p:spPr bwMode="auto">
          <a:xfrm>
            <a:off x="5084480" y="4046009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CCEF79B1-BD89-D80A-7C57-CCEA6F8F898F}"/>
              </a:ext>
            </a:extLst>
          </p:cNvPr>
          <p:cNvCxnSpPr>
            <a:cxnSpLocks/>
          </p:cNvCxnSpPr>
          <p:nvPr/>
        </p:nvCxnSpPr>
        <p:spPr bwMode="auto">
          <a:xfrm>
            <a:off x="5117560" y="4941168"/>
            <a:ext cx="1351046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555E2F9C-AE17-0837-7565-D99DB7F5CB8E}"/>
              </a:ext>
            </a:extLst>
          </p:cNvPr>
          <p:cNvCxnSpPr>
            <a:cxnSpLocks/>
          </p:cNvCxnSpPr>
          <p:nvPr/>
        </p:nvCxnSpPr>
        <p:spPr bwMode="auto">
          <a:xfrm>
            <a:off x="4792056" y="3579812"/>
            <a:ext cx="990751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Conector recto 117">
            <a:extLst>
              <a:ext uri="{FF2B5EF4-FFF2-40B4-BE49-F238E27FC236}">
                <a16:creationId xmlns:a16="http://schemas.microsoft.com/office/drawing/2014/main" id="{F461A339-20B0-2224-C9F7-E1F02FDB08E4}"/>
              </a:ext>
            </a:extLst>
          </p:cNvPr>
          <p:cNvCxnSpPr>
            <a:cxnSpLocks/>
            <a:stCxn id="51" idx="2"/>
          </p:cNvCxnSpPr>
          <p:nvPr/>
        </p:nvCxnSpPr>
        <p:spPr bwMode="auto">
          <a:xfrm>
            <a:off x="5122580" y="4122209"/>
            <a:ext cx="13321" cy="845708"/>
          </a:xfrm>
          <a:prstGeom prst="line">
            <a:avLst/>
          </a:prstGeom>
          <a:ln w="38100" cmpd="sng">
            <a:solidFill>
              <a:srgbClr val="26697A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7" name="Rectángulo 146">
            <a:extLst>
              <a:ext uri="{FF2B5EF4-FFF2-40B4-BE49-F238E27FC236}">
                <a16:creationId xmlns:a16="http://schemas.microsoft.com/office/drawing/2014/main" id="{93BF9EC3-E875-64B5-6E6C-AB4605D52DF8}"/>
              </a:ext>
            </a:extLst>
          </p:cNvPr>
          <p:cNvSpPr/>
          <p:nvPr/>
        </p:nvSpPr>
        <p:spPr bwMode="auto">
          <a:xfrm rot="16200000">
            <a:off x="5153312" y="4001079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194" name="Conector recto 193">
            <a:extLst>
              <a:ext uri="{FF2B5EF4-FFF2-40B4-BE49-F238E27FC236}">
                <a16:creationId xmlns:a16="http://schemas.microsoft.com/office/drawing/2014/main" id="{08D7D965-9452-0055-6DD6-A9CB1231A7C7}"/>
              </a:ext>
            </a:extLst>
          </p:cNvPr>
          <p:cNvCxnSpPr>
            <a:cxnSpLocks/>
          </p:cNvCxnSpPr>
          <p:nvPr/>
        </p:nvCxnSpPr>
        <p:spPr bwMode="auto">
          <a:xfrm flipV="1">
            <a:off x="4801003" y="6292868"/>
            <a:ext cx="1668397" cy="2244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5" name="Conector recto 194">
            <a:extLst>
              <a:ext uri="{FF2B5EF4-FFF2-40B4-BE49-F238E27FC236}">
                <a16:creationId xmlns:a16="http://schemas.microsoft.com/office/drawing/2014/main" id="{30BD0B9B-7EEE-7015-E72F-4D39E5CEF5EC}"/>
              </a:ext>
            </a:extLst>
          </p:cNvPr>
          <p:cNvCxnSpPr>
            <a:cxnSpLocks/>
          </p:cNvCxnSpPr>
          <p:nvPr/>
        </p:nvCxnSpPr>
        <p:spPr bwMode="auto">
          <a:xfrm>
            <a:off x="2833250" y="6475412"/>
            <a:ext cx="5782449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0" name="Conector recto 199">
            <a:extLst>
              <a:ext uri="{FF2B5EF4-FFF2-40B4-BE49-F238E27FC236}">
                <a16:creationId xmlns:a16="http://schemas.microsoft.com/office/drawing/2014/main" id="{63AD95C7-2411-2600-0F0B-A86134691CD5}"/>
              </a:ext>
            </a:extLst>
          </p:cNvPr>
          <p:cNvCxnSpPr>
            <a:cxnSpLocks/>
          </p:cNvCxnSpPr>
          <p:nvPr/>
        </p:nvCxnSpPr>
        <p:spPr bwMode="auto">
          <a:xfrm>
            <a:off x="6782786" y="6292868"/>
            <a:ext cx="1209826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1" name="Conector recto 200">
            <a:extLst>
              <a:ext uri="{FF2B5EF4-FFF2-40B4-BE49-F238E27FC236}">
                <a16:creationId xmlns:a16="http://schemas.microsoft.com/office/drawing/2014/main" id="{7644BBB8-87D5-D47F-0CCE-7599F5EEDE6C}"/>
              </a:ext>
            </a:extLst>
          </p:cNvPr>
          <p:cNvCxnSpPr>
            <a:cxnSpLocks/>
          </p:cNvCxnSpPr>
          <p:nvPr/>
        </p:nvCxnSpPr>
        <p:spPr bwMode="auto">
          <a:xfrm>
            <a:off x="8602206" y="6273818"/>
            <a:ext cx="793" cy="201594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4" name="Conector recto 203">
            <a:extLst>
              <a:ext uri="{FF2B5EF4-FFF2-40B4-BE49-F238E27FC236}">
                <a16:creationId xmlns:a16="http://schemas.microsoft.com/office/drawing/2014/main" id="{4E4C289E-5A55-80B9-6367-4BDCDD4CC599}"/>
              </a:ext>
            </a:extLst>
          </p:cNvPr>
          <p:cNvCxnSpPr>
            <a:cxnSpLocks/>
          </p:cNvCxnSpPr>
          <p:nvPr/>
        </p:nvCxnSpPr>
        <p:spPr bwMode="auto">
          <a:xfrm>
            <a:off x="8297412" y="6292322"/>
            <a:ext cx="305587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6" name="CuadroTexto 205">
            <a:extLst>
              <a:ext uri="{FF2B5EF4-FFF2-40B4-BE49-F238E27FC236}">
                <a16:creationId xmlns:a16="http://schemas.microsoft.com/office/drawing/2014/main" id="{62AFEF1F-3A6E-EFBE-1B0A-C377629CD059}"/>
              </a:ext>
            </a:extLst>
          </p:cNvPr>
          <p:cNvSpPr txBox="1"/>
          <p:nvPr/>
        </p:nvSpPr>
        <p:spPr>
          <a:xfrm>
            <a:off x="3180848" y="5873965"/>
            <a:ext cx="784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Reg</a:t>
            </a:r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dest</a:t>
            </a:r>
            <a:endParaRPr lang="es-ES_tradnl" sz="11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13" name="Rectángulo 212">
            <a:extLst>
              <a:ext uri="{FF2B5EF4-FFF2-40B4-BE49-F238E27FC236}">
                <a16:creationId xmlns:a16="http://schemas.microsoft.com/office/drawing/2014/main" id="{0F4D4174-B4ED-A73B-EE5B-AE0A1A3F7669}"/>
              </a:ext>
            </a:extLst>
          </p:cNvPr>
          <p:cNvSpPr/>
          <p:nvPr/>
        </p:nvSpPr>
        <p:spPr bwMode="auto">
          <a:xfrm rot="16200000">
            <a:off x="4430815" y="6022781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214" name="Rectángulo 213">
            <a:extLst>
              <a:ext uri="{FF2B5EF4-FFF2-40B4-BE49-F238E27FC236}">
                <a16:creationId xmlns:a16="http://schemas.microsoft.com/office/drawing/2014/main" id="{09FF2D7C-7759-57B1-D740-69A551BD2B67}"/>
              </a:ext>
            </a:extLst>
          </p:cNvPr>
          <p:cNvSpPr/>
          <p:nvPr/>
        </p:nvSpPr>
        <p:spPr bwMode="auto">
          <a:xfrm rot="16200000">
            <a:off x="6444575" y="6054250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 err="1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215" name="Rectángulo 214">
            <a:extLst>
              <a:ext uri="{FF2B5EF4-FFF2-40B4-BE49-F238E27FC236}">
                <a16:creationId xmlns:a16="http://schemas.microsoft.com/office/drawing/2014/main" id="{F44FB967-A0EC-075C-055B-79D5E1311A4B}"/>
              </a:ext>
            </a:extLst>
          </p:cNvPr>
          <p:cNvSpPr/>
          <p:nvPr/>
        </p:nvSpPr>
        <p:spPr bwMode="auto">
          <a:xfrm rot="16200000">
            <a:off x="7974586" y="6072792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221" name="Rectángulo 220">
            <a:extLst>
              <a:ext uri="{FF2B5EF4-FFF2-40B4-BE49-F238E27FC236}">
                <a16:creationId xmlns:a16="http://schemas.microsoft.com/office/drawing/2014/main" id="{7178B1B2-8E6E-8D90-E5D7-E4EFC0082E44}"/>
              </a:ext>
            </a:extLst>
          </p:cNvPr>
          <p:cNvSpPr/>
          <p:nvPr/>
        </p:nvSpPr>
        <p:spPr bwMode="auto">
          <a:xfrm>
            <a:off x="2558739" y="3463924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226" name="Conector recto 225">
            <a:extLst>
              <a:ext uri="{FF2B5EF4-FFF2-40B4-BE49-F238E27FC236}">
                <a16:creationId xmlns:a16="http://schemas.microsoft.com/office/drawing/2014/main" id="{A461F6F6-819B-9E14-CC4A-DDBE87D47E57}"/>
              </a:ext>
            </a:extLst>
          </p:cNvPr>
          <p:cNvCxnSpPr>
            <a:cxnSpLocks/>
          </p:cNvCxnSpPr>
          <p:nvPr/>
        </p:nvCxnSpPr>
        <p:spPr bwMode="auto">
          <a:xfrm>
            <a:off x="6774200" y="4958174"/>
            <a:ext cx="22860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Rectángulo 26">
            <a:extLst>
              <a:ext uri="{FF2B5EF4-FFF2-40B4-BE49-F238E27FC236}">
                <a16:creationId xmlns:a16="http://schemas.microsoft.com/office/drawing/2014/main" id="{99357FE0-FF97-847B-8233-6FF77CFF6D63}"/>
              </a:ext>
            </a:extLst>
          </p:cNvPr>
          <p:cNvSpPr/>
          <p:nvPr/>
        </p:nvSpPr>
        <p:spPr bwMode="auto">
          <a:xfrm>
            <a:off x="3230107" y="3317347"/>
            <a:ext cx="913134" cy="1371600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rgbClr val="000000"/>
                </a:solidFill>
              </a:rPr>
              <a:t>Banco de Registros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0B14F7DC-9A8B-9C0D-66B0-253CC696325D}"/>
              </a:ext>
            </a:extLst>
          </p:cNvPr>
          <p:cNvCxnSpPr>
            <a:cxnSpLocks/>
          </p:cNvCxnSpPr>
          <p:nvPr/>
        </p:nvCxnSpPr>
        <p:spPr bwMode="auto">
          <a:xfrm>
            <a:off x="4143241" y="3579812"/>
            <a:ext cx="34496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BB61A5CA-D3E3-94D4-87B9-60695F793DDC}"/>
              </a:ext>
            </a:extLst>
          </p:cNvPr>
          <p:cNvCxnSpPr>
            <a:cxnSpLocks/>
          </p:cNvCxnSpPr>
          <p:nvPr/>
        </p:nvCxnSpPr>
        <p:spPr bwMode="auto">
          <a:xfrm>
            <a:off x="4150630" y="4073467"/>
            <a:ext cx="335983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4D1876D5-E19B-5F28-DFF9-8B8E4E93C226}"/>
              </a:ext>
            </a:extLst>
          </p:cNvPr>
          <p:cNvSpPr txBox="1"/>
          <p:nvPr/>
        </p:nvSpPr>
        <p:spPr>
          <a:xfrm rot="16200000">
            <a:off x="6325551" y="1894188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EX/M</a:t>
            </a:r>
          </a:p>
        </p:txBody>
      </p: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3CC7F6BF-374C-F099-E65F-58619E11F5A7}"/>
              </a:ext>
            </a:extLst>
          </p:cNvPr>
          <p:cNvCxnSpPr>
            <a:cxnSpLocks/>
          </p:cNvCxnSpPr>
          <p:nvPr/>
        </p:nvCxnSpPr>
        <p:spPr bwMode="auto">
          <a:xfrm>
            <a:off x="4206413" y="4570412"/>
            <a:ext cx="254347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F158C405-8030-2F89-2C1F-9EC403F95E9B}"/>
              </a:ext>
            </a:extLst>
          </p:cNvPr>
          <p:cNvCxnSpPr>
            <a:cxnSpLocks/>
          </p:cNvCxnSpPr>
          <p:nvPr/>
        </p:nvCxnSpPr>
        <p:spPr bwMode="auto">
          <a:xfrm flipV="1">
            <a:off x="4206413" y="4570412"/>
            <a:ext cx="0" cy="270934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8F9CEE07-DDA0-1D24-6712-80139E06CB16}"/>
              </a:ext>
            </a:extLst>
          </p:cNvPr>
          <p:cNvCxnSpPr>
            <a:cxnSpLocks/>
          </p:cNvCxnSpPr>
          <p:nvPr/>
        </p:nvCxnSpPr>
        <p:spPr bwMode="auto">
          <a:xfrm flipV="1">
            <a:off x="4748792" y="4376092"/>
            <a:ext cx="606424" cy="6853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7" name="Rectángulo 126">
            <a:extLst>
              <a:ext uri="{FF2B5EF4-FFF2-40B4-BE49-F238E27FC236}">
                <a16:creationId xmlns:a16="http://schemas.microsoft.com/office/drawing/2014/main" id="{E62B395D-4B32-06B5-CBB3-A6EC2C5DCB0D}"/>
              </a:ext>
            </a:extLst>
          </p:cNvPr>
          <p:cNvSpPr/>
          <p:nvPr/>
        </p:nvSpPr>
        <p:spPr bwMode="auto">
          <a:xfrm>
            <a:off x="1333481" y="4753876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shade val="50000"/>
                <a:alpha val="30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8" name="Rectángulo 127">
            <a:extLst>
              <a:ext uri="{FF2B5EF4-FFF2-40B4-BE49-F238E27FC236}">
                <a16:creationId xmlns:a16="http://schemas.microsoft.com/office/drawing/2014/main" id="{3BE50070-E949-BE16-AB11-7D04F157FA29}"/>
              </a:ext>
            </a:extLst>
          </p:cNvPr>
          <p:cNvSpPr/>
          <p:nvPr/>
        </p:nvSpPr>
        <p:spPr bwMode="auto">
          <a:xfrm>
            <a:off x="2551779" y="5109475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8" name="Rectángulo 147">
            <a:extLst>
              <a:ext uri="{FF2B5EF4-FFF2-40B4-BE49-F238E27FC236}">
                <a16:creationId xmlns:a16="http://schemas.microsoft.com/office/drawing/2014/main" id="{C6DE79CA-CF02-F216-8E82-B746961F050D}"/>
              </a:ext>
            </a:extLst>
          </p:cNvPr>
          <p:cNvSpPr/>
          <p:nvPr/>
        </p:nvSpPr>
        <p:spPr bwMode="auto">
          <a:xfrm>
            <a:off x="7345699" y="3694111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A9BDF3DD-BA90-820B-B4F6-8BEB46034D0F}"/>
              </a:ext>
            </a:extLst>
          </p:cNvPr>
          <p:cNvCxnSpPr>
            <a:cxnSpLocks/>
          </p:cNvCxnSpPr>
          <p:nvPr/>
        </p:nvCxnSpPr>
        <p:spPr bwMode="auto">
          <a:xfrm>
            <a:off x="2849107" y="4418806"/>
            <a:ext cx="395354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0D74B62B-B5A6-B806-5849-E0CCA750928E}"/>
              </a:ext>
            </a:extLst>
          </p:cNvPr>
          <p:cNvCxnSpPr>
            <a:cxnSpLocks/>
          </p:cNvCxnSpPr>
          <p:nvPr/>
        </p:nvCxnSpPr>
        <p:spPr bwMode="auto">
          <a:xfrm>
            <a:off x="8831600" y="4248679"/>
            <a:ext cx="151606" cy="0"/>
          </a:xfrm>
          <a:prstGeom prst="line">
            <a:avLst/>
          </a:prstGeom>
          <a:ln w="38100" cmpd="sng">
            <a:solidFill>
              <a:srgbClr val="26697A">
                <a:alpha val="30000"/>
              </a:srgb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FA80A3A-F135-0561-4D51-1457C31DA8C1}"/>
              </a:ext>
            </a:extLst>
          </p:cNvPr>
          <p:cNvSpPr/>
          <p:nvPr/>
        </p:nvSpPr>
        <p:spPr bwMode="auto">
          <a:xfrm>
            <a:off x="2561689" y="3844924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D5CC9051-79ED-751E-21CF-1EE4CC94BC3A}"/>
              </a:ext>
            </a:extLst>
          </p:cNvPr>
          <p:cNvCxnSpPr>
            <a:cxnSpLocks/>
          </p:cNvCxnSpPr>
          <p:nvPr/>
        </p:nvCxnSpPr>
        <p:spPr bwMode="auto">
          <a:xfrm>
            <a:off x="8831600" y="4253172"/>
            <a:ext cx="151606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BB905A5A-55B8-6EA4-A6B2-9A5024A2BC74}"/>
              </a:ext>
            </a:extLst>
          </p:cNvPr>
          <p:cNvCxnSpPr>
            <a:cxnSpLocks/>
            <a:stCxn id="16" idx="3"/>
          </p:cNvCxnSpPr>
          <p:nvPr/>
        </p:nvCxnSpPr>
        <p:spPr bwMode="auto">
          <a:xfrm>
            <a:off x="2637889" y="3883024"/>
            <a:ext cx="58586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875C7239-6BB0-F26B-8732-62F3D954C5E6}"/>
              </a:ext>
            </a:extLst>
          </p:cNvPr>
          <p:cNvCxnSpPr>
            <a:cxnSpLocks/>
            <a:stCxn id="8" idx="3"/>
          </p:cNvCxnSpPr>
          <p:nvPr/>
        </p:nvCxnSpPr>
        <p:spPr bwMode="auto">
          <a:xfrm>
            <a:off x="1795803" y="5489047"/>
            <a:ext cx="324630" cy="0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04EB61A5-8EE7-F3FF-067B-90FF83795AC6}"/>
              </a:ext>
            </a:extLst>
          </p:cNvPr>
          <p:cNvCxnSpPr>
            <a:cxnSpLocks/>
          </p:cNvCxnSpPr>
          <p:nvPr/>
        </p:nvCxnSpPr>
        <p:spPr bwMode="auto">
          <a:xfrm flipH="1">
            <a:off x="8316860" y="4962647"/>
            <a:ext cx="75406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694C21F7-971D-F625-8D1E-017457E4EED1}"/>
              </a:ext>
            </a:extLst>
          </p:cNvPr>
          <p:cNvSpPr txBox="1"/>
          <p:nvPr/>
        </p:nvSpPr>
        <p:spPr>
          <a:xfrm>
            <a:off x="762562" y="228600"/>
            <a:ext cx="4450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i="1">
                <a:solidFill>
                  <a:schemeClr val="accent1">
                    <a:lumMod val="75000"/>
                  </a:schemeClr>
                </a:solidFill>
              </a:rPr>
              <a:t>Clk</a:t>
            </a: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89C74912-34CD-8C4A-1FE0-8DD4ED8B7911}"/>
              </a:ext>
            </a:extLst>
          </p:cNvPr>
          <p:cNvCxnSpPr/>
          <p:nvPr/>
        </p:nvCxnSpPr>
        <p:spPr bwMode="auto">
          <a:xfrm>
            <a:off x="1981762" y="533400"/>
            <a:ext cx="1524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2DDE527D-DE85-D61A-A7EE-B8A53C360E3A}"/>
              </a:ext>
            </a:extLst>
          </p:cNvPr>
          <p:cNvCxnSpPr/>
          <p:nvPr/>
        </p:nvCxnSpPr>
        <p:spPr bwMode="auto">
          <a:xfrm>
            <a:off x="4316162" y="533400"/>
            <a:ext cx="1524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422AC3F0-FFBD-C124-4724-D08B8B690B4A}"/>
              </a:ext>
            </a:extLst>
          </p:cNvPr>
          <p:cNvCxnSpPr/>
          <p:nvPr/>
        </p:nvCxnSpPr>
        <p:spPr bwMode="auto">
          <a:xfrm>
            <a:off x="6325162" y="533400"/>
            <a:ext cx="1524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CC886F7C-FE33-CF65-2815-6A62EF55B083}"/>
              </a:ext>
            </a:extLst>
          </p:cNvPr>
          <p:cNvCxnSpPr/>
          <p:nvPr/>
        </p:nvCxnSpPr>
        <p:spPr bwMode="auto">
          <a:xfrm>
            <a:off x="1143562" y="379412"/>
            <a:ext cx="67056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C2A7B846-3B2E-7C28-75EC-37D3E7F40577}"/>
              </a:ext>
            </a:extLst>
          </p:cNvPr>
          <p:cNvCxnSpPr/>
          <p:nvPr/>
        </p:nvCxnSpPr>
        <p:spPr bwMode="auto">
          <a:xfrm rot="5400000" flipH="1" flipV="1">
            <a:off x="-74844" y="2438400"/>
            <a:ext cx="4114006" cy="794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AC5788DE-4BEB-7858-A599-5F9EF6013142}"/>
              </a:ext>
            </a:extLst>
          </p:cNvPr>
          <p:cNvCxnSpPr/>
          <p:nvPr/>
        </p:nvCxnSpPr>
        <p:spPr bwMode="auto">
          <a:xfrm rot="5400000" flipH="1" flipV="1">
            <a:off x="4239391" y="456406"/>
            <a:ext cx="1524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879F274F-0614-EDBB-8E04-A02FA75A81C3}"/>
              </a:ext>
            </a:extLst>
          </p:cNvPr>
          <p:cNvCxnSpPr/>
          <p:nvPr/>
        </p:nvCxnSpPr>
        <p:spPr bwMode="auto">
          <a:xfrm rot="5400000" flipH="1" flipV="1">
            <a:off x="6248168" y="456406"/>
            <a:ext cx="1524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32AACD0A-12E7-910A-E3BC-188A95C943D9}"/>
              </a:ext>
            </a:extLst>
          </p:cNvPr>
          <p:cNvCxnSpPr/>
          <p:nvPr/>
        </p:nvCxnSpPr>
        <p:spPr bwMode="auto">
          <a:xfrm rot="5400000" flipH="1" flipV="1">
            <a:off x="7772168" y="456406"/>
            <a:ext cx="1524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DBAB0EAF-3611-81D9-8D6A-6B29DEACD966}"/>
              </a:ext>
            </a:extLst>
          </p:cNvPr>
          <p:cNvCxnSpPr/>
          <p:nvPr/>
        </p:nvCxnSpPr>
        <p:spPr bwMode="auto">
          <a:xfrm>
            <a:off x="7849162" y="533400"/>
            <a:ext cx="1524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A623B6D9-AD80-E52F-E106-6CC33813E8A3}"/>
              </a:ext>
            </a:extLst>
          </p:cNvPr>
          <p:cNvCxnSpPr/>
          <p:nvPr/>
        </p:nvCxnSpPr>
        <p:spPr bwMode="auto">
          <a:xfrm rot="10800000">
            <a:off x="1829362" y="4495800"/>
            <a:ext cx="1524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E59A97BF-D916-187E-BED6-D35426299138}"/>
              </a:ext>
            </a:extLst>
          </p:cNvPr>
          <p:cNvSpPr txBox="1"/>
          <p:nvPr/>
        </p:nvSpPr>
        <p:spPr>
          <a:xfrm rot="16200000">
            <a:off x="-1773042" y="1941469"/>
            <a:ext cx="4114011" cy="56630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Ruta de datos sin soporte para instrucciones de salto </a:t>
            </a:r>
          </a:p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y sin la unidad de control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D6EA4560-F65C-BA4E-83B6-A1299044668E}"/>
              </a:ext>
            </a:extLst>
          </p:cNvPr>
          <p:cNvSpPr txBox="1"/>
          <p:nvPr/>
        </p:nvSpPr>
        <p:spPr>
          <a:xfrm>
            <a:off x="833098" y="-76200"/>
            <a:ext cx="41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LI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740A88C9-4DA9-B503-4F99-0E914D88ACD6}"/>
              </a:ext>
            </a:extLst>
          </p:cNvPr>
          <p:cNvSpPr txBox="1"/>
          <p:nvPr/>
        </p:nvSpPr>
        <p:spPr>
          <a:xfrm>
            <a:off x="3263390" y="-7620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DI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656B2010-BBD1-963A-632C-8FCAADC633DF}"/>
              </a:ext>
            </a:extLst>
          </p:cNvPr>
          <p:cNvSpPr txBox="1"/>
          <p:nvPr/>
        </p:nvSpPr>
        <p:spPr>
          <a:xfrm>
            <a:off x="5233353" y="-76200"/>
            <a:ext cx="5268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EX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77A84498-C3EA-C55B-2D5F-7157A79176A1}"/>
              </a:ext>
            </a:extLst>
          </p:cNvPr>
          <p:cNvSpPr txBox="1"/>
          <p:nvPr/>
        </p:nvSpPr>
        <p:spPr>
          <a:xfrm>
            <a:off x="7171005" y="-76200"/>
            <a:ext cx="39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M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6F18314A-B7A2-857E-8300-3E683A80C026}"/>
              </a:ext>
            </a:extLst>
          </p:cNvPr>
          <p:cNvSpPr txBox="1"/>
          <p:nvPr/>
        </p:nvSpPr>
        <p:spPr>
          <a:xfrm>
            <a:off x="8330902" y="-76200"/>
            <a:ext cx="5409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ER</a:t>
            </a:r>
          </a:p>
        </p:txBody>
      </p:sp>
    </p:spTree>
    <p:extLst>
      <p:ext uri="{BB962C8B-B14F-4D97-AF65-F5344CB8AC3E}">
        <p14:creationId xmlns:p14="http://schemas.microsoft.com/office/powerpoint/2010/main" val="2693560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Soporte para instrucciones de Salto</a:t>
            </a:r>
            <a:endParaRPr lang="ca-ES" dirty="0"/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838200"/>
            <a:ext cx="8250237" cy="5256212"/>
          </a:xfrm>
        </p:spPr>
        <p:txBody>
          <a:bodyPr/>
          <a:lstStyle/>
          <a:p>
            <a:r>
              <a:rPr lang="es-ES" dirty="0"/>
              <a:t>Instrucciones de salto condicional en el RISC-V</a:t>
            </a:r>
          </a:p>
          <a:p>
            <a:pPr lvl="1"/>
            <a:r>
              <a:rPr lang="es-ES" sz="1600" dirty="0"/>
              <a:t>Hay 6 instrucciones de salto condicional, todas con formato B (</a:t>
            </a: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opcode</a:t>
            </a:r>
            <a:r>
              <a:rPr lang="es-ES" sz="1600" dirty="0"/>
              <a:t>=</a:t>
            </a:r>
            <a:r>
              <a:rPr lang="es-ES" sz="1600" dirty="0">
                <a:latin typeface="Arial Narrow"/>
                <a:cs typeface="Arial Narrow"/>
              </a:rPr>
              <a:t>1100011)</a:t>
            </a:r>
            <a:endParaRPr lang="es-ES" sz="1600" dirty="0"/>
          </a:p>
          <a:p>
            <a:pPr lvl="1"/>
            <a:r>
              <a:rPr lang="es-ES" sz="1600" dirty="0"/>
              <a:t>Direccionamiento relativo al PC</a:t>
            </a:r>
          </a:p>
          <a:p>
            <a:pPr lvl="2"/>
            <a:r>
              <a:rPr lang="es-ES" dirty="0"/>
              <a:t>Como distancia de salto, se codifica (en complemento a 2) el número de medias palabras entre la instrucción actual y la instrucción de destino del salto</a:t>
            </a:r>
          </a:p>
        </p:txBody>
      </p:sp>
      <p:sp>
        <p:nvSpPr>
          <p:cNvPr id="10243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E96D5-4378-5E4E-A4FB-7296C4FF8EC7}" type="slidenum">
              <a:rPr lang="en-US" smtClean="0"/>
              <a:pPr/>
              <a:t>19</a:t>
            </a:fld>
            <a:endParaRPr lang="en-US"/>
          </a:p>
        </p:txBody>
      </p:sp>
      <p:grpSp>
        <p:nvGrpSpPr>
          <p:cNvPr id="6" name="Group 52"/>
          <p:cNvGrpSpPr>
            <a:grpSpLocks/>
          </p:cNvGrpSpPr>
          <p:nvPr/>
        </p:nvGrpSpPr>
        <p:grpSpPr bwMode="auto">
          <a:xfrm>
            <a:off x="539552" y="4076703"/>
            <a:ext cx="4431247" cy="1281113"/>
            <a:chOff x="2592" y="1656"/>
            <a:chExt cx="2980" cy="807"/>
          </a:xfrm>
        </p:grpSpPr>
        <p:sp>
          <p:nvSpPr>
            <p:cNvPr id="10248" name="Text Box 53"/>
            <p:cNvSpPr txBox="1">
              <a:spLocks noChangeArrowheads="1"/>
            </p:cNvSpPr>
            <p:nvPr/>
          </p:nvSpPr>
          <p:spPr bwMode="blackWhite">
            <a:xfrm>
              <a:off x="2592" y="1656"/>
              <a:ext cx="2980" cy="80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>
              <a:prstTxWarp prst="textNoShape">
                <a:avLst/>
              </a:prstTxWarp>
              <a:spAutoFit/>
            </a:bodyPr>
            <a:lstStyle/>
            <a:p>
              <a:pPr algn="l" eaLnBrk="0" hangingPunct="0">
                <a:tabLst>
                  <a:tab pos="3238500" algn="ctr"/>
                </a:tabLst>
              </a:pPr>
              <a:r>
                <a:rPr lang="es-ES" sz="1600" b="0" dirty="0"/>
                <a:t>  instrucción.            condición de salto    </a:t>
              </a:r>
              <a:r>
                <a:rPr lang="es-ES" sz="1600" b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funct3</a:t>
              </a:r>
            </a:p>
            <a:p>
              <a:pPr algn="l" eaLnBrk="0" hangingPunct="0">
                <a:lnSpc>
                  <a:spcPct val="130000"/>
                </a:lnSpc>
                <a:tabLst>
                  <a:tab pos="3238500" algn="ctr"/>
                </a:tabLst>
              </a:pPr>
              <a:r>
                <a:rPr lang="es-ES" sz="1600" i="1" dirty="0">
                  <a:solidFill>
                    <a:schemeClr val="tx1"/>
                  </a:solidFill>
                  <a:latin typeface="Courier New" pitchFamily="-84" charset="0"/>
                </a:rPr>
                <a:t> </a:t>
              </a:r>
              <a:r>
                <a:rPr lang="es-ES" sz="12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beq</a:t>
              </a:r>
              <a:r>
                <a:rPr lang="es-ES" sz="12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rs1,rs2,etiq     </a:t>
              </a:r>
              <a:r>
                <a:rPr lang="es-ES" sz="1200" b="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rs1==rs2          000</a:t>
              </a:r>
            </a:p>
            <a:p>
              <a:pPr algn="l">
                <a:tabLst>
                  <a:tab pos="3238500" algn="ctr"/>
                </a:tabLst>
              </a:pPr>
              <a:r>
                <a:rPr lang="es-ES" sz="12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s-ES" sz="12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bne</a:t>
              </a:r>
              <a:r>
                <a:rPr lang="es-ES" sz="12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rs1,rs2,etiq     rs1!=rs2          001 </a:t>
              </a:r>
              <a:endParaRPr lang="es-ES" sz="1200" b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l">
                <a:tabLst>
                  <a:tab pos="3238500" algn="ctr"/>
                </a:tabLst>
              </a:pPr>
              <a:r>
                <a:rPr lang="es-ES" sz="12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s-ES" sz="12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blt</a:t>
              </a:r>
              <a:r>
                <a:rPr lang="es-ES" sz="12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* rs1,rs2,etiq     rs1&lt;rs2          100</a:t>
              </a:r>
              <a:endParaRPr lang="es-ES" sz="1200" b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l">
                <a:tabLst>
                  <a:tab pos="3238500" algn="ctr"/>
                </a:tabLst>
              </a:pPr>
              <a:r>
                <a:rPr lang="es-ES" sz="12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s-ES" sz="12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bge</a:t>
              </a:r>
              <a:r>
                <a:rPr lang="es-ES" sz="12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* rs1,rs2,etiq     rs1&gt;=rs2         101 </a:t>
              </a:r>
              <a:endParaRPr lang="es-ES" sz="1200" b="0" dirty="0">
                <a:solidFill>
                  <a:schemeClr val="tx1"/>
                </a:solidFill>
              </a:endParaRPr>
            </a:p>
          </p:txBody>
        </p:sp>
        <p:sp>
          <p:nvSpPr>
            <p:cNvPr id="10249" name="Line 54"/>
            <p:cNvSpPr>
              <a:spLocks noChangeShapeType="1"/>
            </p:cNvSpPr>
            <p:nvPr/>
          </p:nvSpPr>
          <p:spPr bwMode="blackWhite">
            <a:xfrm>
              <a:off x="2592" y="1864"/>
              <a:ext cx="2962" cy="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</p:grpSp>
      <p:sp>
        <p:nvSpPr>
          <p:cNvPr id="57" name="CuadroTexto 56"/>
          <p:cNvSpPr txBox="1"/>
          <p:nvPr/>
        </p:nvSpPr>
        <p:spPr>
          <a:xfrm>
            <a:off x="5292080" y="4077072"/>
            <a:ext cx="3148619" cy="185897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	.text 0x00400000</a:t>
            </a:r>
          </a:p>
          <a:p>
            <a:pPr algn="l"/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	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beq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t0, zero, 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etiq</a:t>
            </a:r>
            <a:endParaRPr lang="en-US" sz="1400" dirty="0">
              <a:solidFill>
                <a:schemeClr val="accent1">
                  <a:lumMod val="75000"/>
                </a:schemeClr>
              </a:solidFill>
              <a:latin typeface="Courier New"/>
              <a:cs typeface="Courier New"/>
            </a:endParaRPr>
          </a:p>
          <a:p>
            <a:pPr algn="l"/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	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sll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t3, t2, 3</a:t>
            </a:r>
          </a:p>
          <a:p>
            <a:pPr algn="l"/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	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xor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t4, zero, zero</a:t>
            </a:r>
          </a:p>
          <a:p>
            <a:pPr algn="l"/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	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ori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t4, t3, t1</a:t>
            </a:r>
          </a:p>
          <a:p>
            <a:pPr algn="l"/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etiq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:	add t0, zero, zero</a:t>
            </a:r>
          </a:p>
          <a:p>
            <a:pPr algn="l"/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	.end</a:t>
            </a:r>
          </a:p>
        </p:txBody>
      </p:sp>
      <p:sp>
        <p:nvSpPr>
          <p:cNvPr id="58" name="Llamada ovalada 57"/>
          <p:cNvSpPr/>
          <p:nvPr/>
        </p:nvSpPr>
        <p:spPr bwMode="auto">
          <a:xfrm rot="16200000">
            <a:off x="7961312" y="4648200"/>
            <a:ext cx="1752600" cy="685800"/>
          </a:xfrm>
          <a:prstGeom prst="wedgeEllipseCallout">
            <a:avLst>
              <a:gd name="adj1" fmla="val 24136"/>
              <a:gd name="adj2" fmla="val -88357"/>
            </a:avLst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Codifica un +8 en inmediato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971A42D-5E82-8B40-C73B-5D4ACC8BBF46}"/>
              </a:ext>
            </a:extLst>
          </p:cNvPr>
          <p:cNvSpPr txBox="1"/>
          <p:nvPr/>
        </p:nvSpPr>
        <p:spPr>
          <a:xfrm>
            <a:off x="4707661" y="6146515"/>
            <a:ext cx="436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800" dirty="0">
                <a:solidFill>
                  <a:schemeClr val="accent1">
                    <a:lumMod val="75000"/>
                  </a:schemeClr>
                </a:solidFill>
              </a:rPr>
              <a:t>Inmediato = (dirección salto – PC)/2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143B7BF1-C39F-1F7D-A72E-C570D8476854}"/>
              </a:ext>
            </a:extLst>
          </p:cNvPr>
          <p:cNvGrpSpPr/>
          <p:nvPr/>
        </p:nvGrpSpPr>
        <p:grpSpPr>
          <a:xfrm>
            <a:off x="4572000" y="3068960"/>
            <a:ext cx="4485481" cy="832186"/>
            <a:chOff x="3109309" y="5917230"/>
            <a:chExt cx="3345284" cy="802351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A9E9834F-A007-3223-6C4F-6E1C312F42C3}"/>
                </a:ext>
              </a:extLst>
            </p:cNvPr>
            <p:cNvGrpSpPr/>
            <p:nvPr/>
          </p:nvGrpSpPr>
          <p:grpSpPr>
            <a:xfrm>
              <a:off x="3109309" y="5917230"/>
              <a:ext cx="3345284" cy="802351"/>
              <a:chOff x="3109309" y="5917230"/>
              <a:chExt cx="3345284" cy="802351"/>
            </a:xfrm>
          </p:grpSpPr>
          <p:grpSp>
            <p:nvGrpSpPr>
              <p:cNvPr id="12" name="Group 9">
                <a:extLst>
                  <a:ext uri="{FF2B5EF4-FFF2-40B4-BE49-F238E27FC236}">
                    <a16:creationId xmlns:a16="http://schemas.microsoft.com/office/drawing/2014/main" id="{2AF7C871-9FAA-9D67-B0B0-209CC50B4E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9309" y="5917230"/>
                <a:ext cx="3345284" cy="802351"/>
                <a:chOff x="143" y="692"/>
                <a:chExt cx="2545" cy="480"/>
              </a:xfrm>
            </p:grpSpPr>
            <p:sp>
              <p:nvSpPr>
                <p:cNvPr id="14" name="Rectangle 10">
                  <a:extLst>
                    <a:ext uri="{FF2B5EF4-FFF2-40B4-BE49-F238E27FC236}">
                      <a16:creationId xmlns:a16="http://schemas.microsoft.com/office/drawing/2014/main" id="{A3F7BE52-249C-DB6A-DC9E-3926D12DEE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4" y="692"/>
                  <a:ext cx="2544" cy="48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200" dirty="0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15" name="Group 155">
                  <a:extLst>
                    <a:ext uri="{FF2B5EF4-FFF2-40B4-BE49-F238E27FC236}">
                      <a16:creationId xmlns:a16="http://schemas.microsoft.com/office/drawing/2014/main" id="{9279F2C9-5EE6-18BD-A222-2A73ED001D1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3" y="746"/>
                  <a:ext cx="2482" cy="422"/>
                  <a:chOff x="1168" y="1261"/>
                  <a:chExt cx="3200" cy="692"/>
                </a:xfrm>
              </p:grpSpPr>
              <p:grpSp>
                <p:nvGrpSpPr>
                  <p:cNvPr id="16" name="Group 5">
                    <a:extLst>
                      <a:ext uri="{FF2B5EF4-FFF2-40B4-BE49-F238E27FC236}">
                        <a16:creationId xmlns:a16="http://schemas.microsoft.com/office/drawing/2014/main" id="{CB5FE3E4-680A-17C0-DAA6-3428EDEE2CD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70" y="1273"/>
                    <a:ext cx="3050" cy="369"/>
                    <a:chOff x="982" y="1263"/>
                    <a:chExt cx="3050" cy="369"/>
                  </a:xfrm>
                </p:grpSpPr>
                <p:sp>
                  <p:nvSpPr>
                    <p:cNvPr id="34" name="Rectangle 6">
                      <a:extLst>
                        <a:ext uri="{FF2B5EF4-FFF2-40B4-BE49-F238E27FC236}">
                          <a16:creationId xmlns:a16="http://schemas.microsoft.com/office/drawing/2014/main" id="{76970746-E098-4076-BABD-FD5250CF284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982" y="1263"/>
                      <a:ext cx="3050" cy="369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200" b="1">
                        <a:solidFill>
                          <a:srgbClr val="4F271C"/>
                        </a:solidFill>
                      </a:endParaRPr>
                    </a:p>
                  </p:txBody>
                </p:sp>
                <p:grpSp>
                  <p:nvGrpSpPr>
                    <p:cNvPr id="35" name="Group 7">
                      <a:extLst>
                        <a:ext uri="{FF2B5EF4-FFF2-40B4-BE49-F238E27FC236}">
                          <a16:creationId xmlns:a16="http://schemas.microsoft.com/office/drawing/2014/main" id="{EE669549-D76D-0D37-58FF-68B1D5BA483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52" y="1536"/>
                      <a:ext cx="2784" cy="96"/>
                      <a:chOff x="1152" y="1536"/>
                      <a:chExt cx="2784" cy="96"/>
                    </a:xfrm>
                  </p:grpSpPr>
                  <p:sp>
                    <p:nvSpPr>
                      <p:cNvPr id="36" name="Line 9">
                        <a:extLst>
                          <a:ext uri="{FF2B5EF4-FFF2-40B4-BE49-F238E27FC236}">
                            <a16:creationId xmlns:a16="http://schemas.microsoft.com/office/drawing/2014/main" id="{5D6BDFC2-EC50-13D3-C5AB-22DCE5260F0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1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7" name="Line 10">
                        <a:extLst>
                          <a:ext uri="{FF2B5EF4-FFF2-40B4-BE49-F238E27FC236}">
                            <a16:creationId xmlns:a16="http://schemas.microsoft.com/office/drawing/2014/main" id="{5DB231E1-653D-A7F9-E632-9597C4B7445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2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8" name="Line 11">
                        <a:extLst>
                          <a:ext uri="{FF2B5EF4-FFF2-40B4-BE49-F238E27FC236}">
                            <a16:creationId xmlns:a16="http://schemas.microsoft.com/office/drawing/2014/main" id="{285529B9-B9C5-AB81-F820-3DC21F1A925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3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9" name="Line 12">
                        <a:extLst>
                          <a:ext uri="{FF2B5EF4-FFF2-40B4-BE49-F238E27FC236}">
                            <a16:creationId xmlns:a16="http://schemas.microsoft.com/office/drawing/2014/main" id="{8B7D72FD-F950-077D-F7F3-8DD1348BF75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4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0" name="Line 13">
                        <a:extLst>
                          <a:ext uri="{FF2B5EF4-FFF2-40B4-BE49-F238E27FC236}">
                            <a16:creationId xmlns:a16="http://schemas.microsoft.com/office/drawing/2014/main" id="{07F16BD4-B9F5-595E-8CEF-43FC7DB520D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5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1" name="Line 14">
                        <a:extLst>
                          <a:ext uri="{FF2B5EF4-FFF2-40B4-BE49-F238E27FC236}">
                            <a16:creationId xmlns:a16="http://schemas.microsoft.com/office/drawing/2014/main" id="{71052A78-BCD5-5132-DCE2-D406502BD58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3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2" name="Line 15">
                        <a:extLst>
                          <a:ext uri="{FF2B5EF4-FFF2-40B4-BE49-F238E27FC236}">
                            <a16:creationId xmlns:a16="http://schemas.microsoft.com/office/drawing/2014/main" id="{EE057EE9-AF89-63B7-202A-D74548639DA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72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3" name="Line 16">
                        <a:extLst>
                          <a:ext uri="{FF2B5EF4-FFF2-40B4-BE49-F238E27FC236}">
                            <a16:creationId xmlns:a16="http://schemas.microsoft.com/office/drawing/2014/main" id="{35147D86-350D-931D-E740-4392E98CBC0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82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4" name="Line 17">
                        <a:extLst>
                          <a:ext uri="{FF2B5EF4-FFF2-40B4-BE49-F238E27FC236}">
                            <a16:creationId xmlns:a16="http://schemas.microsoft.com/office/drawing/2014/main" id="{942EC5E4-C134-F9F2-BF72-2F15DA0897B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92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5" name="Line 18">
                        <a:extLst>
                          <a:ext uri="{FF2B5EF4-FFF2-40B4-BE49-F238E27FC236}">
                            <a16:creationId xmlns:a16="http://schemas.microsoft.com/office/drawing/2014/main" id="{F2DBD438-AF32-4EC4-F59C-6EFF337DA78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01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6" name="Line 19">
                        <a:extLst>
                          <a:ext uri="{FF2B5EF4-FFF2-40B4-BE49-F238E27FC236}">
                            <a16:creationId xmlns:a16="http://schemas.microsoft.com/office/drawing/2014/main" id="{50C3CF08-E698-A9C1-F9A4-0CCDF5D006A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11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7" name="Line 20">
                        <a:extLst>
                          <a:ext uri="{FF2B5EF4-FFF2-40B4-BE49-F238E27FC236}">
                            <a16:creationId xmlns:a16="http://schemas.microsoft.com/office/drawing/2014/main" id="{0E409108-836D-8EAE-740B-3AB1401585B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20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8" name="Line 21">
                        <a:extLst>
                          <a:ext uri="{FF2B5EF4-FFF2-40B4-BE49-F238E27FC236}">
                            <a16:creationId xmlns:a16="http://schemas.microsoft.com/office/drawing/2014/main" id="{00E77309-35DC-4AC6-604E-B58539078BA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30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9" name="Line 22">
                        <a:extLst>
                          <a:ext uri="{FF2B5EF4-FFF2-40B4-BE49-F238E27FC236}">
                            <a16:creationId xmlns:a16="http://schemas.microsoft.com/office/drawing/2014/main" id="{F9100C5F-87CC-5899-164D-75FE237FA17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0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0" name="Line 23">
                        <a:extLst>
                          <a:ext uri="{FF2B5EF4-FFF2-40B4-BE49-F238E27FC236}">
                            <a16:creationId xmlns:a16="http://schemas.microsoft.com/office/drawing/2014/main" id="{CCC66832-E1A5-8811-EE6E-283150C40F3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9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1" name="Line 24">
                        <a:extLst>
                          <a:ext uri="{FF2B5EF4-FFF2-40B4-BE49-F238E27FC236}">
                            <a16:creationId xmlns:a16="http://schemas.microsoft.com/office/drawing/2014/main" id="{23EA1920-1AEC-09BD-C926-3D536560048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9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2" name="Line 25">
                        <a:extLst>
                          <a:ext uri="{FF2B5EF4-FFF2-40B4-BE49-F238E27FC236}">
                            <a16:creationId xmlns:a16="http://schemas.microsoft.com/office/drawing/2014/main" id="{2531B52A-A41E-3F09-41BC-AB886BACC71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68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3" name="Line 26">
                        <a:extLst>
                          <a:ext uri="{FF2B5EF4-FFF2-40B4-BE49-F238E27FC236}">
                            <a16:creationId xmlns:a16="http://schemas.microsoft.com/office/drawing/2014/main" id="{13CF44C7-5BBF-5E83-066F-6CFF2D1A054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78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4" name="Line 27">
                        <a:extLst>
                          <a:ext uri="{FF2B5EF4-FFF2-40B4-BE49-F238E27FC236}">
                            <a16:creationId xmlns:a16="http://schemas.microsoft.com/office/drawing/2014/main" id="{3821DDE1-7C8A-BEFA-95AE-41F57C5EE31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88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5" name="Line 28">
                        <a:extLst>
                          <a:ext uri="{FF2B5EF4-FFF2-40B4-BE49-F238E27FC236}">
                            <a16:creationId xmlns:a16="http://schemas.microsoft.com/office/drawing/2014/main" id="{553AA2AA-2702-9A71-49EC-65BE60E892E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7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6" name="Line 29">
                        <a:extLst>
                          <a:ext uri="{FF2B5EF4-FFF2-40B4-BE49-F238E27FC236}">
                            <a16:creationId xmlns:a16="http://schemas.microsoft.com/office/drawing/2014/main" id="{BD10252C-8ABF-8425-2B5D-5D9880D691E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07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9" name="Line 30">
                        <a:extLst>
                          <a:ext uri="{FF2B5EF4-FFF2-40B4-BE49-F238E27FC236}">
                            <a16:creationId xmlns:a16="http://schemas.microsoft.com/office/drawing/2014/main" id="{E480DF72-8483-57EE-092D-7A193A90944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16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0" name="Line 31">
                        <a:extLst>
                          <a:ext uri="{FF2B5EF4-FFF2-40B4-BE49-F238E27FC236}">
                            <a16:creationId xmlns:a16="http://schemas.microsoft.com/office/drawing/2014/main" id="{986A99C7-0F72-8DE2-D74E-4665B4B5056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26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1" name="Line 32">
                        <a:extLst>
                          <a:ext uri="{FF2B5EF4-FFF2-40B4-BE49-F238E27FC236}">
                            <a16:creationId xmlns:a16="http://schemas.microsoft.com/office/drawing/2014/main" id="{FB84D4DC-F44F-5A00-1D9F-24C8F36155B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36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2" name="Line 33">
                        <a:extLst>
                          <a:ext uri="{FF2B5EF4-FFF2-40B4-BE49-F238E27FC236}">
                            <a16:creationId xmlns:a16="http://schemas.microsoft.com/office/drawing/2014/main" id="{C400D330-5487-9050-D79E-CEE8B0C3C59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45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3" name="Line 34">
                        <a:extLst>
                          <a:ext uri="{FF2B5EF4-FFF2-40B4-BE49-F238E27FC236}">
                            <a16:creationId xmlns:a16="http://schemas.microsoft.com/office/drawing/2014/main" id="{C732506B-89CA-D62F-AFF4-81D56489550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5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240" name="Line 35">
                        <a:extLst>
                          <a:ext uri="{FF2B5EF4-FFF2-40B4-BE49-F238E27FC236}">
                            <a16:creationId xmlns:a16="http://schemas.microsoft.com/office/drawing/2014/main" id="{C45DDFD0-E2CC-AB3D-1B9A-2113D8D09E3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6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241" name="Line 36">
                        <a:extLst>
                          <a:ext uri="{FF2B5EF4-FFF2-40B4-BE49-F238E27FC236}">
                            <a16:creationId xmlns:a16="http://schemas.microsoft.com/office/drawing/2014/main" id="{9D7D7465-1A78-A3C5-F838-71D4CC74497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7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246" name="Line 37">
                        <a:extLst>
                          <a:ext uri="{FF2B5EF4-FFF2-40B4-BE49-F238E27FC236}">
                            <a16:creationId xmlns:a16="http://schemas.microsoft.com/office/drawing/2014/main" id="{DFF2141F-9B8B-79E1-5963-BE709D70996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8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247" name="Line 38">
                        <a:extLst>
                          <a:ext uri="{FF2B5EF4-FFF2-40B4-BE49-F238E27FC236}">
                            <a16:creationId xmlns:a16="http://schemas.microsoft.com/office/drawing/2014/main" id="{FC8F514A-DF90-DA14-ABFC-C6C24022E20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9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sp>
                <p:nvSpPr>
                  <p:cNvPr id="17" name="Line 39">
                    <a:extLst>
                      <a:ext uri="{FF2B5EF4-FFF2-40B4-BE49-F238E27FC236}">
                        <a16:creationId xmlns:a16="http://schemas.microsoft.com/office/drawing/2014/main" id="{910FE7F4-462D-57BB-E96E-5049F79966C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1920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2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8" name="Text Box 40">
                    <a:extLst>
                      <a:ext uri="{FF2B5EF4-FFF2-40B4-BE49-F238E27FC236}">
                        <a16:creationId xmlns:a16="http://schemas.microsoft.com/office/drawing/2014/main" id="{DF9D2642-ED0C-01EB-C6C0-889AF09E0512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201" y="1329"/>
                    <a:ext cx="837" cy="23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000" dirty="0" err="1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inm</a:t>
                    </a:r>
                    <a:r>
                      <a:rPr lang="es-ES" sz="10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[12|10:5]</a:t>
                    </a:r>
                    <a:endParaRPr lang="ca-ES" sz="10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19" name="Text Box 41">
                    <a:extLst>
                      <a:ext uri="{FF2B5EF4-FFF2-40B4-BE49-F238E27FC236}">
                        <a16:creationId xmlns:a16="http://schemas.microsoft.com/office/drawing/2014/main" id="{16BA9A69-8F04-AE7E-C942-15A502A53C9E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751" y="1261"/>
                    <a:ext cx="543" cy="23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0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funct3</a:t>
                    </a:r>
                    <a:endParaRPr lang="ca-ES" sz="10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0" name="Line 42">
                    <a:extLst>
                      <a:ext uri="{FF2B5EF4-FFF2-40B4-BE49-F238E27FC236}">
                        <a16:creationId xmlns:a16="http://schemas.microsoft.com/office/drawing/2014/main" id="{4FFBAA7F-3F7E-123A-EB14-E6CC950BD25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404" y="1302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2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1" name="Line 43">
                    <a:extLst>
                      <a:ext uri="{FF2B5EF4-FFF2-40B4-BE49-F238E27FC236}">
                        <a16:creationId xmlns:a16="http://schemas.microsoft.com/office/drawing/2014/main" id="{F5D3450B-D6E5-4730-6633-9114E860F38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880" y="1316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2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2" name="Line 44">
                    <a:extLst>
                      <a:ext uri="{FF2B5EF4-FFF2-40B4-BE49-F238E27FC236}">
                        <a16:creationId xmlns:a16="http://schemas.microsoft.com/office/drawing/2014/main" id="{90ED9644-1EA4-8541-5FDF-5583E9D897C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651" y="1304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2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3" name="Text Box 45">
                    <a:extLst>
                      <a:ext uri="{FF2B5EF4-FFF2-40B4-BE49-F238E27FC236}">
                        <a16:creationId xmlns:a16="http://schemas.microsoft.com/office/drawing/2014/main" id="{E900D4E5-6B88-9A12-8FDE-8A6A050E8235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942" y="1324"/>
                    <a:ext cx="451" cy="23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0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rs2</a:t>
                    </a:r>
                    <a:endParaRPr lang="ca-ES" sz="105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4" name="Text Box 46">
                    <a:extLst>
                      <a:ext uri="{FF2B5EF4-FFF2-40B4-BE49-F238E27FC236}">
                        <a16:creationId xmlns:a16="http://schemas.microsoft.com/office/drawing/2014/main" id="{B172506E-1E34-0225-AB25-0E411AC64DB5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445" y="1324"/>
                    <a:ext cx="399" cy="23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0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rs1</a:t>
                    </a:r>
                    <a:endParaRPr lang="ca-ES" sz="10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5" name="Text Box 47">
                    <a:extLst>
                      <a:ext uri="{FF2B5EF4-FFF2-40B4-BE49-F238E27FC236}">
                        <a16:creationId xmlns:a16="http://schemas.microsoft.com/office/drawing/2014/main" id="{D992B965-A2BB-58DD-588B-E1F69990A9C1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3658" y="1329"/>
                    <a:ext cx="662" cy="23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000" dirty="0" err="1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opcode</a:t>
                    </a:r>
                    <a:endParaRPr lang="ca-ES" sz="10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6" name="Text Box 48">
                    <a:extLst>
                      <a:ext uri="{FF2B5EF4-FFF2-40B4-BE49-F238E27FC236}">
                        <a16:creationId xmlns:a16="http://schemas.microsoft.com/office/drawing/2014/main" id="{17769339-E246-C3B7-3F68-91E1499CB18B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168" y="1607"/>
                    <a:ext cx="292" cy="20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800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31</a:t>
                    </a:r>
                    <a:endParaRPr lang="ca-ES" sz="800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7" name="Text Box 49">
                    <a:extLst>
                      <a:ext uri="{FF2B5EF4-FFF2-40B4-BE49-F238E27FC236}">
                        <a16:creationId xmlns:a16="http://schemas.microsoft.com/office/drawing/2014/main" id="{0BF193A5-FA9B-6499-DE2E-7CB2426E807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808" y="1608"/>
                    <a:ext cx="227" cy="343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800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2 2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800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800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8" name="Text Box 50">
                    <a:extLst>
                      <a:ext uri="{FF2B5EF4-FFF2-40B4-BE49-F238E27FC236}">
                        <a16:creationId xmlns:a16="http://schemas.microsoft.com/office/drawing/2014/main" id="{15452340-30C5-90F2-4666-6DA68B3DA687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291" y="1610"/>
                    <a:ext cx="227" cy="343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800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800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0 9</a:t>
                    </a:r>
                    <a:endParaRPr lang="ca-ES" sz="800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9" name="Text Box 51">
                    <a:extLst>
                      <a:ext uri="{FF2B5EF4-FFF2-40B4-BE49-F238E27FC236}">
                        <a16:creationId xmlns:a16="http://schemas.microsoft.com/office/drawing/2014/main" id="{69EDC18A-057E-5F14-2604-12DC72B0DEC3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773" y="1610"/>
                    <a:ext cx="227" cy="343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800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800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800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0" name="Text Box 52">
                    <a:extLst>
                      <a:ext uri="{FF2B5EF4-FFF2-40B4-BE49-F238E27FC236}">
                        <a16:creationId xmlns:a16="http://schemas.microsoft.com/office/drawing/2014/main" id="{19195CE3-045E-D01F-C69A-58C0844DCB72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3534" y="1607"/>
                    <a:ext cx="227" cy="20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800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7 6</a:t>
                    </a:r>
                    <a:endParaRPr lang="ca-ES" sz="800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1" name="Text Box 53">
                    <a:extLst>
                      <a:ext uri="{FF2B5EF4-FFF2-40B4-BE49-F238E27FC236}">
                        <a16:creationId xmlns:a16="http://schemas.microsoft.com/office/drawing/2014/main" id="{A54AAFEE-89D1-A8AC-D4AF-E608D35B5AB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95" y="1612"/>
                    <a:ext cx="173" cy="20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800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</a:t>
                    </a:r>
                    <a:endParaRPr lang="ca-ES" sz="800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2" name="Line 153">
                    <a:extLst>
                      <a:ext uri="{FF2B5EF4-FFF2-40B4-BE49-F238E27FC236}">
                        <a16:creationId xmlns:a16="http://schemas.microsoft.com/office/drawing/2014/main" id="{19192D8F-3C92-9226-E082-F1D5A2BF29B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166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2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3" name="Text Box 154">
                    <a:extLst>
                      <a:ext uri="{FF2B5EF4-FFF2-40B4-BE49-F238E27FC236}">
                        <a16:creationId xmlns:a16="http://schemas.microsoft.com/office/drawing/2014/main" id="{2BC26AF2-2E85-ABDC-8ABA-683FDD639ABF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966" y="1603"/>
                    <a:ext cx="403" cy="343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800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800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  <a:endParaRPr lang="ca-ES" sz="800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</p:grpSp>
          </p:grpSp>
          <p:sp>
            <p:nvSpPr>
              <p:cNvPr id="13" name="Text Box 41">
                <a:extLst>
                  <a:ext uri="{FF2B5EF4-FFF2-40B4-BE49-F238E27FC236}">
                    <a16:creationId xmlns:a16="http://schemas.microsoft.com/office/drawing/2014/main" id="{D9809460-43C9-C835-B369-E4B81DB6C43C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040778" y="6176929"/>
                <a:ext cx="737522" cy="2225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" sz="900" dirty="0" err="1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inm</a:t>
                </a:r>
                <a:r>
                  <a:rPr lang="es-ES" sz="9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[4:1|11]</a:t>
                </a:r>
                <a:endParaRPr lang="ca-ES" sz="8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D90953E7-4296-EBDD-2DFB-72916A7961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588" y="6303750"/>
              <a:ext cx="0" cy="9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US" sz="1200">
                <a:solidFill>
                  <a:prstClr val="black"/>
                </a:solidFill>
              </a:endParaRPr>
            </a:p>
          </p:txBody>
        </p:sp>
      </p:grpSp>
      <p:sp>
        <p:nvSpPr>
          <p:cNvPr id="10250" name="CuadroTexto 10249">
            <a:extLst>
              <a:ext uri="{FF2B5EF4-FFF2-40B4-BE49-F238E27FC236}">
                <a16:creationId xmlns:a16="http://schemas.microsoft.com/office/drawing/2014/main" id="{10F13070-D744-095B-AA73-D58FA78C77CB}"/>
              </a:ext>
            </a:extLst>
          </p:cNvPr>
          <p:cNvSpPr txBox="1"/>
          <p:nvPr/>
        </p:nvSpPr>
        <p:spPr>
          <a:xfrm>
            <a:off x="581290" y="5580206"/>
            <a:ext cx="3259226" cy="56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*Existen sendas versiones de </a:t>
            </a:r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blt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bge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l"/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para números sin signo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Cálculo de la dirección de Salto</a:t>
            </a:r>
            <a:endParaRPr lang="ca-ES" dirty="0"/>
          </a:p>
        </p:txBody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1" y="1144588"/>
            <a:ext cx="8401050" cy="2970212"/>
          </a:xfrm>
        </p:spPr>
        <p:txBody>
          <a:bodyPr/>
          <a:lstStyle/>
          <a:p>
            <a:r>
              <a:rPr lang="es-ES" dirty="0"/>
              <a:t>Hay que calcular la dirección absoluta de salto</a:t>
            </a:r>
          </a:p>
          <a:p>
            <a:pPr lvl="1"/>
            <a:r>
              <a:rPr lang="es-ES" dirty="0"/>
              <a:t>Dirección de salto = (PC) + 2 x </a:t>
            </a:r>
            <a:r>
              <a:rPr lang="es-ES" dirty="0" err="1"/>
              <a:t>ext_signo</a:t>
            </a:r>
            <a:r>
              <a:rPr lang="es-ES" dirty="0"/>
              <a:t>(inmediato)</a:t>
            </a:r>
          </a:p>
          <a:p>
            <a:pPr lvl="1"/>
            <a:r>
              <a:rPr lang="es-ES" dirty="0"/>
              <a:t>La suma se hace en la ALU, usando el inmediato proporcionado por el generador</a:t>
            </a:r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r>
              <a:rPr lang="es-ES" dirty="0"/>
              <a:t>Hay que transmitir el valor PC desde LI (pasando por DI) hasta EX</a:t>
            </a:r>
          </a:p>
          <a:p>
            <a:r>
              <a:rPr lang="es-ES" dirty="0"/>
              <a:t>Si la condición se cumple, la etapa M escribe la dirección del salto en el PC</a:t>
            </a:r>
          </a:p>
        </p:txBody>
      </p:sp>
      <p:sp>
        <p:nvSpPr>
          <p:cNvPr id="10342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5F56E-9C90-9042-8CBE-E7D30DFB52A6}" type="slidenum">
              <a:rPr lang="en-US" smtClean="0"/>
              <a:pPr/>
              <a:t>20</a:t>
            </a:fld>
            <a:endParaRPr lang="en-US"/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B2F1ECC1-093C-AB59-02F9-95D725E1C8DA}"/>
              </a:ext>
            </a:extLst>
          </p:cNvPr>
          <p:cNvCxnSpPr>
            <a:cxnSpLocks/>
          </p:cNvCxnSpPr>
          <p:nvPr/>
        </p:nvCxnSpPr>
        <p:spPr bwMode="auto">
          <a:xfrm>
            <a:off x="4328228" y="3653754"/>
            <a:ext cx="510146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296B5563-9AD4-D0A5-7993-597AB57A9C5C}"/>
              </a:ext>
            </a:extLst>
          </p:cNvPr>
          <p:cNvCxnSpPr>
            <a:cxnSpLocks/>
          </p:cNvCxnSpPr>
          <p:nvPr/>
        </p:nvCxnSpPr>
        <p:spPr bwMode="auto">
          <a:xfrm>
            <a:off x="2619502" y="3165705"/>
            <a:ext cx="516627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88ADF3A4-A893-247D-EFF5-2D366C0E5350}"/>
              </a:ext>
            </a:extLst>
          </p:cNvPr>
          <p:cNvCxnSpPr>
            <a:cxnSpLocks/>
          </p:cNvCxnSpPr>
          <p:nvPr/>
        </p:nvCxnSpPr>
        <p:spPr bwMode="auto">
          <a:xfrm>
            <a:off x="2619502" y="4166373"/>
            <a:ext cx="519606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A61B5E2F-D838-AE44-0E3E-DC1A7CFF4F36}"/>
              </a:ext>
            </a:extLst>
          </p:cNvPr>
          <p:cNvSpPr txBox="1"/>
          <p:nvPr/>
        </p:nvSpPr>
        <p:spPr>
          <a:xfrm>
            <a:off x="2099896" y="3034358"/>
            <a:ext cx="5196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i="1" dirty="0">
                <a:solidFill>
                  <a:schemeClr val="accent1">
                    <a:lumMod val="75000"/>
                  </a:schemeClr>
                </a:solidFill>
              </a:rPr>
              <a:t>PC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451CDBD-7998-42FE-F165-D074BF3EB42E}"/>
              </a:ext>
            </a:extLst>
          </p:cNvPr>
          <p:cNvSpPr txBox="1"/>
          <p:nvPr/>
        </p:nvSpPr>
        <p:spPr>
          <a:xfrm>
            <a:off x="4451774" y="4043262"/>
            <a:ext cx="7473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i="1" dirty="0">
                <a:solidFill>
                  <a:schemeClr val="accent1">
                    <a:lumMod val="75000"/>
                  </a:schemeClr>
                </a:solidFill>
              </a:rPr>
              <a:t>Inmediato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7FFF707-3438-4760-C72F-EF0BA47E7F6D}"/>
              </a:ext>
            </a:extLst>
          </p:cNvPr>
          <p:cNvSpPr txBox="1"/>
          <p:nvPr/>
        </p:nvSpPr>
        <p:spPr>
          <a:xfrm>
            <a:off x="4838374" y="3470785"/>
            <a:ext cx="8137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i="1" dirty="0">
                <a:solidFill>
                  <a:schemeClr val="accent1">
                    <a:lumMod val="75000"/>
                  </a:schemeClr>
                </a:solidFill>
              </a:rPr>
              <a:t>Dirección de salto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905FEA79-4990-74FD-3002-B45DB217EE17}"/>
              </a:ext>
            </a:extLst>
          </p:cNvPr>
          <p:cNvCxnSpPr>
            <a:cxnSpLocks/>
          </p:cNvCxnSpPr>
          <p:nvPr/>
        </p:nvCxnSpPr>
        <p:spPr bwMode="auto">
          <a:xfrm>
            <a:off x="2605100" y="3429174"/>
            <a:ext cx="516627" cy="3573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A8DD599-1C11-5E71-9315-F7BD9A9630F8}"/>
              </a:ext>
            </a:extLst>
          </p:cNvPr>
          <p:cNvCxnSpPr>
            <a:cxnSpLocks/>
          </p:cNvCxnSpPr>
          <p:nvPr/>
        </p:nvCxnSpPr>
        <p:spPr bwMode="auto">
          <a:xfrm>
            <a:off x="2605100" y="3839928"/>
            <a:ext cx="519606" cy="1512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C4A4D2BF-AA5C-9F90-358B-932ECFDEBEF3}"/>
              </a:ext>
            </a:extLst>
          </p:cNvPr>
          <p:cNvSpPr txBox="1"/>
          <p:nvPr/>
        </p:nvSpPr>
        <p:spPr>
          <a:xfrm>
            <a:off x="2242466" y="3304723"/>
            <a:ext cx="3593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i="1" dirty="0">
                <a:solidFill>
                  <a:schemeClr val="accent1">
                    <a:lumMod val="75000"/>
                  </a:schemeClr>
                </a:solidFill>
              </a:rPr>
              <a:t>rs1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31C65C3-2EA9-CFC7-D208-96F9A7D63758}"/>
              </a:ext>
            </a:extLst>
          </p:cNvPr>
          <p:cNvSpPr txBox="1"/>
          <p:nvPr/>
        </p:nvSpPr>
        <p:spPr>
          <a:xfrm>
            <a:off x="2242466" y="3716817"/>
            <a:ext cx="3593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i="1" dirty="0">
                <a:solidFill>
                  <a:schemeClr val="accent1">
                    <a:lumMod val="75000"/>
                  </a:schemeClr>
                </a:solidFill>
              </a:rPr>
              <a:t>rs2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1EC3F32-95B5-222C-2D15-F973D8D35377}"/>
              </a:ext>
            </a:extLst>
          </p:cNvPr>
          <p:cNvSpPr/>
          <p:nvPr/>
        </p:nvSpPr>
        <p:spPr bwMode="auto">
          <a:xfrm rot="16200000">
            <a:off x="2962771" y="3877364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5F176D81-7F33-C43C-81E6-9854DAD94430}"/>
              </a:ext>
            </a:extLst>
          </p:cNvPr>
          <p:cNvCxnSpPr>
            <a:cxnSpLocks/>
            <a:stCxn id="12" idx="2"/>
          </p:cNvCxnSpPr>
          <p:nvPr/>
        </p:nvCxnSpPr>
        <p:spPr bwMode="auto">
          <a:xfrm>
            <a:off x="3397707" y="3991570"/>
            <a:ext cx="437123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87F06DF-AA71-8A2C-2855-B815E53AE0C6}"/>
              </a:ext>
            </a:extLst>
          </p:cNvPr>
          <p:cNvCxnSpPr>
            <a:cxnSpLocks/>
          </p:cNvCxnSpPr>
          <p:nvPr/>
        </p:nvCxnSpPr>
        <p:spPr bwMode="auto">
          <a:xfrm flipV="1">
            <a:off x="3287037" y="4312301"/>
            <a:ext cx="0" cy="173229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1705AB34-E037-E6F9-F87F-408AEA866E1A}"/>
              </a:ext>
            </a:extLst>
          </p:cNvPr>
          <p:cNvCxnSpPr/>
          <p:nvPr/>
        </p:nvCxnSpPr>
        <p:spPr bwMode="auto">
          <a:xfrm rot="5400000" flipH="1" flipV="1">
            <a:off x="4039053" y="4106732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037C2D7-143C-EFF8-A515-C6B2AEEAC56C}"/>
              </a:ext>
            </a:extLst>
          </p:cNvPr>
          <p:cNvSpPr txBox="1"/>
          <p:nvPr/>
        </p:nvSpPr>
        <p:spPr>
          <a:xfrm>
            <a:off x="3616266" y="4182696"/>
            <a:ext cx="714051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OpALU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B72322C-93B7-63BA-09CB-60FD02ACEA30}"/>
              </a:ext>
            </a:extLst>
          </p:cNvPr>
          <p:cNvSpPr txBox="1"/>
          <p:nvPr/>
        </p:nvSpPr>
        <p:spPr>
          <a:xfrm>
            <a:off x="2990053" y="4419124"/>
            <a:ext cx="482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MxB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18" name="Freeform 42">
            <a:extLst>
              <a:ext uri="{FF2B5EF4-FFF2-40B4-BE49-F238E27FC236}">
                <a16:creationId xmlns:a16="http://schemas.microsoft.com/office/drawing/2014/main" id="{1048EF8D-213E-1BC5-E841-9079812FF84B}"/>
              </a:ext>
            </a:extLst>
          </p:cNvPr>
          <p:cNvSpPr>
            <a:spLocks/>
          </p:cNvSpPr>
          <p:nvPr/>
        </p:nvSpPr>
        <p:spPr bwMode="blackWhite">
          <a:xfrm>
            <a:off x="3841310" y="3087142"/>
            <a:ext cx="494896" cy="1165488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pPr algn="ctr"/>
            <a:r>
              <a:rPr lang="es-ES" sz="1400" dirty="0"/>
              <a:t>ALU</a:t>
            </a:r>
            <a:endParaRPr lang="es-ES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5131601-BA22-80BC-B066-3FC93892C7C5}"/>
              </a:ext>
            </a:extLst>
          </p:cNvPr>
          <p:cNvSpPr/>
          <p:nvPr/>
        </p:nvSpPr>
        <p:spPr bwMode="auto">
          <a:xfrm rot="16200000">
            <a:off x="2958578" y="3186904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0DF8367C-372F-015C-89A7-ABCFCAF50383}"/>
              </a:ext>
            </a:extLst>
          </p:cNvPr>
          <p:cNvCxnSpPr>
            <a:cxnSpLocks/>
            <a:stCxn id="19" idx="2"/>
          </p:cNvCxnSpPr>
          <p:nvPr/>
        </p:nvCxnSpPr>
        <p:spPr bwMode="auto">
          <a:xfrm>
            <a:off x="3393514" y="3301110"/>
            <a:ext cx="454279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94010C7F-17EA-7C76-A48A-6CAFF8D54850}"/>
              </a:ext>
            </a:extLst>
          </p:cNvPr>
          <p:cNvCxnSpPr>
            <a:cxnSpLocks/>
            <a:endCxn id="19" idx="3"/>
          </p:cNvCxnSpPr>
          <p:nvPr/>
        </p:nvCxnSpPr>
        <p:spPr bwMode="auto">
          <a:xfrm flipH="1">
            <a:off x="3279308" y="2828060"/>
            <a:ext cx="8351" cy="152321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197FDBA-6BA1-A73A-D6A4-C7FDC29C6A22}"/>
              </a:ext>
            </a:extLst>
          </p:cNvPr>
          <p:cNvSpPr txBox="1"/>
          <p:nvPr/>
        </p:nvSpPr>
        <p:spPr>
          <a:xfrm>
            <a:off x="2974999" y="2575937"/>
            <a:ext cx="5084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MxA</a:t>
            </a:r>
            <a:endParaRPr lang="es-ES" sz="1200" b="1" dirty="0">
              <a:solidFill>
                <a:srgbClr val="FF66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Evaluación de la condición de Salto</a:t>
            </a:r>
            <a:endParaRPr lang="ca-ES" dirty="0"/>
          </a:p>
        </p:txBody>
      </p:sp>
      <p:sp>
        <p:nvSpPr>
          <p:cNvPr id="112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914400"/>
            <a:ext cx="8250237" cy="2514600"/>
          </a:xfrm>
        </p:spPr>
        <p:txBody>
          <a:bodyPr/>
          <a:lstStyle/>
          <a:p>
            <a:r>
              <a:rPr lang="es-ES" dirty="0"/>
              <a:t>Evaluación de la condición</a:t>
            </a:r>
          </a:p>
          <a:p>
            <a:pPr lvl="1"/>
            <a:r>
              <a:rPr lang="es-ES" dirty="0"/>
              <a:t>La unidad de salto (Branch) resta los valores de los registros 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rs1</a:t>
            </a:r>
            <a:r>
              <a:rPr lang="es-ES" dirty="0"/>
              <a:t> y 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rs2</a:t>
            </a:r>
            <a:r>
              <a:rPr lang="es-ES" dirty="0"/>
              <a:t>, en los registros T y S de ID/EX</a:t>
            </a:r>
          </a:p>
          <a:p>
            <a:pPr lvl="1"/>
            <a:r>
              <a:rPr lang="es-ES" dirty="0"/>
              <a:t>En función de si el resultado es cero o no (Z), de su signo (S), y del tipo de salto (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funct3</a:t>
            </a:r>
            <a:r>
              <a:rPr lang="es-ES" dirty="0"/>
              <a:t>), determina la condición (salto/no salto)</a:t>
            </a:r>
          </a:p>
        </p:txBody>
      </p:sp>
      <p:sp>
        <p:nvSpPr>
          <p:cNvPr id="11270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E7A76-4F7C-A04F-90B7-B539AB96CD1D}" type="slidenum">
              <a:rPr lang="en-US" smtClean="0"/>
              <a:pPr/>
              <a:t>21</a:t>
            </a:fld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524000" y="4732378"/>
            <a:ext cx="6477000" cy="1878013"/>
            <a:chOff x="816" y="2208"/>
            <a:chExt cx="4080" cy="1183"/>
          </a:xfrm>
        </p:grpSpPr>
        <p:sp>
          <p:nvSpPr>
            <p:cNvPr id="11274" name="Text Box 5"/>
            <p:cNvSpPr txBox="1">
              <a:spLocks noChangeArrowheads="1"/>
            </p:cNvSpPr>
            <p:nvPr/>
          </p:nvSpPr>
          <p:spPr bwMode="blackWhite">
            <a:xfrm>
              <a:off x="836" y="2208"/>
              <a:ext cx="4060" cy="118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>
              <a:prstTxWarp prst="textNoShape">
                <a:avLst/>
              </a:prstTxWarp>
              <a:spAutoFit/>
            </a:bodyPr>
            <a:lstStyle/>
            <a:p>
              <a:pPr algn="l" eaLnBrk="0" hangingPunct="0">
                <a:tabLst>
                  <a:tab pos="1905000" algn="l"/>
                  <a:tab pos="3427413" algn="l"/>
                  <a:tab pos="4949825" algn="l"/>
                </a:tabLst>
              </a:pPr>
              <a:r>
                <a:rPr lang="es-ES" b="0" dirty="0"/>
                <a:t>  Instrucción	Test	Operación	Cond</a:t>
              </a:r>
            </a:p>
            <a:p>
              <a:pPr algn="l" eaLnBrk="0" hangingPunct="0">
                <a:lnSpc>
                  <a:spcPct val="130000"/>
                </a:lnSpc>
                <a:tabLst>
                  <a:tab pos="1905000" algn="l"/>
                  <a:tab pos="3427413" algn="l"/>
                  <a:tab pos="4949825" algn="l"/>
                </a:tabLst>
              </a:pPr>
              <a:r>
                <a:rPr lang="es-ES" b="0" dirty="0">
                  <a:solidFill>
                    <a:schemeClr val="tx1"/>
                  </a:solidFill>
                  <a:latin typeface="Courier New" pitchFamily="-84" charset="0"/>
                </a:rPr>
                <a:t> beq</a:t>
              </a:r>
              <a:r>
                <a:rPr lang="es-ES" b="0" dirty="0">
                  <a:solidFill>
                    <a:schemeClr val="tx1"/>
                  </a:solidFill>
                </a:rPr>
                <a:t>	T==S	    T-S (resta)	</a:t>
              </a:r>
              <a:endParaRPr lang="es-ES" b="0" i="1" dirty="0">
                <a:solidFill>
                  <a:schemeClr val="tx1"/>
                </a:solidFill>
              </a:endParaRPr>
            </a:p>
            <a:p>
              <a:pPr algn="l">
                <a:tabLst>
                  <a:tab pos="1905000" algn="l"/>
                  <a:tab pos="3427413" algn="l"/>
                  <a:tab pos="4949825" algn="l"/>
                </a:tabLst>
              </a:pPr>
              <a:r>
                <a:rPr lang="es-ES" b="0" dirty="0">
                  <a:solidFill>
                    <a:schemeClr val="tx1"/>
                  </a:solidFill>
                  <a:latin typeface="Courier New" pitchFamily="-84" charset="0"/>
                </a:rPr>
                <a:t> bne</a:t>
              </a:r>
              <a:r>
                <a:rPr lang="es-ES" b="0" dirty="0">
                  <a:solidFill>
                    <a:schemeClr val="tx1"/>
                  </a:solidFill>
                </a:rPr>
                <a:t>	T!=S	</a:t>
              </a:r>
              <a:r>
                <a:rPr lang="es-ES" dirty="0">
                  <a:solidFill>
                    <a:schemeClr val="tx1"/>
                  </a:solidFill>
                </a:rPr>
                <a:t>    T-S</a:t>
              </a:r>
              <a:endParaRPr lang="es-ES" b="0" dirty="0">
                <a:solidFill>
                  <a:schemeClr val="tx1"/>
                </a:solidFill>
              </a:endParaRPr>
            </a:p>
            <a:p>
              <a:pPr algn="l" eaLnBrk="0" hangingPunct="0">
                <a:tabLst>
                  <a:tab pos="1905000" algn="l"/>
                  <a:tab pos="3427413" algn="l"/>
                  <a:tab pos="4949825" algn="l"/>
                </a:tabLst>
              </a:pPr>
              <a:r>
                <a:rPr lang="es-ES" b="0" dirty="0">
                  <a:solidFill>
                    <a:schemeClr val="tx1"/>
                  </a:solidFill>
                  <a:latin typeface="Courier New" pitchFamily="-84" charset="0"/>
                </a:rPr>
                <a:t> </a:t>
              </a:r>
              <a:r>
                <a:rPr lang="es-ES" b="0" dirty="0" err="1">
                  <a:solidFill>
                    <a:schemeClr val="tx1"/>
                  </a:solidFill>
                  <a:latin typeface="Courier New" pitchFamily="-84" charset="0"/>
                </a:rPr>
                <a:t>blt</a:t>
              </a:r>
              <a:r>
                <a:rPr lang="es-ES" b="0" dirty="0">
                  <a:solidFill>
                    <a:schemeClr val="tx1"/>
                  </a:solidFill>
                </a:rPr>
                <a:t>	T&lt;S	    T-S	</a:t>
              </a:r>
            </a:p>
            <a:p>
              <a:pPr algn="l" eaLnBrk="0" hangingPunct="0">
                <a:tabLst>
                  <a:tab pos="1905000" algn="l"/>
                  <a:tab pos="3427413" algn="l"/>
                  <a:tab pos="4949825" algn="l"/>
                </a:tabLst>
              </a:pPr>
              <a:r>
                <a:rPr lang="es-ES" b="0" dirty="0">
                  <a:solidFill>
                    <a:schemeClr val="tx1"/>
                  </a:solidFill>
                  <a:latin typeface="Courier New" pitchFamily="-84" charset="0"/>
                </a:rPr>
                <a:t> </a:t>
              </a:r>
              <a:r>
                <a:rPr lang="es-ES" b="0" dirty="0" err="1">
                  <a:solidFill>
                    <a:schemeClr val="tx1"/>
                  </a:solidFill>
                  <a:latin typeface="Courier New" pitchFamily="-84" charset="0"/>
                </a:rPr>
                <a:t>bge</a:t>
              </a:r>
              <a:r>
                <a:rPr lang="es-ES" b="0" dirty="0">
                  <a:solidFill>
                    <a:schemeClr val="tx1"/>
                  </a:solidFill>
                </a:rPr>
                <a:t>	T&gt;=S	    T-S	</a:t>
              </a:r>
            </a:p>
          </p:txBody>
        </p:sp>
        <p:sp>
          <p:nvSpPr>
            <p:cNvPr id="11275" name="Line 10"/>
            <p:cNvSpPr>
              <a:spLocks noChangeShapeType="1"/>
            </p:cNvSpPr>
            <p:nvPr/>
          </p:nvSpPr>
          <p:spPr bwMode="blackWhite">
            <a:xfrm>
              <a:off x="816" y="2416"/>
              <a:ext cx="403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aphicFrame>
        <p:nvGraphicFramePr>
          <p:cNvPr id="2457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9134945"/>
              </p:ext>
            </p:extLst>
          </p:nvPr>
        </p:nvGraphicFramePr>
        <p:xfrm>
          <a:off x="6721252" y="5701202"/>
          <a:ext cx="227012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39680" imgH="215640" progId="Equation.3">
                  <p:embed/>
                </p:oleObj>
              </mc:Choice>
              <mc:Fallback>
                <p:oleObj name="Ecuación" r:id="rId3" imgW="139680" imgH="2156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1252" y="5701202"/>
                        <a:ext cx="227012" cy="414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5574659"/>
              </p:ext>
            </p:extLst>
          </p:nvPr>
        </p:nvGraphicFramePr>
        <p:xfrm>
          <a:off x="6537508" y="6115539"/>
          <a:ext cx="1300163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799920" imgH="215640" progId="Equation.3">
                  <p:embed/>
                </p:oleObj>
              </mc:Choice>
              <mc:Fallback>
                <p:oleObj name="Ecuación" r:id="rId5" imgW="799920" imgH="2156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7508" y="6115539"/>
                        <a:ext cx="1300163" cy="414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7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1896250"/>
              </p:ext>
            </p:extLst>
          </p:nvPr>
        </p:nvGraphicFramePr>
        <p:xfrm>
          <a:off x="6700614" y="5035419"/>
          <a:ext cx="24765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7" imgW="152280" imgH="164880" progId="Equation.3">
                  <p:embed/>
                </p:oleObj>
              </mc:Choice>
              <mc:Fallback>
                <p:oleObj name="Ecuación" r:id="rId7" imgW="152280" imgH="16488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0614" y="5035419"/>
                        <a:ext cx="247650" cy="31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BFCD0314-B9EC-3CD0-E754-9E2CED3F5735}"/>
              </a:ext>
            </a:extLst>
          </p:cNvPr>
          <p:cNvSpPr txBox="1"/>
          <p:nvPr/>
        </p:nvSpPr>
        <p:spPr>
          <a:xfrm>
            <a:off x="4417885" y="3194552"/>
            <a:ext cx="3593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i="1" dirty="0">
                <a:solidFill>
                  <a:schemeClr val="accent1">
                    <a:lumMod val="75000"/>
                  </a:schemeClr>
                </a:solidFill>
              </a:rPr>
              <a:t>rs1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7F3F386-D8AE-3BE1-7D41-461A0DDA67A3}"/>
              </a:ext>
            </a:extLst>
          </p:cNvPr>
          <p:cNvSpPr txBox="1"/>
          <p:nvPr/>
        </p:nvSpPr>
        <p:spPr>
          <a:xfrm>
            <a:off x="4718802" y="3194551"/>
            <a:ext cx="3593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i="1" dirty="0">
                <a:solidFill>
                  <a:schemeClr val="accent1">
                    <a:lumMod val="75000"/>
                  </a:schemeClr>
                </a:solidFill>
              </a:rPr>
              <a:t>rs2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38ADC007-1D8C-59F6-9DA4-646B04BEE64E}"/>
              </a:ext>
            </a:extLst>
          </p:cNvPr>
          <p:cNvCxnSpPr>
            <a:cxnSpLocks/>
          </p:cNvCxnSpPr>
          <p:nvPr/>
        </p:nvCxnSpPr>
        <p:spPr bwMode="auto">
          <a:xfrm>
            <a:off x="5138228" y="4067940"/>
            <a:ext cx="510146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02C5E047-EE9F-8265-9D9A-9397C7CCE505}"/>
              </a:ext>
            </a:extLst>
          </p:cNvPr>
          <p:cNvSpPr txBox="1"/>
          <p:nvPr/>
        </p:nvSpPr>
        <p:spPr>
          <a:xfrm>
            <a:off x="5648374" y="3944829"/>
            <a:ext cx="15159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i="1" dirty="0">
                <a:solidFill>
                  <a:schemeClr val="accent1">
                    <a:lumMod val="75000"/>
                  </a:schemeClr>
                </a:solidFill>
              </a:rPr>
              <a:t>Salto / no salto (Cond)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E0B6208A-35D2-10C2-335E-A88D07C03362}"/>
              </a:ext>
            </a:extLst>
          </p:cNvPr>
          <p:cNvCxnSpPr>
            <a:cxnSpLocks/>
          </p:cNvCxnSpPr>
          <p:nvPr/>
        </p:nvCxnSpPr>
        <p:spPr bwMode="auto">
          <a:xfrm>
            <a:off x="4908003" y="3440773"/>
            <a:ext cx="0" cy="407132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A989FE5B-4A0F-2224-A9D9-3EE14AE9168D}"/>
              </a:ext>
            </a:extLst>
          </p:cNvPr>
          <p:cNvSpPr/>
          <p:nvPr/>
        </p:nvSpPr>
        <p:spPr bwMode="auto">
          <a:xfrm>
            <a:off x="4257199" y="3834945"/>
            <a:ext cx="881029" cy="45815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defTabSz="457200" eaLnBrk="1" hangingPunct="1"/>
            <a:r>
              <a:rPr lang="es-ES" sz="1400" dirty="0">
                <a:solidFill>
                  <a:srgbClr val="000000"/>
                </a:solidFill>
              </a:rPr>
              <a:t>Branch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F85DD7AB-E728-BD68-293E-9C8723327E09}"/>
              </a:ext>
            </a:extLst>
          </p:cNvPr>
          <p:cNvCxnSpPr>
            <a:cxnSpLocks/>
          </p:cNvCxnSpPr>
          <p:nvPr/>
        </p:nvCxnSpPr>
        <p:spPr bwMode="auto">
          <a:xfrm>
            <a:off x="4597582" y="3440773"/>
            <a:ext cx="0" cy="394172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543F8A40-DC23-397A-68A3-B95AB011D9FE}"/>
              </a:ext>
            </a:extLst>
          </p:cNvPr>
          <p:cNvSpPr txBox="1"/>
          <p:nvPr/>
        </p:nvSpPr>
        <p:spPr>
          <a:xfrm>
            <a:off x="2915816" y="3925520"/>
            <a:ext cx="1177705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TipoInst</a:t>
            </a:r>
            <a:endParaRPr lang="es-ES" sz="1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802C147A-9114-4FAE-0647-5B4633C699C2}"/>
              </a:ext>
            </a:extLst>
          </p:cNvPr>
          <p:cNvCxnSpPr>
            <a:cxnSpLocks/>
            <a:endCxn id="8" idx="1"/>
          </p:cNvCxnSpPr>
          <p:nvPr/>
        </p:nvCxnSpPr>
        <p:spPr bwMode="auto">
          <a:xfrm>
            <a:off x="4036219" y="4064021"/>
            <a:ext cx="220980" cy="0"/>
          </a:xfrm>
          <a:prstGeom prst="line">
            <a:avLst/>
          </a:prstGeom>
          <a:ln w="38100" cmpd="sng">
            <a:solidFill>
              <a:srgbClr val="FF33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aphicFrame>
        <p:nvGraphicFramePr>
          <p:cNvPr id="14" name="Object 6">
            <a:extLst>
              <a:ext uri="{FF2B5EF4-FFF2-40B4-BE49-F238E27FC236}">
                <a16:creationId xmlns:a16="http://schemas.microsoft.com/office/drawing/2014/main" id="{53B80AFD-FE0E-4DE6-A7EA-64E0CC380C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380624"/>
              </p:ext>
            </p:extLst>
          </p:nvPr>
        </p:nvGraphicFramePr>
        <p:xfrm>
          <a:off x="6700614" y="5292966"/>
          <a:ext cx="24765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9" imgW="152280" imgH="203040" progId="Equation.3">
                  <p:embed/>
                </p:oleObj>
              </mc:Choice>
              <mc:Fallback>
                <p:oleObj name="Ecuación" r:id="rId9" imgW="152280" imgH="203040" progId="Equation.3">
                  <p:embed/>
                  <p:pic>
                    <p:nvPicPr>
                      <p:cNvPr id="24781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0614" y="5292966"/>
                        <a:ext cx="24765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1">
            <a:extLst>
              <a:ext uri="{FF2B5EF4-FFF2-40B4-BE49-F238E27FC236}">
                <a16:creationId xmlns:a16="http://schemas.microsoft.com/office/drawing/2014/main" id="{0106FFF3-D4E1-564E-6555-518B28EFBDA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7502513" y="3429000"/>
            <a:ext cx="838200" cy="25908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800" dirty="0">
                <a:latin typeface="+mn-lt"/>
                <a:ea typeface="+mn-ea"/>
              </a:rPr>
              <a:t>  MUX</a:t>
            </a:r>
            <a:endParaRPr lang="ca-ES" sz="1800" dirty="0">
              <a:latin typeface="+mn-lt"/>
              <a:ea typeface="+mn-ea"/>
            </a:endParaRPr>
          </a:p>
        </p:txBody>
      </p:sp>
      <p:sp>
        <p:nvSpPr>
          <p:cNvPr id="122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838200"/>
            <a:ext cx="8458200" cy="5256212"/>
          </a:xfrm>
        </p:spPr>
        <p:txBody>
          <a:bodyPr/>
          <a:lstStyle/>
          <a:p>
            <a:r>
              <a:rPr lang="es-ES" dirty="0"/>
              <a:t>Control básico de la bifurcación</a:t>
            </a:r>
          </a:p>
          <a:p>
            <a:pPr lvl="1"/>
            <a:r>
              <a:rPr lang="es-ES" dirty="0"/>
              <a:t>Un nuevo registro EX/</a:t>
            </a:r>
            <a:r>
              <a:rPr lang="es-ES" dirty="0" err="1"/>
              <a:t>M.Cond</a:t>
            </a:r>
            <a:r>
              <a:rPr lang="es-ES" dirty="0"/>
              <a:t> (un bit): indicará si hay bifurcación efectiva</a:t>
            </a:r>
          </a:p>
          <a:p>
            <a:pPr lvl="1"/>
            <a:r>
              <a:rPr lang="es-ES" dirty="0"/>
              <a:t>Implementación con un MUX</a:t>
            </a:r>
          </a:p>
          <a:p>
            <a:pPr lvl="2"/>
            <a:r>
              <a:rPr lang="es-ES" dirty="0"/>
              <a:t>El descodificador de instrucción, en la etapa DI calcula la señal de control del MUX para cada instrucción</a:t>
            </a:r>
          </a:p>
          <a:p>
            <a:pPr lvl="1"/>
            <a:endParaRPr lang="ca-ES" dirty="0"/>
          </a:p>
        </p:txBody>
      </p:sp>
      <p:sp>
        <p:nvSpPr>
          <p:cNvPr id="12316" name="Rectangle 63"/>
          <p:cNvSpPr>
            <a:spLocks noChangeArrowheads="1"/>
          </p:cNvSpPr>
          <p:nvPr/>
        </p:nvSpPr>
        <p:spPr bwMode="blackWhite">
          <a:xfrm>
            <a:off x="6477000" y="3352800"/>
            <a:ext cx="1981200" cy="2743200"/>
          </a:xfrm>
          <a:prstGeom prst="rect">
            <a:avLst/>
          </a:prstGeom>
          <a:noFill/>
          <a:ln w="28575">
            <a:solidFill>
              <a:schemeClr val="tx2"/>
            </a:solidFill>
            <a:prstDash val="sysDot"/>
            <a:miter lim="800000"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</a:bodyPr>
          <a:lstStyle/>
          <a:p>
            <a:pPr algn="ctr" eaLnBrk="0" hangingPunct="0"/>
            <a:endParaRPr lang="en-US"/>
          </a:p>
        </p:txBody>
      </p:sp>
      <p:sp>
        <p:nvSpPr>
          <p:cNvPr id="122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Evaluación de la condición de Salto</a:t>
            </a:r>
            <a:endParaRPr lang="ca-ES" dirty="0"/>
          </a:p>
        </p:txBody>
      </p:sp>
      <p:sp>
        <p:nvSpPr>
          <p:cNvPr id="1229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181DA-A6D6-2F4A-8D11-A2EB10B577BD}" type="slidenum">
              <a:rPr lang="en-US" smtClean="0"/>
              <a:pPr/>
              <a:t>22</a:t>
            </a:fld>
            <a:endParaRPr lang="en-US"/>
          </a:p>
        </p:txBody>
      </p:sp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914400" y="3275013"/>
            <a:ext cx="2478088" cy="2246313"/>
            <a:chOff x="576" y="2015"/>
            <a:chExt cx="1561" cy="1415"/>
          </a:xfrm>
        </p:grpSpPr>
        <p:sp>
          <p:nvSpPr>
            <p:cNvPr id="12326" name="Text Box 24"/>
            <p:cNvSpPr txBox="1">
              <a:spLocks noChangeArrowheads="1"/>
            </p:cNvSpPr>
            <p:nvPr/>
          </p:nvSpPr>
          <p:spPr bwMode="blackWhite">
            <a:xfrm>
              <a:off x="576" y="2015"/>
              <a:ext cx="1561" cy="141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l" eaLnBrk="0" hangingPunct="0">
                <a:tabLst>
                  <a:tab pos="1905000" algn="l"/>
                  <a:tab pos="3427413" algn="l"/>
                  <a:tab pos="4949825" algn="l"/>
                </a:tabLst>
              </a:pPr>
              <a:r>
                <a:rPr lang="es-ES" b="0" dirty="0"/>
                <a:t>  Instrucción</a:t>
              </a:r>
              <a:r>
                <a:rPr lang="es-ES" dirty="0"/>
                <a:t>      </a:t>
              </a:r>
              <a:r>
                <a:rPr lang="es-ES" b="0" dirty="0"/>
                <a:t>Código</a:t>
              </a:r>
            </a:p>
            <a:p>
              <a:pPr algn="l" eaLnBrk="0" hangingPunct="0">
                <a:lnSpc>
                  <a:spcPct val="130000"/>
                </a:lnSpc>
                <a:tabLst>
                  <a:tab pos="1905000" algn="l"/>
                  <a:tab pos="3427413" algn="l"/>
                  <a:tab pos="4949825" algn="l"/>
                </a:tabLst>
              </a:pPr>
              <a:r>
                <a:rPr lang="es-ES" b="0" i="1" dirty="0">
                  <a:solidFill>
                    <a:schemeClr val="tx1"/>
                  </a:solidFill>
                </a:rPr>
                <a:t>  </a:t>
              </a:r>
              <a:r>
                <a:rPr lang="es-ES" i="1" dirty="0">
                  <a:solidFill>
                    <a:schemeClr val="tx1"/>
                  </a:solidFill>
                </a:rPr>
                <a:t>C</a:t>
              </a:r>
              <a:r>
                <a:rPr lang="es-ES" b="0" i="1" dirty="0">
                  <a:solidFill>
                    <a:schemeClr val="tx1"/>
                  </a:solidFill>
                </a:rPr>
                <a:t>álculo, l/s, etc.</a:t>
              </a:r>
              <a:r>
                <a:rPr lang="es-ES" b="0" dirty="0">
                  <a:solidFill>
                    <a:schemeClr val="tx1"/>
                  </a:solidFill>
                </a:rPr>
                <a:t>	0</a:t>
              </a:r>
            </a:p>
            <a:p>
              <a:pPr algn="l" eaLnBrk="0" hangingPunct="0">
                <a:tabLst>
                  <a:tab pos="1905000" algn="l"/>
                  <a:tab pos="3427413" algn="l"/>
                  <a:tab pos="4949825" algn="l"/>
                </a:tabLst>
              </a:pPr>
              <a:r>
                <a:rPr lang="es-ES" b="0" dirty="0">
                  <a:solidFill>
                    <a:schemeClr val="tx1"/>
                  </a:solidFill>
                  <a:latin typeface="Courier New" pitchFamily="-84" charset="0"/>
                </a:rPr>
                <a:t> beq</a:t>
              </a:r>
              <a:r>
                <a:rPr lang="es-ES" b="0" dirty="0">
                  <a:solidFill>
                    <a:schemeClr val="tx1"/>
                  </a:solidFill>
                </a:rPr>
                <a:t>	1</a:t>
              </a:r>
            </a:p>
            <a:p>
              <a:pPr algn="l" eaLnBrk="0" hangingPunct="0">
                <a:tabLst>
                  <a:tab pos="1905000" algn="l"/>
                  <a:tab pos="3427413" algn="l"/>
                  <a:tab pos="4949825" algn="l"/>
                </a:tabLst>
              </a:pPr>
              <a:r>
                <a:rPr lang="es-ES" b="0" dirty="0">
                  <a:solidFill>
                    <a:schemeClr val="tx1"/>
                  </a:solidFill>
                  <a:latin typeface="Courier New" pitchFamily="-84" charset="0"/>
                </a:rPr>
                <a:t> bne</a:t>
              </a:r>
              <a:r>
                <a:rPr lang="es-ES" b="0" dirty="0">
                  <a:solidFill>
                    <a:schemeClr val="tx1"/>
                  </a:solidFill>
                </a:rPr>
                <a:t>	2</a:t>
              </a:r>
            </a:p>
            <a:p>
              <a:pPr algn="l" eaLnBrk="0" hangingPunct="0">
                <a:tabLst>
                  <a:tab pos="1905000" algn="l"/>
                  <a:tab pos="3427413" algn="l"/>
                  <a:tab pos="4949825" algn="l"/>
                </a:tabLst>
              </a:pPr>
              <a:r>
                <a:rPr lang="es-ES" b="0" dirty="0">
                  <a:solidFill>
                    <a:schemeClr val="tx1"/>
                  </a:solidFill>
                  <a:latin typeface="Courier New" pitchFamily="-84" charset="0"/>
                </a:rPr>
                <a:t> </a:t>
              </a:r>
              <a:r>
                <a:rPr lang="es-ES" b="0" dirty="0" err="1">
                  <a:solidFill>
                    <a:schemeClr val="tx1"/>
                  </a:solidFill>
                  <a:latin typeface="Courier New" pitchFamily="-84" charset="0"/>
                </a:rPr>
                <a:t>blt</a:t>
              </a:r>
              <a:r>
                <a:rPr lang="es-ES" b="0" dirty="0">
                  <a:solidFill>
                    <a:schemeClr val="tx1"/>
                  </a:solidFill>
                </a:rPr>
                <a:t>	3</a:t>
              </a:r>
            </a:p>
            <a:p>
              <a:pPr algn="l" eaLnBrk="0" hangingPunct="0">
                <a:tabLst>
                  <a:tab pos="1905000" algn="l"/>
                  <a:tab pos="3427413" algn="l"/>
                  <a:tab pos="4949825" algn="l"/>
                </a:tabLst>
              </a:pPr>
              <a:r>
                <a:rPr lang="es-ES" b="0" dirty="0">
                  <a:solidFill>
                    <a:schemeClr val="tx1"/>
                  </a:solidFill>
                  <a:latin typeface="Courier New" pitchFamily="-84" charset="0"/>
                </a:rPr>
                <a:t> </a:t>
              </a:r>
              <a:r>
                <a:rPr lang="es-ES" b="0" dirty="0" err="1">
                  <a:solidFill>
                    <a:schemeClr val="tx1"/>
                  </a:solidFill>
                  <a:latin typeface="Courier New" pitchFamily="-84" charset="0"/>
                </a:rPr>
                <a:t>bge</a:t>
              </a:r>
              <a:r>
                <a:rPr lang="es-ES" b="0" dirty="0">
                  <a:solidFill>
                    <a:schemeClr val="tx1"/>
                  </a:solidFill>
                </a:rPr>
                <a:t>	4</a:t>
              </a:r>
            </a:p>
          </p:txBody>
        </p:sp>
        <p:sp>
          <p:nvSpPr>
            <p:cNvPr id="12327" name="Line 25"/>
            <p:cNvSpPr>
              <a:spLocks noChangeShapeType="1"/>
            </p:cNvSpPr>
            <p:nvPr/>
          </p:nvSpPr>
          <p:spPr bwMode="blackWhite">
            <a:xfrm>
              <a:off x="576" y="2256"/>
              <a:ext cx="1561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298" name="Freeform 41"/>
          <p:cNvSpPr>
            <a:spLocks/>
          </p:cNvSpPr>
          <p:nvPr/>
        </p:nvSpPr>
        <p:spPr bwMode="auto">
          <a:xfrm>
            <a:off x="5867400" y="4038600"/>
            <a:ext cx="609600" cy="533400"/>
          </a:xfrm>
          <a:custGeom>
            <a:avLst/>
            <a:gdLst>
              <a:gd name="T0" fmla="*/ 0 w 288"/>
              <a:gd name="T1" fmla="*/ 2147483647 h 336"/>
              <a:gd name="T2" fmla="*/ 0 w 288"/>
              <a:gd name="T3" fmla="*/ 0 h 336"/>
              <a:gd name="T4" fmla="*/ 2147483647 w 288"/>
              <a:gd name="T5" fmla="*/ 0 h 336"/>
              <a:gd name="T6" fmla="*/ 0 60000 65536"/>
              <a:gd name="T7" fmla="*/ 0 60000 65536"/>
              <a:gd name="T8" fmla="*/ 0 60000 65536"/>
              <a:gd name="T9" fmla="*/ 0 w 288"/>
              <a:gd name="T10" fmla="*/ 0 h 336"/>
              <a:gd name="T11" fmla="*/ 288 w 288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336">
                <a:moveTo>
                  <a:pt x="0" y="336"/>
                </a:moveTo>
                <a:lnTo>
                  <a:pt x="0" y="0"/>
                </a:lnTo>
                <a:lnTo>
                  <a:pt x="288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9" name="Freeform 42"/>
          <p:cNvSpPr>
            <a:spLocks/>
          </p:cNvSpPr>
          <p:nvPr/>
        </p:nvSpPr>
        <p:spPr bwMode="auto">
          <a:xfrm>
            <a:off x="6019800" y="4191000"/>
            <a:ext cx="457200" cy="533400"/>
          </a:xfrm>
          <a:custGeom>
            <a:avLst/>
            <a:gdLst>
              <a:gd name="T0" fmla="*/ 0 w 288"/>
              <a:gd name="T1" fmla="*/ 2147483647 h 336"/>
              <a:gd name="T2" fmla="*/ 0 w 288"/>
              <a:gd name="T3" fmla="*/ 0 h 336"/>
              <a:gd name="T4" fmla="*/ 2147483647 w 288"/>
              <a:gd name="T5" fmla="*/ 0 h 336"/>
              <a:gd name="T6" fmla="*/ 0 60000 65536"/>
              <a:gd name="T7" fmla="*/ 0 60000 65536"/>
              <a:gd name="T8" fmla="*/ 0 60000 65536"/>
              <a:gd name="T9" fmla="*/ 0 w 288"/>
              <a:gd name="T10" fmla="*/ 0 h 336"/>
              <a:gd name="T11" fmla="*/ 288 w 288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336">
                <a:moveTo>
                  <a:pt x="0" y="336"/>
                </a:moveTo>
                <a:lnTo>
                  <a:pt x="0" y="0"/>
                </a:lnTo>
                <a:lnTo>
                  <a:pt x="288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00" name="Text Box 47"/>
          <p:cNvSpPr txBox="1">
            <a:spLocks noChangeArrowheads="1"/>
          </p:cNvSpPr>
          <p:nvPr/>
        </p:nvSpPr>
        <p:spPr bwMode="blackWhite">
          <a:xfrm>
            <a:off x="7092280" y="3772272"/>
            <a:ext cx="155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b="0" i="1" dirty="0">
                <a:solidFill>
                  <a:schemeClr val="tx1"/>
                </a:solidFill>
              </a:rPr>
              <a:t>Z</a:t>
            </a:r>
            <a:endParaRPr lang="ca-ES" b="0" i="1" dirty="0">
              <a:solidFill>
                <a:schemeClr val="tx1"/>
              </a:solidFill>
            </a:endParaRPr>
          </a:p>
        </p:txBody>
      </p:sp>
      <p:sp>
        <p:nvSpPr>
          <p:cNvPr id="12302" name="Text Box 49"/>
          <p:cNvSpPr txBox="1">
            <a:spLocks noChangeArrowheads="1"/>
          </p:cNvSpPr>
          <p:nvPr/>
        </p:nvSpPr>
        <p:spPr bwMode="blackWhite">
          <a:xfrm>
            <a:off x="7108825" y="3486150"/>
            <a:ext cx="1412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dirty="0"/>
              <a:t>0</a:t>
            </a:r>
            <a:endParaRPr lang="ca-ES" dirty="0"/>
          </a:p>
        </p:txBody>
      </p:sp>
      <p:sp>
        <p:nvSpPr>
          <p:cNvPr id="12305" name="Line 52"/>
          <p:cNvSpPr>
            <a:spLocks noChangeShapeType="1"/>
          </p:cNvSpPr>
          <p:nvPr/>
        </p:nvSpPr>
        <p:spPr bwMode="blackWhite">
          <a:xfrm>
            <a:off x="7373938" y="3657600"/>
            <a:ext cx="1524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06" name="Line 53"/>
          <p:cNvSpPr>
            <a:spLocks noChangeShapeType="1"/>
          </p:cNvSpPr>
          <p:nvPr/>
        </p:nvSpPr>
        <p:spPr bwMode="blackWhite">
          <a:xfrm>
            <a:off x="7373938" y="3962400"/>
            <a:ext cx="1524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07" name="Line 54"/>
          <p:cNvSpPr>
            <a:spLocks noChangeShapeType="1"/>
          </p:cNvSpPr>
          <p:nvPr/>
        </p:nvSpPr>
        <p:spPr bwMode="blackWhite">
          <a:xfrm>
            <a:off x="7373938" y="4267200"/>
            <a:ext cx="1524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08" name="Line 55"/>
          <p:cNvSpPr>
            <a:spLocks noChangeShapeType="1"/>
          </p:cNvSpPr>
          <p:nvPr/>
        </p:nvSpPr>
        <p:spPr bwMode="blackWhite">
          <a:xfrm>
            <a:off x="7373938" y="4572000"/>
            <a:ext cx="1524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09" name="Line 56"/>
          <p:cNvSpPr>
            <a:spLocks noChangeShapeType="1"/>
          </p:cNvSpPr>
          <p:nvPr/>
        </p:nvSpPr>
        <p:spPr bwMode="blackWhite">
          <a:xfrm>
            <a:off x="7373938" y="4876800"/>
            <a:ext cx="1524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13" name="Line 60"/>
          <p:cNvSpPr>
            <a:spLocks noChangeShapeType="1"/>
          </p:cNvSpPr>
          <p:nvPr/>
        </p:nvSpPr>
        <p:spPr bwMode="blackWhite">
          <a:xfrm>
            <a:off x="8364538" y="4724400"/>
            <a:ext cx="39846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14" name="Text Box 61"/>
          <p:cNvSpPr txBox="1">
            <a:spLocks noChangeArrowheads="1"/>
          </p:cNvSpPr>
          <p:nvPr/>
        </p:nvSpPr>
        <p:spPr bwMode="blackWhite">
          <a:xfrm>
            <a:off x="8516652" y="4343400"/>
            <a:ext cx="55143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sz="1800" b="0" dirty="0"/>
              <a:t>Cond</a:t>
            </a:r>
            <a:endParaRPr lang="ca-ES" b="0" dirty="0"/>
          </a:p>
        </p:txBody>
      </p:sp>
      <p:sp>
        <p:nvSpPr>
          <p:cNvPr id="12315" name="Text Box 62"/>
          <p:cNvSpPr txBox="1">
            <a:spLocks noChangeArrowheads="1"/>
          </p:cNvSpPr>
          <p:nvPr/>
        </p:nvSpPr>
        <p:spPr bwMode="blackWhite">
          <a:xfrm>
            <a:off x="8447341" y="2971800"/>
            <a:ext cx="8143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dirty="0"/>
              <a:t>Código</a:t>
            </a:r>
            <a:endParaRPr lang="ca-ES" dirty="0"/>
          </a:p>
        </p:txBody>
      </p:sp>
      <p:sp>
        <p:nvSpPr>
          <p:cNvPr id="12319" name="Text Box 66"/>
          <p:cNvSpPr txBox="1">
            <a:spLocks noChangeArrowheads="1"/>
          </p:cNvSpPr>
          <p:nvPr/>
        </p:nvSpPr>
        <p:spPr bwMode="blackWhite">
          <a:xfrm>
            <a:off x="6116741" y="3657600"/>
            <a:ext cx="14266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b="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ca-ES" b="0" i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20" name="Text Box 67"/>
          <p:cNvSpPr txBox="1">
            <a:spLocks noChangeArrowheads="1"/>
          </p:cNvSpPr>
          <p:nvPr/>
        </p:nvSpPr>
        <p:spPr bwMode="blackWhite">
          <a:xfrm>
            <a:off x="6116811" y="4267200"/>
            <a:ext cx="12824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b="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ca-ES" b="0" i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21" name="Text Box 68"/>
          <p:cNvSpPr txBox="1">
            <a:spLocks noChangeArrowheads="1"/>
          </p:cNvSpPr>
          <p:nvPr/>
        </p:nvSpPr>
        <p:spPr bwMode="blackWhite">
          <a:xfrm>
            <a:off x="6584273" y="6096000"/>
            <a:ext cx="178253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dirty="0"/>
              <a:t>Unidad de salto</a:t>
            </a:r>
            <a:endParaRPr lang="ca-ES" dirty="0"/>
          </a:p>
        </p:txBody>
      </p:sp>
      <p:sp>
        <p:nvSpPr>
          <p:cNvPr id="12322" name="Rectangle 69"/>
          <p:cNvSpPr>
            <a:spLocks noChangeArrowheads="1"/>
          </p:cNvSpPr>
          <p:nvPr/>
        </p:nvSpPr>
        <p:spPr bwMode="blackWhite">
          <a:xfrm>
            <a:off x="4283968" y="2819400"/>
            <a:ext cx="1117600" cy="6858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600" dirty="0" err="1">
                <a:solidFill>
                  <a:srgbClr val="000000"/>
                </a:solidFill>
                <a:latin typeface="+mn-lt"/>
                <a:ea typeface="+mn-ea"/>
              </a:rPr>
              <a:t>Descodi</a:t>
            </a:r>
            <a:r>
              <a:rPr lang="es-ES" sz="1600" dirty="0">
                <a:solidFill>
                  <a:srgbClr val="000000"/>
                </a:solidFill>
                <a:latin typeface="+mn-lt"/>
                <a:ea typeface="+mn-ea"/>
              </a:rPr>
              <a:t>-</a:t>
            </a:r>
          </a:p>
          <a:p>
            <a:r>
              <a:rPr lang="es-ES" sz="1600" dirty="0" err="1">
                <a:solidFill>
                  <a:srgbClr val="000000"/>
                </a:solidFill>
              </a:rPr>
              <a:t>ficador</a:t>
            </a:r>
            <a:endParaRPr lang="ca-ES" sz="16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2323" name="Freeform 70"/>
          <p:cNvSpPr>
            <a:spLocks/>
          </p:cNvSpPr>
          <p:nvPr/>
        </p:nvSpPr>
        <p:spPr bwMode="blackWhite">
          <a:xfrm>
            <a:off x="5401375" y="2971800"/>
            <a:ext cx="2512565" cy="457200"/>
          </a:xfrm>
          <a:custGeom>
            <a:avLst/>
            <a:gdLst>
              <a:gd name="T0" fmla="*/ 0 w 240"/>
              <a:gd name="T1" fmla="*/ 0 h 240"/>
              <a:gd name="T2" fmla="*/ 2147483647 w 240"/>
              <a:gd name="T3" fmla="*/ 0 h 240"/>
              <a:gd name="T4" fmla="*/ 2147483647 w 240"/>
              <a:gd name="T5" fmla="*/ 2147483647 h 240"/>
              <a:gd name="T6" fmla="*/ 0 60000 65536"/>
              <a:gd name="T7" fmla="*/ 0 60000 65536"/>
              <a:gd name="T8" fmla="*/ 0 60000 65536"/>
              <a:gd name="T9" fmla="*/ 0 w 240"/>
              <a:gd name="T10" fmla="*/ 0 h 240"/>
              <a:gd name="T11" fmla="*/ 240 w 240"/>
              <a:gd name="T12" fmla="*/ 240 h 2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" h="240">
                <a:moveTo>
                  <a:pt x="0" y="0"/>
                </a:moveTo>
                <a:lnTo>
                  <a:pt x="240" y="0"/>
                </a:lnTo>
                <a:lnTo>
                  <a:pt x="240" y="240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24" name="Text Box 71"/>
          <p:cNvSpPr txBox="1">
            <a:spLocks noChangeArrowheads="1"/>
          </p:cNvSpPr>
          <p:nvPr/>
        </p:nvSpPr>
        <p:spPr bwMode="blackWhite">
          <a:xfrm>
            <a:off x="7551943" y="3501008"/>
            <a:ext cx="121828" cy="151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sz="1700" dirty="0">
                <a:solidFill>
                  <a:schemeClr val="tx1"/>
                </a:solidFill>
              </a:rPr>
              <a:t>0</a:t>
            </a:r>
          </a:p>
          <a:p>
            <a:pPr algn="ctr" eaLnBrk="0" hangingPunct="0"/>
            <a:r>
              <a:rPr lang="es-ES" sz="1700" dirty="0">
                <a:solidFill>
                  <a:schemeClr val="tx1"/>
                </a:solidFill>
              </a:rPr>
              <a:t>1</a:t>
            </a:r>
          </a:p>
          <a:p>
            <a:pPr algn="ctr" eaLnBrk="0" hangingPunct="0"/>
            <a:r>
              <a:rPr lang="es-ES" sz="1700" dirty="0">
                <a:solidFill>
                  <a:schemeClr val="tx1"/>
                </a:solidFill>
              </a:rPr>
              <a:t>2</a:t>
            </a:r>
          </a:p>
          <a:p>
            <a:pPr algn="ctr" eaLnBrk="0" hangingPunct="0"/>
            <a:r>
              <a:rPr lang="es-ES" sz="1700" dirty="0">
                <a:solidFill>
                  <a:schemeClr val="tx1"/>
                </a:solidFill>
              </a:rPr>
              <a:t>3</a:t>
            </a:r>
          </a:p>
          <a:p>
            <a:pPr algn="ctr" eaLnBrk="0" hangingPunct="0"/>
            <a:r>
              <a:rPr lang="es-ES" sz="17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2325" name="Freeform 72"/>
          <p:cNvSpPr>
            <a:spLocks/>
          </p:cNvSpPr>
          <p:nvPr/>
        </p:nvSpPr>
        <p:spPr bwMode="blackWhite">
          <a:xfrm>
            <a:off x="5401376" y="3212976"/>
            <a:ext cx="237424" cy="1206623"/>
          </a:xfrm>
          <a:custGeom>
            <a:avLst/>
            <a:gdLst>
              <a:gd name="T0" fmla="*/ 0 w 240"/>
              <a:gd name="T1" fmla="*/ 0 h 240"/>
              <a:gd name="T2" fmla="*/ 2147483647 w 240"/>
              <a:gd name="T3" fmla="*/ 0 h 240"/>
              <a:gd name="T4" fmla="*/ 2147483647 w 240"/>
              <a:gd name="T5" fmla="*/ 2147483647 h 240"/>
              <a:gd name="T6" fmla="*/ 0 60000 65536"/>
              <a:gd name="T7" fmla="*/ 0 60000 65536"/>
              <a:gd name="T8" fmla="*/ 0 60000 65536"/>
              <a:gd name="T9" fmla="*/ 0 w 240"/>
              <a:gd name="T10" fmla="*/ 0 h 240"/>
              <a:gd name="T11" fmla="*/ 240 w 240"/>
              <a:gd name="T12" fmla="*/ 240 h 2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" h="240">
                <a:moveTo>
                  <a:pt x="0" y="0"/>
                </a:moveTo>
                <a:lnTo>
                  <a:pt x="240" y="0"/>
                </a:lnTo>
                <a:lnTo>
                  <a:pt x="240" y="240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247814" name="Object 6"/>
          <p:cNvGraphicFramePr>
            <a:graphicFrameLocks noChangeAspect="1"/>
          </p:cNvGraphicFramePr>
          <p:nvPr/>
        </p:nvGraphicFramePr>
        <p:xfrm>
          <a:off x="7060654" y="4005064"/>
          <a:ext cx="24765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52280" imgH="203040" progId="Equation.3">
                  <p:embed/>
                </p:oleObj>
              </mc:Choice>
              <mc:Fallback>
                <p:oleObj name="Ecuación" r:id="rId3" imgW="152280" imgH="2030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0654" y="4005064"/>
                        <a:ext cx="24765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15" name="Object 7"/>
          <p:cNvGraphicFramePr>
            <a:graphicFrameLocks noChangeAspect="1"/>
          </p:cNvGraphicFramePr>
          <p:nvPr/>
        </p:nvGraphicFramePr>
        <p:xfrm>
          <a:off x="7092280" y="4365104"/>
          <a:ext cx="216024" cy="3942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139680" imgH="215640" progId="Equation.3">
                  <p:embed/>
                </p:oleObj>
              </mc:Choice>
              <mc:Fallback>
                <p:oleObj name="Ecuación" r:id="rId5" imgW="139680" imgH="2156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280" y="4365104"/>
                        <a:ext cx="216024" cy="39428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16" name="Object 8"/>
          <p:cNvGraphicFramePr>
            <a:graphicFrameLocks noChangeAspect="1"/>
          </p:cNvGraphicFramePr>
          <p:nvPr/>
        </p:nvGraphicFramePr>
        <p:xfrm>
          <a:off x="6732240" y="4653136"/>
          <a:ext cx="619125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7" imgW="380880" imgH="215640" progId="Equation.3">
                  <p:embed/>
                </p:oleObj>
              </mc:Choice>
              <mc:Fallback>
                <p:oleObj name="Ecuación" r:id="rId7" imgW="380880" imgH="2156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240" y="4653136"/>
                        <a:ext cx="619125" cy="414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reeform 42">
            <a:extLst>
              <a:ext uri="{FF2B5EF4-FFF2-40B4-BE49-F238E27FC236}">
                <a16:creationId xmlns:a16="http://schemas.microsoft.com/office/drawing/2014/main" id="{88C67773-7D29-9B57-20EC-775CDEC12B57}"/>
              </a:ext>
            </a:extLst>
          </p:cNvPr>
          <p:cNvSpPr>
            <a:spLocks/>
          </p:cNvSpPr>
          <p:nvPr/>
        </p:nvSpPr>
        <p:spPr bwMode="blackWhite">
          <a:xfrm>
            <a:off x="5496718" y="4293096"/>
            <a:ext cx="609599" cy="1428750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r>
              <a:rPr lang="en-US" sz="1400" dirty="0"/>
              <a:t>RESTA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33E03-8FB2-98DE-F2F9-64B003390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" name="Conector recto 217">
            <a:extLst>
              <a:ext uri="{FF2B5EF4-FFF2-40B4-BE49-F238E27FC236}">
                <a16:creationId xmlns:a16="http://schemas.microsoft.com/office/drawing/2014/main" id="{4D0CA0EA-7249-64F6-0DF7-9023CA958BCB}"/>
              </a:ext>
            </a:extLst>
          </p:cNvPr>
          <p:cNvCxnSpPr/>
          <p:nvPr/>
        </p:nvCxnSpPr>
        <p:spPr bwMode="auto">
          <a:xfrm>
            <a:off x="2430801" y="2722496"/>
            <a:ext cx="2057399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C97AFA65-2D9E-3F83-F7E9-C32A601F2A29}"/>
              </a:ext>
            </a:extLst>
          </p:cNvPr>
          <p:cNvCxnSpPr/>
          <p:nvPr/>
        </p:nvCxnSpPr>
        <p:spPr bwMode="auto">
          <a:xfrm>
            <a:off x="2620507" y="3503612"/>
            <a:ext cx="609600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9" name="Conector recto 198">
            <a:extLst>
              <a:ext uri="{FF2B5EF4-FFF2-40B4-BE49-F238E27FC236}">
                <a16:creationId xmlns:a16="http://schemas.microsoft.com/office/drawing/2014/main" id="{5B753E38-D3FA-2E76-E80D-674DDAF348C6}"/>
              </a:ext>
            </a:extLst>
          </p:cNvPr>
          <p:cNvCxnSpPr>
            <a:cxnSpLocks/>
          </p:cNvCxnSpPr>
          <p:nvPr/>
        </p:nvCxnSpPr>
        <p:spPr bwMode="auto">
          <a:xfrm>
            <a:off x="2569725" y="6292868"/>
            <a:ext cx="191688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CB0666DE-3AF8-1920-C981-07920F254A52}"/>
              </a:ext>
            </a:extLst>
          </p:cNvPr>
          <p:cNvSpPr/>
          <p:nvPr/>
        </p:nvSpPr>
        <p:spPr bwMode="auto">
          <a:xfrm>
            <a:off x="957603" y="4307947"/>
            <a:ext cx="838200" cy="3048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879AE1C-F7D8-7276-1CA9-A5787CFE70EB}"/>
              </a:ext>
            </a:extLst>
          </p:cNvPr>
          <p:cNvSpPr/>
          <p:nvPr/>
        </p:nvSpPr>
        <p:spPr bwMode="auto">
          <a:xfrm>
            <a:off x="957603" y="4993747"/>
            <a:ext cx="838200" cy="990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900" dirty="0">
                <a:solidFill>
                  <a:srgbClr val="000000"/>
                </a:solidFill>
              </a:rPr>
              <a:t>Memoria de</a:t>
            </a:r>
          </a:p>
          <a:p>
            <a:pPr algn="l"/>
            <a:r>
              <a:rPr lang="es-ES_tradnl" sz="900" dirty="0">
                <a:solidFill>
                  <a:srgbClr val="000000"/>
                </a:solidFill>
              </a:rPr>
              <a:t>Instrucciones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2AF003C7-BB51-60BA-D9B5-66D53086FC3D}"/>
              </a:ext>
            </a:extLst>
          </p:cNvPr>
          <p:cNvCxnSpPr>
            <a:stCxn id="7" idx="2"/>
            <a:endCxn id="8" idx="0"/>
          </p:cNvCxnSpPr>
          <p:nvPr/>
        </p:nvCxnSpPr>
        <p:spPr bwMode="auto">
          <a:xfrm rot="5400000">
            <a:off x="1186203" y="4803247"/>
            <a:ext cx="381000" cy="1588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Freeform 42">
            <a:extLst>
              <a:ext uri="{FF2B5EF4-FFF2-40B4-BE49-F238E27FC236}">
                <a16:creationId xmlns:a16="http://schemas.microsoft.com/office/drawing/2014/main" id="{372D4D7D-985C-2AE8-048D-CEDAAC4D5FF1}"/>
              </a:ext>
            </a:extLst>
          </p:cNvPr>
          <p:cNvSpPr>
            <a:spLocks/>
          </p:cNvSpPr>
          <p:nvPr/>
        </p:nvSpPr>
        <p:spPr bwMode="blackWhite">
          <a:xfrm rot="5400000">
            <a:off x="1046496" y="2822048"/>
            <a:ext cx="381000" cy="762000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noFill/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t" anchorCtr="0">
            <a:prstTxWarp prst="textNoShape">
              <a:avLst/>
            </a:prstTxWarp>
            <a:flatTx/>
          </a:bodyPr>
          <a:lstStyle/>
          <a:p>
            <a:r>
              <a:rPr lang="es-ES_tradnl"/>
              <a:t>+</a:t>
            </a:r>
          </a:p>
        </p:txBody>
      </p:sp>
      <p:cxnSp>
        <p:nvCxnSpPr>
          <p:cNvPr id="11" name="Conector angular 10">
            <a:extLst>
              <a:ext uri="{FF2B5EF4-FFF2-40B4-BE49-F238E27FC236}">
                <a16:creationId xmlns:a16="http://schemas.microsoft.com/office/drawing/2014/main" id="{1199FE23-42F7-DE8D-1B43-B876DF856C50}"/>
              </a:ext>
            </a:extLst>
          </p:cNvPr>
          <p:cNvCxnSpPr/>
          <p:nvPr/>
        </p:nvCxnSpPr>
        <p:spPr bwMode="auto">
          <a:xfrm rot="16200000" flipH="1">
            <a:off x="733233" y="2686578"/>
            <a:ext cx="347134" cy="304801"/>
          </a:xfrm>
          <a:prstGeom prst="bentConnector3">
            <a:avLst>
              <a:gd name="adj1" fmla="val -1490"/>
            </a:avLst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5A2B1BF9-5E8C-06B0-7AA9-B6AD61552205}"/>
              </a:ext>
            </a:extLst>
          </p:cNvPr>
          <p:cNvCxnSpPr/>
          <p:nvPr/>
        </p:nvCxnSpPr>
        <p:spPr bwMode="auto">
          <a:xfrm rot="16200000" flipH="1">
            <a:off x="1279330" y="2817814"/>
            <a:ext cx="381000" cy="8467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1EDA297-49D5-1B64-E064-F3E8E7EE4650}"/>
              </a:ext>
            </a:extLst>
          </p:cNvPr>
          <p:cNvSpPr txBox="1"/>
          <p:nvPr/>
        </p:nvSpPr>
        <p:spPr>
          <a:xfrm>
            <a:off x="1409681" y="2326747"/>
            <a:ext cx="284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35B8BE99-B170-D9BB-E787-FA05A029D4C3}"/>
              </a:ext>
            </a:extLst>
          </p:cNvPr>
          <p:cNvCxnSpPr>
            <a:cxnSpLocks/>
          </p:cNvCxnSpPr>
          <p:nvPr/>
        </p:nvCxnSpPr>
        <p:spPr bwMode="auto">
          <a:xfrm>
            <a:off x="2430801" y="5496808"/>
            <a:ext cx="176492" cy="0"/>
          </a:xfrm>
          <a:prstGeom prst="line">
            <a:avLst/>
          </a:prstGeom>
          <a:ln w="38100" cmpd="sng">
            <a:solidFill>
              <a:srgbClr val="2669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9767D00-2247-2823-8201-A91DF68CB433}"/>
              </a:ext>
            </a:extLst>
          </p:cNvPr>
          <p:cNvSpPr txBox="1"/>
          <p:nvPr/>
        </p:nvSpPr>
        <p:spPr>
          <a:xfrm rot="16200000">
            <a:off x="1615901" y="1653100"/>
            <a:ext cx="53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PCin</a:t>
            </a:r>
            <a:endParaRPr lang="es-ES_tradnl" sz="1200" b="1" dirty="0">
              <a:solidFill>
                <a:srgbClr val="FF6600"/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6F29629-7537-756D-04FB-3710A22B6555}"/>
              </a:ext>
            </a:extLst>
          </p:cNvPr>
          <p:cNvSpPr txBox="1"/>
          <p:nvPr/>
        </p:nvSpPr>
        <p:spPr>
          <a:xfrm>
            <a:off x="2544307" y="3254787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i="1" dirty="0">
                <a:solidFill>
                  <a:schemeClr val="accent1">
                    <a:lumMod val="75000"/>
                  </a:schemeClr>
                </a:solidFill>
              </a:rPr>
              <a:t>19..15(rs1)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EA83758-2721-BF7C-2C2C-1BDFAE34D945}"/>
              </a:ext>
            </a:extLst>
          </p:cNvPr>
          <p:cNvSpPr txBox="1"/>
          <p:nvPr/>
        </p:nvSpPr>
        <p:spPr>
          <a:xfrm>
            <a:off x="2544307" y="3645024"/>
            <a:ext cx="782587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ES_tradnl" sz="1000" i="1" dirty="0">
                <a:solidFill>
                  <a:schemeClr val="accent1">
                    <a:lumMod val="75000"/>
                  </a:schemeClr>
                </a:solidFill>
              </a:rPr>
              <a:t>24..20(rs2)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358EC18A-DBB0-D8E0-0098-E31246A45EEB}"/>
              </a:ext>
            </a:extLst>
          </p:cNvPr>
          <p:cNvSpPr/>
          <p:nvPr/>
        </p:nvSpPr>
        <p:spPr bwMode="auto">
          <a:xfrm>
            <a:off x="3230107" y="4841346"/>
            <a:ext cx="1060916" cy="598687"/>
          </a:xfrm>
          <a:prstGeom prst="rect">
            <a:avLst/>
          </a:prstGeom>
          <a:noFill/>
          <a:ln>
            <a:solidFill>
              <a:schemeClr val="accent4"/>
            </a:solidFill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rgbClr val="000000"/>
                </a:solidFill>
              </a:rPr>
              <a:t>Generador de Inmediatos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86571411-E613-5D4C-4712-0D892B43B21C}"/>
              </a:ext>
            </a:extLst>
          </p:cNvPr>
          <p:cNvCxnSpPr>
            <a:cxnSpLocks/>
            <a:endCxn id="32" idx="1"/>
          </p:cNvCxnSpPr>
          <p:nvPr/>
        </p:nvCxnSpPr>
        <p:spPr bwMode="auto">
          <a:xfrm flipV="1">
            <a:off x="2626107" y="5140690"/>
            <a:ext cx="604000" cy="1121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3087FECF-3E69-B7F0-8AA7-42C553A51041}"/>
              </a:ext>
            </a:extLst>
          </p:cNvPr>
          <p:cNvSpPr txBox="1"/>
          <p:nvPr/>
        </p:nvSpPr>
        <p:spPr>
          <a:xfrm>
            <a:off x="2788515" y="5180543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31..0</a:t>
            </a:r>
          </a:p>
        </p:txBody>
      </p:sp>
      <p:sp>
        <p:nvSpPr>
          <p:cNvPr id="37" name="Freeform 42">
            <a:extLst>
              <a:ext uri="{FF2B5EF4-FFF2-40B4-BE49-F238E27FC236}">
                <a16:creationId xmlns:a16="http://schemas.microsoft.com/office/drawing/2014/main" id="{45823BEB-7051-3049-5703-8881C6101A96}"/>
              </a:ext>
            </a:extLst>
          </p:cNvPr>
          <p:cNvSpPr>
            <a:spLocks/>
          </p:cNvSpPr>
          <p:nvPr/>
        </p:nvSpPr>
        <p:spPr bwMode="blackWhite">
          <a:xfrm>
            <a:off x="5782807" y="3275012"/>
            <a:ext cx="495300" cy="1028700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r>
              <a:rPr lang="es-ES_tradnl" sz="1200" dirty="0"/>
              <a:t>ALU</a:t>
            </a:r>
            <a:endParaRPr lang="es-ES_tradnl" sz="1800" dirty="0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A7A9F525-34FB-F50C-60CB-F99F0BED160C}"/>
              </a:ext>
            </a:extLst>
          </p:cNvPr>
          <p:cNvSpPr/>
          <p:nvPr/>
        </p:nvSpPr>
        <p:spPr bwMode="auto">
          <a:xfrm>
            <a:off x="7002800" y="4265612"/>
            <a:ext cx="782039" cy="990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dirty="0">
                <a:solidFill>
                  <a:srgbClr val="000000"/>
                </a:solidFill>
              </a:rPr>
              <a:t>Memoria de datos</a:t>
            </a:r>
          </a:p>
        </p:txBody>
      </p: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91559E20-E194-288D-FBCB-FED6F77222A2}"/>
              </a:ext>
            </a:extLst>
          </p:cNvPr>
          <p:cNvCxnSpPr>
            <a:cxnSpLocks/>
            <a:stCxn id="148" idx="2"/>
            <a:endCxn id="43" idx="0"/>
          </p:cNvCxnSpPr>
          <p:nvPr/>
        </p:nvCxnSpPr>
        <p:spPr bwMode="auto">
          <a:xfrm>
            <a:off x="7383799" y="3770311"/>
            <a:ext cx="10021" cy="495301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8" name="Rectángulo 47">
            <a:extLst>
              <a:ext uri="{FF2B5EF4-FFF2-40B4-BE49-F238E27FC236}">
                <a16:creationId xmlns:a16="http://schemas.microsoft.com/office/drawing/2014/main" id="{1FF25202-DB26-99A1-B1FE-E02EEC2CEBA3}"/>
              </a:ext>
            </a:extLst>
          </p:cNvPr>
          <p:cNvSpPr/>
          <p:nvPr/>
        </p:nvSpPr>
        <p:spPr bwMode="auto">
          <a:xfrm rot="16200000">
            <a:off x="8395567" y="4134379"/>
            <a:ext cx="643465" cy="228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85A369FC-1104-6856-28E2-635DEE0F9767}"/>
              </a:ext>
            </a:extLst>
          </p:cNvPr>
          <p:cNvCxnSpPr/>
          <p:nvPr/>
        </p:nvCxnSpPr>
        <p:spPr bwMode="auto">
          <a:xfrm>
            <a:off x="7764800" y="4949824"/>
            <a:ext cx="228600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49C99342-FBC9-8800-8525-BC005183E642}"/>
              </a:ext>
            </a:extLst>
          </p:cNvPr>
          <p:cNvCxnSpPr>
            <a:cxnSpLocks/>
          </p:cNvCxnSpPr>
          <p:nvPr/>
        </p:nvCxnSpPr>
        <p:spPr bwMode="auto">
          <a:xfrm>
            <a:off x="8983206" y="4229100"/>
            <a:ext cx="0" cy="234950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94335C1F-B200-8C71-3F34-4C363A58EDF5}"/>
              </a:ext>
            </a:extLst>
          </p:cNvPr>
          <p:cNvCxnSpPr>
            <a:cxnSpLocks/>
          </p:cNvCxnSpPr>
          <p:nvPr/>
        </p:nvCxnSpPr>
        <p:spPr bwMode="auto">
          <a:xfrm>
            <a:off x="2772907" y="6554788"/>
            <a:ext cx="6192279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A0BFB0C6-6019-87A4-145E-FA18B702CD4E}"/>
              </a:ext>
            </a:extLst>
          </p:cNvPr>
          <p:cNvCxnSpPr>
            <a:cxnSpLocks/>
          </p:cNvCxnSpPr>
          <p:nvPr/>
        </p:nvCxnSpPr>
        <p:spPr bwMode="auto">
          <a:xfrm flipV="1">
            <a:off x="2772907" y="4190206"/>
            <a:ext cx="794" cy="2385219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77C4EE8C-47AF-10E6-577C-C2FBDD2E8F43}"/>
              </a:ext>
            </a:extLst>
          </p:cNvPr>
          <p:cNvCxnSpPr>
            <a:cxnSpLocks/>
          </p:cNvCxnSpPr>
          <p:nvPr/>
        </p:nvCxnSpPr>
        <p:spPr bwMode="auto">
          <a:xfrm>
            <a:off x="2766557" y="4191000"/>
            <a:ext cx="45720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3D500F96-6D20-AE89-6C52-1915854B2EB6}"/>
              </a:ext>
            </a:extLst>
          </p:cNvPr>
          <p:cNvCxnSpPr/>
          <p:nvPr/>
        </p:nvCxnSpPr>
        <p:spPr bwMode="auto">
          <a:xfrm>
            <a:off x="2849107" y="6475412"/>
            <a:ext cx="5753893" cy="1588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A2E3F9BF-EA32-245F-BE06-77C90FEB6CBC}"/>
              </a:ext>
            </a:extLst>
          </p:cNvPr>
          <p:cNvCxnSpPr>
            <a:cxnSpLocks/>
          </p:cNvCxnSpPr>
          <p:nvPr/>
        </p:nvCxnSpPr>
        <p:spPr bwMode="auto">
          <a:xfrm flipV="1">
            <a:off x="2849107" y="4418806"/>
            <a:ext cx="794" cy="2056606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2" name="CuadroTexto 61">
            <a:extLst>
              <a:ext uri="{FF2B5EF4-FFF2-40B4-BE49-F238E27FC236}">
                <a16:creationId xmlns:a16="http://schemas.microsoft.com/office/drawing/2014/main" id="{EC91548A-D965-93F7-F45D-BE0FEFD72261}"/>
              </a:ext>
            </a:extLst>
          </p:cNvPr>
          <p:cNvSpPr txBox="1"/>
          <p:nvPr/>
        </p:nvSpPr>
        <p:spPr>
          <a:xfrm rot="16200000">
            <a:off x="8558929" y="5114873"/>
            <a:ext cx="5885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>
                <a:solidFill>
                  <a:schemeClr val="accent1">
                    <a:lumMod val="75000"/>
                  </a:schemeClr>
                </a:solidFill>
              </a:rPr>
              <a:t>Datos</a:t>
            </a:r>
          </a:p>
        </p:txBody>
      </p: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C25800AD-012D-75BB-F345-48C20B5257DC}"/>
              </a:ext>
            </a:extLst>
          </p:cNvPr>
          <p:cNvCxnSpPr>
            <a:cxnSpLocks/>
            <a:endCxn id="221" idx="2"/>
          </p:cNvCxnSpPr>
          <p:nvPr/>
        </p:nvCxnSpPr>
        <p:spPr bwMode="auto">
          <a:xfrm flipV="1">
            <a:off x="2592286" y="3540124"/>
            <a:ext cx="4553" cy="2740044"/>
          </a:xfrm>
          <a:prstGeom prst="line">
            <a:avLst/>
          </a:prstGeom>
          <a:ln w="38100" cmpd="sng">
            <a:solidFill>
              <a:srgbClr val="2669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1DD13E21-3619-0BF3-87E9-7BD4D0D2A88A}"/>
              </a:ext>
            </a:extLst>
          </p:cNvPr>
          <p:cNvCxnSpPr/>
          <p:nvPr/>
        </p:nvCxnSpPr>
        <p:spPr bwMode="auto">
          <a:xfrm flipV="1">
            <a:off x="1897400" y="2741612"/>
            <a:ext cx="228601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0" name="Rectángulo 79">
            <a:extLst>
              <a:ext uri="{FF2B5EF4-FFF2-40B4-BE49-F238E27FC236}">
                <a16:creationId xmlns:a16="http://schemas.microsoft.com/office/drawing/2014/main" id="{0FA7792C-5909-1573-0301-EA41B01B2C11}"/>
              </a:ext>
            </a:extLst>
          </p:cNvPr>
          <p:cNvSpPr/>
          <p:nvPr/>
        </p:nvSpPr>
        <p:spPr bwMode="auto">
          <a:xfrm>
            <a:off x="1152999" y="3698347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84" name="Conector recto 83">
            <a:extLst>
              <a:ext uri="{FF2B5EF4-FFF2-40B4-BE49-F238E27FC236}">
                <a16:creationId xmlns:a16="http://schemas.microsoft.com/office/drawing/2014/main" id="{6738C721-5DB5-048D-9D82-972B447022B1}"/>
              </a:ext>
            </a:extLst>
          </p:cNvPr>
          <p:cNvCxnSpPr>
            <a:cxnSpLocks/>
          </p:cNvCxnSpPr>
          <p:nvPr/>
        </p:nvCxnSpPr>
        <p:spPr bwMode="auto">
          <a:xfrm flipH="1">
            <a:off x="1721997" y="219075"/>
            <a:ext cx="23003" cy="3463239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7" name="Conector recto 86">
            <a:extLst>
              <a:ext uri="{FF2B5EF4-FFF2-40B4-BE49-F238E27FC236}">
                <a16:creationId xmlns:a16="http://schemas.microsoft.com/office/drawing/2014/main" id="{6F058917-9727-5254-51DD-FF7D0662DB1E}"/>
              </a:ext>
            </a:extLst>
          </p:cNvPr>
          <p:cNvCxnSpPr>
            <a:cxnSpLocks/>
            <a:endCxn id="80" idx="1"/>
          </p:cNvCxnSpPr>
          <p:nvPr/>
        </p:nvCxnSpPr>
        <p:spPr bwMode="auto">
          <a:xfrm>
            <a:off x="623450" y="3812647"/>
            <a:ext cx="529549" cy="0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Conector recto de flecha 87">
            <a:extLst>
              <a:ext uri="{FF2B5EF4-FFF2-40B4-BE49-F238E27FC236}">
                <a16:creationId xmlns:a16="http://schemas.microsoft.com/office/drawing/2014/main" id="{0BDC7CBF-FC8E-3852-DF47-20406A3F972D}"/>
              </a:ext>
            </a:extLst>
          </p:cNvPr>
          <p:cNvCxnSpPr/>
          <p:nvPr/>
        </p:nvCxnSpPr>
        <p:spPr bwMode="auto">
          <a:xfrm rot="16200000" flipH="1">
            <a:off x="1093069" y="3545947"/>
            <a:ext cx="304802" cy="2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4F6776E5-1732-8DEC-FC26-BE7CE45905B6}"/>
              </a:ext>
            </a:extLst>
          </p:cNvPr>
          <p:cNvCxnSpPr/>
          <p:nvPr/>
        </p:nvCxnSpPr>
        <p:spPr bwMode="auto">
          <a:xfrm rot="5400000">
            <a:off x="1188318" y="4115332"/>
            <a:ext cx="381000" cy="4230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0" name="CuadroTexto 89">
            <a:extLst>
              <a:ext uri="{FF2B5EF4-FFF2-40B4-BE49-F238E27FC236}">
                <a16:creationId xmlns:a16="http://schemas.microsoft.com/office/drawing/2014/main" id="{1371B8D5-FB64-4DC5-281A-015B06FFB053}"/>
              </a:ext>
            </a:extLst>
          </p:cNvPr>
          <p:cNvSpPr txBox="1"/>
          <p:nvPr/>
        </p:nvSpPr>
        <p:spPr>
          <a:xfrm rot="16200000">
            <a:off x="487760" y="2071021"/>
            <a:ext cx="612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>
                <a:solidFill>
                  <a:srgbClr val="FF6600"/>
                </a:solidFill>
              </a:rPr>
              <a:t>MxPC</a:t>
            </a:r>
          </a:p>
        </p:txBody>
      </p:sp>
      <p:sp>
        <p:nvSpPr>
          <p:cNvPr id="92" name="Rectángulo 91">
            <a:extLst>
              <a:ext uri="{FF2B5EF4-FFF2-40B4-BE49-F238E27FC236}">
                <a16:creationId xmlns:a16="http://schemas.microsoft.com/office/drawing/2014/main" id="{109A0109-385F-D7B9-D889-3ED3040AA23A}"/>
              </a:ext>
            </a:extLst>
          </p:cNvPr>
          <p:cNvSpPr/>
          <p:nvPr/>
        </p:nvSpPr>
        <p:spPr bwMode="auto">
          <a:xfrm>
            <a:off x="2126001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3" name="Rectángulo 92">
            <a:extLst>
              <a:ext uri="{FF2B5EF4-FFF2-40B4-BE49-F238E27FC236}">
                <a16:creationId xmlns:a16="http://schemas.microsoft.com/office/drawing/2014/main" id="{CBDDB2AF-B837-26ED-3BC7-EEE46F24D328}"/>
              </a:ext>
            </a:extLst>
          </p:cNvPr>
          <p:cNvSpPr/>
          <p:nvPr/>
        </p:nvSpPr>
        <p:spPr bwMode="auto">
          <a:xfrm rot="16200000">
            <a:off x="1907279" y="5390270"/>
            <a:ext cx="762000" cy="228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RI</a:t>
            </a:r>
          </a:p>
        </p:txBody>
      </p:sp>
      <p:sp>
        <p:nvSpPr>
          <p:cNvPr id="95" name="Rectángulo 94">
            <a:extLst>
              <a:ext uri="{FF2B5EF4-FFF2-40B4-BE49-F238E27FC236}">
                <a16:creationId xmlns:a16="http://schemas.microsoft.com/office/drawing/2014/main" id="{371D9A2E-1A92-D4A3-9FFF-95D439C6B861}"/>
              </a:ext>
            </a:extLst>
          </p:cNvPr>
          <p:cNvSpPr/>
          <p:nvPr/>
        </p:nvSpPr>
        <p:spPr bwMode="auto">
          <a:xfrm>
            <a:off x="4488201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6" name="Rectángulo 95">
            <a:extLst>
              <a:ext uri="{FF2B5EF4-FFF2-40B4-BE49-F238E27FC236}">
                <a16:creationId xmlns:a16="http://schemas.microsoft.com/office/drawing/2014/main" id="{9948D286-A30C-C702-E259-84AAD4E305C2}"/>
              </a:ext>
            </a:extLst>
          </p:cNvPr>
          <p:cNvSpPr/>
          <p:nvPr/>
        </p:nvSpPr>
        <p:spPr bwMode="auto">
          <a:xfrm rot="16200000">
            <a:off x="4406353" y="3385080"/>
            <a:ext cx="467551" cy="190972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S</a:t>
            </a:r>
          </a:p>
        </p:txBody>
      </p:sp>
      <p:sp>
        <p:nvSpPr>
          <p:cNvPr id="97" name="Rectángulo 96">
            <a:extLst>
              <a:ext uri="{FF2B5EF4-FFF2-40B4-BE49-F238E27FC236}">
                <a16:creationId xmlns:a16="http://schemas.microsoft.com/office/drawing/2014/main" id="{6234826C-0B10-003C-7376-838C3AD4D826}"/>
              </a:ext>
            </a:extLst>
          </p:cNvPr>
          <p:cNvSpPr/>
          <p:nvPr/>
        </p:nvSpPr>
        <p:spPr bwMode="auto">
          <a:xfrm rot="16200000">
            <a:off x="4406354" y="3936350"/>
            <a:ext cx="467551" cy="190972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T</a:t>
            </a:r>
          </a:p>
        </p:txBody>
      </p:sp>
      <p:sp>
        <p:nvSpPr>
          <p:cNvPr id="98" name="Rectángulo 97">
            <a:extLst>
              <a:ext uri="{FF2B5EF4-FFF2-40B4-BE49-F238E27FC236}">
                <a16:creationId xmlns:a16="http://schemas.microsoft.com/office/drawing/2014/main" id="{31302A0E-1169-C50A-DF5B-90A1A766AA1B}"/>
              </a:ext>
            </a:extLst>
          </p:cNvPr>
          <p:cNvSpPr/>
          <p:nvPr/>
        </p:nvSpPr>
        <p:spPr bwMode="auto">
          <a:xfrm rot="16200000">
            <a:off x="4407298" y="4431386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K</a:t>
            </a:r>
          </a:p>
        </p:txBody>
      </p:sp>
      <p:sp>
        <p:nvSpPr>
          <p:cNvPr id="101" name="Rectángulo 100">
            <a:extLst>
              <a:ext uri="{FF2B5EF4-FFF2-40B4-BE49-F238E27FC236}">
                <a16:creationId xmlns:a16="http://schemas.microsoft.com/office/drawing/2014/main" id="{25997E04-F21F-C705-1C69-5D1B2AC323CA}"/>
              </a:ext>
            </a:extLst>
          </p:cNvPr>
          <p:cNvSpPr/>
          <p:nvPr/>
        </p:nvSpPr>
        <p:spPr bwMode="auto">
          <a:xfrm>
            <a:off x="6469400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2" name="Rectángulo 101">
            <a:extLst>
              <a:ext uri="{FF2B5EF4-FFF2-40B4-BE49-F238E27FC236}">
                <a16:creationId xmlns:a16="http://schemas.microsoft.com/office/drawing/2014/main" id="{8AC912BB-89A6-07F1-1760-D4D4D4497C44}"/>
              </a:ext>
            </a:extLst>
          </p:cNvPr>
          <p:cNvSpPr/>
          <p:nvPr/>
        </p:nvSpPr>
        <p:spPr bwMode="auto">
          <a:xfrm>
            <a:off x="7993400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212DE569-68C4-7DFC-B303-6D5514EF522E}"/>
              </a:ext>
            </a:extLst>
          </p:cNvPr>
          <p:cNvSpPr/>
          <p:nvPr/>
        </p:nvSpPr>
        <p:spPr bwMode="auto">
          <a:xfrm rot="16200000">
            <a:off x="6174479" y="36179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ALUout</a:t>
            </a:r>
          </a:p>
        </p:txBody>
      </p:sp>
      <p:sp>
        <p:nvSpPr>
          <p:cNvPr id="104" name="Rectángulo 103">
            <a:extLst>
              <a:ext uri="{FF2B5EF4-FFF2-40B4-BE49-F238E27FC236}">
                <a16:creationId xmlns:a16="http://schemas.microsoft.com/office/drawing/2014/main" id="{0CF075B0-65AF-FA30-FB16-9242C3B20E50}"/>
              </a:ext>
            </a:extLst>
          </p:cNvPr>
          <p:cNvSpPr/>
          <p:nvPr/>
        </p:nvSpPr>
        <p:spPr bwMode="auto">
          <a:xfrm rot="16200000">
            <a:off x="7698479" y="3617912"/>
            <a:ext cx="914400" cy="228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ALUout</a:t>
            </a:r>
          </a:p>
        </p:txBody>
      </p:sp>
      <p:sp>
        <p:nvSpPr>
          <p:cNvPr id="107" name="Rectángulo 106">
            <a:extLst>
              <a:ext uri="{FF2B5EF4-FFF2-40B4-BE49-F238E27FC236}">
                <a16:creationId xmlns:a16="http://schemas.microsoft.com/office/drawing/2014/main" id="{2BFBB580-FF93-8404-AD6B-89CF1DECBEE9}"/>
              </a:ext>
            </a:extLst>
          </p:cNvPr>
          <p:cNvSpPr/>
          <p:nvPr/>
        </p:nvSpPr>
        <p:spPr bwMode="auto">
          <a:xfrm rot="16200000">
            <a:off x="7698479" y="4837112"/>
            <a:ext cx="914400" cy="228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MEMout</a:t>
            </a:r>
          </a:p>
        </p:txBody>
      </p:sp>
      <p:sp>
        <p:nvSpPr>
          <p:cNvPr id="108" name="Rectángulo 107">
            <a:extLst>
              <a:ext uri="{FF2B5EF4-FFF2-40B4-BE49-F238E27FC236}">
                <a16:creationId xmlns:a16="http://schemas.microsoft.com/office/drawing/2014/main" id="{66212B4E-A197-F724-9340-ABDDE6702766}"/>
              </a:ext>
            </a:extLst>
          </p:cNvPr>
          <p:cNvSpPr/>
          <p:nvPr/>
        </p:nvSpPr>
        <p:spPr bwMode="auto">
          <a:xfrm rot="16200000">
            <a:off x="6406518" y="4863434"/>
            <a:ext cx="467551" cy="190972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T</a:t>
            </a:r>
          </a:p>
        </p:txBody>
      </p:sp>
      <p:cxnSp>
        <p:nvCxnSpPr>
          <p:cNvPr id="120" name="Conector recto 119">
            <a:extLst>
              <a:ext uri="{FF2B5EF4-FFF2-40B4-BE49-F238E27FC236}">
                <a16:creationId xmlns:a16="http://schemas.microsoft.com/office/drawing/2014/main" id="{D633062E-18D4-8320-0B75-0DF60E40A4FA}"/>
              </a:ext>
            </a:extLst>
          </p:cNvPr>
          <p:cNvCxnSpPr/>
          <p:nvPr/>
        </p:nvCxnSpPr>
        <p:spPr bwMode="auto">
          <a:xfrm>
            <a:off x="8374400" y="4037012"/>
            <a:ext cx="228600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Conector recto 120">
            <a:extLst>
              <a:ext uri="{FF2B5EF4-FFF2-40B4-BE49-F238E27FC236}">
                <a16:creationId xmlns:a16="http://schemas.microsoft.com/office/drawing/2014/main" id="{38B1455C-0476-4427-EF0A-D56351649D0A}"/>
              </a:ext>
            </a:extLst>
          </p:cNvPr>
          <p:cNvCxnSpPr>
            <a:cxnSpLocks/>
          </p:cNvCxnSpPr>
          <p:nvPr/>
        </p:nvCxnSpPr>
        <p:spPr bwMode="auto">
          <a:xfrm>
            <a:off x="8373606" y="4494211"/>
            <a:ext cx="229394" cy="1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2" name="Conector recto 121">
            <a:extLst>
              <a:ext uri="{FF2B5EF4-FFF2-40B4-BE49-F238E27FC236}">
                <a16:creationId xmlns:a16="http://schemas.microsoft.com/office/drawing/2014/main" id="{CACC60B9-D514-BD68-1796-53A0931D5976}"/>
              </a:ext>
            </a:extLst>
          </p:cNvPr>
          <p:cNvCxnSpPr>
            <a:cxnSpLocks/>
          </p:cNvCxnSpPr>
          <p:nvPr/>
        </p:nvCxnSpPr>
        <p:spPr bwMode="auto">
          <a:xfrm flipV="1">
            <a:off x="8373609" y="3711167"/>
            <a:ext cx="0" cy="346483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Conector recto 122">
            <a:extLst>
              <a:ext uri="{FF2B5EF4-FFF2-40B4-BE49-F238E27FC236}">
                <a16:creationId xmlns:a16="http://schemas.microsoft.com/office/drawing/2014/main" id="{AC5E4E59-A864-70B6-830F-FED367A95F9A}"/>
              </a:ext>
            </a:extLst>
          </p:cNvPr>
          <p:cNvCxnSpPr>
            <a:cxnSpLocks/>
          </p:cNvCxnSpPr>
          <p:nvPr/>
        </p:nvCxnSpPr>
        <p:spPr bwMode="auto">
          <a:xfrm flipV="1">
            <a:off x="8373606" y="4479925"/>
            <a:ext cx="0" cy="476248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5" name="Conector recto 124">
            <a:extLst>
              <a:ext uri="{FF2B5EF4-FFF2-40B4-BE49-F238E27FC236}">
                <a16:creationId xmlns:a16="http://schemas.microsoft.com/office/drawing/2014/main" id="{15CE82AE-7D81-D146-CC60-3BF2BA288FAD}"/>
              </a:ext>
            </a:extLst>
          </p:cNvPr>
          <p:cNvCxnSpPr/>
          <p:nvPr/>
        </p:nvCxnSpPr>
        <p:spPr bwMode="auto">
          <a:xfrm rot="10800000">
            <a:off x="8298200" y="3732212"/>
            <a:ext cx="76200" cy="1588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9" name="Conector recto 128">
            <a:extLst>
              <a:ext uri="{FF2B5EF4-FFF2-40B4-BE49-F238E27FC236}">
                <a16:creationId xmlns:a16="http://schemas.microsoft.com/office/drawing/2014/main" id="{1C2D3B7A-66D5-AAA1-314A-35C8EE42DBA1}"/>
              </a:ext>
            </a:extLst>
          </p:cNvPr>
          <p:cNvCxnSpPr/>
          <p:nvPr/>
        </p:nvCxnSpPr>
        <p:spPr bwMode="auto">
          <a:xfrm>
            <a:off x="6287835" y="3789039"/>
            <a:ext cx="190027" cy="1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0" name="CuadroTexto 129">
            <a:extLst>
              <a:ext uri="{FF2B5EF4-FFF2-40B4-BE49-F238E27FC236}">
                <a16:creationId xmlns:a16="http://schemas.microsoft.com/office/drawing/2014/main" id="{BD49E6CB-07A8-89F4-B6DD-36E855A818D6}"/>
              </a:ext>
            </a:extLst>
          </p:cNvPr>
          <p:cNvSpPr txBox="1"/>
          <p:nvPr/>
        </p:nvSpPr>
        <p:spPr>
          <a:xfrm rot="16200000">
            <a:off x="1992834" y="604691"/>
            <a:ext cx="562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LI/DI</a:t>
            </a:r>
          </a:p>
        </p:txBody>
      </p:sp>
      <p:sp>
        <p:nvSpPr>
          <p:cNvPr id="131" name="CuadroTexto 130">
            <a:extLst>
              <a:ext uri="{FF2B5EF4-FFF2-40B4-BE49-F238E27FC236}">
                <a16:creationId xmlns:a16="http://schemas.microsoft.com/office/drawing/2014/main" id="{8F05E495-0A4B-29CB-D826-314AAE1CB5A9}"/>
              </a:ext>
            </a:extLst>
          </p:cNvPr>
          <p:cNvSpPr txBox="1"/>
          <p:nvPr/>
        </p:nvSpPr>
        <p:spPr>
          <a:xfrm rot="16200000">
            <a:off x="4336034" y="2070736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DI/EX</a:t>
            </a:r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48D3E9A6-E83F-AF79-BAA5-10F57059AD6A}"/>
              </a:ext>
            </a:extLst>
          </p:cNvPr>
          <p:cNvSpPr txBox="1"/>
          <p:nvPr/>
        </p:nvSpPr>
        <p:spPr>
          <a:xfrm rot="16200000">
            <a:off x="7805688" y="1305865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M/ ER</a:t>
            </a:r>
          </a:p>
        </p:txBody>
      </p:sp>
      <p:cxnSp>
        <p:nvCxnSpPr>
          <p:cNvPr id="157" name="Conector recto 156">
            <a:extLst>
              <a:ext uri="{FF2B5EF4-FFF2-40B4-BE49-F238E27FC236}">
                <a16:creationId xmlns:a16="http://schemas.microsoft.com/office/drawing/2014/main" id="{921FF76F-3D86-9481-A314-DE73E88B179E}"/>
              </a:ext>
            </a:extLst>
          </p:cNvPr>
          <p:cNvCxnSpPr>
            <a:cxnSpLocks/>
          </p:cNvCxnSpPr>
          <p:nvPr/>
        </p:nvCxnSpPr>
        <p:spPr bwMode="auto">
          <a:xfrm>
            <a:off x="6774200" y="3733800"/>
            <a:ext cx="121920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8" name="Rectángulo 157">
            <a:extLst>
              <a:ext uri="{FF2B5EF4-FFF2-40B4-BE49-F238E27FC236}">
                <a16:creationId xmlns:a16="http://schemas.microsoft.com/office/drawing/2014/main" id="{BDC45133-7B2B-B734-02BA-050A81A9AEA4}"/>
              </a:ext>
            </a:extLst>
          </p:cNvPr>
          <p:cNvSpPr/>
          <p:nvPr/>
        </p:nvSpPr>
        <p:spPr bwMode="auto">
          <a:xfrm rot="16200000">
            <a:off x="1977833" y="2631714"/>
            <a:ext cx="609601" cy="21919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159" name="Rectángulo 158">
            <a:extLst>
              <a:ext uri="{FF2B5EF4-FFF2-40B4-BE49-F238E27FC236}">
                <a16:creationId xmlns:a16="http://schemas.microsoft.com/office/drawing/2014/main" id="{7DE2A411-2BCA-AF6E-FCE2-708FA642B583}"/>
              </a:ext>
            </a:extLst>
          </p:cNvPr>
          <p:cNvSpPr/>
          <p:nvPr/>
        </p:nvSpPr>
        <p:spPr bwMode="auto">
          <a:xfrm rot="16200000">
            <a:off x="4335327" y="2671135"/>
            <a:ext cx="609601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163" name="Rectángulo 162">
            <a:extLst>
              <a:ext uri="{FF2B5EF4-FFF2-40B4-BE49-F238E27FC236}">
                <a16:creationId xmlns:a16="http://schemas.microsoft.com/office/drawing/2014/main" id="{A0C3CCBD-6A9E-766C-ED2D-452E272B7437}"/>
              </a:ext>
            </a:extLst>
          </p:cNvPr>
          <p:cNvSpPr/>
          <p:nvPr/>
        </p:nvSpPr>
        <p:spPr bwMode="auto">
          <a:xfrm rot="16200000">
            <a:off x="6340593" y="5433416"/>
            <a:ext cx="609601" cy="20117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Cond</a:t>
            </a:r>
          </a:p>
        </p:txBody>
      </p:sp>
      <p:cxnSp>
        <p:nvCxnSpPr>
          <p:cNvPr id="170" name="Conector recto 169">
            <a:extLst>
              <a:ext uri="{FF2B5EF4-FFF2-40B4-BE49-F238E27FC236}">
                <a16:creationId xmlns:a16="http://schemas.microsoft.com/office/drawing/2014/main" id="{2CEEDC8B-1FCF-7D5A-F107-4DFE33933E3A}"/>
              </a:ext>
            </a:extLst>
          </p:cNvPr>
          <p:cNvCxnSpPr>
            <a:cxnSpLocks/>
          </p:cNvCxnSpPr>
          <p:nvPr/>
        </p:nvCxnSpPr>
        <p:spPr bwMode="auto">
          <a:xfrm flipH="1">
            <a:off x="6774200" y="5534001"/>
            <a:ext cx="78699" cy="5944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2" name="Conector recto 171">
            <a:extLst>
              <a:ext uri="{FF2B5EF4-FFF2-40B4-BE49-F238E27FC236}">
                <a16:creationId xmlns:a16="http://schemas.microsoft.com/office/drawing/2014/main" id="{AC769C5A-BB42-CC64-0A0A-02B722F17ED2}"/>
              </a:ext>
            </a:extLst>
          </p:cNvPr>
          <p:cNvCxnSpPr>
            <a:cxnSpLocks/>
          </p:cNvCxnSpPr>
          <p:nvPr/>
        </p:nvCxnSpPr>
        <p:spPr bwMode="auto">
          <a:xfrm>
            <a:off x="644336" y="103338"/>
            <a:ext cx="6192688" cy="13294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3" name="Conector recto 172">
            <a:extLst>
              <a:ext uri="{FF2B5EF4-FFF2-40B4-BE49-F238E27FC236}">
                <a16:creationId xmlns:a16="http://schemas.microsoft.com/office/drawing/2014/main" id="{8E74121B-3B05-EEB0-8F71-B16AEA45C0F6}"/>
              </a:ext>
            </a:extLst>
          </p:cNvPr>
          <p:cNvCxnSpPr>
            <a:cxnSpLocks/>
          </p:cNvCxnSpPr>
          <p:nvPr/>
        </p:nvCxnSpPr>
        <p:spPr bwMode="auto">
          <a:xfrm>
            <a:off x="644336" y="92075"/>
            <a:ext cx="0" cy="3728489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4" name="Conector recto 173">
            <a:extLst>
              <a:ext uri="{FF2B5EF4-FFF2-40B4-BE49-F238E27FC236}">
                <a16:creationId xmlns:a16="http://schemas.microsoft.com/office/drawing/2014/main" id="{43D310E3-D7F2-A076-EFF7-2AD1F0617811}"/>
              </a:ext>
            </a:extLst>
          </p:cNvPr>
          <p:cNvCxnSpPr/>
          <p:nvPr/>
        </p:nvCxnSpPr>
        <p:spPr bwMode="auto">
          <a:xfrm rot="5400000" flipH="1" flipV="1">
            <a:off x="-312400" y="3732212"/>
            <a:ext cx="2133600" cy="1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5" name="Conector recto 174">
            <a:extLst>
              <a:ext uri="{FF2B5EF4-FFF2-40B4-BE49-F238E27FC236}">
                <a16:creationId xmlns:a16="http://schemas.microsoft.com/office/drawing/2014/main" id="{662B2369-DA06-5701-227C-4318A1251ECB}"/>
              </a:ext>
            </a:extLst>
          </p:cNvPr>
          <p:cNvCxnSpPr>
            <a:cxnSpLocks/>
          </p:cNvCxnSpPr>
          <p:nvPr/>
        </p:nvCxnSpPr>
        <p:spPr bwMode="auto">
          <a:xfrm>
            <a:off x="728225" y="4791193"/>
            <a:ext cx="645442" cy="0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6" name="Conector recto 175">
            <a:extLst>
              <a:ext uri="{FF2B5EF4-FFF2-40B4-BE49-F238E27FC236}">
                <a16:creationId xmlns:a16="http://schemas.microsoft.com/office/drawing/2014/main" id="{B8638BC3-3C00-259D-5B89-1763ACF6D7EC}"/>
              </a:ext>
            </a:extLst>
          </p:cNvPr>
          <p:cNvCxnSpPr>
            <a:cxnSpLocks/>
          </p:cNvCxnSpPr>
          <p:nvPr/>
        </p:nvCxnSpPr>
        <p:spPr bwMode="auto">
          <a:xfrm>
            <a:off x="1897400" y="2722496"/>
            <a:ext cx="794" cy="2076516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7" name="Conector recto 176">
            <a:extLst>
              <a:ext uri="{FF2B5EF4-FFF2-40B4-BE49-F238E27FC236}">
                <a16:creationId xmlns:a16="http://schemas.microsoft.com/office/drawing/2014/main" id="{A8860851-17DC-65AE-523D-5A1FFD21C8B7}"/>
              </a:ext>
            </a:extLst>
          </p:cNvPr>
          <p:cNvCxnSpPr>
            <a:cxnSpLocks/>
          </p:cNvCxnSpPr>
          <p:nvPr/>
        </p:nvCxnSpPr>
        <p:spPr bwMode="auto">
          <a:xfrm>
            <a:off x="1399801" y="4779726"/>
            <a:ext cx="497127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4AC8B3A1-6FB5-4F91-067D-18246E6C2912}"/>
              </a:ext>
            </a:extLst>
          </p:cNvPr>
          <p:cNvSpPr txBox="1"/>
          <p:nvPr/>
        </p:nvSpPr>
        <p:spPr>
          <a:xfrm>
            <a:off x="3230107" y="6038626"/>
            <a:ext cx="6992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11..7(</a:t>
            </a:r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rd</a:t>
            </a:r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7700C864-03AD-F398-AAF8-134F8993FBF8}"/>
              </a:ext>
            </a:extLst>
          </p:cNvPr>
          <p:cNvCxnSpPr>
            <a:cxnSpLocks/>
          </p:cNvCxnSpPr>
          <p:nvPr/>
        </p:nvCxnSpPr>
        <p:spPr bwMode="auto">
          <a:xfrm>
            <a:off x="4946187" y="3578224"/>
            <a:ext cx="0" cy="1614472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507EB55A-058C-D936-A579-012DB308DD7F}"/>
              </a:ext>
            </a:extLst>
          </p:cNvPr>
          <p:cNvCxnSpPr>
            <a:cxnSpLocks/>
            <a:stCxn id="147" idx="2"/>
          </p:cNvCxnSpPr>
          <p:nvPr/>
        </p:nvCxnSpPr>
        <p:spPr bwMode="auto">
          <a:xfrm>
            <a:off x="5589345" y="4115379"/>
            <a:ext cx="193462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D7674E12-B7BB-7963-1A85-B0CD162E7E31}"/>
              </a:ext>
            </a:extLst>
          </p:cNvPr>
          <p:cNvCxnSpPr>
            <a:cxnSpLocks/>
          </p:cNvCxnSpPr>
          <p:nvPr/>
        </p:nvCxnSpPr>
        <p:spPr bwMode="auto">
          <a:xfrm>
            <a:off x="4801003" y="2720908"/>
            <a:ext cx="220597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87A1B6B7-1FA6-86DE-FA5E-6126D1CADE5B}"/>
              </a:ext>
            </a:extLst>
          </p:cNvPr>
          <p:cNvCxnSpPr>
            <a:cxnSpLocks/>
          </p:cNvCxnSpPr>
          <p:nvPr/>
        </p:nvCxnSpPr>
        <p:spPr bwMode="auto">
          <a:xfrm flipV="1">
            <a:off x="5000768" y="2720908"/>
            <a:ext cx="0" cy="532672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1F47EC67-56A7-A6AA-6349-22CEE90AFE5F}"/>
              </a:ext>
            </a:extLst>
          </p:cNvPr>
          <p:cNvCxnSpPr>
            <a:cxnSpLocks/>
          </p:cNvCxnSpPr>
          <p:nvPr/>
        </p:nvCxnSpPr>
        <p:spPr bwMode="auto">
          <a:xfrm>
            <a:off x="4793000" y="4077072"/>
            <a:ext cx="567745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Rectángulo 50">
            <a:extLst>
              <a:ext uri="{FF2B5EF4-FFF2-40B4-BE49-F238E27FC236}">
                <a16:creationId xmlns:a16="http://schemas.microsoft.com/office/drawing/2014/main" id="{7E9CF70B-9990-76C5-D657-192DA2AA5ECC}"/>
              </a:ext>
            </a:extLst>
          </p:cNvPr>
          <p:cNvSpPr/>
          <p:nvPr/>
        </p:nvSpPr>
        <p:spPr bwMode="auto">
          <a:xfrm>
            <a:off x="5084480" y="4046009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219163D8-FD20-21D5-A36B-0C8381219E5A}"/>
              </a:ext>
            </a:extLst>
          </p:cNvPr>
          <p:cNvCxnSpPr>
            <a:cxnSpLocks/>
          </p:cNvCxnSpPr>
          <p:nvPr/>
        </p:nvCxnSpPr>
        <p:spPr bwMode="auto">
          <a:xfrm>
            <a:off x="5117560" y="4941168"/>
            <a:ext cx="1351046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6FABD803-C2E7-511F-42C6-CE6CA868176F}"/>
              </a:ext>
            </a:extLst>
          </p:cNvPr>
          <p:cNvCxnSpPr>
            <a:cxnSpLocks/>
          </p:cNvCxnSpPr>
          <p:nvPr/>
        </p:nvCxnSpPr>
        <p:spPr bwMode="auto">
          <a:xfrm>
            <a:off x="4984294" y="3246790"/>
            <a:ext cx="37645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28587290-A438-0B48-95BD-69A9F356DB5C}"/>
              </a:ext>
            </a:extLst>
          </p:cNvPr>
          <p:cNvCxnSpPr>
            <a:cxnSpLocks/>
          </p:cNvCxnSpPr>
          <p:nvPr/>
        </p:nvCxnSpPr>
        <p:spPr bwMode="auto">
          <a:xfrm>
            <a:off x="4792056" y="3579812"/>
            <a:ext cx="56868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3" name="Rectángulo 72">
            <a:extLst>
              <a:ext uri="{FF2B5EF4-FFF2-40B4-BE49-F238E27FC236}">
                <a16:creationId xmlns:a16="http://schemas.microsoft.com/office/drawing/2014/main" id="{09CB664B-7F0A-4B5B-30A1-276DF0A0EEC5}"/>
              </a:ext>
            </a:extLst>
          </p:cNvPr>
          <p:cNvSpPr/>
          <p:nvPr/>
        </p:nvSpPr>
        <p:spPr bwMode="auto">
          <a:xfrm rot="16200000">
            <a:off x="5151044" y="3295427"/>
            <a:ext cx="643465" cy="228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99" name="Conector recto 98">
            <a:extLst>
              <a:ext uri="{FF2B5EF4-FFF2-40B4-BE49-F238E27FC236}">
                <a16:creationId xmlns:a16="http://schemas.microsoft.com/office/drawing/2014/main" id="{0B001FC5-D497-3D95-100E-046B21315029}"/>
              </a:ext>
            </a:extLst>
          </p:cNvPr>
          <p:cNvCxnSpPr>
            <a:cxnSpLocks/>
          </p:cNvCxnSpPr>
          <p:nvPr/>
        </p:nvCxnSpPr>
        <p:spPr bwMode="auto">
          <a:xfrm>
            <a:off x="5589345" y="3402849"/>
            <a:ext cx="193462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7" name="Rectángulo 116">
            <a:extLst>
              <a:ext uri="{FF2B5EF4-FFF2-40B4-BE49-F238E27FC236}">
                <a16:creationId xmlns:a16="http://schemas.microsoft.com/office/drawing/2014/main" id="{4F0D06E1-BEC0-BC6C-1BF9-766A679E40F4}"/>
              </a:ext>
            </a:extLst>
          </p:cNvPr>
          <p:cNvSpPr/>
          <p:nvPr/>
        </p:nvSpPr>
        <p:spPr bwMode="auto">
          <a:xfrm>
            <a:off x="4913979" y="3544521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118" name="Conector recto 117">
            <a:extLst>
              <a:ext uri="{FF2B5EF4-FFF2-40B4-BE49-F238E27FC236}">
                <a16:creationId xmlns:a16="http://schemas.microsoft.com/office/drawing/2014/main" id="{2D319788-6232-9FDE-EF6D-23609FD266EB}"/>
              </a:ext>
            </a:extLst>
          </p:cNvPr>
          <p:cNvCxnSpPr>
            <a:cxnSpLocks/>
            <a:stCxn id="51" idx="2"/>
          </p:cNvCxnSpPr>
          <p:nvPr/>
        </p:nvCxnSpPr>
        <p:spPr bwMode="auto">
          <a:xfrm>
            <a:off x="5122580" y="4122209"/>
            <a:ext cx="0" cy="1062907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7" name="Rectángulo 146">
            <a:extLst>
              <a:ext uri="{FF2B5EF4-FFF2-40B4-BE49-F238E27FC236}">
                <a16:creationId xmlns:a16="http://schemas.microsoft.com/office/drawing/2014/main" id="{5FE4EA49-7EF5-0691-8BD1-166FB6D705AF}"/>
              </a:ext>
            </a:extLst>
          </p:cNvPr>
          <p:cNvSpPr/>
          <p:nvPr/>
        </p:nvSpPr>
        <p:spPr bwMode="auto">
          <a:xfrm rot="16200000">
            <a:off x="5153312" y="4001079"/>
            <a:ext cx="643465" cy="228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194" name="Conector recto 193">
            <a:extLst>
              <a:ext uri="{FF2B5EF4-FFF2-40B4-BE49-F238E27FC236}">
                <a16:creationId xmlns:a16="http://schemas.microsoft.com/office/drawing/2014/main" id="{8DB8D621-3E4C-8BB7-898D-17ED42BA02ED}"/>
              </a:ext>
            </a:extLst>
          </p:cNvPr>
          <p:cNvCxnSpPr>
            <a:cxnSpLocks/>
          </p:cNvCxnSpPr>
          <p:nvPr/>
        </p:nvCxnSpPr>
        <p:spPr bwMode="auto">
          <a:xfrm flipV="1">
            <a:off x="4801003" y="6292868"/>
            <a:ext cx="1668397" cy="2244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5" name="Conector recto 194">
            <a:extLst>
              <a:ext uri="{FF2B5EF4-FFF2-40B4-BE49-F238E27FC236}">
                <a16:creationId xmlns:a16="http://schemas.microsoft.com/office/drawing/2014/main" id="{1FBA63A8-3926-4ED2-3EA8-11D0BFD59555}"/>
              </a:ext>
            </a:extLst>
          </p:cNvPr>
          <p:cNvCxnSpPr>
            <a:cxnSpLocks/>
          </p:cNvCxnSpPr>
          <p:nvPr/>
        </p:nvCxnSpPr>
        <p:spPr bwMode="auto">
          <a:xfrm>
            <a:off x="2833250" y="6475412"/>
            <a:ext cx="5782449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0" name="Conector recto 199">
            <a:extLst>
              <a:ext uri="{FF2B5EF4-FFF2-40B4-BE49-F238E27FC236}">
                <a16:creationId xmlns:a16="http://schemas.microsoft.com/office/drawing/2014/main" id="{7BC3EC00-B5DA-DF6B-84B1-0815219E5746}"/>
              </a:ext>
            </a:extLst>
          </p:cNvPr>
          <p:cNvCxnSpPr>
            <a:cxnSpLocks/>
          </p:cNvCxnSpPr>
          <p:nvPr/>
        </p:nvCxnSpPr>
        <p:spPr bwMode="auto">
          <a:xfrm>
            <a:off x="6782786" y="6292868"/>
            <a:ext cx="1209826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1" name="Conector recto 200">
            <a:extLst>
              <a:ext uri="{FF2B5EF4-FFF2-40B4-BE49-F238E27FC236}">
                <a16:creationId xmlns:a16="http://schemas.microsoft.com/office/drawing/2014/main" id="{8302A6A6-E827-8CB1-EE16-D4D08D033B2D}"/>
              </a:ext>
            </a:extLst>
          </p:cNvPr>
          <p:cNvCxnSpPr>
            <a:cxnSpLocks/>
          </p:cNvCxnSpPr>
          <p:nvPr/>
        </p:nvCxnSpPr>
        <p:spPr bwMode="auto">
          <a:xfrm>
            <a:off x="8602206" y="6273818"/>
            <a:ext cx="793" cy="201594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4" name="Conector recto 203">
            <a:extLst>
              <a:ext uri="{FF2B5EF4-FFF2-40B4-BE49-F238E27FC236}">
                <a16:creationId xmlns:a16="http://schemas.microsoft.com/office/drawing/2014/main" id="{08CB960F-B4DE-F1A0-4E36-AA51EF595184}"/>
              </a:ext>
            </a:extLst>
          </p:cNvPr>
          <p:cNvCxnSpPr>
            <a:cxnSpLocks/>
          </p:cNvCxnSpPr>
          <p:nvPr/>
        </p:nvCxnSpPr>
        <p:spPr bwMode="auto">
          <a:xfrm>
            <a:off x="8297412" y="6292322"/>
            <a:ext cx="305587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6" name="CuadroTexto 205">
            <a:extLst>
              <a:ext uri="{FF2B5EF4-FFF2-40B4-BE49-F238E27FC236}">
                <a16:creationId xmlns:a16="http://schemas.microsoft.com/office/drawing/2014/main" id="{4C44B01C-6441-DC46-1EB5-F6BB2BCFBB87}"/>
              </a:ext>
            </a:extLst>
          </p:cNvPr>
          <p:cNvSpPr txBox="1"/>
          <p:nvPr/>
        </p:nvSpPr>
        <p:spPr>
          <a:xfrm>
            <a:off x="3180848" y="5873965"/>
            <a:ext cx="784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Reg</a:t>
            </a:r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dest</a:t>
            </a:r>
            <a:endParaRPr lang="es-ES_tradnl" sz="11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7" name="Rectángulo 206">
            <a:extLst>
              <a:ext uri="{FF2B5EF4-FFF2-40B4-BE49-F238E27FC236}">
                <a16:creationId xmlns:a16="http://schemas.microsoft.com/office/drawing/2014/main" id="{F635161F-1B99-0D83-5949-323972DBA7A7}"/>
              </a:ext>
            </a:extLst>
          </p:cNvPr>
          <p:cNvSpPr/>
          <p:nvPr/>
        </p:nvSpPr>
        <p:spPr bwMode="auto">
          <a:xfrm>
            <a:off x="4887433" y="5206577"/>
            <a:ext cx="1060916" cy="598687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  <a:tint val="66000"/>
                  <a:satMod val="160000"/>
                </a:schemeClr>
              </a:gs>
              <a:gs pos="50000">
                <a:schemeClr val="accent4">
                  <a:tint val="66000"/>
                  <a:satMod val="160000"/>
                  <a:tint val="44500"/>
                  <a:satMod val="160000"/>
                </a:schemeClr>
              </a:gs>
              <a:gs pos="100000">
                <a:schemeClr val="accent4">
                  <a:tint val="66000"/>
                  <a:satMod val="160000"/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Branch</a:t>
            </a:r>
          </a:p>
        </p:txBody>
      </p:sp>
      <p:sp>
        <p:nvSpPr>
          <p:cNvPr id="213" name="Rectángulo 212">
            <a:extLst>
              <a:ext uri="{FF2B5EF4-FFF2-40B4-BE49-F238E27FC236}">
                <a16:creationId xmlns:a16="http://schemas.microsoft.com/office/drawing/2014/main" id="{1149C4B2-4A4F-DC36-9D9E-E405D58AD977}"/>
              </a:ext>
            </a:extLst>
          </p:cNvPr>
          <p:cNvSpPr/>
          <p:nvPr/>
        </p:nvSpPr>
        <p:spPr bwMode="auto">
          <a:xfrm rot="16200000">
            <a:off x="4430815" y="6022781"/>
            <a:ext cx="409221" cy="181566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214" name="Rectángulo 213">
            <a:extLst>
              <a:ext uri="{FF2B5EF4-FFF2-40B4-BE49-F238E27FC236}">
                <a16:creationId xmlns:a16="http://schemas.microsoft.com/office/drawing/2014/main" id="{9B7181A1-E036-1C4D-7910-BF487471E5FF}"/>
              </a:ext>
            </a:extLst>
          </p:cNvPr>
          <p:cNvSpPr/>
          <p:nvPr/>
        </p:nvSpPr>
        <p:spPr bwMode="auto">
          <a:xfrm rot="16200000">
            <a:off x="6444575" y="6054250"/>
            <a:ext cx="409221" cy="181566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 err="1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215" name="Rectángulo 214">
            <a:extLst>
              <a:ext uri="{FF2B5EF4-FFF2-40B4-BE49-F238E27FC236}">
                <a16:creationId xmlns:a16="http://schemas.microsoft.com/office/drawing/2014/main" id="{01C2B449-C284-AB97-29DC-EED641E27D0B}"/>
              </a:ext>
            </a:extLst>
          </p:cNvPr>
          <p:cNvSpPr/>
          <p:nvPr/>
        </p:nvSpPr>
        <p:spPr bwMode="auto">
          <a:xfrm rot="16200000">
            <a:off x="7974586" y="6072792"/>
            <a:ext cx="409221" cy="181566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221" name="Rectángulo 220">
            <a:extLst>
              <a:ext uri="{FF2B5EF4-FFF2-40B4-BE49-F238E27FC236}">
                <a16:creationId xmlns:a16="http://schemas.microsoft.com/office/drawing/2014/main" id="{EC02AA33-FFC2-DA21-5028-DE76C7418325}"/>
              </a:ext>
            </a:extLst>
          </p:cNvPr>
          <p:cNvSpPr/>
          <p:nvPr/>
        </p:nvSpPr>
        <p:spPr bwMode="auto">
          <a:xfrm>
            <a:off x="2558739" y="3463924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226" name="Conector recto 225">
            <a:extLst>
              <a:ext uri="{FF2B5EF4-FFF2-40B4-BE49-F238E27FC236}">
                <a16:creationId xmlns:a16="http://schemas.microsoft.com/office/drawing/2014/main" id="{F700043F-95F7-2F38-DD77-B85EE402516B}"/>
              </a:ext>
            </a:extLst>
          </p:cNvPr>
          <p:cNvCxnSpPr>
            <a:cxnSpLocks/>
          </p:cNvCxnSpPr>
          <p:nvPr/>
        </p:nvCxnSpPr>
        <p:spPr bwMode="auto">
          <a:xfrm>
            <a:off x="6774200" y="4958174"/>
            <a:ext cx="22860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7" name="Conector recto 226">
            <a:extLst>
              <a:ext uri="{FF2B5EF4-FFF2-40B4-BE49-F238E27FC236}">
                <a16:creationId xmlns:a16="http://schemas.microsoft.com/office/drawing/2014/main" id="{49B04C63-4852-5AB2-E7E0-F4BD795C5F4D}"/>
              </a:ext>
            </a:extLst>
          </p:cNvPr>
          <p:cNvCxnSpPr>
            <a:cxnSpLocks/>
            <a:stCxn id="148" idx="0"/>
          </p:cNvCxnSpPr>
          <p:nvPr/>
        </p:nvCxnSpPr>
        <p:spPr bwMode="auto">
          <a:xfrm flipV="1">
            <a:off x="7383799" y="219075"/>
            <a:ext cx="10021" cy="3475036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9" name="Conector recto 228">
            <a:extLst>
              <a:ext uri="{FF2B5EF4-FFF2-40B4-BE49-F238E27FC236}">
                <a16:creationId xmlns:a16="http://schemas.microsoft.com/office/drawing/2014/main" id="{9084BB56-7935-ECE7-1520-6D1929CD14DD}"/>
              </a:ext>
            </a:extLst>
          </p:cNvPr>
          <p:cNvCxnSpPr>
            <a:cxnSpLocks/>
          </p:cNvCxnSpPr>
          <p:nvPr/>
        </p:nvCxnSpPr>
        <p:spPr bwMode="auto">
          <a:xfrm flipV="1">
            <a:off x="1745000" y="219075"/>
            <a:ext cx="5648820" cy="9525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1" name="Conector recto 170">
            <a:extLst>
              <a:ext uri="{FF2B5EF4-FFF2-40B4-BE49-F238E27FC236}">
                <a16:creationId xmlns:a16="http://schemas.microsoft.com/office/drawing/2014/main" id="{876DBC32-79CF-D5D3-7C83-F4D404D1B0C9}"/>
              </a:ext>
            </a:extLst>
          </p:cNvPr>
          <p:cNvCxnSpPr>
            <a:cxnSpLocks/>
          </p:cNvCxnSpPr>
          <p:nvPr/>
        </p:nvCxnSpPr>
        <p:spPr bwMode="auto">
          <a:xfrm flipV="1">
            <a:off x="6837024" y="98425"/>
            <a:ext cx="0" cy="5441520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9D3939A-4C45-F966-ACBE-3893B32F51AF}"/>
              </a:ext>
            </a:extLst>
          </p:cNvPr>
          <p:cNvSpPr/>
          <p:nvPr/>
        </p:nvSpPr>
        <p:spPr bwMode="auto">
          <a:xfrm>
            <a:off x="3230107" y="3317347"/>
            <a:ext cx="913134" cy="1371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rgbClr val="000000"/>
                </a:solidFill>
              </a:rPr>
              <a:t>Banco de Registros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51D0D2DA-5D7A-E653-2074-9E2E484B4B3B}"/>
              </a:ext>
            </a:extLst>
          </p:cNvPr>
          <p:cNvCxnSpPr>
            <a:cxnSpLocks/>
          </p:cNvCxnSpPr>
          <p:nvPr/>
        </p:nvCxnSpPr>
        <p:spPr bwMode="auto">
          <a:xfrm>
            <a:off x="4143241" y="3579812"/>
            <a:ext cx="34496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2009B36B-3167-1DDD-3C03-725E0D974CC1}"/>
              </a:ext>
            </a:extLst>
          </p:cNvPr>
          <p:cNvCxnSpPr>
            <a:cxnSpLocks/>
          </p:cNvCxnSpPr>
          <p:nvPr/>
        </p:nvCxnSpPr>
        <p:spPr bwMode="auto">
          <a:xfrm>
            <a:off x="4150630" y="4073467"/>
            <a:ext cx="335983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CA7181BB-253F-7EF1-7121-E098C7E555B5}"/>
              </a:ext>
            </a:extLst>
          </p:cNvPr>
          <p:cNvSpPr txBox="1"/>
          <p:nvPr/>
        </p:nvSpPr>
        <p:spPr>
          <a:xfrm rot="16200000">
            <a:off x="6325551" y="1894188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EX/M</a:t>
            </a:r>
          </a:p>
        </p:txBody>
      </p: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B90CB778-23C2-4661-6BAC-25EACF972D07}"/>
              </a:ext>
            </a:extLst>
          </p:cNvPr>
          <p:cNvCxnSpPr>
            <a:cxnSpLocks/>
          </p:cNvCxnSpPr>
          <p:nvPr/>
        </p:nvCxnSpPr>
        <p:spPr bwMode="auto">
          <a:xfrm>
            <a:off x="4206413" y="4570412"/>
            <a:ext cx="254347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261EBB59-FC63-F7C0-DFCC-4240862A4225}"/>
              </a:ext>
            </a:extLst>
          </p:cNvPr>
          <p:cNvCxnSpPr>
            <a:cxnSpLocks/>
          </p:cNvCxnSpPr>
          <p:nvPr/>
        </p:nvCxnSpPr>
        <p:spPr bwMode="auto">
          <a:xfrm flipV="1">
            <a:off x="4206413" y="4570412"/>
            <a:ext cx="0" cy="270934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A35DE25A-065B-60F5-E578-7BD064A84CB5}"/>
              </a:ext>
            </a:extLst>
          </p:cNvPr>
          <p:cNvCxnSpPr>
            <a:cxnSpLocks/>
          </p:cNvCxnSpPr>
          <p:nvPr/>
        </p:nvCxnSpPr>
        <p:spPr bwMode="auto">
          <a:xfrm flipV="1">
            <a:off x="4748792" y="4376092"/>
            <a:ext cx="606424" cy="6853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BA2C5E30-E2AD-31C0-1481-C2BCEA9E1FBD}"/>
              </a:ext>
            </a:extLst>
          </p:cNvPr>
          <p:cNvCxnSpPr>
            <a:cxnSpLocks/>
            <a:stCxn id="207" idx="3"/>
          </p:cNvCxnSpPr>
          <p:nvPr/>
        </p:nvCxnSpPr>
        <p:spPr bwMode="auto">
          <a:xfrm>
            <a:off x="5948349" y="5505921"/>
            <a:ext cx="518074" cy="0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A564AA3-9150-6B6D-D413-A036073F0C03}"/>
              </a:ext>
            </a:extLst>
          </p:cNvPr>
          <p:cNvSpPr/>
          <p:nvPr/>
        </p:nvSpPr>
        <p:spPr bwMode="auto">
          <a:xfrm>
            <a:off x="5097801" y="4891717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7" name="Rectángulo 126">
            <a:extLst>
              <a:ext uri="{FF2B5EF4-FFF2-40B4-BE49-F238E27FC236}">
                <a16:creationId xmlns:a16="http://schemas.microsoft.com/office/drawing/2014/main" id="{09730F80-E657-F456-C195-E7868EE4D3FF}"/>
              </a:ext>
            </a:extLst>
          </p:cNvPr>
          <p:cNvSpPr/>
          <p:nvPr/>
        </p:nvSpPr>
        <p:spPr bwMode="auto">
          <a:xfrm>
            <a:off x="1333481" y="4753876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shade val="50000"/>
                <a:alpha val="30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8" name="Rectángulo 127">
            <a:extLst>
              <a:ext uri="{FF2B5EF4-FFF2-40B4-BE49-F238E27FC236}">
                <a16:creationId xmlns:a16="http://schemas.microsoft.com/office/drawing/2014/main" id="{3AF009CC-8E87-00A8-37C6-2467CF36BFB1}"/>
              </a:ext>
            </a:extLst>
          </p:cNvPr>
          <p:cNvSpPr/>
          <p:nvPr/>
        </p:nvSpPr>
        <p:spPr bwMode="auto">
          <a:xfrm>
            <a:off x="2551779" y="5109475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8" name="Rectángulo 147">
            <a:extLst>
              <a:ext uri="{FF2B5EF4-FFF2-40B4-BE49-F238E27FC236}">
                <a16:creationId xmlns:a16="http://schemas.microsoft.com/office/drawing/2014/main" id="{FC973EB2-47FF-22CD-1127-5829EA297258}"/>
              </a:ext>
            </a:extLst>
          </p:cNvPr>
          <p:cNvSpPr/>
          <p:nvPr/>
        </p:nvSpPr>
        <p:spPr bwMode="auto">
          <a:xfrm>
            <a:off x="7345699" y="3694111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2205F19C-D06F-420E-B03B-5A85FC20EB90}"/>
              </a:ext>
            </a:extLst>
          </p:cNvPr>
          <p:cNvCxnSpPr>
            <a:cxnSpLocks/>
          </p:cNvCxnSpPr>
          <p:nvPr/>
        </p:nvCxnSpPr>
        <p:spPr bwMode="auto">
          <a:xfrm>
            <a:off x="2849107" y="4418806"/>
            <a:ext cx="395354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165BD003-26A2-ADA7-93FD-0A675D401FB6}"/>
              </a:ext>
            </a:extLst>
          </p:cNvPr>
          <p:cNvCxnSpPr>
            <a:cxnSpLocks/>
          </p:cNvCxnSpPr>
          <p:nvPr/>
        </p:nvCxnSpPr>
        <p:spPr bwMode="auto">
          <a:xfrm>
            <a:off x="8831600" y="4248679"/>
            <a:ext cx="151606" cy="0"/>
          </a:xfrm>
          <a:prstGeom prst="line">
            <a:avLst/>
          </a:prstGeom>
          <a:ln w="38100" cmpd="sng">
            <a:solidFill>
              <a:srgbClr val="26697A">
                <a:alpha val="30000"/>
              </a:srgb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8320005-0685-9A12-C0C0-ED9309AAB9B0}"/>
              </a:ext>
            </a:extLst>
          </p:cNvPr>
          <p:cNvSpPr/>
          <p:nvPr/>
        </p:nvSpPr>
        <p:spPr bwMode="auto">
          <a:xfrm>
            <a:off x="2561689" y="3844924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BC618EA0-7866-CA23-5574-88081877E8AE}"/>
              </a:ext>
            </a:extLst>
          </p:cNvPr>
          <p:cNvCxnSpPr>
            <a:cxnSpLocks/>
          </p:cNvCxnSpPr>
          <p:nvPr/>
        </p:nvCxnSpPr>
        <p:spPr bwMode="auto">
          <a:xfrm>
            <a:off x="8831600" y="4253172"/>
            <a:ext cx="151606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77C4F820-6354-A508-00D3-A9C9B7E5BDAE}"/>
              </a:ext>
            </a:extLst>
          </p:cNvPr>
          <p:cNvCxnSpPr>
            <a:cxnSpLocks/>
            <a:stCxn id="16" idx="3"/>
          </p:cNvCxnSpPr>
          <p:nvPr/>
        </p:nvCxnSpPr>
        <p:spPr bwMode="auto">
          <a:xfrm>
            <a:off x="2637889" y="3883024"/>
            <a:ext cx="58586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52520F55-CE87-5C80-0099-E3FCC4F0A0B7}"/>
              </a:ext>
            </a:extLst>
          </p:cNvPr>
          <p:cNvCxnSpPr>
            <a:cxnSpLocks/>
            <a:stCxn id="8" idx="3"/>
          </p:cNvCxnSpPr>
          <p:nvPr/>
        </p:nvCxnSpPr>
        <p:spPr bwMode="auto">
          <a:xfrm>
            <a:off x="1795803" y="5489047"/>
            <a:ext cx="324630" cy="0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00165F94-E868-918E-2288-4A024510A146}"/>
              </a:ext>
            </a:extLst>
          </p:cNvPr>
          <p:cNvCxnSpPr>
            <a:cxnSpLocks/>
          </p:cNvCxnSpPr>
          <p:nvPr/>
        </p:nvCxnSpPr>
        <p:spPr bwMode="auto">
          <a:xfrm flipH="1">
            <a:off x="8316860" y="4962647"/>
            <a:ext cx="75406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Llamada rectangular redondeada 1">
            <a:extLst>
              <a:ext uri="{FF2B5EF4-FFF2-40B4-BE49-F238E27FC236}">
                <a16:creationId xmlns:a16="http://schemas.microsoft.com/office/drawing/2014/main" id="{EB93CB26-1D7D-EFA8-6C2F-99374340266C}"/>
              </a:ext>
            </a:extLst>
          </p:cNvPr>
          <p:cNvSpPr/>
          <p:nvPr/>
        </p:nvSpPr>
        <p:spPr bwMode="auto">
          <a:xfrm>
            <a:off x="2646868" y="1578813"/>
            <a:ext cx="1447800" cy="802812"/>
          </a:xfrm>
          <a:prstGeom prst="wedgeRoundRectCallout">
            <a:avLst>
              <a:gd name="adj1" fmla="val -62061"/>
              <a:gd name="adj2" fmla="val 77560"/>
              <a:gd name="adj3" fmla="val 16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Se almacena y propaga la dirección PC</a:t>
            </a:r>
          </a:p>
        </p:txBody>
      </p:sp>
      <p:sp>
        <p:nvSpPr>
          <p:cNvPr id="6" name="Llamada rectangular redondeada 5">
            <a:extLst>
              <a:ext uri="{FF2B5EF4-FFF2-40B4-BE49-F238E27FC236}">
                <a16:creationId xmlns:a16="http://schemas.microsoft.com/office/drawing/2014/main" id="{26844D8C-3135-E371-F94A-D7D70394F3D7}"/>
              </a:ext>
            </a:extLst>
          </p:cNvPr>
          <p:cNvSpPr/>
          <p:nvPr/>
        </p:nvSpPr>
        <p:spPr bwMode="auto">
          <a:xfrm>
            <a:off x="4838212" y="1740025"/>
            <a:ext cx="1526908" cy="671636"/>
          </a:xfrm>
          <a:prstGeom prst="wedgeRoundRectCallout">
            <a:avLst>
              <a:gd name="adj1" fmla="val 17986"/>
              <a:gd name="adj2" fmla="val 180978"/>
              <a:gd name="adj3" fmla="val 16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Cálculo de la dirección de salto</a:t>
            </a:r>
          </a:p>
        </p:txBody>
      </p:sp>
      <p:sp>
        <p:nvSpPr>
          <p:cNvPr id="19" name="Llamada rectangular redondeada 18">
            <a:extLst>
              <a:ext uri="{FF2B5EF4-FFF2-40B4-BE49-F238E27FC236}">
                <a16:creationId xmlns:a16="http://schemas.microsoft.com/office/drawing/2014/main" id="{54A8A1FB-A7F1-5CE7-90A5-1221CB320397}"/>
              </a:ext>
            </a:extLst>
          </p:cNvPr>
          <p:cNvSpPr/>
          <p:nvPr/>
        </p:nvSpPr>
        <p:spPr bwMode="auto">
          <a:xfrm>
            <a:off x="2878122" y="5485384"/>
            <a:ext cx="1534159" cy="757235"/>
          </a:xfrm>
          <a:prstGeom prst="wedgeRoundRectCallout">
            <a:avLst>
              <a:gd name="adj1" fmla="val 81515"/>
              <a:gd name="adj2" fmla="val -57518"/>
              <a:gd name="adj3" fmla="val 16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Cálculo de la condición de salto</a:t>
            </a:r>
          </a:p>
        </p:txBody>
      </p:sp>
    </p:spTree>
    <p:extLst>
      <p:ext uri="{BB962C8B-B14F-4D97-AF65-F5344CB8AC3E}">
        <p14:creationId xmlns:p14="http://schemas.microsoft.com/office/powerpoint/2010/main" val="10700773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Rectangle 6"/>
          <p:cNvSpPr>
            <a:spLocks noGrp="1" noChangeArrowheads="1"/>
          </p:cNvSpPr>
          <p:nvPr>
            <p:ph type="title"/>
          </p:nvPr>
        </p:nvSpPr>
        <p:spPr>
          <a:xfrm>
            <a:off x="665163" y="107234"/>
            <a:ext cx="8250237" cy="865187"/>
          </a:xfrm>
        </p:spPr>
        <p:txBody>
          <a:bodyPr/>
          <a:lstStyle/>
          <a:p>
            <a:r>
              <a:rPr lang="es-ES" dirty="0"/>
              <a:t>Etapa de Lectura de Instrucción</a:t>
            </a:r>
          </a:p>
        </p:txBody>
      </p:sp>
      <p:sp>
        <p:nvSpPr>
          <p:cNvPr id="49157" name="Rectangle 87"/>
          <p:cNvSpPr>
            <a:spLocks noGrp="1" noChangeArrowheads="1"/>
          </p:cNvSpPr>
          <p:nvPr>
            <p:ph type="body" idx="1"/>
          </p:nvPr>
        </p:nvSpPr>
        <p:spPr>
          <a:xfrm>
            <a:off x="533400" y="838200"/>
            <a:ext cx="6276206" cy="5256212"/>
          </a:xfrm>
        </p:spPr>
        <p:txBody>
          <a:bodyPr/>
          <a:lstStyle/>
          <a:p>
            <a:r>
              <a:rPr lang="es-ES" dirty="0"/>
              <a:t>Funciones</a:t>
            </a:r>
          </a:p>
          <a:p>
            <a:pPr lvl="1"/>
            <a:r>
              <a:rPr lang="es-ES" dirty="0"/>
              <a:t>Con todas las instrucciones:</a:t>
            </a:r>
          </a:p>
          <a:p>
            <a:pPr lvl="2"/>
            <a:r>
              <a:rPr lang="es-ES" dirty="0"/>
              <a:t>Leer la instrucción apuntada por el PC</a:t>
            </a:r>
          </a:p>
          <a:p>
            <a:pPr lvl="2"/>
            <a:r>
              <a:rPr lang="es-ES" dirty="0"/>
              <a:t>Avanzar el PC para que apunte a la siguiente instrucción</a:t>
            </a:r>
          </a:p>
          <a:p>
            <a:pPr lvl="1"/>
            <a:r>
              <a:rPr lang="es-ES" dirty="0"/>
              <a:t>Instrucción de salto condicional</a:t>
            </a:r>
          </a:p>
          <a:p>
            <a:pPr lvl="2"/>
            <a:r>
              <a:rPr lang="es-ES" dirty="0"/>
              <a:t>Seleccionar la dirección de la siguiente instrucción: PC+4 o la dirección de salto (calculada en la etapa EX)</a:t>
            </a:r>
          </a:p>
          <a:p>
            <a:r>
              <a:rPr lang="es-ES" dirty="0"/>
              <a:t>Señales de control</a:t>
            </a:r>
          </a:p>
          <a:p>
            <a:pPr lvl="1"/>
            <a:r>
              <a:rPr lang="es-ES" dirty="0" err="1">
                <a:solidFill>
                  <a:srgbClr val="FF0000"/>
                </a:solidFill>
              </a:rPr>
              <a:t>PCin</a:t>
            </a:r>
            <a:r>
              <a:rPr lang="es-ES" dirty="0"/>
              <a:t>: Cargar PC, activada por flanco del reloj</a:t>
            </a:r>
          </a:p>
          <a:p>
            <a:pPr lvl="1"/>
            <a:r>
              <a:rPr lang="es-ES" dirty="0">
                <a:solidFill>
                  <a:srgbClr val="FF0000"/>
                </a:solidFill>
              </a:rPr>
              <a:t>LInst</a:t>
            </a:r>
            <a:r>
              <a:rPr lang="es-ES" dirty="0"/>
              <a:t>: Leer en la memoria de instrucciones</a:t>
            </a:r>
          </a:p>
          <a:p>
            <a:pPr lvl="1"/>
            <a:r>
              <a:rPr lang="es-ES" dirty="0" err="1"/>
              <a:t>PCin</a:t>
            </a:r>
            <a:r>
              <a:rPr lang="es-ES" dirty="0"/>
              <a:t> y LInst son constantes (podemos prescindir de ellas)</a:t>
            </a:r>
          </a:p>
          <a:p>
            <a:pPr lvl="1"/>
            <a:r>
              <a:rPr lang="es-ES" dirty="0">
                <a:solidFill>
                  <a:srgbClr val="FF0000"/>
                </a:solidFill>
              </a:rPr>
              <a:t>MxPC</a:t>
            </a:r>
            <a:r>
              <a:rPr lang="es-ES" dirty="0"/>
              <a:t>: Calculada en la etapa EX (reg EX/</a:t>
            </a:r>
            <a:r>
              <a:rPr lang="es-ES" dirty="0" err="1"/>
              <a:t>M.Cond</a:t>
            </a:r>
            <a:r>
              <a:rPr lang="es-ES" dirty="0"/>
              <a:t>)</a:t>
            </a:r>
          </a:p>
        </p:txBody>
      </p:sp>
      <p:sp>
        <p:nvSpPr>
          <p:cNvPr id="4915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1E428-9B08-8A49-9EF7-B77CB9C97A3C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9" name="CuadroTexto 48"/>
          <p:cNvSpPr txBox="1"/>
          <p:nvPr/>
        </p:nvSpPr>
        <p:spPr>
          <a:xfrm rot="16200000">
            <a:off x="6164894" y="1251851"/>
            <a:ext cx="22281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MxPC</a:t>
            </a:r>
            <a:r>
              <a:rPr lang="es-ES_tradnl" sz="1200" b="1" dirty="0">
                <a:solidFill>
                  <a:srgbClr val="FF6600"/>
                </a:solidFill>
              </a:rPr>
              <a:t> (viene de EX/</a:t>
            </a:r>
            <a:r>
              <a:rPr lang="es-ES_tradnl" sz="1200" b="1" dirty="0" err="1">
                <a:solidFill>
                  <a:srgbClr val="FF6600"/>
                </a:solidFill>
              </a:rPr>
              <a:t>M.Cond</a:t>
            </a:r>
            <a:r>
              <a:rPr lang="es-ES_tradnl" sz="1200" b="1" dirty="0">
                <a:solidFill>
                  <a:srgbClr val="FF6600"/>
                </a:solidFill>
              </a:rPr>
              <a:t>)</a:t>
            </a:r>
          </a:p>
        </p:txBody>
      </p:sp>
      <p:sp>
        <p:nvSpPr>
          <p:cNvPr id="54" name="CuadroTexto 53"/>
          <p:cNvSpPr txBox="1"/>
          <p:nvPr/>
        </p:nvSpPr>
        <p:spPr>
          <a:xfrm>
            <a:off x="7811258" y="0"/>
            <a:ext cx="41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 dirty="0">
                <a:solidFill>
                  <a:srgbClr val="0000FF"/>
                </a:solidFill>
              </a:rPr>
              <a:t>LI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6A5D9A8-E923-1334-3998-BC8B6C207D6F}"/>
              </a:ext>
            </a:extLst>
          </p:cNvPr>
          <p:cNvSpPr/>
          <p:nvPr/>
        </p:nvSpPr>
        <p:spPr bwMode="auto">
          <a:xfrm>
            <a:off x="7489009" y="4307947"/>
            <a:ext cx="838200" cy="3048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2F320BE-1281-81DD-4F9B-467C2BF2CD8F}"/>
              </a:ext>
            </a:extLst>
          </p:cNvPr>
          <p:cNvSpPr/>
          <p:nvPr/>
        </p:nvSpPr>
        <p:spPr bwMode="auto">
          <a:xfrm>
            <a:off x="7489009" y="4993747"/>
            <a:ext cx="838200" cy="990600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900" dirty="0">
                <a:solidFill>
                  <a:srgbClr val="000000"/>
                </a:solidFill>
              </a:rPr>
              <a:t>Memoria de</a:t>
            </a:r>
          </a:p>
          <a:p>
            <a:pPr algn="l"/>
            <a:r>
              <a:rPr lang="es-ES_tradnl" sz="900" dirty="0">
                <a:solidFill>
                  <a:srgbClr val="000000"/>
                </a:solidFill>
              </a:rPr>
              <a:t>Instrucciones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375FB4E3-6A4A-F6BD-4940-2356FDE31ADC}"/>
              </a:ext>
            </a:extLst>
          </p:cNvPr>
          <p:cNvCxnSpPr>
            <a:stCxn id="2" idx="2"/>
            <a:endCxn id="4" idx="0"/>
          </p:cNvCxnSpPr>
          <p:nvPr/>
        </p:nvCxnSpPr>
        <p:spPr bwMode="auto">
          <a:xfrm rot="5400000">
            <a:off x="7717609" y="4803247"/>
            <a:ext cx="381000" cy="1588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Freeform 42">
            <a:extLst>
              <a:ext uri="{FF2B5EF4-FFF2-40B4-BE49-F238E27FC236}">
                <a16:creationId xmlns:a16="http://schemas.microsoft.com/office/drawing/2014/main" id="{E34587F2-89FD-7832-7179-2EFD14595800}"/>
              </a:ext>
            </a:extLst>
          </p:cNvPr>
          <p:cNvSpPr>
            <a:spLocks/>
          </p:cNvSpPr>
          <p:nvPr/>
        </p:nvSpPr>
        <p:spPr bwMode="blackWhite">
          <a:xfrm rot="5400000">
            <a:off x="7577902" y="2822048"/>
            <a:ext cx="381000" cy="762000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t" anchorCtr="0">
            <a:prstTxWarp prst="textNoShape">
              <a:avLst/>
            </a:prstTxWarp>
            <a:flatTx/>
          </a:bodyPr>
          <a:lstStyle/>
          <a:p>
            <a:r>
              <a:rPr lang="es-ES_tradnl"/>
              <a:t>+</a:t>
            </a:r>
          </a:p>
        </p:txBody>
      </p:sp>
      <p:cxnSp>
        <p:nvCxnSpPr>
          <p:cNvPr id="7" name="Conector angular 6">
            <a:extLst>
              <a:ext uri="{FF2B5EF4-FFF2-40B4-BE49-F238E27FC236}">
                <a16:creationId xmlns:a16="http://schemas.microsoft.com/office/drawing/2014/main" id="{7BB91290-6B38-6653-B70D-B4C1D748B7FB}"/>
              </a:ext>
            </a:extLst>
          </p:cNvPr>
          <p:cNvCxnSpPr/>
          <p:nvPr/>
        </p:nvCxnSpPr>
        <p:spPr bwMode="auto">
          <a:xfrm rot="16200000" flipH="1">
            <a:off x="7264639" y="2686578"/>
            <a:ext cx="347134" cy="304801"/>
          </a:xfrm>
          <a:prstGeom prst="bentConnector3">
            <a:avLst>
              <a:gd name="adj1" fmla="val -1490"/>
            </a:avLst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425E0A15-3FD6-E9EB-6B6D-3A1FE7832394}"/>
              </a:ext>
            </a:extLst>
          </p:cNvPr>
          <p:cNvCxnSpPr/>
          <p:nvPr/>
        </p:nvCxnSpPr>
        <p:spPr bwMode="auto">
          <a:xfrm rot="16200000" flipH="1">
            <a:off x="7810736" y="2817814"/>
            <a:ext cx="381000" cy="8467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5435E3D0-D9EF-A65E-DF11-45A868D53EF0}"/>
              </a:ext>
            </a:extLst>
          </p:cNvPr>
          <p:cNvSpPr txBox="1"/>
          <p:nvPr/>
        </p:nvSpPr>
        <p:spPr>
          <a:xfrm>
            <a:off x="7941087" y="2326747"/>
            <a:ext cx="284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888B9CFC-6D64-6754-FCA7-A9B366334EE7}"/>
              </a:ext>
            </a:extLst>
          </p:cNvPr>
          <p:cNvCxnSpPr/>
          <p:nvPr/>
        </p:nvCxnSpPr>
        <p:spPr bwMode="auto">
          <a:xfrm flipV="1">
            <a:off x="8428806" y="2741612"/>
            <a:ext cx="228601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C82E603-D82B-2DA2-2792-D62B7CFFB4D4}"/>
              </a:ext>
            </a:extLst>
          </p:cNvPr>
          <p:cNvSpPr/>
          <p:nvPr/>
        </p:nvSpPr>
        <p:spPr bwMode="auto">
          <a:xfrm>
            <a:off x="7684405" y="3698347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90D911E5-54A3-CE1C-3570-57D2DE6EA995}"/>
              </a:ext>
            </a:extLst>
          </p:cNvPr>
          <p:cNvCxnSpPr>
            <a:cxnSpLocks/>
          </p:cNvCxnSpPr>
          <p:nvPr/>
        </p:nvCxnSpPr>
        <p:spPr bwMode="auto">
          <a:xfrm flipH="1">
            <a:off x="8253403" y="219075"/>
            <a:ext cx="23003" cy="3463239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BB163269-4DDC-006B-9CE4-EE6C5A6CDD38}"/>
              </a:ext>
            </a:extLst>
          </p:cNvPr>
          <p:cNvCxnSpPr>
            <a:cxnSpLocks/>
            <a:endCxn id="12" idx="1"/>
          </p:cNvCxnSpPr>
          <p:nvPr/>
        </p:nvCxnSpPr>
        <p:spPr bwMode="auto">
          <a:xfrm>
            <a:off x="7154856" y="3812647"/>
            <a:ext cx="529549" cy="0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2E2BF7DC-5DC5-F032-987E-263B9B73C72F}"/>
              </a:ext>
            </a:extLst>
          </p:cNvPr>
          <p:cNvCxnSpPr/>
          <p:nvPr/>
        </p:nvCxnSpPr>
        <p:spPr bwMode="auto">
          <a:xfrm rot="16200000" flipH="1">
            <a:off x="7624475" y="3545947"/>
            <a:ext cx="304802" cy="2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39049D7A-DEB4-94C5-F9BF-F0C1645B82DF}"/>
              </a:ext>
            </a:extLst>
          </p:cNvPr>
          <p:cNvCxnSpPr/>
          <p:nvPr/>
        </p:nvCxnSpPr>
        <p:spPr bwMode="auto">
          <a:xfrm rot="5400000">
            <a:off x="7719724" y="4115332"/>
            <a:ext cx="381000" cy="4230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6095487-1619-ED33-3D5A-BB950FC746DD}"/>
              </a:ext>
            </a:extLst>
          </p:cNvPr>
          <p:cNvSpPr/>
          <p:nvPr/>
        </p:nvSpPr>
        <p:spPr bwMode="auto">
          <a:xfrm>
            <a:off x="8657407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FFB97575-E1D3-9421-3C89-2311AFE6521E}"/>
              </a:ext>
            </a:extLst>
          </p:cNvPr>
          <p:cNvSpPr/>
          <p:nvPr/>
        </p:nvSpPr>
        <p:spPr bwMode="auto">
          <a:xfrm rot="16200000">
            <a:off x="8438685" y="5390270"/>
            <a:ext cx="7620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RI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128F1F4-02FE-388B-BADA-4868FFDB9E8F}"/>
              </a:ext>
            </a:extLst>
          </p:cNvPr>
          <p:cNvSpPr txBox="1"/>
          <p:nvPr/>
        </p:nvSpPr>
        <p:spPr>
          <a:xfrm rot="16200000">
            <a:off x="8524240" y="604691"/>
            <a:ext cx="562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LI/DI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53F49954-041A-14FF-5C8D-D364486ED2AB}"/>
              </a:ext>
            </a:extLst>
          </p:cNvPr>
          <p:cNvSpPr/>
          <p:nvPr/>
        </p:nvSpPr>
        <p:spPr bwMode="auto">
          <a:xfrm rot="16200000">
            <a:off x="8509239" y="2631714"/>
            <a:ext cx="609601" cy="21919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PC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314D0A7A-EB1F-49AC-DB85-7B93C8EE2DDC}"/>
              </a:ext>
            </a:extLst>
          </p:cNvPr>
          <p:cNvCxnSpPr>
            <a:cxnSpLocks/>
          </p:cNvCxnSpPr>
          <p:nvPr/>
        </p:nvCxnSpPr>
        <p:spPr bwMode="auto">
          <a:xfrm>
            <a:off x="7175742" y="92075"/>
            <a:ext cx="0" cy="3728489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C5537AB8-1A29-E70F-9EBB-B81A5CD1C9DA}"/>
              </a:ext>
            </a:extLst>
          </p:cNvPr>
          <p:cNvCxnSpPr/>
          <p:nvPr/>
        </p:nvCxnSpPr>
        <p:spPr bwMode="auto">
          <a:xfrm rot="5400000" flipH="1" flipV="1">
            <a:off x="6219006" y="3732212"/>
            <a:ext cx="2133600" cy="1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24649A7-3303-95D5-8C5C-7B754C2E8606}"/>
              </a:ext>
            </a:extLst>
          </p:cNvPr>
          <p:cNvCxnSpPr>
            <a:cxnSpLocks/>
          </p:cNvCxnSpPr>
          <p:nvPr/>
        </p:nvCxnSpPr>
        <p:spPr bwMode="auto">
          <a:xfrm>
            <a:off x="7259631" y="4791193"/>
            <a:ext cx="645442" cy="0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15C57718-5461-C8EA-00E5-6F7BF4D0732D}"/>
              </a:ext>
            </a:extLst>
          </p:cNvPr>
          <p:cNvCxnSpPr>
            <a:cxnSpLocks/>
          </p:cNvCxnSpPr>
          <p:nvPr/>
        </p:nvCxnSpPr>
        <p:spPr bwMode="auto">
          <a:xfrm>
            <a:off x="8428806" y="2722496"/>
            <a:ext cx="794" cy="2076516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31AD22CB-E784-FDC0-6C46-9DE6B9C165DB}"/>
              </a:ext>
            </a:extLst>
          </p:cNvPr>
          <p:cNvCxnSpPr>
            <a:cxnSpLocks/>
          </p:cNvCxnSpPr>
          <p:nvPr/>
        </p:nvCxnSpPr>
        <p:spPr bwMode="auto">
          <a:xfrm>
            <a:off x="7931207" y="4779726"/>
            <a:ext cx="497127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73753ED-AA8B-D8F8-C02A-43538EC43070}"/>
              </a:ext>
            </a:extLst>
          </p:cNvPr>
          <p:cNvSpPr/>
          <p:nvPr/>
        </p:nvSpPr>
        <p:spPr bwMode="auto">
          <a:xfrm>
            <a:off x="7864887" y="4753876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shade val="50000"/>
                <a:alpha val="30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C9A27BA2-C2EF-CE2B-D30A-D38C386AD177}"/>
              </a:ext>
            </a:extLst>
          </p:cNvPr>
          <p:cNvCxnSpPr>
            <a:cxnSpLocks/>
            <a:stCxn id="4" idx="3"/>
          </p:cNvCxnSpPr>
          <p:nvPr/>
        </p:nvCxnSpPr>
        <p:spPr bwMode="auto">
          <a:xfrm>
            <a:off x="8327209" y="5489047"/>
            <a:ext cx="324630" cy="0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1" name="Rectangle 6"/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8250237" cy="865187"/>
          </a:xfrm>
        </p:spPr>
        <p:txBody>
          <a:bodyPr/>
          <a:lstStyle/>
          <a:p>
            <a:r>
              <a:rPr lang="es-ES" dirty="0"/>
              <a:t>Etapa de Descodificación</a:t>
            </a:r>
          </a:p>
        </p:txBody>
      </p:sp>
      <p:sp>
        <p:nvSpPr>
          <p:cNvPr id="50182" name="Rectangle 78"/>
          <p:cNvSpPr>
            <a:spLocks noGrp="1" noChangeArrowheads="1"/>
          </p:cNvSpPr>
          <p:nvPr>
            <p:ph type="body" idx="1"/>
          </p:nvPr>
        </p:nvSpPr>
        <p:spPr>
          <a:xfrm>
            <a:off x="684213" y="762000"/>
            <a:ext cx="5335587" cy="6096000"/>
          </a:xfrm>
        </p:spPr>
        <p:txBody>
          <a:bodyPr/>
          <a:lstStyle/>
          <a:p>
            <a:r>
              <a:rPr lang="es-ES" dirty="0"/>
              <a:t>Funciones</a:t>
            </a:r>
          </a:p>
          <a:p>
            <a:pPr lvl="1"/>
            <a:r>
              <a:rPr lang="es-ES" dirty="0"/>
              <a:t>Con todas las instrucciones:</a:t>
            </a:r>
          </a:p>
          <a:p>
            <a:pPr lvl="2"/>
            <a:r>
              <a:rPr lang="es-ES" dirty="0"/>
              <a:t>Calcular las señales de control para las etapas posteriores </a:t>
            </a:r>
          </a:p>
          <a:p>
            <a:pPr lvl="2"/>
            <a:r>
              <a:rPr lang="es-ES" dirty="0"/>
              <a:t>Leer los registros fuente</a:t>
            </a:r>
          </a:p>
          <a:p>
            <a:pPr lvl="2"/>
            <a:r>
              <a:rPr lang="es-ES" dirty="0"/>
              <a:t>Procesar el operando inmediato</a:t>
            </a:r>
          </a:p>
          <a:p>
            <a:r>
              <a:rPr lang="es-ES" dirty="0"/>
              <a:t>Componentes</a:t>
            </a:r>
          </a:p>
          <a:p>
            <a:pPr lvl="1"/>
            <a:r>
              <a:rPr lang="es-ES" dirty="0"/>
              <a:t>Generador de inmediato</a:t>
            </a:r>
          </a:p>
          <a:p>
            <a:pPr lvl="1"/>
            <a:r>
              <a:rPr lang="es-ES" dirty="0"/>
              <a:t>Banco de registros (puertos d</a:t>
            </a:r>
            <a:r>
              <a:rPr lang="es-ES_tradnl" dirty="0"/>
              <a:t>e </a:t>
            </a:r>
            <a:r>
              <a:rPr lang="es-ES" dirty="0"/>
              <a:t>lectura)</a:t>
            </a:r>
          </a:p>
          <a:p>
            <a:pPr lvl="2"/>
            <a:r>
              <a:rPr lang="es-ES" dirty="0"/>
              <a:t>S := Reg[RI</a:t>
            </a:r>
            <a:r>
              <a:rPr lang="es-ES" baseline="-25000" dirty="0"/>
              <a:t>19..15</a:t>
            </a:r>
            <a:r>
              <a:rPr lang="es-ES" dirty="0"/>
              <a:t>]</a:t>
            </a:r>
          </a:p>
          <a:p>
            <a:pPr lvl="2"/>
            <a:r>
              <a:rPr lang="es-ES" dirty="0"/>
              <a:t>T := Reg[RI</a:t>
            </a:r>
            <a:r>
              <a:rPr lang="es-ES" baseline="-25000" dirty="0"/>
              <a:t>24..20</a:t>
            </a:r>
            <a:r>
              <a:rPr lang="es-ES" dirty="0"/>
              <a:t>]</a:t>
            </a:r>
          </a:p>
          <a:p>
            <a:r>
              <a:rPr lang="es-ES" dirty="0"/>
              <a:t>Señales de control</a:t>
            </a:r>
          </a:p>
          <a:p>
            <a:pPr lvl="1"/>
            <a:r>
              <a:rPr lang="es-ES" dirty="0">
                <a:solidFill>
                  <a:srgbClr val="FF0000"/>
                </a:solidFill>
              </a:rPr>
              <a:t>LReg</a:t>
            </a:r>
            <a:r>
              <a:rPr lang="es-ES" dirty="0"/>
              <a:t>:  Activa la lectura de los dos registros</a:t>
            </a:r>
          </a:p>
          <a:p>
            <a:pPr lvl="1">
              <a:buNone/>
            </a:pPr>
            <a:r>
              <a:rPr lang="es-ES" dirty="0"/>
              <a:t>(podemos prescindir de esta señal)</a:t>
            </a:r>
          </a:p>
        </p:txBody>
      </p:sp>
      <p:sp>
        <p:nvSpPr>
          <p:cNvPr id="50178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F95AC-B684-DC42-8B15-ECE318C6F08C}" type="slidenum">
              <a:rPr lang="en-US" smtClean="0"/>
              <a:pPr/>
              <a:t>25</a:t>
            </a:fld>
            <a:endParaRPr lang="en-US"/>
          </a:p>
        </p:txBody>
      </p:sp>
      <p:cxnSp>
        <p:nvCxnSpPr>
          <p:cNvPr id="50188" name="Conector recto 50187">
            <a:extLst>
              <a:ext uri="{FF2B5EF4-FFF2-40B4-BE49-F238E27FC236}">
                <a16:creationId xmlns:a16="http://schemas.microsoft.com/office/drawing/2014/main" id="{D3FBF6DA-844D-167F-690D-F2644F482435}"/>
              </a:ext>
            </a:extLst>
          </p:cNvPr>
          <p:cNvCxnSpPr/>
          <p:nvPr/>
        </p:nvCxnSpPr>
        <p:spPr bwMode="auto">
          <a:xfrm>
            <a:off x="6592243" y="2722496"/>
            <a:ext cx="2057399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0189" name="Conector recto 50188">
            <a:extLst>
              <a:ext uri="{FF2B5EF4-FFF2-40B4-BE49-F238E27FC236}">
                <a16:creationId xmlns:a16="http://schemas.microsoft.com/office/drawing/2014/main" id="{1C7143D2-D811-969A-2B27-DB9CDCEDD0CF}"/>
              </a:ext>
            </a:extLst>
          </p:cNvPr>
          <p:cNvCxnSpPr/>
          <p:nvPr/>
        </p:nvCxnSpPr>
        <p:spPr bwMode="auto">
          <a:xfrm>
            <a:off x="6781949" y="3503612"/>
            <a:ext cx="609600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0190" name="Conector recto 50189">
            <a:extLst>
              <a:ext uri="{FF2B5EF4-FFF2-40B4-BE49-F238E27FC236}">
                <a16:creationId xmlns:a16="http://schemas.microsoft.com/office/drawing/2014/main" id="{D8FE642B-C628-4977-4C9B-45A9E1F82D8B}"/>
              </a:ext>
            </a:extLst>
          </p:cNvPr>
          <p:cNvCxnSpPr>
            <a:cxnSpLocks/>
          </p:cNvCxnSpPr>
          <p:nvPr/>
        </p:nvCxnSpPr>
        <p:spPr bwMode="auto">
          <a:xfrm>
            <a:off x="6731167" y="6292868"/>
            <a:ext cx="191688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0191" name="Conector recto 50190">
            <a:extLst>
              <a:ext uri="{FF2B5EF4-FFF2-40B4-BE49-F238E27FC236}">
                <a16:creationId xmlns:a16="http://schemas.microsoft.com/office/drawing/2014/main" id="{B88559C2-18F0-AA4D-DF30-412B6221B738}"/>
              </a:ext>
            </a:extLst>
          </p:cNvPr>
          <p:cNvCxnSpPr>
            <a:cxnSpLocks/>
          </p:cNvCxnSpPr>
          <p:nvPr/>
        </p:nvCxnSpPr>
        <p:spPr bwMode="auto">
          <a:xfrm>
            <a:off x="6592243" y="5496808"/>
            <a:ext cx="176492" cy="0"/>
          </a:xfrm>
          <a:prstGeom prst="line">
            <a:avLst/>
          </a:prstGeom>
          <a:ln w="38100" cmpd="sng">
            <a:solidFill>
              <a:srgbClr val="2669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192" name="CuadroTexto 50191">
            <a:extLst>
              <a:ext uri="{FF2B5EF4-FFF2-40B4-BE49-F238E27FC236}">
                <a16:creationId xmlns:a16="http://schemas.microsoft.com/office/drawing/2014/main" id="{A2FFBA25-84E0-0A3A-0E10-BA01C09CDCC3}"/>
              </a:ext>
            </a:extLst>
          </p:cNvPr>
          <p:cNvSpPr txBox="1"/>
          <p:nvPr/>
        </p:nvSpPr>
        <p:spPr>
          <a:xfrm>
            <a:off x="6705749" y="3254787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i="1" dirty="0">
                <a:solidFill>
                  <a:schemeClr val="accent1">
                    <a:lumMod val="75000"/>
                  </a:schemeClr>
                </a:solidFill>
              </a:rPr>
              <a:t>19..15(rs1)</a:t>
            </a:r>
          </a:p>
        </p:txBody>
      </p:sp>
      <p:sp>
        <p:nvSpPr>
          <p:cNvPr id="50193" name="CuadroTexto 50192">
            <a:extLst>
              <a:ext uri="{FF2B5EF4-FFF2-40B4-BE49-F238E27FC236}">
                <a16:creationId xmlns:a16="http://schemas.microsoft.com/office/drawing/2014/main" id="{A435C552-3C35-C715-F61C-1A815393F419}"/>
              </a:ext>
            </a:extLst>
          </p:cNvPr>
          <p:cNvSpPr txBox="1"/>
          <p:nvPr/>
        </p:nvSpPr>
        <p:spPr>
          <a:xfrm>
            <a:off x="6705749" y="3645024"/>
            <a:ext cx="782587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ES_tradnl" sz="1000" i="1" dirty="0">
                <a:solidFill>
                  <a:schemeClr val="accent1">
                    <a:lumMod val="75000"/>
                  </a:schemeClr>
                </a:solidFill>
              </a:rPr>
              <a:t>24..20(rs2)</a:t>
            </a:r>
          </a:p>
        </p:txBody>
      </p:sp>
      <p:sp>
        <p:nvSpPr>
          <p:cNvPr id="50194" name="Rectángulo 50193">
            <a:extLst>
              <a:ext uri="{FF2B5EF4-FFF2-40B4-BE49-F238E27FC236}">
                <a16:creationId xmlns:a16="http://schemas.microsoft.com/office/drawing/2014/main" id="{A148536C-5896-A094-3885-BA890E1E624E}"/>
              </a:ext>
            </a:extLst>
          </p:cNvPr>
          <p:cNvSpPr/>
          <p:nvPr/>
        </p:nvSpPr>
        <p:spPr bwMode="auto">
          <a:xfrm>
            <a:off x="7391549" y="4841346"/>
            <a:ext cx="1060916" cy="598687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rgbClr val="000000"/>
                </a:solidFill>
              </a:rPr>
              <a:t>Generador de Inmediatos</a:t>
            </a:r>
          </a:p>
        </p:txBody>
      </p:sp>
      <p:cxnSp>
        <p:nvCxnSpPr>
          <p:cNvPr id="50195" name="Conector recto 50194">
            <a:extLst>
              <a:ext uri="{FF2B5EF4-FFF2-40B4-BE49-F238E27FC236}">
                <a16:creationId xmlns:a16="http://schemas.microsoft.com/office/drawing/2014/main" id="{D1522ECB-D9B5-B497-9DDD-8F5CE183DBE9}"/>
              </a:ext>
            </a:extLst>
          </p:cNvPr>
          <p:cNvCxnSpPr>
            <a:cxnSpLocks/>
            <a:endCxn id="50194" idx="1"/>
          </p:cNvCxnSpPr>
          <p:nvPr/>
        </p:nvCxnSpPr>
        <p:spPr bwMode="auto">
          <a:xfrm flipV="1">
            <a:off x="6787549" y="5140690"/>
            <a:ext cx="604000" cy="1121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196" name="CuadroTexto 50195">
            <a:extLst>
              <a:ext uri="{FF2B5EF4-FFF2-40B4-BE49-F238E27FC236}">
                <a16:creationId xmlns:a16="http://schemas.microsoft.com/office/drawing/2014/main" id="{03A006BF-2BEB-6B99-AD6B-978E3C2F7CA7}"/>
              </a:ext>
            </a:extLst>
          </p:cNvPr>
          <p:cNvSpPr txBox="1"/>
          <p:nvPr/>
        </p:nvSpPr>
        <p:spPr>
          <a:xfrm>
            <a:off x="6949957" y="5180543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31..0</a:t>
            </a:r>
          </a:p>
        </p:txBody>
      </p:sp>
      <p:cxnSp>
        <p:nvCxnSpPr>
          <p:cNvPr id="50198" name="Conector recto 50197">
            <a:extLst>
              <a:ext uri="{FF2B5EF4-FFF2-40B4-BE49-F238E27FC236}">
                <a16:creationId xmlns:a16="http://schemas.microsoft.com/office/drawing/2014/main" id="{B73460AE-2A86-C68D-68CC-04D11791258B}"/>
              </a:ext>
            </a:extLst>
          </p:cNvPr>
          <p:cNvCxnSpPr>
            <a:cxnSpLocks/>
          </p:cNvCxnSpPr>
          <p:nvPr/>
        </p:nvCxnSpPr>
        <p:spPr bwMode="auto">
          <a:xfrm flipV="1">
            <a:off x="6753728" y="703026"/>
            <a:ext cx="15007" cy="5577142"/>
          </a:xfrm>
          <a:prstGeom prst="line">
            <a:avLst/>
          </a:prstGeom>
          <a:ln w="38100" cmpd="sng">
            <a:solidFill>
              <a:srgbClr val="2669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199" name="Rectángulo 50198">
            <a:extLst>
              <a:ext uri="{FF2B5EF4-FFF2-40B4-BE49-F238E27FC236}">
                <a16:creationId xmlns:a16="http://schemas.microsoft.com/office/drawing/2014/main" id="{B87566DA-7376-3D95-8430-424E25C7D218}"/>
              </a:ext>
            </a:extLst>
          </p:cNvPr>
          <p:cNvSpPr/>
          <p:nvPr/>
        </p:nvSpPr>
        <p:spPr bwMode="auto">
          <a:xfrm>
            <a:off x="6287443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0200" name="Rectángulo 50199">
            <a:extLst>
              <a:ext uri="{FF2B5EF4-FFF2-40B4-BE49-F238E27FC236}">
                <a16:creationId xmlns:a16="http://schemas.microsoft.com/office/drawing/2014/main" id="{4B631C3B-8450-E348-AC60-313443299138}"/>
              </a:ext>
            </a:extLst>
          </p:cNvPr>
          <p:cNvSpPr/>
          <p:nvPr/>
        </p:nvSpPr>
        <p:spPr bwMode="auto">
          <a:xfrm rot="16200000">
            <a:off x="6068721" y="5390270"/>
            <a:ext cx="7620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RI</a:t>
            </a:r>
          </a:p>
        </p:txBody>
      </p:sp>
      <p:sp>
        <p:nvSpPr>
          <p:cNvPr id="50201" name="Rectángulo 50200">
            <a:extLst>
              <a:ext uri="{FF2B5EF4-FFF2-40B4-BE49-F238E27FC236}">
                <a16:creationId xmlns:a16="http://schemas.microsoft.com/office/drawing/2014/main" id="{82E7F21B-C76E-4D2C-D144-1736D4273172}"/>
              </a:ext>
            </a:extLst>
          </p:cNvPr>
          <p:cNvSpPr/>
          <p:nvPr/>
        </p:nvSpPr>
        <p:spPr bwMode="auto">
          <a:xfrm>
            <a:off x="8649643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0202" name="Rectángulo 50201">
            <a:extLst>
              <a:ext uri="{FF2B5EF4-FFF2-40B4-BE49-F238E27FC236}">
                <a16:creationId xmlns:a16="http://schemas.microsoft.com/office/drawing/2014/main" id="{734ABA7E-6493-59C9-3A79-7547D7EFADBE}"/>
              </a:ext>
            </a:extLst>
          </p:cNvPr>
          <p:cNvSpPr/>
          <p:nvPr/>
        </p:nvSpPr>
        <p:spPr bwMode="auto">
          <a:xfrm rot="16200000">
            <a:off x="8567795" y="3385080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S</a:t>
            </a:r>
          </a:p>
        </p:txBody>
      </p:sp>
      <p:sp>
        <p:nvSpPr>
          <p:cNvPr id="50203" name="Rectángulo 50202">
            <a:extLst>
              <a:ext uri="{FF2B5EF4-FFF2-40B4-BE49-F238E27FC236}">
                <a16:creationId xmlns:a16="http://schemas.microsoft.com/office/drawing/2014/main" id="{9ACE1CDE-7354-C25E-E3A2-FA09170824BB}"/>
              </a:ext>
            </a:extLst>
          </p:cNvPr>
          <p:cNvSpPr/>
          <p:nvPr/>
        </p:nvSpPr>
        <p:spPr bwMode="auto">
          <a:xfrm rot="16200000">
            <a:off x="8567796" y="3936350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T</a:t>
            </a:r>
          </a:p>
        </p:txBody>
      </p:sp>
      <p:sp>
        <p:nvSpPr>
          <p:cNvPr id="50204" name="Rectángulo 50203">
            <a:extLst>
              <a:ext uri="{FF2B5EF4-FFF2-40B4-BE49-F238E27FC236}">
                <a16:creationId xmlns:a16="http://schemas.microsoft.com/office/drawing/2014/main" id="{B4572B31-CE1D-3F14-833D-533D2B684571}"/>
              </a:ext>
            </a:extLst>
          </p:cNvPr>
          <p:cNvSpPr/>
          <p:nvPr/>
        </p:nvSpPr>
        <p:spPr bwMode="auto">
          <a:xfrm rot="16200000">
            <a:off x="8568740" y="4431386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K</a:t>
            </a:r>
          </a:p>
        </p:txBody>
      </p:sp>
      <p:sp>
        <p:nvSpPr>
          <p:cNvPr id="50205" name="CuadroTexto 50204">
            <a:extLst>
              <a:ext uri="{FF2B5EF4-FFF2-40B4-BE49-F238E27FC236}">
                <a16:creationId xmlns:a16="http://schemas.microsoft.com/office/drawing/2014/main" id="{92BF1396-00F4-3CB5-C0AD-41DAE192E601}"/>
              </a:ext>
            </a:extLst>
          </p:cNvPr>
          <p:cNvSpPr txBox="1"/>
          <p:nvPr/>
        </p:nvSpPr>
        <p:spPr>
          <a:xfrm rot="16200000">
            <a:off x="6154276" y="604691"/>
            <a:ext cx="562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LI/DI</a:t>
            </a:r>
          </a:p>
        </p:txBody>
      </p:sp>
      <p:sp>
        <p:nvSpPr>
          <p:cNvPr id="50206" name="CuadroTexto 50205">
            <a:extLst>
              <a:ext uri="{FF2B5EF4-FFF2-40B4-BE49-F238E27FC236}">
                <a16:creationId xmlns:a16="http://schemas.microsoft.com/office/drawing/2014/main" id="{9B9C8482-C68A-7292-6DF2-5FC9536AD913}"/>
              </a:ext>
            </a:extLst>
          </p:cNvPr>
          <p:cNvSpPr txBox="1"/>
          <p:nvPr/>
        </p:nvSpPr>
        <p:spPr>
          <a:xfrm rot="16200000">
            <a:off x="8497476" y="2070736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DI/EX</a:t>
            </a:r>
          </a:p>
        </p:txBody>
      </p:sp>
      <p:sp>
        <p:nvSpPr>
          <p:cNvPr id="50207" name="Rectángulo 50206">
            <a:extLst>
              <a:ext uri="{FF2B5EF4-FFF2-40B4-BE49-F238E27FC236}">
                <a16:creationId xmlns:a16="http://schemas.microsoft.com/office/drawing/2014/main" id="{D60F33DC-59AF-3BCA-F7A2-A1B5CA8317CF}"/>
              </a:ext>
            </a:extLst>
          </p:cNvPr>
          <p:cNvSpPr/>
          <p:nvPr/>
        </p:nvSpPr>
        <p:spPr bwMode="auto">
          <a:xfrm rot="16200000">
            <a:off x="6139275" y="2631714"/>
            <a:ext cx="609601" cy="21919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50208" name="Rectángulo 50207">
            <a:extLst>
              <a:ext uri="{FF2B5EF4-FFF2-40B4-BE49-F238E27FC236}">
                <a16:creationId xmlns:a16="http://schemas.microsoft.com/office/drawing/2014/main" id="{6C48F796-8DBE-4DBD-60B4-A4F23F615A72}"/>
              </a:ext>
            </a:extLst>
          </p:cNvPr>
          <p:cNvSpPr/>
          <p:nvPr/>
        </p:nvSpPr>
        <p:spPr bwMode="auto">
          <a:xfrm rot="16200000">
            <a:off x="8496769" y="2671135"/>
            <a:ext cx="609601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50209" name="CuadroTexto 50208">
            <a:extLst>
              <a:ext uri="{FF2B5EF4-FFF2-40B4-BE49-F238E27FC236}">
                <a16:creationId xmlns:a16="http://schemas.microsoft.com/office/drawing/2014/main" id="{1E5FF2C5-1494-70D1-0E5A-CAFD49F5BA8C}"/>
              </a:ext>
            </a:extLst>
          </p:cNvPr>
          <p:cNvSpPr txBox="1"/>
          <p:nvPr/>
        </p:nvSpPr>
        <p:spPr>
          <a:xfrm>
            <a:off x="7391549" y="6038626"/>
            <a:ext cx="6992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11..7(</a:t>
            </a:r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rd</a:t>
            </a:r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50210" name="CuadroTexto 50209">
            <a:extLst>
              <a:ext uri="{FF2B5EF4-FFF2-40B4-BE49-F238E27FC236}">
                <a16:creationId xmlns:a16="http://schemas.microsoft.com/office/drawing/2014/main" id="{D3CBCE93-6DEB-DDF2-A36D-4377EFAB751D}"/>
              </a:ext>
            </a:extLst>
          </p:cNvPr>
          <p:cNvSpPr txBox="1"/>
          <p:nvPr/>
        </p:nvSpPr>
        <p:spPr>
          <a:xfrm>
            <a:off x="7342290" y="5873965"/>
            <a:ext cx="784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Reg</a:t>
            </a:r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dest</a:t>
            </a:r>
            <a:endParaRPr lang="es-ES_tradnl" sz="11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0211" name="Rectángulo 50210">
            <a:extLst>
              <a:ext uri="{FF2B5EF4-FFF2-40B4-BE49-F238E27FC236}">
                <a16:creationId xmlns:a16="http://schemas.microsoft.com/office/drawing/2014/main" id="{EA94C9E3-BF94-E0F9-4193-3AA6F90260E6}"/>
              </a:ext>
            </a:extLst>
          </p:cNvPr>
          <p:cNvSpPr/>
          <p:nvPr/>
        </p:nvSpPr>
        <p:spPr bwMode="auto">
          <a:xfrm rot="16200000">
            <a:off x="8592257" y="6022781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50212" name="Rectángulo 50211">
            <a:extLst>
              <a:ext uri="{FF2B5EF4-FFF2-40B4-BE49-F238E27FC236}">
                <a16:creationId xmlns:a16="http://schemas.microsoft.com/office/drawing/2014/main" id="{1FE797B1-A7C4-A72A-5993-75646434CEAA}"/>
              </a:ext>
            </a:extLst>
          </p:cNvPr>
          <p:cNvSpPr/>
          <p:nvPr/>
        </p:nvSpPr>
        <p:spPr bwMode="auto">
          <a:xfrm>
            <a:off x="6720181" y="3463924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50213" name="Rectángulo 50212">
            <a:extLst>
              <a:ext uri="{FF2B5EF4-FFF2-40B4-BE49-F238E27FC236}">
                <a16:creationId xmlns:a16="http://schemas.microsoft.com/office/drawing/2014/main" id="{5F602640-28AB-3B92-5F3E-73F7A2C5476A}"/>
              </a:ext>
            </a:extLst>
          </p:cNvPr>
          <p:cNvSpPr/>
          <p:nvPr/>
        </p:nvSpPr>
        <p:spPr bwMode="auto">
          <a:xfrm>
            <a:off x="7391549" y="3317347"/>
            <a:ext cx="913134" cy="1371600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rgbClr val="000000"/>
                </a:solidFill>
              </a:rPr>
              <a:t>Banco de Registros</a:t>
            </a:r>
          </a:p>
        </p:txBody>
      </p:sp>
      <p:cxnSp>
        <p:nvCxnSpPr>
          <p:cNvPr id="50214" name="Conector recto 50213">
            <a:extLst>
              <a:ext uri="{FF2B5EF4-FFF2-40B4-BE49-F238E27FC236}">
                <a16:creationId xmlns:a16="http://schemas.microsoft.com/office/drawing/2014/main" id="{1779D885-1B38-1660-C35C-74D1E282D20A}"/>
              </a:ext>
            </a:extLst>
          </p:cNvPr>
          <p:cNvCxnSpPr>
            <a:cxnSpLocks/>
          </p:cNvCxnSpPr>
          <p:nvPr/>
        </p:nvCxnSpPr>
        <p:spPr bwMode="auto">
          <a:xfrm>
            <a:off x="8304683" y="3579812"/>
            <a:ext cx="34496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0215" name="Conector recto 50214">
            <a:extLst>
              <a:ext uri="{FF2B5EF4-FFF2-40B4-BE49-F238E27FC236}">
                <a16:creationId xmlns:a16="http://schemas.microsoft.com/office/drawing/2014/main" id="{639D5FB8-2867-C337-AA6C-011226387D79}"/>
              </a:ext>
            </a:extLst>
          </p:cNvPr>
          <p:cNvCxnSpPr>
            <a:cxnSpLocks/>
          </p:cNvCxnSpPr>
          <p:nvPr/>
        </p:nvCxnSpPr>
        <p:spPr bwMode="auto">
          <a:xfrm>
            <a:off x="8312072" y="4073467"/>
            <a:ext cx="335983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0216" name="Conector recto 50215">
            <a:extLst>
              <a:ext uri="{FF2B5EF4-FFF2-40B4-BE49-F238E27FC236}">
                <a16:creationId xmlns:a16="http://schemas.microsoft.com/office/drawing/2014/main" id="{5C528533-42D3-0957-B1B2-DA2517E5EB9A}"/>
              </a:ext>
            </a:extLst>
          </p:cNvPr>
          <p:cNvCxnSpPr>
            <a:cxnSpLocks/>
          </p:cNvCxnSpPr>
          <p:nvPr/>
        </p:nvCxnSpPr>
        <p:spPr bwMode="auto">
          <a:xfrm>
            <a:off x="8367855" y="4570412"/>
            <a:ext cx="254347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0217" name="Conector recto 50216">
            <a:extLst>
              <a:ext uri="{FF2B5EF4-FFF2-40B4-BE49-F238E27FC236}">
                <a16:creationId xmlns:a16="http://schemas.microsoft.com/office/drawing/2014/main" id="{127553E4-6D63-E10C-D636-397947A0487C}"/>
              </a:ext>
            </a:extLst>
          </p:cNvPr>
          <p:cNvCxnSpPr>
            <a:cxnSpLocks/>
          </p:cNvCxnSpPr>
          <p:nvPr/>
        </p:nvCxnSpPr>
        <p:spPr bwMode="auto">
          <a:xfrm flipV="1">
            <a:off x="8367855" y="4570412"/>
            <a:ext cx="0" cy="270934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218" name="Rectángulo 50217">
            <a:extLst>
              <a:ext uri="{FF2B5EF4-FFF2-40B4-BE49-F238E27FC236}">
                <a16:creationId xmlns:a16="http://schemas.microsoft.com/office/drawing/2014/main" id="{6333A49B-7A90-D6EA-F39E-4BE7B3A29957}"/>
              </a:ext>
            </a:extLst>
          </p:cNvPr>
          <p:cNvSpPr/>
          <p:nvPr/>
        </p:nvSpPr>
        <p:spPr bwMode="auto">
          <a:xfrm>
            <a:off x="6713221" y="5109475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50220" name="Rectángulo 50219">
            <a:extLst>
              <a:ext uri="{FF2B5EF4-FFF2-40B4-BE49-F238E27FC236}">
                <a16:creationId xmlns:a16="http://schemas.microsoft.com/office/drawing/2014/main" id="{2196E318-D274-F4FD-B1E4-F92C25BB46AA}"/>
              </a:ext>
            </a:extLst>
          </p:cNvPr>
          <p:cNvSpPr/>
          <p:nvPr/>
        </p:nvSpPr>
        <p:spPr bwMode="auto">
          <a:xfrm>
            <a:off x="6723131" y="3844924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50221" name="Conector recto 50220">
            <a:extLst>
              <a:ext uri="{FF2B5EF4-FFF2-40B4-BE49-F238E27FC236}">
                <a16:creationId xmlns:a16="http://schemas.microsoft.com/office/drawing/2014/main" id="{AAAA999D-C670-925A-114C-9EE745DE905D}"/>
              </a:ext>
            </a:extLst>
          </p:cNvPr>
          <p:cNvCxnSpPr>
            <a:cxnSpLocks/>
            <a:stCxn id="50220" idx="3"/>
          </p:cNvCxnSpPr>
          <p:nvPr/>
        </p:nvCxnSpPr>
        <p:spPr bwMode="auto">
          <a:xfrm>
            <a:off x="6799331" y="3883024"/>
            <a:ext cx="58586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222" name="Rectángulo 50221">
            <a:extLst>
              <a:ext uri="{FF2B5EF4-FFF2-40B4-BE49-F238E27FC236}">
                <a16:creationId xmlns:a16="http://schemas.microsoft.com/office/drawing/2014/main" id="{6E87DFA6-7D34-0984-7BE8-47E14DBED3C2}"/>
              </a:ext>
            </a:extLst>
          </p:cNvPr>
          <p:cNvSpPr/>
          <p:nvPr/>
        </p:nvSpPr>
        <p:spPr bwMode="auto">
          <a:xfrm>
            <a:off x="7242263" y="455612"/>
            <a:ext cx="1029493" cy="1371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dirty="0">
                <a:solidFill>
                  <a:srgbClr val="000000"/>
                </a:solidFill>
              </a:rPr>
              <a:t>Descodificador y Unidad de Control</a:t>
            </a:r>
          </a:p>
        </p:txBody>
      </p:sp>
      <p:cxnSp>
        <p:nvCxnSpPr>
          <p:cNvPr id="50226" name="Conector recto 50225">
            <a:extLst>
              <a:ext uri="{FF2B5EF4-FFF2-40B4-BE49-F238E27FC236}">
                <a16:creationId xmlns:a16="http://schemas.microsoft.com/office/drawing/2014/main" id="{20BC7ACB-7775-474F-5636-5B92B785F9FC}"/>
              </a:ext>
            </a:extLst>
          </p:cNvPr>
          <p:cNvCxnSpPr>
            <a:cxnSpLocks/>
          </p:cNvCxnSpPr>
          <p:nvPr/>
        </p:nvCxnSpPr>
        <p:spPr bwMode="auto">
          <a:xfrm>
            <a:off x="6753728" y="703026"/>
            <a:ext cx="488535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230" name="CuadroTexto 50229">
            <a:extLst>
              <a:ext uri="{FF2B5EF4-FFF2-40B4-BE49-F238E27FC236}">
                <a16:creationId xmlns:a16="http://schemas.microsoft.com/office/drawing/2014/main" id="{5904E3D7-831F-5B01-DAD1-775A8993C2E6}"/>
              </a:ext>
            </a:extLst>
          </p:cNvPr>
          <p:cNvSpPr txBox="1"/>
          <p:nvPr/>
        </p:nvSpPr>
        <p:spPr>
          <a:xfrm>
            <a:off x="7529506" y="0"/>
            <a:ext cx="4411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 dirty="0">
                <a:solidFill>
                  <a:srgbClr val="0000FF"/>
                </a:solidFill>
              </a:rPr>
              <a:t>DI</a:t>
            </a:r>
          </a:p>
        </p:txBody>
      </p:sp>
      <p:cxnSp>
        <p:nvCxnSpPr>
          <p:cNvPr id="50231" name="Conector recto 50230">
            <a:extLst>
              <a:ext uri="{FF2B5EF4-FFF2-40B4-BE49-F238E27FC236}">
                <a16:creationId xmlns:a16="http://schemas.microsoft.com/office/drawing/2014/main" id="{7900EC9D-F3A0-2825-8050-B2757CEC099B}"/>
              </a:ext>
            </a:extLst>
          </p:cNvPr>
          <p:cNvCxnSpPr>
            <a:cxnSpLocks/>
            <a:stCxn id="50232" idx="2"/>
          </p:cNvCxnSpPr>
          <p:nvPr/>
        </p:nvCxnSpPr>
        <p:spPr bwMode="auto">
          <a:xfrm>
            <a:off x="7603047" y="3040435"/>
            <a:ext cx="2472" cy="270690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232" name="CuadroTexto 50231">
            <a:extLst>
              <a:ext uri="{FF2B5EF4-FFF2-40B4-BE49-F238E27FC236}">
                <a16:creationId xmlns:a16="http://schemas.microsoft.com/office/drawing/2014/main" id="{9C0A7FC8-9A0D-87E2-E3FE-6F8F7145E75A}"/>
              </a:ext>
            </a:extLst>
          </p:cNvPr>
          <p:cNvSpPr txBox="1"/>
          <p:nvPr/>
        </p:nvSpPr>
        <p:spPr>
          <a:xfrm>
            <a:off x="7318353" y="2763436"/>
            <a:ext cx="5693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LReg</a:t>
            </a:r>
            <a:endParaRPr lang="es-ES_tradnl" sz="1200" b="1" dirty="0">
              <a:solidFill>
                <a:srgbClr val="FF66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Etapa de Ejecución</a:t>
            </a:r>
          </a:p>
        </p:txBody>
      </p:sp>
      <p:sp>
        <p:nvSpPr>
          <p:cNvPr id="51206" name="Rectangle 78"/>
          <p:cNvSpPr>
            <a:spLocks noGrp="1" noChangeArrowheads="1"/>
          </p:cNvSpPr>
          <p:nvPr>
            <p:ph type="body" idx="1"/>
          </p:nvPr>
        </p:nvSpPr>
        <p:spPr>
          <a:xfrm>
            <a:off x="457199" y="915988"/>
            <a:ext cx="5943601" cy="5256212"/>
          </a:xfrm>
        </p:spPr>
        <p:txBody>
          <a:bodyPr/>
          <a:lstStyle/>
          <a:p>
            <a:r>
              <a:rPr lang="es-ES_tradnl" dirty="0"/>
              <a:t>Funciones</a:t>
            </a:r>
          </a:p>
          <a:p>
            <a:pPr lvl="1"/>
            <a:r>
              <a:rPr lang="es-ES_tradnl" dirty="0"/>
              <a:t>Instr. de cálculo: obtención del resultado</a:t>
            </a:r>
          </a:p>
          <a:p>
            <a:pPr lvl="1"/>
            <a:r>
              <a:rPr lang="es-ES_tradnl" dirty="0"/>
              <a:t>Instr. load/store: cálculo de la dirección de memoria</a:t>
            </a:r>
          </a:p>
          <a:p>
            <a:pPr lvl="1"/>
            <a:r>
              <a:rPr lang="es-ES_tradnl" dirty="0"/>
              <a:t>Instr. de salto: calcula la dirección de salto (</a:t>
            </a:r>
            <a:r>
              <a:rPr lang="es-ES_tradnl" dirty="0" err="1"/>
              <a:t>ALUout</a:t>
            </a:r>
            <a:r>
              <a:rPr lang="es-ES_tradnl" dirty="0"/>
              <a:t>) y evalúa la condición de salto (Cond)</a:t>
            </a:r>
          </a:p>
          <a:p>
            <a:r>
              <a:rPr lang="es-ES_tradnl" dirty="0"/>
              <a:t>Señales de control</a:t>
            </a:r>
          </a:p>
          <a:p>
            <a:pPr lvl="1"/>
            <a:r>
              <a:rPr lang="es-ES_tradnl" dirty="0" err="1">
                <a:solidFill>
                  <a:srgbClr val="FF0000"/>
                </a:solidFill>
              </a:rPr>
              <a:t>MxA</a:t>
            </a:r>
            <a:r>
              <a:rPr lang="es-ES_tradnl" dirty="0">
                <a:solidFill>
                  <a:srgbClr val="FF0000"/>
                </a:solidFill>
              </a:rPr>
              <a:t>:</a:t>
            </a:r>
            <a:r>
              <a:rPr lang="es-ES_tradnl" dirty="0"/>
              <a:t> Selecciona primer operando para la ALU</a:t>
            </a:r>
            <a:r>
              <a:rPr lang="es-ES_tradnl" dirty="0">
                <a:solidFill>
                  <a:srgbClr val="FF0000"/>
                </a:solidFill>
              </a:rPr>
              <a:t> </a:t>
            </a:r>
          </a:p>
          <a:p>
            <a:pPr lvl="1"/>
            <a:r>
              <a:rPr lang="es-ES_tradnl" dirty="0" err="1">
                <a:solidFill>
                  <a:srgbClr val="FF0000"/>
                </a:solidFill>
              </a:rPr>
              <a:t>MxB</a:t>
            </a:r>
            <a:r>
              <a:rPr lang="es-ES_tradnl" dirty="0"/>
              <a:t>: Selecciona segundo operando para la ALU</a:t>
            </a:r>
          </a:p>
          <a:p>
            <a:pPr lvl="1"/>
            <a:r>
              <a:rPr lang="es-ES_tradnl" dirty="0" err="1">
                <a:solidFill>
                  <a:srgbClr val="FF0000"/>
                </a:solidFill>
              </a:rPr>
              <a:t>OpALU</a:t>
            </a:r>
            <a:r>
              <a:rPr lang="es-ES_tradnl" dirty="0"/>
              <a:t>: Determina la operación que hará la ALU</a:t>
            </a:r>
          </a:p>
          <a:p>
            <a:pPr lvl="1"/>
            <a:r>
              <a:rPr lang="es-ES_tradnl" dirty="0" err="1">
                <a:solidFill>
                  <a:srgbClr val="FF0000"/>
                </a:solidFill>
              </a:rPr>
              <a:t>TipoInst</a:t>
            </a:r>
            <a:r>
              <a:rPr lang="es-ES_tradnl" dirty="0"/>
              <a:t>: Tipo de instrucción</a:t>
            </a:r>
          </a:p>
        </p:txBody>
      </p:sp>
      <p:sp>
        <p:nvSpPr>
          <p:cNvPr id="51202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25FFE-E328-B149-BF53-4B3E524EE52D}" type="slidenum">
              <a:rPr lang="es-ES_tradnl" smtClean="0"/>
              <a:pPr/>
              <a:t>26</a:t>
            </a:fld>
            <a:endParaRPr lang="es-ES_tradnl"/>
          </a:p>
        </p:txBody>
      </p:sp>
      <p:sp>
        <p:nvSpPr>
          <p:cNvPr id="11" name="Freeform 42">
            <a:extLst>
              <a:ext uri="{FF2B5EF4-FFF2-40B4-BE49-F238E27FC236}">
                <a16:creationId xmlns:a16="http://schemas.microsoft.com/office/drawing/2014/main" id="{09E5E80B-611B-B2C6-3360-CF9890FA0212}"/>
              </a:ext>
            </a:extLst>
          </p:cNvPr>
          <p:cNvSpPr>
            <a:spLocks/>
          </p:cNvSpPr>
          <p:nvPr/>
        </p:nvSpPr>
        <p:spPr bwMode="blackWhite">
          <a:xfrm>
            <a:off x="7966168" y="3275012"/>
            <a:ext cx="495300" cy="1028700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r>
              <a:rPr lang="es-ES_tradnl" sz="1200" dirty="0"/>
              <a:t>ALU</a:t>
            </a:r>
            <a:endParaRPr lang="es-ES_tradnl" sz="180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C58E253-36B2-9E4C-2A79-F4B59CD7BD8E}"/>
              </a:ext>
            </a:extLst>
          </p:cNvPr>
          <p:cNvSpPr/>
          <p:nvPr/>
        </p:nvSpPr>
        <p:spPr bwMode="auto">
          <a:xfrm>
            <a:off x="6671562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3CF7A2E-B491-D7DD-D388-0D087A61C802}"/>
              </a:ext>
            </a:extLst>
          </p:cNvPr>
          <p:cNvSpPr/>
          <p:nvPr/>
        </p:nvSpPr>
        <p:spPr bwMode="auto">
          <a:xfrm rot="16200000">
            <a:off x="6589714" y="3385080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S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B1C8F08-BC4F-2E0A-CE6F-1274BA1E1EE7}"/>
              </a:ext>
            </a:extLst>
          </p:cNvPr>
          <p:cNvSpPr/>
          <p:nvPr/>
        </p:nvSpPr>
        <p:spPr bwMode="auto">
          <a:xfrm rot="16200000">
            <a:off x="6589715" y="3936350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T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5B7AED26-58B5-FE79-CD0F-13350E60351E}"/>
              </a:ext>
            </a:extLst>
          </p:cNvPr>
          <p:cNvSpPr/>
          <p:nvPr/>
        </p:nvSpPr>
        <p:spPr bwMode="auto">
          <a:xfrm rot="16200000">
            <a:off x="6590659" y="4431386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K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A40D5BB2-D325-12BD-4D54-D41F1F1809F3}"/>
              </a:ext>
            </a:extLst>
          </p:cNvPr>
          <p:cNvSpPr/>
          <p:nvPr/>
        </p:nvSpPr>
        <p:spPr bwMode="auto">
          <a:xfrm>
            <a:off x="8652761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844A1AEA-00A7-C2A5-287C-87C3AE13749E}"/>
              </a:ext>
            </a:extLst>
          </p:cNvPr>
          <p:cNvSpPr/>
          <p:nvPr/>
        </p:nvSpPr>
        <p:spPr bwMode="auto">
          <a:xfrm rot="16200000">
            <a:off x="8357840" y="36179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ALUout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82F48C3A-31E9-E63F-A389-4FD09A82F1A5}"/>
              </a:ext>
            </a:extLst>
          </p:cNvPr>
          <p:cNvSpPr/>
          <p:nvPr/>
        </p:nvSpPr>
        <p:spPr bwMode="auto">
          <a:xfrm rot="16200000">
            <a:off x="8589879" y="4863434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T</a:t>
            </a:r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EAAC9232-74E4-2C69-9F24-7160343ECCF2}"/>
              </a:ext>
            </a:extLst>
          </p:cNvPr>
          <p:cNvCxnSpPr/>
          <p:nvPr/>
        </p:nvCxnSpPr>
        <p:spPr bwMode="auto">
          <a:xfrm>
            <a:off x="8471196" y="3789039"/>
            <a:ext cx="190027" cy="1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5225778-B5FC-244C-8A68-0F7F7EB9A8CF}"/>
              </a:ext>
            </a:extLst>
          </p:cNvPr>
          <p:cNvSpPr txBox="1"/>
          <p:nvPr/>
        </p:nvSpPr>
        <p:spPr>
          <a:xfrm rot="16200000">
            <a:off x="6519395" y="2070736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DI/EX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BA034266-8E32-9B8A-D375-FF7BD3BDE5F9}"/>
              </a:ext>
            </a:extLst>
          </p:cNvPr>
          <p:cNvSpPr/>
          <p:nvPr/>
        </p:nvSpPr>
        <p:spPr bwMode="auto">
          <a:xfrm rot="16200000">
            <a:off x="6518688" y="2671135"/>
            <a:ext cx="609601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87AFC457-9D93-E024-8CB0-14F719C25E4A}"/>
              </a:ext>
            </a:extLst>
          </p:cNvPr>
          <p:cNvSpPr/>
          <p:nvPr/>
        </p:nvSpPr>
        <p:spPr bwMode="auto">
          <a:xfrm rot="16200000">
            <a:off x="8523954" y="5433416"/>
            <a:ext cx="609601" cy="20117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Cond</a:t>
            </a:r>
          </a:p>
        </p:txBody>
      </p: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36B61D53-6227-3082-494B-343B62DE292F}"/>
              </a:ext>
            </a:extLst>
          </p:cNvPr>
          <p:cNvCxnSpPr>
            <a:cxnSpLocks/>
          </p:cNvCxnSpPr>
          <p:nvPr/>
        </p:nvCxnSpPr>
        <p:spPr bwMode="auto">
          <a:xfrm>
            <a:off x="7129548" y="3578224"/>
            <a:ext cx="0" cy="1614472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D7A31494-4DF2-1483-561C-ED5142A9C185}"/>
              </a:ext>
            </a:extLst>
          </p:cNvPr>
          <p:cNvCxnSpPr>
            <a:cxnSpLocks/>
            <a:stCxn id="62" idx="2"/>
          </p:cNvCxnSpPr>
          <p:nvPr/>
        </p:nvCxnSpPr>
        <p:spPr bwMode="auto">
          <a:xfrm>
            <a:off x="7772706" y="4115379"/>
            <a:ext cx="193462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DC212CC6-B26E-579F-95F5-22C37FC3DB63}"/>
              </a:ext>
            </a:extLst>
          </p:cNvPr>
          <p:cNvCxnSpPr>
            <a:cxnSpLocks/>
          </p:cNvCxnSpPr>
          <p:nvPr/>
        </p:nvCxnSpPr>
        <p:spPr bwMode="auto">
          <a:xfrm>
            <a:off x="6984364" y="2720908"/>
            <a:ext cx="220597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58752AB9-EC83-5A19-248D-AFA5A20EA252}"/>
              </a:ext>
            </a:extLst>
          </p:cNvPr>
          <p:cNvCxnSpPr>
            <a:cxnSpLocks/>
          </p:cNvCxnSpPr>
          <p:nvPr/>
        </p:nvCxnSpPr>
        <p:spPr bwMode="auto">
          <a:xfrm flipV="1">
            <a:off x="7184129" y="2720908"/>
            <a:ext cx="0" cy="532672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7DD98BA0-1780-4AA2-5E22-DD841611945D}"/>
              </a:ext>
            </a:extLst>
          </p:cNvPr>
          <p:cNvCxnSpPr>
            <a:cxnSpLocks/>
          </p:cNvCxnSpPr>
          <p:nvPr/>
        </p:nvCxnSpPr>
        <p:spPr bwMode="auto">
          <a:xfrm>
            <a:off x="6976361" y="4077072"/>
            <a:ext cx="567745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3" name="Rectángulo 52">
            <a:extLst>
              <a:ext uri="{FF2B5EF4-FFF2-40B4-BE49-F238E27FC236}">
                <a16:creationId xmlns:a16="http://schemas.microsoft.com/office/drawing/2014/main" id="{EBAC4649-DCE0-A130-02F6-CFF686C21C8F}"/>
              </a:ext>
            </a:extLst>
          </p:cNvPr>
          <p:cNvSpPr/>
          <p:nvPr/>
        </p:nvSpPr>
        <p:spPr bwMode="auto">
          <a:xfrm>
            <a:off x="7267841" y="4046009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538BA4FE-955E-CD69-9BDA-3F93A703A7B6}"/>
              </a:ext>
            </a:extLst>
          </p:cNvPr>
          <p:cNvCxnSpPr>
            <a:cxnSpLocks/>
          </p:cNvCxnSpPr>
          <p:nvPr/>
        </p:nvCxnSpPr>
        <p:spPr bwMode="auto">
          <a:xfrm>
            <a:off x="7300921" y="4941168"/>
            <a:ext cx="1351046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D0503F44-B6F7-F541-3A42-B18FA450DDEE}"/>
              </a:ext>
            </a:extLst>
          </p:cNvPr>
          <p:cNvCxnSpPr>
            <a:cxnSpLocks/>
          </p:cNvCxnSpPr>
          <p:nvPr/>
        </p:nvCxnSpPr>
        <p:spPr bwMode="auto">
          <a:xfrm>
            <a:off x="7167655" y="3246790"/>
            <a:ext cx="37645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3C36886B-4A69-9729-972D-4F9768AADBA5}"/>
              </a:ext>
            </a:extLst>
          </p:cNvPr>
          <p:cNvCxnSpPr>
            <a:cxnSpLocks/>
          </p:cNvCxnSpPr>
          <p:nvPr/>
        </p:nvCxnSpPr>
        <p:spPr bwMode="auto">
          <a:xfrm>
            <a:off x="6975417" y="3579812"/>
            <a:ext cx="56868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8" name="Rectángulo 57">
            <a:extLst>
              <a:ext uri="{FF2B5EF4-FFF2-40B4-BE49-F238E27FC236}">
                <a16:creationId xmlns:a16="http://schemas.microsoft.com/office/drawing/2014/main" id="{AFE26E19-B224-E4B2-7959-B3FDD0EA819F}"/>
              </a:ext>
            </a:extLst>
          </p:cNvPr>
          <p:cNvSpPr/>
          <p:nvPr/>
        </p:nvSpPr>
        <p:spPr bwMode="auto">
          <a:xfrm rot="16200000">
            <a:off x="7334405" y="3295427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4FDAE28E-4D2F-EFE9-EB79-2A4AC836EC03}"/>
              </a:ext>
            </a:extLst>
          </p:cNvPr>
          <p:cNvCxnSpPr>
            <a:cxnSpLocks/>
          </p:cNvCxnSpPr>
          <p:nvPr/>
        </p:nvCxnSpPr>
        <p:spPr bwMode="auto">
          <a:xfrm>
            <a:off x="7772706" y="3402849"/>
            <a:ext cx="193462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0" name="Rectángulo 59">
            <a:extLst>
              <a:ext uri="{FF2B5EF4-FFF2-40B4-BE49-F238E27FC236}">
                <a16:creationId xmlns:a16="http://schemas.microsoft.com/office/drawing/2014/main" id="{BB732443-1AF9-E9C2-4930-64B6D23E25DC}"/>
              </a:ext>
            </a:extLst>
          </p:cNvPr>
          <p:cNvSpPr/>
          <p:nvPr/>
        </p:nvSpPr>
        <p:spPr bwMode="auto">
          <a:xfrm>
            <a:off x="7097340" y="3544521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2FE9C492-D3A7-172B-57E6-FC356EDECBDC}"/>
              </a:ext>
            </a:extLst>
          </p:cNvPr>
          <p:cNvCxnSpPr>
            <a:cxnSpLocks/>
            <a:stCxn id="53" idx="2"/>
          </p:cNvCxnSpPr>
          <p:nvPr/>
        </p:nvCxnSpPr>
        <p:spPr bwMode="auto">
          <a:xfrm>
            <a:off x="7305941" y="4122209"/>
            <a:ext cx="0" cy="1062907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2" name="Rectángulo 61">
            <a:extLst>
              <a:ext uri="{FF2B5EF4-FFF2-40B4-BE49-F238E27FC236}">
                <a16:creationId xmlns:a16="http://schemas.microsoft.com/office/drawing/2014/main" id="{34519D07-8C17-3561-0B88-E55AE08668C3}"/>
              </a:ext>
            </a:extLst>
          </p:cNvPr>
          <p:cNvSpPr/>
          <p:nvPr/>
        </p:nvSpPr>
        <p:spPr bwMode="auto">
          <a:xfrm rot="16200000">
            <a:off x="7336673" y="4001079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4E8B4D48-0FF0-A297-2023-F8046B084E63}"/>
              </a:ext>
            </a:extLst>
          </p:cNvPr>
          <p:cNvCxnSpPr>
            <a:cxnSpLocks/>
          </p:cNvCxnSpPr>
          <p:nvPr/>
        </p:nvCxnSpPr>
        <p:spPr bwMode="auto">
          <a:xfrm flipV="1">
            <a:off x="6984364" y="6292868"/>
            <a:ext cx="1668397" cy="2244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4" name="Rectángulo 63">
            <a:extLst>
              <a:ext uri="{FF2B5EF4-FFF2-40B4-BE49-F238E27FC236}">
                <a16:creationId xmlns:a16="http://schemas.microsoft.com/office/drawing/2014/main" id="{8D31D364-8110-9496-B845-4B2E59A67CB4}"/>
              </a:ext>
            </a:extLst>
          </p:cNvPr>
          <p:cNvSpPr/>
          <p:nvPr/>
        </p:nvSpPr>
        <p:spPr bwMode="auto">
          <a:xfrm>
            <a:off x="7070794" y="5206577"/>
            <a:ext cx="1060916" cy="598687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  <a:tint val="66000"/>
                  <a:satMod val="160000"/>
                </a:schemeClr>
              </a:gs>
              <a:gs pos="50000">
                <a:schemeClr val="accent4">
                  <a:tint val="66000"/>
                  <a:satMod val="160000"/>
                  <a:tint val="44500"/>
                  <a:satMod val="160000"/>
                </a:schemeClr>
              </a:gs>
              <a:gs pos="100000">
                <a:schemeClr val="accent4">
                  <a:tint val="66000"/>
                  <a:satMod val="160000"/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Branch</a:t>
            </a: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FCD61DA7-F521-93C1-ABF6-4085E2506BA3}"/>
              </a:ext>
            </a:extLst>
          </p:cNvPr>
          <p:cNvSpPr/>
          <p:nvPr/>
        </p:nvSpPr>
        <p:spPr bwMode="auto">
          <a:xfrm rot="16200000">
            <a:off x="6614176" y="6022781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4F311FA0-04E6-D47D-4493-7F1AA8F4B884}"/>
              </a:ext>
            </a:extLst>
          </p:cNvPr>
          <p:cNvSpPr/>
          <p:nvPr/>
        </p:nvSpPr>
        <p:spPr bwMode="auto">
          <a:xfrm rot="16200000">
            <a:off x="8627936" y="6054250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 err="1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223404BC-A9A2-513E-6661-99D88BAD81FE}"/>
              </a:ext>
            </a:extLst>
          </p:cNvPr>
          <p:cNvSpPr txBox="1"/>
          <p:nvPr/>
        </p:nvSpPr>
        <p:spPr>
          <a:xfrm rot="16200000">
            <a:off x="8508912" y="1894188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EX/M</a:t>
            </a:r>
          </a:p>
        </p:txBody>
      </p: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762A51E6-02FD-C18C-3B8B-D7D77F87F7FB}"/>
              </a:ext>
            </a:extLst>
          </p:cNvPr>
          <p:cNvCxnSpPr>
            <a:cxnSpLocks/>
          </p:cNvCxnSpPr>
          <p:nvPr/>
        </p:nvCxnSpPr>
        <p:spPr bwMode="auto">
          <a:xfrm flipV="1">
            <a:off x="6932153" y="4376092"/>
            <a:ext cx="606424" cy="6853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F486E54E-EE7F-5D32-3156-3C4E19FF4940}"/>
              </a:ext>
            </a:extLst>
          </p:cNvPr>
          <p:cNvCxnSpPr>
            <a:cxnSpLocks/>
            <a:stCxn id="64" idx="3"/>
          </p:cNvCxnSpPr>
          <p:nvPr/>
        </p:nvCxnSpPr>
        <p:spPr bwMode="auto">
          <a:xfrm>
            <a:off x="8131710" y="5505921"/>
            <a:ext cx="518074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0" name="Rectángulo 69">
            <a:extLst>
              <a:ext uri="{FF2B5EF4-FFF2-40B4-BE49-F238E27FC236}">
                <a16:creationId xmlns:a16="http://schemas.microsoft.com/office/drawing/2014/main" id="{ECB685DD-B475-79FB-49AB-11ECA87E336E}"/>
              </a:ext>
            </a:extLst>
          </p:cNvPr>
          <p:cNvSpPr/>
          <p:nvPr/>
        </p:nvSpPr>
        <p:spPr bwMode="auto">
          <a:xfrm>
            <a:off x="7281162" y="4891717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0ACD56C2-5900-7031-CB79-4DF8F488C3BD}"/>
              </a:ext>
            </a:extLst>
          </p:cNvPr>
          <p:cNvCxnSpPr/>
          <p:nvPr/>
        </p:nvCxnSpPr>
        <p:spPr bwMode="auto">
          <a:xfrm rot="5400000" flipH="1" flipV="1">
            <a:off x="8103142" y="4261792"/>
            <a:ext cx="227012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2" name="CuadroTexto 71">
            <a:extLst>
              <a:ext uri="{FF2B5EF4-FFF2-40B4-BE49-F238E27FC236}">
                <a16:creationId xmlns:a16="http://schemas.microsoft.com/office/drawing/2014/main" id="{83D75B1D-E932-F7DE-99F1-4E854C0F9297}"/>
              </a:ext>
            </a:extLst>
          </p:cNvPr>
          <p:cNvSpPr txBox="1"/>
          <p:nvPr/>
        </p:nvSpPr>
        <p:spPr>
          <a:xfrm>
            <a:off x="7423766" y="4581128"/>
            <a:ext cx="482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MxB</a:t>
            </a:r>
            <a:endParaRPr lang="es-ES_tradnl" sz="1200" b="1" dirty="0">
              <a:solidFill>
                <a:srgbClr val="FF6600"/>
              </a:solidFill>
            </a:endParaRPr>
          </a:p>
        </p:txBody>
      </p: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845BD2C8-0A4C-F100-2ED2-8510970B5B38}"/>
              </a:ext>
            </a:extLst>
          </p:cNvPr>
          <p:cNvCxnSpPr/>
          <p:nvPr/>
        </p:nvCxnSpPr>
        <p:spPr bwMode="auto">
          <a:xfrm rot="5400000" flipH="1" flipV="1">
            <a:off x="7525490" y="4549824"/>
            <a:ext cx="227012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4" name="CuadroTexto 73">
            <a:extLst>
              <a:ext uri="{FF2B5EF4-FFF2-40B4-BE49-F238E27FC236}">
                <a16:creationId xmlns:a16="http://schemas.microsoft.com/office/drawing/2014/main" id="{14E17E3E-C756-4B6C-B3BE-70E2607087D9}"/>
              </a:ext>
            </a:extLst>
          </p:cNvPr>
          <p:cNvSpPr txBox="1"/>
          <p:nvPr/>
        </p:nvSpPr>
        <p:spPr>
          <a:xfrm>
            <a:off x="7861260" y="4313792"/>
            <a:ext cx="714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OpALU</a:t>
            </a:r>
            <a:endParaRPr lang="es-ES_tradnl" sz="1200" b="1" dirty="0">
              <a:solidFill>
                <a:srgbClr val="FF6600"/>
              </a:solidFill>
            </a:endParaRP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2A625A07-A51D-76BC-7C6D-8248163080DA}"/>
              </a:ext>
            </a:extLst>
          </p:cNvPr>
          <p:cNvSpPr txBox="1"/>
          <p:nvPr/>
        </p:nvSpPr>
        <p:spPr>
          <a:xfrm>
            <a:off x="7389546" y="2578913"/>
            <a:ext cx="484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MxA</a:t>
            </a:r>
            <a:endParaRPr lang="es-ES_tradnl" sz="1200" b="1" dirty="0">
              <a:solidFill>
                <a:srgbClr val="FF6600"/>
              </a:solidFill>
            </a:endParaRPr>
          </a:p>
        </p:txBody>
      </p: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6EFF0C07-0304-88BC-88C6-EBAD552E69E5}"/>
              </a:ext>
            </a:extLst>
          </p:cNvPr>
          <p:cNvCxnSpPr>
            <a:cxnSpLocks/>
          </p:cNvCxnSpPr>
          <p:nvPr/>
        </p:nvCxnSpPr>
        <p:spPr bwMode="auto">
          <a:xfrm>
            <a:off x="7643695" y="2838978"/>
            <a:ext cx="0" cy="249017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7" name="CuadroTexto 76">
            <a:extLst>
              <a:ext uri="{FF2B5EF4-FFF2-40B4-BE49-F238E27FC236}">
                <a16:creationId xmlns:a16="http://schemas.microsoft.com/office/drawing/2014/main" id="{B3566829-F1AD-C286-ECB1-F8B4444D5E57}"/>
              </a:ext>
            </a:extLst>
          </p:cNvPr>
          <p:cNvSpPr txBox="1"/>
          <p:nvPr/>
        </p:nvSpPr>
        <p:spPr>
          <a:xfrm>
            <a:off x="7180605" y="5966785"/>
            <a:ext cx="7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TipoInst</a:t>
            </a:r>
            <a:endParaRPr lang="es-ES_tradnl" sz="1200" b="1" dirty="0">
              <a:solidFill>
                <a:srgbClr val="FF6600"/>
              </a:solidFill>
            </a:endParaRPr>
          </a:p>
        </p:txBody>
      </p: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6643E223-CC36-CE9E-6635-E194016BBF57}"/>
              </a:ext>
            </a:extLst>
          </p:cNvPr>
          <p:cNvCxnSpPr>
            <a:cxnSpLocks/>
          </p:cNvCxnSpPr>
          <p:nvPr/>
        </p:nvCxnSpPr>
        <p:spPr bwMode="auto">
          <a:xfrm flipV="1">
            <a:off x="7588809" y="5805264"/>
            <a:ext cx="0" cy="216024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CuadroTexto 78">
            <a:extLst>
              <a:ext uri="{FF2B5EF4-FFF2-40B4-BE49-F238E27FC236}">
                <a16:creationId xmlns:a16="http://schemas.microsoft.com/office/drawing/2014/main" id="{FBF15CA6-ACBC-5CD3-F834-66657168AA0C}"/>
              </a:ext>
            </a:extLst>
          </p:cNvPr>
          <p:cNvSpPr txBox="1"/>
          <p:nvPr/>
        </p:nvSpPr>
        <p:spPr>
          <a:xfrm>
            <a:off x="7486225" y="0"/>
            <a:ext cx="5277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 dirty="0">
                <a:solidFill>
                  <a:srgbClr val="0000FF"/>
                </a:solidFill>
              </a:rPr>
              <a:t>EX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Etapa de Acceso a Memoria</a:t>
            </a:r>
          </a:p>
        </p:txBody>
      </p:sp>
      <p:sp>
        <p:nvSpPr>
          <p:cNvPr id="52230" name="Rectangle 78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6021387" cy="5256212"/>
          </a:xfrm>
        </p:spPr>
        <p:txBody>
          <a:bodyPr/>
          <a:lstStyle/>
          <a:p>
            <a:r>
              <a:rPr lang="es-ES" dirty="0"/>
              <a:t>Funciones</a:t>
            </a:r>
          </a:p>
          <a:p>
            <a:pPr lvl="1"/>
            <a:r>
              <a:rPr lang="es-ES" dirty="0"/>
              <a:t>Instrucciones de cálculo: nada</a:t>
            </a:r>
          </a:p>
          <a:p>
            <a:pPr lvl="1"/>
            <a:r>
              <a:rPr lang="es-ES" dirty="0"/>
              <a:t>Instrucciones load/store: acceso a memoria</a:t>
            </a:r>
          </a:p>
          <a:p>
            <a:pPr lvl="1"/>
            <a:r>
              <a:rPr lang="es-ES" dirty="0"/>
              <a:t>Instrucciones de salto: Selecciona siguiente dirección de instrucción a leer</a:t>
            </a:r>
          </a:p>
          <a:p>
            <a:r>
              <a:rPr lang="es-ES" dirty="0"/>
              <a:t>Señales de control</a:t>
            </a:r>
          </a:p>
          <a:p>
            <a:pPr lvl="1"/>
            <a:r>
              <a:rPr lang="es-ES" dirty="0">
                <a:solidFill>
                  <a:srgbClr val="FF0000"/>
                </a:solidFill>
              </a:rPr>
              <a:t>LMem</a:t>
            </a:r>
            <a:r>
              <a:rPr lang="es-ES" dirty="0"/>
              <a:t>: activa la lectura de la memoria</a:t>
            </a:r>
          </a:p>
          <a:p>
            <a:pPr lvl="1"/>
            <a:r>
              <a:rPr lang="es-ES" dirty="0">
                <a:solidFill>
                  <a:srgbClr val="FF0000"/>
                </a:solidFill>
              </a:rPr>
              <a:t>EMem</a:t>
            </a:r>
            <a:r>
              <a:rPr lang="es-ES" dirty="0"/>
              <a:t>: activa la escritura de la memoria</a:t>
            </a:r>
          </a:p>
          <a:p>
            <a:pPr lvl="1"/>
            <a:endParaRPr lang="es-ES" dirty="0"/>
          </a:p>
        </p:txBody>
      </p:sp>
      <p:sp>
        <p:nvSpPr>
          <p:cNvPr id="5222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E4FCB-703B-004F-AE80-27C19DA288A4}" type="slidenum">
              <a:rPr lang="es-ES_tradnl" smtClean="0"/>
              <a:pPr/>
              <a:t>27</a:t>
            </a:fld>
            <a:endParaRPr lang="es-ES_tradnl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7995C9E-B0E5-9F13-A147-D368A1341751}"/>
              </a:ext>
            </a:extLst>
          </p:cNvPr>
          <p:cNvSpPr/>
          <p:nvPr/>
        </p:nvSpPr>
        <p:spPr bwMode="auto">
          <a:xfrm>
            <a:off x="7662164" y="4265612"/>
            <a:ext cx="782039" cy="990600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dirty="0">
                <a:solidFill>
                  <a:srgbClr val="000000"/>
                </a:solidFill>
              </a:rPr>
              <a:t>Memoria de datos</a:t>
            </a:r>
          </a:p>
        </p:txBody>
      </p: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790288B8-3793-795C-2844-F5D7DA455131}"/>
              </a:ext>
            </a:extLst>
          </p:cNvPr>
          <p:cNvCxnSpPr>
            <a:cxnSpLocks/>
            <a:stCxn id="47" idx="2"/>
            <a:endCxn id="29" idx="0"/>
          </p:cNvCxnSpPr>
          <p:nvPr/>
        </p:nvCxnSpPr>
        <p:spPr bwMode="auto">
          <a:xfrm>
            <a:off x="8043163" y="3770311"/>
            <a:ext cx="10021" cy="495301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97E9283E-4DC5-62B5-0757-0693A737433C}"/>
              </a:ext>
            </a:extLst>
          </p:cNvPr>
          <p:cNvCxnSpPr/>
          <p:nvPr/>
        </p:nvCxnSpPr>
        <p:spPr bwMode="auto">
          <a:xfrm>
            <a:off x="8424164" y="4949824"/>
            <a:ext cx="228600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" name="Rectángulo 31">
            <a:extLst>
              <a:ext uri="{FF2B5EF4-FFF2-40B4-BE49-F238E27FC236}">
                <a16:creationId xmlns:a16="http://schemas.microsoft.com/office/drawing/2014/main" id="{DFA39FB3-4E06-02A6-7842-3E5834D83234}"/>
              </a:ext>
            </a:extLst>
          </p:cNvPr>
          <p:cNvSpPr/>
          <p:nvPr/>
        </p:nvSpPr>
        <p:spPr bwMode="auto">
          <a:xfrm>
            <a:off x="7128764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EBD7ED5A-0261-735A-B632-7624E39B6187}"/>
              </a:ext>
            </a:extLst>
          </p:cNvPr>
          <p:cNvSpPr/>
          <p:nvPr/>
        </p:nvSpPr>
        <p:spPr bwMode="auto">
          <a:xfrm>
            <a:off x="8652764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CA3F6274-7B0C-3131-8431-16EDAE6FF743}"/>
              </a:ext>
            </a:extLst>
          </p:cNvPr>
          <p:cNvSpPr/>
          <p:nvPr/>
        </p:nvSpPr>
        <p:spPr bwMode="auto">
          <a:xfrm rot="16200000">
            <a:off x="6833843" y="36179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ALUout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63CBDF5-AE6F-0180-7299-AD039A737885}"/>
              </a:ext>
            </a:extLst>
          </p:cNvPr>
          <p:cNvSpPr/>
          <p:nvPr/>
        </p:nvSpPr>
        <p:spPr bwMode="auto">
          <a:xfrm rot="16200000">
            <a:off x="8357843" y="36179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ALUout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BEFFD216-DC5B-77BC-0BB0-71399DCBAF9C}"/>
              </a:ext>
            </a:extLst>
          </p:cNvPr>
          <p:cNvSpPr/>
          <p:nvPr/>
        </p:nvSpPr>
        <p:spPr bwMode="auto">
          <a:xfrm rot="16200000">
            <a:off x="8357843" y="48371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MEMout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92F03C3C-0EEB-8FA0-29A8-D35CC66A3926}"/>
              </a:ext>
            </a:extLst>
          </p:cNvPr>
          <p:cNvSpPr/>
          <p:nvPr/>
        </p:nvSpPr>
        <p:spPr bwMode="auto">
          <a:xfrm rot="16200000">
            <a:off x="7065882" y="4863434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T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DA911A57-17AF-D757-FCD6-87250C04C52D}"/>
              </a:ext>
            </a:extLst>
          </p:cNvPr>
          <p:cNvSpPr txBox="1"/>
          <p:nvPr/>
        </p:nvSpPr>
        <p:spPr>
          <a:xfrm rot="16200000">
            <a:off x="8465052" y="1305865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M/ ER</a:t>
            </a:r>
          </a:p>
        </p:txBody>
      </p: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3FA23DAF-12AB-6CDE-1F22-4A2AA3F10C57}"/>
              </a:ext>
            </a:extLst>
          </p:cNvPr>
          <p:cNvCxnSpPr>
            <a:cxnSpLocks/>
          </p:cNvCxnSpPr>
          <p:nvPr/>
        </p:nvCxnSpPr>
        <p:spPr bwMode="auto">
          <a:xfrm>
            <a:off x="7433564" y="3733800"/>
            <a:ext cx="121920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0" name="Rectángulo 39">
            <a:extLst>
              <a:ext uri="{FF2B5EF4-FFF2-40B4-BE49-F238E27FC236}">
                <a16:creationId xmlns:a16="http://schemas.microsoft.com/office/drawing/2014/main" id="{73FE26A5-043B-FD90-0FC9-C006177B357F}"/>
              </a:ext>
            </a:extLst>
          </p:cNvPr>
          <p:cNvSpPr/>
          <p:nvPr/>
        </p:nvSpPr>
        <p:spPr bwMode="auto">
          <a:xfrm rot="16200000">
            <a:off x="6999957" y="5433416"/>
            <a:ext cx="609601" cy="20117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Cond</a:t>
            </a:r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0AC4EDBB-F569-CFE0-5B75-0C15302D7E33}"/>
              </a:ext>
            </a:extLst>
          </p:cNvPr>
          <p:cNvCxnSpPr>
            <a:cxnSpLocks/>
          </p:cNvCxnSpPr>
          <p:nvPr/>
        </p:nvCxnSpPr>
        <p:spPr bwMode="auto">
          <a:xfrm flipH="1">
            <a:off x="7433564" y="5534001"/>
            <a:ext cx="78699" cy="5944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76E39BF9-0CFF-5844-C39E-581B93757D5C}"/>
              </a:ext>
            </a:extLst>
          </p:cNvPr>
          <p:cNvCxnSpPr>
            <a:cxnSpLocks/>
          </p:cNvCxnSpPr>
          <p:nvPr/>
        </p:nvCxnSpPr>
        <p:spPr bwMode="auto">
          <a:xfrm>
            <a:off x="7442150" y="6292868"/>
            <a:ext cx="1209826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Rectángulo 42">
            <a:extLst>
              <a:ext uri="{FF2B5EF4-FFF2-40B4-BE49-F238E27FC236}">
                <a16:creationId xmlns:a16="http://schemas.microsoft.com/office/drawing/2014/main" id="{507D253E-7502-6CA4-8E1F-D7099A95C6A6}"/>
              </a:ext>
            </a:extLst>
          </p:cNvPr>
          <p:cNvSpPr/>
          <p:nvPr/>
        </p:nvSpPr>
        <p:spPr bwMode="auto">
          <a:xfrm rot="16200000">
            <a:off x="7103939" y="6054250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 err="1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BE79B568-A0E5-9D69-00AE-B859845D2B81}"/>
              </a:ext>
            </a:extLst>
          </p:cNvPr>
          <p:cNvSpPr/>
          <p:nvPr/>
        </p:nvSpPr>
        <p:spPr bwMode="auto">
          <a:xfrm rot="16200000">
            <a:off x="8633950" y="6072792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C90CBD38-8E88-3177-2D9C-2EC279DEF54A}"/>
              </a:ext>
            </a:extLst>
          </p:cNvPr>
          <p:cNvCxnSpPr>
            <a:cxnSpLocks/>
          </p:cNvCxnSpPr>
          <p:nvPr/>
        </p:nvCxnSpPr>
        <p:spPr bwMode="auto">
          <a:xfrm>
            <a:off x="7433564" y="4958174"/>
            <a:ext cx="22860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4DD8A5D0-4C2B-9C75-11E7-40C237DCDFA4}"/>
              </a:ext>
            </a:extLst>
          </p:cNvPr>
          <p:cNvSpPr txBox="1"/>
          <p:nvPr/>
        </p:nvSpPr>
        <p:spPr>
          <a:xfrm rot="16200000">
            <a:off x="6984915" y="1894188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EX/M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2C3EDA93-8129-E21A-2A83-DEAA78AF0AC8}"/>
              </a:ext>
            </a:extLst>
          </p:cNvPr>
          <p:cNvSpPr/>
          <p:nvPr/>
        </p:nvSpPr>
        <p:spPr bwMode="auto">
          <a:xfrm>
            <a:off x="8005063" y="3694111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5628D247-E85E-A181-42B9-91A16B7B0A25}"/>
              </a:ext>
            </a:extLst>
          </p:cNvPr>
          <p:cNvSpPr txBox="1"/>
          <p:nvPr/>
        </p:nvSpPr>
        <p:spPr>
          <a:xfrm>
            <a:off x="7910230" y="9545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 dirty="0">
                <a:solidFill>
                  <a:srgbClr val="0000FF"/>
                </a:solidFill>
              </a:rPr>
              <a:t>M</a:t>
            </a:r>
          </a:p>
        </p:txBody>
      </p: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AFF1FC23-3C82-3628-4FAA-35A1A1DC564D}"/>
              </a:ext>
            </a:extLst>
          </p:cNvPr>
          <p:cNvCxnSpPr>
            <a:cxnSpLocks/>
          </p:cNvCxnSpPr>
          <p:nvPr/>
        </p:nvCxnSpPr>
        <p:spPr bwMode="auto">
          <a:xfrm>
            <a:off x="8049385" y="3770311"/>
            <a:ext cx="10021" cy="495301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824208EF-E4FB-25D0-F48A-2B1DB16A8C99}"/>
              </a:ext>
            </a:extLst>
          </p:cNvPr>
          <p:cNvSpPr txBox="1"/>
          <p:nvPr/>
        </p:nvSpPr>
        <p:spPr>
          <a:xfrm rot="16200000">
            <a:off x="7596249" y="1546149"/>
            <a:ext cx="629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>
                <a:solidFill>
                  <a:srgbClr val="FF6600"/>
                </a:solidFill>
              </a:rPr>
              <a:t>LMem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89A9D426-A85F-32C5-3CD7-80319ED9295C}"/>
              </a:ext>
            </a:extLst>
          </p:cNvPr>
          <p:cNvSpPr txBox="1"/>
          <p:nvPr/>
        </p:nvSpPr>
        <p:spPr>
          <a:xfrm rot="16200000">
            <a:off x="8049129" y="1931470"/>
            <a:ext cx="637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>
                <a:solidFill>
                  <a:srgbClr val="FF6600"/>
                </a:solidFill>
              </a:rPr>
              <a:t>EMem</a:t>
            </a:r>
          </a:p>
        </p:txBody>
      </p: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C17F70EA-BAEF-BA94-3E84-BDB2D60738E0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8043163" y="516293"/>
            <a:ext cx="6222" cy="3184038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EBB5D872-9535-3A6A-AF07-308BB6EBFF72}"/>
              </a:ext>
            </a:extLst>
          </p:cNvPr>
          <p:cNvCxnSpPr>
            <a:cxnSpLocks/>
          </p:cNvCxnSpPr>
          <p:nvPr/>
        </p:nvCxnSpPr>
        <p:spPr bwMode="auto">
          <a:xfrm flipV="1">
            <a:off x="7502610" y="455612"/>
            <a:ext cx="0" cy="5084333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0021263A-0351-A35C-155F-38FB8933E02B}"/>
              </a:ext>
            </a:extLst>
          </p:cNvPr>
          <p:cNvCxnSpPr>
            <a:cxnSpLocks/>
          </p:cNvCxnSpPr>
          <p:nvPr/>
        </p:nvCxnSpPr>
        <p:spPr bwMode="auto">
          <a:xfrm>
            <a:off x="8277986" y="1046162"/>
            <a:ext cx="0" cy="3219450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1A293C4F-CC76-DF88-AFA7-98F9F195F370}"/>
              </a:ext>
            </a:extLst>
          </p:cNvPr>
          <p:cNvCxnSpPr>
            <a:cxnSpLocks/>
          </p:cNvCxnSpPr>
          <p:nvPr/>
        </p:nvCxnSpPr>
        <p:spPr bwMode="auto">
          <a:xfrm>
            <a:off x="7820786" y="1198562"/>
            <a:ext cx="0" cy="3067050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8" name="CuadroTexto 57">
            <a:extLst>
              <a:ext uri="{FF2B5EF4-FFF2-40B4-BE49-F238E27FC236}">
                <a16:creationId xmlns:a16="http://schemas.microsoft.com/office/drawing/2014/main" id="{DC0EAB7D-5EC9-35FA-4CC1-5234E6C89CAA}"/>
              </a:ext>
            </a:extLst>
          </p:cNvPr>
          <p:cNvSpPr txBox="1"/>
          <p:nvPr/>
        </p:nvSpPr>
        <p:spPr>
          <a:xfrm rot="16200000">
            <a:off x="6903285" y="1321253"/>
            <a:ext cx="1433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MxPC</a:t>
            </a:r>
            <a:r>
              <a:rPr lang="es-ES_tradnl" sz="1200" b="1" dirty="0">
                <a:solidFill>
                  <a:srgbClr val="FF6600"/>
                </a:solidFill>
              </a:rPr>
              <a:t> (va a LI/DI)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Etapa de Escritura en Registro</a:t>
            </a:r>
          </a:p>
        </p:txBody>
      </p:sp>
      <p:sp>
        <p:nvSpPr>
          <p:cNvPr id="53253" name="Rectangle 80"/>
          <p:cNvSpPr>
            <a:spLocks noGrp="1" noChangeArrowheads="1"/>
          </p:cNvSpPr>
          <p:nvPr>
            <p:ph type="body" idx="1"/>
          </p:nvPr>
        </p:nvSpPr>
        <p:spPr>
          <a:xfrm>
            <a:off x="533400" y="1125538"/>
            <a:ext cx="5943600" cy="5256212"/>
          </a:xfrm>
        </p:spPr>
        <p:txBody>
          <a:bodyPr/>
          <a:lstStyle/>
          <a:p>
            <a:r>
              <a:rPr lang="es-ES" dirty="0"/>
              <a:t>Funciones</a:t>
            </a:r>
          </a:p>
          <a:p>
            <a:pPr lvl="1"/>
            <a:r>
              <a:rPr lang="es-ES" dirty="0"/>
              <a:t>Instrucciones de cálculo: escritura de resultado</a:t>
            </a:r>
          </a:p>
          <a:p>
            <a:pPr lvl="1"/>
            <a:r>
              <a:rPr lang="es-ES" dirty="0"/>
              <a:t>Instrucciones de load: escritura del valor leído de la memoria en el banco de registros</a:t>
            </a:r>
          </a:p>
          <a:p>
            <a:pPr lvl="1"/>
            <a:r>
              <a:rPr lang="es-ES" dirty="0"/>
              <a:t>Instrucciones de store y salto: nada</a:t>
            </a:r>
          </a:p>
          <a:p>
            <a:r>
              <a:rPr lang="es-ES" dirty="0"/>
              <a:t>Características del banco de registros</a:t>
            </a:r>
          </a:p>
          <a:p>
            <a:pPr lvl="1"/>
            <a:r>
              <a:rPr lang="es-ES" dirty="0"/>
              <a:t>Ha de soportar dos accesos de lectura y un acceso de escritura en cada ciclo</a:t>
            </a:r>
          </a:p>
          <a:p>
            <a:r>
              <a:rPr lang="es-ES" dirty="0"/>
              <a:t>Señales de control</a:t>
            </a:r>
          </a:p>
          <a:p>
            <a:pPr lvl="1"/>
            <a:r>
              <a:rPr lang="es-ES" dirty="0" err="1">
                <a:solidFill>
                  <a:srgbClr val="FF0000"/>
                </a:solidFill>
              </a:rPr>
              <a:t>EReg</a:t>
            </a:r>
            <a:r>
              <a:rPr lang="es-ES" dirty="0"/>
              <a:t>:  Activa la escritura en el banco de registros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132585A-1086-5E43-584E-E903C1C6C53D}"/>
              </a:ext>
            </a:extLst>
          </p:cNvPr>
          <p:cNvSpPr/>
          <p:nvPr/>
        </p:nvSpPr>
        <p:spPr bwMode="auto">
          <a:xfrm rot="16200000">
            <a:off x="7051961" y="4134379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EB7CC962-7297-8021-A608-8D709ADFF36E}"/>
              </a:ext>
            </a:extLst>
          </p:cNvPr>
          <p:cNvCxnSpPr>
            <a:cxnSpLocks/>
          </p:cNvCxnSpPr>
          <p:nvPr/>
        </p:nvCxnSpPr>
        <p:spPr bwMode="auto">
          <a:xfrm>
            <a:off x="7639600" y="4474786"/>
            <a:ext cx="0" cy="1817536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0135256A-18F8-5DEE-72A8-1737792169A4}"/>
              </a:ext>
            </a:extLst>
          </p:cNvPr>
          <p:cNvCxnSpPr>
            <a:cxnSpLocks/>
          </p:cNvCxnSpPr>
          <p:nvPr/>
        </p:nvCxnSpPr>
        <p:spPr bwMode="auto">
          <a:xfrm>
            <a:off x="7500279" y="4246980"/>
            <a:ext cx="45720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B1D27F2-CA29-A275-88CD-2CB81668BDCD}"/>
              </a:ext>
            </a:extLst>
          </p:cNvPr>
          <p:cNvSpPr txBox="1"/>
          <p:nvPr/>
        </p:nvSpPr>
        <p:spPr>
          <a:xfrm rot="16200000">
            <a:off x="7215323" y="5114873"/>
            <a:ext cx="5885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>
                <a:solidFill>
                  <a:schemeClr val="accent1">
                    <a:lumMod val="75000"/>
                  </a:schemeClr>
                </a:solidFill>
              </a:rPr>
              <a:t>Datos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C43B766-282A-12F0-F5E0-C04860002364}"/>
              </a:ext>
            </a:extLst>
          </p:cNvPr>
          <p:cNvSpPr/>
          <p:nvPr/>
        </p:nvSpPr>
        <p:spPr bwMode="auto">
          <a:xfrm>
            <a:off x="6649794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1925198A-CDAC-E295-4B81-2F0A92D0268B}"/>
              </a:ext>
            </a:extLst>
          </p:cNvPr>
          <p:cNvSpPr/>
          <p:nvPr/>
        </p:nvSpPr>
        <p:spPr bwMode="auto">
          <a:xfrm rot="16200000">
            <a:off x="6354873" y="36179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ALUout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79B767E-13BA-995C-DF33-D8BB016245D1}"/>
              </a:ext>
            </a:extLst>
          </p:cNvPr>
          <p:cNvSpPr/>
          <p:nvPr/>
        </p:nvSpPr>
        <p:spPr bwMode="auto">
          <a:xfrm rot="16200000">
            <a:off x="6354873" y="48371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MEMout</a:t>
            </a:r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DD523635-616F-DA93-60CE-4C0529BA7A56}"/>
              </a:ext>
            </a:extLst>
          </p:cNvPr>
          <p:cNvCxnSpPr/>
          <p:nvPr/>
        </p:nvCxnSpPr>
        <p:spPr bwMode="auto">
          <a:xfrm>
            <a:off x="7030794" y="4037012"/>
            <a:ext cx="228600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70C00310-B873-47AC-92F4-F06E73D98702}"/>
              </a:ext>
            </a:extLst>
          </p:cNvPr>
          <p:cNvCxnSpPr>
            <a:cxnSpLocks/>
          </p:cNvCxnSpPr>
          <p:nvPr/>
        </p:nvCxnSpPr>
        <p:spPr bwMode="auto">
          <a:xfrm>
            <a:off x="7030000" y="4494211"/>
            <a:ext cx="229394" cy="1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FDA07E9B-1056-8CCE-85B5-38D40EA4E53E}"/>
              </a:ext>
            </a:extLst>
          </p:cNvPr>
          <p:cNvCxnSpPr>
            <a:cxnSpLocks/>
          </p:cNvCxnSpPr>
          <p:nvPr/>
        </p:nvCxnSpPr>
        <p:spPr bwMode="auto">
          <a:xfrm flipV="1">
            <a:off x="7030003" y="3711167"/>
            <a:ext cx="0" cy="346483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80D1CAE5-AAA0-4040-001F-99BC907CAE99}"/>
              </a:ext>
            </a:extLst>
          </p:cNvPr>
          <p:cNvCxnSpPr>
            <a:cxnSpLocks/>
          </p:cNvCxnSpPr>
          <p:nvPr/>
        </p:nvCxnSpPr>
        <p:spPr bwMode="auto">
          <a:xfrm flipV="1">
            <a:off x="7030000" y="4479925"/>
            <a:ext cx="0" cy="476248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9ED2B6E2-DD91-BAE8-D020-8FE12226A507}"/>
              </a:ext>
            </a:extLst>
          </p:cNvPr>
          <p:cNvCxnSpPr/>
          <p:nvPr/>
        </p:nvCxnSpPr>
        <p:spPr bwMode="auto">
          <a:xfrm rot="10800000">
            <a:off x="6954594" y="3732212"/>
            <a:ext cx="76200" cy="1588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687D2341-A026-0CB7-1809-DF7940AF148C}"/>
              </a:ext>
            </a:extLst>
          </p:cNvPr>
          <p:cNvSpPr txBox="1"/>
          <p:nvPr/>
        </p:nvSpPr>
        <p:spPr>
          <a:xfrm rot="16200000">
            <a:off x="6462082" y="1305865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M/ ER</a:t>
            </a:r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9EC7DCDF-C177-CD8F-3890-C9B7A5F7EA8F}"/>
              </a:ext>
            </a:extLst>
          </p:cNvPr>
          <p:cNvCxnSpPr>
            <a:cxnSpLocks/>
          </p:cNvCxnSpPr>
          <p:nvPr/>
        </p:nvCxnSpPr>
        <p:spPr bwMode="auto">
          <a:xfrm>
            <a:off x="6953806" y="6292322"/>
            <a:ext cx="685794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" name="Rectángulo 38">
            <a:extLst>
              <a:ext uri="{FF2B5EF4-FFF2-40B4-BE49-F238E27FC236}">
                <a16:creationId xmlns:a16="http://schemas.microsoft.com/office/drawing/2014/main" id="{4F41A27E-8FA4-2F6C-A6E9-99CD0B775483}"/>
              </a:ext>
            </a:extLst>
          </p:cNvPr>
          <p:cNvSpPr/>
          <p:nvPr/>
        </p:nvSpPr>
        <p:spPr bwMode="auto">
          <a:xfrm rot="16200000">
            <a:off x="6630980" y="6072792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E204B3D7-B954-4FAA-78F5-C5A364B02205}"/>
              </a:ext>
            </a:extLst>
          </p:cNvPr>
          <p:cNvSpPr/>
          <p:nvPr/>
        </p:nvSpPr>
        <p:spPr bwMode="auto">
          <a:xfrm>
            <a:off x="7970049" y="3373327"/>
            <a:ext cx="913134" cy="1371600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rgbClr val="000000"/>
                </a:solidFill>
              </a:rPr>
              <a:t>Banco de Registros</a:t>
            </a:r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23687F53-73EC-AB81-6AD7-887883116AE9}"/>
              </a:ext>
            </a:extLst>
          </p:cNvPr>
          <p:cNvCxnSpPr>
            <a:cxnSpLocks/>
          </p:cNvCxnSpPr>
          <p:nvPr/>
        </p:nvCxnSpPr>
        <p:spPr bwMode="auto">
          <a:xfrm>
            <a:off x="7627160" y="4474786"/>
            <a:ext cx="344803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FA3582E6-274C-4348-F031-419B3EA68209}"/>
              </a:ext>
            </a:extLst>
          </p:cNvPr>
          <p:cNvCxnSpPr>
            <a:cxnSpLocks/>
          </p:cNvCxnSpPr>
          <p:nvPr/>
        </p:nvCxnSpPr>
        <p:spPr bwMode="auto">
          <a:xfrm flipH="1">
            <a:off x="6973254" y="4962647"/>
            <a:ext cx="75406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D96C44FA-2746-4105-3587-D0AA632D1B33}"/>
              </a:ext>
            </a:extLst>
          </p:cNvPr>
          <p:cNvSpPr txBox="1"/>
          <p:nvPr/>
        </p:nvSpPr>
        <p:spPr>
          <a:xfrm>
            <a:off x="7838095" y="9545"/>
            <a:ext cx="542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 dirty="0">
                <a:solidFill>
                  <a:srgbClr val="0000FF"/>
                </a:solidFill>
              </a:rPr>
              <a:t>ER</a:t>
            </a:r>
          </a:p>
        </p:txBody>
      </p: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7A161C4E-CCD6-208E-AF6E-70327574CF0B}"/>
              </a:ext>
            </a:extLst>
          </p:cNvPr>
          <p:cNvCxnSpPr>
            <a:cxnSpLocks/>
            <a:stCxn id="51" idx="2"/>
          </p:cNvCxnSpPr>
          <p:nvPr/>
        </p:nvCxnSpPr>
        <p:spPr bwMode="auto">
          <a:xfrm>
            <a:off x="8374382" y="3096417"/>
            <a:ext cx="2472" cy="270690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CuadroTexto 50">
            <a:extLst>
              <a:ext uri="{FF2B5EF4-FFF2-40B4-BE49-F238E27FC236}">
                <a16:creationId xmlns:a16="http://schemas.microsoft.com/office/drawing/2014/main" id="{2E5605B6-C7A7-5A00-AA87-C0FB9CB3321F}"/>
              </a:ext>
            </a:extLst>
          </p:cNvPr>
          <p:cNvSpPr txBox="1"/>
          <p:nvPr/>
        </p:nvSpPr>
        <p:spPr>
          <a:xfrm>
            <a:off x="8085368" y="2819418"/>
            <a:ext cx="5780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EReg</a:t>
            </a:r>
            <a:endParaRPr lang="es-ES_tradnl" sz="1200" b="1" dirty="0">
              <a:solidFill>
                <a:srgbClr val="FF66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E3582-1AF2-D766-213E-75CDFF3B5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" name="Conector recto 217">
            <a:extLst>
              <a:ext uri="{FF2B5EF4-FFF2-40B4-BE49-F238E27FC236}">
                <a16:creationId xmlns:a16="http://schemas.microsoft.com/office/drawing/2014/main" id="{5361CA2A-1305-3434-E6F8-A840CB2C037D}"/>
              </a:ext>
            </a:extLst>
          </p:cNvPr>
          <p:cNvCxnSpPr/>
          <p:nvPr/>
        </p:nvCxnSpPr>
        <p:spPr bwMode="auto">
          <a:xfrm>
            <a:off x="2430801" y="2722496"/>
            <a:ext cx="2057399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CEEF14ED-3FF0-0543-B5C9-3B4B516125ED}"/>
              </a:ext>
            </a:extLst>
          </p:cNvPr>
          <p:cNvCxnSpPr/>
          <p:nvPr/>
        </p:nvCxnSpPr>
        <p:spPr bwMode="auto">
          <a:xfrm>
            <a:off x="2620507" y="3503612"/>
            <a:ext cx="609600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9" name="Conector recto 198">
            <a:extLst>
              <a:ext uri="{FF2B5EF4-FFF2-40B4-BE49-F238E27FC236}">
                <a16:creationId xmlns:a16="http://schemas.microsoft.com/office/drawing/2014/main" id="{2F26710B-5135-21B5-A42C-3C0589854F2E}"/>
              </a:ext>
            </a:extLst>
          </p:cNvPr>
          <p:cNvCxnSpPr>
            <a:cxnSpLocks/>
          </p:cNvCxnSpPr>
          <p:nvPr/>
        </p:nvCxnSpPr>
        <p:spPr bwMode="auto">
          <a:xfrm>
            <a:off x="2569725" y="6292868"/>
            <a:ext cx="191688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5948BADB-EFF9-0BFB-6847-D5BEF6570475}"/>
              </a:ext>
            </a:extLst>
          </p:cNvPr>
          <p:cNvSpPr/>
          <p:nvPr/>
        </p:nvSpPr>
        <p:spPr bwMode="auto">
          <a:xfrm>
            <a:off x="957603" y="4307947"/>
            <a:ext cx="838200" cy="3048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A29603B-6ACA-2C2C-9807-7DF1CA76F0D7}"/>
              </a:ext>
            </a:extLst>
          </p:cNvPr>
          <p:cNvSpPr/>
          <p:nvPr/>
        </p:nvSpPr>
        <p:spPr bwMode="auto">
          <a:xfrm>
            <a:off x="957603" y="4993747"/>
            <a:ext cx="838200" cy="990600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900" dirty="0">
                <a:solidFill>
                  <a:srgbClr val="000000"/>
                </a:solidFill>
              </a:rPr>
              <a:t>Memoria de</a:t>
            </a:r>
          </a:p>
          <a:p>
            <a:pPr algn="l"/>
            <a:r>
              <a:rPr lang="es-ES_tradnl" sz="900" dirty="0">
                <a:solidFill>
                  <a:srgbClr val="000000"/>
                </a:solidFill>
              </a:rPr>
              <a:t>Instrucciones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187FBB47-2F3D-9D6E-0FBC-83A40CC0E0D0}"/>
              </a:ext>
            </a:extLst>
          </p:cNvPr>
          <p:cNvCxnSpPr>
            <a:stCxn id="7" idx="2"/>
            <a:endCxn id="8" idx="0"/>
          </p:cNvCxnSpPr>
          <p:nvPr/>
        </p:nvCxnSpPr>
        <p:spPr bwMode="auto">
          <a:xfrm rot="5400000">
            <a:off x="1186203" y="4803247"/>
            <a:ext cx="381000" cy="1588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Freeform 42">
            <a:extLst>
              <a:ext uri="{FF2B5EF4-FFF2-40B4-BE49-F238E27FC236}">
                <a16:creationId xmlns:a16="http://schemas.microsoft.com/office/drawing/2014/main" id="{0060EB39-4426-CB12-0F6F-1852B66D9515}"/>
              </a:ext>
            </a:extLst>
          </p:cNvPr>
          <p:cNvSpPr>
            <a:spLocks/>
          </p:cNvSpPr>
          <p:nvPr/>
        </p:nvSpPr>
        <p:spPr bwMode="blackWhite">
          <a:xfrm rot="5400000">
            <a:off x="1046496" y="2822048"/>
            <a:ext cx="381000" cy="762000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t" anchorCtr="0">
            <a:prstTxWarp prst="textNoShape">
              <a:avLst/>
            </a:prstTxWarp>
            <a:flatTx/>
          </a:bodyPr>
          <a:lstStyle/>
          <a:p>
            <a:r>
              <a:rPr lang="es-ES_tradnl"/>
              <a:t>+</a:t>
            </a:r>
          </a:p>
        </p:txBody>
      </p:sp>
      <p:cxnSp>
        <p:nvCxnSpPr>
          <p:cNvPr id="11" name="Conector angular 10">
            <a:extLst>
              <a:ext uri="{FF2B5EF4-FFF2-40B4-BE49-F238E27FC236}">
                <a16:creationId xmlns:a16="http://schemas.microsoft.com/office/drawing/2014/main" id="{3CECAEA5-F716-17A2-2A49-2943EB72D5B2}"/>
              </a:ext>
            </a:extLst>
          </p:cNvPr>
          <p:cNvCxnSpPr/>
          <p:nvPr/>
        </p:nvCxnSpPr>
        <p:spPr bwMode="auto">
          <a:xfrm rot="16200000" flipH="1">
            <a:off x="733233" y="2686578"/>
            <a:ext cx="347134" cy="304801"/>
          </a:xfrm>
          <a:prstGeom prst="bentConnector3">
            <a:avLst>
              <a:gd name="adj1" fmla="val -1490"/>
            </a:avLst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F09BF371-A31D-C0C2-30B5-124626CBDE3F}"/>
              </a:ext>
            </a:extLst>
          </p:cNvPr>
          <p:cNvCxnSpPr/>
          <p:nvPr/>
        </p:nvCxnSpPr>
        <p:spPr bwMode="auto">
          <a:xfrm rot="16200000" flipH="1">
            <a:off x="1279330" y="2817814"/>
            <a:ext cx="381000" cy="8467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C1F1E76-D898-0591-8399-3AAE28AD933F}"/>
              </a:ext>
            </a:extLst>
          </p:cNvPr>
          <p:cNvSpPr txBox="1"/>
          <p:nvPr/>
        </p:nvSpPr>
        <p:spPr>
          <a:xfrm>
            <a:off x="1409681" y="2326747"/>
            <a:ext cx="284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2293110A-FB86-3446-0C8A-33311EDEA24A}"/>
              </a:ext>
            </a:extLst>
          </p:cNvPr>
          <p:cNvCxnSpPr>
            <a:cxnSpLocks/>
          </p:cNvCxnSpPr>
          <p:nvPr/>
        </p:nvCxnSpPr>
        <p:spPr bwMode="auto">
          <a:xfrm>
            <a:off x="2430801" y="5496808"/>
            <a:ext cx="176492" cy="0"/>
          </a:xfrm>
          <a:prstGeom prst="line">
            <a:avLst/>
          </a:prstGeom>
          <a:ln w="38100" cmpd="sng">
            <a:solidFill>
              <a:srgbClr val="2669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1EC863B-A01C-4DA5-F268-6625F3367007}"/>
              </a:ext>
            </a:extLst>
          </p:cNvPr>
          <p:cNvSpPr txBox="1"/>
          <p:nvPr/>
        </p:nvSpPr>
        <p:spPr>
          <a:xfrm rot="16200000">
            <a:off x="1615901" y="1653100"/>
            <a:ext cx="53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PCin</a:t>
            </a:r>
            <a:endParaRPr lang="es-ES_tradnl" sz="1200" b="1" dirty="0">
              <a:solidFill>
                <a:srgbClr val="FF6600"/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76A14E2-244A-AD8E-9011-9930AA2A0B5D}"/>
              </a:ext>
            </a:extLst>
          </p:cNvPr>
          <p:cNvSpPr txBox="1"/>
          <p:nvPr/>
        </p:nvSpPr>
        <p:spPr>
          <a:xfrm>
            <a:off x="2544307" y="3254787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i="1" dirty="0">
                <a:solidFill>
                  <a:schemeClr val="accent1">
                    <a:lumMod val="75000"/>
                  </a:schemeClr>
                </a:solidFill>
              </a:rPr>
              <a:t>19..15(rs1)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41A43EB-7B61-EA0A-D694-50BCD164133E}"/>
              </a:ext>
            </a:extLst>
          </p:cNvPr>
          <p:cNvSpPr txBox="1"/>
          <p:nvPr/>
        </p:nvSpPr>
        <p:spPr>
          <a:xfrm>
            <a:off x="2544307" y="3645024"/>
            <a:ext cx="782587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ES_tradnl" sz="1000" i="1" dirty="0">
                <a:solidFill>
                  <a:schemeClr val="accent1">
                    <a:lumMod val="75000"/>
                  </a:schemeClr>
                </a:solidFill>
              </a:rPr>
              <a:t>24..20(rs2)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265C5AF2-F60A-0ED8-7799-340910D8E84D}"/>
              </a:ext>
            </a:extLst>
          </p:cNvPr>
          <p:cNvSpPr/>
          <p:nvPr/>
        </p:nvSpPr>
        <p:spPr bwMode="auto">
          <a:xfrm>
            <a:off x="3230107" y="4841346"/>
            <a:ext cx="1060916" cy="598687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rgbClr val="000000"/>
                </a:solidFill>
              </a:rPr>
              <a:t>Generador de Inmediatos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FB998E45-AA49-ABB3-97B2-B6E4BFB258AD}"/>
              </a:ext>
            </a:extLst>
          </p:cNvPr>
          <p:cNvCxnSpPr>
            <a:cxnSpLocks/>
            <a:endCxn id="32" idx="1"/>
          </p:cNvCxnSpPr>
          <p:nvPr/>
        </p:nvCxnSpPr>
        <p:spPr bwMode="auto">
          <a:xfrm flipV="1">
            <a:off x="2626107" y="5140690"/>
            <a:ext cx="604000" cy="1121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7229D382-B780-46F8-697A-417EA60F5E77}"/>
              </a:ext>
            </a:extLst>
          </p:cNvPr>
          <p:cNvSpPr txBox="1"/>
          <p:nvPr/>
        </p:nvSpPr>
        <p:spPr>
          <a:xfrm>
            <a:off x="2788515" y="5180543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31..0</a:t>
            </a:r>
          </a:p>
        </p:txBody>
      </p:sp>
      <p:sp>
        <p:nvSpPr>
          <p:cNvPr id="37" name="Freeform 42">
            <a:extLst>
              <a:ext uri="{FF2B5EF4-FFF2-40B4-BE49-F238E27FC236}">
                <a16:creationId xmlns:a16="http://schemas.microsoft.com/office/drawing/2014/main" id="{3E7E7289-1160-81A5-C29D-6CB42236FC6D}"/>
              </a:ext>
            </a:extLst>
          </p:cNvPr>
          <p:cNvSpPr>
            <a:spLocks/>
          </p:cNvSpPr>
          <p:nvPr/>
        </p:nvSpPr>
        <p:spPr bwMode="blackWhite">
          <a:xfrm>
            <a:off x="5782807" y="3275012"/>
            <a:ext cx="495300" cy="1028700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r>
              <a:rPr lang="es-ES_tradnl" sz="1200" dirty="0"/>
              <a:t>ALU</a:t>
            </a:r>
            <a:endParaRPr lang="es-ES_tradnl" sz="1800" dirty="0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38A9F3FD-A069-EE31-97AE-BBE747884D4A}"/>
              </a:ext>
            </a:extLst>
          </p:cNvPr>
          <p:cNvSpPr/>
          <p:nvPr/>
        </p:nvSpPr>
        <p:spPr bwMode="auto">
          <a:xfrm>
            <a:off x="7002800" y="4265612"/>
            <a:ext cx="782039" cy="990600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dirty="0">
                <a:solidFill>
                  <a:srgbClr val="000000"/>
                </a:solidFill>
              </a:rPr>
              <a:t>Memoria de datos</a:t>
            </a:r>
          </a:p>
        </p:txBody>
      </p: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0FA07077-5BE8-A74A-D0AD-AC1A632BB78F}"/>
              </a:ext>
            </a:extLst>
          </p:cNvPr>
          <p:cNvCxnSpPr>
            <a:cxnSpLocks/>
            <a:stCxn id="148" idx="2"/>
            <a:endCxn id="43" idx="0"/>
          </p:cNvCxnSpPr>
          <p:nvPr/>
        </p:nvCxnSpPr>
        <p:spPr bwMode="auto">
          <a:xfrm>
            <a:off x="7383799" y="3770311"/>
            <a:ext cx="10021" cy="495301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8" name="Rectángulo 47">
            <a:extLst>
              <a:ext uri="{FF2B5EF4-FFF2-40B4-BE49-F238E27FC236}">
                <a16:creationId xmlns:a16="http://schemas.microsoft.com/office/drawing/2014/main" id="{61180A06-AC1B-FAEF-EC15-6BCF3F0261EC}"/>
              </a:ext>
            </a:extLst>
          </p:cNvPr>
          <p:cNvSpPr/>
          <p:nvPr/>
        </p:nvSpPr>
        <p:spPr bwMode="auto">
          <a:xfrm rot="16200000">
            <a:off x="8395567" y="4134379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CC3D3D0E-871E-16E6-C4E6-E47436832054}"/>
              </a:ext>
            </a:extLst>
          </p:cNvPr>
          <p:cNvCxnSpPr/>
          <p:nvPr/>
        </p:nvCxnSpPr>
        <p:spPr bwMode="auto">
          <a:xfrm>
            <a:off x="7764800" y="4949824"/>
            <a:ext cx="228600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B7F6371D-D69B-3F5E-B503-A58587F37B84}"/>
              </a:ext>
            </a:extLst>
          </p:cNvPr>
          <p:cNvCxnSpPr>
            <a:cxnSpLocks/>
          </p:cNvCxnSpPr>
          <p:nvPr/>
        </p:nvCxnSpPr>
        <p:spPr bwMode="auto">
          <a:xfrm>
            <a:off x="8983206" y="4229100"/>
            <a:ext cx="0" cy="234950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5692A13C-BBB1-BA85-03EB-28282624CDE2}"/>
              </a:ext>
            </a:extLst>
          </p:cNvPr>
          <p:cNvCxnSpPr>
            <a:cxnSpLocks/>
          </p:cNvCxnSpPr>
          <p:nvPr/>
        </p:nvCxnSpPr>
        <p:spPr bwMode="auto">
          <a:xfrm>
            <a:off x="2772907" y="6554788"/>
            <a:ext cx="6192279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F8FA5FD1-A0C6-52C8-C5B3-DCB00203A597}"/>
              </a:ext>
            </a:extLst>
          </p:cNvPr>
          <p:cNvCxnSpPr>
            <a:cxnSpLocks/>
          </p:cNvCxnSpPr>
          <p:nvPr/>
        </p:nvCxnSpPr>
        <p:spPr bwMode="auto">
          <a:xfrm flipV="1">
            <a:off x="2772907" y="4190206"/>
            <a:ext cx="794" cy="2385219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4188B539-E64F-5733-E787-57B4367FC84C}"/>
              </a:ext>
            </a:extLst>
          </p:cNvPr>
          <p:cNvCxnSpPr>
            <a:cxnSpLocks/>
          </p:cNvCxnSpPr>
          <p:nvPr/>
        </p:nvCxnSpPr>
        <p:spPr bwMode="auto">
          <a:xfrm>
            <a:off x="2766557" y="4191000"/>
            <a:ext cx="45720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494280EA-0F52-E817-A6B5-FCA96C1FC927}"/>
              </a:ext>
            </a:extLst>
          </p:cNvPr>
          <p:cNvCxnSpPr/>
          <p:nvPr/>
        </p:nvCxnSpPr>
        <p:spPr bwMode="auto">
          <a:xfrm>
            <a:off x="2849107" y="6475412"/>
            <a:ext cx="5753893" cy="1588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500D40C7-3093-D60F-A5EF-53FE7020ABF7}"/>
              </a:ext>
            </a:extLst>
          </p:cNvPr>
          <p:cNvCxnSpPr>
            <a:cxnSpLocks/>
          </p:cNvCxnSpPr>
          <p:nvPr/>
        </p:nvCxnSpPr>
        <p:spPr bwMode="auto">
          <a:xfrm flipV="1">
            <a:off x="2849107" y="4418806"/>
            <a:ext cx="794" cy="2056606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2" name="CuadroTexto 61">
            <a:extLst>
              <a:ext uri="{FF2B5EF4-FFF2-40B4-BE49-F238E27FC236}">
                <a16:creationId xmlns:a16="http://schemas.microsoft.com/office/drawing/2014/main" id="{040524F3-6EF8-60FC-35D2-98F00C23C49F}"/>
              </a:ext>
            </a:extLst>
          </p:cNvPr>
          <p:cNvSpPr txBox="1"/>
          <p:nvPr/>
        </p:nvSpPr>
        <p:spPr>
          <a:xfrm rot="16200000">
            <a:off x="8558929" y="5114873"/>
            <a:ext cx="5885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>
                <a:solidFill>
                  <a:schemeClr val="accent1">
                    <a:lumMod val="75000"/>
                  </a:schemeClr>
                </a:solidFill>
              </a:rPr>
              <a:t>Datos</a:t>
            </a:r>
          </a:p>
        </p:txBody>
      </p: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EE7BF772-93EA-87C9-9442-6755A2465508}"/>
              </a:ext>
            </a:extLst>
          </p:cNvPr>
          <p:cNvCxnSpPr>
            <a:cxnSpLocks/>
            <a:endCxn id="221" idx="2"/>
          </p:cNvCxnSpPr>
          <p:nvPr/>
        </p:nvCxnSpPr>
        <p:spPr bwMode="auto">
          <a:xfrm flipV="1">
            <a:off x="2592286" y="3540124"/>
            <a:ext cx="4553" cy="2740044"/>
          </a:xfrm>
          <a:prstGeom prst="line">
            <a:avLst/>
          </a:prstGeom>
          <a:ln w="38100" cmpd="sng">
            <a:solidFill>
              <a:srgbClr val="2669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1DADE005-B639-DCD3-E713-DF6A9B63D101}"/>
              </a:ext>
            </a:extLst>
          </p:cNvPr>
          <p:cNvCxnSpPr/>
          <p:nvPr/>
        </p:nvCxnSpPr>
        <p:spPr bwMode="auto">
          <a:xfrm flipV="1">
            <a:off x="1897400" y="2741612"/>
            <a:ext cx="228601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0" name="Rectángulo 79">
            <a:extLst>
              <a:ext uri="{FF2B5EF4-FFF2-40B4-BE49-F238E27FC236}">
                <a16:creationId xmlns:a16="http://schemas.microsoft.com/office/drawing/2014/main" id="{2A95A935-1DDB-ADA3-065B-CA3267D1B2AE}"/>
              </a:ext>
            </a:extLst>
          </p:cNvPr>
          <p:cNvSpPr/>
          <p:nvPr/>
        </p:nvSpPr>
        <p:spPr bwMode="auto">
          <a:xfrm>
            <a:off x="1152999" y="3698347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84" name="Conector recto 83">
            <a:extLst>
              <a:ext uri="{FF2B5EF4-FFF2-40B4-BE49-F238E27FC236}">
                <a16:creationId xmlns:a16="http://schemas.microsoft.com/office/drawing/2014/main" id="{7FD4BF06-4DF5-1791-0A84-4707988E2A1A}"/>
              </a:ext>
            </a:extLst>
          </p:cNvPr>
          <p:cNvCxnSpPr>
            <a:cxnSpLocks/>
          </p:cNvCxnSpPr>
          <p:nvPr/>
        </p:nvCxnSpPr>
        <p:spPr bwMode="auto">
          <a:xfrm flipH="1">
            <a:off x="1721997" y="219075"/>
            <a:ext cx="23003" cy="3463239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7" name="Conector recto 86">
            <a:extLst>
              <a:ext uri="{FF2B5EF4-FFF2-40B4-BE49-F238E27FC236}">
                <a16:creationId xmlns:a16="http://schemas.microsoft.com/office/drawing/2014/main" id="{C2ACA117-4BFB-3179-7B2D-56FE9E8B85DD}"/>
              </a:ext>
            </a:extLst>
          </p:cNvPr>
          <p:cNvCxnSpPr>
            <a:cxnSpLocks/>
            <a:endCxn id="80" idx="1"/>
          </p:cNvCxnSpPr>
          <p:nvPr/>
        </p:nvCxnSpPr>
        <p:spPr bwMode="auto">
          <a:xfrm>
            <a:off x="623450" y="3812647"/>
            <a:ext cx="529549" cy="0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Conector recto de flecha 87">
            <a:extLst>
              <a:ext uri="{FF2B5EF4-FFF2-40B4-BE49-F238E27FC236}">
                <a16:creationId xmlns:a16="http://schemas.microsoft.com/office/drawing/2014/main" id="{CA8AD42F-1324-8F01-B120-74DDEFAD3D14}"/>
              </a:ext>
            </a:extLst>
          </p:cNvPr>
          <p:cNvCxnSpPr/>
          <p:nvPr/>
        </p:nvCxnSpPr>
        <p:spPr bwMode="auto">
          <a:xfrm rot="16200000" flipH="1">
            <a:off x="1093069" y="3545947"/>
            <a:ext cx="304802" cy="2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A7F57DC5-0C24-2E20-3C6F-9A744D1563D8}"/>
              </a:ext>
            </a:extLst>
          </p:cNvPr>
          <p:cNvCxnSpPr/>
          <p:nvPr/>
        </p:nvCxnSpPr>
        <p:spPr bwMode="auto">
          <a:xfrm rot="5400000">
            <a:off x="1188318" y="4115332"/>
            <a:ext cx="381000" cy="4230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0" name="CuadroTexto 89">
            <a:extLst>
              <a:ext uri="{FF2B5EF4-FFF2-40B4-BE49-F238E27FC236}">
                <a16:creationId xmlns:a16="http://schemas.microsoft.com/office/drawing/2014/main" id="{8AB18E7D-8A94-88F0-E4B9-11207AF55E66}"/>
              </a:ext>
            </a:extLst>
          </p:cNvPr>
          <p:cNvSpPr txBox="1"/>
          <p:nvPr/>
        </p:nvSpPr>
        <p:spPr>
          <a:xfrm rot="16200000">
            <a:off x="487760" y="2071021"/>
            <a:ext cx="612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>
                <a:solidFill>
                  <a:srgbClr val="FF6600"/>
                </a:solidFill>
              </a:rPr>
              <a:t>MxPC</a:t>
            </a:r>
          </a:p>
        </p:txBody>
      </p:sp>
      <p:sp>
        <p:nvSpPr>
          <p:cNvPr id="92" name="Rectángulo 91">
            <a:extLst>
              <a:ext uri="{FF2B5EF4-FFF2-40B4-BE49-F238E27FC236}">
                <a16:creationId xmlns:a16="http://schemas.microsoft.com/office/drawing/2014/main" id="{B06E4614-9E32-5D4C-FFE3-5FF05EB24A90}"/>
              </a:ext>
            </a:extLst>
          </p:cNvPr>
          <p:cNvSpPr/>
          <p:nvPr/>
        </p:nvSpPr>
        <p:spPr bwMode="auto">
          <a:xfrm>
            <a:off x="2126001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3" name="Rectángulo 92">
            <a:extLst>
              <a:ext uri="{FF2B5EF4-FFF2-40B4-BE49-F238E27FC236}">
                <a16:creationId xmlns:a16="http://schemas.microsoft.com/office/drawing/2014/main" id="{C534824C-226F-151C-5D78-F594370A5293}"/>
              </a:ext>
            </a:extLst>
          </p:cNvPr>
          <p:cNvSpPr/>
          <p:nvPr/>
        </p:nvSpPr>
        <p:spPr bwMode="auto">
          <a:xfrm rot="16200000">
            <a:off x="1907279" y="5390270"/>
            <a:ext cx="7620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RI</a:t>
            </a:r>
          </a:p>
        </p:txBody>
      </p:sp>
      <p:sp>
        <p:nvSpPr>
          <p:cNvPr id="95" name="Rectángulo 94">
            <a:extLst>
              <a:ext uri="{FF2B5EF4-FFF2-40B4-BE49-F238E27FC236}">
                <a16:creationId xmlns:a16="http://schemas.microsoft.com/office/drawing/2014/main" id="{A96BDA85-DB10-3EAE-4274-39332CE3CAB8}"/>
              </a:ext>
            </a:extLst>
          </p:cNvPr>
          <p:cNvSpPr/>
          <p:nvPr/>
        </p:nvSpPr>
        <p:spPr bwMode="auto">
          <a:xfrm>
            <a:off x="4488201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6" name="Rectángulo 95">
            <a:extLst>
              <a:ext uri="{FF2B5EF4-FFF2-40B4-BE49-F238E27FC236}">
                <a16:creationId xmlns:a16="http://schemas.microsoft.com/office/drawing/2014/main" id="{7E777871-445C-8EDE-2E49-DD36D13E9F6A}"/>
              </a:ext>
            </a:extLst>
          </p:cNvPr>
          <p:cNvSpPr/>
          <p:nvPr/>
        </p:nvSpPr>
        <p:spPr bwMode="auto">
          <a:xfrm rot="16200000">
            <a:off x="4406353" y="3385080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S</a:t>
            </a:r>
          </a:p>
        </p:txBody>
      </p:sp>
      <p:sp>
        <p:nvSpPr>
          <p:cNvPr id="97" name="Rectángulo 96">
            <a:extLst>
              <a:ext uri="{FF2B5EF4-FFF2-40B4-BE49-F238E27FC236}">
                <a16:creationId xmlns:a16="http://schemas.microsoft.com/office/drawing/2014/main" id="{3BEB16F3-A6A4-F347-3745-7B3985D35F3A}"/>
              </a:ext>
            </a:extLst>
          </p:cNvPr>
          <p:cNvSpPr/>
          <p:nvPr/>
        </p:nvSpPr>
        <p:spPr bwMode="auto">
          <a:xfrm rot="16200000">
            <a:off x="4406354" y="3936350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T</a:t>
            </a:r>
          </a:p>
        </p:txBody>
      </p:sp>
      <p:sp>
        <p:nvSpPr>
          <p:cNvPr id="98" name="Rectángulo 97">
            <a:extLst>
              <a:ext uri="{FF2B5EF4-FFF2-40B4-BE49-F238E27FC236}">
                <a16:creationId xmlns:a16="http://schemas.microsoft.com/office/drawing/2014/main" id="{C056DD4B-5BE9-4817-2605-9AEB7559B4FF}"/>
              </a:ext>
            </a:extLst>
          </p:cNvPr>
          <p:cNvSpPr/>
          <p:nvPr/>
        </p:nvSpPr>
        <p:spPr bwMode="auto">
          <a:xfrm rot="16200000">
            <a:off x="4407298" y="4431386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K</a:t>
            </a:r>
          </a:p>
        </p:txBody>
      </p:sp>
      <p:sp>
        <p:nvSpPr>
          <p:cNvPr id="101" name="Rectángulo 100">
            <a:extLst>
              <a:ext uri="{FF2B5EF4-FFF2-40B4-BE49-F238E27FC236}">
                <a16:creationId xmlns:a16="http://schemas.microsoft.com/office/drawing/2014/main" id="{C04A49EF-E3DE-3E67-1863-54391CD150B6}"/>
              </a:ext>
            </a:extLst>
          </p:cNvPr>
          <p:cNvSpPr/>
          <p:nvPr/>
        </p:nvSpPr>
        <p:spPr bwMode="auto">
          <a:xfrm>
            <a:off x="6469400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2" name="Rectángulo 101">
            <a:extLst>
              <a:ext uri="{FF2B5EF4-FFF2-40B4-BE49-F238E27FC236}">
                <a16:creationId xmlns:a16="http://schemas.microsoft.com/office/drawing/2014/main" id="{79F79194-C5BD-947B-73EB-8C2516B49DEB}"/>
              </a:ext>
            </a:extLst>
          </p:cNvPr>
          <p:cNvSpPr/>
          <p:nvPr/>
        </p:nvSpPr>
        <p:spPr bwMode="auto">
          <a:xfrm>
            <a:off x="7993400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AC9E502B-2D62-20AB-57FB-FA20785C8453}"/>
              </a:ext>
            </a:extLst>
          </p:cNvPr>
          <p:cNvSpPr/>
          <p:nvPr/>
        </p:nvSpPr>
        <p:spPr bwMode="auto">
          <a:xfrm rot="16200000">
            <a:off x="6174479" y="36179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ALUout</a:t>
            </a:r>
          </a:p>
        </p:txBody>
      </p:sp>
      <p:sp>
        <p:nvSpPr>
          <p:cNvPr id="104" name="Rectángulo 103">
            <a:extLst>
              <a:ext uri="{FF2B5EF4-FFF2-40B4-BE49-F238E27FC236}">
                <a16:creationId xmlns:a16="http://schemas.microsoft.com/office/drawing/2014/main" id="{163682A2-09B6-51B2-382E-5872BE5C152E}"/>
              </a:ext>
            </a:extLst>
          </p:cNvPr>
          <p:cNvSpPr/>
          <p:nvPr/>
        </p:nvSpPr>
        <p:spPr bwMode="auto">
          <a:xfrm rot="16200000">
            <a:off x="7698479" y="36179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ALUout</a:t>
            </a:r>
          </a:p>
        </p:txBody>
      </p:sp>
      <p:sp>
        <p:nvSpPr>
          <p:cNvPr id="107" name="Rectángulo 106">
            <a:extLst>
              <a:ext uri="{FF2B5EF4-FFF2-40B4-BE49-F238E27FC236}">
                <a16:creationId xmlns:a16="http://schemas.microsoft.com/office/drawing/2014/main" id="{0F83908E-0AE9-7F07-7FDB-A5755DC909C2}"/>
              </a:ext>
            </a:extLst>
          </p:cNvPr>
          <p:cNvSpPr/>
          <p:nvPr/>
        </p:nvSpPr>
        <p:spPr bwMode="auto">
          <a:xfrm rot="16200000">
            <a:off x="7698479" y="48371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MEMout</a:t>
            </a:r>
          </a:p>
        </p:txBody>
      </p:sp>
      <p:sp>
        <p:nvSpPr>
          <p:cNvPr id="108" name="Rectángulo 107">
            <a:extLst>
              <a:ext uri="{FF2B5EF4-FFF2-40B4-BE49-F238E27FC236}">
                <a16:creationId xmlns:a16="http://schemas.microsoft.com/office/drawing/2014/main" id="{BA864589-B7A6-263A-0029-514287F92C38}"/>
              </a:ext>
            </a:extLst>
          </p:cNvPr>
          <p:cNvSpPr/>
          <p:nvPr/>
        </p:nvSpPr>
        <p:spPr bwMode="auto">
          <a:xfrm rot="16200000">
            <a:off x="6406518" y="4863434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T</a:t>
            </a:r>
          </a:p>
        </p:txBody>
      </p:sp>
      <p:cxnSp>
        <p:nvCxnSpPr>
          <p:cNvPr id="120" name="Conector recto 119">
            <a:extLst>
              <a:ext uri="{FF2B5EF4-FFF2-40B4-BE49-F238E27FC236}">
                <a16:creationId xmlns:a16="http://schemas.microsoft.com/office/drawing/2014/main" id="{FEF76F0B-B218-9FAD-E9A6-C97F8B070770}"/>
              </a:ext>
            </a:extLst>
          </p:cNvPr>
          <p:cNvCxnSpPr/>
          <p:nvPr/>
        </p:nvCxnSpPr>
        <p:spPr bwMode="auto">
          <a:xfrm>
            <a:off x="8374400" y="4037012"/>
            <a:ext cx="228600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Conector recto 120">
            <a:extLst>
              <a:ext uri="{FF2B5EF4-FFF2-40B4-BE49-F238E27FC236}">
                <a16:creationId xmlns:a16="http://schemas.microsoft.com/office/drawing/2014/main" id="{2DDE9B4E-FEAE-6208-BD02-B8B418B80E39}"/>
              </a:ext>
            </a:extLst>
          </p:cNvPr>
          <p:cNvCxnSpPr>
            <a:cxnSpLocks/>
          </p:cNvCxnSpPr>
          <p:nvPr/>
        </p:nvCxnSpPr>
        <p:spPr bwMode="auto">
          <a:xfrm>
            <a:off x="8373606" y="4494211"/>
            <a:ext cx="229394" cy="1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2" name="Conector recto 121">
            <a:extLst>
              <a:ext uri="{FF2B5EF4-FFF2-40B4-BE49-F238E27FC236}">
                <a16:creationId xmlns:a16="http://schemas.microsoft.com/office/drawing/2014/main" id="{F5D2266A-182D-9C33-5DCF-B874E453C93C}"/>
              </a:ext>
            </a:extLst>
          </p:cNvPr>
          <p:cNvCxnSpPr>
            <a:cxnSpLocks/>
          </p:cNvCxnSpPr>
          <p:nvPr/>
        </p:nvCxnSpPr>
        <p:spPr bwMode="auto">
          <a:xfrm flipV="1">
            <a:off x="8373609" y="3711167"/>
            <a:ext cx="0" cy="346483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Conector recto 122">
            <a:extLst>
              <a:ext uri="{FF2B5EF4-FFF2-40B4-BE49-F238E27FC236}">
                <a16:creationId xmlns:a16="http://schemas.microsoft.com/office/drawing/2014/main" id="{63FF62FB-8176-2A2B-B70B-A0CAE8BC7788}"/>
              </a:ext>
            </a:extLst>
          </p:cNvPr>
          <p:cNvCxnSpPr>
            <a:cxnSpLocks/>
          </p:cNvCxnSpPr>
          <p:nvPr/>
        </p:nvCxnSpPr>
        <p:spPr bwMode="auto">
          <a:xfrm flipV="1">
            <a:off x="8373606" y="4479925"/>
            <a:ext cx="0" cy="476248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5" name="Conector recto 124">
            <a:extLst>
              <a:ext uri="{FF2B5EF4-FFF2-40B4-BE49-F238E27FC236}">
                <a16:creationId xmlns:a16="http://schemas.microsoft.com/office/drawing/2014/main" id="{AA05BF4A-0D1B-DD29-A910-D4D49EBEF31F}"/>
              </a:ext>
            </a:extLst>
          </p:cNvPr>
          <p:cNvCxnSpPr/>
          <p:nvPr/>
        </p:nvCxnSpPr>
        <p:spPr bwMode="auto">
          <a:xfrm rot="10800000">
            <a:off x="8298200" y="3732212"/>
            <a:ext cx="76200" cy="1588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9" name="Conector recto 128">
            <a:extLst>
              <a:ext uri="{FF2B5EF4-FFF2-40B4-BE49-F238E27FC236}">
                <a16:creationId xmlns:a16="http://schemas.microsoft.com/office/drawing/2014/main" id="{EEE5F437-A229-2BE9-1F71-4F295B1869B0}"/>
              </a:ext>
            </a:extLst>
          </p:cNvPr>
          <p:cNvCxnSpPr/>
          <p:nvPr/>
        </p:nvCxnSpPr>
        <p:spPr bwMode="auto">
          <a:xfrm>
            <a:off x="6287835" y="3789039"/>
            <a:ext cx="190027" cy="1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0" name="CuadroTexto 129">
            <a:extLst>
              <a:ext uri="{FF2B5EF4-FFF2-40B4-BE49-F238E27FC236}">
                <a16:creationId xmlns:a16="http://schemas.microsoft.com/office/drawing/2014/main" id="{37040CC1-D8D1-9CF1-6890-874838BB2F9B}"/>
              </a:ext>
            </a:extLst>
          </p:cNvPr>
          <p:cNvSpPr txBox="1"/>
          <p:nvPr/>
        </p:nvSpPr>
        <p:spPr>
          <a:xfrm rot="16200000">
            <a:off x="1992834" y="604691"/>
            <a:ext cx="562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LI/DI</a:t>
            </a:r>
          </a:p>
        </p:txBody>
      </p:sp>
      <p:sp>
        <p:nvSpPr>
          <p:cNvPr id="131" name="CuadroTexto 130">
            <a:extLst>
              <a:ext uri="{FF2B5EF4-FFF2-40B4-BE49-F238E27FC236}">
                <a16:creationId xmlns:a16="http://schemas.microsoft.com/office/drawing/2014/main" id="{61E73E47-2380-A846-83D6-7F2A2B11430F}"/>
              </a:ext>
            </a:extLst>
          </p:cNvPr>
          <p:cNvSpPr txBox="1"/>
          <p:nvPr/>
        </p:nvSpPr>
        <p:spPr>
          <a:xfrm rot="16200000">
            <a:off x="4336034" y="2070736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DI/EX</a:t>
            </a:r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4CDF81E2-4539-5E04-48C8-18E39E1ACAA8}"/>
              </a:ext>
            </a:extLst>
          </p:cNvPr>
          <p:cNvSpPr txBox="1"/>
          <p:nvPr/>
        </p:nvSpPr>
        <p:spPr>
          <a:xfrm rot="16200000">
            <a:off x="7805688" y="1305865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M/ ER</a:t>
            </a:r>
          </a:p>
        </p:txBody>
      </p:sp>
      <p:cxnSp>
        <p:nvCxnSpPr>
          <p:cNvPr id="157" name="Conector recto 156">
            <a:extLst>
              <a:ext uri="{FF2B5EF4-FFF2-40B4-BE49-F238E27FC236}">
                <a16:creationId xmlns:a16="http://schemas.microsoft.com/office/drawing/2014/main" id="{DB701064-82FA-14A6-4DBF-F24221B4B681}"/>
              </a:ext>
            </a:extLst>
          </p:cNvPr>
          <p:cNvCxnSpPr>
            <a:cxnSpLocks/>
          </p:cNvCxnSpPr>
          <p:nvPr/>
        </p:nvCxnSpPr>
        <p:spPr bwMode="auto">
          <a:xfrm>
            <a:off x="6774200" y="3733800"/>
            <a:ext cx="121920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8" name="Rectángulo 157">
            <a:extLst>
              <a:ext uri="{FF2B5EF4-FFF2-40B4-BE49-F238E27FC236}">
                <a16:creationId xmlns:a16="http://schemas.microsoft.com/office/drawing/2014/main" id="{22D967DA-373D-0560-92F9-70F780CD1A97}"/>
              </a:ext>
            </a:extLst>
          </p:cNvPr>
          <p:cNvSpPr/>
          <p:nvPr/>
        </p:nvSpPr>
        <p:spPr bwMode="auto">
          <a:xfrm rot="16200000">
            <a:off x="1977833" y="2631714"/>
            <a:ext cx="609601" cy="21919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159" name="Rectángulo 158">
            <a:extLst>
              <a:ext uri="{FF2B5EF4-FFF2-40B4-BE49-F238E27FC236}">
                <a16:creationId xmlns:a16="http://schemas.microsoft.com/office/drawing/2014/main" id="{283E0278-5936-4AE0-FF7E-CBAA76E827C2}"/>
              </a:ext>
            </a:extLst>
          </p:cNvPr>
          <p:cNvSpPr/>
          <p:nvPr/>
        </p:nvSpPr>
        <p:spPr bwMode="auto">
          <a:xfrm rot="16200000">
            <a:off x="4335327" y="2671135"/>
            <a:ext cx="609601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163" name="Rectángulo 162">
            <a:extLst>
              <a:ext uri="{FF2B5EF4-FFF2-40B4-BE49-F238E27FC236}">
                <a16:creationId xmlns:a16="http://schemas.microsoft.com/office/drawing/2014/main" id="{70CD7D36-EB7F-E955-BB8F-C908AAA61013}"/>
              </a:ext>
            </a:extLst>
          </p:cNvPr>
          <p:cNvSpPr/>
          <p:nvPr/>
        </p:nvSpPr>
        <p:spPr bwMode="auto">
          <a:xfrm rot="16200000">
            <a:off x="6340593" y="5433416"/>
            <a:ext cx="609601" cy="20117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Cond</a:t>
            </a:r>
          </a:p>
        </p:txBody>
      </p:sp>
      <p:cxnSp>
        <p:nvCxnSpPr>
          <p:cNvPr id="170" name="Conector recto 169">
            <a:extLst>
              <a:ext uri="{FF2B5EF4-FFF2-40B4-BE49-F238E27FC236}">
                <a16:creationId xmlns:a16="http://schemas.microsoft.com/office/drawing/2014/main" id="{36A231D5-2587-29FE-A310-8ADFAB5B7FC3}"/>
              </a:ext>
            </a:extLst>
          </p:cNvPr>
          <p:cNvCxnSpPr>
            <a:cxnSpLocks/>
          </p:cNvCxnSpPr>
          <p:nvPr/>
        </p:nvCxnSpPr>
        <p:spPr bwMode="auto">
          <a:xfrm flipH="1">
            <a:off x="6774200" y="5534001"/>
            <a:ext cx="78699" cy="5944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2" name="Conector recto 171">
            <a:extLst>
              <a:ext uri="{FF2B5EF4-FFF2-40B4-BE49-F238E27FC236}">
                <a16:creationId xmlns:a16="http://schemas.microsoft.com/office/drawing/2014/main" id="{64E3F6E5-017E-F28D-5950-A6C94A1EEB30}"/>
              </a:ext>
            </a:extLst>
          </p:cNvPr>
          <p:cNvCxnSpPr>
            <a:cxnSpLocks/>
          </p:cNvCxnSpPr>
          <p:nvPr/>
        </p:nvCxnSpPr>
        <p:spPr bwMode="auto">
          <a:xfrm>
            <a:off x="644336" y="103338"/>
            <a:ext cx="6192688" cy="13294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3" name="Conector recto 172">
            <a:extLst>
              <a:ext uri="{FF2B5EF4-FFF2-40B4-BE49-F238E27FC236}">
                <a16:creationId xmlns:a16="http://schemas.microsoft.com/office/drawing/2014/main" id="{116E5411-463C-EB32-B283-713E511A4D28}"/>
              </a:ext>
            </a:extLst>
          </p:cNvPr>
          <p:cNvCxnSpPr>
            <a:cxnSpLocks/>
          </p:cNvCxnSpPr>
          <p:nvPr/>
        </p:nvCxnSpPr>
        <p:spPr bwMode="auto">
          <a:xfrm>
            <a:off x="644336" y="92075"/>
            <a:ext cx="0" cy="3728489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4" name="Conector recto 173">
            <a:extLst>
              <a:ext uri="{FF2B5EF4-FFF2-40B4-BE49-F238E27FC236}">
                <a16:creationId xmlns:a16="http://schemas.microsoft.com/office/drawing/2014/main" id="{E75A760E-34A2-D12B-B0BC-4634CC449EB2}"/>
              </a:ext>
            </a:extLst>
          </p:cNvPr>
          <p:cNvCxnSpPr/>
          <p:nvPr/>
        </p:nvCxnSpPr>
        <p:spPr bwMode="auto">
          <a:xfrm rot="5400000" flipH="1" flipV="1">
            <a:off x="-312400" y="3732212"/>
            <a:ext cx="2133600" cy="1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5" name="Conector recto 174">
            <a:extLst>
              <a:ext uri="{FF2B5EF4-FFF2-40B4-BE49-F238E27FC236}">
                <a16:creationId xmlns:a16="http://schemas.microsoft.com/office/drawing/2014/main" id="{96BD411F-7E49-6C85-C7E7-40D478F5AFE4}"/>
              </a:ext>
            </a:extLst>
          </p:cNvPr>
          <p:cNvCxnSpPr>
            <a:cxnSpLocks/>
          </p:cNvCxnSpPr>
          <p:nvPr/>
        </p:nvCxnSpPr>
        <p:spPr bwMode="auto">
          <a:xfrm>
            <a:off x="728225" y="4791193"/>
            <a:ext cx="645442" cy="0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6" name="Conector recto 175">
            <a:extLst>
              <a:ext uri="{FF2B5EF4-FFF2-40B4-BE49-F238E27FC236}">
                <a16:creationId xmlns:a16="http://schemas.microsoft.com/office/drawing/2014/main" id="{6FC7AB54-96A5-9588-C7E8-E9007016F594}"/>
              </a:ext>
            </a:extLst>
          </p:cNvPr>
          <p:cNvCxnSpPr>
            <a:cxnSpLocks/>
          </p:cNvCxnSpPr>
          <p:nvPr/>
        </p:nvCxnSpPr>
        <p:spPr bwMode="auto">
          <a:xfrm>
            <a:off x="1897400" y="2722496"/>
            <a:ext cx="794" cy="2076516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7" name="Conector recto 176">
            <a:extLst>
              <a:ext uri="{FF2B5EF4-FFF2-40B4-BE49-F238E27FC236}">
                <a16:creationId xmlns:a16="http://schemas.microsoft.com/office/drawing/2014/main" id="{A0E7D01C-66E6-1F32-61F9-95421CDA05B1}"/>
              </a:ext>
            </a:extLst>
          </p:cNvPr>
          <p:cNvCxnSpPr>
            <a:cxnSpLocks/>
          </p:cNvCxnSpPr>
          <p:nvPr/>
        </p:nvCxnSpPr>
        <p:spPr bwMode="auto">
          <a:xfrm>
            <a:off x="1399801" y="4779726"/>
            <a:ext cx="497127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0FBD3CF2-AA1E-CC10-7186-A17C2F398E35}"/>
              </a:ext>
            </a:extLst>
          </p:cNvPr>
          <p:cNvSpPr txBox="1"/>
          <p:nvPr/>
        </p:nvSpPr>
        <p:spPr>
          <a:xfrm>
            <a:off x="3230107" y="6038626"/>
            <a:ext cx="6992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11..7(</a:t>
            </a:r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rd</a:t>
            </a:r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09368838-88F9-AF49-8178-E9A0E031A4C2}"/>
              </a:ext>
            </a:extLst>
          </p:cNvPr>
          <p:cNvCxnSpPr>
            <a:cxnSpLocks/>
          </p:cNvCxnSpPr>
          <p:nvPr/>
        </p:nvCxnSpPr>
        <p:spPr bwMode="auto">
          <a:xfrm>
            <a:off x="4946187" y="3578224"/>
            <a:ext cx="0" cy="1614472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6CA71E77-5776-DA3D-87C7-32BB10D5DBE9}"/>
              </a:ext>
            </a:extLst>
          </p:cNvPr>
          <p:cNvCxnSpPr>
            <a:cxnSpLocks/>
            <a:stCxn id="147" idx="2"/>
          </p:cNvCxnSpPr>
          <p:nvPr/>
        </p:nvCxnSpPr>
        <p:spPr bwMode="auto">
          <a:xfrm>
            <a:off x="5589345" y="4115379"/>
            <a:ext cx="193462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79FFDD23-769B-06B9-E17D-AC0582385FB0}"/>
              </a:ext>
            </a:extLst>
          </p:cNvPr>
          <p:cNvCxnSpPr>
            <a:cxnSpLocks/>
          </p:cNvCxnSpPr>
          <p:nvPr/>
        </p:nvCxnSpPr>
        <p:spPr bwMode="auto">
          <a:xfrm>
            <a:off x="4801003" y="2720908"/>
            <a:ext cx="220597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C5B790A8-181B-681B-135E-D367FE7DDE17}"/>
              </a:ext>
            </a:extLst>
          </p:cNvPr>
          <p:cNvCxnSpPr>
            <a:cxnSpLocks/>
          </p:cNvCxnSpPr>
          <p:nvPr/>
        </p:nvCxnSpPr>
        <p:spPr bwMode="auto">
          <a:xfrm flipV="1">
            <a:off x="5000768" y="2720908"/>
            <a:ext cx="0" cy="532672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067E2A57-2389-A6B8-BA29-CF09BD2773B8}"/>
              </a:ext>
            </a:extLst>
          </p:cNvPr>
          <p:cNvCxnSpPr>
            <a:cxnSpLocks/>
          </p:cNvCxnSpPr>
          <p:nvPr/>
        </p:nvCxnSpPr>
        <p:spPr bwMode="auto">
          <a:xfrm>
            <a:off x="4793000" y="4077072"/>
            <a:ext cx="567745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Rectángulo 50">
            <a:extLst>
              <a:ext uri="{FF2B5EF4-FFF2-40B4-BE49-F238E27FC236}">
                <a16:creationId xmlns:a16="http://schemas.microsoft.com/office/drawing/2014/main" id="{004D51E2-ED52-9E1F-9ED2-6681811B07C5}"/>
              </a:ext>
            </a:extLst>
          </p:cNvPr>
          <p:cNvSpPr/>
          <p:nvPr/>
        </p:nvSpPr>
        <p:spPr bwMode="auto">
          <a:xfrm>
            <a:off x="5084480" y="4046009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8AE9ED17-24FE-4BB3-7299-9B2683B8E1E2}"/>
              </a:ext>
            </a:extLst>
          </p:cNvPr>
          <p:cNvCxnSpPr>
            <a:cxnSpLocks/>
          </p:cNvCxnSpPr>
          <p:nvPr/>
        </p:nvCxnSpPr>
        <p:spPr bwMode="auto">
          <a:xfrm>
            <a:off x="5117560" y="4941168"/>
            <a:ext cx="1351046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CAA17E80-6153-C3EB-CE88-1AFB39CA0FA0}"/>
              </a:ext>
            </a:extLst>
          </p:cNvPr>
          <p:cNvCxnSpPr>
            <a:cxnSpLocks/>
          </p:cNvCxnSpPr>
          <p:nvPr/>
        </p:nvCxnSpPr>
        <p:spPr bwMode="auto">
          <a:xfrm>
            <a:off x="4984294" y="3246790"/>
            <a:ext cx="37645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02A3670A-4C1C-BC8B-8503-3F8F2988D322}"/>
              </a:ext>
            </a:extLst>
          </p:cNvPr>
          <p:cNvCxnSpPr>
            <a:cxnSpLocks/>
          </p:cNvCxnSpPr>
          <p:nvPr/>
        </p:nvCxnSpPr>
        <p:spPr bwMode="auto">
          <a:xfrm>
            <a:off x="4792056" y="3579812"/>
            <a:ext cx="56868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3" name="Rectángulo 72">
            <a:extLst>
              <a:ext uri="{FF2B5EF4-FFF2-40B4-BE49-F238E27FC236}">
                <a16:creationId xmlns:a16="http://schemas.microsoft.com/office/drawing/2014/main" id="{D2FFF1DB-BBB7-AB76-5C22-AF4A807CD06B}"/>
              </a:ext>
            </a:extLst>
          </p:cNvPr>
          <p:cNvSpPr/>
          <p:nvPr/>
        </p:nvSpPr>
        <p:spPr bwMode="auto">
          <a:xfrm rot="16200000">
            <a:off x="5151044" y="3295427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99" name="Conector recto 98">
            <a:extLst>
              <a:ext uri="{FF2B5EF4-FFF2-40B4-BE49-F238E27FC236}">
                <a16:creationId xmlns:a16="http://schemas.microsoft.com/office/drawing/2014/main" id="{E3665680-105A-24B7-FFEA-46E0EEA9A994}"/>
              </a:ext>
            </a:extLst>
          </p:cNvPr>
          <p:cNvCxnSpPr>
            <a:cxnSpLocks/>
          </p:cNvCxnSpPr>
          <p:nvPr/>
        </p:nvCxnSpPr>
        <p:spPr bwMode="auto">
          <a:xfrm>
            <a:off x="5589345" y="3402849"/>
            <a:ext cx="193462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7" name="Rectángulo 116">
            <a:extLst>
              <a:ext uri="{FF2B5EF4-FFF2-40B4-BE49-F238E27FC236}">
                <a16:creationId xmlns:a16="http://schemas.microsoft.com/office/drawing/2014/main" id="{FE11074C-8062-7AF4-E121-A7E489DB948A}"/>
              </a:ext>
            </a:extLst>
          </p:cNvPr>
          <p:cNvSpPr/>
          <p:nvPr/>
        </p:nvSpPr>
        <p:spPr bwMode="auto">
          <a:xfrm>
            <a:off x="4913979" y="3544521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118" name="Conector recto 117">
            <a:extLst>
              <a:ext uri="{FF2B5EF4-FFF2-40B4-BE49-F238E27FC236}">
                <a16:creationId xmlns:a16="http://schemas.microsoft.com/office/drawing/2014/main" id="{C1F1E8B7-186C-2CF3-61B6-E5AE0F0F6EE2}"/>
              </a:ext>
            </a:extLst>
          </p:cNvPr>
          <p:cNvCxnSpPr>
            <a:cxnSpLocks/>
            <a:stCxn id="51" idx="2"/>
          </p:cNvCxnSpPr>
          <p:nvPr/>
        </p:nvCxnSpPr>
        <p:spPr bwMode="auto">
          <a:xfrm>
            <a:off x="5122580" y="4122209"/>
            <a:ext cx="0" cy="1062907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7" name="Rectángulo 146">
            <a:extLst>
              <a:ext uri="{FF2B5EF4-FFF2-40B4-BE49-F238E27FC236}">
                <a16:creationId xmlns:a16="http://schemas.microsoft.com/office/drawing/2014/main" id="{0BAEA3C5-E3FE-2FD5-32B8-4C8D69646B3F}"/>
              </a:ext>
            </a:extLst>
          </p:cNvPr>
          <p:cNvSpPr/>
          <p:nvPr/>
        </p:nvSpPr>
        <p:spPr bwMode="auto">
          <a:xfrm rot="16200000">
            <a:off x="5153312" y="4001079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194" name="Conector recto 193">
            <a:extLst>
              <a:ext uri="{FF2B5EF4-FFF2-40B4-BE49-F238E27FC236}">
                <a16:creationId xmlns:a16="http://schemas.microsoft.com/office/drawing/2014/main" id="{2CC63B6C-4BD6-CEB5-E334-3BC8C39AB7A9}"/>
              </a:ext>
            </a:extLst>
          </p:cNvPr>
          <p:cNvCxnSpPr>
            <a:cxnSpLocks/>
          </p:cNvCxnSpPr>
          <p:nvPr/>
        </p:nvCxnSpPr>
        <p:spPr bwMode="auto">
          <a:xfrm flipV="1">
            <a:off x="4801003" y="6292868"/>
            <a:ext cx="1668397" cy="2244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5" name="Conector recto 194">
            <a:extLst>
              <a:ext uri="{FF2B5EF4-FFF2-40B4-BE49-F238E27FC236}">
                <a16:creationId xmlns:a16="http://schemas.microsoft.com/office/drawing/2014/main" id="{9AEE3D26-4530-3357-1BBF-947EC79C52F1}"/>
              </a:ext>
            </a:extLst>
          </p:cNvPr>
          <p:cNvCxnSpPr>
            <a:cxnSpLocks/>
          </p:cNvCxnSpPr>
          <p:nvPr/>
        </p:nvCxnSpPr>
        <p:spPr bwMode="auto">
          <a:xfrm>
            <a:off x="2833250" y="6475412"/>
            <a:ext cx="5782449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0" name="Conector recto 199">
            <a:extLst>
              <a:ext uri="{FF2B5EF4-FFF2-40B4-BE49-F238E27FC236}">
                <a16:creationId xmlns:a16="http://schemas.microsoft.com/office/drawing/2014/main" id="{FFB4B028-7DDA-CFEB-B609-7EA764A55E5D}"/>
              </a:ext>
            </a:extLst>
          </p:cNvPr>
          <p:cNvCxnSpPr>
            <a:cxnSpLocks/>
          </p:cNvCxnSpPr>
          <p:nvPr/>
        </p:nvCxnSpPr>
        <p:spPr bwMode="auto">
          <a:xfrm>
            <a:off x="6782786" y="6292868"/>
            <a:ext cx="1209826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1" name="Conector recto 200">
            <a:extLst>
              <a:ext uri="{FF2B5EF4-FFF2-40B4-BE49-F238E27FC236}">
                <a16:creationId xmlns:a16="http://schemas.microsoft.com/office/drawing/2014/main" id="{DA74C3A5-ADBB-99E1-B449-589AE35967AD}"/>
              </a:ext>
            </a:extLst>
          </p:cNvPr>
          <p:cNvCxnSpPr>
            <a:cxnSpLocks/>
          </p:cNvCxnSpPr>
          <p:nvPr/>
        </p:nvCxnSpPr>
        <p:spPr bwMode="auto">
          <a:xfrm>
            <a:off x="8602206" y="6273818"/>
            <a:ext cx="793" cy="201594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4" name="Conector recto 203">
            <a:extLst>
              <a:ext uri="{FF2B5EF4-FFF2-40B4-BE49-F238E27FC236}">
                <a16:creationId xmlns:a16="http://schemas.microsoft.com/office/drawing/2014/main" id="{3ABD8E00-7A79-9A2D-17D5-97695AEBC839}"/>
              </a:ext>
            </a:extLst>
          </p:cNvPr>
          <p:cNvCxnSpPr>
            <a:cxnSpLocks/>
          </p:cNvCxnSpPr>
          <p:nvPr/>
        </p:nvCxnSpPr>
        <p:spPr bwMode="auto">
          <a:xfrm>
            <a:off x="8297412" y="6292322"/>
            <a:ext cx="305587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6" name="CuadroTexto 205">
            <a:extLst>
              <a:ext uri="{FF2B5EF4-FFF2-40B4-BE49-F238E27FC236}">
                <a16:creationId xmlns:a16="http://schemas.microsoft.com/office/drawing/2014/main" id="{9881C83B-6D44-8502-3385-23375645E5FE}"/>
              </a:ext>
            </a:extLst>
          </p:cNvPr>
          <p:cNvSpPr txBox="1"/>
          <p:nvPr/>
        </p:nvSpPr>
        <p:spPr>
          <a:xfrm>
            <a:off x="3180848" y="5873965"/>
            <a:ext cx="784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Reg</a:t>
            </a:r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dest</a:t>
            </a:r>
            <a:endParaRPr lang="es-ES_tradnl" sz="11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7" name="Rectángulo 206">
            <a:extLst>
              <a:ext uri="{FF2B5EF4-FFF2-40B4-BE49-F238E27FC236}">
                <a16:creationId xmlns:a16="http://schemas.microsoft.com/office/drawing/2014/main" id="{89D3159D-E757-3446-276F-A5BA4F3A8803}"/>
              </a:ext>
            </a:extLst>
          </p:cNvPr>
          <p:cNvSpPr/>
          <p:nvPr/>
        </p:nvSpPr>
        <p:spPr bwMode="auto">
          <a:xfrm>
            <a:off x="4887433" y="5206577"/>
            <a:ext cx="1060916" cy="598687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  <a:tint val="66000"/>
                  <a:satMod val="160000"/>
                </a:schemeClr>
              </a:gs>
              <a:gs pos="50000">
                <a:schemeClr val="accent4">
                  <a:tint val="66000"/>
                  <a:satMod val="160000"/>
                  <a:tint val="44500"/>
                  <a:satMod val="160000"/>
                </a:schemeClr>
              </a:gs>
              <a:gs pos="100000">
                <a:schemeClr val="accent4">
                  <a:tint val="66000"/>
                  <a:satMod val="160000"/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Branch</a:t>
            </a:r>
          </a:p>
        </p:txBody>
      </p:sp>
      <p:sp>
        <p:nvSpPr>
          <p:cNvPr id="213" name="Rectángulo 212">
            <a:extLst>
              <a:ext uri="{FF2B5EF4-FFF2-40B4-BE49-F238E27FC236}">
                <a16:creationId xmlns:a16="http://schemas.microsoft.com/office/drawing/2014/main" id="{D2A3EBD0-4A74-17B3-9EC2-5A01958D6135}"/>
              </a:ext>
            </a:extLst>
          </p:cNvPr>
          <p:cNvSpPr/>
          <p:nvPr/>
        </p:nvSpPr>
        <p:spPr bwMode="auto">
          <a:xfrm rot="16200000">
            <a:off x="4430815" y="6022781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214" name="Rectángulo 213">
            <a:extLst>
              <a:ext uri="{FF2B5EF4-FFF2-40B4-BE49-F238E27FC236}">
                <a16:creationId xmlns:a16="http://schemas.microsoft.com/office/drawing/2014/main" id="{4C7F1F17-D331-91C7-F72B-8981CDAB800D}"/>
              </a:ext>
            </a:extLst>
          </p:cNvPr>
          <p:cNvSpPr/>
          <p:nvPr/>
        </p:nvSpPr>
        <p:spPr bwMode="auto">
          <a:xfrm rot="16200000">
            <a:off x="6444575" y="6054250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 err="1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215" name="Rectángulo 214">
            <a:extLst>
              <a:ext uri="{FF2B5EF4-FFF2-40B4-BE49-F238E27FC236}">
                <a16:creationId xmlns:a16="http://schemas.microsoft.com/office/drawing/2014/main" id="{1615C751-0334-8FB2-F6DF-B9A72FA35954}"/>
              </a:ext>
            </a:extLst>
          </p:cNvPr>
          <p:cNvSpPr/>
          <p:nvPr/>
        </p:nvSpPr>
        <p:spPr bwMode="auto">
          <a:xfrm rot="16200000">
            <a:off x="7974586" y="6072792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221" name="Rectángulo 220">
            <a:extLst>
              <a:ext uri="{FF2B5EF4-FFF2-40B4-BE49-F238E27FC236}">
                <a16:creationId xmlns:a16="http://schemas.microsoft.com/office/drawing/2014/main" id="{5CA6BC32-82E7-459C-043B-A3AF2DFD15B4}"/>
              </a:ext>
            </a:extLst>
          </p:cNvPr>
          <p:cNvSpPr/>
          <p:nvPr/>
        </p:nvSpPr>
        <p:spPr bwMode="auto">
          <a:xfrm>
            <a:off x="2558739" y="3463924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226" name="Conector recto 225">
            <a:extLst>
              <a:ext uri="{FF2B5EF4-FFF2-40B4-BE49-F238E27FC236}">
                <a16:creationId xmlns:a16="http://schemas.microsoft.com/office/drawing/2014/main" id="{F280027E-6435-A296-AD0C-A86066F763E2}"/>
              </a:ext>
            </a:extLst>
          </p:cNvPr>
          <p:cNvCxnSpPr>
            <a:cxnSpLocks/>
          </p:cNvCxnSpPr>
          <p:nvPr/>
        </p:nvCxnSpPr>
        <p:spPr bwMode="auto">
          <a:xfrm>
            <a:off x="6774200" y="4958174"/>
            <a:ext cx="22860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7" name="Conector recto 226">
            <a:extLst>
              <a:ext uri="{FF2B5EF4-FFF2-40B4-BE49-F238E27FC236}">
                <a16:creationId xmlns:a16="http://schemas.microsoft.com/office/drawing/2014/main" id="{74C902DB-C1D4-72B4-849F-6AB6F1397E5A}"/>
              </a:ext>
            </a:extLst>
          </p:cNvPr>
          <p:cNvCxnSpPr>
            <a:cxnSpLocks/>
            <a:stCxn id="148" idx="0"/>
          </p:cNvCxnSpPr>
          <p:nvPr/>
        </p:nvCxnSpPr>
        <p:spPr bwMode="auto">
          <a:xfrm flipV="1">
            <a:off x="7383799" y="219075"/>
            <a:ext cx="10021" cy="3475036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9" name="Conector recto 228">
            <a:extLst>
              <a:ext uri="{FF2B5EF4-FFF2-40B4-BE49-F238E27FC236}">
                <a16:creationId xmlns:a16="http://schemas.microsoft.com/office/drawing/2014/main" id="{5925B91C-D514-B4C8-5EC0-DDD2F1378D70}"/>
              </a:ext>
            </a:extLst>
          </p:cNvPr>
          <p:cNvCxnSpPr>
            <a:cxnSpLocks/>
          </p:cNvCxnSpPr>
          <p:nvPr/>
        </p:nvCxnSpPr>
        <p:spPr bwMode="auto">
          <a:xfrm flipV="1">
            <a:off x="1745000" y="219075"/>
            <a:ext cx="5648820" cy="9525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1" name="Conector recto 170">
            <a:extLst>
              <a:ext uri="{FF2B5EF4-FFF2-40B4-BE49-F238E27FC236}">
                <a16:creationId xmlns:a16="http://schemas.microsoft.com/office/drawing/2014/main" id="{48F13A84-5778-1F86-B346-3CE09BF78C39}"/>
              </a:ext>
            </a:extLst>
          </p:cNvPr>
          <p:cNvCxnSpPr>
            <a:cxnSpLocks/>
          </p:cNvCxnSpPr>
          <p:nvPr/>
        </p:nvCxnSpPr>
        <p:spPr bwMode="auto">
          <a:xfrm flipV="1">
            <a:off x="6837024" y="98425"/>
            <a:ext cx="0" cy="5441520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Rectángulo 26">
            <a:extLst>
              <a:ext uri="{FF2B5EF4-FFF2-40B4-BE49-F238E27FC236}">
                <a16:creationId xmlns:a16="http://schemas.microsoft.com/office/drawing/2014/main" id="{839E80FD-766F-8A94-11E0-0DD5AA9133AD}"/>
              </a:ext>
            </a:extLst>
          </p:cNvPr>
          <p:cNvSpPr/>
          <p:nvPr/>
        </p:nvSpPr>
        <p:spPr bwMode="auto">
          <a:xfrm>
            <a:off x="3230107" y="3317347"/>
            <a:ext cx="913134" cy="1371600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rgbClr val="000000"/>
                </a:solidFill>
              </a:rPr>
              <a:t>Banco de Registros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884CC3A0-E58A-9DB3-0A17-A2FE2AE1D347}"/>
              </a:ext>
            </a:extLst>
          </p:cNvPr>
          <p:cNvCxnSpPr>
            <a:cxnSpLocks/>
          </p:cNvCxnSpPr>
          <p:nvPr/>
        </p:nvCxnSpPr>
        <p:spPr bwMode="auto">
          <a:xfrm>
            <a:off x="4143241" y="3579812"/>
            <a:ext cx="34496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65F76B4C-7B13-6BEF-92B4-6014A6F9177A}"/>
              </a:ext>
            </a:extLst>
          </p:cNvPr>
          <p:cNvCxnSpPr>
            <a:cxnSpLocks/>
          </p:cNvCxnSpPr>
          <p:nvPr/>
        </p:nvCxnSpPr>
        <p:spPr bwMode="auto">
          <a:xfrm>
            <a:off x="4150630" y="4073467"/>
            <a:ext cx="335983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7C7BE34B-A427-3E08-F0FC-ECDB9AEBC416}"/>
              </a:ext>
            </a:extLst>
          </p:cNvPr>
          <p:cNvSpPr txBox="1"/>
          <p:nvPr/>
        </p:nvSpPr>
        <p:spPr>
          <a:xfrm rot="16200000">
            <a:off x="6325551" y="1894188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EX/M</a:t>
            </a:r>
          </a:p>
        </p:txBody>
      </p: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C82FF487-3B14-0840-A1C6-E0196A90C721}"/>
              </a:ext>
            </a:extLst>
          </p:cNvPr>
          <p:cNvCxnSpPr>
            <a:cxnSpLocks/>
          </p:cNvCxnSpPr>
          <p:nvPr/>
        </p:nvCxnSpPr>
        <p:spPr bwMode="auto">
          <a:xfrm>
            <a:off x="4206413" y="4570412"/>
            <a:ext cx="254347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39348B67-B58F-A519-A354-7F2CB0E17DF1}"/>
              </a:ext>
            </a:extLst>
          </p:cNvPr>
          <p:cNvCxnSpPr>
            <a:cxnSpLocks/>
          </p:cNvCxnSpPr>
          <p:nvPr/>
        </p:nvCxnSpPr>
        <p:spPr bwMode="auto">
          <a:xfrm flipV="1">
            <a:off x="4206413" y="4570412"/>
            <a:ext cx="0" cy="270934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34D97A56-53F8-ACC9-33EC-CF0334AA64CF}"/>
              </a:ext>
            </a:extLst>
          </p:cNvPr>
          <p:cNvCxnSpPr>
            <a:cxnSpLocks/>
          </p:cNvCxnSpPr>
          <p:nvPr/>
        </p:nvCxnSpPr>
        <p:spPr bwMode="auto">
          <a:xfrm flipV="1">
            <a:off x="4748792" y="4376092"/>
            <a:ext cx="606424" cy="6853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A8B692A0-CB48-8460-31D1-402AD5198652}"/>
              </a:ext>
            </a:extLst>
          </p:cNvPr>
          <p:cNvCxnSpPr>
            <a:cxnSpLocks/>
            <a:stCxn id="207" idx="3"/>
          </p:cNvCxnSpPr>
          <p:nvPr/>
        </p:nvCxnSpPr>
        <p:spPr bwMode="auto">
          <a:xfrm>
            <a:off x="5948349" y="5505921"/>
            <a:ext cx="518074" cy="0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38BF017-9750-D2F8-8CB5-4FA771B23EE1}"/>
              </a:ext>
            </a:extLst>
          </p:cNvPr>
          <p:cNvSpPr/>
          <p:nvPr/>
        </p:nvSpPr>
        <p:spPr bwMode="auto">
          <a:xfrm>
            <a:off x="5097801" y="4891717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7" name="Rectángulo 126">
            <a:extLst>
              <a:ext uri="{FF2B5EF4-FFF2-40B4-BE49-F238E27FC236}">
                <a16:creationId xmlns:a16="http://schemas.microsoft.com/office/drawing/2014/main" id="{C8DE1DDA-9D08-0597-BC4C-501C4ACA0227}"/>
              </a:ext>
            </a:extLst>
          </p:cNvPr>
          <p:cNvSpPr/>
          <p:nvPr/>
        </p:nvSpPr>
        <p:spPr bwMode="auto">
          <a:xfrm>
            <a:off x="1333481" y="4753876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shade val="50000"/>
                <a:alpha val="30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8" name="Rectángulo 127">
            <a:extLst>
              <a:ext uri="{FF2B5EF4-FFF2-40B4-BE49-F238E27FC236}">
                <a16:creationId xmlns:a16="http://schemas.microsoft.com/office/drawing/2014/main" id="{BA0D1BE8-AB11-C630-A0B8-50AAC90C8679}"/>
              </a:ext>
            </a:extLst>
          </p:cNvPr>
          <p:cNvSpPr/>
          <p:nvPr/>
        </p:nvSpPr>
        <p:spPr bwMode="auto">
          <a:xfrm>
            <a:off x="2551779" y="5109475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8" name="Rectángulo 147">
            <a:extLst>
              <a:ext uri="{FF2B5EF4-FFF2-40B4-BE49-F238E27FC236}">
                <a16:creationId xmlns:a16="http://schemas.microsoft.com/office/drawing/2014/main" id="{71D6583D-E8A3-E0D5-5733-F6E92F9C3368}"/>
              </a:ext>
            </a:extLst>
          </p:cNvPr>
          <p:cNvSpPr/>
          <p:nvPr/>
        </p:nvSpPr>
        <p:spPr bwMode="auto">
          <a:xfrm>
            <a:off x="7345699" y="3694111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385CE42D-EF44-26F4-BFCA-E7CEA8A24046}"/>
              </a:ext>
            </a:extLst>
          </p:cNvPr>
          <p:cNvCxnSpPr>
            <a:cxnSpLocks/>
          </p:cNvCxnSpPr>
          <p:nvPr/>
        </p:nvCxnSpPr>
        <p:spPr bwMode="auto">
          <a:xfrm>
            <a:off x="2849107" y="4418806"/>
            <a:ext cx="395354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5F8DBD6B-F430-6C94-E822-4A14E9901139}"/>
              </a:ext>
            </a:extLst>
          </p:cNvPr>
          <p:cNvCxnSpPr>
            <a:cxnSpLocks/>
          </p:cNvCxnSpPr>
          <p:nvPr/>
        </p:nvCxnSpPr>
        <p:spPr bwMode="auto">
          <a:xfrm>
            <a:off x="8831600" y="4248679"/>
            <a:ext cx="151606" cy="0"/>
          </a:xfrm>
          <a:prstGeom prst="line">
            <a:avLst/>
          </a:prstGeom>
          <a:ln w="38100" cmpd="sng">
            <a:solidFill>
              <a:srgbClr val="26697A">
                <a:alpha val="30000"/>
              </a:srgb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1C75CA6-F64B-717D-D965-4FCA80E640B9}"/>
              </a:ext>
            </a:extLst>
          </p:cNvPr>
          <p:cNvSpPr/>
          <p:nvPr/>
        </p:nvSpPr>
        <p:spPr bwMode="auto">
          <a:xfrm>
            <a:off x="2561689" y="3844924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AEFBB8DC-DC9B-06E7-8804-ED1C2544B08B}"/>
              </a:ext>
            </a:extLst>
          </p:cNvPr>
          <p:cNvCxnSpPr>
            <a:cxnSpLocks/>
          </p:cNvCxnSpPr>
          <p:nvPr/>
        </p:nvCxnSpPr>
        <p:spPr bwMode="auto">
          <a:xfrm>
            <a:off x="8831600" y="4253172"/>
            <a:ext cx="151606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655DCABC-27AE-0227-34B5-D494218B3406}"/>
              </a:ext>
            </a:extLst>
          </p:cNvPr>
          <p:cNvCxnSpPr>
            <a:cxnSpLocks/>
            <a:stCxn id="16" idx="3"/>
          </p:cNvCxnSpPr>
          <p:nvPr/>
        </p:nvCxnSpPr>
        <p:spPr bwMode="auto">
          <a:xfrm>
            <a:off x="2637889" y="3883024"/>
            <a:ext cx="58586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A46ABBF2-80E9-3ABF-492C-44F32FC9F124}"/>
              </a:ext>
            </a:extLst>
          </p:cNvPr>
          <p:cNvCxnSpPr>
            <a:cxnSpLocks/>
            <a:stCxn id="8" idx="3"/>
          </p:cNvCxnSpPr>
          <p:nvPr/>
        </p:nvCxnSpPr>
        <p:spPr bwMode="auto">
          <a:xfrm>
            <a:off x="1795803" y="5489047"/>
            <a:ext cx="324630" cy="0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3D647F24-E716-F06C-A378-3A4A6C4CD529}"/>
              </a:ext>
            </a:extLst>
          </p:cNvPr>
          <p:cNvCxnSpPr>
            <a:cxnSpLocks/>
          </p:cNvCxnSpPr>
          <p:nvPr/>
        </p:nvCxnSpPr>
        <p:spPr bwMode="auto">
          <a:xfrm flipH="1">
            <a:off x="8316860" y="4962647"/>
            <a:ext cx="75406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8465627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Segmentación de la Ruta de Datos</a:t>
            </a:r>
          </a:p>
        </p:txBody>
      </p:sp>
      <p:sp>
        <p:nvSpPr>
          <p:cNvPr id="55298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algn="ctr"/>
            <a:fld id="{0BC195E7-0C19-4A45-80CE-409CEE3CE31E}" type="slidenum">
              <a:rPr lang="en-US"/>
              <a:pPr algn="ctr"/>
              <a:t>30</a:t>
            </a:fld>
            <a:endParaRPr lang="en-US"/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93763" y="1125538"/>
            <a:ext cx="8250237" cy="5256212"/>
          </a:xfrm>
        </p:spPr>
        <p:txBody>
          <a:bodyPr/>
          <a:lstStyle/>
          <a:p>
            <a:r>
              <a:rPr lang="es-ES" dirty="0"/>
              <a:t>La frecuencia de reloj</a:t>
            </a:r>
          </a:p>
          <a:p>
            <a:pPr lvl="1"/>
            <a:r>
              <a:rPr lang="es-ES" dirty="0">
                <a:latin typeface="Arial" pitchFamily="-84" charset="0"/>
                <a:ea typeface="ＭＳ Ｐゴシック" pitchFamily="-84" charset="-128"/>
              </a:rPr>
              <a:t>Tiempo de ciclo de reloj</a:t>
            </a:r>
          </a:p>
          <a:p>
            <a:pPr lvl="2"/>
            <a:r>
              <a:rPr lang="es-ES" dirty="0">
                <a:latin typeface="Arial" pitchFamily="-84" charset="0"/>
                <a:ea typeface="ＭＳ Ｐゴシック" pitchFamily="-84" charset="-128"/>
              </a:rPr>
              <a:t> </a:t>
            </a:r>
            <a:r>
              <a:rPr lang="es-ES" i="1" dirty="0">
                <a:latin typeface="Arial" pitchFamily="-84" charset="0"/>
                <a:ea typeface="ＭＳ Ｐゴシック" pitchFamily="-84" charset="-128"/>
              </a:rPr>
              <a:t>t</a:t>
            </a:r>
            <a:r>
              <a:rPr lang="es-ES" b="1" i="1" baseline="-25000" dirty="0">
                <a:latin typeface="Arial" pitchFamily="-84" charset="0"/>
                <a:ea typeface="ＭＳ Ｐゴシック" pitchFamily="-84" charset="-128"/>
              </a:rPr>
              <a:t>seg</a:t>
            </a:r>
            <a:r>
              <a:rPr lang="es-ES" i="1" dirty="0">
                <a:latin typeface="Arial" pitchFamily="-84" charset="0"/>
                <a:ea typeface="ＭＳ Ｐゴシック" pitchFamily="-84" charset="-128"/>
              </a:rPr>
              <a:t> = </a:t>
            </a:r>
            <a:r>
              <a:rPr lang="es-ES" b="1" i="1" dirty="0">
                <a:latin typeface="Arial" pitchFamily="-84" charset="0"/>
                <a:ea typeface="Arial" pitchFamily="-84" charset="0"/>
                <a:cs typeface="Arial" pitchFamily="-84" charset="0"/>
                <a:sym typeface="Symbol" pitchFamily="-84" charset="2"/>
              </a:rPr>
              <a:t> = </a:t>
            </a:r>
            <a:r>
              <a:rPr lang="es-ES" i="1" dirty="0" err="1">
                <a:latin typeface="Arial" pitchFamily="-84" charset="0"/>
                <a:ea typeface="ＭＳ Ｐゴシック" pitchFamily="-84" charset="-128"/>
              </a:rPr>
              <a:t>máx</a:t>
            </a:r>
            <a:r>
              <a:rPr lang="es-ES" i="1" dirty="0">
                <a:latin typeface="Arial" pitchFamily="-84" charset="0"/>
                <a:ea typeface="ＭＳ Ｐゴシック" pitchFamily="-84" charset="-128"/>
              </a:rPr>
              <a:t>{</a:t>
            </a:r>
            <a:r>
              <a:rPr lang="es-ES" b="1" i="1" dirty="0">
                <a:latin typeface="Arial" pitchFamily="-84" charset="0"/>
                <a:ea typeface="Arial" pitchFamily="-84" charset="0"/>
                <a:cs typeface="Arial" pitchFamily="-84" charset="0"/>
                <a:sym typeface="Symbol" pitchFamily="-84" charset="2"/>
              </a:rPr>
              <a:t></a:t>
            </a:r>
            <a:r>
              <a:rPr lang="es-ES" sz="2000" b="1" i="1" baseline="-25000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</a:rPr>
              <a:t>i</a:t>
            </a:r>
            <a:r>
              <a:rPr lang="es-ES" b="1" i="1" baseline="-25000" dirty="0">
                <a:latin typeface="Arial" pitchFamily="-84" charset="0"/>
                <a:ea typeface="ＭＳ Ｐゴシック" pitchFamily="-84" charset="-128"/>
              </a:rPr>
              <a:t> </a:t>
            </a:r>
            <a:r>
              <a:rPr lang="es-ES" i="1" dirty="0">
                <a:latin typeface="Arial" pitchFamily="-84" charset="0"/>
                <a:ea typeface="ＭＳ Ｐゴシック" pitchFamily="-84" charset="-128"/>
              </a:rPr>
              <a:t>}+ T</a:t>
            </a:r>
            <a:r>
              <a:rPr lang="es-ES" b="1" i="1" baseline="-25000" dirty="0">
                <a:latin typeface="Arial" pitchFamily="-84" charset="0"/>
                <a:ea typeface="ＭＳ Ｐゴシック" pitchFamily="-84" charset="-128"/>
              </a:rPr>
              <a:t>R</a:t>
            </a:r>
          </a:p>
          <a:p>
            <a:pPr lvl="2"/>
            <a:r>
              <a:rPr lang="es-ES" dirty="0">
                <a:latin typeface="Arial" pitchFamily="-84" charset="0"/>
                <a:ea typeface="ＭＳ Ｐゴシック" pitchFamily="-84" charset="-128"/>
              </a:rPr>
              <a:t>Habrá que considerar el tiempo de retardo </a:t>
            </a:r>
            <a:r>
              <a:rPr lang="es-ES" b="1" i="1" dirty="0">
                <a:latin typeface="Arial" pitchFamily="-84" charset="0"/>
                <a:ea typeface="Arial" pitchFamily="-84" charset="0"/>
                <a:cs typeface="Arial" pitchFamily="-84" charset="0"/>
                <a:sym typeface="Symbol" pitchFamily="-84" charset="2"/>
              </a:rPr>
              <a:t></a:t>
            </a:r>
            <a:r>
              <a:rPr lang="es-ES" b="1" i="1" baseline="-25000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</a:rPr>
              <a:t>i</a:t>
            </a:r>
            <a:r>
              <a:rPr lang="es-ES" dirty="0">
                <a:latin typeface="Arial" pitchFamily="-84" charset="0"/>
                <a:ea typeface="ＭＳ Ｐゴシック" pitchFamily="-84" charset="-128"/>
              </a:rPr>
              <a:t> de cada etapa y fijarse  en el más largo</a:t>
            </a:r>
          </a:p>
          <a:p>
            <a:pPr lvl="2"/>
            <a:r>
              <a:rPr lang="es-ES" dirty="0">
                <a:latin typeface="Arial" pitchFamily="-84" charset="0"/>
                <a:ea typeface="ＭＳ Ｐゴシック" pitchFamily="-84" charset="-128"/>
              </a:rPr>
              <a:t>Habrá que considerar el retardo </a:t>
            </a:r>
            <a:r>
              <a:rPr lang="es-ES" i="1" dirty="0">
                <a:latin typeface="Arial" pitchFamily="-84" charset="0"/>
                <a:ea typeface="ＭＳ Ｐゴシック" pitchFamily="-84" charset="-128"/>
              </a:rPr>
              <a:t>T</a:t>
            </a:r>
            <a:r>
              <a:rPr lang="es-ES" b="1" i="1" baseline="-25000" dirty="0">
                <a:latin typeface="Arial" pitchFamily="-84" charset="0"/>
                <a:ea typeface="ＭＳ Ｐゴシック" pitchFamily="-84" charset="-128"/>
              </a:rPr>
              <a:t>R</a:t>
            </a:r>
            <a:r>
              <a:rPr lang="es-ES" dirty="0">
                <a:latin typeface="Arial" pitchFamily="-84" charset="0"/>
                <a:ea typeface="ＭＳ Ｐゴシック" pitchFamily="-84" charset="-128"/>
              </a:rPr>
              <a:t> de los registros de segmentación</a:t>
            </a:r>
          </a:p>
          <a:p>
            <a:pPr lvl="1"/>
            <a:r>
              <a:rPr lang="es-ES" dirty="0">
                <a:latin typeface="Arial" pitchFamily="-84" charset="0"/>
                <a:ea typeface="ＭＳ Ｐゴシック" pitchFamily="-84" charset="-128"/>
              </a:rPr>
              <a:t>Ejemplo:</a:t>
            </a:r>
          </a:p>
          <a:p>
            <a:pPr lvl="2"/>
            <a:r>
              <a:rPr lang="es-ES" dirty="0">
                <a:latin typeface="Arial" pitchFamily="-84" charset="0"/>
                <a:ea typeface="ＭＳ Ｐゴシック" pitchFamily="-84" charset="-128"/>
              </a:rPr>
              <a:t>Si </a:t>
            </a:r>
            <a:r>
              <a:rPr lang="es-ES" b="1" dirty="0">
                <a:latin typeface="Arial" pitchFamily="-84" charset="0"/>
                <a:ea typeface="Arial" pitchFamily="-84" charset="0"/>
                <a:cs typeface="Arial" pitchFamily="-84" charset="0"/>
                <a:sym typeface="Symbol" pitchFamily="-84" charset="2"/>
              </a:rPr>
              <a:t></a:t>
            </a:r>
            <a:r>
              <a:rPr lang="es-ES" b="1" baseline="-25000" dirty="0">
                <a:latin typeface="Arial" pitchFamily="-84" charset="0"/>
                <a:ea typeface="ＭＳ Ｐゴシック" pitchFamily="-84" charset="-128"/>
              </a:rPr>
              <a:t>LI</a:t>
            </a:r>
            <a:r>
              <a:rPr lang="es-ES" dirty="0">
                <a:latin typeface="Arial" pitchFamily="-84" charset="0"/>
                <a:ea typeface="ＭＳ Ｐゴシック" pitchFamily="-84" charset="-128"/>
              </a:rPr>
              <a:t> = </a:t>
            </a:r>
            <a:r>
              <a:rPr lang="es-ES" b="1" dirty="0">
                <a:latin typeface="Arial" pitchFamily="-84" charset="0"/>
                <a:ea typeface="Arial" pitchFamily="-84" charset="0"/>
                <a:cs typeface="Arial" pitchFamily="-84" charset="0"/>
                <a:sym typeface="Symbol" pitchFamily="-84" charset="2"/>
              </a:rPr>
              <a:t></a:t>
            </a:r>
            <a:r>
              <a:rPr lang="es-ES" b="1" baseline="-25000" dirty="0">
                <a:latin typeface="Arial" pitchFamily="-84" charset="0"/>
                <a:ea typeface="ＭＳ Ｐゴシック" pitchFamily="-84" charset="-128"/>
              </a:rPr>
              <a:t>M</a:t>
            </a:r>
            <a:r>
              <a:rPr lang="es-ES" dirty="0">
                <a:latin typeface="Arial" pitchFamily="-84" charset="0"/>
                <a:ea typeface="ＭＳ Ｐゴシック" pitchFamily="-84" charset="-128"/>
              </a:rPr>
              <a:t> = 30 ns,  </a:t>
            </a:r>
            <a:r>
              <a:rPr lang="es-ES" b="1" dirty="0">
                <a:latin typeface="Arial" pitchFamily="-84" charset="0"/>
                <a:ea typeface="Arial" pitchFamily="-84" charset="0"/>
                <a:cs typeface="Arial" pitchFamily="-84" charset="0"/>
                <a:sym typeface="Symbol" pitchFamily="-84" charset="2"/>
              </a:rPr>
              <a:t></a:t>
            </a:r>
            <a:r>
              <a:rPr lang="es-ES" b="1" baseline="-25000" dirty="0">
                <a:latin typeface="Arial" pitchFamily="-84" charset="0"/>
                <a:ea typeface="ＭＳ Ｐゴシック" pitchFamily="-84" charset="-128"/>
              </a:rPr>
              <a:t>DI</a:t>
            </a:r>
            <a:r>
              <a:rPr lang="es-ES" dirty="0">
                <a:latin typeface="Arial" pitchFamily="-84" charset="0"/>
                <a:ea typeface="ＭＳ Ｐゴシック" pitchFamily="-84" charset="-128"/>
              </a:rPr>
              <a:t> = </a:t>
            </a:r>
            <a:r>
              <a:rPr lang="es-ES" b="1" dirty="0">
                <a:latin typeface="Arial" pitchFamily="-84" charset="0"/>
                <a:ea typeface="Arial" pitchFamily="-84" charset="0"/>
                <a:cs typeface="Arial" pitchFamily="-84" charset="0"/>
                <a:sym typeface="Symbol" pitchFamily="-84" charset="2"/>
              </a:rPr>
              <a:t></a:t>
            </a:r>
            <a:r>
              <a:rPr lang="es-ES" b="1" baseline="-25000" dirty="0">
                <a:latin typeface="Arial" pitchFamily="-84" charset="0"/>
                <a:ea typeface="ＭＳ Ｐゴシック" pitchFamily="-84" charset="-128"/>
              </a:rPr>
              <a:t>ER</a:t>
            </a:r>
            <a:r>
              <a:rPr lang="es-ES" dirty="0">
                <a:latin typeface="Arial" pitchFamily="-84" charset="0"/>
                <a:ea typeface="ＭＳ Ｐゴシック" pitchFamily="-84" charset="-128"/>
              </a:rPr>
              <a:t> = 20 </a:t>
            </a:r>
            <a:r>
              <a:rPr lang="es-ES" dirty="0" err="1">
                <a:latin typeface="Arial" pitchFamily="-84" charset="0"/>
                <a:ea typeface="ＭＳ Ｐゴシック" pitchFamily="-84" charset="-128"/>
              </a:rPr>
              <a:t>ns</a:t>
            </a:r>
            <a:r>
              <a:rPr lang="es-ES" dirty="0">
                <a:latin typeface="Arial" pitchFamily="-84" charset="0"/>
                <a:ea typeface="ＭＳ Ｐゴシック" pitchFamily="-84" charset="-128"/>
              </a:rPr>
              <a:t>  y  </a:t>
            </a:r>
            <a:r>
              <a:rPr lang="es-ES" b="1" dirty="0">
                <a:latin typeface="Arial" pitchFamily="-84" charset="0"/>
                <a:ea typeface="Arial" pitchFamily="-84" charset="0"/>
                <a:cs typeface="Arial" pitchFamily="-84" charset="0"/>
                <a:sym typeface="Symbol" pitchFamily="-84" charset="2"/>
              </a:rPr>
              <a:t></a:t>
            </a:r>
            <a:r>
              <a:rPr lang="es-ES" b="1" baseline="-25000" dirty="0">
                <a:latin typeface="Arial" pitchFamily="-84" charset="0"/>
                <a:ea typeface="ＭＳ Ｐゴシック" pitchFamily="-84" charset="-128"/>
              </a:rPr>
              <a:t>EX</a:t>
            </a:r>
            <a:r>
              <a:rPr lang="es-ES" dirty="0">
                <a:latin typeface="Arial" pitchFamily="-84" charset="0"/>
                <a:ea typeface="ＭＳ Ｐゴシック" pitchFamily="-84" charset="-128"/>
              </a:rPr>
              <a:t> =25 </a:t>
            </a:r>
            <a:r>
              <a:rPr lang="es-ES" dirty="0" err="1">
                <a:latin typeface="Arial" pitchFamily="-84" charset="0"/>
                <a:ea typeface="ＭＳ Ｐゴシック" pitchFamily="-84" charset="-128"/>
              </a:rPr>
              <a:t>ns</a:t>
            </a:r>
            <a:r>
              <a:rPr lang="es-ES" dirty="0">
                <a:latin typeface="Arial" pitchFamily="-84" charset="0"/>
                <a:ea typeface="ＭＳ Ｐゴシック" pitchFamily="-84" charset="-128"/>
              </a:rPr>
              <a:t>  con  </a:t>
            </a:r>
            <a:r>
              <a:rPr lang="es-ES" i="1" dirty="0">
                <a:latin typeface="Arial" pitchFamily="-84" charset="0"/>
                <a:ea typeface="ＭＳ Ｐゴシック" pitchFamily="-84" charset="-128"/>
              </a:rPr>
              <a:t>T</a:t>
            </a:r>
            <a:r>
              <a:rPr lang="es-ES" b="1" i="1" baseline="-25000" dirty="0">
                <a:latin typeface="Arial" pitchFamily="-84" charset="0"/>
                <a:ea typeface="ＭＳ Ｐゴシック" pitchFamily="-84" charset="-128"/>
              </a:rPr>
              <a:t>R</a:t>
            </a:r>
            <a:r>
              <a:rPr lang="es-ES" dirty="0">
                <a:latin typeface="Arial" pitchFamily="-84" charset="0"/>
                <a:ea typeface="ＭＳ Ｐゴシック" pitchFamily="-84" charset="-128"/>
              </a:rPr>
              <a:t> = 10 ns</a:t>
            </a:r>
          </a:p>
          <a:p>
            <a:pPr lvl="3"/>
            <a:r>
              <a:rPr lang="es-ES" dirty="0">
                <a:latin typeface="Arial" pitchFamily="-84" charset="0"/>
                <a:ea typeface="ＭＳ Ｐゴシック" pitchFamily="-84" charset="-128"/>
              </a:rPr>
              <a:t>Periodo t</a:t>
            </a:r>
            <a:r>
              <a:rPr lang="es-ES" b="1" baseline="-25000" dirty="0">
                <a:latin typeface="Arial" pitchFamily="-84" charset="0"/>
                <a:ea typeface="ＭＳ Ｐゴシック" pitchFamily="-84" charset="-128"/>
              </a:rPr>
              <a:t>seg</a:t>
            </a:r>
            <a:r>
              <a:rPr lang="es-ES" dirty="0">
                <a:latin typeface="Arial" pitchFamily="-84" charset="0"/>
                <a:ea typeface="ＭＳ Ｐゴシック" pitchFamily="-84" charset="-128"/>
              </a:rPr>
              <a:t> = 30 + 10 = 40 ns</a:t>
            </a:r>
          </a:p>
          <a:p>
            <a:pPr lvl="3"/>
            <a:r>
              <a:rPr lang="es-ES" dirty="0">
                <a:latin typeface="Arial" pitchFamily="-84" charset="0"/>
                <a:ea typeface="ＭＳ Ｐゴシック" pitchFamily="-84" charset="-128"/>
              </a:rPr>
              <a:t>Frecuencia de reloj  </a:t>
            </a:r>
            <a:r>
              <a:rPr lang="es-ES" sz="1600" i="1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</a:rPr>
              <a:t>f</a:t>
            </a:r>
            <a:r>
              <a:rPr lang="es-ES" dirty="0">
                <a:latin typeface="Arial" pitchFamily="-84" charset="0"/>
                <a:ea typeface="ＭＳ Ｐゴシック" pitchFamily="-84" charset="-128"/>
              </a:rPr>
              <a:t> = 1/40 ns = 25 MHz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592061" y="5562600"/>
            <a:ext cx="8551939" cy="8617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400" b="1" dirty="0">
                <a:solidFill>
                  <a:schemeClr val="accent1">
                    <a:lumMod val="75000"/>
                  </a:schemeClr>
                </a:solidFill>
              </a:rPr>
              <a:t>Comparación ruta no segmentada 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con tiempos de acceso a memoria: 30 </a:t>
            </a:r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ns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, a registros: 20 </a:t>
            </a:r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ns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,  ALU 25ns</a:t>
            </a:r>
          </a:p>
          <a:p>
            <a:pPr algn="l"/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Instrucción más lenta: lectura en memoria (load) con 125 </a:t>
            </a:r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ns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:  </a:t>
            </a:r>
            <a:r>
              <a:rPr lang="es-ES_tradnl" sz="1600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 = 8 MHz; S = 3.125</a:t>
            </a:r>
          </a:p>
          <a:p>
            <a:pPr algn="l"/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 (30 </a:t>
            </a:r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ns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lect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. </a:t>
            </a:r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instr.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 + 20 </a:t>
            </a:r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ns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lect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. registros + 25 </a:t>
            </a:r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ns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 ALU cálculo </a:t>
            </a:r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dir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. + 30 </a:t>
            </a:r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ns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lect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. </a:t>
            </a:r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mem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 + 20 </a:t>
            </a:r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ns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escrit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. en registro)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Control del Procesador Segmentado</a:t>
            </a:r>
          </a:p>
        </p:txBody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25538"/>
            <a:ext cx="8610599" cy="5256212"/>
          </a:xfrm>
        </p:spPr>
        <p:txBody>
          <a:bodyPr/>
          <a:lstStyle/>
          <a:p>
            <a:r>
              <a:rPr lang="es-ES_tradnl" dirty="0"/>
              <a:t>Diseño básico del control</a:t>
            </a:r>
          </a:p>
          <a:p>
            <a:pPr lvl="1"/>
            <a:r>
              <a:rPr lang="es-ES_tradnl" dirty="0"/>
              <a:t>Objetivo general: Conseguir que las cinco etapas funcionen ordenadamente y puedan ejecutar las instrucciones escogidas</a:t>
            </a:r>
          </a:p>
          <a:p>
            <a:pPr lvl="1"/>
            <a:r>
              <a:rPr lang="es-ES_tradnl" dirty="0"/>
              <a:t>Observaciones</a:t>
            </a:r>
          </a:p>
          <a:p>
            <a:pPr lvl="2"/>
            <a:r>
              <a:rPr lang="es-ES_tradnl" dirty="0"/>
              <a:t>Cada etapa debe de ser autónoma</a:t>
            </a:r>
          </a:p>
          <a:p>
            <a:pPr lvl="2"/>
            <a:r>
              <a:rPr lang="es-ES_tradnl" dirty="0"/>
              <a:t>Las dos primeras etapas, LI y DI, procesan instrucciones no descodificadas. </a:t>
            </a:r>
          </a:p>
          <a:p>
            <a:pPr lvl="3">
              <a:buClr>
                <a:schemeClr val="tx1"/>
              </a:buClr>
            </a:pPr>
            <a:r>
              <a:rPr lang="es-ES_tradnl" dirty="0"/>
              <a:t>Sus señales de control serán las mismas durante todos los ciclos</a:t>
            </a:r>
          </a:p>
          <a:p>
            <a:pPr lvl="2"/>
            <a:r>
              <a:rPr lang="es-ES_tradnl" dirty="0"/>
              <a:t>La etapa DI se encargará de calcular las señales de control de las etapas posteriores y las transferirá a las etapas siguientes</a:t>
            </a:r>
          </a:p>
          <a:p>
            <a:pPr lvl="3">
              <a:buClr>
                <a:schemeClr val="tx1"/>
              </a:buClr>
            </a:pPr>
            <a:r>
              <a:rPr lang="es-ES_tradnl" dirty="0"/>
              <a:t>Las etapas restantes deben procesar las instrucciones en función del código de operación	</a:t>
            </a:r>
          </a:p>
          <a:p>
            <a:pPr lvl="2"/>
            <a:r>
              <a:rPr lang="es-ES_tradnl" dirty="0"/>
              <a:t>Las señales de control coinciden con las de la ruta no segmentada. De hecho, las señales de control dependen exclusivamente de la instrucción ejecutada y no de la ruta de datos</a:t>
            </a:r>
          </a:p>
          <a:p>
            <a:pPr lvl="3"/>
            <a:endParaRPr lang="es-ES_tradnl" dirty="0"/>
          </a:p>
        </p:txBody>
      </p:sp>
      <p:sp>
        <p:nvSpPr>
          <p:cNvPr id="56322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5860E-525C-8B45-A474-1D9C9C443A8B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76B4A-39C1-0118-E92F-F09FAE0B8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94EC46-69CA-6B52-27E1-3BBABF72D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14" y="1"/>
            <a:ext cx="8621486" cy="971910"/>
          </a:xfrm>
        </p:spPr>
        <p:txBody>
          <a:bodyPr>
            <a:normAutofit/>
          </a:bodyPr>
          <a:lstStyle/>
          <a:p>
            <a:r>
              <a:rPr lang="es-ES" sz="2400" dirty="0"/>
              <a:t>Unidad de Control: Señales de Control RISC-V</a:t>
            </a: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E8068038-60DF-2E58-CCD2-E144F73E6A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0486218"/>
              </p:ext>
            </p:extLst>
          </p:nvPr>
        </p:nvGraphicFramePr>
        <p:xfrm>
          <a:off x="1298311" y="789351"/>
          <a:ext cx="6802081" cy="45507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12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23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1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4905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1319">
                  <a:extLst>
                    <a:ext uri="{9D8B030D-6E8A-4147-A177-3AD203B41FA5}">
                      <a16:colId xmlns:a16="http://schemas.microsoft.com/office/drawing/2014/main" val="2141655933"/>
                    </a:ext>
                  </a:extLst>
                </a:gridCol>
                <a:gridCol w="67131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6792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endParaRPr lang="es-ES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latin typeface="Arial Narrow"/>
                          <a:cs typeface="Arial Narrow"/>
                        </a:rPr>
                        <a:t>ALU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s-ES" sz="1100" noProof="0" dirty="0" err="1">
                          <a:latin typeface="Arial Narrow"/>
                          <a:cs typeface="Arial Narrow"/>
                        </a:rPr>
                        <a:t>Mem</a:t>
                      </a:r>
                      <a:r>
                        <a:rPr lang="es-ES" sz="1100" noProof="0" dirty="0">
                          <a:latin typeface="Arial Narrow"/>
                          <a:cs typeface="Arial Narrow"/>
                        </a:rPr>
                        <a:t>.</a:t>
                      </a:r>
                    </a:p>
                    <a:p>
                      <a:r>
                        <a:rPr lang="es-ES" sz="1100" noProof="0" dirty="0">
                          <a:latin typeface="Arial Narrow"/>
                          <a:cs typeface="Arial Narrow"/>
                        </a:rPr>
                        <a:t>Datos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s-ES" sz="1100" noProof="0">
                          <a:latin typeface="Arial Narrow"/>
                          <a:cs typeface="Arial Narrow"/>
                        </a:rPr>
                        <a:t>Multiplexores</a:t>
                      </a:r>
                      <a:endParaRPr lang="es-ES" sz="1100" baseline="0" noProof="0">
                        <a:latin typeface="Arial Narrow"/>
                        <a:cs typeface="Arial Narrow"/>
                      </a:endParaRPr>
                    </a:p>
                    <a:p>
                      <a:r>
                        <a:rPr lang="es-ES" sz="1100" baseline="0" noProof="0">
                          <a:latin typeface="Arial Narrow"/>
                          <a:cs typeface="Arial Narrow"/>
                        </a:rPr>
                        <a:t>Configuración Ruta de Datos</a:t>
                      </a:r>
                      <a:endParaRPr lang="es-ES" sz="1100" noProof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222"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latin typeface="Arial Narrow"/>
                          <a:cs typeface="Arial Narrow"/>
                        </a:rPr>
                        <a:t>Instrucción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Fmt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OpALU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LMem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EMem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MxA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MxB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MxER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add</a:t>
                      </a:r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sub </a:t>
                      </a:r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and </a:t>
                      </a:r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or</a:t>
                      </a:r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lw</a:t>
                      </a:r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</a:t>
                      </a:r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(rs1)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sw</a:t>
                      </a:r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rs2, </a:t>
                      </a:r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(rs1)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86">
                <a:tc>
                  <a:txBody>
                    <a:bodyPr/>
                    <a:lstStyle/>
                    <a:p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beq</a:t>
                      </a:r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rs1, rs2, </a:t>
                      </a:r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etiq</a:t>
                      </a:r>
                      <a:endParaRPr lang="es-ES" sz="105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9286">
                <a:tc>
                  <a:txBody>
                    <a:bodyPr/>
                    <a:lstStyle/>
                    <a:p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bne</a:t>
                      </a:r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rs1, rs2, </a:t>
                      </a:r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etiq</a:t>
                      </a:r>
                      <a:endParaRPr lang="es-ES" sz="105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975918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blt</a:t>
                      </a:r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rs1, rs2, </a:t>
                      </a:r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etiq</a:t>
                      </a:r>
                      <a:endParaRPr lang="es-ES" sz="105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57637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bge</a:t>
                      </a:r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rs1, rs2, </a:t>
                      </a:r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etiq</a:t>
                      </a:r>
                      <a:endParaRPr lang="es-ES" sz="105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12918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jal </a:t>
                      </a:r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</a:t>
                      </a:r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etiq</a:t>
                      </a:r>
                      <a:endParaRPr lang="es-ES" sz="105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452634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70FA19E5-20B2-3836-2B75-63A1C81EFE27}"/>
              </a:ext>
            </a:extLst>
          </p:cNvPr>
          <p:cNvSpPr txBox="1"/>
          <p:nvPr/>
        </p:nvSpPr>
        <p:spPr>
          <a:xfrm>
            <a:off x="5497028" y="6599072"/>
            <a:ext cx="77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Salidas</a:t>
            </a:r>
          </a:p>
        </p:txBody>
      </p:sp>
      <p:sp>
        <p:nvSpPr>
          <p:cNvPr id="18" name="Abrir llave 9">
            <a:extLst>
              <a:ext uri="{FF2B5EF4-FFF2-40B4-BE49-F238E27FC236}">
                <a16:creationId xmlns:a16="http://schemas.microsoft.com/office/drawing/2014/main" id="{105698A1-5AD1-7EA2-8DD6-932DCC9B0826}"/>
              </a:ext>
            </a:extLst>
          </p:cNvPr>
          <p:cNvSpPr/>
          <p:nvPr/>
        </p:nvSpPr>
        <p:spPr bwMode="auto">
          <a:xfrm rot="16200000">
            <a:off x="5570242" y="3611421"/>
            <a:ext cx="263431" cy="5774318"/>
          </a:xfrm>
          <a:prstGeom prst="leftBrace">
            <a:avLst/>
          </a:prstGeom>
          <a:noFill/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Flecha arriba 10">
            <a:extLst>
              <a:ext uri="{FF2B5EF4-FFF2-40B4-BE49-F238E27FC236}">
                <a16:creationId xmlns:a16="http://schemas.microsoft.com/office/drawing/2014/main" id="{F37A465C-0633-1E98-9881-A93F3B6F60DC}"/>
              </a:ext>
            </a:extLst>
          </p:cNvPr>
          <p:cNvSpPr/>
          <p:nvPr/>
        </p:nvSpPr>
        <p:spPr bwMode="auto">
          <a:xfrm>
            <a:off x="4397284" y="5535609"/>
            <a:ext cx="390740" cy="669341"/>
          </a:xfrm>
          <a:prstGeom prst="upArrow">
            <a:avLst/>
          </a:prstGeom>
          <a:ln>
            <a:tailEnd type="triangle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_tradnl" sz="1400" dirty="0"/>
              <a:t>M</a:t>
            </a:r>
          </a:p>
        </p:txBody>
      </p:sp>
      <p:sp>
        <p:nvSpPr>
          <p:cNvPr id="11" name="Flecha arriba 10">
            <a:extLst>
              <a:ext uri="{FF2B5EF4-FFF2-40B4-BE49-F238E27FC236}">
                <a16:creationId xmlns:a16="http://schemas.microsoft.com/office/drawing/2014/main" id="{67CB82CC-45C1-C8D5-8F19-75BFC469620A}"/>
              </a:ext>
            </a:extLst>
          </p:cNvPr>
          <p:cNvSpPr/>
          <p:nvPr/>
        </p:nvSpPr>
        <p:spPr bwMode="auto">
          <a:xfrm>
            <a:off x="5004048" y="5528436"/>
            <a:ext cx="390740" cy="686144"/>
          </a:xfrm>
          <a:prstGeom prst="upArrow">
            <a:avLst/>
          </a:prstGeom>
          <a:ln>
            <a:tailEnd type="triangle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_tradnl" sz="1400" dirty="0"/>
              <a:t>M</a:t>
            </a:r>
          </a:p>
        </p:txBody>
      </p:sp>
      <p:sp>
        <p:nvSpPr>
          <p:cNvPr id="14" name="Flecha arriba 10">
            <a:extLst>
              <a:ext uri="{FF2B5EF4-FFF2-40B4-BE49-F238E27FC236}">
                <a16:creationId xmlns:a16="http://schemas.microsoft.com/office/drawing/2014/main" id="{082180ED-61D6-8470-3CF4-C80CC1AE31BC}"/>
              </a:ext>
            </a:extLst>
          </p:cNvPr>
          <p:cNvSpPr/>
          <p:nvPr/>
        </p:nvSpPr>
        <p:spPr bwMode="auto">
          <a:xfrm>
            <a:off x="6982561" y="5517232"/>
            <a:ext cx="390740" cy="677742"/>
          </a:xfrm>
          <a:prstGeom prst="upArrow">
            <a:avLst/>
          </a:prstGeom>
          <a:ln>
            <a:tailEnd type="triangl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_tradnl" sz="1400" dirty="0"/>
              <a:t>EX</a:t>
            </a:r>
          </a:p>
        </p:txBody>
      </p:sp>
      <p:sp>
        <p:nvSpPr>
          <p:cNvPr id="15" name="Flecha arriba 10">
            <a:extLst>
              <a:ext uri="{FF2B5EF4-FFF2-40B4-BE49-F238E27FC236}">
                <a16:creationId xmlns:a16="http://schemas.microsoft.com/office/drawing/2014/main" id="{696B4188-5D72-6E15-A59D-3E9D3DD696E3}"/>
              </a:ext>
            </a:extLst>
          </p:cNvPr>
          <p:cNvSpPr/>
          <p:nvPr/>
        </p:nvSpPr>
        <p:spPr bwMode="auto">
          <a:xfrm>
            <a:off x="5652120" y="5546184"/>
            <a:ext cx="390740" cy="677742"/>
          </a:xfrm>
          <a:prstGeom prst="upArrow">
            <a:avLst/>
          </a:prstGeom>
          <a:ln>
            <a:tailEnd type="triangle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_tradnl" sz="1400" dirty="0"/>
              <a:t>M</a:t>
            </a:r>
          </a:p>
        </p:txBody>
      </p:sp>
      <p:sp>
        <p:nvSpPr>
          <p:cNvPr id="16" name="Flecha arriba 10">
            <a:extLst>
              <a:ext uri="{FF2B5EF4-FFF2-40B4-BE49-F238E27FC236}">
                <a16:creationId xmlns:a16="http://schemas.microsoft.com/office/drawing/2014/main" id="{CEA6F437-E32A-342C-A224-2387A9CDFFFB}"/>
              </a:ext>
            </a:extLst>
          </p:cNvPr>
          <p:cNvSpPr/>
          <p:nvPr/>
        </p:nvSpPr>
        <p:spPr bwMode="auto">
          <a:xfrm>
            <a:off x="3749212" y="5545252"/>
            <a:ext cx="390740" cy="650057"/>
          </a:xfrm>
          <a:prstGeom prst="upArrow">
            <a:avLst/>
          </a:prstGeom>
          <a:ln>
            <a:tailEnd type="triangl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_tradnl" sz="1400" dirty="0"/>
              <a:t>EX</a:t>
            </a:r>
          </a:p>
        </p:txBody>
      </p:sp>
      <p:sp>
        <p:nvSpPr>
          <p:cNvPr id="20" name="Flecha arriba 10">
            <a:extLst>
              <a:ext uri="{FF2B5EF4-FFF2-40B4-BE49-F238E27FC236}">
                <a16:creationId xmlns:a16="http://schemas.microsoft.com/office/drawing/2014/main" id="{2898300C-1EC9-D065-87F2-5F1195D3391D}"/>
              </a:ext>
            </a:extLst>
          </p:cNvPr>
          <p:cNvSpPr/>
          <p:nvPr/>
        </p:nvSpPr>
        <p:spPr bwMode="auto">
          <a:xfrm>
            <a:off x="3029132" y="5548043"/>
            <a:ext cx="390740" cy="655333"/>
          </a:xfrm>
          <a:prstGeom prst="upArrow">
            <a:avLst/>
          </a:prstGeom>
          <a:solidFill>
            <a:srgbClr val="26697A"/>
          </a:solidFill>
          <a:ln>
            <a:noFill/>
            <a:tailEnd type="triangl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_tradnl" sz="1400" dirty="0"/>
              <a:t>ER</a:t>
            </a:r>
          </a:p>
        </p:txBody>
      </p:sp>
      <p:sp>
        <p:nvSpPr>
          <p:cNvPr id="27" name="Flecha arriba 10">
            <a:extLst>
              <a:ext uri="{FF2B5EF4-FFF2-40B4-BE49-F238E27FC236}">
                <a16:creationId xmlns:a16="http://schemas.microsoft.com/office/drawing/2014/main" id="{9F0450C4-27B6-7D77-F30E-7C7FE50C0851}"/>
              </a:ext>
            </a:extLst>
          </p:cNvPr>
          <p:cNvSpPr/>
          <p:nvPr/>
        </p:nvSpPr>
        <p:spPr bwMode="auto">
          <a:xfrm>
            <a:off x="7565636" y="5530022"/>
            <a:ext cx="390740" cy="669011"/>
          </a:xfrm>
          <a:prstGeom prst="upArrow">
            <a:avLst/>
          </a:prstGeom>
          <a:solidFill>
            <a:srgbClr val="26697A"/>
          </a:solidFill>
          <a:ln>
            <a:noFill/>
            <a:tailEnd type="triangl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_tradnl" sz="1400" dirty="0"/>
              <a:t>ER</a:t>
            </a:r>
          </a:p>
        </p:txBody>
      </p:sp>
      <p:sp>
        <p:nvSpPr>
          <p:cNvPr id="5" name="Flecha arriba 10">
            <a:extLst>
              <a:ext uri="{FF2B5EF4-FFF2-40B4-BE49-F238E27FC236}">
                <a16:creationId xmlns:a16="http://schemas.microsoft.com/office/drawing/2014/main" id="{CB17FEFE-331D-3A98-5662-D6F1D65C9274}"/>
              </a:ext>
            </a:extLst>
          </p:cNvPr>
          <p:cNvSpPr/>
          <p:nvPr/>
        </p:nvSpPr>
        <p:spPr bwMode="auto">
          <a:xfrm>
            <a:off x="6311427" y="5518486"/>
            <a:ext cx="390740" cy="677742"/>
          </a:xfrm>
          <a:prstGeom prst="upArrow">
            <a:avLst/>
          </a:prstGeom>
          <a:ln>
            <a:tailEnd type="triangl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_tradnl" sz="1400" dirty="0"/>
              <a:t>EX</a:t>
            </a:r>
          </a:p>
        </p:txBody>
      </p:sp>
    </p:spTree>
    <p:extLst>
      <p:ext uri="{BB962C8B-B14F-4D97-AF65-F5344CB8AC3E}">
        <p14:creationId xmlns:p14="http://schemas.microsoft.com/office/powerpoint/2010/main" val="37132294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A41E4-E981-FC39-923B-27003C8A5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" name="Conector recto 217">
            <a:extLst>
              <a:ext uri="{FF2B5EF4-FFF2-40B4-BE49-F238E27FC236}">
                <a16:creationId xmlns:a16="http://schemas.microsoft.com/office/drawing/2014/main" id="{D73885CD-FF75-87E6-83C2-DC680684F91F}"/>
              </a:ext>
            </a:extLst>
          </p:cNvPr>
          <p:cNvCxnSpPr/>
          <p:nvPr/>
        </p:nvCxnSpPr>
        <p:spPr bwMode="auto">
          <a:xfrm>
            <a:off x="2437021" y="2722496"/>
            <a:ext cx="2057399" cy="1588"/>
          </a:xfrm>
          <a:prstGeom prst="line">
            <a:avLst/>
          </a:prstGeom>
          <a:ln w="38100" cmpd="sng">
            <a:solidFill>
              <a:srgbClr val="B6C6CE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5102E99B-345E-55D4-0A66-F3E0C38C3111}"/>
              </a:ext>
            </a:extLst>
          </p:cNvPr>
          <p:cNvCxnSpPr/>
          <p:nvPr/>
        </p:nvCxnSpPr>
        <p:spPr bwMode="auto">
          <a:xfrm>
            <a:off x="2626727" y="3503612"/>
            <a:ext cx="609600" cy="1588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B5108A1A-6520-9678-CD8A-284B3E388666}"/>
              </a:ext>
            </a:extLst>
          </p:cNvPr>
          <p:cNvCxnSpPr/>
          <p:nvPr/>
        </p:nvCxnSpPr>
        <p:spPr bwMode="auto">
          <a:xfrm>
            <a:off x="2626727" y="3883024"/>
            <a:ext cx="609600" cy="1588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9" name="Conector recto 198">
            <a:extLst>
              <a:ext uri="{FF2B5EF4-FFF2-40B4-BE49-F238E27FC236}">
                <a16:creationId xmlns:a16="http://schemas.microsoft.com/office/drawing/2014/main" id="{155C26FD-AACA-32F6-9D8D-7996AC14EAA3}"/>
              </a:ext>
            </a:extLst>
          </p:cNvPr>
          <p:cNvCxnSpPr>
            <a:cxnSpLocks/>
          </p:cNvCxnSpPr>
          <p:nvPr/>
        </p:nvCxnSpPr>
        <p:spPr bwMode="auto">
          <a:xfrm>
            <a:off x="2575945" y="6292868"/>
            <a:ext cx="1916888" cy="0"/>
          </a:xfrm>
          <a:prstGeom prst="line">
            <a:avLst/>
          </a:prstGeom>
          <a:ln w="38100" cmpd="sng">
            <a:solidFill>
              <a:srgbClr val="B6C6CE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803ECC78-9C1F-EC6A-7792-DBD91D6E002F}"/>
              </a:ext>
            </a:extLst>
          </p:cNvPr>
          <p:cNvCxnSpPr>
            <a:cxnSpLocks/>
          </p:cNvCxnSpPr>
          <p:nvPr/>
        </p:nvCxnSpPr>
        <p:spPr bwMode="auto">
          <a:xfrm flipV="1">
            <a:off x="2703248" y="3048000"/>
            <a:ext cx="0" cy="3606800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23E7F0FB-5EF3-86A2-3923-D212A8E5CCE6}"/>
              </a:ext>
            </a:extLst>
          </p:cNvPr>
          <p:cNvSpPr/>
          <p:nvPr/>
        </p:nvSpPr>
        <p:spPr bwMode="auto">
          <a:xfrm>
            <a:off x="963823" y="4307947"/>
            <a:ext cx="838200" cy="3048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C01D5AB-4CFC-142C-8BB0-E6E226417D2C}"/>
              </a:ext>
            </a:extLst>
          </p:cNvPr>
          <p:cNvSpPr/>
          <p:nvPr/>
        </p:nvSpPr>
        <p:spPr bwMode="auto">
          <a:xfrm>
            <a:off x="963823" y="4993747"/>
            <a:ext cx="838200" cy="990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900" dirty="0">
                <a:solidFill>
                  <a:srgbClr val="000000"/>
                </a:solidFill>
              </a:rPr>
              <a:t>Memoria de</a:t>
            </a:r>
          </a:p>
          <a:p>
            <a:pPr algn="l"/>
            <a:r>
              <a:rPr lang="es-ES_tradnl" sz="900" dirty="0">
                <a:solidFill>
                  <a:srgbClr val="000000"/>
                </a:solidFill>
              </a:rPr>
              <a:t>Instrucciones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4F78D72A-498B-2ED8-E789-2887778AD717}"/>
              </a:ext>
            </a:extLst>
          </p:cNvPr>
          <p:cNvCxnSpPr>
            <a:stCxn id="7" idx="2"/>
            <a:endCxn id="8" idx="0"/>
          </p:cNvCxnSpPr>
          <p:nvPr/>
        </p:nvCxnSpPr>
        <p:spPr bwMode="auto">
          <a:xfrm rot="5400000">
            <a:off x="1192423" y="4803247"/>
            <a:ext cx="381000" cy="1588"/>
          </a:xfrm>
          <a:prstGeom prst="straightConnector1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Freeform 42">
            <a:extLst>
              <a:ext uri="{FF2B5EF4-FFF2-40B4-BE49-F238E27FC236}">
                <a16:creationId xmlns:a16="http://schemas.microsoft.com/office/drawing/2014/main" id="{BF83186D-3866-35BC-C1DE-369F72CC81BF}"/>
              </a:ext>
            </a:extLst>
          </p:cNvPr>
          <p:cNvSpPr>
            <a:spLocks/>
          </p:cNvSpPr>
          <p:nvPr/>
        </p:nvSpPr>
        <p:spPr bwMode="blackWhite">
          <a:xfrm rot="5400000">
            <a:off x="1052716" y="2822048"/>
            <a:ext cx="381000" cy="762000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noFill/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t" anchorCtr="0">
            <a:prstTxWarp prst="textNoShape">
              <a:avLst/>
            </a:prstTxWarp>
            <a:flatTx/>
          </a:bodyPr>
          <a:lstStyle/>
          <a:p>
            <a:r>
              <a:rPr lang="es-ES_tradnl"/>
              <a:t>+</a:t>
            </a:r>
          </a:p>
        </p:txBody>
      </p:sp>
      <p:cxnSp>
        <p:nvCxnSpPr>
          <p:cNvPr id="11" name="Conector angular 10">
            <a:extLst>
              <a:ext uri="{FF2B5EF4-FFF2-40B4-BE49-F238E27FC236}">
                <a16:creationId xmlns:a16="http://schemas.microsoft.com/office/drawing/2014/main" id="{B806BAE3-97AD-C629-0E05-EC61A3BFF2EF}"/>
              </a:ext>
            </a:extLst>
          </p:cNvPr>
          <p:cNvCxnSpPr/>
          <p:nvPr/>
        </p:nvCxnSpPr>
        <p:spPr bwMode="auto">
          <a:xfrm rot="16200000" flipH="1">
            <a:off x="739453" y="2686578"/>
            <a:ext cx="347134" cy="304801"/>
          </a:xfrm>
          <a:prstGeom prst="bentConnector3">
            <a:avLst>
              <a:gd name="adj1" fmla="val -1490"/>
            </a:avLst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731F766D-DCCE-549D-30EE-CD92D53B7BF7}"/>
              </a:ext>
            </a:extLst>
          </p:cNvPr>
          <p:cNvCxnSpPr/>
          <p:nvPr/>
        </p:nvCxnSpPr>
        <p:spPr bwMode="auto">
          <a:xfrm rot="16200000" flipH="1">
            <a:off x="1285550" y="2817814"/>
            <a:ext cx="381000" cy="8467"/>
          </a:xfrm>
          <a:prstGeom prst="straightConnector1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B2074A3-17DC-04B7-A55C-24AD246B3162}"/>
              </a:ext>
            </a:extLst>
          </p:cNvPr>
          <p:cNvSpPr txBox="1"/>
          <p:nvPr/>
        </p:nvSpPr>
        <p:spPr>
          <a:xfrm>
            <a:off x="1415901" y="2326747"/>
            <a:ext cx="284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A4CDB60-3E9F-395D-2992-1323C95976B8}"/>
              </a:ext>
            </a:extLst>
          </p:cNvPr>
          <p:cNvSpPr/>
          <p:nvPr/>
        </p:nvSpPr>
        <p:spPr bwMode="auto">
          <a:xfrm>
            <a:off x="2931527" y="455612"/>
            <a:ext cx="1029493" cy="1371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>
                <a:solidFill>
                  <a:srgbClr val="000000"/>
                </a:solidFill>
              </a:rPr>
              <a:t>Descodificador y Unidad de Control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FF88B745-94BA-159A-D1DC-C5D8E192D0AD}"/>
              </a:ext>
            </a:extLst>
          </p:cNvPr>
          <p:cNvCxnSpPr>
            <a:cxnSpLocks/>
          </p:cNvCxnSpPr>
          <p:nvPr/>
        </p:nvCxnSpPr>
        <p:spPr bwMode="auto">
          <a:xfrm>
            <a:off x="2437021" y="5496808"/>
            <a:ext cx="176492" cy="0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8723EA78-CB74-4DF9-D8C0-70E2D9A6E827}"/>
              </a:ext>
            </a:extLst>
          </p:cNvPr>
          <p:cNvCxnSpPr>
            <a:cxnSpLocks/>
          </p:cNvCxnSpPr>
          <p:nvPr/>
        </p:nvCxnSpPr>
        <p:spPr bwMode="auto">
          <a:xfrm>
            <a:off x="2598506" y="703026"/>
            <a:ext cx="333021" cy="0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7576B1AC-A948-10A5-4137-77F9106B4333}"/>
              </a:ext>
            </a:extLst>
          </p:cNvPr>
          <p:cNvCxnSpPr/>
          <p:nvPr/>
        </p:nvCxnSpPr>
        <p:spPr bwMode="auto">
          <a:xfrm>
            <a:off x="4799220" y="1496199"/>
            <a:ext cx="381000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D6ABA72C-ABE6-989C-FC7A-4BAE25914114}"/>
              </a:ext>
            </a:extLst>
          </p:cNvPr>
          <p:cNvCxnSpPr/>
          <p:nvPr/>
        </p:nvCxnSpPr>
        <p:spPr bwMode="auto">
          <a:xfrm>
            <a:off x="3961020" y="1598612"/>
            <a:ext cx="533400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28BF57F-81C8-96B6-F0D1-C83963BEEDFF}"/>
              </a:ext>
            </a:extLst>
          </p:cNvPr>
          <p:cNvSpPr txBox="1"/>
          <p:nvPr/>
        </p:nvSpPr>
        <p:spPr>
          <a:xfrm rot="16200000">
            <a:off x="1622121" y="1653100"/>
            <a:ext cx="53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PCin</a:t>
            </a:r>
            <a:endParaRPr lang="es-ES_tradnl" sz="1200" b="1" dirty="0">
              <a:solidFill>
                <a:srgbClr val="FF6600"/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D9B57A8-ED10-552F-B06F-AD958195FCCE}"/>
              </a:ext>
            </a:extLst>
          </p:cNvPr>
          <p:cNvSpPr txBox="1"/>
          <p:nvPr/>
        </p:nvSpPr>
        <p:spPr>
          <a:xfrm>
            <a:off x="2550527" y="3254787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i="1" dirty="0">
                <a:solidFill>
                  <a:schemeClr val="accent1">
                    <a:lumMod val="75000"/>
                  </a:schemeClr>
                </a:solidFill>
              </a:rPr>
              <a:t>19..15(rs1)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80E9DDD-82C5-61F7-7BDD-F8D3F6352CB4}"/>
              </a:ext>
            </a:extLst>
          </p:cNvPr>
          <p:cNvSpPr txBox="1"/>
          <p:nvPr/>
        </p:nvSpPr>
        <p:spPr>
          <a:xfrm>
            <a:off x="2550527" y="3645024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i="1" dirty="0">
                <a:solidFill>
                  <a:schemeClr val="accent1">
                    <a:lumMod val="75000"/>
                  </a:schemeClr>
                </a:solidFill>
              </a:rPr>
              <a:t>24..20(rs2)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E9A448C-7168-DABD-18A6-A932FC5BEEF9}"/>
              </a:ext>
            </a:extLst>
          </p:cNvPr>
          <p:cNvSpPr/>
          <p:nvPr/>
        </p:nvSpPr>
        <p:spPr bwMode="auto">
          <a:xfrm>
            <a:off x="3236327" y="4841346"/>
            <a:ext cx="1060916" cy="598687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rgbClr val="000000"/>
                </a:solidFill>
              </a:rPr>
              <a:t>Generador de Inmediatos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64B9AAA5-9F5D-1787-28D7-B3C2121C6C49}"/>
              </a:ext>
            </a:extLst>
          </p:cNvPr>
          <p:cNvCxnSpPr>
            <a:cxnSpLocks/>
            <a:endCxn id="32" idx="1"/>
          </p:cNvCxnSpPr>
          <p:nvPr/>
        </p:nvCxnSpPr>
        <p:spPr bwMode="auto">
          <a:xfrm flipV="1">
            <a:off x="2632327" y="5140690"/>
            <a:ext cx="604000" cy="11210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79A051A-1A05-9E7A-6290-879FEB785D7A}"/>
              </a:ext>
            </a:extLst>
          </p:cNvPr>
          <p:cNvSpPr txBox="1"/>
          <p:nvPr/>
        </p:nvSpPr>
        <p:spPr>
          <a:xfrm>
            <a:off x="2794735" y="5180543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31..p</a:t>
            </a:r>
          </a:p>
        </p:txBody>
      </p:sp>
      <p:sp>
        <p:nvSpPr>
          <p:cNvPr id="37" name="Freeform 42">
            <a:extLst>
              <a:ext uri="{FF2B5EF4-FFF2-40B4-BE49-F238E27FC236}">
                <a16:creationId xmlns:a16="http://schemas.microsoft.com/office/drawing/2014/main" id="{0770711D-A9DB-E649-75B4-3EF42882B1F6}"/>
              </a:ext>
            </a:extLst>
          </p:cNvPr>
          <p:cNvSpPr>
            <a:spLocks/>
          </p:cNvSpPr>
          <p:nvPr/>
        </p:nvSpPr>
        <p:spPr bwMode="blackWhite">
          <a:xfrm>
            <a:off x="5789027" y="3275012"/>
            <a:ext cx="495300" cy="1028700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solidFill>
            <a:schemeClr val="bg1"/>
          </a:soli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r>
              <a:rPr lang="es-ES_tradnl" sz="1200" dirty="0"/>
              <a:t>ALU</a:t>
            </a:r>
            <a:endParaRPr lang="es-ES_tradnl" sz="1800" dirty="0"/>
          </a:p>
        </p:txBody>
      </p: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7959F97F-A93A-A546-CEBE-21504A38A433}"/>
              </a:ext>
            </a:extLst>
          </p:cNvPr>
          <p:cNvCxnSpPr/>
          <p:nvPr/>
        </p:nvCxnSpPr>
        <p:spPr bwMode="auto">
          <a:xfrm rot="5400000" flipH="1" flipV="1">
            <a:off x="5938444" y="4261792"/>
            <a:ext cx="227012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Rectángulo 42">
            <a:extLst>
              <a:ext uri="{FF2B5EF4-FFF2-40B4-BE49-F238E27FC236}">
                <a16:creationId xmlns:a16="http://schemas.microsoft.com/office/drawing/2014/main" id="{7F7C454F-7525-02A7-6C72-D743E1311F3D}"/>
              </a:ext>
            </a:extLst>
          </p:cNvPr>
          <p:cNvSpPr/>
          <p:nvPr/>
        </p:nvSpPr>
        <p:spPr bwMode="auto">
          <a:xfrm>
            <a:off x="7009020" y="4265612"/>
            <a:ext cx="782039" cy="990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1200" dirty="0">
                <a:solidFill>
                  <a:srgbClr val="000000"/>
                </a:solidFill>
              </a:rPr>
              <a:t>Memoria de datos</a:t>
            </a:r>
          </a:p>
        </p:txBody>
      </p: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B109CC44-C6ED-3B20-320F-CA2D569F2052}"/>
              </a:ext>
            </a:extLst>
          </p:cNvPr>
          <p:cNvCxnSpPr>
            <a:cxnSpLocks/>
            <a:stCxn id="148" idx="2"/>
            <a:endCxn id="43" idx="0"/>
          </p:cNvCxnSpPr>
          <p:nvPr/>
        </p:nvCxnSpPr>
        <p:spPr bwMode="auto">
          <a:xfrm>
            <a:off x="7390019" y="3770311"/>
            <a:ext cx="10021" cy="495301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486602E9-37C7-49D3-CD92-9B2A3F425DD0}"/>
              </a:ext>
            </a:extLst>
          </p:cNvPr>
          <p:cNvCxnSpPr>
            <a:cxnSpLocks/>
            <a:stCxn id="46" idx="2"/>
            <a:endCxn id="27" idx="0"/>
          </p:cNvCxnSpPr>
          <p:nvPr/>
        </p:nvCxnSpPr>
        <p:spPr bwMode="auto">
          <a:xfrm>
            <a:off x="3690422" y="3046657"/>
            <a:ext cx="2472" cy="270690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B8EAADE5-E533-E1A7-D707-C90D26C841B1}"/>
              </a:ext>
            </a:extLst>
          </p:cNvPr>
          <p:cNvSpPr txBox="1"/>
          <p:nvPr/>
        </p:nvSpPr>
        <p:spPr>
          <a:xfrm>
            <a:off x="3401408" y="2769658"/>
            <a:ext cx="5780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EReg</a:t>
            </a:r>
            <a:endParaRPr lang="es-ES_tradnl" sz="1200" b="1" dirty="0">
              <a:solidFill>
                <a:srgbClr val="FF6600"/>
              </a:solidFill>
            </a:endParaRP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401E7DED-EAE8-30EA-FA13-D6D2EFF745E2}"/>
              </a:ext>
            </a:extLst>
          </p:cNvPr>
          <p:cNvSpPr/>
          <p:nvPr/>
        </p:nvSpPr>
        <p:spPr bwMode="auto">
          <a:xfrm rot="16200000">
            <a:off x="8401787" y="4134379"/>
            <a:ext cx="643465" cy="228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B80DA770-828B-21BD-2769-8A8480CCC0FF}"/>
              </a:ext>
            </a:extLst>
          </p:cNvPr>
          <p:cNvCxnSpPr/>
          <p:nvPr/>
        </p:nvCxnSpPr>
        <p:spPr bwMode="auto">
          <a:xfrm>
            <a:off x="7771020" y="4949824"/>
            <a:ext cx="228600" cy="1588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B019994F-CB04-382F-DCA5-1CF478EB3CF1}"/>
              </a:ext>
            </a:extLst>
          </p:cNvPr>
          <p:cNvCxnSpPr>
            <a:cxnSpLocks/>
            <a:stCxn id="48" idx="2"/>
          </p:cNvCxnSpPr>
          <p:nvPr/>
        </p:nvCxnSpPr>
        <p:spPr bwMode="auto">
          <a:xfrm>
            <a:off x="8837820" y="4248679"/>
            <a:ext cx="151606" cy="0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174496DC-F553-3D1D-1A66-72BD44DECFBC}"/>
              </a:ext>
            </a:extLst>
          </p:cNvPr>
          <p:cNvCxnSpPr>
            <a:cxnSpLocks/>
          </p:cNvCxnSpPr>
          <p:nvPr/>
        </p:nvCxnSpPr>
        <p:spPr bwMode="auto">
          <a:xfrm>
            <a:off x="8989426" y="4229100"/>
            <a:ext cx="0" cy="2349500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8565229A-F17F-BBF4-A183-ABF88D8422F7}"/>
              </a:ext>
            </a:extLst>
          </p:cNvPr>
          <p:cNvCxnSpPr>
            <a:cxnSpLocks/>
          </p:cNvCxnSpPr>
          <p:nvPr/>
        </p:nvCxnSpPr>
        <p:spPr bwMode="auto">
          <a:xfrm>
            <a:off x="2779127" y="6554788"/>
            <a:ext cx="6192279" cy="0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C79E36B7-390F-C86B-7D0D-8B441EA9CA15}"/>
              </a:ext>
            </a:extLst>
          </p:cNvPr>
          <p:cNvCxnSpPr>
            <a:cxnSpLocks/>
          </p:cNvCxnSpPr>
          <p:nvPr/>
        </p:nvCxnSpPr>
        <p:spPr bwMode="auto">
          <a:xfrm flipV="1">
            <a:off x="2779127" y="4190206"/>
            <a:ext cx="794" cy="2385219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EFB2E395-1C92-B5A0-CB71-48A59DCA0C6F}"/>
              </a:ext>
            </a:extLst>
          </p:cNvPr>
          <p:cNvCxnSpPr>
            <a:cxnSpLocks/>
          </p:cNvCxnSpPr>
          <p:nvPr/>
        </p:nvCxnSpPr>
        <p:spPr bwMode="auto">
          <a:xfrm>
            <a:off x="2772777" y="4191000"/>
            <a:ext cx="457200" cy="0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5F765C61-CA96-E43A-CB13-698A3BBBB760}"/>
              </a:ext>
            </a:extLst>
          </p:cNvPr>
          <p:cNvCxnSpPr/>
          <p:nvPr/>
        </p:nvCxnSpPr>
        <p:spPr bwMode="auto">
          <a:xfrm>
            <a:off x="2855327" y="6475412"/>
            <a:ext cx="5753893" cy="1588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12392076-87E0-4BCE-F3A2-7974C38F484A}"/>
              </a:ext>
            </a:extLst>
          </p:cNvPr>
          <p:cNvCxnSpPr>
            <a:cxnSpLocks/>
          </p:cNvCxnSpPr>
          <p:nvPr/>
        </p:nvCxnSpPr>
        <p:spPr bwMode="auto">
          <a:xfrm flipV="1">
            <a:off x="2855327" y="4418806"/>
            <a:ext cx="794" cy="2056606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11650124-7D64-E75A-E36D-6065BBF69EC0}"/>
              </a:ext>
            </a:extLst>
          </p:cNvPr>
          <p:cNvCxnSpPr>
            <a:cxnSpLocks/>
          </p:cNvCxnSpPr>
          <p:nvPr/>
        </p:nvCxnSpPr>
        <p:spPr bwMode="auto">
          <a:xfrm>
            <a:off x="2848977" y="4419600"/>
            <a:ext cx="381000" cy="0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2" name="CuadroTexto 61">
            <a:extLst>
              <a:ext uri="{FF2B5EF4-FFF2-40B4-BE49-F238E27FC236}">
                <a16:creationId xmlns:a16="http://schemas.microsoft.com/office/drawing/2014/main" id="{633DA1A0-34F3-02DA-40AA-901D9C044B12}"/>
              </a:ext>
            </a:extLst>
          </p:cNvPr>
          <p:cNvSpPr txBox="1"/>
          <p:nvPr/>
        </p:nvSpPr>
        <p:spPr>
          <a:xfrm rot="16200000">
            <a:off x="8565149" y="5114873"/>
            <a:ext cx="5885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>
                <a:solidFill>
                  <a:schemeClr val="accent1">
                    <a:lumMod val="75000"/>
                  </a:schemeClr>
                </a:solidFill>
              </a:rPr>
              <a:t>Datos</a:t>
            </a:r>
          </a:p>
        </p:txBody>
      </p: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BA1E3D42-4FF0-D2DB-BBE5-BE8F0D70B07B}"/>
              </a:ext>
            </a:extLst>
          </p:cNvPr>
          <p:cNvCxnSpPr>
            <a:cxnSpLocks/>
          </p:cNvCxnSpPr>
          <p:nvPr/>
        </p:nvCxnSpPr>
        <p:spPr bwMode="auto">
          <a:xfrm>
            <a:off x="8723520" y="720725"/>
            <a:ext cx="0" cy="3199872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91DCA685-0D20-3E3C-D650-33598EAE4F90}"/>
              </a:ext>
            </a:extLst>
          </p:cNvPr>
          <p:cNvCxnSpPr>
            <a:cxnSpLocks/>
          </p:cNvCxnSpPr>
          <p:nvPr/>
        </p:nvCxnSpPr>
        <p:spPr bwMode="auto">
          <a:xfrm flipV="1">
            <a:off x="2598506" y="703026"/>
            <a:ext cx="15007" cy="5577142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464776AF-4F78-5319-093D-EFECABC8B2EF}"/>
              </a:ext>
            </a:extLst>
          </p:cNvPr>
          <p:cNvCxnSpPr/>
          <p:nvPr/>
        </p:nvCxnSpPr>
        <p:spPr bwMode="auto">
          <a:xfrm flipV="1">
            <a:off x="1903620" y="2741612"/>
            <a:ext cx="228601" cy="1588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0" name="Rectángulo 79">
            <a:extLst>
              <a:ext uri="{FF2B5EF4-FFF2-40B4-BE49-F238E27FC236}">
                <a16:creationId xmlns:a16="http://schemas.microsoft.com/office/drawing/2014/main" id="{98D8C2B1-BBDA-5F96-2DC8-48545A47766C}"/>
              </a:ext>
            </a:extLst>
          </p:cNvPr>
          <p:cNvSpPr/>
          <p:nvPr/>
        </p:nvSpPr>
        <p:spPr bwMode="auto">
          <a:xfrm>
            <a:off x="1159219" y="3698347"/>
            <a:ext cx="643465" cy="228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84" name="Conector recto 83">
            <a:extLst>
              <a:ext uri="{FF2B5EF4-FFF2-40B4-BE49-F238E27FC236}">
                <a16:creationId xmlns:a16="http://schemas.microsoft.com/office/drawing/2014/main" id="{CC671C53-7B22-3C3A-328B-D224C9A9C91A}"/>
              </a:ext>
            </a:extLst>
          </p:cNvPr>
          <p:cNvCxnSpPr>
            <a:cxnSpLocks/>
          </p:cNvCxnSpPr>
          <p:nvPr/>
        </p:nvCxnSpPr>
        <p:spPr bwMode="auto">
          <a:xfrm flipH="1">
            <a:off x="1728217" y="219075"/>
            <a:ext cx="23003" cy="3463239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7" name="Conector recto 86">
            <a:extLst>
              <a:ext uri="{FF2B5EF4-FFF2-40B4-BE49-F238E27FC236}">
                <a16:creationId xmlns:a16="http://schemas.microsoft.com/office/drawing/2014/main" id="{DEF67B74-ABE6-33D6-67E3-09F9CA0D235B}"/>
              </a:ext>
            </a:extLst>
          </p:cNvPr>
          <p:cNvCxnSpPr>
            <a:cxnSpLocks/>
            <a:endCxn id="80" idx="1"/>
          </p:cNvCxnSpPr>
          <p:nvPr/>
        </p:nvCxnSpPr>
        <p:spPr bwMode="auto">
          <a:xfrm>
            <a:off x="629670" y="3812647"/>
            <a:ext cx="529549" cy="0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Conector recto de flecha 87">
            <a:extLst>
              <a:ext uri="{FF2B5EF4-FFF2-40B4-BE49-F238E27FC236}">
                <a16:creationId xmlns:a16="http://schemas.microsoft.com/office/drawing/2014/main" id="{78696C0B-917B-DA83-EAB4-8DC9793E3055}"/>
              </a:ext>
            </a:extLst>
          </p:cNvPr>
          <p:cNvCxnSpPr/>
          <p:nvPr/>
        </p:nvCxnSpPr>
        <p:spPr bwMode="auto">
          <a:xfrm rot="16200000" flipH="1">
            <a:off x="1099289" y="3545947"/>
            <a:ext cx="304802" cy="2"/>
          </a:xfrm>
          <a:prstGeom prst="straightConnector1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594695A4-6846-1F92-879F-BDA5874653AB}"/>
              </a:ext>
            </a:extLst>
          </p:cNvPr>
          <p:cNvCxnSpPr/>
          <p:nvPr/>
        </p:nvCxnSpPr>
        <p:spPr bwMode="auto">
          <a:xfrm rot="5400000">
            <a:off x="1194538" y="4115332"/>
            <a:ext cx="381000" cy="4230"/>
          </a:xfrm>
          <a:prstGeom prst="straightConnector1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0" name="CuadroTexto 89">
            <a:extLst>
              <a:ext uri="{FF2B5EF4-FFF2-40B4-BE49-F238E27FC236}">
                <a16:creationId xmlns:a16="http://schemas.microsoft.com/office/drawing/2014/main" id="{41DC744A-B03D-EA5D-7B56-B77A7D27C5A8}"/>
              </a:ext>
            </a:extLst>
          </p:cNvPr>
          <p:cNvSpPr txBox="1"/>
          <p:nvPr/>
        </p:nvSpPr>
        <p:spPr>
          <a:xfrm rot="16200000">
            <a:off x="493980" y="2071021"/>
            <a:ext cx="612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>
                <a:solidFill>
                  <a:srgbClr val="FF6600"/>
                </a:solidFill>
              </a:rPr>
              <a:t>MxPC</a:t>
            </a:r>
          </a:p>
        </p:txBody>
      </p:sp>
      <p:sp>
        <p:nvSpPr>
          <p:cNvPr id="92" name="Rectángulo 91">
            <a:extLst>
              <a:ext uri="{FF2B5EF4-FFF2-40B4-BE49-F238E27FC236}">
                <a16:creationId xmlns:a16="http://schemas.microsoft.com/office/drawing/2014/main" id="{9302928C-A95F-5676-4466-AC21A81BD903}"/>
              </a:ext>
            </a:extLst>
          </p:cNvPr>
          <p:cNvSpPr/>
          <p:nvPr/>
        </p:nvSpPr>
        <p:spPr bwMode="auto">
          <a:xfrm>
            <a:off x="2132221" y="455612"/>
            <a:ext cx="304800" cy="5943600"/>
          </a:xfrm>
          <a:prstGeom prst="rect">
            <a:avLst/>
          </a:prstGeom>
          <a:noFill/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3" name="Rectángulo 92">
            <a:extLst>
              <a:ext uri="{FF2B5EF4-FFF2-40B4-BE49-F238E27FC236}">
                <a16:creationId xmlns:a16="http://schemas.microsoft.com/office/drawing/2014/main" id="{85603AB3-FE9A-F9CA-5414-426151D9FC2F}"/>
              </a:ext>
            </a:extLst>
          </p:cNvPr>
          <p:cNvSpPr/>
          <p:nvPr/>
        </p:nvSpPr>
        <p:spPr bwMode="auto">
          <a:xfrm rot="16200000">
            <a:off x="1913499" y="5390270"/>
            <a:ext cx="762000" cy="228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>
                <a:solidFill>
                  <a:srgbClr val="000000"/>
                </a:solidFill>
              </a:rPr>
              <a:t>RI</a:t>
            </a:r>
          </a:p>
        </p:txBody>
      </p:sp>
      <p:cxnSp>
        <p:nvCxnSpPr>
          <p:cNvPr id="94" name="Conector recto de flecha 93">
            <a:extLst>
              <a:ext uri="{FF2B5EF4-FFF2-40B4-BE49-F238E27FC236}">
                <a16:creationId xmlns:a16="http://schemas.microsoft.com/office/drawing/2014/main" id="{1C1F166B-2108-9D14-F4AB-844E0D9BFE4C}"/>
              </a:ext>
            </a:extLst>
          </p:cNvPr>
          <p:cNvCxnSpPr>
            <a:cxnSpLocks/>
            <a:stCxn id="8" idx="3"/>
          </p:cNvCxnSpPr>
          <p:nvPr/>
        </p:nvCxnSpPr>
        <p:spPr bwMode="auto">
          <a:xfrm>
            <a:off x="1802023" y="5489047"/>
            <a:ext cx="324630" cy="0"/>
          </a:xfrm>
          <a:prstGeom prst="straightConnector1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5" name="Rectángulo 94">
            <a:extLst>
              <a:ext uri="{FF2B5EF4-FFF2-40B4-BE49-F238E27FC236}">
                <a16:creationId xmlns:a16="http://schemas.microsoft.com/office/drawing/2014/main" id="{8A1508A4-043A-F92F-3A07-0A10ABF7A5EF}"/>
              </a:ext>
            </a:extLst>
          </p:cNvPr>
          <p:cNvSpPr/>
          <p:nvPr/>
        </p:nvSpPr>
        <p:spPr bwMode="auto">
          <a:xfrm>
            <a:off x="4494421" y="455612"/>
            <a:ext cx="304800" cy="5943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6" name="Rectángulo 95">
            <a:extLst>
              <a:ext uri="{FF2B5EF4-FFF2-40B4-BE49-F238E27FC236}">
                <a16:creationId xmlns:a16="http://schemas.microsoft.com/office/drawing/2014/main" id="{52AED8BD-98C8-3E09-E913-A016E98C5637}"/>
              </a:ext>
            </a:extLst>
          </p:cNvPr>
          <p:cNvSpPr/>
          <p:nvPr/>
        </p:nvSpPr>
        <p:spPr bwMode="auto">
          <a:xfrm rot="16200000">
            <a:off x="4412573" y="3385080"/>
            <a:ext cx="467551" cy="190972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>
                <a:solidFill>
                  <a:srgbClr val="000000"/>
                </a:solidFill>
              </a:rPr>
              <a:t>S</a:t>
            </a:r>
          </a:p>
        </p:txBody>
      </p:sp>
      <p:sp>
        <p:nvSpPr>
          <p:cNvPr id="97" name="Rectángulo 96">
            <a:extLst>
              <a:ext uri="{FF2B5EF4-FFF2-40B4-BE49-F238E27FC236}">
                <a16:creationId xmlns:a16="http://schemas.microsoft.com/office/drawing/2014/main" id="{FC3EFA16-10D6-585C-79B7-B1CEA22C72DF}"/>
              </a:ext>
            </a:extLst>
          </p:cNvPr>
          <p:cNvSpPr/>
          <p:nvPr/>
        </p:nvSpPr>
        <p:spPr bwMode="auto">
          <a:xfrm rot="16200000">
            <a:off x="4412574" y="3936350"/>
            <a:ext cx="467551" cy="190972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>
                <a:solidFill>
                  <a:srgbClr val="000000"/>
                </a:solidFill>
              </a:rPr>
              <a:t>T</a:t>
            </a:r>
          </a:p>
        </p:txBody>
      </p:sp>
      <p:sp>
        <p:nvSpPr>
          <p:cNvPr id="98" name="Rectángulo 97">
            <a:extLst>
              <a:ext uri="{FF2B5EF4-FFF2-40B4-BE49-F238E27FC236}">
                <a16:creationId xmlns:a16="http://schemas.microsoft.com/office/drawing/2014/main" id="{81B23BB9-88D4-39C2-A6E7-26C09F58CCE3}"/>
              </a:ext>
            </a:extLst>
          </p:cNvPr>
          <p:cNvSpPr/>
          <p:nvPr/>
        </p:nvSpPr>
        <p:spPr bwMode="auto">
          <a:xfrm rot="16200000">
            <a:off x="4413518" y="4431386"/>
            <a:ext cx="467551" cy="190972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>
                <a:solidFill>
                  <a:srgbClr val="000000"/>
                </a:solidFill>
              </a:rPr>
              <a:t>K</a:t>
            </a:r>
          </a:p>
        </p:txBody>
      </p:sp>
      <p:sp>
        <p:nvSpPr>
          <p:cNvPr id="101" name="Rectángulo 100">
            <a:extLst>
              <a:ext uri="{FF2B5EF4-FFF2-40B4-BE49-F238E27FC236}">
                <a16:creationId xmlns:a16="http://schemas.microsoft.com/office/drawing/2014/main" id="{4151CEBD-5CE2-0000-3A91-D9922DECA801}"/>
              </a:ext>
            </a:extLst>
          </p:cNvPr>
          <p:cNvSpPr/>
          <p:nvPr/>
        </p:nvSpPr>
        <p:spPr bwMode="auto">
          <a:xfrm>
            <a:off x="6475620" y="455612"/>
            <a:ext cx="304800" cy="5943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2" name="Rectángulo 101">
            <a:extLst>
              <a:ext uri="{FF2B5EF4-FFF2-40B4-BE49-F238E27FC236}">
                <a16:creationId xmlns:a16="http://schemas.microsoft.com/office/drawing/2014/main" id="{A31AAF2B-2084-ADE1-6DBB-8FAE93763E27}"/>
              </a:ext>
            </a:extLst>
          </p:cNvPr>
          <p:cNvSpPr/>
          <p:nvPr/>
        </p:nvSpPr>
        <p:spPr bwMode="auto">
          <a:xfrm>
            <a:off x="7999620" y="455612"/>
            <a:ext cx="304800" cy="5943600"/>
          </a:xfrm>
          <a:prstGeom prst="rect">
            <a:avLst/>
          </a:prstGeom>
          <a:noFill/>
          <a:ln>
            <a:solidFill>
              <a:schemeClr val="accent1">
                <a:shade val="50000"/>
                <a:alpha val="30000"/>
              </a:schemeClr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7786378D-218C-9AEE-043B-AEC02E0A2BD4}"/>
              </a:ext>
            </a:extLst>
          </p:cNvPr>
          <p:cNvSpPr/>
          <p:nvPr/>
        </p:nvSpPr>
        <p:spPr bwMode="auto">
          <a:xfrm rot="16200000">
            <a:off x="6180699" y="3617912"/>
            <a:ext cx="914400" cy="228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>
                <a:solidFill>
                  <a:srgbClr val="000000"/>
                </a:solidFill>
              </a:rPr>
              <a:t>ALUout</a:t>
            </a:r>
          </a:p>
        </p:txBody>
      </p:sp>
      <p:sp>
        <p:nvSpPr>
          <p:cNvPr id="104" name="Rectángulo 103">
            <a:extLst>
              <a:ext uri="{FF2B5EF4-FFF2-40B4-BE49-F238E27FC236}">
                <a16:creationId xmlns:a16="http://schemas.microsoft.com/office/drawing/2014/main" id="{80D0C44E-3AE4-D182-63A2-0D337D1AC9FC}"/>
              </a:ext>
            </a:extLst>
          </p:cNvPr>
          <p:cNvSpPr/>
          <p:nvPr/>
        </p:nvSpPr>
        <p:spPr bwMode="auto">
          <a:xfrm rot="16200000">
            <a:off x="7704699" y="3617912"/>
            <a:ext cx="914400" cy="228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>
                <a:solidFill>
                  <a:srgbClr val="000000"/>
                </a:solidFill>
              </a:rPr>
              <a:t>ALUout</a:t>
            </a:r>
          </a:p>
        </p:txBody>
      </p:sp>
      <p:sp>
        <p:nvSpPr>
          <p:cNvPr id="107" name="Rectángulo 106">
            <a:extLst>
              <a:ext uri="{FF2B5EF4-FFF2-40B4-BE49-F238E27FC236}">
                <a16:creationId xmlns:a16="http://schemas.microsoft.com/office/drawing/2014/main" id="{E552B1E0-6B81-F1F6-3F11-3CA4D2CAEB6F}"/>
              </a:ext>
            </a:extLst>
          </p:cNvPr>
          <p:cNvSpPr/>
          <p:nvPr/>
        </p:nvSpPr>
        <p:spPr bwMode="auto">
          <a:xfrm rot="16200000">
            <a:off x="7704699" y="4837112"/>
            <a:ext cx="914400" cy="228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>
                <a:solidFill>
                  <a:srgbClr val="000000"/>
                </a:solidFill>
              </a:rPr>
              <a:t>MEMout</a:t>
            </a:r>
          </a:p>
        </p:txBody>
      </p:sp>
      <p:sp>
        <p:nvSpPr>
          <p:cNvPr id="108" name="Rectángulo 107">
            <a:extLst>
              <a:ext uri="{FF2B5EF4-FFF2-40B4-BE49-F238E27FC236}">
                <a16:creationId xmlns:a16="http://schemas.microsoft.com/office/drawing/2014/main" id="{9A489166-B3AB-6D81-26CC-E85B2FC028FA}"/>
              </a:ext>
            </a:extLst>
          </p:cNvPr>
          <p:cNvSpPr/>
          <p:nvPr/>
        </p:nvSpPr>
        <p:spPr bwMode="auto">
          <a:xfrm rot="16200000">
            <a:off x="6412738" y="4863434"/>
            <a:ext cx="467551" cy="190972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dirty="0">
                <a:solidFill>
                  <a:srgbClr val="000000"/>
                </a:solidFill>
              </a:rPr>
              <a:t>T</a:t>
            </a:r>
          </a:p>
        </p:txBody>
      </p:sp>
      <p:cxnSp>
        <p:nvCxnSpPr>
          <p:cNvPr id="120" name="Conector recto 119">
            <a:extLst>
              <a:ext uri="{FF2B5EF4-FFF2-40B4-BE49-F238E27FC236}">
                <a16:creationId xmlns:a16="http://schemas.microsoft.com/office/drawing/2014/main" id="{577F7E96-59E6-A3F6-103F-A9EF08BA224B}"/>
              </a:ext>
            </a:extLst>
          </p:cNvPr>
          <p:cNvCxnSpPr/>
          <p:nvPr/>
        </p:nvCxnSpPr>
        <p:spPr bwMode="auto">
          <a:xfrm>
            <a:off x="8380620" y="4037012"/>
            <a:ext cx="228600" cy="1588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Conector recto 120">
            <a:extLst>
              <a:ext uri="{FF2B5EF4-FFF2-40B4-BE49-F238E27FC236}">
                <a16:creationId xmlns:a16="http://schemas.microsoft.com/office/drawing/2014/main" id="{1D568A17-F5BF-F69B-51E0-0003D3D3E890}"/>
              </a:ext>
            </a:extLst>
          </p:cNvPr>
          <p:cNvCxnSpPr>
            <a:cxnSpLocks/>
          </p:cNvCxnSpPr>
          <p:nvPr/>
        </p:nvCxnSpPr>
        <p:spPr bwMode="auto">
          <a:xfrm>
            <a:off x="8379826" y="4494211"/>
            <a:ext cx="229394" cy="1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2" name="Conector recto 121">
            <a:extLst>
              <a:ext uri="{FF2B5EF4-FFF2-40B4-BE49-F238E27FC236}">
                <a16:creationId xmlns:a16="http://schemas.microsoft.com/office/drawing/2014/main" id="{261F51EF-6B5A-20CE-2CD4-BD827118F81F}"/>
              </a:ext>
            </a:extLst>
          </p:cNvPr>
          <p:cNvCxnSpPr>
            <a:cxnSpLocks/>
          </p:cNvCxnSpPr>
          <p:nvPr/>
        </p:nvCxnSpPr>
        <p:spPr bwMode="auto">
          <a:xfrm flipV="1">
            <a:off x="8379829" y="3711167"/>
            <a:ext cx="0" cy="346483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Conector recto 122">
            <a:extLst>
              <a:ext uri="{FF2B5EF4-FFF2-40B4-BE49-F238E27FC236}">
                <a16:creationId xmlns:a16="http://schemas.microsoft.com/office/drawing/2014/main" id="{9CA83B45-4A34-0BA0-1725-877F727658A0}"/>
              </a:ext>
            </a:extLst>
          </p:cNvPr>
          <p:cNvCxnSpPr>
            <a:cxnSpLocks/>
          </p:cNvCxnSpPr>
          <p:nvPr/>
        </p:nvCxnSpPr>
        <p:spPr bwMode="auto">
          <a:xfrm flipV="1">
            <a:off x="8379826" y="4479925"/>
            <a:ext cx="0" cy="476248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4" name="Conector recto 123">
            <a:extLst>
              <a:ext uri="{FF2B5EF4-FFF2-40B4-BE49-F238E27FC236}">
                <a16:creationId xmlns:a16="http://schemas.microsoft.com/office/drawing/2014/main" id="{8467B9C4-2839-88A0-0C08-BBD2242926CE}"/>
              </a:ext>
            </a:extLst>
          </p:cNvPr>
          <p:cNvCxnSpPr/>
          <p:nvPr/>
        </p:nvCxnSpPr>
        <p:spPr bwMode="auto">
          <a:xfrm rot="10800000">
            <a:off x="8304424" y="4949823"/>
            <a:ext cx="76196" cy="1588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5" name="Conector recto 124">
            <a:extLst>
              <a:ext uri="{FF2B5EF4-FFF2-40B4-BE49-F238E27FC236}">
                <a16:creationId xmlns:a16="http://schemas.microsoft.com/office/drawing/2014/main" id="{CF832A9C-AAC3-0C61-E367-348F109995DF}"/>
              </a:ext>
            </a:extLst>
          </p:cNvPr>
          <p:cNvCxnSpPr/>
          <p:nvPr/>
        </p:nvCxnSpPr>
        <p:spPr bwMode="auto">
          <a:xfrm rot="10800000">
            <a:off x="8304420" y="3732212"/>
            <a:ext cx="76200" cy="1588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9" name="Conector recto 128">
            <a:extLst>
              <a:ext uri="{FF2B5EF4-FFF2-40B4-BE49-F238E27FC236}">
                <a16:creationId xmlns:a16="http://schemas.microsoft.com/office/drawing/2014/main" id="{90952350-87EF-3952-59FA-38A3694BBA64}"/>
              </a:ext>
            </a:extLst>
          </p:cNvPr>
          <p:cNvCxnSpPr/>
          <p:nvPr/>
        </p:nvCxnSpPr>
        <p:spPr bwMode="auto">
          <a:xfrm>
            <a:off x="6294055" y="3789039"/>
            <a:ext cx="190027" cy="1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0" name="CuadroTexto 129">
            <a:extLst>
              <a:ext uri="{FF2B5EF4-FFF2-40B4-BE49-F238E27FC236}">
                <a16:creationId xmlns:a16="http://schemas.microsoft.com/office/drawing/2014/main" id="{327EA660-2803-A14B-FA06-9BDC9E8997F1}"/>
              </a:ext>
            </a:extLst>
          </p:cNvPr>
          <p:cNvSpPr txBox="1"/>
          <p:nvPr/>
        </p:nvSpPr>
        <p:spPr>
          <a:xfrm rot="16200000">
            <a:off x="1999054" y="604691"/>
            <a:ext cx="562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LI/DI</a:t>
            </a:r>
          </a:p>
        </p:txBody>
      </p:sp>
      <p:sp>
        <p:nvSpPr>
          <p:cNvPr id="131" name="CuadroTexto 130">
            <a:extLst>
              <a:ext uri="{FF2B5EF4-FFF2-40B4-BE49-F238E27FC236}">
                <a16:creationId xmlns:a16="http://schemas.microsoft.com/office/drawing/2014/main" id="{9406E339-FF81-B481-4532-CD3FC99F450D}"/>
              </a:ext>
            </a:extLst>
          </p:cNvPr>
          <p:cNvSpPr txBox="1"/>
          <p:nvPr/>
        </p:nvSpPr>
        <p:spPr>
          <a:xfrm rot="16200000">
            <a:off x="4342254" y="2070736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DI/EX</a:t>
            </a:r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6FA0EA11-4CCD-53E1-4A52-E27BD905E43A}"/>
              </a:ext>
            </a:extLst>
          </p:cNvPr>
          <p:cNvSpPr txBox="1"/>
          <p:nvPr/>
        </p:nvSpPr>
        <p:spPr>
          <a:xfrm rot="16200000">
            <a:off x="7811908" y="1305865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M/ ER</a:t>
            </a:r>
          </a:p>
        </p:txBody>
      </p:sp>
      <p:sp>
        <p:nvSpPr>
          <p:cNvPr id="134" name="Rectángulo 133">
            <a:extLst>
              <a:ext uri="{FF2B5EF4-FFF2-40B4-BE49-F238E27FC236}">
                <a16:creationId xmlns:a16="http://schemas.microsoft.com/office/drawing/2014/main" id="{C757823E-ADBA-33BE-C2D4-BD02F5CBB213}"/>
              </a:ext>
            </a:extLst>
          </p:cNvPr>
          <p:cNvSpPr/>
          <p:nvPr/>
        </p:nvSpPr>
        <p:spPr bwMode="auto">
          <a:xfrm rot="16200000">
            <a:off x="4470434" y="1659529"/>
            <a:ext cx="3913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rgbClr val="000000"/>
                </a:solidFill>
              </a:rPr>
              <a:t>EX</a:t>
            </a:r>
          </a:p>
        </p:txBody>
      </p:sp>
      <p:sp>
        <p:nvSpPr>
          <p:cNvPr id="135" name="Rectángulo 134">
            <a:extLst>
              <a:ext uri="{FF2B5EF4-FFF2-40B4-BE49-F238E27FC236}">
                <a16:creationId xmlns:a16="http://schemas.microsoft.com/office/drawing/2014/main" id="{D988BB89-7B89-F07F-F858-8F3DF98B3050}"/>
              </a:ext>
            </a:extLst>
          </p:cNvPr>
          <p:cNvSpPr/>
          <p:nvPr/>
        </p:nvSpPr>
        <p:spPr bwMode="auto">
          <a:xfrm rot="16200000">
            <a:off x="4386600" y="1152779"/>
            <a:ext cx="546420" cy="19097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rgbClr val="000000"/>
                </a:solidFill>
              </a:rPr>
              <a:t>M</a:t>
            </a:r>
          </a:p>
        </p:txBody>
      </p:sp>
      <p:sp>
        <p:nvSpPr>
          <p:cNvPr id="136" name="Rectángulo 135">
            <a:extLst>
              <a:ext uri="{FF2B5EF4-FFF2-40B4-BE49-F238E27FC236}">
                <a16:creationId xmlns:a16="http://schemas.microsoft.com/office/drawing/2014/main" id="{25BA0FED-B5A1-1F6D-6F19-D74C06EF5645}"/>
              </a:ext>
            </a:extLst>
          </p:cNvPr>
          <p:cNvSpPr/>
          <p:nvPr/>
        </p:nvSpPr>
        <p:spPr bwMode="auto">
          <a:xfrm rot="16200000">
            <a:off x="4440448" y="611365"/>
            <a:ext cx="457199" cy="19097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rgbClr val="000000"/>
                </a:solidFill>
              </a:rPr>
              <a:t>ER</a:t>
            </a:r>
          </a:p>
        </p:txBody>
      </p:sp>
      <p:sp>
        <p:nvSpPr>
          <p:cNvPr id="137" name="Rectángulo 136">
            <a:extLst>
              <a:ext uri="{FF2B5EF4-FFF2-40B4-BE49-F238E27FC236}">
                <a16:creationId xmlns:a16="http://schemas.microsoft.com/office/drawing/2014/main" id="{C666C5EC-AFD1-FFB2-EAD9-028AA9F2A721}"/>
              </a:ext>
            </a:extLst>
          </p:cNvPr>
          <p:cNvSpPr/>
          <p:nvPr/>
        </p:nvSpPr>
        <p:spPr bwMode="auto">
          <a:xfrm rot="16200000">
            <a:off x="6369254" y="1169746"/>
            <a:ext cx="517537" cy="19097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rgbClr val="000000"/>
                </a:solidFill>
              </a:rPr>
              <a:t>M</a:t>
            </a:r>
          </a:p>
        </p:txBody>
      </p:sp>
      <p:sp>
        <p:nvSpPr>
          <p:cNvPr id="138" name="Rectángulo 137">
            <a:extLst>
              <a:ext uri="{FF2B5EF4-FFF2-40B4-BE49-F238E27FC236}">
                <a16:creationId xmlns:a16="http://schemas.microsoft.com/office/drawing/2014/main" id="{1DABD7B7-03EF-32AC-27E2-43D5B7BB31D0}"/>
              </a:ext>
            </a:extLst>
          </p:cNvPr>
          <p:cNvSpPr/>
          <p:nvPr/>
        </p:nvSpPr>
        <p:spPr bwMode="auto">
          <a:xfrm rot="16200000">
            <a:off x="6399423" y="607540"/>
            <a:ext cx="457199" cy="19097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rgbClr val="000000"/>
                </a:solidFill>
              </a:rPr>
              <a:t>ER</a:t>
            </a:r>
          </a:p>
        </p:txBody>
      </p:sp>
      <p:sp>
        <p:nvSpPr>
          <p:cNvPr id="139" name="Rectángulo 138">
            <a:extLst>
              <a:ext uri="{FF2B5EF4-FFF2-40B4-BE49-F238E27FC236}">
                <a16:creationId xmlns:a16="http://schemas.microsoft.com/office/drawing/2014/main" id="{4E461864-D327-0FEA-4771-16822F54DB66}"/>
              </a:ext>
            </a:extLst>
          </p:cNvPr>
          <p:cNvSpPr/>
          <p:nvPr/>
        </p:nvSpPr>
        <p:spPr bwMode="auto">
          <a:xfrm rot="16200000">
            <a:off x="7956997" y="650634"/>
            <a:ext cx="428618" cy="19097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rgbClr val="000000"/>
                </a:solidFill>
              </a:rPr>
              <a:t>ER</a:t>
            </a:r>
          </a:p>
        </p:txBody>
      </p:sp>
      <p:cxnSp>
        <p:nvCxnSpPr>
          <p:cNvPr id="140" name="Conector recto 139">
            <a:extLst>
              <a:ext uri="{FF2B5EF4-FFF2-40B4-BE49-F238E27FC236}">
                <a16:creationId xmlns:a16="http://schemas.microsoft.com/office/drawing/2014/main" id="{6364D099-206D-4988-52A7-62DDC16B36AD}"/>
              </a:ext>
            </a:extLst>
          </p:cNvPr>
          <p:cNvCxnSpPr/>
          <p:nvPr/>
        </p:nvCxnSpPr>
        <p:spPr bwMode="auto">
          <a:xfrm>
            <a:off x="4799220" y="1141412"/>
            <a:ext cx="1676400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1" name="Conector recto 140">
            <a:extLst>
              <a:ext uri="{FF2B5EF4-FFF2-40B4-BE49-F238E27FC236}">
                <a16:creationId xmlns:a16="http://schemas.microsoft.com/office/drawing/2014/main" id="{77001CD7-6EA0-CD70-1D5A-B532679BDDB9}"/>
              </a:ext>
            </a:extLst>
          </p:cNvPr>
          <p:cNvCxnSpPr/>
          <p:nvPr/>
        </p:nvCxnSpPr>
        <p:spPr bwMode="auto">
          <a:xfrm>
            <a:off x="4799220" y="684212"/>
            <a:ext cx="1676400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3" name="Conector recto 142">
            <a:extLst>
              <a:ext uri="{FF2B5EF4-FFF2-40B4-BE49-F238E27FC236}">
                <a16:creationId xmlns:a16="http://schemas.microsoft.com/office/drawing/2014/main" id="{A35530FA-8C34-41EE-598A-B509E5D79471}"/>
              </a:ext>
            </a:extLst>
          </p:cNvPr>
          <p:cNvCxnSpPr/>
          <p:nvPr/>
        </p:nvCxnSpPr>
        <p:spPr bwMode="auto">
          <a:xfrm>
            <a:off x="3961020" y="1141412"/>
            <a:ext cx="533400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4" name="Conector recto 143">
            <a:extLst>
              <a:ext uri="{FF2B5EF4-FFF2-40B4-BE49-F238E27FC236}">
                <a16:creationId xmlns:a16="http://schemas.microsoft.com/office/drawing/2014/main" id="{88535106-C522-005A-F0FC-BF56AD918F9B}"/>
              </a:ext>
            </a:extLst>
          </p:cNvPr>
          <p:cNvCxnSpPr/>
          <p:nvPr/>
        </p:nvCxnSpPr>
        <p:spPr bwMode="auto">
          <a:xfrm>
            <a:off x="3961020" y="684212"/>
            <a:ext cx="533400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5" name="CuadroTexto 144">
            <a:extLst>
              <a:ext uri="{FF2B5EF4-FFF2-40B4-BE49-F238E27FC236}">
                <a16:creationId xmlns:a16="http://schemas.microsoft.com/office/drawing/2014/main" id="{9561E54A-7633-1F05-8128-0A16B9C43240}"/>
              </a:ext>
            </a:extLst>
          </p:cNvPr>
          <p:cNvSpPr txBox="1"/>
          <p:nvPr/>
        </p:nvSpPr>
        <p:spPr>
          <a:xfrm>
            <a:off x="5104020" y="1295400"/>
            <a:ext cx="714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OpALU</a:t>
            </a:r>
            <a:endParaRPr lang="es-ES_tradnl" sz="1200" b="1" dirty="0">
              <a:solidFill>
                <a:srgbClr val="FF6600"/>
              </a:solidFill>
            </a:endParaRPr>
          </a:p>
        </p:txBody>
      </p:sp>
      <p:sp>
        <p:nvSpPr>
          <p:cNvPr id="146" name="CuadroTexto 145">
            <a:extLst>
              <a:ext uri="{FF2B5EF4-FFF2-40B4-BE49-F238E27FC236}">
                <a16:creationId xmlns:a16="http://schemas.microsoft.com/office/drawing/2014/main" id="{90C3C5F1-55CC-243E-4521-5F126EEC1E42}"/>
              </a:ext>
            </a:extLst>
          </p:cNvPr>
          <p:cNvSpPr txBox="1"/>
          <p:nvPr/>
        </p:nvSpPr>
        <p:spPr>
          <a:xfrm>
            <a:off x="5104020" y="146661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MxA</a:t>
            </a:r>
            <a:endParaRPr lang="es-ES_tradnl" sz="1200" b="1" dirty="0">
              <a:solidFill>
                <a:srgbClr val="FF6600"/>
              </a:solidFill>
            </a:endParaRPr>
          </a:p>
          <a:p>
            <a:r>
              <a:rPr lang="es-ES_tradnl" sz="1200" b="1" dirty="0" err="1">
                <a:solidFill>
                  <a:srgbClr val="FF6600"/>
                </a:solidFill>
              </a:rPr>
              <a:t>MxB</a:t>
            </a:r>
            <a:endParaRPr lang="es-ES_tradnl" sz="1200" b="1" dirty="0">
              <a:solidFill>
                <a:srgbClr val="FF6600"/>
              </a:solidFill>
            </a:endParaRPr>
          </a:p>
        </p:txBody>
      </p:sp>
      <p:cxnSp>
        <p:nvCxnSpPr>
          <p:cNvPr id="149" name="Conector recto 148">
            <a:extLst>
              <a:ext uri="{FF2B5EF4-FFF2-40B4-BE49-F238E27FC236}">
                <a16:creationId xmlns:a16="http://schemas.microsoft.com/office/drawing/2014/main" id="{A71A1A83-8CC7-E030-3A8F-A1AABB0772AD}"/>
              </a:ext>
            </a:extLst>
          </p:cNvPr>
          <p:cNvCxnSpPr/>
          <p:nvPr/>
        </p:nvCxnSpPr>
        <p:spPr bwMode="auto">
          <a:xfrm>
            <a:off x="6780420" y="1217612"/>
            <a:ext cx="381000" cy="1588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1" name="CuadroTexto 150">
            <a:extLst>
              <a:ext uri="{FF2B5EF4-FFF2-40B4-BE49-F238E27FC236}">
                <a16:creationId xmlns:a16="http://schemas.microsoft.com/office/drawing/2014/main" id="{42C286D7-5CD1-2C3B-105C-5E5AC876824A}"/>
              </a:ext>
            </a:extLst>
          </p:cNvPr>
          <p:cNvSpPr txBox="1"/>
          <p:nvPr/>
        </p:nvSpPr>
        <p:spPr>
          <a:xfrm rot="16200000">
            <a:off x="6936883" y="1546149"/>
            <a:ext cx="629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>
                <a:solidFill>
                  <a:srgbClr val="FF6600"/>
                </a:solidFill>
              </a:rPr>
              <a:t>LMem</a:t>
            </a:r>
          </a:p>
        </p:txBody>
      </p:sp>
      <p:sp>
        <p:nvSpPr>
          <p:cNvPr id="152" name="CuadroTexto 151">
            <a:extLst>
              <a:ext uri="{FF2B5EF4-FFF2-40B4-BE49-F238E27FC236}">
                <a16:creationId xmlns:a16="http://schemas.microsoft.com/office/drawing/2014/main" id="{574E8DB1-A8CB-BE67-03C5-FDFE1B240F95}"/>
              </a:ext>
            </a:extLst>
          </p:cNvPr>
          <p:cNvSpPr txBox="1"/>
          <p:nvPr/>
        </p:nvSpPr>
        <p:spPr>
          <a:xfrm rot="16200000">
            <a:off x="7389763" y="1931470"/>
            <a:ext cx="637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EMem</a:t>
            </a:r>
            <a:endParaRPr lang="es-ES_tradnl" sz="1200" b="1" dirty="0">
              <a:solidFill>
                <a:srgbClr val="FF6600"/>
              </a:solidFill>
            </a:endParaRPr>
          </a:p>
        </p:txBody>
      </p:sp>
      <p:cxnSp>
        <p:nvCxnSpPr>
          <p:cNvPr id="153" name="Conector recto 152">
            <a:extLst>
              <a:ext uri="{FF2B5EF4-FFF2-40B4-BE49-F238E27FC236}">
                <a16:creationId xmlns:a16="http://schemas.microsoft.com/office/drawing/2014/main" id="{B3B9EA36-B468-8719-5B29-A87981DADE6E}"/>
              </a:ext>
            </a:extLst>
          </p:cNvPr>
          <p:cNvCxnSpPr>
            <a:cxnSpLocks/>
          </p:cNvCxnSpPr>
          <p:nvPr/>
        </p:nvCxnSpPr>
        <p:spPr bwMode="auto">
          <a:xfrm>
            <a:off x="8313908" y="742018"/>
            <a:ext cx="409612" cy="0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4" name="CuadroTexto 153">
            <a:extLst>
              <a:ext uri="{FF2B5EF4-FFF2-40B4-BE49-F238E27FC236}">
                <a16:creationId xmlns:a16="http://schemas.microsoft.com/office/drawing/2014/main" id="{1A0B6A00-DB15-AC82-686C-DEDCEC8BCDF8}"/>
              </a:ext>
            </a:extLst>
          </p:cNvPr>
          <p:cNvSpPr txBox="1"/>
          <p:nvPr/>
        </p:nvSpPr>
        <p:spPr>
          <a:xfrm rot="16200000">
            <a:off x="8469412" y="1461421"/>
            <a:ext cx="612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>
                <a:solidFill>
                  <a:srgbClr val="FF6600"/>
                </a:solidFill>
              </a:rPr>
              <a:t>MxER</a:t>
            </a:r>
          </a:p>
        </p:txBody>
      </p:sp>
      <p:cxnSp>
        <p:nvCxnSpPr>
          <p:cNvPr id="157" name="Conector recto 156">
            <a:extLst>
              <a:ext uri="{FF2B5EF4-FFF2-40B4-BE49-F238E27FC236}">
                <a16:creationId xmlns:a16="http://schemas.microsoft.com/office/drawing/2014/main" id="{A69903A5-7BD7-3BF2-BBB2-218C89EE3434}"/>
              </a:ext>
            </a:extLst>
          </p:cNvPr>
          <p:cNvCxnSpPr>
            <a:cxnSpLocks/>
          </p:cNvCxnSpPr>
          <p:nvPr/>
        </p:nvCxnSpPr>
        <p:spPr bwMode="auto">
          <a:xfrm>
            <a:off x="6780420" y="3733800"/>
            <a:ext cx="1219200" cy="0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8" name="Rectángulo 157">
            <a:extLst>
              <a:ext uri="{FF2B5EF4-FFF2-40B4-BE49-F238E27FC236}">
                <a16:creationId xmlns:a16="http://schemas.microsoft.com/office/drawing/2014/main" id="{83B09858-3683-7317-E36C-06EADD3C0C20}"/>
              </a:ext>
            </a:extLst>
          </p:cNvPr>
          <p:cNvSpPr/>
          <p:nvPr/>
        </p:nvSpPr>
        <p:spPr bwMode="auto">
          <a:xfrm rot="16200000">
            <a:off x="1984053" y="2631714"/>
            <a:ext cx="609601" cy="219193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dirty="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159" name="Rectángulo 158">
            <a:extLst>
              <a:ext uri="{FF2B5EF4-FFF2-40B4-BE49-F238E27FC236}">
                <a16:creationId xmlns:a16="http://schemas.microsoft.com/office/drawing/2014/main" id="{7953EA59-8B77-F08F-1282-85A7EAACF62F}"/>
              </a:ext>
            </a:extLst>
          </p:cNvPr>
          <p:cNvSpPr/>
          <p:nvPr/>
        </p:nvSpPr>
        <p:spPr bwMode="auto">
          <a:xfrm rot="16200000">
            <a:off x="4341547" y="2671135"/>
            <a:ext cx="609601" cy="228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dirty="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163" name="Rectángulo 162">
            <a:extLst>
              <a:ext uri="{FF2B5EF4-FFF2-40B4-BE49-F238E27FC236}">
                <a16:creationId xmlns:a16="http://schemas.microsoft.com/office/drawing/2014/main" id="{9CCD66C6-C385-4E33-CC3F-EF177D9ACA94}"/>
              </a:ext>
            </a:extLst>
          </p:cNvPr>
          <p:cNvSpPr/>
          <p:nvPr/>
        </p:nvSpPr>
        <p:spPr bwMode="auto">
          <a:xfrm rot="16200000">
            <a:off x="6346813" y="5433416"/>
            <a:ext cx="609601" cy="20117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dirty="0">
                <a:solidFill>
                  <a:srgbClr val="000000"/>
                </a:solidFill>
              </a:rPr>
              <a:t>Cond</a:t>
            </a:r>
            <a:endParaRPr lang="es-ES_tradnl" sz="1100" dirty="0">
              <a:solidFill>
                <a:srgbClr val="000000"/>
              </a:solidFill>
            </a:endParaRPr>
          </a:p>
        </p:txBody>
      </p:sp>
      <p:cxnSp>
        <p:nvCxnSpPr>
          <p:cNvPr id="170" name="Conector recto 169">
            <a:extLst>
              <a:ext uri="{FF2B5EF4-FFF2-40B4-BE49-F238E27FC236}">
                <a16:creationId xmlns:a16="http://schemas.microsoft.com/office/drawing/2014/main" id="{0985E089-3F4F-A8F3-DAD4-1CCBB9A4F4A6}"/>
              </a:ext>
            </a:extLst>
          </p:cNvPr>
          <p:cNvCxnSpPr>
            <a:cxnSpLocks/>
          </p:cNvCxnSpPr>
          <p:nvPr/>
        </p:nvCxnSpPr>
        <p:spPr bwMode="auto">
          <a:xfrm flipH="1">
            <a:off x="6780420" y="5534001"/>
            <a:ext cx="78699" cy="5944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2" name="Conector recto 171">
            <a:extLst>
              <a:ext uri="{FF2B5EF4-FFF2-40B4-BE49-F238E27FC236}">
                <a16:creationId xmlns:a16="http://schemas.microsoft.com/office/drawing/2014/main" id="{836172D2-518C-BF66-60AE-9074DF0ABDB1}"/>
              </a:ext>
            </a:extLst>
          </p:cNvPr>
          <p:cNvCxnSpPr>
            <a:cxnSpLocks/>
          </p:cNvCxnSpPr>
          <p:nvPr/>
        </p:nvCxnSpPr>
        <p:spPr bwMode="auto">
          <a:xfrm>
            <a:off x="650556" y="103338"/>
            <a:ext cx="6192688" cy="13294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3" name="Conector recto 172">
            <a:extLst>
              <a:ext uri="{FF2B5EF4-FFF2-40B4-BE49-F238E27FC236}">
                <a16:creationId xmlns:a16="http://schemas.microsoft.com/office/drawing/2014/main" id="{A2C70568-F7E5-97CF-CED6-A3B5F343746A}"/>
              </a:ext>
            </a:extLst>
          </p:cNvPr>
          <p:cNvCxnSpPr>
            <a:cxnSpLocks/>
          </p:cNvCxnSpPr>
          <p:nvPr/>
        </p:nvCxnSpPr>
        <p:spPr bwMode="auto">
          <a:xfrm>
            <a:off x="650556" y="92075"/>
            <a:ext cx="0" cy="3728489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4" name="Conector recto 173">
            <a:extLst>
              <a:ext uri="{FF2B5EF4-FFF2-40B4-BE49-F238E27FC236}">
                <a16:creationId xmlns:a16="http://schemas.microsoft.com/office/drawing/2014/main" id="{88D73EAA-5BAD-E92E-B406-96CBF1A1E7F2}"/>
              </a:ext>
            </a:extLst>
          </p:cNvPr>
          <p:cNvCxnSpPr/>
          <p:nvPr/>
        </p:nvCxnSpPr>
        <p:spPr bwMode="auto">
          <a:xfrm rot="5400000" flipH="1" flipV="1">
            <a:off x="-306180" y="3732212"/>
            <a:ext cx="2133600" cy="1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5" name="Conector recto 174">
            <a:extLst>
              <a:ext uri="{FF2B5EF4-FFF2-40B4-BE49-F238E27FC236}">
                <a16:creationId xmlns:a16="http://schemas.microsoft.com/office/drawing/2014/main" id="{4B06E7A5-CEDD-D63D-F1B9-D7A3421713E5}"/>
              </a:ext>
            </a:extLst>
          </p:cNvPr>
          <p:cNvCxnSpPr>
            <a:cxnSpLocks/>
          </p:cNvCxnSpPr>
          <p:nvPr/>
        </p:nvCxnSpPr>
        <p:spPr bwMode="auto">
          <a:xfrm>
            <a:off x="734445" y="4791193"/>
            <a:ext cx="645442" cy="0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6" name="Conector recto 175">
            <a:extLst>
              <a:ext uri="{FF2B5EF4-FFF2-40B4-BE49-F238E27FC236}">
                <a16:creationId xmlns:a16="http://schemas.microsoft.com/office/drawing/2014/main" id="{69BE172D-9E6C-254F-2D9A-DB2765D02C3F}"/>
              </a:ext>
            </a:extLst>
          </p:cNvPr>
          <p:cNvCxnSpPr>
            <a:cxnSpLocks/>
          </p:cNvCxnSpPr>
          <p:nvPr/>
        </p:nvCxnSpPr>
        <p:spPr bwMode="auto">
          <a:xfrm>
            <a:off x="1903620" y="2722496"/>
            <a:ext cx="794" cy="2076516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7" name="Conector recto 176">
            <a:extLst>
              <a:ext uri="{FF2B5EF4-FFF2-40B4-BE49-F238E27FC236}">
                <a16:creationId xmlns:a16="http://schemas.microsoft.com/office/drawing/2014/main" id="{32908B9F-D587-2644-B007-D4C3FB9ACC8E}"/>
              </a:ext>
            </a:extLst>
          </p:cNvPr>
          <p:cNvCxnSpPr>
            <a:cxnSpLocks/>
          </p:cNvCxnSpPr>
          <p:nvPr/>
        </p:nvCxnSpPr>
        <p:spPr bwMode="auto">
          <a:xfrm>
            <a:off x="1406021" y="4779726"/>
            <a:ext cx="497127" cy="0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8" name="Conector recto 177">
            <a:extLst>
              <a:ext uri="{FF2B5EF4-FFF2-40B4-BE49-F238E27FC236}">
                <a16:creationId xmlns:a16="http://schemas.microsoft.com/office/drawing/2014/main" id="{718AA22D-F6AB-B6F9-9509-0C7442337E6C}"/>
              </a:ext>
            </a:extLst>
          </p:cNvPr>
          <p:cNvCxnSpPr/>
          <p:nvPr/>
        </p:nvCxnSpPr>
        <p:spPr bwMode="auto">
          <a:xfrm>
            <a:off x="8304420" y="609600"/>
            <a:ext cx="762000" cy="1588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9" name="Conector recto 178">
            <a:extLst>
              <a:ext uri="{FF2B5EF4-FFF2-40B4-BE49-F238E27FC236}">
                <a16:creationId xmlns:a16="http://schemas.microsoft.com/office/drawing/2014/main" id="{A44F2841-DA0E-9919-31A5-7AA866155EA7}"/>
              </a:ext>
            </a:extLst>
          </p:cNvPr>
          <p:cNvCxnSpPr>
            <a:cxnSpLocks/>
          </p:cNvCxnSpPr>
          <p:nvPr/>
        </p:nvCxnSpPr>
        <p:spPr bwMode="auto">
          <a:xfrm flipV="1">
            <a:off x="9064832" y="590550"/>
            <a:ext cx="0" cy="6032500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0" name="Conector recto 179">
            <a:extLst>
              <a:ext uri="{FF2B5EF4-FFF2-40B4-BE49-F238E27FC236}">
                <a16:creationId xmlns:a16="http://schemas.microsoft.com/office/drawing/2014/main" id="{4F4C2A77-A5D5-F3D2-7D52-4E78EA490B18}"/>
              </a:ext>
            </a:extLst>
          </p:cNvPr>
          <p:cNvCxnSpPr>
            <a:cxnSpLocks/>
          </p:cNvCxnSpPr>
          <p:nvPr/>
        </p:nvCxnSpPr>
        <p:spPr bwMode="auto">
          <a:xfrm flipH="1">
            <a:off x="2703247" y="6619875"/>
            <a:ext cx="6381448" cy="24361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1" name="Conector recto 180">
            <a:extLst>
              <a:ext uri="{FF2B5EF4-FFF2-40B4-BE49-F238E27FC236}">
                <a16:creationId xmlns:a16="http://schemas.microsoft.com/office/drawing/2014/main" id="{ACF43DAD-D7D1-B77B-38F4-05458B30E0CE}"/>
              </a:ext>
            </a:extLst>
          </p:cNvPr>
          <p:cNvCxnSpPr>
            <a:cxnSpLocks/>
            <a:endCxn id="46" idx="2"/>
          </p:cNvCxnSpPr>
          <p:nvPr/>
        </p:nvCxnSpPr>
        <p:spPr bwMode="auto">
          <a:xfrm>
            <a:off x="2683386" y="3046657"/>
            <a:ext cx="1007036" cy="0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2" name="CuadroTexto 181">
            <a:extLst>
              <a:ext uri="{FF2B5EF4-FFF2-40B4-BE49-F238E27FC236}">
                <a16:creationId xmlns:a16="http://schemas.microsoft.com/office/drawing/2014/main" id="{93FFDB1F-C8F6-C3FD-5735-66B80CD892C0}"/>
              </a:ext>
            </a:extLst>
          </p:cNvPr>
          <p:cNvSpPr txBox="1"/>
          <p:nvPr/>
        </p:nvSpPr>
        <p:spPr>
          <a:xfrm rot="16200000">
            <a:off x="8687306" y="2146192"/>
            <a:ext cx="5780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>
                <a:solidFill>
                  <a:srgbClr val="FF6600"/>
                </a:solidFill>
              </a:rPr>
              <a:t>EReg</a:t>
            </a:r>
          </a:p>
        </p:txBody>
      </p:sp>
      <p:sp>
        <p:nvSpPr>
          <p:cNvPr id="203" name="CuadroTexto 202">
            <a:extLst>
              <a:ext uri="{FF2B5EF4-FFF2-40B4-BE49-F238E27FC236}">
                <a16:creationId xmlns:a16="http://schemas.microsoft.com/office/drawing/2014/main" id="{C5CCE344-A772-A7D8-83CF-54A257DE72A4}"/>
              </a:ext>
            </a:extLst>
          </p:cNvPr>
          <p:cNvSpPr txBox="1"/>
          <p:nvPr/>
        </p:nvSpPr>
        <p:spPr>
          <a:xfrm rot="5400000">
            <a:off x="4822349" y="1610276"/>
            <a:ext cx="434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. . 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2BF855D-5958-3C0F-A144-6311D42881BD}"/>
              </a:ext>
            </a:extLst>
          </p:cNvPr>
          <p:cNvSpPr txBox="1"/>
          <p:nvPr/>
        </p:nvSpPr>
        <p:spPr>
          <a:xfrm>
            <a:off x="3236327" y="6038626"/>
            <a:ext cx="6992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11..7(</a:t>
            </a:r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rd</a:t>
            </a:r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202" name="CuadroTexto 201">
            <a:extLst>
              <a:ext uri="{FF2B5EF4-FFF2-40B4-BE49-F238E27FC236}">
                <a16:creationId xmlns:a16="http://schemas.microsoft.com/office/drawing/2014/main" id="{BCAA7856-7ACB-087D-ABE2-2AFE1F555DC1}"/>
              </a:ext>
            </a:extLst>
          </p:cNvPr>
          <p:cNvSpPr txBox="1"/>
          <p:nvPr/>
        </p:nvSpPr>
        <p:spPr>
          <a:xfrm>
            <a:off x="2599721" y="1874129"/>
            <a:ext cx="10262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i="1" dirty="0" err="1">
                <a:solidFill>
                  <a:schemeClr val="accent1">
                    <a:lumMod val="75000"/>
                  </a:schemeClr>
                </a:solidFill>
              </a:rPr>
              <a:t>Opcode</a:t>
            </a:r>
            <a:r>
              <a:rPr lang="es-ES_tradnl" sz="1000" i="1" dirty="0">
                <a:solidFill>
                  <a:schemeClr val="accent1">
                    <a:lumMod val="75000"/>
                  </a:schemeClr>
                </a:solidFill>
              </a:rPr>
              <a:t> + </a:t>
            </a:r>
            <a:r>
              <a:rPr lang="es-ES_tradnl" sz="1000" i="1" dirty="0" err="1">
                <a:solidFill>
                  <a:schemeClr val="accent1">
                    <a:lumMod val="75000"/>
                  </a:schemeClr>
                </a:solidFill>
              </a:rPr>
              <a:t>Func</a:t>
            </a:r>
            <a:endParaRPr lang="es-ES_tradnl" sz="10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669CDCC6-0F5E-4FD7-CD8A-686AD965DA45}"/>
              </a:ext>
            </a:extLst>
          </p:cNvPr>
          <p:cNvCxnSpPr>
            <a:cxnSpLocks/>
          </p:cNvCxnSpPr>
          <p:nvPr/>
        </p:nvCxnSpPr>
        <p:spPr bwMode="auto">
          <a:xfrm>
            <a:off x="4952407" y="3578224"/>
            <a:ext cx="0" cy="1614472"/>
          </a:xfrm>
          <a:prstGeom prst="line">
            <a:avLst/>
          </a:prstGeom>
          <a:ln w="38100" cmpd="sng">
            <a:solidFill>
              <a:srgbClr val="B6C6CE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95E47058-5EA8-9FFE-1744-38D066DF89F5}"/>
              </a:ext>
            </a:extLst>
          </p:cNvPr>
          <p:cNvCxnSpPr>
            <a:cxnSpLocks/>
            <a:stCxn id="147" idx="2"/>
          </p:cNvCxnSpPr>
          <p:nvPr/>
        </p:nvCxnSpPr>
        <p:spPr bwMode="auto">
          <a:xfrm>
            <a:off x="5595565" y="4115379"/>
            <a:ext cx="193462" cy="0"/>
          </a:xfrm>
          <a:prstGeom prst="line">
            <a:avLst/>
          </a:prstGeom>
          <a:ln w="38100" cmpd="sng">
            <a:solidFill>
              <a:srgbClr val="B6C6CE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2A8F4A04-F8B3-9E3C-C6D4-D852A809D90E}"/>
              </a:ext>
            </a:extLst>
          </p:cNvPr>
          <p:cNvCxnSpPr>
            <a:cxnSpLocks/>
          </p:cNvCxnSpPr>
          <p:nvPr/>
        </p:nvCxnSpPr>
        <p:spPr bwMode="auto">
          <a:xfrm>
            <a:off x="4807223" y="2720908"/>
            <a:ext cx="220597" cy="0"/>
          </a:xfrm>
          <a:prstGeom prst="line">
            <a:avLst/>
          </a:prstGeom>
          <a:ln w="38100" cmpd="sng">
            <a:solidFill>
              <a:srgbClr val="B6C6CE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554FC1F7-69EF-6563-098B-6D6E543E78EE}"/>
              </a:ext>
            </a:extLst>
          </p:cNvPr>
          <p:cNvCxnSpPr>
            <a:cxnSpLocks/>
          </p:cNvCxnSpPr>
          <p:nvPr/>
        </p:nvCxnSpPr>
        <p:spPr bwMode="auto">
          <a:xfrm flipV="1">
            <a:off x="5006988" y="2720908"/>
            <a:ext cx="0" cy="532672"/>
          </a:xfrm>
          <a:prstGeom prst="line">
            <a:avLst/>
          </a:prstGeom>
          <a:ln w="38100" cmpd="sng">
            <a:solidFill>
              <a:srgbClr val="B6C6CE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EE8C5909-48FA-E2B4-632F-20C058D2CFD0}"/>
              </a:ext>
            </a:extLst>
          </p:cNvPr>
          <p:cNvCxnSpPr>
            <a:cxnSpLocks/>
          </p:cNvCxnSpPr>
          <p:nvPr/>
        </p:nvCxnSpPr>
        <p:spPr bwMode="auto">
          <a:xfrm>
            <a:off x="4799220" y="4077072"/>
            <a:ext cx="567745" cy="0"/>
          </a:xfrm>
          <a:prstGeom prst="line">
            <a:avLst/>
          </a:prstGeom>
          <a:ln w="38100" cmpd="sng">
            <a:solidFill>
              <a:srgbClr val="B6C6CE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Rectángulo 50">
            <a:extLst>
              <a:ext uri="{FF2B5EF4-FFF2-40B4-BE49-F238E27FC236}">
                <a16:creationId xmlns:a16="http://schemas.microsoft.com/office/drawing/2014/main" id="{E3B3F7E9-1837-B85D-0E70-9B7D3C663367}"/>
              </a:ext>
            </a:extLst>
          </p:cNvPr>
          <p:cNvSpPr/>
          <p:nvPr/>
        </p:nvSpPr>
        <p:spPr bwMode="auto">
          <a:xfrm>
            <a:off x="5090700" y="4046009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shade val="50000"/>
                <a:alpha val="30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D9BD0E9D-CB14-457C-5A1A-6F227B3656FC}"/>
              </a:ext>
            </a:extLst>
          </p:cNvPr>
          <p:cNvCxnSpPr>
            <a:cxnSpLocks/>
          </p:cNvCxnSpPr>
          <p:nvPr/>
        </p:nvCxnSpPr>
        <p:spPr bwMode="auto">
          <a:xfrm>
            <a:off x="5123780" y="4941168"/>
            <a:ext cx="1351046" cy="0"/>
          </a:xfrm>
          <a:prstGeom prst="line">
            <a:avLst/>
          </a:prstGeom>
          <a:ln w="38100" cmpd="sng">
            <a:solidFill>
              <a:srgbClr val="B6C6CE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EC9C64FB-6DB3-E218-DB48-80FF7F550892}"/>
              </a:ext>
            </a:extLst>
          </p:cNvPr>
          <p:cNvCxnSpPr>
            <a:cxnSpLocks/>
          </p:cNvCxnSpPr>
          <p:nvPr/>
        </p:nvCxnSpPr>
        <p:spPr bwMode="auto">
          <a:xfrm>
            <a:off x="4990514" y="3246790"/>
            <a:ext cx="376450" cy="0"/>
          </a:xfrm>
          <a:prstGeom prst="line">
            <a:avLst/>
          </a:prstGeom>
          <a:ln w="38100" cmpd="sng">
            <a:solidFill>
              <a:srgbClr val="B6C6CE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6BE992D8-77C7-CBC8-17DD-865D2B2333F5}"/>
              </a:ext>
            </a:extLst>
          </p:cNvPr>
          <p:cNvCxnSpPr>
            <a:cxnSpLocks/>
          </p:cNvCxnSpPr>
          <p:nvPr/>
        </p:nvCxnSpPr>
        <p:spPr bwMode="auto">
          <a:xfrm>
            <a:off x="4798276" y="3579812"/>
            <a:ext cx="568688" cy="0"/>
          </a:xfrm>
          <a:prstGeom prst="line">
            <a:avLst/>
          </a:prstGeom>
          <a:ln w="38100" cmpd="sng">
            <a:solidFill>
              <a:srgbClr val="B6C6CE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3" name="Rectángulo 72">
            <a:extLst>
              <a:ext uri="{FF2B5EF4-FFF2-40B4-BE49-F238E27FC236}">
                <a16:creationId xmlns:a16="http://schemas.microsoft.com/office/drawing/2014/main" id="{79CAECEF-6C75-0C26-53C2-CA89AF5550EF}"/>
              </a:ext>
            </a:extLst>
          </p:cNvPr>
          <p:cNvSpPr/>
          <p:nvPr/>
        </p:nvSpPr>
        <p:spPr bwMode="auto">
          <a:xfrm rot="16200000">
            <a:off x="5157264" y="3295427"/>
            <a:ext cx="643465" cy="228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99" name="Conector recto 98">
            <a:extLst>
              <a:ext uri="{FF2B5EF4-FFF2-40B4-BE49-F238E27FC236}">
                <a16:creationId xmlns:a16="http://schemas.microsoft.com/office/drawing/2014/main" id="{97BAB696-123A-A6D2-E819-C771BB9720CF}"/>
              </a:ext>
            </a:extLst>
          </p:cNvPr>
          <p:cNvCxnSpPr>
            <a:cxnSpLocks/>
          </p:cNvCxnSpPr>
          <p:nvPr/>
        </p:nvCxnSpPr>
        <p:spPr bwMode="auto">
          <a:xfrm>
            <a:off x="5595565" y="3402849"/>
            <a:ext cx="193462" cy="0"/>
          </a:xfrm>
          <a:prstGeom prst="line">
            <a:avLst/>
          </a:prstGeom>
          <a:ln w="38100" cmpd="sng">
            <a:solidFill>
              <a:srgbClr val="B6C6CE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7" name="Rectángulo 116">
            <a:extLst>
              <a:ext uri="{FF2B5EF4-FFF2-40B4-BE49-F238E27FC236}">
                <a16:creationId xmlns:a16="http://schemas.microsoft.com/office/drawing/2014/main" id="{B9AF0598-4D6B-B03A-3EE0-696EFA948248}"/>
              </a:ext>
            </a:extLst>
          </p:cNvPr>
          <p:cNvSpPr/>
          <p:nvPr/>
        </p:nvSpPr>
        <p:spPr bwMode="auto">
          <a:xfrm>
            <a:off x="4920199" y="3544521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shade val="50000"/>
                <a:alpha val="30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118" name="Conector recto 117">
            <a:extLst>
              <a:ext uri="{FF2B5EF4-FFF2-40B4-BE49-F238E27FC236}">
                <a16:creationId xmlns:a16="http://schemas.microsoft.com/office/drawing/2014/main" id="{2EEF0B27-4DAF-3F08-A602-9AA973D193EF}"/>
              </a:ext>
            </a:extLst>
          </p:cNvPr>
          <p:cNvCxnSpPr>
            <a:cxnSpLocks/>
            <a:stCxn id="51" idx="2"/>
          </p:cNvCxnSpPr>
          <p:nvPr/>
        </p:nvCxnSpPr>
        <p:spPr bwMode="auto">
          <a:xfrm>
            <a:off x="5128800" y="4122209"/>
            <a:ext cx="0" cy="1062907"/>
          </a:xfrm>
          <a:prstGeom prst="line">
            <a:avLst/>
          </a:prstGeom>
          <a:ln w="38100" cmpd="sng">
            <a:solidFill>
              <a:srgbClr val="B6C6CE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7" name="Rectángulo 146">
            <a:extLst>
              <a:ext uri="{FF2B5EF4-FFF2-40B4-BE49-F238E27FC236}">
                <a16:creationId xmlns:a16="http://schemas.microsoft.com/office/drawing/2014/main" id="{E8E6292A-CE2B-2CB0-24FD-117889788E98}"/>
              </a:ext>
            </a:extLst>
          </p:cNvPr>
          <p:cNvSpPr/>
          <p:nvPr/>
        </p:nvSpPr>
        <p:spPr bwMode="auto">
          <a:xfrm rot="16200000">
            <a:off x="5159532" y="4001079"/>
            <a:ext cx="643465" cy="228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194" name="Conector recto 193">
            <a:extLst>
              <a:ext uri="{FF2B5EF4-FFF2-40B4-BE49-F238E27FC236}">
                <a16:creationId xmlns:a16="http://schemas.microsoft.com/office/drawing/2014/main" id="{19705D67-6DD1-4BA5-FF72-706594BB7AF0}"/>
              </a:ext>
            </a:extLst>
          </p:cNvPr>
          <p:cNvCxnSpPr>
            <a:cxnSpLocks/>
          </p:cNvCxnSpPr>
          <p:nvPr/>
        </p:nvCxnSpPr>
        <p:spPr bwMode="auto">
          <a:xfrm flipV="1">
            <a:off x="4807223" y="6292868"/>
            <a:ext cx="1668397" cy="2244"/>
          </a:xfrm>
          <a:prstGeom prst="line">
            <a:avLst/>
          </a:prstGeom>
          <a:ln w="38100" cmpd="sng">
            <a:solidFill>
              <a:srgbClr val="B6C6CE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5" name="Conector recto 194">
            <a:extLst>
              <a:ext uri="{FF2B5EF4-FFF2-40B4-BE49-F238E27FC236}">
                <a16:creationId xmlns:a16="http://schemas.microsoft.com/office/drawing/2014/main" id="{BCBC879B-5AD8-2B06-246D-60C6BBDE6DED}"/>
              </a:ext>
            </a:extLst>
          </p:cNvPr>
          <p:cNvCxnSpPr>
            <a:cxnSpLocks/>
          </p:cNvCxnSpPr>
          <p:nvPr/>
        </p:nvCxnSpPr>
        <p:spPr bwMode="auto">
          <a:xfrm>
            <a:off x="2839470" y="6475412"/>
            <a:ext cx="5782449" cy="0"/>
          </a:xfrm>
          <a:prstGeom prst="line">
            <a:avLst/>
          </a:prstGeom>
          <a:ln w="38100" cmpd="sng">
            <a:solidFill>
              <a:srgbClr val="B6C6CE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0" name="Conector recto 199">
            <a:extLst>
              <a:ext uri="{FF2B5EF4-FFF2-40B4-BE49-F238E27FC236}">
                <a16:creationId xmlns:a16="http://schemas.microsoft.com/office/drawing/2014/main" id="{8F4BA02A-44B3-CE2C-160B-93E765D79698}"/>
              </a:ext>
            </a:extLst>
          </p:cNvPr>
          <p:cNvCxnSpPr>
            <a:cxnSpLocks/>
          </p:cNvCxnSpPr>
          <p:nvPr/>
        </p:nvCxnSpPr>
        <p:spPr bwMode="auto">
          <a:xfrm>
            <a:off x="6789006" y="6292868"/>
            <a:ext cx="1209826" cy="0"/>
          </a:xfrm>
          <a:prstGeom prst="line">
            <a:avLst/>
          </a:prstGeom>
          <a:ln w="38100" cmpd="sng">
            <a:solidFill>
              <a:srgbClr val="B6C6CE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1" name="Conector recto 200">
            <a:extLst>
              <a:ext uri="{FF2B5EF4-FFF2-40B4-BE49-F238E27FC236}">
                <a16:creationId xmlns:a16="http://schemas.microsoft.com/office/drawing/2014/main" id="{117A1277-F34B-DCC9-5783-F78872BCFF04}"/>
              </a:ext>
            </a:extLst>
          </p:cNvPr>
          <p:cNvCxnSpPr>
            <a:cxnSpLocks/>
          </p:cNvCxnSpPr>
          <p:nvPr/>
        </p:nvCxnSpPr>
        <p:spPr bwMode="auto">
          <a:xfrm>
            <a:off x="8608426" y="6273818"/>
            <a:ext cx="793" cy="201594"/>
          </a:xfrm>
          <a:prstGeom prst="line">
            <a:avLst/>
          </a:prstGeom>
          <a:ln w="38100" cmpd="sng">
            <a:solidFill>
              <a:srgbClr val="B6C6CE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4" name="Conector recto 203">
            <a:extLst>
              <a:ext uri="{FF2B5EF4-FFF2-40B4-BE49-F238E27FC236}">
                <a16:creationId xmlns:a16="http://schemas.microsoft.com/office/drawing/2014/main" id="{5B157D5E-7AC7-56B3-005F-87C466333D50}"/>
              </a:ext>
            </a:extLst>
          </p:cNvPr>
          <p:cNvCxnSpPr>
            <a:cxnSpLocks/>
          </p:cNvCxnSpPr>
          <p:nvPr/>
        </p:nvCxnSpPr>
        <p:spPr bwMode="auto">
          <a:xfrm>
            <a:off x="8303632" y="6292322"/>
            <a:ext cx="305587" cy="0"/>
          </a:xfrm>
          <a:prstGeom prst="line">
            <a:avLst/>
          </a:prstGeom>
          <a:ln w="38100" cmpd="sng">
            <a:solidFill>
              <a:srgbClr val="B6C6CE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6" name="CuadroTexto 205">
            <a:extLst>
              <a:ext uri="{FF2B5EF4-FFF2-40B4-BE49-F238E27FC236}">
                <a16:creationId xmlns:a16="http://schemas.microsoft.com/office/drawing/2014/main" id="{D8DC6DCA-F7C4-09FE-E81F-15D03B9FCF4F}"/>
              </a:ext>
            </a:extLst>
          </p:cNvPr>
          <p:cNvSpPr txBox="1"/>
          <p:nvPr/>
        </p:nvSpPr>
        <p:spPr>
          <a:xfrm>
            <a:off x="3187068" y="5873965"/>
            <a:ext cx="784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Reg</a:t>
            </a:r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dest</a:t>
            </a:r>
            <a:endParaRPr lang="es-ES_tradnl" sz="11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7" name="Rectángulo 206">
            <a:extLst>
              <a:ext uri="{FF2B5EF4-FFF2-40B4-BE49-F238E27FC236}">
                <a16:creationId xmlns:a16="http://schemas.microsoft.com/office/drawing/2014/main" id="{4035A0CF-6435-756E-CB1C-148531CB1EF4}"/>
              </a:ext>
            </a:extLst>
          </p:cNvPr>
          <p:cNvSpPr/>
          <p:nvPr/>
        </p:nvSpPr>
        <p:spPr bwMode="auto">
          <a:xfrm>
            <a:off x="4893653" y="5206577"/>
            <a:ext cx="1060916" cy="598687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rgbClr val="000000"/>
                </a:solidFill>
              </a:rPr>
              <a:t>Branch</a:t>
            </a:r>
          </a:p>
        </p:txBody>
      </p:sp>
      <p:sp>
        <p:nvSpPr>
          <p:cNvPr id="213" name="Rectángulo 212">
            <a:extLst>
              <a:ext uri="{FF2B5EF4-FFF2-40B4-BE49-F238E27FC236}">
                <a16:creationId xmlns:a16="http://schemas.microsoft.com/office/drawing/2014/main" id="{F2009BEB-6174-C6E0-8060-BDDE1736E90E}"/>
              </a:ext>
            </a:extLst>
          </p:cNvPr>
          <p:cNvSpPr/>
          <p:nvPr/>
        </p:nvSpPr>
        <p:spPr bwMode="auto">
          <a:xfrm rot="16200000">
            <a:off x="4437035" y="6022781"/>
            <a:ext cx="409221" cy="181566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dirty="0" err="1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214" name="Rectángulo 213">
            <a:extLst>
              <a:ext uri="{FF2B5EF4-FFF2-40B4-BE49-F238E27FC236}">
                <a16:creationId xmlns:a16="http://schemas.microsoft.com/office/drawing/2014/main" id="{3C5B5E54-3C1B-523E-A4C1-0DCD252F818E}"/>
              </a:ext>
            </a:extLst>
          </p:cNvPr>
          <p:cNvSpPr/>
          <p:nvPr/>
        </p:nvSpPr>
        <p:spPr bwMode="auto">
          <a:xfrm rot="16200000">
            <a:off x="6450795" y="6054250"/>
            <a:ext cx="409221" cy="181566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dirty="0" err="1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215" name="Rectángulo 214">
            <a:extLst>
              <a:ext uri="{FF2B5EF4-FFF2-40B4-BE49-F238E27FC236}">
                <a16:creationId xmlns:a16="http://schemas.microsoft.com/office/drawing/2014/main" id="{C9E6D561-D13B-BB7C-055B-458593FD0DCF}"/>
              </a:ext>
            </a:extLst>
          </p:cNvPr>
          <p:cNvSpPr/>
          <p:nvPr/>
        </p:nvSpPr>
        <p:spPr bwMode="auto">
          <a:xfrm rot="16200000">
            <a:off x="7980806" y="6072792"/>
            <a:ext cx="409221" cy="181566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dirty="0" err="1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221" name="Rectángulo 220">
            <a:extLst>
              <a:ext uri="{FF2B5EF4-FFF2-40B4-BE49-F238E27FC236}">
                <a16:creationId xmlns:a16="http://schemas.microsoft.com/office/drawing/2014/main" id="{D34757CB-D6AF-53E9-DDA6-FD3F371A9BFE}"/>
              </a:ext>
            </a:extLst>
          </p:cNvPr>
          <p:cNvSpPr/>
          <p:nvPr/>
        </p:nvSpPr>
        <p:spPr bwMode="auto">
          <a:xfrm>
            <a:off x="2564959" y="3463924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shade val="50000"/>
                <a:alpha val="30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22" name="Rectángulo 221">
            <a:extLst>
              <a:ext uri="{FF2B5EF4-FFF2-40B4-BE49-F238E27FC236}">
                <a16:creationId xmlns:a16="http://schemas.microsoft.com/office/drawing/2014/main" id="{DFF5354B-91F6-611E-A670-12D9A37B0BF3}"/>
              </a:ext>
            </a:extLst>
          </p:cNvPr>
          <p:cNvSpPr/>
          <p:nvPr/>
        </p:nvSpPr>
        <p:spPr bwMode="auto">
          <a:xfrm>
            <a:off x="2567909" y="3844924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shade val="50000"/>
                <a:alpha val="30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226" name="Conector recto 225">
            <a:extLst>
              <a:ext uri="{FF2B5EF4-FFF2-40B4-BE49-F238E27FC236}">
                <a16:creationId xmlns:a16="http://schemas.microsoft.com/office/drawing/2014/main" id="{4D846361-10BC-72F5-5921-340CF9B012D9}"/>
              </a:ext>
            </a:extLst>
          </p:cNvPr>
          <p:cNvCxnSpPr>
            <a:cxnSpLocks/>
          </p:cNvCxnSpPr>
          <p:nvPr/>
        </p:nvCxnSpPr>
        <p:spPr bwMode="auto">
          <a:xfrm>
            <a:off x="6780420" y="4958174"/>
            <a:ext cx="228600" cy="0"/>
          </a:xfrm>
          <a:prstGeom prst="line">
            <a:avLst/>
          </a:prstGeom>
          <a:ln w="38100" cmpd="sng">
            <a:solidFill>
              <a:srgbClr val="B6C6CE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7" name="Conector recto 226">
            <a:extLst>
              <a:ext uri="{FF2B5EF4-FFF2-40B4-BE49-F238E27FC236}">
                <a16:creationId xmlns:a16="http://schemas.microsoft.com/office/drawing/2014/main" id="{F78FE9A0-1ADF-6A13-5CD7-3BB3EB801A30}"/>
              </a:ext>
            </a:extLst>
          </p:cNvPr>
          <p:cNvCxnSpPr>
            <a:cxnSpLocks/>
            <a:stCxn id="148" idx="0"/>
          </p:cNvCxnSpPr>
          <p:nvPr/>
        </p:nvCxnSpPr>
        <p:spPr bwMode="auto">
          <a:xfrm flipV="1">
            <a:off x="7390019" y="219075"/>
            <a:ext cx="10021" cy="3475036"/>
          </a:xfrm>
          <a:prstGeom prst="line">
            <a:avLst/>
          </a:prstGeom>
          <a:ln w="38100" cmpd="sng">
            <a:solidFill>
              <a:srgbClr val="B6C6CE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9" name="Conector recto 228">
            <a:extLst>
              <a:ext uri="{FF2B5EF4-FFF2-40B4-BE49-F238E27FC236}">
                <a16:creationId xmlns:a16="http://schemas.microsoft.com/office/drawing/2014/main" id="{2D3D5662-CB2C-64A8-28E0-815935A217F4}"/>
              </a:ext>
            </a:extLst>
          </p:cNvPr>
          <p:cNvCxnSpPr>
            <a:cxnSpLocks/>
          </p:cNvCxnSpPr>
          <p:nvPr/>
        </p:nvCxnSpPr>
        <p:spPr bwMode="auto">
          <a:xfrm flipV="1">
            <a:off x="1751220" y="219075"/>
            <a:ext cx="5648820" cy="9525"/>
          </a:xfrm>
          <a:prstGeom prst="line">
            <a:avLst/>
          </a:prstGeom>
          <a:ln w="38100" cmpd="sng">
            <a:solidFill>
              <a:srgbClr val="B6C6CE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0" name="Conector recto 149">
            <a:extLst>
              <a:ext uri="{FF2B5EF4-FFF2-40B4-BE49-F238E27FC236}">
                <a16:creationId xmlns:a16="http://schemas.microsoft.com/office/drawing/2014/main" id="{5B49F5D0-5795-9185-DFBC-0E84ED95720E}"/>
              </a:ext>
            </a:extLst>
          </p:cNvPr>
          <p:cNvCxnSpPr/>
          <p:nvPr/>
        </p:nvCxnSpPr>
        <p:spPr bwMode="auto">
          <a:xfrm>
            <a:off x="6780420" y="1065212"/>
            <a:ext cx="838200" cy="1588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2" name="Conector recto 141">
            <a:extLst>
              <a:ext uri="{FF2B5EF4-FFF2-40B4-BE49-F238E27FC236}">
                <a16:creationId xmlns:a16="http://schemas.microsoft.com/office/drawing/2014/main" id="{67DE8780-CDA5-6F6F-C57C-B8E835E89910}"/>
              </a:ext>
            </a:extLst>
          </p:cNvPr>
          <p:cNvCxnSpPr/>
          <p:nvPr/>
        </p:nvCxnSpPr>
        <p:spPr bwMode="auto">
          <a:xfrm>
            <a:off x="6780420" y="684212"/>
            <a:ext cx="1219200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1" name="Conector recto 170">
            <a:extLst>
              <a:ext uri="{FF2B5EF4-FFF2-40B4-BE49-F238E27FC236}">
                <a16:creationId xmlns:a16="http://schemas.microsoft.com/office/drawing/2014/main" id="{46985C7E-D9CB-7EE6-B210-820EC97B28F4}"/>
              </a:ext>
            </a:extLst>
          </p:cNvPr>
          <p:cNvCxnSpPr>
            <a:cxnSpLocks/>
          </p:cNvCxnSpPr>
          <p:nvPr/>
        </p:nvCxnSpPr>
        <p:spPr bwMode="auto">
          <a:xfrm flipV="1">
            <a:off x="6843244" y="98425"/>
            <a:ext cx="0" cy="5441520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6" name="Conector recto 155">
            <a:extLst>
              <a:ext uri="{FF2B5EF4-FFF2-40B4-BE49-F238E27FC236}">
                <a16:creationId xmlns:a16="http://schemas.microsoft.com/office/drawing/2014/main" id="{F20EC48A-4738-546F-AB1B-FC5580929701}"/>
              </a:ext>
            </a:extLst>
          </p:cNvPr>
          <p:cNvCxnSpPr>
            <a:cxnSpLocks/>
          </p:cNvCxnSpPr>
          <p:nvPr/>
        </p:nvCxnSpPr>
        <p:spPr bwMode="auto">
          <a:xfrm>
            <a:off x="7618620" y="1046162"/>
            <a:ext cx="0" cy="3219450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5" name="Conector recto 154">
            <a:extLst>
              <a:ext uri="{FF2B5EF4-FFF2-40B4-BE49-F238E27FC236}">
                <a16:creationId xmlns:a16="http://schemas.microsoft.com/office/drawing/2014/main" id="{B17C111E-AF38-6EC2-0BA6-4B755B0CC722}"/>
              </a:ext>
            </a:extLst>
          </p:cNvPr>
          <p:cNvCxnSpPr>
            <a:cxnSpLocks/>
          </p:cNvCxnSpPr>
          <p:nvPr/>
        </p:nvCxnSpPr>
        <p:spPr bwMode="auto">
          <a:xfrm>
            <a:off x="7161420" y="1198562"/>
            <a:ext cx="0" cy="3067050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67E69D4C-A7FE-0FA9-00CF-83A37AA09476}"/>
              </a:ext>
            </a:extLst>
          </p:cNvPr>
          <p:cNvSpPr txBox="1"/>
          <p:nvPr/>
        </p:nvSpPr>
        <p:spPr>
          <a:xfrm>
            <a:off x="5259068" y="4581128"/>
            <a:ext cx="482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MxB</a:t>
            </a:r>
            <a:endParaRPr lang="es-ES_tradnl" sz="1200" b="1" dirty="0">
              <a:solidFill>
                <a:srgbClr val="FF6600"/>
              </a:solidFill>
            </a:endParaRPr>
          </a:p>
        </p:txBody>
      </p: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A8ADF1CE-B0C0-3750-9EBB-16A974E0A079}"/>
              </a:ext>
            </a:extLst>
          </p:cNvPr>
          <p:cNvCxnSpPr/>
          <p:nvPr/>
        </p:nvCxnSpPr>
        <p:spPr bwMode="auto">
          <a:xfrm rot="5400000" flipH="1" flipV="1">
            <a:off x="5360792" y="4549824"/>
            <a:ext cx="227012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E57E5054-03B0-5791-51F0-C38EF46F86AA}"/>
              </a:ext>
            </a:extLst>
          </p:cNvPr>
          <p:cNvSpPr txBox="1"/>
          <p:nvPr/>
        </p:nvSpPr>
        <p:spPr>
          <a:xfrm>
            <a:off x="5696562" y="4313792"/>
            <a:ext cx="714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OpALU</a:t>
            </a:r>
            <a:endParaRPr lang="es-ES_tradnl" sz="1200" b="1" dirty="0">
              <a:solidFill>
                <a:srgbClr val="FF6600"/>
              </a:solidFill>
            </a:endParaRPr>
          </a:p>
        </p:txBody>
      </p:sp>
      <p:sp>
        <p:nvSpPr>
          <p:cNvPr id="231" name="CuadroTexto 230">
            <a:extLst>
              <a:ext uri="{FF2B5EF4-FFF2-40B4-BE49-F238E27FC236}">
                <a16:creationId xmlns:a16="http://schemas.microsoft.com/office/drawing/2014/main" id="{C85218D9-16CE-E91F-51C3-8C5B7DFC5286}"/>
              </a:ext>
            </a:extLst>
          </p:cNvPr>
          <p:cNvSpPr txBox="1"/>
          <p:nvPr/>
        </p:nvSpPr>
        <p:spPr>
          <a:xfrm>
            <a:off x="5224848" y="2578913"/>
            <a:ext cx="484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MxA</a:t>
            </a:r>
            <a:endParaRPr lang="es-ES_tradnl" sz="1200" b="1" dirty="0">
              <a:solidFill>
                <a:srgbClr val="FF6600"/>
              </a:solidFill>
            </a:endParaRPr>
          </a:p>
        </p:txBody>
      </p:sp>
      <p:cxnSp>
        <p:nvCxnSpPr>
          <p:cNvPr id="232" name="Conector recto 231">
            <a:extLst>
              <a:ext uri="{FF2B5EF4-FFF2-40B4-BE49-F238E27FC236}">
                <a16:creationId xmlns:a16="http://schemas.microsoft.com/office/drawing/2014/main" id="{0188D031-0A14-A9CE-21C8-D2F024EFF320}"/>
              </a:ext>
            </a:extLst>
          </p:cNvPr>
          <p:cNvCxnSpPr>
            <a:cxnSpLocks/>
            <a:endCxn id="73" idx="3"/>
          </p:cNvCxnSpPr>
          <p:nvPr/>
        </p:nvCxnSpPr>
        <p:spPr bwMode="auto">
          <a:xfrm>
            <a:off x="5478997" y="2838978"/>
            <a:ext cx="0" cy="249017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Rectángulo 26">
            <a:extLst>
              <a:ext uri="{FF2B5EF4-FFF2-40B4-BE49-F238E27FC236}">
                <a16:creationId xmlns:a16="http://schemas.microsoft.com/office/drawing/2014/main" id="{F4A20BE8-8000-6323-0874-092F147BB99C}"/>
              </a:ext>
            </a:extLst>
          </p:cNvPr>
          <p:cNvSpPr/>
          <p:nvPr/>
        </p:nvSpPr>
        <p:spPr bwMode="auto">
          <a:xfrm>
            <a:off x="3236327" y="3317347"/>
            <a:ext cx="913134" cy="1371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rgbClr val="000000"/>
                </a:solidFill>
              </a:rPr>
              <a:t>Banco de Registros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B4A5F25C-A917-AF0F-0EDD-78E3B4DA625B}"/>
              </a:ext>
            </a:extLst>
          </p:cNvPr>
          <p:cNvCxnSpPr>
            <a:cxnSpLocks/>
          </p:cNvCxnSpPr>
          <p:nvPr/>
        </p:nvCxnSpPr>
        <p:spPr bwMode="auto">
          <a:xfrm>
            <a:off x="4149461" y="3579812"/>
            <a:ext cx="344960" cy="0"/>
          </a:xfrm>
          <a:prstGeom prst="line">
            <a:avLst/>
          </a:prstGeom>
          <a:ln w="38100" cmpd="sng">
            <a:solidFill>
              <a:srgbClr val="B6C6CE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BB20DA9F-5420-8E30-6F85-B5482ED78805}"/>
              </a:ext>
            </a:extLst>
          </p:cNvPr>
          <p:cNvCxnSpPr>
            <a:cxnSpLocks/>
          </p:cNvCxnSpPr>
          <p:nvPr/>
        </p:nvCxnSpPr>
        <p:spPr bwMode="auto">
          <a:xfrm>
            <a:off x="4156850" y="4073467"/>
            <a:ext cx="335983" cy="0"/>
          </a:xfrm>
          <a:prstGeom prst="line">
            <a:avLst/>
          </a:prstGeom>
          <a:ln w="38100" cmpd="sng">
            <a:solidFill>
              <a:srgbClr val="B6C6CE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8B57CFD0-E1F0-2339-E055-3EB1C006A5E0}"/>
              </a:ext>
            </a:extLst>
          </p:cNvPr>
          <p:cNvSpPr txBox="1"/>
          <p:nvPr/>
        </p:nvSpPr>
        <p:spPr>
          <a:xfrm>
            <a:off x="5015907" y="5966785"/>
            <a:ext cx="7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TipoInst</a:t>
            </a:r>
            <a:endParaRPr lang="es-ES_tradnl" sz="1200" b="1" dirty="0">
              <a:solidFill>
                <a:srgbClr val="FF6600"/>
              </a:solidFill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1056F42E-86DA-58EF-31C7-9833C4BEC5C1}"/>
              </a:ext>
            </a:extLst>
          </p:cNvPr>
          <p:cNvSpPr txBox="1"/>
          <p:nvPr/>
        </p:nvSpPr>
        <p:spPr>
          <a:xfrm rot="16200000">
            <a:off x="6331771" y="1894188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EX/M</a:t>
            </a:r>
          </a:p>
        </p:txBody>
      </p: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1DF4F64A-DE18-09A1-73C2-C427375477DC}"/>
              </a:ext>
            </a:extLst>
          </p:cNvPr>
          <p:cNvCxnSpPr>
            <a:cxnSpLocks/>
          </p:cNvCxnSpPr>
          <p:nvPr/>
        </p:nvCxnSpPr>
        <p:spPr bwMode="auto">
          <a:xfrm>
            <a:off x="4212633" y="4570412"/>
            <a:ext cx="254347" cy="0"/>
          </a:xfrm>
          <a:prstGeom prst="line">
            <a:avLst/>
          </a:prstGeom>
          <a:ln w="38100" cmpd="sng">
            <a:solidFill>
              <a:srgbClr val="B6C6CE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DDD69CBF-6F49-CB42-B492-603632F0AA62}"/>
              </a:ext>
            </a:extLst>
          </p:cNvPr>
          <p:cNvCxnSpPr>
            <a:cxnSpLocks/>
          </p:cNvCxnSpPr>
          <p:nvPr/>
        </p:nvCxnSpPr>
        <p:spPr bwMode="auto">
          <a:xfrm flipV="1">
            <a:off x="4212633" y="4570412"/>
            <a:ext cx="0" cy="270934"/>
          </a:xfrm>
          <a:prstGeom prst="line">
            <a:avLst/>
          </a:prstGeom>
          <a:ln w="38100" cmpd="sng">
            <a:solidFill>
              <a:srgbClr val="B6C6CE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773BCDC9-FBC3-5C0C-70FA-C688070E796D}"/>
              </a:ext>
            </a:extLst>
          </p:cNvPr>
          <p:cNvCxnSpPr>
            <a:cxnSpLocks/>
          </p:cNvCxnSpPr>
          <p:nvPr/>
        </p:nvCxnSpPr>
        <p:spPr bwMode="auto">
          <a:xfrm flipV="1">
            <a:off x="4755012" y="4376092"/>
            <a:ext cx="606424" cy="6853"/>
          </a:xfrm>
          <a:prstGeom prst="line">
            <a:avLst/>
          </a:prstGeom>
          <a:ln w="38100" cmpd="sng">
            <a:solidFill>
              <a:srgbClr val="B6C6CE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F3C9B0DB-1559-D93D-3835-769F80CE0B64}"/>
              </a:ext>
            </a:extLst>
          </p:cNvPr>
          <p:cNvCxnSpPr>
            <a:cxnSpLocks/>
            <a:stCxn id="207" idx="3"/>
          </p:cNvCxnSpPr>
          <p:nvPr/>
        </p:nvCxnSpPr>
        <p:spPr bwMode="auto">
          <a:xfrm>
            <a:off x="5954569" y="5505921"/>
            <a:ext cx="518074" cy="0"/>
          </a:xfrm>
          <a:prstGeom prst="line">
            <a:avLst/>
          </a:prstGeom>
          <a:ln w="38100" cmpd="sng">
            <a:solidFill>
              <a:srgbClr val="FFC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B90165A-5A85-C995-D326-B5C366DCBF43}"/>
              </a:ext>
            </a:extLst>
          </p:cNvPr>
          <p:cNvSpPr/>
          <p:nvPr/>
        </p:nvSpPr>
        <p:spPr bwMode="auto">
          <a:xfrm>
            <a:off x="5104021" y="4891717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shade val="50000"/>
                <a:alpha val="30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7" name="Rectángulo 126">
            <a:extLst>
              <a:ext uri="{FF2B5EF4-FFF2-40B4-BE49-F238E27FC236}">
                <a16:creationId xmlns:a16="http://schemas.microsoft.com/office/drawing/2014/main" id="{8B4AE715-1CF7-3F5C-819D-C885AA9C3DA6}"/>
              </a:ext>
            </a:extLst>
          </p:cNvPr>
          <p:cNvSpPr/>
          <p:nvPr/>
        </p:nvSpPr>
        <p:spPr bwMode="auto">
          <a:xfrm>
            <a:off x="1339701" y="4753876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shade val="50000"/>
                <a:alpha val="30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8" name="Rectángulo 127">
            <a:extLst>
              <a:ext uri="{FF2B5EF4-FFF2-40B4-BE49-F238E27FC236}">
                <a16:creationId xmlns:a16="http://schemas.microsoft.com/office/drawing/2014/main" id="{44BE5C23-F622-2C0C-D2BD-B7A6F0716C82}"/>
              </a:ext>
            </a:extLst>
          </p:cNvPr>
          <p:cNvSpPr/>
          <p:nvPr/>
        </p:nvSpPr>
        <p:spPr bwMode="auto">
          <a:xfrm>
            <a:off x="2557999" y="5109475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shade val="50000"/>
                <a:alpha val="30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8" name="Rectángulo 147">
            <a:extLst>
              <a:ext uri="{FF2B5EF4-FFF2-40B4-BE49-F238E27FC236}">
                <a16:creationId xmlns:a16="http://schemas.microsoft.com/office/drawing/2014/main" id="{C80E82C8-EA4E-BEF3-656D-380EEAF70862}"/>
              </a:ext>
            </a:extLst>
          </p:cNvPr>
          <p:cNvSpPr/>
          <p:nvPr/>
        </p:nvSpPr>
        <p:spPr bwMode="auto">
          <a:xfrm>
            <a:off x="7351919" y="3694111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shade val="50000"/>
                <a:alpha val="30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160" name="Conector recto 159">
            <a:extLst>
              <a:ext uri="{FF2B5EF4-FFF2-40B4-BE49-F238E27FC236}">
                <a16:creationId xmlns:a16="http://schemas.microsoft.com/office/drawing/2014/main" id="{17480108-F044-A530-B6AB-C9A2C6D6DFA1}"/>
              </a:ext>
            </a:extLst>
          </p:cNvPr>
          <p:cNvCxnSpPr>
            <a:cxnSpLocks/>
            <a:endCxn id="207" idx="2"/>
          </p:cNvCxnSpPr>
          <p:nvPr/>
        </p:nvCxnSpPr>
        <p:spPr bwMode="auto">
          <a:xfrm flipV="1">
            <a:off x="5424111" y="5805264"/>
            <a:ext cx="0" cy="216024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41652977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Representación Gráfica de la Segmentación</a:t>
            </a:r>
          </a:p>
        </p:txBody>
      </p:sp>
      <p:sp>
        <p:nvSpPr>
          <p:cNvPr id="61442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E5B0E-083B-DA41-8351-73B66EC1BDF2}" type="slidenum">
              <a:rPr lang="en-US" smtClean="0"/>
              <a:pPr/>
              <a:t>34</a:t>
            </a:fld>
            <a:endParaRPr lang="en-US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2549852" y="2203450"/>
            <a:ext cx="6172200" cy="2278063"/>
            <a:chOff x="192" y="2064"/>
            <a:chExt cx="3888" cy="1435"/>
          </a:xfrm>
        </p:grpSpPr>
        <p:sp>
          <p:nvSpPr>
            <p:cNvPr id="61455" name="Text Box 7"/>
            <p:cNvSpPr txBox="1">
              <a:spLocks noChangeArrowheads="1"/>
            </p:cNvSpPr>
            <p:nvPr/>
          </p:nvSpPr>
          <p:spPr bwMode="auto">
            <a:xfrm>
              <a:off x="192" y="2064"/>
              <a:ext cx="3879" cy="143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l" eaLnBrk="0" hangingPunct="0">
                <a:tabLst>
                  <a:tab pos="1998663" algn="l"/>
                  <a:tab pos="2476500" algn="l"/>
                  <a:tab pos="2951163" algn="l"/>
                  <a:tab pos="3427413" algn="l"/>
                  <a:tab pos="3903663" algn="l"/>
                  <a:tab pos="4379913" algn="l"/>
                  <a:tab pos="4856163" algn="l"/>
                  <a:tab pos="5332413" algn="l"/>
                  <a:tab pos="5808663" algn="l"/>
                  <a:tab pos="6284913" algn="l"/>
                  <a:tab pos="6761163" algn="l"/>
                </a:tabLst>
              </a:pPr>
              <a:r>
                <a:rPr lang="es-ES_tradnl" dirty="0" err="1"/>
                <a:t>Inst</a:t>
              </a:r>
              <a:r>
                <a:rPr lang="es-ES_tradnl" dirty="0"/>
                <a:t>	</a:t>
              </a:r>
              <a:r>
                <a:rPr lang="es-ES_tradnl" dirty="0">
                  <a:latin typeface="Arial Narrow" pitchFamily="-84" charset="0"/>
                </a:rPr>
                <a:t>1	2	3	4	5	6	7	8	9</a:t>
              </a:r>
            </a:p>
            <a:p>
              <a:pPr algn="l" eaLnBrk="0" hangingPunct="0">
                <a:lnSpc>
                  <a:spcPct val="140000"/>
                </a:lnSpc>
                <a:tabLst>
                  <a:tab pos="1998663" algn="l"/>
                  <a:tab pos="2476500" algn="l"/>
                  <a:tab pos="2951163" algn="l"/>
                  <a:tab pos="3427413" algn="l"/>
                  <a:tab pos="3903663" algn="l"/>
                  <a:tab pos="4379913" algn="l"/>
                  <a:tab pos="4856163" algn="l"/>
                  <a:tab pos="5332413" algn="l"/>
                  <a:tab pos="5808663" algn="l"/>
                  <a:tab pos="6284913" algn="l"/>
                  <a:tab pos="6761163" algn="l"/>
                </a:tabLst>
              </a:pPr>
              <a:r>
                <a:rPr lang="es-ES_tradnl" dirty="0" err="1">
                  <a:solidFill>
                    <a:schemeClr val="tx1"/>
                  </a:solidFill>
                  <a:latin typeface="Courier New" pitchFamily="-84" charset="0"/>
                </a:rPr>
                <a:t>lw</a:t>
              </a:r>
              <a:r>
                <a:rPr lang="es-ES_tradnl" dirty="0">
                  <a:solidFill>
                    <a:schemeClr val="tx1"/>
                  </a:solidFill>
                  <a:latin typeface="Courier New" pitchFamily="-84" charset="0"/>
                </a:rPr>
                <a:t> t1,a </a:t>
              </a:r>
              <a:r>
                <a:rPr lang="es-ES_tradnl" dirty="0">
                  <a:solidFill>
                    <a:schemeClr val="tx1"/>
                  </a:solidFill>
                </a:rPr>
                <a:t>	</a:t>
              </a:r>
              <a:r>
                <a:rPr lang="es-ES_tradnl" dirty="0">
                  <a:solidFill>
                    <a:schemeClr val="tx1"/>
                  </a:solidFill>
                  <a:latin typeface="Arial Narrow" pitchFamily="-84" charset="0"/>
                </a:rPr>
                <a:t>LI	DI	EX	M	ER</a:t>
              </a:r>
            </a:p>
            <a:p>
              <a:pPr algn="l" eaLnBrk="0" hangingPunct="0">
                <a:tabLst>
                  <a:tab pos="1998663" algn="l"/>
                  <a:tab pos="2476500" algn="l"/>
                  <a:tab pos="2951163" algn="l"/>
                  <a:tab pos="3427413" algn="l"/>
                  <a:tab pos="3903663" algn="l"/>
                  <a:tab pos="4379913" algn="l"/>
                  <a:tab pos="4856163" algn="l"/>
                  <a:tab pos="5332413" algn="l"/>
                  <a:tab pos="5808663" algn="l"/>
                  <a:tab pos="6284913" algn="l"/>
                  <a:tab pos="6761163" algn="l"/>
                </a:tabLst>
              </a:pPr>
              <a:r>
                <a:rPr lang="es-ES_tradnl" dirty="0" err="1">
                  <a:solidFill>
                    <a:schemeClr val="tx1"/>
                  </a:solidFill>
                  <a:latin typeface="Courier New" pitchFamily="-84" charset="0"/>
                </a:rPr>
                <a:t>add</a:t>
              </a:r>
              <a:r>
                <a:rPr lang="es-ES_tradnl" dirty="0">
                  <a:solidFill>
                    <a:schemeClr val="tx1"/>
                  </a:solidFill>
                  <a:latin typeface="Courier New" pitchFamily="-84" charset="0"/>
                </a:rPr>
                <a:t> t3,t2,t0</a:t>
              </a:r>
              <a:r>
                <a:rPr lang="es-ES_tradnl" dirty="0">
                  <a:solidFill>
                    <a:schemeClr val="tx1"/>
                  </a:solidFill>
                </a:rPr>
                <a:t> 		</a:t>
              </a:r>
              <a:r>
                <a:rPr lang="es-ES_tradnl" dirty="0">
                  <a:solidFill>
                    <a:schemeClr val="tx1"/>
                  </a:solidFill>
                  <a:latin typeface="Arial Narrow" pitchFamily="-84" charset="0"/>
                </a:rPr>
                <a:t>LI	DI	EX	M	ER</a:t>
              </a:r>
            </a:p>
            <a:p>
              <a:pPr algn="l" eaLnBrk="0" hangingPunct="0">
                <a:tabLst>
                  <a:tab pos="1998663" algn="l"/>
                  <a:tab pos="2476500" algn="l"/>
                  <a:tab pos="2951163" algn="l"/>
                  <a:tab pos="3427413" algn="l"/>
                  <a:tab pos="3903663" algn="l"/>
                  <a:tab pos="4379913" algn="l"/>
                  <a:tab pos="4856163" algn="l"/>
                  <a:tab pos="5332413" algn="l"/>
                  <a:tab pos="5808663" algn="l"/>
                  <a:tab pos="6284913" algn="l"/>
                  <a:tab pos="6761163" algn="l"/>
                </a:tabLst>
              </a:pPr>
              <a:r>
                <a:rPr lang="es-ES_tradnl" dirty="0">
                  <a:solidFill>
                    <a:schemeClr val="tx1"/>
                  </a:solidFill>
                  <a:latin typeface="Courier New" pitchFamily="-84" charset="0"/>
                </a:rPr>
                <a:t>sub t4,t2,t0</a:t>
              </a:r>
              <a:r>
                <a:rPr lang="es-ES_tradnl" dirty="0">
                  <a:solidFill>
                    <a:schemeClr val="tx1"/>
                  </a:solidFill>
                </a:rPr>
                <a:t>			</a:t>
              </a:r>
              <a:r>
                <a:rPr lang="es-ES_tradnl" dirty="0">
                  <a:solidFill>
                    <a:schemeClr val="tx1"/>
                  </a:solidFill>
                  <a:latin typeface="Arial Narrow" pitchFamily="-84" charset="0"/>
                </a:rPr>
                <a:t>LI	DI	EX	M	ER</a:t>
              </a:r>
            </a:p>
            <a:p>
              <a:pPr algn="l" eaLnBrk="0" hangingPunct="0">
                <a:tabLst>
                  <a:tab pos="1998663" algn="l"/>
                  <a:tab pos="2476500" algn="l"/>
                  <a:tab pos="2951163" algn="l"/>
                  <a:tab pos="3427413" algn="l"/>
                  <a:tab pos="3903663" algn="l"/>
                  <a:tab pos="4379913" algn="l"/>
                  <a:tab pos="4856163" algn="l"/>
                  <a:tab pos="5332413" algn="l"/>
                  <a:tab pos="5808663" algn="l"/>
                  <a:tab pos="6284913" algn="l"/>
                  <a:tab pos="6761163" algn="l"/>
                </a:tabLst>
              </a:pPr>
              <a:r>
                <a:rPr lang="es-ES_tradnl" dirty="0">
                  <a:solidFill>
                    <a:schemeClr val="tx1"/>
                  </a:solidFill>
                  <a:latin typeface="Courier New" pitchFamily="-84" charset="0"/>
                </a:rPr>
                <a:t>and t5,t2,t0</a:t>
              </a:r>
              <a:r>
                <a:rPr lang="es-ES_tradnl" dirty="0">
                  <a:solidFill>
                    <a:schemeClr val="tx1"/>
                  </a:solidFill>
                </a:rPr>
                <a:t>				</a:t>
              </a:r>
              <a:r>
                <a:rPr lang="es-ES_tradnl" dirty="0">
                  <a:solidFill>
                    <a:schemeClr val="tx1"/>
                  </a:solidFill>
                  <a:latin typeface="Arial Narrow" pitchFamily="-84" charset="0"/>
                </a:rPr>
                <a:t>LI	DI	EX	M	ER</a:t>
              </a:r>
            </a:p>
            <a:p>
              <a:pPr algn="l" eaLnBrk="0" hangingPunct="0">
                <a:tabLst>
                  <a:tab pos="1998663" algn="l"/>
                  <a:tab pos="2476500" algn="l"/>
                  <a:tab pos="2951163" algn="l"/>
                  <a:tab pos="3427413" algn="l"/>
                  <a:tab pos="3903663" algn="l"/>
                  <a:tab pos="4379913" algn="l"/>
                  <a:tab pos="4856163" algn="l"/>
                  <a:tab pos="5332413" algn="l"/>
                  <a:tab pos="5808663" algn="l"/>
                  <a:tab pos="6284913" algn="l"/>
                  <a:tab pos="6761163" algn="l"/>
                </a:tabLst>
              </a:pPr>
              <a:r>
                <a:rPr lang="es-ES_tradnl" dirty="0" err="1">
                  <a:solidFill>
                    <a:schemeClr val="tx1"/>
                  </a:solidFill>
                  <a:latin typeface="Courier New" pitchFamily="-84" charset="0"/>
                </a:rPr>
                <a:t>or</a:t>
              </a:r>
              <a:r>
                <a:rPr lang="es-ES_tradnl" dirty="0">
                  <a:solidFill>
                    <a:schemeClr val="tx1"/>
                  </a:solidFill>
                  <a:latin typeface="Courier New" pitchFamily="-84" charset="0"/>
                </a:rPr>
                <a:t> t6,t2,t0</a:t>
              </a:r>
              <a:r>
                <a:rPr lang="es-ES_tradnl" dirty="0">
                  <a:solidFill>
                    <a:schemeClr val="tx1"/>
                  </a:solidFill>
                </a:rPr>
                <a:t>					</a:t>
              </a:r>
              <a:r>
                <a:rPr lang="es-ES_tradnl" dirty="0">
                  <a:solidFill>
                    <a:schemeClr val="tx1"/>
                  </a:solidFill>
                  <a:latin typeface="Arial Narrow" pitchFamily="-84" charset="0"/>
                </a:rPr>
                <a:t>LI	DI	EX	M	ER</a:t>
              </a:r>
            </a:p>
          </p:txBody>
        </p:sp>
        <p:sp>
          <p:nvSpPr>
            <p:cNvPr id="61456" name="Line 8"/>
            <p:cNvSpPr>
              <a:spLocks noChangeShapeType="1"/>
            </p:cNvSpPr>
            <p:nvPr/>
          </p:nvSpPr>
          <p:spPr bwMode="auto">
            <a:xfrm>
              <a:off x="192" y="2256"/>
              <a:ext cx="38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</p:grpSp>
      <p:sp>
        <p:nvSpPr>
          <p:cNvPr id="61447" name="AutoShape 14"/>
          <p:cNvSpPr>
            <a:spLocks noChangeArrowheads="1"/>
          </p:cNvSpPr>
          <p:nvPr/>
        </p:nvSpPr>
        <p:spPr bwMode="blackWhite">
          <a:xfrm>
            <a:off x="6331631" y="2175229"/>
            <a:ext cx="457200" cy="23622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3300"/>
            </a:solidFill>
            <a:prstDash val="sysDot"/>
            <a:round/>
            <a:headEnd/>
            <a:tailEnd/>
          </a:ln>
        </p:spPr>
        <p:txBody>
          <a:bodyPr wrap="squar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61450" name="Text Box 17"/>
          <p:cNvSpPr txBox="1">
            <a:spLocks noChangeArrowheads="1"/>
          </p:cNvSpPr>
          <p:nvPr/>
        </p:nvSpPr>
        <p:spPr bwMode="blackWhite">
          <a:xfrm>
            <a:off x="381327" y="2918179"/>
            <a:ext cx="2092325" cy="6096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s-ES" dirty="0">
                <a:latin typeface="Arial Narrow" pitchFamily="-84" charset="0"/>
              </a:rPr>
              <a:t>Diagrama </a:t>
            </a:r>
            <a:br>
              <a:rPr lang="es-ES" dirty="0">
                <a:latin typeface="Arial Narrow" pitchFamily="-84" charset="0"/>
              </a:rPr>
            </a:br>
            <a:r>
              <a:rPr lang="es-ES" dirty="0">
                <a:latin typeface="Arial Narrow" pitchFamily="-84" charset="0"/>
              </a:rPr>
              <a:t>instrucciones/tiempo</a:t>
            </a:r>
            <a:endParaRPr lang="ca-ES" dirty="0">
              <a:latin typeface="Arial Narrow" pitchFamily="-84" charset="0"/>
            </a:endParaRPr>
          </a:p>
        </p:txBody>
      </p:sp>
      <p:sp>
        <p:nvSpPr>
          <p:cNvPr id="61452" name="Text Box 19"/>
          <p:cNvSpPr txBox="1">
            <a:spLocks noChangeArrowheads="1"/>
          </p:cNvSpPr>
          <p:nvPr/>
        </p:nvSpPr>
        <p:spPr bwMode="blackWhite">
          <a:xfrm>
            <a:off x="1547664" y="1478756"/>
            <a:ext cx="1341437" cy="48895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80000"/>
              </a:lnSpc>
            </a:pPr>
            <a:r>
              <a:rPr lang="es-ES" b="0" dirty="0">
                <a:solidFill>
                  <a:schemeClr val="tx1"/>
                </a:solidFill>
              </a:rPr>
              <a:t>Situación</a:t>
            </a:r>
            <a:br>
              <a:rPr lang="es-ES" b="0" dirty="0">
                <a:solidFill>
                  <a:schemeClr val="tx1"/>
                </a:solidFill>
              </a:rPr>
            </a:br>
            <a:r>
              <a:rPr lang="es-ES" b="0" dirty="0">
                <a:solidFill>
                  <a:schemeClr val="tx1"/>
                </a:solidFill>
              </a:rPr>
              <a:t>en el ciclo 5</a:t>
            </a:r>
            <a:endParaRPr lang="ca-ES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Prestaciones del Procesador Segmentado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980728"/>
            <a:ext cx="8534400" cy="5256212"/>
          </a:xfrm>
        </p:spPr>
        <p:txBody>
          <a:bodyPr/>
          <a:lstStyle/>
          <a:p>
            <a:r>
              <a:rPr lang="es-ES" dirty="0"/>
              <a:t>Generalidades</a:t>
            </a:r>
          </a:p>
          <a:p>
            <a:pPr lvl="1"/>
            <a:r>
              <a:rPr lang="es-ES" dirty="0"/>
              <a:t>Ecuación del tiempo de ejecución de un programa en un procesador en </a:t>
            </a:r>
            <a:r>
              <a:rPr lang="es-ES" b="1" dirty="0"/>
              <a:t>régimen estacionario </a:t>
            </a:r>
            <a:r>
              <a:rPr lang="es-ES" dirty="0"/>
              <a:t>(no tiene en cuenta el tiempo de llenado de las etapas) :</a:t>
            </a:r>
            <a:br>
              <a:rPr lang="es-ES" dirty="0"/>
            </a:br>
            <a:br>
              <a:rPr lang="es-ES" dirty="0"/>
            </a:br>
            <a:r>
              <a:rPr lang="es-ES" dirty="0"/>
              <a:t>donde:</a:t>
            </a:r>
          </a:p>
          <a:p>
            <a:pPr lvl="2"/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s-ES" dirty="0"/>
              <a:t>: tiempo de ejecución total del programa</a:t>
            </a:r>
          </a:p>
          <a:p>
            <a:pPr lvl="2"/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s-ES" dirty="0"/>
              <a:t>: número de instrucciones que se ejecutan</a:t>
            </a:r>
          </a:p>
          <a:p>
            <a:pPr lvl="2"/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CPI </a:t>
            </a:r>
            <a:r>
              <a:rPr lang="es-ES" dirty="0"/>
              <a:t>: número medio de ciclos por instrucción</a:t>
            </a:r>
          </a:p>
          <a:p>
            <a:pPr lvl="2"/>
            <a:r>
              <a:rPr lang="es-E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s-E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s-E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/>
              <a:t>: tiempo de ciclo del reloj del procesador</a:t>
            </a:r>
          </a:p>
          <a:p>
            <a:pPr lvl="1"/>
            <a:r>
              <a:rPr lang="es-ES" dirty="0"/>
              <a:t>En general, convendrá minimizar los tres factores 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s-ES" dirty="0"/>
              <a:t>, 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CPI</a:t>
            </a:r>
            <a:r>
              <a:rPr lang="es-ES" dirty="0"/>
              <a:t> y 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s-E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 lvl="1"/>
            <a:r>
              <a:rPr lang="es-ES" dirty="0"/>
              <a:t>Nos preocuparemos particularmente de los factores 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s-ES" dirty="0"/>
              <a:t> y 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CPI</a:t>
            </a:r>
            <a:endParaRPr lang="es-ES" dirty="0"/>
          </a:p>
          <a:p>
            <a:pPr lvl="1"/>
            <a:r>
              <a:rPr lang="es-ES" dirty="0"/>
              <a:t>Vamos a particularizar estos conceptos al caso del procesador segmentado</a:t>
            </a:r>
          </a:p>
        </p:txBody>
      </p:sp>
      <p:sp>
        <p:nvSpPr>
          <p:cNvPr id="4099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5A421-2C51-0946-927B-6CD5318170FB}" type="slidenum">
              <a:rPr lang="en-US" smtClean="0"/>
              <a:pPr/>
              <a:t>35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7459" name="Object 3"/>
              <p:cNvSpPr txBox="1"/>
              <p:nvPr/>
            </p:nvSpPr>
            <p:spPr bwMode="auto">
              <a:xfrm>
                <a:off x="3348038" y="2492375"/>
                <a:ext cx="2592114" cy="504577"/>
              </a:xfrm>
              <a:prstGeom prst="rect">
                <a:avLst/>
              </a:prstGeom>
              <a:noFill/>
              <a:ln w="28575">
                <a:solidFill>
                  <a:srgbClr val="FF3300"/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s-E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s-E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s-E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𝐶𝑃𝐼</m:t>
                      </m:r>
                      <m:r>
                        <a:rPr lang="es-E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s-E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s-E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745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48038" y="2492375"/>
                <a:ext cx="2592114" cy="504577"/>
              </a:xfrm>
              <a:prstGeom prst="rect">
                <a:avLst/>
              </a:prstGeom>
              <a:blipFill>
                <a:blip r:embed="rId3"/>
                <a:stretch>
                  <a:fillRect b="-6977"/>
                </a:stretch>
              </a:blipFill>
              <a:ln w="28575">
                <a:solidFill>
                  <a:srgbClr val="FF3300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aralelogramo 91"/>
          <p:cNvSpPr/>
          <p:nvPr/>
        </p:nvSpPr>
        <p:spPr bwMode="auto">
          <a:xfrm flipH="1">
            <a:off x="2743200" y="3599654"/>
            <a:ext cx="5257800" cy="2057400"/>
          </a:xfrm>
          <a:prstGeom prst="parallelogram">
            <a:avLst>
              <a:gd name="adj" fmla="val 141746"/>
            </a:avLst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8250237" cy="762000"/>
          </a:xfrm>
        </p:spPr>
        <p:txBody>
          <a:bodyPr/>
          <a:lstStyle/>
          <a:p>
            <a:r>
              <a:rPr lang="es-ES" dirty="0"/>
              <a:t>Prestaciones del Procesador Segmentado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685800"/>
            <a:ext cx="8686799" cy="6172200"/>
          </a:xfrm>
        </p:spPr>
        <p:txBody>
          <a:bodyPr>
            <a:normAutofit fontScale="92500"/>
          </a:bodyPr>
          <a:lstStyle/>
          <a:p>
            <a:r>
              <a:rPr lang="es-ES" b="1" dirty="0"/>
              <a:t>CPI (Ciclos por Instrucción)</a:t>
            </a:r>
          </a:p>
          <a:p>
            <a:pPr lvl="1"/>
            <a:r>
              <a:rPr lang="es-ES" sz="1800" dirty="0">
                <a:latin typeface="Arial" pitchFamily="-84" charset="0"/>
                <a:ea typeface="ＭＳ Ｐゴシック" pitchFamily="-84" charset="-128"/>
              </a:rPr>
              <a:t>Indice que se utiliza para cuantificar las prestaciones del procesador</a:t>
            </a:r>
          </a:p>
          <a:p>
            <a:pPr lvl="1"/>
            <a:r>
              <a:rPr lang="es-ES" sz="1800" dirty="0">
                <a:latin typeface="Arial" pitchFamily="-84" charset="0"/>
                <a:ea typeface="ＭＳ Ｐゴシック" pitchFamily="-84" charset="-128"/>
              </a:rPr>
              <a:t>Representa el </a:t>
            </a:r>
            <a:r>
              <a:rPr lang="es-ES" sz="1800" b="1" dirty="0">
                <a:latin typeface="Arial" pitchFamily="-84" charset="0"/>
                <a:ea typeface="ＭＳ Ｐゴシック" pitchFamily="-84" charset="-128"/>
              </a:rPr>
              <a:t>número medio </a:t>
            </a:r>
            <a:r>
              <a:rPr lang="es-ES" sz="1800" dirty="0">
                <a:latin typeface="Arial" pitchFamily="-84" charset="0"/>
                <a:ea typeface="ＭＳ Ｐゴシック" pitchFamily="-84" charset="-128"/>
              </a:rPr>
              <a:t>de ciclos por instrucción</a:t>
            </a:r>
          </a:p>
          <a:p>
            <a:pPr lvl="1"/>
            <a:r>
              <a:rPr lang="es-ES" sz="1800" dirty="0">
                <a:latin typeface="Arial" pitchFamily="-84" charset="0"/>
                <a:ea typeface="ＭＳ Ｐゴシック" pitchFamily="-84" charset="-128"/>
              </a:rPr>
              <a:t>CPI&gt;1 (el pipeline necesita </a:t>
            </a:r>
            <a:r>
              <a:rPr lang="es-ES" sz="2200" i="1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</a:rPr>
              <a:t>k</a:t>
            </a:r>
            <a:r>
              <a:rPr lang="es-ES" sz="1800" dirty="0">
                <a:latin typeface="Arial" pitchFamily="-84" charset="0"/>
                <a:ea typeface="ＭＳ Ｐゴシック" pitchFamily="-84" charset="-128"/>
              </a:rPr>
              <a:t>-1 ciclos para llegar a la última etapa de la primera instrucción; </a:t>
            </a:r>
            <a:r>
              <a:rPr lang="es-ES" sz="1600" dirty="0">
                <a:latin typeface="Arial" pitchFamily="-84" charset="0"/>
                <a:ea typeface="ＭＳ Ｐゴシック" pitchFamily="-84" charset="-128"/>
              </a:rPr>
              <a:t>ciclos &gt; Número de instrucciones)</a:t>
            </a:r>
          </a:p>
          <a:p>
            <a:pPr lvl="1"/>
            <a:endParaRPr lang="es-ES" sz="1600" dirty="0">
              <a:latin typeface="Arial" pitchFamily="-84" charset="0"/>
              <a:ea typeface="ＭＳ Ｐゴシック" pitchFamily="-84" charset="-128"/>
            </a:endParaRPr>
          </a:p>
          <a:p>
            <a:pPr lvl="1"/>
            <a:endParaRPr lang="es-ES" sz="1600" dirty="0">
              <a:latin typeface="Arial" pitchFamily="-84" charset="0"/>
              <a:ea typeface="ＭＳ Ｐゴシック" pitchFamily="-84" charset="-128"/>
            </a:endParaRPr>
          </a:p>
          <a:p>
            <a:pPr lvl="1"/>
            <a:endParaRPr lang="es-ES" sz="1600" dirty="0">
              <a:latin typeface="Arial" pitchFamily="-84" charset="0"/>
              <a:ea typeface="ＭＳ Ｐゴシック" pitchFamily="-84" charset="-128"/>
            </a:endParaRPr>
          </a:p>
          <a:p>
            <a:pPr lvl="1"/>
            <a:endParaRPr lang="es-ES" sz="1600" dirty="0">
              <a:latin typeface="Arial" pitchFamily="-84" charset="0"/>
              <a:ea typeface="ＭＳ Ｐゴシック" pitchFamily="-84" charset="-128"/>
            </a:endParaRPr>
          </a:p>
          <a:p>
            <a:pPr lvl="1"/>
            <a:endParaRPr lang="es-ES" sz="1600" dirty="0">
              <a:latin typeface="Arial" pitchFamily="-84" charset="0"/>
              <a:ea typeface="ＭＳ Ｐゴシック" pitchFamily="-84" charset="-128"/>
            </a:endParaRPr>
          </a:p>
          <a:p>
            <a:pPr lvl="1">
              <a:buNone/>
            </a:pPr>
            <a:endParaRPr lang="es-ES" sz="1600" dirty="0">
              <a:latin typeface="Arial" pitchFamily="-84" charset="0"/>
              <a:ea typeface="ＭＳ Ｐゴシック" pitchFamily="-84" charset="-128"/>
            </a:endParaRPr>
          </a:p>
          <a:p>
            <a:pPr lvl="1"/>
            <a:r>
              <a:rPr lang="es-ES" sz="1600" dirty="0">
                <a:latin typeface="Arial" pitchFamily="-84" charset="0"/>
                <a:ea typeface="ＭＳ Ｐゴシック" pitchFamily="-84" charset="-128"/>
              </a:rPr>
              <a:t>Condiciones ideales:</a:t>
            </a:r>
          </a:p>
          <a:p>
            <a:pPr lvl="2"/>
            <a:r>
              <a:rPr lang="es-ES" sz="1400" dirty="0">
                <a:latin typeface="Arial" pitchFamily="-84" charset="0"/>
                <a:ea typeface="ＭＳ Ｐゴシック" pitchFamily="-84" charset="-128"/>
              </a:rPr>
              <a:t>cero ciclos de parada </a:t>
            </a:r>
          </a:p>
          <a:p>
            <a:pPr lvl="2"/>
            <a:r>
              <a:rPr lang="es-ES" sz="1400" dirty="0">
                <a:latin typeface="Arial" pitchFamily="-84" charset="0"/>
                <a:ea typeface="ＭＳ Ｐゴシック" pitchFamily="-84" charset="-128"/>
              </a:rPr>
              <a:t>CPI ideal = 1 (cota inferior del CPI)</a:t>
            </a:r>
          </a:p>
        </p:txBody>
      </p:sp>
      <p:sp>
        <p:nvSpPr>
          <p:cNvPr id="5123" name="6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22D3E66-6151-7848-908F-0A08284446E0}" type="slidenum">
              <a:rPr lang="en-US"/>
              <a:pPr/>
              <a:t>36</a:t>
            </a:fld>
            <a:endParaRPr lang="en-US"/>
          </a:p>
        </p:txBody>
      </p:sp>
      <p:sp>
        <p:nvSpPr>
          <p:cNvPr id="22" name="CuadroTexto 21"/>
          <p:cNvSpPr txBox="1"/>
          <p:nvPr/>
        </p:nvSpPr>
        <p:spPr>
          <a:xfrm>
            <a:off x="2819400" y="3596677"/>
            <a:ext cx="381000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LI</a:t>
            </a:r>
          </a:p>
        </p:txBody>
      </p:sp>
      <p:sp>
        <p:nvSpPr>
          <p:cNvPr id="23" name="CuadroTexto 22"/>
          <p:cNvSpPr txBox="1"/>
          <p:nvPr/>
        </p:nvSpPr>
        <p:spPr>
          <a:xfrm>
            <a:off x="3276600" y="3599654"/>
            <a:ext cx="381000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DI</a:t>
            </a:r>
          </a:p>
        </p:txBody>
      </p:sp>
      <p:sp>
        <p:nvSpPr>
          <p:cNvPr id="24" name="CuadroTexto 23"/>
          <p:cNvSpPr txBox="1"/>
          <p:nvPr/>
        </p:nvSpPr>
        <p:spPr>
          <a:xfrm>
            <a:off x="3733800" y="3599654"/>
            <a:ext cx="381000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EX</a:t>
            </a:r>
          </a:p>
        </p:txBody>
      </p:sp>
      <p:sp>
        <p:nvSpPr>
          <p:cNvPr id="25" name="CuadroTexto 24"/>
          <p:cNvSpPr txBox="1"/>
          <p:nvPr/>
        </p:nvSpPr>
        <p:spPr>
          <a:xfrm>
            <a:off x="4191000" y="3599654"/>
            <a:ext cx="381000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M</a:t>
            </a:r>
          </a:p>
        </p:txBody>
      </p:sp>
      <p:sp>
        <p:nvSpPr>
          <p:cNvPr id="28" name="CuadroTexto 27"/>
          <p:cNvSpPr txBox="1"/>
          <p:nvPr/>
        </p:nvSpPr>
        <p:spPr>
          <a:xfrm>
            <a:off x="4653022" y="3599654"/>
            <a:ext cx="376178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ER</a:t>
            </a:r>
          </a:p>
        </p:txBody>
      </p:sp>
      <p:sp>
        <p:nvSpPr>
          <p:cNvPr id="32" name="CuadroTexto 31"/>
          <p:cNvSpPr txBox="1"/>
          <p:nvPr/>
        </p:nvSpPr>
        <p:spPr>
          <a:xfrm>
            <a:off x="3276600" y="3980654"/>
            <a:ext cx="381000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LI</a:t>
            </a:r>
          </a:p>
        </p:txBody>
      </p:sp>
      <p:sp>
        <p:nvSpPr>
          <p:cNvPr id="33" name="CuadroTexto 32"/>
          <p:cNvSpPr txBox="1"/>
          <p:nvPr/>
        </p:nvSpPr>
        <p:spPr>
          <a:xfrm>
            <a:off x="3733800" y="3983631"/>
            <a:ext cx="381000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DI</a:t>
            </a:r>
          </a:p>
        </p:txBody>
      </p:sp>
      <p:sp>
        <p:nvSpPr>
          <p:cNvPr id="34" name="CuadroTexto 33"/>
          <p:cNvSpPr txBox="1"/>
          <p:nvPr/>
        </p:nvSpPr>
        <p:spPr>
          <a:xfrm>
            <a:off x="4191000" y="3983631"/>
            <a:ext cx="381000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EX</a:t>
            </a:r>
          </a:p>
        </p:txBody>
      </p:sp>
      <p:sp>
        <p:nvSpPr>
          <p:cNvPr id="35" name="CuadroTexto 34"/>
          <p:cNvSpPr txBox="1"/>
          <p:nvPr/>
        </p:nvSpPr>
        <p:spPr>
          <a:xfrm>
            <a:off x="4648200" y="3983631"/>
            <a:ext cx="381000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M</a:t>
            </a:r>
          </a:p>
        </p:txBody>
      </p:sp>
      <p:sp>
        <p:nvSpPr>
          <p:cNvPr id="36" name="CuadroTexto 35"/>
          <p:cNvSpPr txBox="1"/>
          <p:nvPr/>
        </p:nvSpPr>
        <p:spPr>
          <a:xfrm>
            <a:off x="5110222" y="3983631"/>
            <a:ext cx="376178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ER</a:t>
            </a:r>
          </a:p>
        </p:txBody>
      </p:sp>
      <p:sp>
        <p:nvSpPr>
          <p:cNvPr id="37" name="CuadroTexto 36"/>
          <p:cNvSpPr txBox="1"/>
          <p:nvPr/>
        </p:nvSpPr>
        <p:spPr>
          <a:xfrm>
            <a:off x="3733800" y="4361654"/>
            <a:ext cx="381000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LI</a:t>
            </a:r>
          </a:p>
        </p:txBody>
      </p:sp>
      <p:sp>
        <p:nvSpPr>
          <p:cNvPr id="38" name="CuadroTexto 37"/>
          <p:cNvSpPr txBox="1"/>
          <p:nvPr/>
        </p:nvSpPr>
        <p:spPr>
          <a:xfrm>
            <a:off x="4191000" y="4364631"/>
            <a:ext cx="381000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DI</a:t>
            </a:r>
          </a:p>
        </p:txBody>
      </p:sp>
      <p:sp>
        <p:nvSpPr>
          <p:cNvPr id="39" name="CuadroTexto 38"/>
          <p:cNvSpPr txBox="1"/>
          <p:nvPr/>
        </p:nvSpPr>
        <p:spPr>
          <a:xfrm>
            <a:off x="4648200" y="4364631"/>
            <a:ext cx="381000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EX</a:t>
            </a:r>
          </a:p>
        </p:txBody>
      </p:sp>
      <p:sp>
        <p:nvSpPr>
          <p:cNvPr id="40" name="CuadroTexto 39"/>
          <p:cNvSpPr txBox="1"/>
          <p:nvPr/>
        </p:nvSpPr>
        <p:spPr>
          <a:xfrm>
            <a:off x="5105400" y="4364631"/>
            <a:ext cx="381000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M</a:t>
            </a:r>
          </a:p>
        </p:txBody>
      </p:sp>
      <p:sp>
        <p:nvSpPr>
          <p:cNvPr id="41" name="CuadroTexto 40"/>
          <p:cNvSpPr txBox="1"/>
          <p:nvPr/>
        </p:nvSpPr>
        <p:spPr>
          <a:xfrm>
            <a:off x="5567422" y="4364631"/>
            <a:ext cx="376178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ER</a:t>
            </a:r>
          </a:p>
        </p:txBody>
      </p:sp>
      <p:sp>
        <p:nvSpPr>
          <p:cNvPr id="57" name="CuadroTexto 56"/>
          <p:cNvSpPr txBox="1"/>
          <p:nvPr/>
        </p:nvSpPr>
        <p:spPr>
          <a:xfrm>
            <a:off x="5562600" y="5355231"/>
            <a:ext cx="381000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LI</a:t>
            </a:r>
          </a:p>
        </p:txBody>
      </p:sp>
      <p:sp>
        <p:nvSpPr>
          <p:cNvPr id="58" name="CuadroTexto 57"/>
          <p:cNvSpPr txBox="1"/>
          <p:nvPr/>
        </p:nvSpPr>
        <p:spPr>
          <a:xfrm>
            <a:off x="6019800" y="5358208"/>
            <a:ext cx="381000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DI</a:t>
            </a:r>
          </a:p>
        </p:txBody>
      </p:sp>
      <p:sp>
        <p:nvSpPr>
          <p:cNvPr id="59" name="CuadroTexto 58"/>
          <p:cNvSpPr txBox="1"/>
          <p:nvPr/>
        </p:nvSpPr>
        <p:spPr>
          <a:xfrm>
            <a:off x="6477000" y="5358208"/>
            <a:ext cx="381000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EX</a:t>
            </a:r>
          </a:p>
        </p:txBody>
      </p:sp>
      <p:sp>
        <p:nvSpPr>
          <p:cNvPr id="60" name="CuadroTexto 59"/>
          <p:cNvSpPr txBox="1"/>
          <p:nvPr/>
        </p:nvSpPr>
        <p:spPr>
          <a:xfrm>
            <a:off x="6934200" y="5358208"/>
            <a:ext cx="381000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M</a:t>
            </a:r>
          </a:p>
        </p:txBody>
      </p:sp>
      <p:sp>
        <p:nvSpPr>
          <p:cNvPr id="61" name="CuadroTexto 60"/>
          <p:cNvSpPr txBox="1"/>
          <p:nvPr/>
        </p:nvSpPr>
        <p:spPr>
          <a:xfrm>
            <a:off x="7396222" y="5358208"/>
            <a:ext cx="376178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ER</a:t>
            </a:r>
          </a:p>
        </p:txBody>
      </p:sp>
      <p:sp>
        <p:nvSpPr>
          <p:cNvPr id="62" name="CuadroTexto 61"/>
          <p:cNvSpPr txBox="1"/>
          <p:nvPr/>
        </p:nvSpPr>
        <p:spPr>
          <a:xfrm>
            <a:off x="2043224" y="3596677"/>
            <a:ext cx="623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Inst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 1</a:t>
            </a:r>
          </a:p>
        </p:txBody>
      </p:sp>
      <p:sp>
        <p:nvSpPr>
          <p:cNvPr id="63" name="CuadroTexto 62"/>
          <p:cNvSpPr txBox="1"/>
          <p:nvPr/>
        </p:nvSpPr>
        <p:spPr>
          <a:xfrm>
            <a:off x="2043224" y="3977677"/>
            <a:ext cx="623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Inst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 2</a:t>
            </a:r>
          </a:p>
        </p:txBody>
      </p:sp>
      <p:sp>
        <p:nvSpPr>
          <p:cNvPr id="64" name="CuadroTexto 63"/>
          <p:cNvSpPr txBox="1"/>
          <p:nvPr/>
        </p:nvSpPr>
        <p:spPr>
          <a:xfrm>
            <a:off x="2043224" y="4358677"/>
            <a:ext cx="623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Inst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 3</a:t>
            </a:r>
          </a:p>
        </p:txBody>
      </p:sp>
      <p:sp>
        <p:nvSpPr>
          <p:cNvPr id="65" name="CuadroTexto 64"/>
          <p:cNvSpPr txBox="1"/>
          <p:nvPr/>
        </p:nvSpPr>
        <p:spPr>
          <a:xfrm>
            <a:off x="2031621" y="5352254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Inst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_tradnl" sz="1800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s-ES_tradnl" sz="1400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Conector recto de flecha 65"/>
          <p:cNvCxnSpPr/>
          <p:nvPr/>
        </p:nvCxnSpPr>
        <p:spPr bwMode="auto">
          <a:xfrm rot="10800000">
            <a:off x="4086579" y="3371054"/>
            <a:ext cx="4572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ector recto de flecha 66"/>
          <p:cNvCxnSpPr/>
          <p:nvPr/>
        </p:nvCxnSpPr>
        <p:spPr bwMode="auto">
          <a:xfrm>
            <a:off x="2895600" y="3371054"/>
            <a:ext cx="3810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8" name="CuadroTexto 67"/>
          <p:cNvSpPr txBox="1"/>
          <p:nvPr/>
        </p:nvSpPr>
        <p:spPr>
          <a:xfrm>
            <a:off x="3482647" y="3218654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k-1</a:t>
            </a:r>
          </a:p>
        </p:txBody>
      </p:sp>
      <p:cxnSp>
        <p:nvCxnSpPr>
          <p:cNvPr id="69" name="Conector recto de flecha 68"/>
          <p:cNvCxnSpPr/>
          <p:nvPr/>
        </p:nvCxnSpPr>
        <p:spPr bwMode="auto">
          <a:xfrm rot="10800000">
            <a:off x="6477000" y="3371054"/>
            <a:ext cx="12192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0" name="CuadroTexto 69"/>
          <p:cNvSpPr txBox="1"/>
          <p:nvPr/>
        </p:nvSpPr>
        <p:spPr>
          <a:xfrm>
            <a:off x="5358961" y="3218654"/>
            <a:ext cx="1093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</a:rPr>
              <a:t>ciclos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400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(k-1)</a:t>
            </a:r>
            <a:endParaRPr lang="en-US" sz="1200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Conector recto de flecha 70"/>
          <p:cNvCxnSpPr/>
          <p:nvPr/>
        </p:nvCxnSpPr>
        <p:spPr bwMode="auto">
          <a:xfrm>
            <a:off x="4648200" y="3369466"/>
            <a:ext cx="6858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Conector recto 71"/>
          <p:cNvCxnSpPr/>
          <p:nvPr/>
        </p:nvCxnSpPr>
        <p:spPr bwMode="auto">
          <a:xfrm rot="5400000">
            <a:off x="4458494" y="3332160"/>
            <a:ext cx="2286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3" name="Conector recto 72"/>
          <p:cNvCxnSpPr/>
          <p:nvPr/>
        </p:nvCxnSpPr>
        <p:spPr bwMode="auto">
          <a:xfrm rot="5400000">
            <a:off x="2704306" y="3332160"/>
            <a:ext cx="2286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4" name="Conector recto 73"/>
          <p:cNvCxnSpPr/>
          <p:nvPr/>
        </p:nvCxnSpPr>
        <p:spPr bwMode="auto">
          <a:xfrm rot="5400000">
            <a:off x="6553202" y="4514054"/>
            <a:ext cx="2438401" cy="3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5" name="Conector recto 84"/>
          <p:cNvCxnSpPr/>
          <p:nvPr/>
        </p:nvCxnSpPr>
        <p:spPr bwMode="auto">
          <a:xfrm rot="5400000">
            <a:off x="7658894" y="3103560"/>
            <a:ext cx="2286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6" name="Conector recto 85"/>
          <p:cNvCxnSpPr/>
          <p:nvPr/>
        </p:nvCxnSpPr>
        <p:spPr bwMode="auto">
          <a:xfrm rot="5400000">
            <a:off x="2702718" y="3027360"/>
            <a:ext cx="2286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7" name="Conector recto de flecha 86"/>
          <p:cNvCxnSpPr/>
          <p:nvPr/>
        </p:nvCxnSpPr>
        <p:spPr bwMode="auto">
          <a:xfrm>
            <a:off x="2895600" y="3064666"/>
            <a:ext cx="18288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Conector recto de flecha 88"/>
          <p:cNvCxnSpPr/>
          <p:nvPr/>
        </p:nvCxnSpPr>
        <p:spPr bwMode="auto">
          <a:xfrm flipH="1">
            <a:off x="5867400" y="3066254"/>
            <a:ext cx="18288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0" name="CuadroTexto 89"/>
          <p:cNvSpPr txBox="1"/>
          <p:nvPr/>
        </p:nvSpPr>
        <p:spPr>
          <a:xfrm>
            <a:off x="5019891" y="2913854"/>
            <a:ext cx="56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</a:rPr>
              <a:t>ciclos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1" name="CuadroTexto 90"/>
          <p:cNvSpPr txBox="1"/>
          <p:nvPr/>
        </p:nvSpPr>
        <p:spPr>
          <a:xfrm>
            <a:off x="2203853" y="4527413"/>
            <a:ext cx="234547" cy="8248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b="1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r>
              <a:rPr lang="es-ES_tradnl" sz="1400" b="1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r>
              <a:rPr lang="es-ES_tradnl" sz="1400" b="1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46" name="Flecha derecha 45"/>
          <p:cNvSpPr/>
          <p:nvPr/>
        </p:nvSpPr>
        <p:spPr bwMode="auto">
          <a:xfrm>
            <a:off x="5181600" y="6001117"/>
            <a:ext cx="762000" cy="609600"/>
          </a:xfrm>
          <a:prstGeom prst="righ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7AFABEC1-4DBF-41B7-BB69-71319B76FF20}"/>
                  </a:ext>
                </a:extLst>
              </p:cNvPr>
              <p:cNvSpPr txBox="1"/>
              <p:nvPr/>
            </p:nvSpPr>
            <p:spPr>
              <a:xfrm>
                <a:off x="6044152" y="5897116"/>
                <a:ext cx="2416243" cy="844252"/>
              </a:xfrm>
              <a:prstGeom prst="rect">
                <a:avLst/>
              </a:prstGeom>
              <a:noFill/>
              <a:ln w="19050">
                <a:solidFill>
                  <a:srgbClr val="FF3300"/>
                </a:solidFill>
              </a:ln>
            </p:spPr>
            <p:txBody>
              <a:bodyPr wrap="square" lIns="72000" tIns="72000" rIns="72000" bIns="72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𝐶𝑃𝐼</m:t>
                      </m:r>
                      <m:r>
                        <a:rPr lang="pt-BR" sz="24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𝑐𝑖𝑐𝑙𝑜𝑠</m:t>
                          </m:r>
                          <m:r>
                            <a:rPr lang="es-E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−4</m:t>
                          </m:r>
                        </m:num>
                        <m:den>
                          <m:r>
                            <a:rPr lang="es-E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den>
                      </m:f>
                    </m:oMath>
                  </m:oMathPara>
                </a14:m>
                <a:endParaRPr lang="es-ES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7AFABEC1-4DBF-41B7-BB69-71319B76F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4152" y="5897116"/>
                <a:ext cx="2416243" cy="844252"/>
              </a:xfrm>
              <a:prstGeom prst="rect">
                <a:avLst/>
              </a:prstGeom>
              <a:blipFill>
                <a:blip r:embed="rId3"/>
                <a:stretch>
                  <a:fillRect l="-1554" b="-1449"/>
                </a:stretch>
              </a:blipFill>
              <a:ln w="19050">
                <a:solidFill>
                  <a:srgbClr val="FF33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 a los Conflictos</a:t>
            </a:r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838200"/>
            <a:ext cx="8250237" cy="5256212"/>
          </a:xfrm>
        </p:spPr>
        <p:txBody>
          <a:bodyPr/>
          <a:lstStyle/>
          <a:p>
            <a:r>
              <a:rPr lang="es-ES" dirty="0"/>
              <a:t>Conflictos o riesgos</a:t>
            </a:r>
          </a:p>
          <a:p>
            <a:pPr lvl="1"/>
            <a:r>
              <a:rPr lang="es-ES" dirty="0"/>
              <a:t>Son situaciones producidas por la segmentación del procesador, en las que la ejecución de una o más instrucciones no debe avanzar</a:t>
            </a:r>
          </a:p>
          <a:p>
            <a:pPr lvl="2"/>
            <a:r>
              <a:rPr lang="es-ES" dirty="0"/>
              <a:t>Si el procesador no estuviera segmentado, desaparecerían</a:t>
            </a:r>
          </a:p>
          <a:p>
            <a:pPr lvl="1"/>
            <a:r>
              <a:rPr lang="es-ES" dirty="0"/>
              <a:t>Tipos</a:t>
            </a:r>
          </a:p>
          <a:p>
            <a:pPr lvl="2"/>
            <a:r>
              <a:rPr lang="es-ES" dirty="0"/>
              <a:t>Estructurales </a:t>
            </a:r>
            <a:r>
              <a:rPr lang="es-ES" dirty="0">
                <a:solidFill>
                  <a:srgbClr val="FF0000"/>
                </a:solidFill>
              </a:rPr>
              <a:t>(no los vemos; nuestra ruta no tiene conflictos estructurales)</a:t>
            </a:r>
          </a:p>
          <a:p>
            <a:pPr lvl="2"/>
            <a:r>
              <a:rPr lang="es-ES" dirty="0"/>
              <a:t>De datos</a:t>
            </a:r>
          </a:p>
          <a:p>
            <a:pPr lvl="2"/>
            <a:r>
              <a:rPr lang="es-ES" dirty="0"/>
              <a:t>De control</a:t>
            </a:r>
          </a:p>
          <a:p>
            <a:pPr lvl="1"/>
            <a:r>
              <a:rPr lang="es-ES" dirty="0"/>
              <a:t>Soluciones</a:t>
            </a:r>
          </a:p>
          <a:p>
            <a:pPr lvl="2"/>
            <a:r>
              <a:rPr lang="es-ES" dirty="0"/>
              <a:t>Ciclos de parada</a:t>
            </a:r>
          </a:p>
          <a:p>
            <a:pPr lvl="2"/>
            <a:r>
              <a:rPr lang="es-ES" dirty="0"/>
              <a:t>Modificación del software (inserción instrucciones </a:t>
            </a:r>
            <a:r>
              <a:rPr lang="es-ES" dirty="0" err="1">
                <a:latin typeface="Consolas" panose="020B0609020204030204" pitchFamily="49" charset="0"/>
                <a:cs typeface="Consolas" panose="020B0609020204030204" pitchFamily="49" charset="0"/>
              </a:rPr>
              <a:t>nop</a:t>
            </a:r>
            <a:r>
              <a:rPr lang="es-ES" dirty="0"/>
              <a:t>)</a:t>
            </a:r>
          </a:p>
          <a:p>
            <a:pPr lvl="2"/>
            <a:endParaRPr lang="es-ES" dirty="0"/>
          </a:p>
        </p:txBody>
      </p:sp>
      <p:sp>
        <p:nvSpPr>
          <p:cNvPr id="6246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71358-A3E8-F34D-BE7C-64FAF062FD4A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Rectángulo 4"/>
          <p:cNvSpPr/>
          <p:nvPr/>
        </p:nvSpPr>
        <p:spPr>
          <a:xfrm>
            <a:off x="304800" y="5950803"/>
            <a:ext cx="8534400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90500" indent="-190500" algn="l"/>
            <a:r>
              <a:rPr lang="es-ES_tradnl" sz="1600" dirty="0">
                <a:solidFill>
                  <a:schemeClr val="tx2"/>
                </a:solidFill>
              </a:rPr>
              <a:t>	Los conflictos estructurales se producen en el uso de los recursos por parte de instrucciones cuya ejecución se solapa. Son causa de recursos insuficientemente. Ejemplo: Disponer de una única memoria de datos e instrucciones.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Los Conflictos de Datos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Dependencias de datos</a:t>
            </a:r>
          </a:p>
          <a:p>
            <a:pPr lvl="1"/>
            <a:r>
              <a:rPr lang="es-ES" dirty="0"/>
              <a:t>Las instrucciones están fuertemente relacionadas entre ellas, resultado de la compilación de sentenci</a:t>
            </a:r>
            <a:r>
              <a:rPr lang="es-ES_tradnl" dirty="0"/>
              <a:t>a</a:t>
            </a:r>
            <a:r>
              <a:rPr lang="es-ES" dirty="0"/>
              <a:t>s escritas en un lenguaje de programación de alto nivel</a:t>
            </a:r>
          </a:p>
          <a:p>
            <a:pPr lvl="1"/>
            <a:r>
              <a:rPr lang="es-ES" dirty="0"/>
              <a:t>¿Qué son las dependencias de datos?</a:t>
            </a:r>
          </a:p>
          <a:p>
            <a:pPr lvl="2"/>
            <a:r>
              <a:rPr lang="es-ES" dirty="0"/>
              <a:t>Las instrucciones se pueden ver como productoras y consumidoras de datos</a:t>
            </a:r>
          </a:p>
          <a:p>
            <a:pPr lvl="2"/>
            <a:r>
              <a:rPr lang="es-ES" dirty="0"/>
              <a:t>Dependencia de datos: </a:t>
            </a:r>
            <a:br>
              <a:rPr lang="es-ES" dirty="0"/>
            </a:br>
            <a:r>
              <a:rPr lang="es-ES" dirty="0"/>
              <a:t>Cuando una instrucción consume un dato producido por otra</a:t>
            </a:r>
            <a:endParaRPr lang="es-ES_tradnl" dirty="0"/>
          </a:p>
          <a:p>
            <a:pPr lvl="2"/>
            <a:r>
              <a:rPr lang="es-ES" dirty="0"/>
              <a:t>Ejemplo:</a:t>
            </a:r>
          </a:p>
          <a:p>
            <a:pPr lvl="3"/>
            <a:r>
              <a:rPr lang="es-ES" dirty="0"/>
              <a:t>Compilación de c = a + b</a:t>
            </a:r>
          </a:p>
        </p:txBody>
      </p:sp>
      <p:sp>
        <p:nvSpPr>
          <p:cNvPr id="63490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72DA6-A971-9341-8C7D-B154F5675426}" type="slidenum">
              <a:rPr lang="en-US" smtClean="0"/>
              <a:pPr/>
              <a:t>38</a:t>
            </a:fld>
            <a:endParaRPr lang="en-US"/>
          </a:p>
        </p:txBody>
      </p:sp>
      <p:grpSp>
        <p:nvGrpSpPr>
          <p:cNvPr id="35" name="Agrupar 34"/>
          <p:cNvGrpSpPr/>
          <p:nvPr/>
        </p:nvGrpSpPr>
        <p:grpSpPr>
          <a:xfrm>
            <a:off x="6400800" y="4382631"/>
            <a:ext cx="2339102" cy="2246769"/>
            <a:chOff x="6432461" y="4267200"/>
            <a:chExt cx="2339102" cy="2246769"/>
          </a:xfrm>
        </p:grpSpPr>
        <p:sp>
          <p:nvSpPr>
            <p:cNvPr id="19" name="CuadroTexto 18"/>
            <p:cNvSpPr txBox="1"/>
            <p:nvPr/>
          </p:nvSpPr>
          <p:spPr>
            <a:xfrm>
              <a:off x="6432461" y="4267200"/>
              <a:ext cx="2339102" cy="2246769"/>
            </a:xfrm>
            <a:prstGeom prst="rect">
              <a:avLst/>
            </a:prstGeom>
            <a:noFill/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algn="l"/>
              <a:r>
                <a:rPr lang="es-ES_tradnl" dirty="0">
                  <a:solidFill>
                    <a:schemeClr val="accent1">
                      <a:lumMod val="75000"/>
                    </a:schemeClr>
                  </a:solidFill>
                  <a:latin typeface="Courier New"/>
                  <a:cs typeface="Courier New"/>
                </a:rPr>
                <a:t>c = a + </a:t>
              </a:r>
              <a:r>
                <a:rPr lang="es-ES_tradnl" dirty="0" err="1">
                  <a:solidFill>
                    <a:schemeClr val="accent1">
                      <a:lumMod val="75000"/>
                    </a:schemeClr>
                  </a:solidFill>
                  <a:latin typeface="Courier New"/>
                  <a:cs typeface="Courier New"/>
                </a:rPr>
                <a:t>b</a:t>
              </a:r>
              <a:endParaRPr lang="es-ES_tradnl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endParaRPr>
            </a:p>
            <a:p>
              <a:pPr algn="l"/>
              <a:endParaRPr lang="es-ES_tradnl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endParaRPr>
            </a:p>
            <a:p>
              <a:pPr algn="l"/>
              <a:r>
                <a:rPr lang="es-ES_tradnl" dirty="0" err="1">
                  <a:solidFill>
                    <a:schemeClr val="accent1">
                      <a:lumMod val="75000"/>
                    </a:schemeClr>
                  </a:solidFill>
                  <a:latin typeface="Courier New"/>
                  <a:cs typeface="Courier New"/>
                </a:rPr>
                <a:t>lw</a:t>
              </a:r>
              <a:r>
                <a:rPr lang="es-ES_tradnl" dirty="0">
                  <a:solidFill>
                    <a:schemeClr val="accent1">
                      <a:lumMod val="75000"/>
                    </a:schemeClr>
                  </a:solidFill>
                  <a:latin typeface="Courier New"/>
                  <a:cs typeface="Courier New"/>
                </a:rPr>
                <a:t> t1, a(t0)</a:t>
              </a:r>
            </a:p>
            <a:p>
              <a:pPr algn="l"/>
              <a:r>
                <a:rPr lang="es-ES_tradnl" dirty="0" err="1">
                  <a:solidFill>
                    <a:schemeClr val="accent1">
                      <a:lumMod val="75000"/>
                    </a:schemeClr>
                  </a:solidFill>
                  <a:latin typeface="Courier New"/>
                  <a:cs typeface="Courier New"/>
                </a:rPr>
                <a:t>lw</a:t>
              </a:r>
              <a:r>
                <a:rPr lang="es-ES_tradnl" dirty="0">
                  <a:solidFill>
                    <a:schemeClr val="accent1">
                      <a:lumMod val="75000"/>
                    </a:schemeClr>
                  </a:solidFill>
                  <a:latin typeface="Courier New"/>
                  <a:cs typeface="Courier New"/>
                </a:rPr>
                <a:t> t2, b(t0)</a:t>
              </a:r>
            </a:p>
            <a:p>
              <a:pPr algn="l"/>
              <a:r>
                <a:rPr lang="es-ES_tradnl" dirty="0" err="1">
                  <a:solidFill>
                    <a:schemeClr val="accent1">
                      <a:lumMod val="75000"/>
                    </a:schemeClr>
                  </a:solidFill>
                  <a:latin typeface="Courier New"/>
                  <a:cs typeface="Courier New"/>
                </a:rPr>
                <a:t>add</a:t>
              </a:r>
              <a:r>
                <a:rPr lang="es-ES_tradnl" dirty="0">
                  <a:solidFill>
                    <a:schemeClr val="accent1">
                      <a:lumMod val="75000"/>
                    </a:schemeClr>
                  </a:solidFill>
                  <a:latin typeface="Courier New"/>
                  <a:cs typeface="Courier New"/>
                </a:rPr>
                <a:t> t3, t2, t1</a:t>
              </a:r>
            </a:p>
            <a:p>
              <a:pPr algn="l"/>
              <a:r>
                <a:rPr lang="es-ES_tradnl" dirty="0" err="1">
                  <a:solidFill>
                    <a:schemeClr val="accent1">
                      <a:lumMod val="75000"/>
                    </a:schemeClr>
                  </a:solidFill>
                  <a:latin typeface="Courier New"/>
                  <a:cs typeface="Courier New"/>
                </a:rPr>
                <a:t>sw</a:t>
              </a:r>
              <a:r>
                <a:rPr lang="es-ES_tradnl" dirty="0">
                  <a:solidFill>
                    <a:schemeClr val="accent1">
                      <a:lumMod val="75000"/>
                    </a:schemeClr>
                  </a:solidFill>
                  <a:latin typeface="Courier New"/>
                  <a:cs typeface="Courier New"/>
                </a:rPr>
                <a:t> t3, c(t0)</a:t>
              </a:r>
            </a:p>
          </p:txBody>
        </p:sp>
        <p:sp>
          <p:nvSpPr>
            <p:cNvPr id="20" name="Elipse 19"/>
            <p:cNvSpPr/>
            <p:nvPr/>
          </p:nvSpPr>
          <p:spPr bwMode="auto">
            <a:xfrm>
              <a:off x="6934200" y="5029200"/>
              <a:ext cx="381000" cy="381000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1" name="Elipse 20"/>
            <p:cNvSpPr/>
            <p:nvPr/>
          </p:nvSpPr>
          <p:spPr bwMode="auto">
            <a:xfrm>
              <a:off x="7696200" y="5791200"/>
              <a:ext cx="381000" cy="381000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2" name="Elipse 21"/>
            <p:cNvSpPr/>
            <p:nvPr/>
          </p:nvSpPr>
          <p:spPr bwMode="auto">
            <a:xfrm>
              <a:off x="6934200" y="5410200"/>
              <a:ext cx="381000" cy="381000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3" name="Elipse 22"/>
            <p:cNvSpPr/>
            <p:nvPr/>
          </p:nvSpPr>
          <p:spPr bwMode="auto">
            <a:xfrm>
              <a:off x="8315207" y="5772386"/>
              <a:ext cx="381000" cy="381000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4" name="Elipse 23"/>
            <p:cNvSpPr/>
            <p:nvPr/>
          </p:nvSpPr>
          <p:spPr bwMode="auto">
            <a:xfrm>
              <a:off x="6934200" y="6124221"/>
              <a:ext cx="381000" cy="381000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cxnSp>
          <p:nvCxnSpPr>
            <p:cNvPr id="26" name="Forma 25"/>
            <p:cNvCxnSpPr>
              <a:stCxn id="20" idx="6"/>
              <a:endCxn id="23" idx="0"/>
            </p:cNvCxnSpPr>
            <p:nvPr/>
          </p:nvCxnSpPr>
          <p:spPr bwMode="auto">
            <a:xfrm>
              <a:off x="7315200" y="5219700"/>
              <a:ext cx="1190507" cy="552686"/>
            </a:xfrm>
            <a:prstGeom prst="curvedConnector2">
              <a:avLst/>
            </a:prstGeom>
            <a:ln w="12700">
              <a:solidFill>
                <a:srgbClr val="FF3300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8" name="Forma 27"/>
            <p:cNvCxnSpPr>
              <a:stCxn id="22" idx="6"/>
              <a:endCxn id="21" idx="0"/>
            </p:cNvCxnSpPr>
            <p:nvPr/>
          </p:nvCxnSpPr>
          <p:spPr bwMode="auto">
            <a:xfrm>
              <a:off x="7315200" y="5600700"/>
              <a:ext cx="571500" cy="190500"/>
            </a:xfrm>
            <a:prstGeom prst="curvedConnector2">
              <a:avLst/>
            </a:prstGeom>
            <a:ln w="12700">
              <a:solidFill>
                <a:srgbClr val="FF3300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9" name="Elipse 28"/>
            <p:cNvSpPr/>
            <p:nvPr/>
          </p:nvSpPr>
          <p:spPr bwMode="auto">
            <a:xfrm>
              <a:off x="7096951" y="5744165"/>
              <a:ext cx="381000" cy="381000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cxnSp>
          <p:nvCxnSpPr>
            <p:cNvPr id="31" name="Conector curvado 30"/>
            <p:cNvCxnSpPr>
              <a:stCxn id="29" idx="2"/>
            </p:cNvCxnSpPr>
            <p:nvPr/>
          </p:nvCxnSpPr>
          <p:spPr bwMode="auto">
            <a:xfrm rot="10800000" flipV="1">
              <a:off x="6934201" y="5934664"/>
              <a:ext cx="162751" cy="313735"/>
            </a:xfrm>
            <a:prstGeom prst="curvedConnector2">
              <a:avLst/>
            </a:prstGeom>
            <a:ln w="12700">
              <a:solidFill>
                <a:srgbClr val="FF3300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6" name="Llamada rectangular redondeada 15"/>
          <p:cNvSpPr/>
          <p:nvPr/>
        </p:nvSpPr>
        <p:spPr bwMode="auto">
          <a:xfrm>
            <a:off x="4114800" y="5105400"/>
            <a:ext cx="2209800" cy="1295400"/>
          </a:xfrm>
          <a:prstGeom prst="wedgeRoundRectCallout">
            <a:avLst>
              <a:gd name="adj1" fmla="val 57690"/>
              <a:gd name="adj2" fmla="val -33501"/>
              <a:gd name="adj3" fmla="val 16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Existe</a:t>
            </a:r>
            <a:r>
              <a:rPr lang="en-US" sz="1600" dirty="0"/>
              <a:t> </a:t>
            </a:r>
            <a:r>
              <a:rPr lang="en-US" sz="1600" dirty="0" err="1"/>
              <a:t>dependencia</a:t>
            </a:r>
            <a:r>
              <a:rPr lang="en-US" sz="1600" dirty="0"/>
              <a:t> entre la </a:t>
            </a:r>
            <a:r>
              <a:rPr lang="en-US" sz="1600" dirty="0" err="1"/>
              <a:t>instrucción</a:t>
            </a:r>
            <a:r>
              <a:rPr lang="en-US" sz="1600" dirty="0"/>
              <a:t> 1 y la 3 </a:t>
            </a:r>
            <a:r>
              <a:rPr lang="en-US" sz="1600" dirty="0" err="1"/>
              <a:t>por</a:t>
            </a:r>
            <a:r>
              <a:rPr lang="en-US" sz="1600" dirty="0"/>
              <a:t> el </a:t>
            </a:r>
            <a:r>
              <a:rPr lang="en-US" sz="1600" dirty="0" err="1"/>
              <a:t>registro</a:t>
            </a:r>
            <a:r>
              <a:rPr lang="en-US" sz="1600" dirty="0"/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8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Los Conflictos de Datos</a:t>
            </a:r>
          </a:p>
        </p:txBody>
      </p:sp>
      <p:sp>
        <p:nvSpPr>
          <p:cNvPr id="64519" name="Rectangle 8"/>
          <p:cNvSpPr>
            <a:spLocks noGrp="1" noChangeArrowheads="1"/>
          </p:cNvSpPr>
          <p:nvPr>
            <p:ph idx="1"/>
          </p:nvPr>
        </p:nvSpPr>
        <p:spPr>
          <a:xfrm>
            <a:off x="684213" y="1066800"/>
            <a:ext cx="8250237" cy="5256212"/>
          </a:xfrm>
        </p:spPr>
        <p:txBody>
          <a:bodyPr>
            <a:normAutofit/>
          </a:bodyPr>
          <a:lstStyle/>
          <a:p>
            <a:r>
              <a:rPr lang="es-ES" dirty="0"/>
              <a:t>Conflictos de datos dentro de un procesador segmentado</a:t>
            </a:r>
          </a:p>
          <a:p>
            <a:pPr lvl="1"/>
            <a:r>
              <a:rPr lang="es-ES" dirty="0">
                <a:latin typeface="Arial" pitchFamily="-84" charset="0"/>
                <a:ea typeface="ＭＳ Ｐゴシック" pitchFamily="-84" charset="-128"/>
              </a:rPr>
              <a:t>Aparecen cuando una instrucción ha de operar con un valor que todavía no ha suministrado una instrucción anterior:</a:t>
            </a:r>
          </a:p>
        </p:txBody>
      </p:sp>
      <p:sp>
        <p:nvSpPr>
          <p:cNvPr id="64514" name="6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EE2698B-1C5F-E44E-87D0-E45024D00AB0}" type="slidenum">
              <a:rPr lang="en-US"/>
              <a:pPr/>
              <a:t>39</a:t>
            </a:fld>
            <a:endParaRPr lang="en-US"/>
          </a:p>
        </p:txBody>
      </p:sp>
      <p:sp>
        <p:nvSpPr>
          <p:cNvPr id="64520" name="Rectangle 9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4572000"/>
            <a:ext cx="8853487" cy="2286000"/>
          </a:xfrm>
        </p:spPr>
        <p:txBody>
          <a:bodyPr>
            <a:noAutofit/>
          </a:bodyPr>
          <a:lstStyle/>
          <a:p>
            <a:r>
              <a:rPr lang="es-ES" sz="1800" dirty="0">
                <a:latin typeface="Arial" pitchFamily="-84" charset="0"/>
                <a:ea typeface="ＭＳ Ｐゴシック" pitchFamily="-84" charset="-128"/>
              </a:rPr>
              <a:t>El valor de t1 se escribe en el ciclo 5; pero ha de ser leído por </a:t>
            </a:r>
            <a:r>
              <a:rPr lang="es-ES" sz="1800" dirty="0">
                <a:latin typeface="Courier New" panose="02070309020205020404" pitchFamily="49" charset="0"/>
                <a:ea typeface="ＭＳ Ｐゴシック" pitchFamily="-84" charset="-128"/>
                <a:cs typeface="Courier New" panose="02070309020205020404" pitchFamily="49" charset="0"/>
              </a:rPr>
              <a:t>add</a:t>
            </a:r>
            <a:r>
              <a:rPr lang="es-ES" sz="1800" dirty="0">
                <a:latin typeface="Arial" pitchFamily="-84" charset="0"/>
                <a:ea typeface="ＭＳ Ｐゴシック" pitchFamily="-84" charset="-128"/>
              </a:rPr>
              <a:t> en el ciclo 4</a:t>
            </a:r>
          </a:p>
          <a:p>
            <a:r>
              <a:rPr lang="es-ES" sz="1800" dirty="0">
                <a:latin typeface="Arial" pitchFamily="-84" charset="0"/>
                <a:ea typeface="ＭＳ Ｐゴシック" pitchFamily="-84" charset="-128"/>
              </a:rPr>
              <a:t>El valor de t2 se escribe en el ciclo 6; pero ha de ser leído por </a:t>
            </a:r>
            <a:r>
              <a:rPr lang="es-ES" sz="1800" dirty="0">
                <a:latin typeface="Courier New" panose="02070309020205020404" pitchFamily="49" charset="0"/>
                <a:ea typeface="ＭＳ Ｐゴシック" pitchFamily="-84" charset="-128"/>
                <a:cs typeface="Courier New" panose="02070309020205020404" pitchFamily="49" charset="0"/>
              </a:rPr>
              <a:t>add</a:t>
            </a:r>
            <a:r>
              <a:rPr lang="es-ES" sz="1800" dirty="0">
                <a:latin typeface="Arial" pitchFamily="-84" charset="0"/>
                <a:ea typeface="ＭＳ Ｐゴシック" pitchFamily="-84" charset="-128"/>
              </a:rPr>
              <a:t> en el ciclo 4</a:t>
            </a:r>
          </a:p>
          <a:p>
            <a:r>
              <a:rPr lang="es-ES" sz="1800" dirty="0">
                <a:latin typeface="Arial" pitchFamily="-84" charset="0"/>
                <a:ea typeface="ＭＳ Ｐゴシック" pitchFamily="-84" charset="-128"/>
              </a:rPr>
              <a:t>El valor de t3 se escribe en el ciclo 7; pero ha de ser leído por </a:t>
            </a:r>
            <a:r>
              <a:rPr lang="es-ES" sz="1800" dirty="0">
                <a:latin typeface="Courier New" panose="02070309020205020404" pitchFamily="49" charset="0"/>
                <a:ea typeface="ＭＳ Ｐゴシック" pitchFamily="-84" charset="-128"/>
                <a:cs typeface="Courier New" panose="02070309020205020404" pitchFamily="49" charset="0"/>
              </a:rPr>
              <a:t>sw</a:t>
            </a:r>
            <a:r>
              <a:rPr lang="es-ES" sz="1800" dirty="0">
                <a:latin typeface="Arial" pitchFamily="-84" charset="0"/>
                <a:ea typeface="ＭＳ Ｐゴシック" pitchFamily="-84" charset="-128"/>
              </a:rPr>
              <a:t> en el ciclo 5</a:t>
            </a:r>
          </a:p>
        </p:txBody>
      </p:sp>
      <p:grpSp>
        <p:nvGrpSpPr>
          <p:cNvPr id="22" name="Agrupar 21"/>
          <p:cNvGrpSpPr/>
          <p:nvPr/>
        </p:nvGrpSpPr>
        <p:grpSpPr>
          <a:xfrm>
            <a:off x="1331640" y="2413337"/>
            <a:ext cx="6699591" cy="2031325"/>
            <a:chOff x="1236114" y="1934165"/>
            <a:chExt cx="6699591" cy="2031325"/>
          </a:xfrm>
        </p:grpSpPr>
        <p:grpSp>
          <p:nvGrpSpPr>
            <p:cNvPr id="2" name="Group 20"/>
            <p:cNvGrpSpPr>
              <a:grpSpLocks/>
            </p:cNvGrpSpPr>
            <p:nvPr/>
          </p:nvGrpSpPr>
          <p:grpSpPr bwMode="auto">
            <a:xfrm>
              <a:off x="5095875" y="2495550"/>
              <a:ext cx="1546225" cy="1047750"/>
              <a:chOff x="3210" y="1572"/>
              <a:chExt cx="974" cy="660"/>
            </a:xfrm>
          </p:grpSpPr>
          <p:sp>
            <p:nvSpPr>
              <p:cNvPr id="64529" name="Oval 12"/>
              <p:cNvSpPr>
                <a:spLocks noChangeArrowheads="1"/>
              </p:cNvSpPr>
              <p:nvPr/>
            </p:nvSpPr>
            <p:spPr bwMode="blackWhite">
              <a:xfrm>
                <a:off x="3210" y="2040"/>
                <a:ext cx="240" cy="19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endParaRPr lang="en-US"/>
              </a:p>
            </p:txBody>
          </p:sp>
          <p:sp>
            <p:nvSpPr>
              <p:cNvPr id="64530" name="Oval 13"/>
              <p:cNvSpPr>
                <a:spLocks noChangeArrowheads="1"/>
              </p:cNvSpPr>
              <p:nvPr/>
            </p:nvSpPr>
            <p:spPr bwMode="blackWhite">
              <a:xfrm>
                <a:off x="3944" y="1821"/>
                <a:ext cx="240" cy="19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endParaRPr lang="en-US"/>
              </a:p>
            </p:txBody>
          </p:sp>
          <p:sp>
            <p:nvSpPr>
              <p:cNvPr id="64531" name="Oval 14"/>
              <p:cNvSpPr>
                <a:spLocks noChangeArrowheads="1"/>
              </p:cNvSpPr>
              <p:nvPr/>
            </p:nvSpPr>
            <p:spPr bwMode="blackWhite">
              <a:xfrm>
                <a:off x="3580" y="1572"/>
                <a:ext cx="240" cy="19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endParaRPr lang="en-US"/>
              </a:p>
            </p:txBody>
          </p:sp>
          <p:sp>
            <p:nvSpPr>
              <p:cNvPr id="64532" name="Freeform 18"/>
              <p:cNvSpPr>
                <a:spLocks/>
              </p:cNvSpPr>
              <p:nvPr/>
            </p:nvSpPr>
            <p:spPr bwMode="blackWhite">
              <a:xfrm>
                <a:off x="3402" y="1776"/>
                <a:ext cx="198" cy="248"/>
              </a:xfrm>
              <a:custGeom>
                <a:avLst/>
                <a:gdLst>
                  <a:gd name="T0" fmla="*/ 198 w 198"/>
                  <a:gd name="T1" fmla="*/ 0 h 248"/>
                  <a:gd name="T2" fmla="*/ 76 w 198"/>
                  <a:gd name="T3" fmla="*/ 86 h 248"/>
                  <a:gd name="T4" fmla="*/ 0 w 198"/>
                  <a:gd name="T5" fmla="*/ 248 h 248"/>
                  <a:gd name="T6" fmla="*/ 0 60000 65536"/>
                  <a:gd name="T7" fmla="*/ 0 60000 65536"/>
                  <a:gd name="T8" fmla="*/ 0 60000 65536"/>
                  <a:gd name="T9" fmla="*/ 0 w 198"/>
                  <a:gd name="T10" fmla="*/ 0 h 248"/>
                  <a:gd name="T11" fmla="*/ 198 w 198"/>
                  <a:gd name="T12" fmla="*/ 248 h 2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8" h="248">
                    <a:moveTo>
                      <a:pt x="198" y="0"/>
                    </a:moveTo>
                    <a:cubicBezTo>
                      <a:pt x="177" y="14"/>
                      <a:pt x="108" y="44"/>
                      <a:pt x="76" y="86"/>
                    </a:cubicBezTo>
                    <a:cubicBezTo>
                      <a:pt x="43" y="127"/>
                      <a:pt x="15" y="214"/>
                      <a:pt x="0" y="248"/>
                    </a:cubicBezTo>
                  </a:path>
                </a:pathLst>
              </a:custGeom>
              <a:noFill/>
              <a:ln>
                <a:headEnd/>
                <a:tailEnd type="triangle" w="med" len="med"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4533" name="Freeform 19"/>
              <p:cNvSpPr>
                <a:spLocks/>
              </p:cNvSpPr>
              <p:nvPr/>
            </p:nvSpPr>
            <p:spPr bwMode="blackWhite">
              <a:xfrm>
                <a:off x="3456" y="1968"/>
                <a:ext cx="480" cy="96"/>
              </a:xfrm>
              <a:custGeom>
                <a:avLst/>
                <a:gdLst>
                  <a:gd name="T0" fmla="*/ 480 w 480"/>
                  <a:gd name="T1" fmla="*/ 0 h 96"/>
                  <a:gd name="T2" fmla="*/ 250 w 480"/>
                  <a:gd name="T3" fmla="*/ 38 h 96"/>
                  <a:gd name="T4" fmla="*/ 0 w 480"/>
                  <a:gd name="T5" fmla="*/ 96 h 96"/>
                  <a:gd name="T6" fmla="*/ 0 60000 65536"/>
                  <a:gd name="T7" fmla="*/ 0 60000 65536"/>
                  <a:gd name="T8" fmla="*/ 0 60000 65536"/>
                  <a:gd name="T9" fmla="*/ 0 w 480"/>
                  <a:gd name="T10" fmla="*/ 0 h 96"/>
                  <a:gd name="T11" fmla="*/ 480 w 480"/>
                  <a:gd name="T12" fmla="*/ 96 h 9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0" h="96">
                    <a:moveTo>
                      <a:pt x="480" y="0"/>
                    </a:moveTo>
                    <a:cubicBezTo>
                      <a:pt x="480" y="0"/>
                      <a:pt x="340" y="28"/>
                      <a:pt x="250" y="38"/>
                    </a:cubicBezTo>
                    <a:cubicBezTo>
                      <a:pt x="160" y="48"/>
                      <a:pt x="52" y="84"/>
                      <a:pt x="0" y="96"/>
                    </a:cubicBezTo>
                  </a:path>
                </a:pathLst>
              </a:custGeom>
              <a:ln>
                <a:headEnd/>
                <a:tailEnd type="triangle" w="med" len="med"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3" name="Group 27"/>
            <p:cNvGrpSpPr>
              <a:grpSpLocks/>
            </p:cNvGrpSpPr>
            <p:nvPr/>
          </p:nvGrpSpPr>
          <p:grpSpPr bwMode="auto">
            <a:xfrm>
              <a:off x="5638800" y="3243263"/>
              <a:ext cx="1571625" cy="642937"/>
              <a:chOff x="3552" y="2043"/>
              <a:chExt cx="990" cy="405"/>
            </a:xfrm>
          </p:grpSpPr>
          <p:sp>
            <p:nvSpPr>
              <p:cNvPr id="64526" name="Oval 22"/>
              <p:cNvSpPr>
                <a:spLocks noChangeArrowheads="1"/>
              </p:cNvSpPr>
              <p:nvPr/>
            </p:nvSpPr>
            <p:spPr bwMode="blackWhite">
              <a:xfrm>
                <a:off x="3552" y="2256"/>
                <a:ext cx="240" cy="19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endParaRPr lang="en-US"/>
              </a:p>
            </p:txBody>
          </p:sp>
          <p:sp>
            <p:nvSpPr>
              <p:cNvPr id="64527" name="Oval 23"/>
              <p:cNvSpPr>
                <a:spLocks noChangeArrowheads="1"/>
              </p:cNvSpPr>
              <p:nvPr/>
            </p:nvSpPr>
            <p:spPr bwMode="blackWhite">
              <a:xfrm>
                <a:off x="4302" y="2043"/>
                <a:ext cx="240" cy="19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endParaRPr lang="en-US"/>
              </a:p>
            </p:txBody>
          </p:sp>
          <p:sp>
            <p:nvSpPr>
              <p:cNvPr id="64528" name="Freeform 26"/>
              <p:cNvSpPr>
                <a:spLocks/>
              </p:cNvSpPr>
              <p:nvPr/>
            </p:nvSpPr>
            <p:spPr bwMode="blackWhite">
              <a:xfrm>
                <a:off x="3792" y="2176"/>
                <a:ext cx="514" cy="98"/>
              </a:xfrm>
              <a:custGeom>
                <a:avLst/>
                <a:gdLst>
                  <a:gd name="T0" fmla="*/ 1064 w 486"/>
                  <a:gd name="T1" fmla="*/ 0 h 98"/>
                  <a:gd name="T2" fmla="*/ 660 w 486"/>
                  <a:gd name="T3" fmla="*/ 36 h 98"/>
                  <a:gd name="T4" fmla="*/ 0 w 486"/>
                  <a:gd name="T5" fmla="*/ 98 h 98"/>
                  <a:gd name="T6" fmla="*/ 0 60000 65536"/>
                  <a:gd name="T7" fmla="*/ 0 60000 65536"/>
                  <a:gd name="T8" fmla="*/ 0 60000 65536"/>
                  <a:gd name="T9" fmla="*/ 0 w 486"/>
                  <a:gd name="T10" fmla="*/ 0 h 98"/>
                  <a:gd name="T11" fmla="*/ 486 w 486"/>
                  <a:gd name="T12" fmla="*/ 98 h 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6" h="98">
                    <a:moveTo>
                      <a:pt x="486" y="0"/>
                    </a:moveTo>
                    <a:cubicBezTo>
                      <a:pt x="455" y="5"/>
                      <a:pt x="382" y="19"/>
                      <a:pt x="302" y="36"/>
                    </a:cubicBezTo>
                    <a:cubicBezTo>
                      <a:pt x="180" y="38"/>
                      <a:pt x="52" y="86"/>
                      <a:pt x="0" y="98"/>
                    </a:cubicBezTo>
                  </a:path>
                </a:pathLst>
              </a:custGeom>
              <a:ln>
                <a:headEnd/>
                <a:tailEnd type="triangle" w="med" len="med"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4524" name="Text Box 5"/>
            <p:cNvSpPr txBox="1">
              <a:spLocks noChangeArrowheads="1"/>
            </p:cNvSpPr>
            <p:nvPr/>
          </p:nvSpPr>
          <p:spPr bwMode="auto">
            <a:xfrm>
              <a:off x="1236114" y="1934165"/>
              <a:ext cx="6699591" cy="203132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l" eaLnBrk="0" hangingPunct="0">
                <a:tabLst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  <a:tab pos="6097588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instrucción	1	2	3	4	5	6	7	8</a:t>
              </a:r>
            </a:p>
            <a:p>
              <a:pPr algn="l" eaLnBrk="0" hangingPunct="0">
                <a:lnSpc>
                  <a:spcPct val="150000"/>
                </a:lnSpc>
                <a:tabLst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  <a:tab pos="6097588" algn="l"/>
                </a:tabLst>
              </a:pPr>
              <a:r>
                <a:rPr lang="es-ES" dirty="0" err="1">
                  <a:solidFill>
                    <a:schemeClr val="tx1"/>
                  </a:solidFill>
                  <a:latin typeface="Courier New" pitchFamily="-84" charset="0"/>
                </a:rPr>
                <a:t>lw</a:t>
              </a:r>
              <a:r>
                <a:rPr lang="es-ES" dirty="0">
                  <a:solidFill>
                    <a:schemeClr val="tx1"/>
                  </a:solidFill>
                  <a:latin typeface="Courier New" pitchFamily="-84" charset="0"/>
                </a:rPr>
                <a:t> t1, a(</a:t>
              </a:r>
              <a:r>
                <a:rPr lang="es-ES" dirty="0" err="1">
                  <a:solidFill>
                    <a:schemeClr val="tx1"/>
                  </a:solidFill>
                  <a:latin typeface="Courier New" pitchFamily="-84" charset="0"/>
                </a:rPr>
                <a:t>zero</a:t>
              </a:r>
              <a:r>
                <a:rPr lang="es-ES" dirty="0">
                  <a:latin typeface="Courier New" pitchFamily="-84" charset="0"/>
                </a:rPr>
                <a:t>)</a:t>
              </a:r>
              <a:r>
                <a:rPr lang="es-ES" b="0" dirty="0">
                  <a:solidFill>
                    <a:schemeClr val="tx1"/>
                  </a:solidFill>
                </a:rPr>
                <a:t>LI	DI	EX	M	</a:t>
              </a:r>
              <a:r>
                <a:rPr lang="es-ES" b="0" dirty="0">
                  <a:solidFill>
                    <a:schemeClr val="bg1"/>
                  </a:solidFill>
                </a:rPr>
                <a:t>ER</a:t>
              </a:r>
              <a:r>
                <a:rPr lang="es-ES" b="0" dirty="0">
                  <a:solidFill>
                    <a:schemeClr val="tx1"/>
                  </a:solidFill>
                </a:rPr>
                <a:t>	</a:t>
              </a:r>
            </a:p>
            <a:p>
              <a:pPr algn="l" eaLnBrk="0" hangingPunct="0">
                <a:tabLst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  <a:tab pos="6097588" algn="l"/>
                </a:tabLst>
              </a:pPr>
              <a:r>
                <a:rPr lang="es-ES" dirty="0" err="1">
                  <a:solidFill>
                    <a:schemeClr val="tx1"/>
                  </a:solidFill>
                  <a:latin typeface="Courier New" pitchFamily="-84" charset="0"/>
                </a:rPr>
                <a:t>lw</a:t>
              </a:r>
              <a:r>
                <a:rPr lang="es-ES" dirty="0">
                  <a:solidFill>
                    <a:schemeClr val="tx1"/>
                  </a:solidFill>
                  <a:latin typeface="Courier New" pitchFamily="-84" charset="0"/>
                </a:rPr>
                <a:t> t2, b(</a:t>
              </a:r>
              <a:r>
                <a:rPr lang="es-ES" dirty="0" err="1">
                  <a:solidFill>
                    <a:schemeClr val="tx1"/>
                  </a:solidFill>
                  <a:latin typeface="Courier New" pitchFamily="-84" charset="0"/>
                </a:rPr>
                <a:t>zero</a:t>
              </a:r>
              <a:r>
                <a:rPr lang="es-ES" dirty="0">
                  <a:solidFill>
                    <a:schemeClr val="tx1"/>
                  </a:solidFill>
                  <a:latin typeface="Courier New" pitchFamily="-84" charset="0"/>
                </a:rPr>
                <a:t>)</a:t>
              </a:r>
              <a:r>
                <a:rPr lang="es-ES" b="0" dirty="0">
                  <a:solidFill>
                    <a:schemeClr val="tx1"/>
                  </a:solidFill>
                </a:rPr>
                <a:t>	LI	DI	EX	M	</a:t>
              </a:r>
              <a:r>
                <a:rPr lang="es-ES" b="0" dirty="0">
                  <a:solidFill>
                    <a:schemeClr val="bg1"/>
                  </a:solidFill>
                </a:rPr>
                <a:t>ER</a:t>
              </a:r>
              <a:r>
                <a:rPr lang="es-ES" b="0" dirty="0">
                  <a:solidFill>
                    <a:schemeClr val="tx1"/>
                  </a:solidFill>
                </a:rPr>
                <a:t>	</a:t>
              </a:r>
            </a:p>
            <a:p>
              <a:pPr algn="l" eaLnBrk="0" hangingPunct="0">
                <a:tabLst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  <a:tab pos="6097588" algn="l"/>
                </a:tabLst>
              </a:pPr>
              <a:r>
                <a:rPr lang="es-ES" dirty="0" err="1">
                  <a:solidFill>
                    <a:schemeClr val="tx1"/>
                  </a:solidFill>
                  <a:latin typeface="Courier New" pitchFamily="-84" charset="0"/>
                </a:rPr>
                <a:t>add</a:t>
              </a:r>
              <a:r>
                <a:rPr lang="es-ES" dirty="0">
                  <a:solidFill>
                    <a:schemeClr val="tx1"/>
                  </a:solidFill>
                  <a:latin typeface="Courier New" pitchFamily="-84" charset="0"/>
                </a:rPr>
                <a:t> t3, t2, t1</a:t>
              </a:r>
              <a:r>
                <a:rPr lang="es-ES" b="0" dirty="0">
                  <a:solidFill>
                    <a:schemeClr val="tx1"/>
                  </a:solidFill>
                </a:rPr>
                <a:t>		LI	</a:t>
              </a:r>
              <a:r>
                <a:rPr lang="es-ES" b="0" dirty="0">
                  <a:solidFill>
                    <a:schemeClr val="bg1"/>
                  </a:solidFill>
                </a:rPr>
                <a:t>DI</a:t>
              </a:r>
              <a:r>
                <a:rPr lang="es-ES" b="0" dirty="0">
                  <a:solidFill>
                    <a:schemeClr val="tx1"/>
                  </a:solidFill>
                </a:rPr>
                <a:t>	EX	M	</a:t>
              </a:r>
              <a:r>
                <a:rPr lang="es-ES" b="0" dirty="0">
                  <a:solidFill>
                    <a:schemeClr val="bg1"/>
                  </a:solidFill>
                </a:rPr>
                <a:t>ER</a:t>
              </a:r>
              <a:r>
                <a:rPr lang="es-ES" b="0" dirty="0">
                  <a:solidFill>
                    <a:schemeClr val="tx1"/>
                  </a:solidFill>
                </a:rPr>
                <a:t>	</a:t>
              </a:r>
            </a:p>
            <a:p>
              <a:pPr algn="l" eaLnBrk="0" hangingPunct="0">
                <a:tabLst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  <a:tab pos="6097588" algn="l"/>
                </a:tabLst>
              </a:pPr>
              <a:r>
                <a:rPr lang="es-ES" dirty="0" err="1">
                  <a:solidFill>
                    <a:schemeClr val="tx1"/>
                  </a:solidFill>
                  <a:latin typeface="Courier New" pitchFamily="-84" charset="0"/>
                </a:rPr>
                <a:t>sw</a:t>
              </a:r>
              <a:r>
                <a:rPr lang="es-ES" dirty="0">
                  <a:solidFill>
                    <a:schemeClr val="tx1"/>
                  </a:solidFill>
                  <a:latin typeface="Courier New" pitchFamily="-84" charset="0"/>
                </a:rPr>
                <a:t> t3, c(t0)</a:t>
              </a:r>
              <a:r>
                <a:rPr lang="es-ES" b="0" dirty="0">
                  <a:solidFill>
                    <a:schemeClr val="tx1"/>
                  </a:solidFill>
                </a:rPr>
                <a:t>				LI	</a:t>
              </a:r>
              <a:r>
                <a:rPr lang="es-ES" b="0" dirty="0">
                  <a:solidFill>
                    <a:schemeClr val="bg1"/>
                  </a:solidFill>
                </a:rPr>
                <a:t>DI</a:t>
              </a:r>
              <a:r>
                <a:rPr lang="es-ES" b="0" dirty="0">
                  <a:solidFill>
                    <a:schemeClr val="tx1"/>
                  </a:solidFill>
                </a:rPr>
                <a:t>	EX	M	ER</a:t>
              </a:r>
            </a:p>
          </p:txBody>
        </p:sp>
        <p:sp>
          <p:nvSpPr>
            <p:cNvPr id="64525" name="Line 6"/>
            <p:cNvSpPr>
              <a:spLocks noChangeShapeType="1"/>
            </p:cNvSpPr>
            <p:nvPr/>
          </p:nvSpPr>
          <p:spPr bwMode="auto">
            <a:xfrm>
              <a:off x="1236114" y="2348701"/>
              <a:ext cx="6553200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21" name="Text Box 28"/>
            <p:cNvSpPr txBox="1">
              <a:spLocks noChangeArrowheads="1"/>
            </p:cNvSpPr>
            <p:nvPr/>
          </p:nvSpPr>
          <p:spPr bwMode="blackWhite">
            <a:xfrm>
              <a:off x="5978287" y="2237477"/>
              <a:ext cx="213200" cy="30777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dirty="0">
                  <a:solidFill>
                    <a:srgbClr val="FF3300"/>
                  </a:solidFill>
                </a:rPr>
                <a:t>t1</a:t>
              </a:r>
            </a:p>
          </p:txBody>
        </p:sp>
        <p:sp>
          <p:nvSpPr>
            <p:cNvPr id="64522" name="Text Box 29"/>
            <p:cNvSpPr txBox="1">
              <a:spLocks noChangeArrowheads="1"/>
            </p:cNvSpPr>
            <p:nvPr/>
          </p:nvSpPr>
          <p:spPr bwMode="blackWhite">
            <a:xfrm>
              <a:off x="6587887" y="2618477"/>
              <a:ext cx="213200" cy="30777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dirty="0">
                  <a:solidFill>
                    <a:srgbClr val="FF3300"/>
                  </a:solidFill>
                </a:rPr>
                <a:t>t2</a:t>
              </a:r>
            </a:p>
          </p:txBody>
        </p:sp>
        <p:sp>
          <p:nvSpPr>
            <p:cNvPr id="64523" name="Text Box 30"/>
            <p:cNvSpPr txBox="1">
              <a:spLocks noChangeArrowheads="1"/>
            </p:cNvSpPr>
            <p:nvPr/>
          </p:nvSpPr>
          <p:spPr bwMode="blackWhite">
            <a:xfrm>
              <a:off x="7143512" y="2999477"/>
              <a:ext cx="213200" cy="30777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dirty="0">
                  <a:solidFill>
                    <a:srgbClr val="FF3300"/>
                  </a:solidFill>
                </a:rPr>
                <a:t>t3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12">
            <a:extLst>
              <a:ext uri="{FF2B5EF4-FFF2-40B4-BE49-F238E27FC236}">
                <a16:creationId xmlns:a16="http://schemas.microsoft.com/office/drawing/2014/main" id="{04E81536-D429-7B7D-CAB8-267520A03374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746965" y="4079507"/>
            <a:ext cx="381000" cy="304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5" name="Oval 12">
            <a:extLst>
              <a:ext uri="{FF2B5EF4-FFF2-40B4-BE49-F238E27FC236}">
                <a16:creationId xmlns:a16="http://schemas.microsoft.com/office/drawing/2014/main" id="{D73A62D6-3308-33D2-4105-72B0AE0AA75D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148064" y="3694906"/>
            <a:ext cx="381000" cy="304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64518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Los Conflictos de Datos</a:t>
            </a:r>
          </a:p>
        </p:txBody>
      </p:sp>
      <p:sp>
        <p:nvSpPr>
          <p:cNvPr id="64519" name="Rectangle 8"/>
          <p:cNvSpPr>
            <a:spLocks noGrp="1" noChangeArrowheads="1"/>
          </p:cNvSpPr>
          <p:nvPr>
            <p:ph idx="1"/>
          </p:nvPr>
        </p:nvSpPr>
        <p:spPr>
          <a:xfrm>
            <a:off x="684213" y="1066800"/>
            <a:ext cx="8250237" cy="5256212"/>
          </a:xfrm>
        </p:spPr>
        <p:txBody>
          <a:bodyPr>
            <a:normAutofit/>
          </a:bodyPr>
          <a:lstStyle/>
          <a:p>
            <a:r>
              <a:rPr lang="es-ES" dirty="0"/>
              <a:t>Conflictos de datos dentro de un procesador segmentado</a:t>
            </a:r>
          </a:p>
          <a:p>
            <a:pPr lvl="1"/>
            <a:r>
              <a:rPr lang="es-ES" sz="1600" i="1" dirty="0">
                <a:solidFill>
                  <a:srgbClr val="FF0000"/>
                </a:solidFill>
                <a:latin typeface="Arial" pitchFamily="-84" charset="0"/>
                <a:ea typeface="ＭＳ Ｐゴシック" pitchFamily="-84" charset="-128"/>
              </a:rPr>
              <a:t>Mejora: escritura (por flanco) en banco de registros a mitad de ciclo (ER), lectura (por</a:t>
            </a:r>
            <a:r>
              <a:rPr lang="es-ES" sz="1400" i="1" dirty="0">
                <a:solidFill>
                  <a:srgbClr val="FF0000"/>
                </a:solidFill>
                <a:latin typeface="Arial" pitchFamily="-84" charset="0"/>
                <a:ea typeface="ＭＳ Ｐゴシック" pitchFamily="-84" charset="-128"/>
              </a:rPr>
              <a:t> </a:t>
            </a:r>
            <a:r>
              <a:rPr lang="es-ES" sz="1600" i="1" dirty="0">
                <a:solidFill>
                  <a:srgbClr val="FF0000"/>
                </a:solidFill>
                <a:latin typeface="Arial" pitchFamily="-84" charset="0"/>
                <a:ea typeface="ＭＳ Ｐゴシック" pitchFamily="-84" charset="-128"/>
              </a:rPr>
              <a:t>nivel) en la segunda mitad de ciclo (DI)</a:t>
            </a:r>
            <a:endParaRPr lang="es-ES" sz="2000" i="1" dirty="0">
              <a:solidFill>
                <a:srgbClr val="FF0000"/>
              </a:solidFill>
              <a:latin typeface="Arial" pitchFamily="-84" charset="0"/>
              <a:ea typeface="ＭＳ Ｐゴシック" pitchFamily="-84" charset="-128"/>
            </a:endParaRPr>
          </a:p>
        </p:txBody>
      </p:sp>
      <p:sp>
        <p:nvSpPr>
          <p:cNvPr id="64514" name="6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EE2698B-1C5F-E44E-87D0-E45024D00AB0}" type="slidenum">
              <a:rPr lang="en-US"/>
              <a:pPr/>
              <a:t>40</a:t>
            </a:fld>
            <a:endParaRPr lang="en-US"/>
          </a:p>
        </p:txBody>
      </p:sp>
      <p:sp>
        <p:nvSpPr>
          <p:cNvPr id="64520" name="Rectangle 9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4572000"/>
            <a:ext cx="8853487" cy="2286000"/>
          </a:xfrm>
        </p:spPr>
        <p:txBody>
          <a:bodyPr>
            <a:noAutofit/>
          </a:bodyPr>
          <a:lstStyle/>
          <a:p>
            <a:r>
              <a:rPr lang="es-ES" sz="1800" dirty="0">
                <a:latin typeface="Arial" pitchFamily="-84" charset="0"/>
                <a:ea typeface="ＭＳ Ｐゴシック" pitchFamily="-84" charset="-128"/>
              </a:rPr>
              <a:t>¿Qué dependencias producen un resultado incorrecto?</a:t>
            </a:r>
          </a:p>
          <a:p>
            <a:r>
              <a:rPr lang="es-ES" sz="1800" dirty="0">
                <a:solidFill>
                  <a:srgbClr val="FF0000"/>
                </a:solidFill>
                <a:latin typeface="Arial" pitchFamily="-84" charset="0"/>
                <a:ea typeface="ＭＳ Ｐゴシック" pitchFamily="-84" charset="-128"/>
              </a:rPr>
              <a:t>Una </a:t>
            </a:r>
            <a:r>
              <a:rPr lang="es-ES" sz="1800" i="1" dirty="0">
                <a:solidFill>
                  <a:srgbClr val="FF0000"/>
                </a:solidFill>
                <a:latin typeface="Arial" pitchFamily="-84" charset="0"/>
                <a:ea typeface="ＭＳ Ｐゴシック" pitchFamily="-84" charset="-128"/>
              </a:rPr>
              <a:t>dependencia</a:t>
            </a:r>
            <a:r>
              <a:rPr lang="es-ES" sz="1800" dirty="0">
                <a:solidFill>
                  <a:srgbClr val="FF0000"/>
                </a:solidFill>
                <a:latin typeface="Arial" pitchFamily="-84" charset="0"/>
                <a:ea typeface="ＭＳ Ｐゴシック" pitchFamily="-84" charset="-128"/>
              </a:rPr>
              <a:t> que produce un resultado incorrecto al ejecutar las instrucciones sobre una ruta de datos en concreto, se dice que genera un </a:t>
            </a:r>
            <a:r>
              <a:rPr lang="es-ES" sz="1800" i="1" dirty="0">
                <a:solidFill>
                  <a:srgbClr val="FF0000"/>
                </a:solidFill>
                <a:latin typeface="Arial" pitchFamily="-84" charset="0"/>
                <a:ea typeface="ＭＳ Ｐゴシック" pitchFamily="-84" charset="-128"/>
              </a:rPr>
              <a:t>riesgo o conflicto</a:t>
            </a:r>
          </a:p>
        </p:txBody>
      </p:sp>
      <p:grpSp>
        <p:nvGrpSpPr>
          <p:cNvPr id="22" name="Agrupar 21"/>
          <p:cNvGrpSpPr/>
          <p:nvPr/>
        </p:nvGrpSpPr>
        <p:grpSpPr>
          <a:xfrm>
            <a:off x="1331640" y="2413337"/>
            <a:ext cx="6699591" cy="2031325"/>
            <a:chOff x="1236114" y="1934165"/>
            <a:chExt cx="6699591" cy="2031325"/>
          </a:xfrm>
        </p:grpSpPr>
        <p:grpSp>
          <p:nvGrpSpPr>
            <p:cNvPr id="2" name="Group 20"/>
            <p:cNvGrpSpPr>
              <a:grpSpLocks/>
            </p:cNvGrpSpPr>
            <p:nvPr/>
          </p:nvGrpSpPr>
          <p:grpSpPr bwMode="auto">
            <a:xfrm>
              <a:off x="4522790" y="2428875"/>
              <a:ext cx="1541463" cy="739775"/>
              <a:chOff x="2849" y="1530"/>
              <a:chExt cx="971" cy="466"/>
            </a:xfrm>
          </p:grpSpPr>
          <p:sp>
            <p:nvSpPr>
              <p:cNvPr id="64529" name="Oval 12"/>
              <p:cNvSpPr>
                <a:spLocks noChangeArrowheads="1"/>
              </p:cNvSpPr>
              <p:nvPr/>
            </p:nvSpPr>
            <p:spPr bwMode="blackWhite">
              <a:xfrm>
                <a:off x="2849" y="1804"/>
                <a:ext cx="240" cy="19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endParaRPr lang="en-US" dirty="0"/>
              </a:p>
            </p:txBody>
          </p:sp>
          <p:sp>
            <p:nvSpPr>
              <p:cNvPr id="64531" name="Oval 14"/>
              <p:cNvSpPr>
                <a:spLocks noChangeArrowheads="1"/>
              </p:cNvSpPr>
              <p:nvPr/>
            </p:nvSpPr>
            <p:spPr bwMode="blackWhite">
              <a:xfrm>
                <a:off x="3580" y="1530"/>
                <a:ext cx="240" cy="19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endParaRPr lang="en-US"/>
              </a:p>
            </p:txBody>
          </p:sp>
          <p:sp>
            <p:nvSpPr>
              <p:cNvPr id="64533" name="Freeform 19"/>
              <p:cNvSpPr>
                <a:spLocks/>
              </p:cNvSpPr>
              <p:nvPr/>
            </p:nvSpPr>
            <p:spPr bwMode="blackWhite">
              <a:xfrm>
                <a:off x="3089" y="1722"/>
                <a:ext cx="532" cy="136"/>
              </a:xfrm>
              <a:custGeom>
                <a:avLst/>
                <a:gdLst>
                  <a:gd name="T0" fmla="*/ 480 w 480"/>
                  <a:gd name="T1" fmla="*/ 0 h 96"/>
                  <a:gd name="T2" fmla="*/ 250 w 480"/>
                  <a:gd name="T3" fmla="*/ 38 h 96"/>
                  <a:gd name="T4" fmla="*/ 0 w 480"/>
                  <a:gd name="T5" fmla="*/ 96 h 96"/>
                  <a:gd name="T6" fmla="*/ 0 60000 65536"/>
                  <a:gd name="T7" fmla="*/ 0 60000 65536"/>
                  <a:gd name="T8" fmla="*/ 0 60000 65536"/>
                  <a:gd name="T9" fmla="*/ 0 w 480"/>
                  <a:gd name="T10" fmla="*/ 0 h 96"/>
                  <a:gd name="T11" fmla="*/ 480 w 480"/>
                  <a:gd name="T12" fmla="*/ 96 h 9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0" h="96">
                    <a:moveTo>
                      <a:pt x="480" y="0"/>
                    </a:moveTo>
                    <a:cubicBezTo>
                      <a:pt x="480" y="0"/>
                      <a:pt x="340" y="28"/>
                      <a:pt x="250" y="38"/>
                    </a:cubicBezTo>
                    <a:cubicBezTo>
                      <a:pt x="160" y="48"/>
                      <a:pt x="52" y="84"/>
                      <a:pt x="0" y="96"/>
                    </a:cubicBezTo>
                  </a:path>
                </a:pathLst>
              </a:custGeom>
              <a:ln>
                <a:headEnd/>
                <a:tailEnd type="triangle" w="med" len="med"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en-US" dirty="0"/>
              </a:p>
            </p:txBody>
          </p:sp>
        </p:grpSp>
        <p:sp>
          <p:nvSpPr>
            <p:cNvPr id="64525" name="Line 6"/>
            <p:cNvSpPr>
              <a:spLocks noChangeShapeType="1"/>
            </p:cNvSpPr>
            <p:nvPr/>
          </p:nvSpPr>
          <p:spPr bwMode="auto">
            <a:xfrm>
              <a:off x="1236114" y="2348701"/>
              <a:ext cx="6553200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21" name="Text Box 28"/>
            <p:cNvSpPr txBox="1">
              <a:spLocks noChangeArrowheads="1"/>
            </p:cNvSpPr>
            <p:nvPr/>
          </p:nvSpPr>
          <p:spPr bwMode="blackWhite">
            <a:xfrm>
              <a:off x="6167345" y="2372276"/>
              <a:ext cx="213200" cy="30777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dirty="0">
                  <a:solidFill>
                    <a:srgbClr val="FF3300"/>
                  </a:solidFill>
                </a:rPr>
                <a:t>t1</a:t>
              </a:r>
            </a:p>
          </p:txBody>
        </p:sp>
        <p:sp>
          <p:nvSpPr>
            <p:cNvPr id="64524" name="Text Box 5"/>
            <p:cNvSpPr txBox="1">
              <a:spLocks noChangeArrowheads="1"/>
            </p:cNvSpPr>
            <p:nvPr/>
          </p:nvSpPr>
          <p:spPr bwMode="auto">
            <a:xfrm>
              <a:off x="1236114" y="1934165"/>
              <a:ext cx="6699591" cy="203132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l" eaLnBrk="0" hangingPunct="0">
                <a:tabLst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  <a:tab pos="6097588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instrucción	1	2	3	4	5	6	7	8</a:t>
              </a:r>
            </a:p>
            <a:p>
              <a:pPr algn="l" eaLnBrk="0" hangingPunct="0">
                <a:lnSpc>
                  <a:spcPct val="150000"/>
                </a:lnSpc>
                <a:tabLst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  <a:tab pos="6097588" algn="l"/>
                </a:tabLst>
              </a:pPr>
              <a:r>
                <a:rPr lang="es-ES" dirty="0" err="1">
                  <a:solidFill>
                    <a:schemeClr val="tx1"/>
                  </a:solidFill>
                  <a:latin typeface="Courier New" pitchFamily="-84" charset="0"/>
                </a:rPr>
                <a:t>lw</a:t>
              </a:r>
              <a:r>
                <a:rPr lang="es-ES" dirty="0">
                  <a:solidFill>
                    <a:schemeClr val="tx1"/>
                  </a:solidFill>
                  <a:latin typeface="Courier New" pitchFamily="-84" charset="0"/>
                </a:rPr>
                <a:t>  t1, a(t0)</a:t>
              </a:r>
              <a:r>
                <a:rPr lang="es-ES" b="0" dirty="0">
                  <a:solidFill>
                    <a:schemeClr val="tx1"/>
                  </a:solidFill>
                </a:rPr>
                <a:t>	LI	DI	EX	M	</a:t>
              </a:r>
              <a:r>
                <a:rPr lang="es-ES" b="0" dirty="0">
                  <a:solidFill>
                    <a:schemeClr val="bg1"/>
                  </a:solidFill>
                </a:rPr>
                <a:t>ER</a:t>
              </a:r>
              <a:endParaRPr lang="es-ES" b="0" dirty="0">
                <a:solidFill>
                  <a:schemeClr val="tx1"/>
                </a:solidFill>
              </a:endParaRPr>
            </a:p>
            <a:p>
              <a:pPr algn="l" eaLnBrk="0" hangingPunct="0">
                <a:tabLst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  <a:tab pos="6097588" algn="l"/>
                </a:tabLst>
              </a:pPr>
              <a:r>
                <a:rPr lang="es-ES" dirty="0" err="1">
                  <a:solidFill>
                    <a:schemeClr val="tx1"/>
                  </a:solidFill>
                  <a:latin typeface="Courier New" pitchFamily="-84" charset="0"/>
                </a:rPr>
                <a:t>add</a:t>
              </a:r>
              <a:r>
                <a:rPr lang="es-ES" dirty="0">
                  <a:solidFill>
                    <a:schemeClr val="tx1"/>
                  </a:solidFill>
                  <a:latin typeface="Courier New" pitchFamily="-84" charset="0"/>
                </a:rPr>
                <a:t> t3, t2, t1</a:t>
              </a:r>
              <a:r>
                <a:rPr lang="es-ES" b="0" dirty="0">
                  <a:solidFill>
                    <a:schemeClr val="tx1"/>
                  </a:solidFill>
                </a:rPr>
                <a:t>	LI	</a:t>
              </a:r>
              <a:r>
                <a:rPr lang="es-ES" b="0" dirty="0">
                  <a:solidFill>
                    <a:schemeClr val="bg1"/>
                  </a:solidFill>
                </a:rPr>
                <a:t>DI</a:t>
              </a:r>
              <a:r>
                <a:rPr lang="es-ES" b="0" dirty="0">
                  <a:solidFill>
                    <a:schemeClr val="tx1"/>
                  </a:solidFill>
                </a:rPr>
                <a:t>	EX	M	ER</a:t>
              </a:r>
              <a:r>
                <a:rPr lang="es-ES" b="0" dirty="0">
                  <a:solidFill>
                    <a:schemeClr val="bg1"/>
                  </a:solidFill>
                </a:rPr>
                <a:t>ER</a:t>
              </a:r>
              <a:r>
                <a:rPr lang="es-ES" b="0" dirty="0">
                  <a:solidFill>
                    <a:schemeClr val="tx1"/>
                  </a:solidFill>
                </a:rPr>
                <a:t>	</a:t>
              </a:r>
            </a:p>
            <a:p>
              <a:pPr algn="l" eaLnBrk="0" hangingPunct="0">
                <a:tabLst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  <a:tab pos="6097588" algn="l"/>
                </a:tabLst>
              </a:pPr>
              <a:r>
                <a:rPr lang="es-ES" dirty="0">
                  <a:solidFill>
                    <a:schemeClr val="tx1"/>
                  </a:solidFill>
                  <a:latin typeface="Courier New" pitchFamily="-84" charset="0"/>
                </a:rPr>
                <a:t>sub t4, t2, t1</a:t>
              </a:r>
              <a:r>
                <a:rPr lang="es-ES" b="0" dirty="0">
                  <a:solidFill>
                    <a:schemeClr val="tx1"/>
                  </a:solidFill>
                </a:rPr>
                <a:t>		LI	</a:t>
              </a:r>
              <a:r>
                <a:rPr lang="es-ES" dirty="0">
                  <a:solidFill>
                    <a:schemeClr val="bg1"/>
                  </a:solidFill>
                </a:rPr>
                <a:t>DI </a:t>
              </a:r>
              <a:r>
                <a:rPr lang="es-ES" dirty="0"/>
                <a:t>   </a:t>
              </a:r>
              <a:r>
                <a:rPr lang="es-ES" b="0" dirty="0">
                  <a:solidFill>
                    <a:schemeClr val="tx1"/>
                  </a:solidFill>
                </a:rPr>
                <a:t>EX	M 	ER</a:t>
              </a:r>
              <a:r>
                <a:rPr lang="es-ES" b="0" dirty="0">
                  <a:solidFill>
                    <a:schemeClr val="bg1"/>
                  </a:solidFill>
                </a:rPr>
                <a:t>ER</a:t>
              </a:r>
              <a:r>
                <a:rPr lang="es-ES" b="0" dirty="0">
                  <a:solidFill>
                    <a:schemeClr val="tx1"/>
                  </a:solidFill>
                </a:rPr>
                <a:t>	</a:t>
              </a:r>
            </a:p>
            <a:p>
              <a:pPr algn="l" eaLnBrk="0" hangingPunct="0">
                <a:tabLst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  <a:tab pos="6097588" algn="l"/>
                </a:tabLst>
              </a:pPr>
              <a:r>
                <a:rPr lang="es-ES" dirty="0" err="1">
                  <a:solidFill>
                    <a:schemeClr val="tx1"/>
                  </a:solidFill>
                  <a:latin typeface="Courier New" pitchFamily="-84" charset="0"/>
                </a:rPr>
                <a:t>or</a:t>
              </a:r>
              <a:r>
                <a:rPr lang="es-ES" dirty="0">
                  <a:solidFill>
                    <a:schemeClr val="tx1"/>
                  </a:solidFill>
                  <a:latin typeface="Courier New" pitchFamily="-84" charset="0"/>
                </a:rPr>
                <a:t>  t5, t2, t1</a:t>
              </a:r>
              <a:r>
                <a:rPr lang="es-ES" b="0" dirty="0">
                  <a:solidFill>
                    <a:schemeClr val="tx1"/>
                  </a:solidFill>
                </a:rPr>
                <a:t>			LI	</a:t>
              </a:r>
              <a:r>
                <a:rPr lang="es-ES" b="0" dirty="0">
                  <a:solidFill>
                    <a:schemeClr val="bg1"/>
                  </a:solidFill>
                </a:rPr>
                <a:t>DI</a:t>
              </a:r>
              <a:r>
                <a:rPr lang="es-ES" dirty="0">
                  <a:solidFill>
                    <a:schemeClr val="bg1"/>
                  </a:solidFill>
                </a:rPr>
                <a:t> </a:t>
              </a:r>
              <a:r>
                <a:rPr lang="es-ES" b="0" dirty="0">
                  <a:solidFill>
                    <a:schemeClr val="bg1"/>
                  </a:solidFill>
                </a:rPr>
                <a:t>   </a:t>
              </a:r>
              <a:r>
                <a:rPr lang="es-ES" b="0" dirty="0">
                  <a:solidFill>
                    <a:schemeClr val="tx1"/>
                  </a:solidFill>
                </a:rPr>
                <a:t>EX	M	ER</a:t>
              </a:r>
            </a:p>
          </p:txBody>
        </p:sp>
      </p:grpSp>
      <p:sp>
        <p:nvSpPr>
          <p:cNvPr id="8" name="Freeform 19">
            <a:extLst>
              <a:ext uri="{FF2B5EF4-FFF2-40B4-BE49-F238E27FC236}">
                <a16:creationId xmlns:a16="http://schemas.microsoft.com/office/drawing/2014/main" id="{F5F8EB12-B6BA-763D-2551-F17E1D1BBB3E}"/>
              </a:ext>
            </a:extLst>
          </p:cNvPr>
          <p:cNvSpPr>
            <a:spLocks/>
          </p:cNvSpPr>
          <p:nvPr/>
        </p:nvSpPr>
        <p:spPr bwMode="blackWhite">
          <a:xfrm>
            <a:off x="5529064" y="3242410"/>
            <a:ext cx="314802" cy="474614"/>
          </a:xfrm>
          <a:custGeom>
            <a:avLst/>
            <a:gdLst>
              <a:gd name="T0" fmla="*/ 480 w 480"/>
              <a:gd name="T1" fmla="*/ 0 h 96"/>
              <a:gd name="T2" fmla="*/ 250 w 480"/>
              <a:gd name="T3" fmla="*/ 38 h 96"/>
              <a:gd name="T4" fmla="*/ 0 w 480"/>
              <a:gd name="T5" fmla="*/ 96 h 96"/>
              <a:gd name="T6" fmla="*/ 0 60000 65536"/>
              <a:gd name="T7" fmla="*/ 0 60000 65536"/>
              <a:gd name="T8" fmla="*/ 0 60000 65536"/>
              <a:gd name="T9" fmla="*/ 0 w 480"/>
              <a:gd name="T10" fmla="*/ 0 h 96"/>
              <a:gd name="T11" fmla="*/ 480 w 480"/>
              <a:gd name="T12" fmla="*/ 96 h 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96">
                <a:moveTo>
                  <a:pt x="480" y="0"/>
                </a:moveTo>
                <a:cubicBezTo>
                  <a:pt x="480" y="0"/>
                  <a:pt x="340" y="28"/>
                  <a:pt x="250" y="38"/>
                </a:cubicBezTo>
                <a:cubicBezTo>
                  <a:pt x="160" y="48"/>
                  <a:pt x="52" y="84"/>
                  <a:pt x="0" y="96"/>
                </a:cubicBezTo>
              </a:path>
            </a:pathLst>
          </a:custGeom>
          <a:ln>
            <a:headEnd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tIns="0" rIns="0" bIns="0" anchor="ctr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9" name="Freeform 19">
            <a:extLst>
              <a:ext uri="{FF2B5EF4-FFF2-40B4-BE49-F238E27FC236}">
                <a16:creationId xmlns:a16="http://schemas.microsoft.com/office/drawing/2014/main" id="{774AC262-4567-7F0D-345C-B73D8B138ACF}"/>
              </a:ext>
            </a:extLst>
          </p:cNvPr>
          <p:cNvSpPr>
            <a:spLocks/>
          </p:cNvSpPr>
          <p:nvPr/>
        </p:nvSpPr>
        <p:spPr bwMode="blackWhite">
          <a:xfrm flipH="1">
            <a:off x="5843865" y="3212847"/>
            <a:ext cx="150814" cy="866660"/>
          </a:xfrm>
          <a:custGeom>
            <a:avLst/>
            <a:gdLst>
              <a:gd name="T0" fmla="*/ 480 w 480"/>
              <a:gd name="T1" fmla="*/ 0 h 96"/>
              <a:gd name="T2" fmla="*/ 250 w 480"/>
              <a:gd name="T3" fmla="*/ 38 h 96"/>
              <a:gd name="T4" fmla="*/ 0 w 480"/>
              <a:gd name="T5" fmla="*/ 96 h 96"/>
              <a:gd name="T6" fmla="*/ 0 60000 65536"/>
              <a:gd name="T7" fmla="*/ 0 60000 65536"/>
              <a:gd name="T8" fmla="*/ 0 60000 65536"/>
              <a:gd name="T9" fmla="*/ 0 w 480"/>
              <a:gd name="T10" fmla="*/ 0 h 96"/>
              <a:gd name="T11" fmla="*/ 480 w 480"/>
              <a:gd name="T12" fmla="*/ 96 h 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96">
                <a:moveTo>
                  <a:pt x="480" y="0"/>
                </a:moveTo>
                <a:cubicBezTo>
                  <a:pt x="480" y="0"/>
                  <a:pt x="340" y="28"/>
                  <a:pt x="250" y="38"/>
                </a:cubicBezTo>
                <a:cubicBezTo>
                  <a:pt x="160" y="48"/>
                  <a:pt x="52" y="84"/>
                  <a:pt x="0" y="96"/>
                </a:cubicBezTo>
              </a:path>
            </a:pathLst>
          </a:custGeom>
          <a:ln>
            <a:headEnd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tIns="0" rIns="0" bIns="0" anchor="ctr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8629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Los Conflictos de Datos</a:t>
            </a:r>
          </a:p>
        </p:txBody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Técnicas básicas de resolución de conflictos</a:t>
            </a:r>
          </a:p>
          <a:p>
            <a:pPr lvl="1"/>
            <a:r>
              <a:rPr lang="es-ES" dirty="0"/>
              <a:t>Técnicas de urgencia</a:t>
            </a:r>
          </a:p>
          <a:p>
            <a:pPr lvl="2"/>
            <a:r>
              <a:rPr lang="es-ES" dirty="0"/>
              <a:t>Solución por software: inserción de instrucciones </a:t>
            </a:r>
            <a:r>
              <a:rPr lang="es-ES" dirty="0" err="1">
                <a:latin typeface="Consolas" panose="020B0609020204030204" pitchFamily="49" charset="0"/>
                <a:cs typeface="Consolas" panose="020B0609020204030204" pitchFamily="49" charset="0"/>
              </a:rPr>
              <a:t>nop</a:t>
            </a:r>
            <a:r>
              <a:rPr lang="es-ES" dirty="0"/>
              <a:t> en el código</a:t>
            </a:r>
          </a:p>
          <a:p>
            <a:pPr lvl="2"/>
            <a:r>
              <a:rPr lang="es-ES" dirty="0"/>
              <a:t>Solución por hardware: generación de ciclos de parada</a:t>
            </a:r>
          </a:p>
          <a:p>
            <a:pPr lvl="1"/>
            <a:r>
              <a:rPr lang="es-ES" dirty="0"/>
              <a:t>Técnicas avanzadas</a:t>
            </a:r>
          </a:p>
          <a:p>
            <a:pPr lvl="2"/>
            <a:r>
              <a:rPr lang="es-ES" dirty="0"/>
              <a:t>Cortocircuitos</a:t>
            </a:r>
          </a:p>
        </p:txBody>
      </p:sp>
      <p:sp>
        <p:nvSpPr>
          <p:cNvPr id="65538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54A01-F8A7-9842-A8B3-321BA96E2F19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6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837E44F-1383-EF4D-8762-997E6ACCC09A}" type="slidenum">
              <a:rPr lang="en-US"/>
              <a:pPr/>
              <a:t>42</a:t>
            </a:fld>
            <a:endParaRPr lang="en-US"/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524750" cy="457200"/>
          </a:xfrm>
        </p:spPr>
        <p:txBody>
          <a:bodyPr/>
          <a:lstStyle/>
          <a:p>
            <a:r>
              <a:rPr lang="es-ES" dirty="0"/>
              <a:t>Los Conflictos de Datos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76262" y="838200"/>
            <a:ext cx="8567738" cy="1654175"/>
          </a:xfrm>
        </p:spPr>
        <p:txBody>
          <a:bodyPr>
            <a:normAutofit fontScale="92500"/>
          </a:bodyPr>
          <a:lstStyle/>
          <a:p>
            <a:r>
              <a:rPr lang="es-ES" dirty="0"/>
              <a:t>Solución de urgencia por software: inserción de instrucciones nop</a:t>
            </a:r>
          </a:p>
          <a:p>
            <a:pPr lvl="1"/>
            <a:r>
              <a:rPr lang="es-ES" dirty="0">
                <a:latin typeface="Arial" pitchFamily="-84" charset="0"/>
                <a:ea typeface="ＭＳ Ｐゴシック" pitchFamily="-84" charset="-128"/>
              </a:rPr>
              <a:t>Al generar el código m</a:t>
            </a:r>
            <a:r>
              <a:rPr lang="es-ES_tradnl" dirty="0" err="1">
                <a:latin typeface="Arial" pitchFamily="-84" charset="0"/>
                <a:ea typeface="ＭＳ Ｐゴシック" pitchFamily="-84" charset="-128"/>
              </a:rPr>
              <a:t>á</a:t>
            </a:r>
            <a:r>
              <a:rPr lang="es-ES" dirty="0">
                <a:latin typeface="Arial" pitchFamily="-84" charset="0"/>
                <a:ea typeface="ＭＳ Ｐゴシック" pitchFamily="-84" charset="-128"/>
              </a:rPr>
              <a:t>quina, el compilador puede insertar instrucciones </a:t>
            </a:r>
            <a:r>
              <a:rPr lang="es-ES" b="1" dirty="0">
                <a:solidFill>
                  <a:srgbClr val="FF0000"/>
                </a:solidFill>
                <a:latin typeface="Arial" pitchFamily="-84" charset="0"/>
                <a:ea typeface="ＭＳ Ｐゴシック" pitchFamily="-84" charset="-128"/>
              </a:rPr>
              <a:t>nop</a:t>
            </a:r>
            <a:endParaRPr lang="es-ES" dirty="0">
              <a:latin typeface="Arial" pitchFamily="-84" charset="0"/>
              <a:ea typeface="ＭＳ Ｐゴシック" pitchFamily="-84" charset="-128"/>
            </a:endParaRPr>
          </a:p>
          <a:p>
            <a:pPr lvl="1"/>
            <a:r>
              <a:rPr lang="es-ES" dirty="0">
                <a:latin typeface="Arial" pitchFamily="-84" charset="0"/>
                <a:ea typeface="ＭＳ Ｐゴシック" pitchFamily="-84" charset="-128"/>
              </a:rPr>
              <a:t>Ejemplo: compilación de </a:t>
            </a:r>
            <a:r>
              <a:rPr lang="es-ES" i="1" dirty="0">
                <a:solidFill>
                  <a:schemeClr val="tx2"/>
                </a:solidFill>
                <a:latin typeface="Arial" pitchFamily="-84" charset="0"/>
                <a:ea typeface="ＭＳ Ｐゴシック" pitchFamily="-84" charset="-128"/>
              </a:rPr>
              <a:t>c:=a+b </a:t>
            </a:r>
            <a:endParaRPr lang="es-ES" dirty="0">
              <a:latin typeface="Arial" pitchFamily="-84" charset="0"/>
              <a:ea typeface="ＭＳ Ｐゴシック" pitchFamily="-84" charset="-128"/>
            </a:endParaRPr>
          </a:p>
        </p:txBody>
      </p:sp>
      <p:sp>
        <p:nvSpPr>
          <p:cNvPr id="6161" name="Oval 8"/>
          <p:cNvSpPr>
            <a:spLocks noChangeArrowheads="1"/>
          </p:cNvSpPr>
          <p:nvPr/>
        </p:nvSpPr>
        <p:spPr bwMode="blackWhite">
          <a:xfrm>
            <a:off x="5210057" y="4391379"/>
            <a:ext cx="381000" cy="304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6162" name="Oval 9"/>
          <p:cNvSpPr>
            <a:spLocks noChangeArrowheads="1"/>
          </p:cNvSpPr>
          <p:nvPr/>
        </p:nvSpPr>
        <p:spPr bwMode="blackWhite">
          <a:xfrm>
            <a:off x="5229513" y="3290887"/>
            <a:ext cx="381000" cy="304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6163" name="Oval 10"/>
          <p:cNvSpPr>
            <a:spLocks noChangeArrowheads="1"/>
          </p:cNvSpPr>
          <p:nvPr/>
        </p:nvSpPr>
        <p:spPr bwMode="blackWhite">
          <a:xfrm>
            <a:off x="4716016" y="2850735"/>
            <a:ext cx="381000" cy="304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6164" name="Freeform 11"/>
          <p:cNvSpPr>
            <a:spLocks/>
          </p:cNvSpPr>
          <p:nvPr/>
        </p:nvSpPr>
        <p:spPr bwMode="blackWhite">
          <a:xfrm>
            <a:off x="5486400" y="3576636"/>
            <a:ext cx="171450" cy="842963"/>
          </a:xfrm>
          <a:custGeom>
            <a:avLst/>
            <a:gdLst>
              <a:gd name="T0" fmla="*/ 0 w 96"/>
              <a:gd name="T1" fmla="*/ 0 h 412"/>
              <a:gd name="T2" fmla="*/ 96 w 96"/>
              <a:gd name="T3" fmla="*/ 247 h 412"/>
              <a:gd name="T4" fmla="*/ 0 w 96"/>
              <a:gd name="T5" fmla="*/ 412 h 412"/>
              <a:gd name="T6" fmla="*/ 0 60000 65536"/>
              <a:gd name="T7" fmla="*/ 0 60000 65536"/>
              <a:gd name="T8" fmla="*/ 0 60000 65536"/>
              <a:gd name="T9" fmla="*/ 0 w 96"/>
              <a:gd name="T10" fmla="*/ 0 h 412"/>
              <a:gd name="T11" fmla="*/ 96 w 96"/>
              <a:gd name="T12" fmla="*/ 412 h 4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" h="412">
                <a:moveTo>
                  <a:pt x="0" y="0"/>
                </a:moveTo>
                <a:cubicBezTo>
                  <a:pt x="15" y="41"/>
                  <a:pt x="96" y="178"/>
                  <a:pt x="96" y="247"/>
                </a:cubicBezTo>
                <a:cubicBezTo>
                  <a:pt x="96" y="315"/>
                  <a:pt x="19" y="377"/>
                  <a:pt x="0" y="412"/>
                </a:cubicBezTo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square" lIns="0" tIns="0" rIns="0" bIns="0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165" name="Freeform 12"/>
          <p:cNvSpPr>
            <a:spLocks/>
          </p:cNvSpPr>
          <p:nvPr/>
        </p:nvSpPr>
        <p:spPr bwMode="blackWhite">
          <a:xfrm>
            <a:off x="5048250" y="3214686"/>
            <a:ext cx="209550" cy="1204913"/>
          </a:xfrm>
          <a:custGeom>
            <a:avLst/>
            <a:gdLst>
              <a:gd name="T0" fmla="*/ 0 w 144"/>
              <a:gd name="T1" fmla="*/ 0 h 656"/>
              <a:gd name="T2" fmla="*/ 48 w 144"/>
              <a:gd name="T3" fmla="*/ 353 h 656"/>
              <a:gd name="T4" fmla="*/ 144 w 144"/>
              <a:gd name="T5" fmla="*/ 656 h 656"/>
              <a:gd name="T6" fmla="*/ 0 60000 65536"/>
              <a:gd name="T7" fmla="*/ 0 60000 65536"/>
              <a:gd name="T8" fmla="*/ 0 60000 65536"/>
              <a:gd name="T9" fmla="*/ 0 w 144"/>
              <a:gd name="T10" fmla="*/ 0 h 656"/>
              <a:gd name="T11" fmla="*/ 144 w 144"/>
              <a:gd name="T12" fmla="*/ 656 h 6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" h="656">
                <a:moveTo>
                  <a:pt x="0" y="0"/>
                </a:moveTo>
                <a:cubicBezTo>
                  <a:pt x="32" y="100"/>
                  <a:pt x="24" y="243"/>
                  <a:pt x="48" y="353"/>
                </a:cubicBezTo>
                <a:cubicBezTo>
                  <a:pt x="71" y="462"/>
                  <a:pt x="124" y="593"/>
                  <a:pt x="144" y="656"/>
                </a:cubicBezTo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square" lIns="0" tIns="0" rIns="0" bIns="0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158" name="Oval 33"/>
          <p:cNvSpPr>
            <a:spLocks noChangeArrowheads="1"/>
          </p:cNvSpPr>
          <p:nvPr/>
        </p:nvSpPr>
        <p:spPr bwMode="blackWhite">
          <a:xfrm>
            <a:off x="6627931" y="5476993"/>
            <a:ext cx="381000" cy="304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6159" name="Oval 34"/>
          <p:cNvSpPr>
            <a:spLocks noChangeArrowheads="1"/>
          </p:cNvSpPr>
          <p:nvPr/>
        </p:nvSpPr>
        <p:spPr bwMode="blackWhite">
          <a:xfrm>
            <a:off x="6646745" y="4371621"/>
            <a:ext cx="381000" cy="304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6160" name="Freeform 35"/>
          <p:cNvSpPr>
            <a:spLocks/>
          </p:cNvSpPr>
          <p:nvPr/>
        </p:nvSpPr>
        <p:spPr bwMode="blackWhite">
          <a:xfrm>
            <a:off x="7010400" y="4491038"/>
            <a:ext cx="84138" cy="1071562"/>
          </a:xfrm>
          <a:custGeom>
            <a:avLst/>
            <a:gdLst>
              <a:gd name="T0" fmla="*/ 0 w 96"/>
              <a:gd name="T1" fmla="*/ 0 h 412"/>
              <a:gd name="T2" fmla="*/ 96 w 96"/>
              <a:gd name="T3" fmla="*/ 247 h 412"/>
              <a:gd name="T4" fmla="*/ 0 w 96"/>
              <a:gd name="T5" fmla="*/ 412 h 412"/>
              <a:gd name="T6" fmla="*/ 0 60000 65536"/>
              <a:gd name="T7" fmla="*/ 0 60000 65536"/>
              <a:gd name="T8" fmla="*/ 0 60000 65536"/>
              <a:gd name="T9" fmla="*/ 0 w 96"/>
              <a:gd name="T10" fmla="*/ 0 h 412"/>
              <a:gd name="T11" fmla="*/ 96 w 96"/>
              <a:gd name="T12" fmla="*/ 412 h 4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" h="412">
                <a:moveTo>
                  <a:pt x="0" y="0"/>
                </a:moveTo>
                <a:cubicBezTo>
                  <a:pt x="15" y="41"/>
                  <a:pt x="96" y="178"/>
                  <a:pt x="96" y="247"/>
                </a:cubicBezTo>
                <a:cubicBezTo>
                  <a:pt x="96" y="315"/>
                  <a:pt x="19" y="377"/>
                  <a:pt x="0" y="412"/>
                </a:cubicBezTo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square" lIns="0" tIns="0" rIns="0" bIns="0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153" name="Text Box 5"/>
          <p:cNvSpPr txBox="1">
            <a:spLocks noChangeArrowheads="1"/>
          </p:cNvSpPr>
          <p:nvPr/>
        </p:nvSpPr>
        <p:spPr bwMode="auto">
          <a:xfrm>
            <a:off x="708025" y="2371655"/>
            <a:ext cx="7884190" cy="3477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 eaLnBrk="0" hangingPunct="0">
              <a:tabLst>
                <a:tab pos="2092325" algn="l"/>
                <a:tab pos="2571750" algn="l"/>
                <a:tab pos="3043238" algn="l"/>
                <a:tab pos="3525838" algn="l"/>
                <a:tab pos="3998913" algn="l"/>
                <a:tab pos="4481513" algn="l"/>
                <a:tab pos="4954588" algn="l"/>
                <a:tab pos="5426075" algn="l"/>
                <a:tab pos="5908675" algn="l"/>
                <a:tab pos="6381750" algn="l"/>
                <a:tab pos="6853238" algn="l"/>
                <a:tab pos="7335838" algn="l"/>
                <a:tab pos="7808913" algn="l"/>
                <a:tab pos="8291513" algn="l"/>
                <a:tab pos="8858250" algn="l"/>
              </a:tabLst>
            </a:pPr>
            <a:r>
              <a:rPr lang="es-ES" sz="1800" dirty="0"/>
              <a:t>instrucción	</a:t>
            </a:r>
            <a:r>
              <a:rPr lang="es-ES" sz="1800" dirty="0">
                <a:latin typeface="Arial Narrow" pitchFamily="-84" charset="0"/>
              </a:rPr>
              <a:t>1	2	3	4	5	6	7	8	9	10	11	12</a:t>
            </a:r>
            <a:endParaRPr lang="es-ES" dirty="0">
              <a:solidFill>
                <a:schemeClr val="tx1"/>
              </a:solidFill>
            </a:endParaRPr>
          </a:p>
          <a:p>
            <a:pPr algn="l" eaLnBrk="0" hangingPunct="0">
              <a:lnSpc>
                <a:spcPct val="150000"/>
              </a:lnSpc>
              <a:tabLst>
                <a:tab pos="2092325" algn="l"/>
                <a:tab pos="2571750" algn="l"/>
                <a:tab pos="3043238" algn="l"/>
                <a:tab pos="3525838" algn="l"/>
                <a:tab pos="3998913" algn="l"/>
                <a:tab pos="4481513" algn="l"/>
                <a:tab pos="4954588" algn="l"/>
                <a:tab pos="5426075" algn="l"/>
                <a:tab pos="5908675" algn="l"/>
                <a:tab pos="6381750" algn="l"/>
                <a:tab pos="6853238" algn="l"/>
                <a:tab pos="7335838" algn="l"/>
                <a:tab pos="7808913" algn="l"/>
                <a:tab pos="8291513" algn="l"/>
                <a:tab pos="8858250" algn="l"/>
              </a:tabLst>
            </a:pPr>
            <a:r>
              <a:rPr lang="es-ES" dirty="0" err="1">
                <a:solidFill>
                  <a:schemeClr val="tx1"/>
                </a:solidFill>
                <a:latin typeface="Courier New" pitchFamily="-84" charset="0"/>
              </a:rPr>
              <a:t>lw</a:t>
            </a:r>
            <a:r>
              <a:rPr lang="es-ES" dirty="0">
                <a:solidFill>
                  <a:schemeClr val="tx1"/>
                </a:solidFill>
                <a:latin typeface="Courier New" pitchFamily="-84" charset="0"/>
              </a:rPr>
              <a:t> t1, a(t0)</a:t>
            </a:r>
            <a:r>
              <a:rPr lang="es-ES" dirty="0">
                <a:solidFill>
                  <a:schemeClr val="tx1"/>
                </a:solidFill>
              </a:rPr>
              <a:t>	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LI	DI	EX	M	</a:t>
            </a:r>
            <a:r>
              <a:rPr lang="es-ES" dirty="0">
                <a:solidFill>
                  <a:schemeClr val="bg1"/>
                </a:solidFill>
                <a:latin typeface="Arial Narrow" pitchFamily="-84" charset="0"/>
              </a:rPr>
              <a:t>ER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	</a:t>
            </a:r>
          </a:p>
          <a:p>
            <a:pPr algn="l" eaLnBrk="0" hangingPunct="0">
              <a:tabLst>
                <a:tab pos="2092325" algn="l"/>
                <a:tab pos="2571750" algn="l"/>
                <a:tab pos="3043238" algn="l"/>
                <a:tab pos="3525838" algn="l"/>
                <a:tab pos="3998913" algn="l"/>
                <a:tab pos="4481513" algn="l"/>
                <a:tab pos="4954588" algn="l"/>
                <a:tab pos="5426075" algn="l"/>
                <a:tab pos="5908675" algn="l"/>
                <a:tab pos="6381750" algn="l"/>
                <a:tab pos="6853238" algn="l"/>
                <a:tab pos="7335838" algn="l"/>
                <a:tab pos="7808913" algn="l"/>
                <a:tab pos="8291513" algn="l"/>
                <a:tab pos="8858250" algn="l"/>
              </a:tabLst>
            </a:pPr>
            <a:r>
              <a:rPr lang="es-ES" dirty="0" err="1">
                <a:solidFill>
                  <a:schemeClr val="tx1"/>
                </a:solidFill>
                <a:latin typeface="Courier New" pitchFamily="-84" charset="0"/>
              </a:rPr>
              <a:t>lw</a:t>
            </a:r>
            <a:r>
              <a:rPr lang="es-ES" dirty="0">
                <a:solidFill>
                  <a:schemeClr val="tx1"/>
                </a:solidFill>
                <a:latin typeface="Courier New" pitchFamily="-84" charset="0"/>
              </a:rPr>
              <a:t> t2, b(t0)</a:t>
            </a:r>
            <a:r>
              <a:rPr lang="es-ES" dirty="0">
                <a:solidFill>
                  <a:schemeClr val="tx1"/>
                </a:solidFill>
              </a:rPr>
              <a:t>		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LI	DI	EX	M	</a:t>
            </a:r>
            <a:r>
              <a:rPr lang="es-ES" dirty="0">
                <a:solidFill>
                  <a:schemeClr val="bg1"/>
                </a:solidFill>
                <a:latin typeface="Arial Narrow" pitchFamily="-84" charset="0"/>
              </a:rPr>
              <a:t>ER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	</a:t>
            </a:r>
          </a:p>
          <a:p>
            <a:pPr algn="l" eaLnBrk="0" hangingPunct="0">
              <a:tabLst>
                <a:tab pos="2092325" algn="l"/>
                <a:tab pos="2571750" algn="l"/>
                <a:tab pos="3043238" algn="l"/>
                <a:tab pos="3525838" algn="l"/>
                <a:tab pos="3998913" algn="l"/>
                <a:tab pos="4481513" algn="l"/>
                <a:tab pos="4954588" algn="l"/>
                <a:tab pos="5426075" algn="l"/>
                <a:tab pos="5908675" algn="l"/>
                <a:tab pos="6381750" algn="l"/>
                <a:tab pos="6853238" algn="l"/>
                <a:tab pos="7335838" algn="l"/>
                <a:tab pos="7808913" algn="l"/>
                <a:tab pos="8291513" algn="l"/>
                <a:tab pos="8858250" algn="l"/>
              </a:tabLst>
            </a:pPr>
            <a:r>
              <a:rPr lang="es-ES" b="1" dirty="0" err="1">
                <a:solidFill>
                  <a:srgbClr val="FF0000"/>
                </a:solidFill>
                <a:latin typeface="Courier New" pitchFamily="-84" charset="0"/>
              </a:rPr>
              <a:t>nop</a:t>
            </a:r>
            <a:r>
              <a:rPr lang="es-ES" dirty="0">
                <a:solidFill>
                  <a:schemeClr val="tx1"/>
                </a:solidFill>
              </a:rPr>
              <a:t>			</a:t>
            </a:r>
            <a:r>
              <a:rPr lang="es-ES" dirty="0">
                <a:latin typeface="Arial Narrow" pitchFamily="-84" charset="0"/>
              </a:rPr>
              <a:t>LI	DI	EX	M	ER	</a:t>
            </a:r>
          </a:p>
          <a:p>
            <a:pPr algn="l" eaLnBrk="0" hangingPunct="0">
              <a:tabLst>
                <a:tab pos="2092325" algn="l"/>
                <a:tab pos="2571750" algn="l"/>
                <a:tab pos="3043238" algn="l"/>
                <a:tab pos="3525838" algn="l"/>
                <a:tab pos="3998913" algn="l"/>
                <a:tab pos="4481513" algn="l"/>
                <a:tab pos="4954588" algn="l"/>
                <a:tab pos="5426075" algn="l"/>
                <a:tab pos="5908675" algn="l"/>
                <a:tab pos="6381750" algn="l"/>
                <a:tab pos="6853238" algn="l"/>
                <a:tab pos="7335838" algn="l"/>
                <a:tab pos="7808913" algn="l"/>
                <a:tab pos="8291513" algn="l"/>
                <a:tab pos="8858250" algn="l"/>
              </a:tabLst>
            </a:pPr>
            <a:r>
              <a:rPr lang="es-ES" b="1" dirty="0" err="1">
                <a:solidFill>
                  <a:srgbClr val="FF0000"/>
                </a:solidFill>
                <a:latin typeface="Courier New" pitchFamily="-84" charset="0"/>
              </a:rPr>
              <a:t>nop</a:t>
            </a:r>
            <a:r>
              <a:rPr lang="es-ES" dirty="0"/>
              <a:t>				</a:t>
            </a:r>
            <a:r>
              <a:rPr lang="es-ES" dirty="0">
                <a:latin typeface="Arial Narrow" pitchFamily="-84" charset="0"/>
              </a:rPr>
              <a:t>LI	DI	EX	M	ER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	</a:t>
            </a:r>
          </a:p>
          <a:p>
            <a:pPr algn="l" eaLnBrk="0" hangingPunct="0">
              <a:tabLst>
                <a:tab pos="2092325" algn="l"/>
                <a:tab pos="2571750" algn="l"/>
                <a:tab pos="3043238" algn="l"/>
                <a:tab pos="3525838" algn="l"/>
                <a:tab pos="3998913" algn="l"/>
                <a:tab pos="4481513" algn="l"/>
                <a:tab pos="4954588" algn="l"/>
                <a:tab pos="5426075" algn="l"/>
                <a:tab pos="5908675" algn="l"/>
                <a:tab pos="6381750" algn="l"/>
                <a:tab pos="6853238" algn="l"/>
                <a:tab pos="7335838" algn="l"/>
                <a:tab pos="7808913" algn="l"/>
                <a:tab pos="8291513" algn="l"/>
                <a:tab pos="8858250" algn="l"/>
              </a:tabLst>
            </a:pPr>
            <a:r>
              <a:rPr lang="es-ES" dirty="0" err="1">
                <a:solidFill>
                  <a:schemeClr val="tx1"/>
                </a:solidFill>
                <a:latin typeface="Courier New" pitchFamily="-84" charset="0"/>
              </a:rPr>
              <a:t>add</a:t>
            </a:r>
            <a:r>
              <a:rPr lang="es-ES" dirty="0">
                <a:solidFill>
                  <a:schemeClr val="tx1"/>
                </a:solidFill>
                <a:latin typeface="Courier New" pitchFamily="-84" charset="0"/>
              </a:rPr>
              <a:t> t3, t2, t1</a:t>
            </a:r>
            <a:r>
              <a:rPr lang="es-ES" dirty="0">
                <a:solidFill>
                  <a:schemeClr val="tx1"/>
                </a:solidFill>
              </a:rPr>
              <a:t>				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LI	</a:t>
            </a:r>
            <a:r>
              <a:rPr lang="es-ES" dirty="0">
                <a:solidFill>
                  <a:schemeClr val="bg1"/>
                </a:solidFill>
                <a:latin typeface="Arial Narrow" pitchFamily="-84" charset="0"/>
              </a:rPr>
              <a:t>DI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	EX	M	</a:t>
            </a:r>
            <a:r>
              <a:rPr lang="es-ES" dirty="0">
                <a:solidFill>
                  <a:schemeClr val="bg1"/>
                </a:solidFill>
                <a:latin typeface="Arial Narrow" pitchFamily="-84" charset="0"/>
              </a:rPr>
              <a:t>ER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	</a:t>
            </a:r>
          </a:p>
          <a:p>
            <a:pPr algn="l" eaLnBrk="0" hangingPunct="0">
              <a:tabLst>
                <a:tab pos="2092325" algn="l"/>
                <a:tab pos="2571750" algn="l"/>
                <a:tab pos="3043238" algn="l"/>
                <a:tab pos="3525838" algn="l"/>
                <a:tab pos="3998913" algn="l"/>
                <a:tab pos="4481513" algn="l"/>
                <a:tab pos="4954588" algn="l"/>
                <a:tab pos="5426075" algn="l"/>
                <a:tab pos="5908675" algn="l"/>
                <a:tab pos="6381750" algn="l"/>
                <a:tab pos="6853238" algn="l"/>
                <a:tab pos="7335838" algn="l"/>
                <a:tab pos="7808913" algn="l"/>
                <a:tab pos="8291513" algn="l"/>
                <a:tab pos="8858250" algn="l"/>
              </a:tabLst>
            </a:pPr>
            <a:r>
              <a:rPr lang="es-ES" b="1" dirty="0" err="1">
                <a:solidFill>
                  <a:srgbClr val="FF0000"/>
                </a:solidFill>
                <a:latin typeface="Courier New" pitchFamily="-84" charset="0"/>
              </a:rPr>
              <a:t>nop</a:t>
            </a:r>
            <a:r>
              <a:rPr lang="es-ES" dirty="0">
                <a:solidFill>
                  <a:schemeClr val="tx1"/>
                </a:solidFill>
              </a:rPr>
              <a:t>						</a:t>
            </a:r>
            <a:r>
              <a:rPr lang="es-ES" dirty="0">
                <a:latin typeface="Arial Narrow" pitchFamily="-84" charset="0"/>
              </a:rPr>
              <a:t>LI	DI	EX	M	ER	</a:t>
            </a:r>
            <a:endParaRPr lang="es-ES" dirty="0"/>
          </a:p>
          <a:p>
            <a:pPr algn="l" eaLnBrk="0" hangingPunct="0">
              <a:tabLst>
                <a:tab pos="2092325" algn="l"/>
                <a:tab pos="2571750" algn="l"/>
                <a:tab pos="3043238" algn="l"/>
                <a:tab pos="3525838" algn="l"/>
                <a:tab pos="3998913" algn="l"/>
                <a:tab pos="4481513" algn="l"/>
                <a:tab pos="4954588" algn="l"/>
                <a:tab pos="5426075" algn="l"/>
                <a:tab pos="5908675" algn="l"/>
                <a:tab pos="6381750" algn="l"/>
                <a:tab pos="6853238" algn="l"/>
                <a:tab pos="7335838" algn="l"/>
                <a:tab pos="7808913" algn="l"/>
                <a:tab pos="8291513" algn="l"/>
                <a:tab pos="8858250" algn="l"/>
              </a:tabLst>
            </a:pPr>
            <a:r>
              <a:rPr lang="es-ES" b="1" dirty="0" err="1">
                <a:solidFill>
                  <a:srgbClr val="FF0000"/>
                </a:solidFill>
                <a:latin typeface="Courier New" pitchFamily="-84" charset="0"/>
              </a:rPr>
              <a:t>nop</a:t>
            </a:r>
            <a:r>
              <a:rPr lang="es-ES" dirty="0"/>
              <a:t>							</a:t>
            </a:r>
            <a:r>
              <a:rPr lang="es-ES" dirty="0">
                <a:latin typeface="Arial Narrow" pitchFamily="-84" charset="0"/>
              </a:rPr>
              <a:t>LI	DI	EX	M	ER	</a:t>
            </a:r>
          </a:p>
          <a:p>
            <a:pPr algn="l" eaLnBrk="0" hangingPunct="0">
              <a:tabLst>
                <a:tab pos="2092325" algn="l"/>
                <a:tab pos="2571750" algn="l"/>
                <a:tab pos="3043238" algn="l"/>
                <a:tab pos="3525838" algn="l"/>
                <a:tab pos="3998913" algn="l"/>
                <a:tab pos="4481513" algn="l"/>
                <a:tab pos="4954588" algn="l"/>
                <a:tab pos="5426075" algn="l"/>
                <a:tab pos="5908675" algn="l"/>
                <a:tab pos="6381750" algn="l"/>
                <a:tab pos="6853238" algn="l"/>
                <a:tab pos="7335838" algn="l"/>
                <a:tab pos="7808913" algn="l"/>
                <a:tab pos="8291513" algn="l"/>
                <a:tab pos="8858250" algn="l"/>
              </a:tabLst>
            </a:pPr>
            <a:r>
              <a:rPr lang="es-ES" dirty="0" err="1">
                <a:solidFill>
                  <a:schemeClr val="tx1"/>
                </a:solidFill>
                <a:latin typeface="Courier New" pitchFamily="-84" charset="0"/>
              </a:rPr>
              <a:t>sw</a:t>
            </a:r>
            <a:r>
              <a:rPr lang="es-ES" dirty="0">
                <a:solidFill>
                  <a:schemeClr val="tx1"/>
                </a:solidFill>
                <a:latin typeface="Courier New" pitchFamily="-84" charset="0"/>
              </a:rPr>
              <a:t> t3, c(t0)</a:t>
            </a:r>
            <a:r>
              <a:rPr lang="es-ES" dirty="0">
                <a:solidFill>
                  <a:schemeClr val="tx1"/>
                </a:solidFill>
              </a:rPr>
              <a:t>								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LI	</a:t>
            </a:r>
            <a:r>
              <a:rPr lang="es-ES" dirty="0">
                <a:solidFill>
                  <a:schemeClr val="bg1"/>
                </a:solidFill>
                <a:latin typeface="Arial Narrow" pitchFamily="-84" charset="0"/>
              </a:rPr>
              <a:t>DI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	EX	M	ER</a:t>
            </a:r>
          </a:p>
        </p:txBody>
      </p:sp>
      <p:sp>
        <p:nvSpPr>
          <p:cNvPr id="6154" name="Line 6"/>
          <p:cNvSpPr>
            <a:spLocks noChangeShapeType="1"/>
          </p:cNvSpPr>
          <p:nvPr/>
        </p:nvSpPr>
        <p:spPr bwMode="auto">
          <a:xfrm>
            <a:off x="685800" y="2865438"/>
            <a:ext cx="7848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55" name="Text Box 38"/>
          <p:cNvSpPr txBox="1">
            <a:spLocks noChangeArrowheads="1"/>
          </p:cNvSpPr>
          <p:nvPr/>
        </p:nvSpPr>
        <p:spPr bwMode="blackWhite">
          <a:xfrm>
            <a:off x="5049057" y="2601888"/>
            <a:ext cx="213200" cy="30777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_tradnl" dirty="0">
                <a:solidFill>
                  <a:srgbClr val="FF3300"/>
                </a:solidFill>
              </a:rPr>
              <a:t>t1</a:t>
            </a:r>
          </a:p>
        </p:txBody>
      </p:sp>
      <p:sp>
        <p:nvSpPr>
          <p:cNvPr id="6156" name="Text Box 39"/>
          <p:cNvSpPr txBox="1">
            <a:spLocks noChangeArrowheads="1"/>
          </p:cNvSpPr>
          <p:nvPr/>
        </p:nvSpPr>
        <p:spPr bwMode="blackWhite">
          <a:xfrm>
            <a:off x="5407832" y="2906688"/>
            <a:ext cx="213200" cy="30777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_tradnl" dirty="0">
                <a:solidFill>
                  <a:srgbClr val="FF3300"/>
                </a:solidFill>
              </a:rPr>
              <a:t>t2</a:t>
            </a:r>
          </a:p>
        </p:txBody>
      </p:sp>
      <p:sp>
        <p:nvSpPr>
          <p:cNvPr id="6157" name="Text Box 40"/>
          <p:cNvSpPr txBox="1">
            <a:spLocks noChangeArrowheads="1"/>
          </p:cNvSpPr>
          <p:nvPr/>
        </p:nvSpPr>
        <p:spPr bwMode="blackWhite">
          <a:xfrm>
            <a:off x="6746478" y="4081129"/>
            <a:ext cx="317897" cy="30777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squar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_tradnl" dirty="0">
                <a:solidFill>
                  <a:srgbClr val="FF3300"/>
                </a:solidFill>
              </a:rPr>
              <a:t>t3</a:t>
            </a:r>
          </a:p>
        </p:txBody>
      </p:sp>
      <p:graphicFrame>
        <p:nvGraphicFramePr>
          <p:cNvPr id="6146" name="Object 2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72950296"/>
              </p:ext>
            </p:extLst>
          </p:nvPr>
        </p:nvGraphicFramePr>
        <p:xfrm>
          <a:off x="3361658" y="5781793"/>
          <a:ext cx="19431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028520" imgH="393480" progId="Equation.3">
                  <p:embed/>
                </p:oleObj>
              </mc:Choice>
              <mc:Fallback>
                <p:oleObj name="Ecuación" r:id="rId3" imgW="1028520" imgH="3934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361658" y="5781793"/>
                        <a:ext cx="1943100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6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FCADF8C-1FE9-C74F-95B8-E2D8BD10D6C8}" type="slidenum">
              <a:rPr lang="en-US"/>
              <a:pPr/>
              <a:t>43</a:t>
            </a:fld>
            <a:endParaRPr lang="en-US"/>
          </a:p>
        </p:txBody>
      </p:sp>
      <p:sp>
        <p:nvSpPr>
          <p:cNvPr id="7192" name="Oval 12"/>
          <p:cNvSpPr>
            <a:spLocks noChangeArrowheads="1"/>
          </p:cNvSpPr>
          <p:nvPr/>
        </p:nvSpPr>
        <p:spPr bwMode="blackWhite">
          <a:xfrm>
            <a:off x="6608475" y="3629510"/>
            <a:ext cx="381000" cy="304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7193" name="Oval 13"/>
          <p:cNvSpPr>
            <a:spLocks noChangeArrowheads="1"/>
          </p:cNvSpPr>
          <p:nvPr/>
        </p:nvSpPr>
        <p:spPr bwMode="blackWhite">
          <a:xfrm>
            <a:off x="6637338" y="3200400"/>
            <a:ext cx="381000" cy="304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7194" name="Freeform 14"/>
          <p:cNvSpPr>
            <a:spLocks/>
          </p:cNvSpPr>
          <p:nvPr/>
        </p:nvSpPr>
        <p:spPr bwMode="blackWhite">
          <a:xfrm>
            <a:off x="7010400" y="3352800"/>
            <a:ext cx="177800" cy="381000"/>
          </a:xfrm>
          <a:custGeom>
            <a:avLst/>
            <a:gdLst>
              <a:gd name="T0" fmla="*/ 0 w 112"/>
              <a:gd name="T1" fmla="*/ 0 h 156"/>
              <a:gd name="T2" fmla="*/ 112 w 112"/>
              <a:gd name="T3" fmla="*/ 46 h 156"/>
              <a:gd name="T4" fmla="*/ 0 w 112"/>
              <a:gd name="T5" fmla="*/ 156 h 156"/>
              <a:gd name="T6" fmla="*/ 0 60000 65536"/>
              <a:gd name="T7" fmla="*/ 0 60000 65536"/>
              <a:gd name="T8" fmla="*/ 0 60000 65536"/>
              <a:gd name="T9" fmla="*/ 0 w 112"/>
              <a:gd name="T10" fmla="*/ 0 h 156"/>
              <a:gd name="T11" fmla="*/ 112 w 112"/>
              <a:gd name="T12" fmla="*/ 156 h 1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2" h="156">
                <a:moveTo>
                  <a:pt x="0" y="0"/>
                </a:moveTo>
                <a:cubicBezTo>
                  <a:pt x="18" y="7"/>
                  <a:pt x="112" y="19"/>
                  <a:pt x="112" y="46"/>
                </a:cubicBezTo>
                <a:cubicBezTo>
                  <a:pt x="112" y="71"/>
                  <a:pt x="19" y="143"/>
                  <a:pt x="0" y="156"/>
                </a:cubicBezTo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square" lIns="0" tIns="0" rIns="0" bIns="0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195" name="Text Box 19"/>
          <p:cNvSpPr txBox="1">
            <a:spLocks noChangeArrowheads="1"/>
          </p:cNvSpPr>
          <p:nvPr/>
        </p:nvSpPr>
        <p:spPr bwMode="blackWhite">
          <a:xfrm>
            <a:off x="6816488" y="2894112"/>
            <a:ext cx="213199" cy="30777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_tradnl" dirty="0">
                <a:solidFill>
                  <a:srgbClr val="FF3300"/>
                </a:solidFill>
              </a:rPr>
              <a:t>t3</a:t>
            </a:r>
          </a:p>
        </p:txBody>
      </p:sp>
      <p:sp>
        <p:nvSpPr>
          <p:cNvPr id="7185" name="Oval 6"/>
          <p:cNvSpPr>
            <a:spLocks noChangeArrowheads="1"/>
          </p:cNvSpPr>
          <p:nvPr/>
        </p:nvSpPr>
        <p:spPr bwMode="blackWhite">
          <a:xfrm>
            <a:off x="5171787" y="3267754"/>
            <a:ext cx="381000" cy="304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7186" name="Oval 7"/>
          <p:cNvSpPr>
            <a:spLocks noChangeArrowheads="1"/>
          </p:cNvSpPr>
          <p:nvPr/>
        </p:nvSpPr>
        <p:spPr bwMode="blackWhite">
          <a:xfrm>
            <a:off x="5200650" y="2895600"/>
            <a:ext cx="381000" cy="304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7187" name="Oval 8"/>
          <p:cNvSpPr>
            <a:spLocks noChangeArrowheads="1"/>
          </p:cNvSpPr>
          <p:nvPr/>
        </p:nvSpPr>
        <p:spPr bwMode="blackWhite">
          <a:xfrm>
            <a:off x="4743450" y="2547938"/>
            <a:ext cx="381000" cy="304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7188" name="Freeform 10"/>
          <p:cNvSpPr>
            <a:spLocks/>
          </p:cNvSpPr>
          <p:nvPr/>
        </p:nvSpPr>
        <p:spPr bwMode="blackWhite">
          <a:xfrm>
            <a:off x="4972050" y="2863850"/>
            <a:ext cx="228600" cy="457200"/>
          </a:xfrm>
          <a:custGeom>
            <a:avLst/>
            <a:gdLst>
              <a:gd name="T0" fmla="*/ 0 w 144"/>
              <a:gd name="T1" fmla="*/ 0 h 656"/>
              <a:gd name="T2" fmla="*/ 48 w 144"/>
              <a:gd name="T3" fmla="*/ 0 h 656"/>
              <a:gd name="T4" fmla="*/ 144 w 144"/>
              <a:gd name="T5" fmla="*/ 0 h 656"/>
              <a:gd name="T6" fmla="*/ 0 60000 65536"/>
              <a:gd name="T7" fmla="*/ 0 60000 65536"/>
              <a:gd name="T8" fmla="*/ 0 60000 65536"/>
              <a:gd name="T9" fmla="*/ 0 w 144"/>
              <a:gd name="T10" fmla="*/ 0 h 656"/>
              <a:gd name="T11" fmla="*/ 144 w 144"/>
              <a:gd name="T12" fmla="*/ 656 h 6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" h="656">
                <a:moveTo>
                  <a:pt x="0" y="0"/>
                </a:moveTo>
                <a:cubicBezTo>
                  <a:pt x="32" y="100"/>
                  <a:pt x="24" y="243"/>
                  <a:pt x="48" y="353"/>
                </a:cubicBezTo>
                <a:cubicBezTo>
                  <a:pt x="71" y="462"/>
                  <a:pt x="124" y="593"/>
                  <a:pt x="144" y="656"/>
                </a:cubicBezTo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</p:spPr>
        <p:txBody>
          <a:bodyPr lIns="0" tIns="0" rIns="0" bIns="0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189" name="Text Box 17"/>
          <p:cNvSpPr txBox="1">
            <a:spLocks noChangeArrowheads="1"/>
          </p:cNvSpPr>
          <p:nvPr/>
        </p:nvSpPr>
        <p:spPr bwMode="blackWhite">
          <a:xfrm>
            <a:off x="5086113" y="2284512"/>
            <a:ext cx="213199" cy="30777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_tradnl" dirty="0">
                <a:solidFill>
                  <a:srgbClr val="FF3300"/>
                </a:solidFill>
              </a:rPr>
              <a:t>t1</a:t>
            </a:r>
          </a:p>
        </p:txBody>
      </p:sp>
      <p:sp>
        <p:nvSpPr>
          <p:cNvPr id="7190" name="Text Box 18"/>
          <p:cNvSpPr txBox="1">
            <a:spLocks noChangeArrowheads="1"/>
          </p:cNvSpPr>
          <p:nvPr/>
        </p:nvSpPr>
        <p:spPr bwMode="blackWhite">
          <a:xfrm>
            <a:off x="5444888" y="2575025"/>
            <a:ext cx="213199" cy="30777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_tradnl" dirty="0">
                <a:solidFill>
                  <a:srgbClr val="FF3300"/>
                </a:solidFill>
              </a:rPr>
              <a:t>t2</a:t>
            </a:r>
          </a:p>
        </p:txBody>
      </p:sp>
      <p:sp>
        <p:nvSpPr>
          <p:cNvPr id="7191" name="Freeform 20"/>
          <p:cNvSpPr>
            <a:spLocks/>
          </p:cNvSpPr>
          <p:nvPr/>
        </p:nvSpPr>
        <p:spPr bwMode="blackWhite">
          <a:xfrm>
            <a:off x="5562600" y="2971800"/>
            <a:ext cx="228600" cy="381000"/>
          </a:xfrm>
          <a:custGeom>
            <a:avLst/>
            <a:gdLst>
              <a:gd name="T0" fmla="*/ 0 w 144"/>
              <a:gd name="T1" fmla="*/ 0 h 192"/>
              <a:gd name="T2" fmla="*/ 144 w 144"/>
              <a:gd name="T3" fmla="*/ 96 h 192"/>
              <a:gd name="T4" fmla="*/ 0 w 144"/>
              <a:gd name="T5" fmla="*/ 192 h 192"/>
              <a:gd name="T6" fmla="*/ 0 60000 65536"/>
              <a:gd name="T7" fmla="*/ 0 60000 65536"/>
              <a:gd name="T8" fmla="*/ 0 60000 65536"/>
              <a:gd name="T9" fmla="*/ 0 w 144"/>
              <a:gd name="T10" fmla="*/ 0 h 192"/>
              <a:gd name="T11" fmla="*/ 144 w 144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" h="192">
                <a:moveTo>
                  <a:pt x="0" y="0"/>
                </a:moveTo>
                <a:cubicBezTo>
                  <a:pt x="24" y="16"/>
                  <a:pt x="144" y="64"/>
                  <a:pt x="144" y="96"/>
                </a:cubicBezTo>
                <a:cubicBezTo>
                  <a:pt x="144" y="128"/>
                  <a:pt x="29" y="172"/>
                  <a:pt x="0" y="192"/>
                </a:cubicBezTo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square" lIns="0" tIns="0" rIns="0" bIns="0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17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524750" cy="457200"/>
          </a:xfrm>
        </p:spPr>
        <p:txBody>
          <a:bodyPr/>
          <a:lstStyle/>
          <a:p>
            <a:r>
              <a:rPr lang="es-ES" dirty="0"/>
              <a:t>Los Conflictos de Datos</a:t>
            </a:r>
          </a:p>
        </p:txBody>
      </p:sp>
      <p:sp>
        <p:nvSpPr>
          <p:cNvPr id="717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92125" y="685800"/>
            <a:ext cx="8651875" cy="6019800"/>
          </a:xfrm>
        </p:spPr>
        <p:txBody>
          <a:bodyPr>
            <a:normAutofit/>
          </a:bodyPr>
          <a:lstStyle/>
          <a:p>
            <a:r>
              <a:rPr lang="es-ES" dirty="0"/>
              <a:t>Solución de urgencia por hardware: ciclos de parada</a:t>
            </a:r>
          </a:p>
          <a:p>
            <a:pPr lvl="1"/>
            <a:r>
              <a:rPr lang="es-ES" dirty="0">
                <a:latin typeface="Arial" pitchFamily="-84" charset="0"/>
                <a:ea typeface="ＭＳ Ｐゴシック" pitchFamily="-84" charset="-128"/>
              </a:rPr>
              <a:t>El control del procesador puede prever las dependencias de datos y generar ciclos de parada para resolverlas</a:t>
            </a:r>
          </a:p>
          <a:p>
            <a:pPr lvl="1"/>
            <a:endParaRPr lang="es-ES" dirty="0">
              <a:latin typeface="Arial" pitchFamily="-84" charset="0"/>
              <a:ea typeface="ＭＳ Ｐゴシック" pitchFamily="-84" charset="-128"/>
            </a:endParaRPr>
          </a:p>
          <a:p>
            <a:pPr lvl="1"/>
            <a:endParaRPr lang="es-ES" dirty="0">
              <a:latin typeface="Arial" pitchFamily="-84" charset="0"/>
              <a:ea typeface="ＭＳ Ｐゴシック" pitchFamily="-84" charset="-128"/>
            </a:endParaRPr>
          </a:p>
          <a:p>
            <a:pPr lvl="1"/>
            <a:endParaRPr lang="es-ES" dirty="0">
              <a:latin typeface="Arial" pitchFamily="-84" charset="0"/>
              <a:ea typeface="ＭＳ Ｐゴシック" pitchFamily="-84" charset="-128"/>
            </a:endParaRPr>
          </a:p>
          <a:p>
            <a:pPr lvl="1"/>
            <a:endParaRPr lang="es-ES" dirty="0">
              <a:latin typeface="Arial" pitchFamily="-84" charset="0"/>
              <a:ea typeface="ＭＳ Ｐゴシック" pitchFamily="-84" charset="-128"/>
            </a:endParaRPr>
          </a:p>
          <a:p>
            <a:pPr lvl="1"/>
            <a:endParaRPr lang="es-ES" dirty="0">
              <a:latin typeface="Arial" pitchFamily="-84" charset="0"/>
              <a:ea typeface="ＭＳ Ｐゴシック" pitchFamily="-84" charset="-128"/>
            </a:endParaRPr>
          </a:p>
          <a:p>
            <a:pPr lvl="1"/>
            <a:endParaRPr lang="es-ES" dirty="0">
              <a:latin typeface="Arial" pitchFamily="-84" charset="0"/>
              <a:ea typeface="ＭＳ Ｐゴシック" pitchFamily="-84" charset="-128"/>
            </a:endParaRPr>
          </a:p>
          <a:p>
            <a:pPr lvl="1">
              <a:buNone/>
            </a:pPr>
            <a:endParaRPr lang="es-ES" dirty="0">
              <a:latin typeface="Arial" pitchFamily="-84" charset="0"/>
              <a:ea typeface="ＭＳ Ｐゴシック" pitchFamily="-84" charset="-128"/>
            </a:endParaRPr>
          </a:p>
          <a:p>
            <a:pPr lvl="1"/>
            <a:r>
              <a:rPr lang="es-ES" dirty="0">
                <a:latin typeface="Arial" pitchFamily="-84" charset="0"/>
                <a:ea typeface="ＭＳ Ｐゴシック" pitchFamily="-84" charset="-128"/>
              </a:rPr>
              <a:t>Podemos calcular el CPI a partir del número de ciclos de parada (P)</a:t>
            </a:r>
          </a:p>
        </p:txBody>
      </p:sp>
      <p:sp>
        <p:nvSpPr>
          <p:cNvPr id="7177" name="Text Box 15"/>
          <p:cNvSpPr txBox="1">
            <a:spLocks noChangeArrowheads="1"/>
          </p:cNvSpPr>
          <p:nvPr/>
        </p:nvSpPr>
        <p:spPr bwMode="auto">
          <a:xfrm>
            <a:off x="685800" y="1990718"/>
            <a:ext cx="7884190" cy="200054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 eaLnBrk="0" hangingPunct="0">
              <a:tabLst>
                <a:tab pos="2092325" algn="l"/>
                <a:tab pos="2571750" algn="l"/>
                <a:tab pos="3043238" algn="l"/>
                <a:tab pos="3525838" algn="l"/>
                <a:tab pos="3998913" algn="l"/>
                <a:tab pos="4481513" algn="l"/>
                <a:tab pos="4954588" algn="l"/>
                <a:tab pos="5426075" algn="l"/>
                <a:tab pos="5908675" algn="l"/>
                <a:tab pos="6381750" algn="l"/>
                <a:tab pos="6853238" algn="l"/>
                <a:tab pos="7335838" algn="l"/>
                <a:tab pos="7808913" algn="l"/>
                <a:tab pos="8291513" algn="l"/>
                <a:tab pos="8858250" algn="l"/>
              </a:tabLst>
            </a:pPr>
            <a:r>
              <a:rPr lang="es-ES" sz="1800" dirty="0"/>
              <a:t>instrucción	</a:t>
            </a:r>
            <a:r>
              <a:rPr lang="es-ES" sz="1800" dirty="0">
                <a:latin typeface="Arial Narrow" pitchFamily="-84" charset="0"/>
              </a:rPr>
              <a:t>1	2	3	4	5	6	7	8	9	10	11	12</a:t>
            </a:r>
            <a:endParaRPr lang="es-ES" dirty="0">
              <a:solidFill>
                <a:schemeClr val="tx1"/>
              </a:solidFill>
            </a:endParaRPr>
          </a:p>
          <a:p>
            <a:pPr algn="l" eaLnBrk="0" hangingPunct="0">
              <a:lnSpc>
                <a:spcPct val="150000"/>
              </a:lnSpc>
              <a:tabLst>
                <a:tab pos="2092325" algn="l"/>
                <a:tab pos="2571750" algn="l"/>
                <a:tab pos="3043238" algn="l"/>
                <a:tab pos="3525838" algn="l"/>
                <a:tab pos="3998913" algn="l"/>
                <a:tab pos="4481513" algn="l"/>
                <a:tab pos="4954588" algn="l"/>
                <a:tab pos="5426075" algn="l"/>
                <a:tab pos="5908675" algn="l"/>
                <a:tab pos="6381750" algn="l"/>
                <a:tab pos="6853238" algn="l"/>
                <a:tab pos="7335838" algn="l"/>
                <a:tab pos="7808913" algn="l"/>
                <a:tab pos="8291513" algn="l"/>
                <a:tab pos="8858250" algn="l"/>
              </a:tabLst>
            </a:pPr>
            <a:r>
              <a:rPr lang="es-ES" dirty="0" err="1">
                <a:solidFill>
                  <a:schemeClr val="tx1"/>
                </a:solidFill>
                <a:latin typeface="Courier New" pitchFamily="-84" charset="0"/>
              </a:rPr>
              <a:t>lw</a:t>
            </a:r>
            <a:r>
              <a:rPr lang="es-ES" dirty="0">
                <a:solidFill>
                  <a:schemeClr val="tx1"/>
                </a:solidFill>
                <a:latin typeface="Courier New" pitchFamily="-84" charset="0"/>
              </a:rPr>
              <a:t> t1, a(t0)</a:t>
            </a:r>
            <a:r>
              <a:rPr lang="es-ES" dirty="0">
                <a:solidFill>
                  <a:schemeClr val="tx1"/>
                </a:solidFill>
              </a:rPr>
              <a:t>	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LI	DI	EX	M	</a:t>
            </a:r>
            <a:r>
              <a:rPr lang="es-ES" dirty="0">
                <a:solidFill>
                  <a:schemeClr val="bg1"/>
                </a:solidFill>
                <a:latin typeface="Arial Narrow" pitchFamily="-84" charset="0"/>
              </a:rPr>
              <a:t>ER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	</a:t>
            </a:r>
          </a:p>
          <a:p>
            <a:pPr algn="l" eaLnBrk="0" hangingPunct="0">
              <a:tabLst>
                <a:tab pos="2092325" algn="l"/>
                <a:tab pos="2571750" algn="l"/>
                <a:tab pos="3043238" algn="l"/>
                <a:tab pos="3525838" algn="l"/>
                <a:tab pos="3998913" algn="l"/>
                <a:tab pos="4481513" algn="l"/>
                <a:tab pos="4954588" algn="l"/>
                <a:tab pos="5426075" algn="l"/>
                <a:tab pos="5908675" algn="l"/>
                <a:tab pos="6381750" algn="l"/>
                <a:tab pos="6853238" algn="l"/>
                <a:tab pos="7335838" algn="l"/>
                <a:tab pos="7808913" algn="l"/>
                <a:tab pos="8291513" algn="l"/>
                <a:tab pos="8858250" algn="l"/>
              </a:tabLst>
            </a:pPr>
            <a:r>
              <a:rPr lang="es-ES" dirty="0" err="1">
                <a:solidFill>
                  <a:schemeClr val="tx1"/>
                </a:solidFill>
                <a:latin typeface="Courier New" pitchFamily="-84" charset="0"/>
              </a:rPr>
              <a:t>lw</a:t>
            </a:r>
            <a:r>
              <a:rPr lang="es-ES" dirty="0">
                <a:solidFill>
                  <a:schemeClr val="tx1"/>
                </a:solidFill>
                <a:latin typeface="Courier New" pitchFamily="-84" charset="0"/>
              </a:rPr>
              <a:t> t2, b(t0)</a:t>
            </a:r>
            <a:r>
              <a:rPr lang="es-ES" dirty="0">
                <a:solidFill>
                  <a:schemeClr val="tx1"/>
                </a:solidFill>
              </a:rPr>
              <a:t>		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LI	DI	EX	M	</a:t>
            </a:r>
            <a:r>
              <a:rPr lang="es-ES" dirty="0">
                <a:solidFill>
                  <a:schemeClr val="bg1"/>
                </a:solidFill>
                <a:latin typeface="Arial Narrow" pitchFamily="-84" charset="0"/>
              </a:rPr>
              <a:t>ER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	</a:t>
            </a:r>
          </a:p>
          <a:p>
            <a:pPr algn="l" eaLnBrk="0" hangingPunct="0">
              <a:tabLst>
                <a:tab pos="2092325" algn="l"/>
                <a:tab pos="2571750" algn="l"/>
                <a:tab pos="3043238" algn="l"/>
                <a:tab pos="3525838" algn="l"/>
                <a:tab pos="3998913" algn="l"/>
                <a:tab pos="4481513" algn="l"/>
                <a:tab pos="4954588" algn="l"/>
                <a:tab pos="5426075" algn="l"/>
                <a:tab pos="5908675" algn="l"/>
                <a:tab pos="6381750" algn="l"/>
                <a:tab pos="6853238" algn="l"/>
                <a:tab pos="7335838" algn="l"/>
                <a:tab pos="7808913" algn="l"/>
                <a:tab pos="8291513" algn="l"/>
                <a:tab pos="8858250" algn="l"/>
              </a:tabLst>
            </a:pPr>
            <a:r>
              <a:rPr lang="es-ES" dirty="0" err="1">
                <a:solidFill>
                  <a:schemeClr val="tx1"/>
                </a:solidFill>
                <a:latin typeface="Courier New" pitchFamily="-84" charset="0"/>
              </a:rPr>
              <a:t>add</a:t>
            </a:r>
            <a:r>
              <a:rPr lang="es-ES" dirty="0">
                <a:solidFill>
                  <a:schemeClr val="tx1"/>
                </a:solidFill>
                <a:latin typeface="Courier New" pitchFamily="-84" charset="0"/>
              </a:rPr>
              <a:t> t3, t2, t1</a:t>
            </a:r>
            <a:r>
              <a:rPr lang="es-ES" dirty="0">
                <a:solidFill>
                  <a:schemeClr val="tx1"/>
                </a:solidFill>
              </a:rPr>
              <a:t>		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LI</a:t>
            </a:r>
            <a:r>
              <a:rPr lang="es-ES" i="1" dirty="0">
                <a:solidFill>
                  <a:schemeClr val="tx1"/>
                </a:solidFill>
                <a:latin typeface="Arial Narrow" pitchFamily="-84" charset="0"/>
              </a:rPr>
              <a:t>	</a:t>
            </a:r>
            <a:r>
              <a:rPr lang="es-ES" b="1" i="1" dirty="0">
                <a:solidFill>
                  <a:srgbClr val="FF0000"/>
                </a:solidFill>
                <a:latin typeface="Arial Narrow" pitchFamily="-84" charset="0"/>
              </a:rPr>
              <a:t>DI	DI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	</a:t>
            </a:r>
            <a:r>
              <a:rPr lang="es-ES" dirty="0">
                <a:solidFill>
                  <a:schemeClr val="bg1"/>
                </a:solidFill>
                <a:latin typeface="Arial Narrow" pitchFamily="-84" charset="0"/>
              </a:rPr>
              <a:t>DI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	EX	M	</a:t>
            </a:r>
            <a:r>
              <a:rPr lang="es-ES" dirty="0">
                <a:solidFill>
                  <a:schemeClr val="bg1"/>
                </a:solidFill>
                <a:latin typeface="Arial Narrow" pitchFamily="-84" charset="0"/>
              </a:rPr>
              <a:t>ER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	</a:t>
            </a:r>
          </a:p>
          <a:p>
            <a:pPr algn="l" eaLnBrk="0" hangingPunct="0">
              <a:tabLst>
                <a:tab pos="2092325" algn="l"/>
                <a:tab pos="2571750" algn="l"/>
                <a:tab pos="3043238" algn="l"/>
                <a:tab pos="3525838" algn="l"/>
                <a:tab pos="3998913" algn="l"/>
                <a:tab pos="4481513" algn="l"/>
                <a:tab pos="4954588" algn="l"/>
                <a:tab pos="5426075" algn="l"/>
                <a:tab pos="5908675" algn="l"/>
                <a:tab pos="6381750" algn="l"/>
                <a:tab pos="6853238" algn="l"/>
                <a:tab pos="7335838" algn="l"/>
                <a:tab pos="7808913" algn="l"/>
                <a:tab pos="8291513" algn="l"/>
                <a:tab pos="8858250" algn="l"/>
              </a:tabLst>
            </a:pPr>
            <a:r>
              <a:rPr lang="es-ES" dirty="0" err="1">
                <a:solidFill>
                  <a:schemeClr val="tx1"/>
                </a:solidFill>
                <a:latin typeface="Courier New" pitchFamily="-84" charset="0"/>
              </a:rPr>
              <a:t>sw</a:t>
            </a:r>
            <a:r>
              <a:rPr lang="es-ES" dirty="0">
                <a:solidFill>
                  <a:schemeClr val="tx1"/>
                </a:solidFill>
                <a:latin typeface="Courier New" pitchFamily="-84" charset="0"/>
              </a:rPr>
              <a:t> t3, c(t0)	</a:t>
            </a:r>
            <a:r>
              <a:rPr lang="es-ES" dirty="0">
                <a:solidFill>
                  <a:schemeClr val="tx1"/>
                </a:solidFill>
              </a:rPr>
              <a:t>	   		</a:t>
            </a:r>
            <a:r>
              <a:rPr lang="es-ES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LI	LI</a:t>
            </a:r>
            <a:r>
              <a:rPr lang="es-ES" dirty="0">
                <a:solidFill>
                  <a:schemeClr val="tx1"/>
                </a:solidFill>
              </a:rPr>
              <a:t>	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LI</a:t>
            </a:r>
            <a:r>
              <a:rPr lang="es-ES" i="1" dirty="0">
                <a:solidFill>
                  <a:schemeClr val="tx1"/>
                </a:solidFill>
                <a:latin typeface="Arial Narrow" pitchFamily="-84" charset="0"/>
              </a:rPr>
              <a:t>	</a:t>
            </a:r>
            <a:r>
              <a:rPr lang="es-ES" b="1" i="1" dirty="0">
                <a:solidFill>
                  <a:srgbClr val="FF0000"/>
                </a:solidFill>
                <a:latin typeface="Arial Narrow" pitchFamily="-84" charset="0"/>
              </a:rPr>
              <a:t>DI	DI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	</a:t>
            </a:r>
            <a:r>
              <a:rPr lang="es-ES" dirty="0">
                <a:solidFill>
                  <a:schemeClr val="bg1"/>
                </a:solidFill>
                <a:latin typeface="Arial Narrow" pitchFamily="-84" charset="0"/>
              </a:rPr>
              <a:t>DI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	EX	M	ER</a:t>
            </a:r>
          </a:p>
        </p:txBody>
      </p:sp>
      <p:sp>
        <p:nvSpPr>
          <p:cNvPr id="7178" name="Line 16"/>
          <p:cNvSpPr>
            <a:spLocks noChangeShapeType="1"/>
          </p:cNvSpPr>
          <p:nvPr/>
        </p:nvSpPr>
        <p:spPr bwMode="auto">
          <a:xfrm>
            <a:off x="611560" y="2470150"/>
            <a:ext cx="7848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79" name="Line 23"/>
          <p:cNvSpPr>
            <a:spLocks noChangeShapeType="1"/>
          </p:cNvSpPr>
          <p:nvPr/>
        </p:nvSpPr>
        <p:spPr bwMode="blackWhite">
          <a:xfrm flipV="1">
            <a:off x="4495800" y="3962400"/>
            <a:ext cx="0" cy="304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180" name="Line 24"/>
          <p:cNvSpPr>
            <a:spLocks noChangeShapeType="1"/>
          </p:cNvSpPr>
          <p:nvPr/>
        </p:nvSpPr>
        <p:spPr bwMode="blackWhite">
          <a:xfrm flipV="1">
            <a:off x="4953000" y="3962400"/>
            <a:ext cx="0" cy="304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181" name="Line 25"/>
          <p:cNvSpPr>
            <a:spLocks noChangeShapeType="1"/>
          </p:cNvSpPr>
          <p:nvPr/>
        </p:nvSpPr>
        <p:spPr bwMode="blackWhite">
          <a:xfrm flipV="1">
            <a:off x="5943600" y="3962400"/>
            <a:ext cx="0" cy="304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182" name="Line 26"/>
          <p:cNvSpPr>
            <a:spLocks noChangeShapeType="1"/>
          </p:cNvSpPr>
          <p:nvPr/>
        </p:nvSpPr>
        <p:spPr bwMode="blackWhite">
          <a:xfrm flipV="1">
            <a:off x="6400800" y="3962400"/>
            <a:ext cx="0" cy="304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183" name="AutoShape 27"/>
          <p:cNvSpPr>
            <a:spLocks/>
          </p:cNvSpPr>
          <p:nvPr/>
        </p:nvSpPr>
        <p:spPr bwMode="blackWhite">
          <a:xfrm rot="5400000">
            <a:off x="5372100" y="3467100"/>
            <a:ext cx="152400" cy="2057400"/>
          </a:xfrm>
          <a:prstGeom prst="rightBrace">
            <a:avLst>
              <a:gd name="adj1" fmla="val 112500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7184" name="Text Box 28"/>
          <p:cNvSpPr txBox="1">
            <a:spLocks noChangeArrowheads="1"/>
          </p:cNvSpPr>
          <p:nvPr/>
        </p:nvSpPr>
        <p:spPr bwMode="blackWhite">
          <a:xfrm>
            <a:off x="4429125" y="4648200"/>
            <a:ext cx="2060575" cy="3048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_tradnl" b="0"/>
              <a:t>4 ciclos de parada</a:t>
            </a:r>
          </a:p>
        </p:txBody>
      </p:sp>
      <p:graphicFrame>
        <p:nvGraphicFramePr>
          <p:cNvPr id="7170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1905000" y="4495800"/>
          <a:ext cx="180022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841400" imgH="609480" progId="Equation.3">
                  <p:embed/>
                </p:oleObj>
              </mc:Choice>
              <mc:Fallback>
                <p:oleObj name="Ecuación" r:id="rId3" imgW="1841400" imgH="6094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905000" y="4495800"/>
                        <a:ext cx="1800225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0703461"/>
              </p:ext>
            </p:extLst>
          </p:nvPr>
        </p:nvGraphicFramePr>
        <p:xfrm>
          <a:off x="827584" y="5805264"/>
          <a:ext cx="3455988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1917700" imgH="355600" progId="Equation.3">
                  <p:embed/>
                </p:oleObj>
              </mc:Choice>
              <mc:Fallback>
                <p:oleObj name="Ecuación" r:id="rId5" imgW="1917700" imgH="355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27584" y="5805264"/>
                        <a:ext cx="3455988" cy="639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Soluciones y Prestaciones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Inserción de </a:t>
            </a:r>
            <a:r>
              <a:rPr lang="es-ES" dirty="0" err="1">
                <a:latin typeface="Consolas" panose="020B0609020204030204" pitchFamily="49" charset="0"/>
                <a:cs typeface="Consolas" panose="020B0609020204030204" pitchFamily="49" charset="0"/>
              </a:rPr>
              <a:t>nop</a:t>
            </a:r>
            <a:endParaRPr lang="es-ES" dirty="0"/>
          </a:p>
          <a:p>
            <a:endParaRPr lang="es-ES" dirty="0"/>
          </a:p>
          <a:p>
            <a:pPr marL="82550" indent="0">
              <a:buNone/>
            </a:pPr>
            <a:r>
              <a:rPr lang="es-ES" dirty="0"/>
              <a:t>	El tiempo de ejecución en régimen estacionario:</a:t>
            </a:r>
          </a:p>
          <a:p>
            <a:pPr marL="82550" indent="0">
              <a:buNone/>
            </a:pPr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Detención (ciclos de espera)</a:t>
            </a:r>
          </a:p>
          <a:p>
            <a:pPr marL="82550" indent="0">
              <a:buNone/>
            </a:pPr>
            <a:r>
              <a:rPr lang="es-ES" dirty="0"/>
              <a:t>	</a:t>
            </a:r>
          </a:p>
          <a:p>
            <a:pPr marL="82550" indent="0">
              <a:buNone/>
            </a:pPr>
            <a:r>
              <a:rPr lang="es-ES" dirty="0"/>
              <a:t>	El tiempo de ejecución en régimen estacionario:</a:t>
            </a:r>
          </a:p>
          <a:p>
            <a:pPr marL="82550" indent="0">
              <a:buNone/>
            </a:pPr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  <p:graphicFrame>
        <p:nvGraphicFramePr>
          <p:cNvPr id="5" name="4 Objeto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340488433"/>
              </p:ext>
            </p:extLst>
          </p:nvPr>
        </p:nvGraphicFramePr>
        <p:xfrm>
          <a:off x="4067944" y="1124744"/>
          <a:ext cx="19431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16452764" imgH="6292800" progId="Equation.3">
                  <p:embed/>
                </p:oleObj>
              </mc:Choice>
              <mc:Fallback>
                <p:oleObj name="Ecuación" r:id="rId2" imgW="16452764" imgH="6292800" progId="Equation.3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067944" y="1124744"/>
                        <a:ext cx="194310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5"/>
          <p:cNvSpPr>
            <a:spLocks noChangeArrowheads="1"/>
          </p:cNvSpPr>
          <p:nvPr/>
        </p:nvSpPr>
        <p:spPr bwMode="auto">
          <a:xfrm>
            <a:off x="4139952" y="2564904"/>
            <a:ext cx="4320480" cy="5334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24"/>
              <p:cNvSpPr txBox="1">
                <a:spLocks noChangeArrowheads="1"/>
              </p:cNvSpPr>
              <p:nvPr/>
            </p:nvSpPr>
            <p:spPr bwMode="auto">
              <a:xfrm>
                <a:off x="4265517" y="2670518"/>
                <a:ext cx="3992375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dirty="0" err="1">
                    <a:latin typeface="Calibri" pitchFamily="34" charset="0"/>
                  </a:rPr>
                  <a:t>T</a:t>
                </a:r>
                <a:r>
                  <a:rPr lang="en-US" sz="2000" baseline="-25000" dirty="0" err="1">
                    <a:latin typeface="Calibri" pitchFamily="34" charset="0"/>
                  </a:rPr>
                  <a:t>programa</a:t>
                </a:r>
                <a:r>
                  <a:rPr lang="en-US" dirty="0">
                    <a:latin typeface="Calibri" pitchFamily="34" charset="0"/>
                  </a:rPr>
                  <a:t> = 8 </a:t>
                </a:r>
                <a:r>
                  <a:rPr lang="en-US" dirty="0" err="1">
                    <a:latin typeface="Calibri" pitchFamily="34" charset="0"/>
                  </a:rPr>
                  <a:t>instrucciones</a:t>
                </a:r>
                <a:r>
                  <a:rPr lang="en-US" dirty="0">
                    <a:latin typeface="Calibri" pitchFamily="34" charset="0"/>
                  </a:rPr>
                  <a:t> x 1 CPI 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E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sz="2000" baseline="-25000" dirty="0">
                  <a:latin typeface="Calibri" pitchFamily="34" charset="0"/>
                </a:endParaRPr>
              </a:p>
            </p:txBody>
          </p:sp>
        </mc:Choice>
        <mc:Fallback xmlns="">
          <p:sp>
            <p:nvSpPr>
              <p:cNvPr id="8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5517" y="2670518"/>
                <a:ext cx="3992375" cy="400110"/>
              </a:xfrm>
              <a:prstGeom prst="rect">
                <a:avLst/>
              </a:prstGeom>
              <a:blipFill>
                <a:blip r:embed="rId4"/>
                <a:stretch>
                  <a:fillRect l="-952" t="-9375" b="-2812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8 Objeto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96179983"/>
              </p:ext>
            </p:extLst>
          </p:nvPr>
        </p:nvGraphicFramePr>
        <p:xfrm>
          <a:off x="5076056" y="3933056"/>
          <a:ext cx="180022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29457564" imgH="9747180" progId="Equation.3">
                  <p:embed/>
                </p:oleObj>
              </mc:Choice>
              <mc:Fallback>
                <p:oleObj name="Ecuación" r:id="rId5" imgW="29457564" imgH="9747180" progId="Equation.3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076056" y="3933056"/>
                        <a:ext cx="1800225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33"/>
          <p:cNvSpPr>
            <a:spLocks noChangeArrowheads="1"/>
          </p:cNvSpPr>
          <p:nvPr/>
        </p:nvSpPr>
        <p:spPr bwMode="auto">
          <a:xfrm>
            <a:off x="4283968" y="5373216"/>
            <a:ext cx="4392488" cy="5334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32"/>
              <p:cNvSpPr txBox="1">
                <a:spLocks noChangeArrowheads="1"/>
              </p:cNvSpPr>
              <p:nvPr/>
            </p:nvSpPr>
            <p:spPr bwMode="auto">
              <a:xfrm>
                <a:off x="4484025" y="5456559"/>
                <a:ext cx="3992375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dirty="0" err="1">
                    <a:latin typeface="Calibri" pitchFamily="34" charset="0"/>
                  </a:rPr>
                  <a:t>T</a:t>
                </a:r>
                <a:r>
                  <a:rPr lang="en-US" sz="2000" baseline="-25000" dirty="0" err="1">
                    <a:latin typeface="Calibri" pitchFamily="34" charset="0"/>
                  </a:rPr>
                  <a:t>programa</a:t>
                </a:r>
                <a:r>
                  <a:rPr lang="en-US" dirty="0">
                    <a:latin typeface="Calibri" pitchFamily="34" charset="0"/>
                  </a:rPr>
                  <a:t> = 4 </a:t>
                </a:r>
                <a:r>
                  <a:rPr lang="en-US" dirty="0" err="1">
                    <a:latin typeface="Calibri" pitchFamily="34" charset="0"/>
                  </a:rPr>
                  <a:t>instrucciones</a:t>
                </a:r>
                <a:r>
                  <a:rPr lang="en-US" dirty="0">
                    <a:latin typeface="Calibri" pitchFamily="34" charset="0"/>
                  </a:rPr>
                  <a:t> x 2 CPI 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E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sz="2000" baseline="-25000" dirty="0">
                  <a:latin typeface="Calibri" pitchFamily="34" charset="0"/>
                </a:endParaRPr>
              </a:p>
            </p:txBody>
          </p:sp>
        </mc:Choice>
        <mc:Fallback xmlns="">
          <p:sp>
            <p:nvSpPr>
              <p:cNvPr id="11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84025" y="5456559"/>
                <a:ext cx="3992375" cy="400110"/>
              </a:xfrm>
              <a:prstGeom prst="rect">
                <a:avLst/>
              </a:prstGeom>
              <a:blipFill>
                <a:blip r:embed="rId7"/>
                <a:stretch>
                  <a:fillRect l="-952" t="-6061" b="-2424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02102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93777A-995D-1554-98D2-838C15B8F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BFBA48-AA27-8E0C-F136-43B515AC5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>
                <a:solidFill>
                  <a:srgbClr val="FF0000"/>
                </a:solidFill>
              </a:rPr>
              <a:t>FALTA ADAPTAR A RISC-V DESDE AQUÏ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FD9BFE-EA2B-705E-18EC-22FEDFBDA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5063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150ABB02-014F-C795-FF19-D7B610B02DC3}"/>
              </a:ext>
            </a:extLst>
          </p:cNvPr>
          <p:cNvSpPr/>
          <p:nvPr/>
        </p:nvSpPr>
        <p:spPr bwMode="auto">
          <a:xfrm>
            <a:off x="7367232" y="3803795"/>
            <a:ext cx="304800" cy="29718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C21494A-89A7-D884-27B0-9E14E559399A}"/>
              </a:ext>
            </a:extLst>
          </p:cNvPr>
          <p:cNvSpPr/>
          <p:nvPr/>
        </p:nvSpPr>
        <p:spPr bwMode="auto">
          <a:xfrm>
            <a:off x="5697057" y="3800685"/>
            <a:ext cx="304800" cy="29718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14F56F3-25C8-58FE-2774-11D743675928}"/>
              </a:ext>
            </a:extLst>
          </p:cNvPr>
          <p:cNvSpPr/>
          <p:nvPr/>
        </p:nvSpPr>
        <p:spPr bwMode="auto">
          <a:xfrm>
            <a:off x="3616339" y="3803797"/>
            <a:ext cx="304800" cy="29718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6F82086-C6E7-F629-3F50-DED96CD4B46D}"/>
              </a:ext>
            </a:extLst>
          </p:cNvPr>
          <p:cNvSpPr/>
          <p:nvPr/>
        </p:nvSpPr>
        <p:spPr bwMode="auto">
          <a:xfrm>
            <a:off x="1479638" y="3806913"/>
            <a:ext cx="304800" cy="29718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62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Lógica de Detección de Conflicto </a:t>
            </a:r>
          </a:p>
        </p:txBody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914400"/>
            <a:ext cx="8250237" cy="2298576"/>
          </a:xfrm>
        </p:spPr>
        <p:txBody>
          <a:bodyPr/>
          <a:lstStyle/>
          <a:p>
            <a:r>
              <a:rPr lang="es-ES" dirty="0"/>
              <a:t>Detección (algunos ejemplos de funciones de detección):</a:t>
            </a:r>
          </a:p>
          <a:p>
            <a:pPr lvl="1"/>
            <a:r>
              <a:rPr lang="es-ES" sz="1400" dirty="0">
                <a:latin typeface="+mj-lt"/>
              </a:rPr>
              <a:t>DI/EX.ER[</a:t>
            </a:r>
            <a:r>
              <a:rPr lang="es-ES" sz="1400" dirty="0" err="1">
                <a:latin typeface="+mj-lt"/>
              </a:rPr>
              <a:t>EReg</a:t>
            </a:r>
            <a:r>
              <a:rPr lang="es-ES" sz="1400" dirty="0">
                <a:latin typeface="+mj-lt"/>
              </a:rPr>
              <a:t>]==1 </a:t>
            </a:r>
            <a:r>
              <a:rPr lang="es-ES" sz="1400" dirty="0"/>
              <a:t>&amp;		(la instrucción en EX escribe en el banco de registros y)</a:t>
            </a:r>
          </a:p>
          <a:p>
            <a:pPr lvl="1"/>
            <a:r>
              <a:rPr lang="es-ES" sz="1400" dirty="0">
                <a:latin typeface="+mj-lt"/>
              </a:rPr>
              <a:t>((DI/</a:t>
            </a:r>
            <a:r>
              <a:rPr lang="es-ES" sz="1400" dirty="0" err="1">
                <a:latin typeface="+mj-lt"/>
              </a:rPr>
              <a:t>EX.Rd</a:t>
            </a:r>
            <a:r>
              <a:rPr lang="es-ES" sz="1400" dirty="0">
                <a:latin typeface="+mj-lt"/>
              </a:rPr>
              <a:t>==LI/DI.RI[Rs1]</a:t>
            </a:r>
            <a:r>
              <a:rPr lang="es-ES_tradnl" sz="1400" dirty="0">
                <a:latin typeface="+mj-lt"/>
              </a:rPr>
              <a:t>) |		</a:t>
            </a:r>
            <a:r>
              <a:rPr lang="es-ES_tradnl" sz="1400" dirty="0"/>
              <a:t>(la </a:t>
            </a:r>
            <a:r>
              <a:rPr lang="es-ES_tradnl" sz="1400" dirty="0" err="1"/>
              <a:t>instr</a:t>
            </a:r>
            <a:r>
              <a:rPr lang="es-ES_tradnl" sz="1400" dirty="0"/>
              <a:t>. en EX escribe donde la instrucción en DI lee o)</a:t>
            </a:r>
          </a:p>
          <a:p>
            <a:pPr lvl="1"/>
            <a:r>
              <a:rPr lang="es-ES" sz="1400" dirty="0"/>
              <a:t> </a:t>
            </a:r>
            <a:r>
              <a:rPr lang="es-ES" sz="1400" dirty="0">
                <a:latin typeface="+mj-lt"/>
              </a:rPr>
              <a:t>(DI/</a:t>
            </a:r>
            <a:r>
              <a:rPr lang="es-ES" sz="1400" dirty="0" err="1">
                <a:latin typeface="+mj-lt"/>
              </a:rPr>
              <a:t>EX.Rd</a:t>
            </a:r>
            <a:r>
              <a:rPr lang="es-ES" sz="1400" dirty="0">
                <a:latin typeface="+mj-lt"/>
              </a:rPr>
              <a:t>==LI/DI.RI[Rs2]))         	</a:t>
            </a:r>
            <a:r>
              <a:rPr lang="es-ES" sz="1400" dirty="0"/>
              <a:t>(donde </a:t>
            </a:r>
            <a:r>
              <a:rPr lang="es-ES" sz="1400" dirty="0" err="1"/>
              <a:t>instr</a:t>
            </a:r>
            <a:r>
              <a:rPr lang="es-ES" sz="1400" dirty="0"/>
              <a:t>. en DI lee: </a:t>
            </a:r>
            <a:r>
              <a:rPr lang="es-ES" sz="1400" dirty="0" err="1">
                <a:latin typeface="+mj-lt"/>
              </a:rPr>
              <a:t>Rd</a:t>
            </a:r>
            <a:r>
              <a:rPr lang="es-ES" sz="1400" dirty="0">
                <a:latin typeface="+mj-lt"/>
              </a:rPr>
              <a:t>==Rs1 o </a:t>
            </a:r>
            <a:r>
              <a:rPr lang="es-ES" sz="1400" dirty="0" err="1">
                <a:latin typeface="+mj-lt"/>
              </a:rPr>
              <a:t>Rd</a:t>
            </a:r>
            <a:r>
              <a:rPr lang="es-ES" sz="1400" dirty="0">
                <a:latin typeface="+mj-lt"/>
              </a:rPr>
              <a:t>==Rs2</a:t>
            </a:r>
            <a:r>
              <a:rPr lang="es-ES" sz="1400" dirty="0"/>
              <a:t>)</a:t>
            </a:r>
          </a:p>
        </p:txBody>
      </p:sp>
      <p:sp>
        <p:nvSpPr>
          <p:cNvPr id="96258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FFA4C-3830-064D-9B4D-536A5527F5F2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96265" name="Line 8"/>
          <p:cNvSpPr>
            <a:spLocks noChangeShapeType="1"/>
          </p:cNvSpPr>
          <p:nvPr/>
        </p:nvSpPr>
        <p:spPr bwMode="auto">
          <a:xfrm>
            <a:off x="1940984" y="4667268"/>
            <a:ext cx="556477" cy="1358"/>
          </a:xfrm>
          <a:prstGeom prst="line">
            <a:avLst/>
          </a:prstGeom>
          <a:noFill/>
          <a:ln w="28575">
            <a:solidFill>
              <a:srgbClr val="26697A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266" name="Line 9"/>
          <p:cNvSpPr>
            <a:spLocks noChangeShapeType="1"/>
          </p:cNvSpPr>
          <p:nvPr/>
        </p:nvSpPr>
        <p:spPr bwMode="auto">
          <a:xfrm>
            <a:off x="1940984" y="5123573"/>
            <a:ext cx="556477" cy="1358"/>
          </a:xfrm>
          <a:prstGeom prst="line">
            <a:avLst/>
          </a:prstGeom>
          <a:noFill/>
          <a:ln w="28575">
            <a:solidFill>
              <a:srgbClr val="26697A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267" name="Rectangle 10"/>
          <p:cNvSpPr>
            <a:spLocks noChangeArrowheads="1"/>
          </p:cNvSpPr>
          <p:nvPr/>
        </p:nvSpPr>
        <p:spPr bwMode="blackWhite">
          <a:xfrm>
            <a:off x="2497460" y="4473066"/>
            <a:ext cx="834715" cy="782237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" sz="1400" dirty="0">
                <a:solidFill>
                  <a:srgbClr val="000000"/>
                </a:solidFill>
                <a:latin typeface="+mn-lt"/>
                <a:ea typeface="+mn-ea"/>
              </a:rPr>
              <a:t>Banco de</a:t>
            </a:r>
            <a:br>
              <a:rPr lang="es-ES" sz="1400" dirty="0">
                <a:solidFill>
                  <a:srgbClr val="000000"/>
                </a:solidFill>
                <a:latin typeface="+mn-lt"/>
                <a:ea typeface="+mn-ea"/>
              </a:rPr>
            </a:br>
            <a:r>
              <a:rPr lang="es-ES" sz="1400" dirty="0">
                <a:solidFill>
                  <a:srgbClr val="000000"/>
                </a:solidFill>
                <a:latin typeface="+mn-lt"/>
                <a:ea typeface="+mn-ea"/>
              </a:rPr>
              <a:t>registros</a:t>
            </a:r>
            <a:endParaRPr lang="ca-ES" sz="14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96270" name="Line 13"/>
          <p:cNvSpPr>
            <a:spLocks noChangeShapeType="1"/>
          </p:cNvSpPr>
          <p:nvPr/>
        </p:nvSpPr>
        <p:spPr bwMode="auto">
          <a:xfrm>
            <a:off x="3332176" y="5123573"/>
            <a:ext cx="278238" cy="1358"/>
          </a:xfrm>
          <a:prstGeom prst="line">
            <a:avLst/>
          </a:prstGeom>
          <a:noFill/>
          <a:ln w="28575">
            <a:solidFill>
              <a:srgbClr val="26697A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272" name="Line 15"/>
          <p:cNvSpPr>
            <a:spLocks noChangeShapeType="1"/>
          </p:cNvSpPr>
          <p:nvPr/>
        </p:nvSpPr>
        <p:spPr bwMode="auto">
          <a:xfrm>
            <a:off x="3332176" y="4667268"/>
            <a:ext cx="278238" cy="1358"/>
          </a:xfrm>
          <a:prstGeom prst="line">
            <a:avLst/>
          </a:prstGeom>
          <a:noFill/>
          <a:ln w="28575">
            <a:solidFill>
              <a:srgbClr val="26697A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275" name="Rectangle 19"/>
          <p:cNvSpPr>
            <a:spLocks noChangeArrowheads="1"/>
          </p:cNvSpPr>
          <p:nvPr/>
        </p:nvSpPr>
        <p:spPr bwMode="blackWhite">
          <a:xfrm rot="10800000">
            <a:off x="1523626" y="4861199"/>
            <a:ext cx="208679" cy="782237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400">
                <a:solidFill>
                  <a:srgbClr val="000000"/>
                </a:solidFill>
                <a:latin typeface="+mn-lt"/>
                <a:ea typeface="+mn-ea"/>
              </a:rPr>
              <a:t>RI</a:t>
            </a:r>
            <a:endParaRPr lang="ca-ES" sz="14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96276" name="Rectangle 21"/>
          <p:cNvSpPr>
            <a:spLocks noChangeArrowheads="1"/>
          </p:cNvSpPr>
          <p:nvPr/>
        </p:nvSpPr>
        <p:spPr bwMode="blackWhite">
          <a:xfrm rot="10800000">
            <a:off x="3660174" y="4471709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ca-ES" sz="1400">
                <a:solidFill>
                  <a:srgbClr val="000000"/>
                </a:solidFill>
                <a:latin typeface="+mn-lt"/>
                <a:ea typeface="+mn-ea"/>
              </a:rPr>
              <a:t>S</a:t>
            </a:r>
          </a:p>
        </p:txBody>
      </p:sp>
      <p:sp>
        <p:nvSpPr>
          <p:cNvPr id="96277" name="Rectangle 22"/>
          <p:cNvSpPr>
            <a:spLocks noChangeArrowheads="1"/>
          </p:cNvSpPr>
          <p:nvPr/>
        </p:nvSpPr>
        <p:spPr bwMode="blackWhite">
          <a:xfrm rot="10800000">
            <a:off x="3660174" y="4929372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ca-ES" sz="1400">
                <a:solidFill>
                  <a:srgbClr val="000000"/>
                </a:solidFill>
                <a:latin typeface="+mn-lt"/>
                <a:ea typeface="+mn-ea"/>
              </a:rPr>
              <a:t>T</a:t>
            </a:r>
          </a:p>
        </p:txBody>
      </p:sp>
      <p:sp>
        <p:nvSpPr>
          <p:cNvPr id="96279" name="Rectangle 25"/>
          <p:cNvSpPr>
            <a:spLocks noChangeArrowheads="1"/>
          </p:cNvSpPr>
          <p:nvPr/>
        </p:nvSpPr>
        <p:spPr bwMode="blackWhite">
          <a:xfrm rot="10800000">
            <a:off x="5746962" y="4864185"/>
            <a:ext cx="208679" cy="782237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400">
                <a:solidFill>
                  <a:srgbClr val="000000"/>
                </a:solidFill>
                <a:latin typeface="+mn-lt"/>
                <a:ea typeface="+mn-ea"/>
              </a:rPr>
              <a:t>ALUout</a:t>
            </a:r>
            <a:endParaRPr lang="ca-ES" sz="14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96282" name="Rectangle 28"/>
          <p:cNvSpPr>
            <a:spLocks noChangeArrowheads="1"/>
          </p:cNvSpPr>
          <p:nvPr/>
        </p:nvSpPr>
        <p:spPr bwMode="blackWhite">
          <a:xfrm rot="10800000">
            <a:off x="5746962" y="6320955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400" dirty="0" err="1">
                <a:solidFill>
                  <a:srgbClr val="000000"/>
                </a:solidFill>
                <a:latin typeface="+mn-lt"/>
                <a:ea typeface="+mn-ea"/>
              </a:rPr>
              <a:t>Rd</a:t>
            </a:r>
            <a:endParaRPr lang="ca-ES" sz="14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96283" name="Rectangle 29"/>
          <p:cNvSpPr>
            <a:spLocks noChangeArrowheads="1"/>
          </p:cNvSpPr>
          <p:nvPr/>
        </p:nvSpPr>
        <p:spPr bwMode="blackWhite">
          <a:xfrm rot="10800000">
            <a:off x="7416393" y="6320955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400" dirty="0" err="1">
                <a:solidFill>
                  <a:srgbClr val="000000"/>
                </a:solidFill>
                <a:latin typeface="+mn-lt"/>
                <a:ea typeface="+mn-ea"/>
              </a:rPr>
              <a:t>Rd</a:t>
            </a:r>
            <a:endParaRPr lang="ca-ES" sz="14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96286" name="Line 32"/>
          <p:cNvSpPr>
            <a:spLocks noChangeShapeType="1"/>
          </p:cNvSpPr>
          <p:nvPr/>
        </p:nvSpPr>
        <p:spPr bwMode="auto">
          <a:xfrm>
            <a:off x="1940984" y="4668626"/>
            <a:ext cx="0" cy="1368915"/>
          </a:xfrm>
          <a:prstGeom prst="line">
            <a:avLst/>
          </a:prstGeom>
          <a:noFill/>
          <a:ln w="28575">
            <a:solidFill>
              <a:srgbClr val="26697A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287" name="Line 33"/>
          <p:cNvSpPr>
            <a:spLocks noChangeShapeType="1"/>
          </p:cNvSpPr>
          <p:nvPr/>
        </p:nvSpPr>
        <p:spPr bwMode="auto">
          <a:xfrm>
            <a:off x="1775862" y="5252317"/>
            <a:ext cx="165122" cy="1358"/>
          </a:xfrm>
          <a:prstGeom prst="line">
            <a:avLst/>
          </a:prstGeom>
          <a:noFill/>
          <a:ln w="28575">
            <a:solidFill>
              <a:srgbClr val="26697A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288" name="Rectangle 39"/>
          <p:cNvSpPr>
            <a:spLocks noChangeArrowheads="1"/>
          </p:cNvSpPr>
          <p:nvPr/>
        </p:nvSpPr>
        <p:spPr bwMode="blackWhite">
          <a:xfrm rot="10800000">
            <a:off x="3660174" y="5841982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400" dirty="0">
                <a:solidFill>
                  <a:srgbClr val="000000"/>
                </a:solidFill>
                <a:latin typeface="+mn-lt"/>
                <a:ea typeface="+mn-ea"/>
              </a:rPr>
              <a:t>Rs1</a:t>
            </a:r>
            <a:endParaRPr lang="ca-ES" sz="14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96289" name="Freeform 40"/>
          <p:cNvSpPr>
            <a:spLocks/>
          </p:cNvSpPr>
          <p:nvPr/>
        </p:nvSpPr>
        <p:spPr bwMode="auto">
          <a:xfrm>
            <a:off x="1940984" y="5581236"/>
            <a:ext cx="1669431" cy="456305"/>
          </a:xfrm>
          <a:custGeom>
            <a:avLst/>
            <a:gdLst>
              <a:gd name="T0" fmla="*/ 0 w 1152"/>
              <a:gd name="T1" fmla="*/ 0 h 336"/>
              <a:gd name="T2" fmla="*/ 0 w 1152"/>
              <a:gd name="T3" fmla="*/ 2147483647 h 336"/>
              <a:gd name="T4" fmla="*/ 2147483647 w 1152"/>
              <a:gd name="T5" fmla="*/ 2147483647 h 336"/>
              <a:gd name="T6" fmla="*/ 0 60000 65536"/>
              <a:gd name="T7" fmla="*/ 0 60000 65536"/>
              <a:gd name="T8" fmla="*/ 0 60000 65536"/>
              <a:gd name="T9" fmla="*/ 0 w 1152"/>
              <a:gd name="T10" fmla="*/ 0 h 336"/>
              <a:gd name="T11" fmla="*/ 1152 w 1152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52" h="336">
                <a:moveTo>
                  <a:pt x="0" y="0"/>
                </a:moveTo>
                <a:lnTo>
                  <a:pt x="0" y="336"/>
                </a:lnTo>
                <a:lnTo>
                  <a:pt x="1152" y="336"/>
                </a:lnTo>
              </a:path>
            </a:pathLst>
          </a:custGeom>
          <a:noFill/>
          <a:ln w="28575">
            <a:solidFill>
              <a:srgbClr val="26697A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290" name="Rectangle 41"/>
          <p:cNvSpPr>
            <a:spLocks noChangeArrowheads="1"/>
          </p:cNvSpPr>
          <p:nvPr/>
        </p:nvSpPr>
        <p:spPr bwMode="blackWhite">
          <a:xfrm rot="10800000">
            <a:off x="3660174" y="4016761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200">
                <a:solidFill>
                  <a:srgbClr val="000000"/>
                </a:solidFill>
                <a:latin typeface="+mn-lt"/>
                <a:ea typeface="+mn-ea"/>
              </a:rPr>
              <a:t>ER</a:t>
            </a:r>
            <a:endParaRPr lang="ca-ES" sz="12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96291" name="Rectangle 43"/>
          <p:cNvSpPr>
            <a:spLocks noChangeArrowheads="1"/>
          </p:cNvSpPr>
          <p:nvPr/>
        </p:nvSpPr>
        <p:spPr bwMode="blackWhite">
          <a:xfrm rot="10800000">
            <a:off x="5746962" y="3951575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200">
                <a:solidFill>
                  <a:srgbClr val="000000"/>
                </a:solidFill>
                <a:latin typeface="+mn-lt"/>
                <a:ea typeface="+mn-ea"/>
              </a:rPr>
              <a:t>ER</a:t>
            </a:r>
            <a:endParaRPr lang="ca-ES" sz="12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96292" name="Freeform 47"/>
          <p:cNvSpPr>
            <a:spLocks/>
          </p:cNvSpPr>
          <p:nvPr/>
        </p:nvSpPr>
        <p:spPr bwMode="auto">
          <a:xfrm>
            <a:off x="3921139" y="3560456"/>
            <a:ext cx="687884" cy="2477085"/>
          </a:xfrm>
          <a:custGeom>
            <a:avLst/>
            <a:gdLst>
              <a:gd name="T0" fmla="*/ 0 w 336"/>
              <a:gd name="T1" fmla="*/ 2147483647 h 1344"/>
              <a:gd name="T2" fmla="*/ 2147483647 w 336"/>
              <a:gd name="T3" fmla="*/ 2147483647 h 1344"/>
              <a:gd name="T4" fmla="*/ 2147483647 w 336"/>
              <a:gd name="T5" fmla="*/ 0 h 1344"/>
              <a:gd name="T6" fmla="*/ 0 60000 65536"/>
              <a:gd name="T7" fmla="*/ 0 60000 65536"/>
              <a:gd name="T8" fmla="*/ 0 60000 65536"/>
              <a:gd name="T9" fmla="*/ 0 w 336"/>
              <a:gd name="T10" fmla="*/ 0 h 1344"/>
              <a:gd name="T11" fmla="*/ 336 w 336"/>
              <a:gd name="T12" fmla="*/ 1344 h 13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1344">
                <a:moveTo>
                  <a:pt x="0" y="1344"/>
                </a:moveTo>
                <a:lnTo>
                  <a:pt x="336" y="1344"/>
                </a:lnTo>
                <a:lnTo>
                  <a:pt x="336" y="0"/>
                </a:lnTo>
              </a:path>
            </a:pathLst>
          </a:custGeom>
          <a:noFill/>
          <a:ln w="38100">
            <a:solidFill>
              <a:schemeClr val="accent5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294" name="Freeform 49"/>
          <p:cNvSpPr>
            <a:spLocks/>
          </p:cNvSpPr>
          <p:nvPr/>
        </p:nvSpPr>
        <p:spPr bwMode="auto">
          <a:xfrm>
            <a:off x="3921139" y="3560456"/>
            <a:ext cx="225953" cy="651864"/>
          </a:xfrm>
          <a:custGeom>
            <a:avLst/>
            <a:gdLst>
              <a:gd name="T0" fmla="*/ 0 w 576"/>
              <a:gd name="T1" fmla="*/ 2147483647 h 288"/>
              <a:gd name="T2" fmla="*/ 2147483647 w 576"/>
              <a:gd name="T3" fmla="*/ 2147483647 h 288"/>
              <a:gd name="T4" fmla="*/ 2147483647 w 576"/>
              <a:gd name="T5" fmla="*/ 0 h 288"/>
              <a:gd name="T6" fmla="*/ 0 60000 65536"/>
              <a:gd name="T7" fmla="*/ 0 60000 65536"/>
              <a:gd name="T8" fmla="*/ 0 60000 65536"/>
              <a:gd name="T9" fmla="*/ 0 w 576"/>
              <a:gd name="T10" fmla="*/ 0 h 288"/>
              <a:gd name="T11" fmla="*/ 576 w 576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288">
                <a:moveTo>
                  <a:pt x="0" y="288"/>
                </a:moveTo>
                <a:lnTo>
                  <a:pt x="576" y="288"/>
                </a:lnTo>
                <a:lnTo>
                  <a:pt x="576" y="0"/>
                </a:lnTo>
              </a:path>
            </a:pathLst>
          </a:custGeom>
          <a:noFill/>
          <a:ln w="38100">
            <a:solidFill>
              <a:srgbClr val="FFCC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296" name="AutoShape 51"/>
          <p:cNvSpPr>
            <a:spLocks noChangeArrowheads="1"/>
          </p:cNvSpPr>
          <p:nvPr/>
        </p:nvSpPr>
        <p:spPr bwMode="blackWhite">
          <a:xfrm>
            <a:off x="3764513" y="3038965"/>
            <a:ext cx="1704211" cy="521492"/>
          </a:xfrm>
          <a:prstGeom prst="roundRect">
            <a:avLst>
              <a:gd name="adj" fmla="val 5029"/>
            </a:avLst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400" dirty="0">
                <a:solidFill>
                  <a:srgbClr val="000000"/>
                </a:solidFill>
                <a:latin typeface="+mn-lt"/>
                <a:ea typeface="+mn-ea"/>
              </a:rPr>
              <a:t>Control d</a:t>
            </a:r>
            <a:r>
              <a:rPr lang="es-ES_tradnl" sz="1400">
                <a:solidFill>
                  <a:srgbClr val="000000"/>
                </a:solidFill>
                <a:latin typeface="+mn-lt"/>
                <a:ea typeface="+mn-ea"/>
              </a:rPr>
              <a:t>e</a:t>
            </a:r>
          </a:p>
          <a:p>
            <a:r>
              <a:rPr lang="es-ES_tradnl" sz="1400">
                <a:solidFill>
                  <a:srgbClr val="000000"/>
                </a:solidFill>
                <a:latin typeface="+mn-lt"/>
                <a:ea typeface="+mn-ea"/>
              </a:rPr>
              <a:t>parada</a:t>
            </a:r>
            <a:endParaRPr lang="ca-ES" sz="14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96297" name="Text Box 52"/>
          <p:cNvSpPr txBox="1">
            <a:spLocks noChangeArrowheads="1"/>
          </p:cNvSpPr>
          <p:nvPr/>
        </p:nvSpPr>
        <p:spPr bwMode="auto">
          <a:xfrm>
            <a:off x="3381936" y="3495270"/>
            <a:ext cx="765156" cy="338554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sz="1600" dirty="0">
                <a:solidFill>
                  <a:srgbClr val="26697A"/>
                </a:solidFill>
                <a:latin typeface="Arial Narrow" pitchFamily="-84" charset="0"/>
              </a:rPr>
              <a:t>DI/EX</a:t>
            </a:r>
            <a:endParaRPr lang="ca-ES" sz="1600" dirty="0">
              <a:solidFill>
                <a:srgbClr val="26697A"/>
              </a:solidFill>
              <a:latin typeface="Arial Narrow" pitchFamily="-84" charset="0"/>
            </a:endParaRPr>
          </a:p>
        </p:txBody>
      </p:sp>
      <p:sp>
        <p:nvSpPr>
          <p:cNvPr id="96298" name="Text Box 53"/>
          <p:cNvSpPr txBox="1">
            <a:spLocks noChangeArrowheads="1"/>
          </p:cNvSpPr>
          <p:nvPr/>
        </p:nvSpPr>
        <p:spPr bwMode="auto">
          <a:xfrm>
            <a:off x="5468724" y="3495270"/>
            <a:ext cx="765156" cy="338554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sz="1600" dirty="0">
                <a:solidFill>
                  <a:srgbClr val="26697A"/>
                </a:solidFill>
                <a:latin typeface="Arial Narrow" pitchFamily="-84" charset="0"/>
              </a:rPr>
              <a:t>EX/M</a:t>
            </a:r>
            <a:endParaRPr lang="ca-ES" sz="1600" dirty="0">
              <a:solidFill>
                <a:srgbClr val="26697A"/>
              </a:solidFill>
              <a:latin typeface="Arial Narrow" pitchFamily="-84" charset="0"/>
            </a:endParaRPr>
          </a:p>
        </p:txBody>
      </p:sp>
      <p:sp>
        <p:nvSpPr>
          <p:cNvPr id="96301" name="Rectangle 56"/>
          <p:cNvSpPr>
            <a:spLocks noChangeArrowheads="1"/>
          </p:cNvSpPr>
          <p:nvPr/>
        </p:nvSpPr>
        <p:spPr bwMode="blackWhite">
          <a:xfrm rot="10800000">
            <a:off x="3660174" y="5385677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400" dirty="0">
                <a:solidFill>
                  <a:srgbClr val="000000"/>
                </a:solidFill>
              </a:rPr>
              <a:t>Rs2</a:t>
            </a:r>
            <a:endParaRPr lang="ca-ES" sz="1400" dirty="0">
              <a:solidFill>
                <a:srgbClr val="000000"/>
              </a:solidFill>
            </a:endParaRPr>
          </a:p>
        </p:txBody>
      </p:sp>
      <p:sp>
        <p:nvSpPr>
          <p:cNvPr id="96302" name="Freeform 57"/>
          <p:cNvSpPr>
            <a:spLocks/>
          </p:cNvSpPr>
          <p:nvPr/>
        </p:nvSpPr>
        <p:spPr bwMode="auto">
          <a:xfrm>
            <a:off x="3912409" y="3560456"/>
            <a:ext cx="517152" cy="2020780"/>
          </a:xfrm>
          <a:custGeom>
            <a:avLst/>
            <a:gdLst>
              <a:gd name="T0" fmla="*/ 0 w 336"/>
              <a:gd name="T1" fmla="*/ 2147483647 h 1344"/>
              <a:gd name="T2" fmla="*/ 2147483647 w 336"/>
              <a:gd name="T3" fmla="*/ 2147483647 h 1344"/>
              <a:gd name="T4" fmla="*/ 2147483647 w 336"/>
              <a:gd name="T5" fmla="*/ 0 h 1344"/>
              <a:gd name="T6" fmla="*/ 0 60000 65536"/>
              <a:gd name="T7" fmla="*/ 0 60000 65536"/>
              <a:gd name="T8" fmla="*/ 0 60000 65536"/>
              <a:gd name="T9" fmla="*/ 0 w 336"/>
              <a:gd name="T10" fmla="*/ 0 h 1344"/>
              <a:gd name="T11" fmla="*/ 336 w 336"/>
              <a:gd name="T12" fmla="*/ 1344 h 13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1344">
                <a:moveTo>
                  <a:pt x="0" y="1344"/>
                </a:moveTo>
                <a:lnTo>
                  <a:pt x="336" y="1344"/>
                </a:lnTo>
                <a:lnTo>
                  <a:pt x="336" y="0"/>
                </a:lnTo>
              </a:path>
            </a:pathLst>
          </a:custGeom>
          <a:noFill/>
          <a:ln w="38100">
            <a:solidFill>
              <a:schemeClr val="accent5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303" name="Freeform 58"/>
          <p:cNvSpPr>
            <a:spLocks/>
          </p:cNvSpPr>
          <p:nvPr/>
        </p:nvSpPr>
        <p:spPr bwMode="auto">
          <a:xfrm>
            <a:off x="1940984" y="5124931"/>
            <a:ext cx="1669431" cy="456305"/>
          </a:xfrm>
          <a:custGeom>
            <a:avLst/>
            <a:gdLst>
              <a:gd name="T0" fmla="*/ 0 w 1152"/>
              <a:gd name="T1" fmla="*/ 0 h 336"/>
              <a:gd name="T2" fmla="*/ 0 w 1152"/>
              <a:gd name="T3" fmla="*/ 2147483647 h 336"/>
              <a:gd name="T4" fmla="*/ 2147483647 w 1152"/>
              <a:gd name="T5" fmla="*/ 2147483647 h 336"/>
              <a:gd name="T6" fmla="*/ 0 60000 65536"/>
              <a:gd name="T7" fmla="*/ 0 60000 65536"/>
              <a:gd name="T8" fmla="*/ 0 60000 65536"/>
              <a:gd name="T9" fmla="*/ 0 w 1152"/>
              <a:gd name="T10" fmla="*/ 0 h 336"/>
              <a:gd name="T11" fmla="*/ 1152 w 1152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52" h="336">
                <a:moveTo>
                  <a:pt x="0" y="0"/>
                </a:moveTo>
                <a:lnTo>
                  <a:pt x="0" y="336"/>
                </a:lnTo>
                <a:lnTo>
                  <a:pt x="1152" y="336"/>
                </a:lnTo>
              </a:path>
            </a:pathLst>
          </a:custGeom>
          <a:noFill/>
          <a:ln w="28575">
            <a:solidFill>
              <a:srgbClr val="26697A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306" name="Rectangle 62"/>
          <p:cNvSpPr>
            <a:spLocks noChangeArrowheads="1"/>
          </p:cNvSpPr>
          <p:nvPr/>
        </p:nvSpPr>
        <p:spPr bwMode="blackWhite">
          <a:xfrm>
            <a:off x="6241238" y="4978634"/>
            <a:ext cx="834715" cy="651864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400" dirty="0">
                <a:solidFill>
                  <a:srgbClr val="000000"/>
                </a:solidFill>
                <a:latin typeface="+mn-lt"/>
                <a:ea typeface="+mn-ea"/>
              </a:rPr>
              <a:t>memoria</a:t>
            </a:r>
            <a:br>
              <a:rPr lang="es-ES" sz="1400" dirty="0">
                <a:solidFill>
                  <a:srgbClr val="000000"/>
                </a:solidFill>
                <a:latin typeface="+mn-lt"/>
                <a:ea typeface="+mn-ea"/>
              </a:rPr>
            </a:br>
            <a:r>
              <a:rPr lang="es-ES" sz="1400" dirty="0">
                <a:solidFill>
                  <a:srgbClr val="000000"/>
                </a:solidFill>
                <a:latin typeface="+mn-lt"/>
                <a:ea typeface="+mn-ea"/>
              </a:rPr>
              <a:t>de datos</a:t>
            </a:r>
            <a:endParaRPr lang="ca-ES" sz="14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96307" name="Rectangle 64"/>
          <p:cNvSpPr>
            <a:spLocks noChangeArrowheads="1"/>
          </p:cNvSpPr>
          <p:nvPr/>
        </p:nvSpPr>
        <p:spPr bwMode="blackWhite">
          <a:xfrm rot="10800000">
            <a:off x="7416393" y="4919918"/>
            <a:ext cx="208679" cy="782237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400" dirty="0" err="1">
                <a:solidFill>
                  <a:srgbClr val="000000"/>
                </a:solidFill>
                <a:latin typeface="+mn-lt"/>
                <a:ea typeface="+mn-ea"/>
              </a:rPr>
              <a:t>MEMout</a:t>
            </a:r>
            <a:endParaRPr lang="ca-ES" sz="14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96308" name="Line 65"/>
          <p:cNvSpPr>
            <a:spLocks noChangeShapeType="1"/>
          </p:cNvSpPr>
          <p:nvPr/>
        </p:nvSpPr>
        <p:spPr bwMode="auto">
          <a:xfrm>
            <a:off x="7075953" y="5304567"/>
            <a:ext cx="278238" cy="0"/>
          </a:xfrm>
          <a:prstGeom prst="line">
            <a:avLst/>
          </a:prstGeom>
          <a:noFill/>
          <a:ln w="28575">
            <a:solidFill>
              <a:srgbClr val="26697A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310" name="Line 67"/>
          <p:cNvSpPr>
            <a:spLocks noChangeShapeType="1"/>
          </p:cNvSpPr>
          <p:nvPr/>
        </p:nvSpPr>
        <p:spPr bwMode="auto">
          <a:xfrm>
            <a:off x="8114887" y="5314521"/>
            <a:ext cx="344900" cy="0"/>
          </a:xfrm>
          <a:prstGeom prst="line">
            <a:avLst/>
          </a:prstGeom>
          <a:noFill/>
          <a:ln w="28575">
            <a:solidFill>
              <a:srgbClr val="26697A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299" name="Rectangle 54"/>
          <p:cNvSpPr>
            <a:spLocks noChangeArrowheads="1"/>
          </p:cNvSpPr>
          <p:nvPr/>
        </p:nvSpPr>
        <p:spPr bwMode="blackWhite">
          <a:xfrm rot="10800000">
            <a:off x="5746962" y="4378946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200" dirty="0">
                <a:solidFill>
                  <a:srgbClr val="000000"/>
                </a:solidFill>
                <a:latin typeface="+mn-lt"/>
                <a:ea typeface="+mn-ea"/>
              </a:rPr>
              <a:t>M</a:t>
            </a:r>
            <a:endParaRPr lang="ca-ES" sz="12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57" name="AutoShape 51"/>
          <p:cNvSpPr>
            <a:spLocks noChangeArrowheads="1"/>
          </p:cNvSpPr>
          <p:nvPr/>
        </p:nvSpPr>
        <p:spPr bwMode="blackWhite">
          <a:xfrm>
            <a:off x="1786036" y="3013161"/>
            <a:ext cx="1204025" cy="521492"/>
          </a:xfrm>
          <a:prstGeom prst="roundRect">
            <a:avLst>
              <a:gd name="adj" fmla="val 5029"/>
            </a:avLst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050" dirty="0">
                <a:solidFill>
                  <a:srgbClr val="000000"/>
                </a:solidFill>
                <a:latin typeface="+mn-lt"/>
                <a:ea typeface="+mn-ea"/>
              </a:rPr>
              <a:t>Descodificador y </a:t>
            </a:r>
          </a:p>
          <a:p>
            <a:r>
              <a:rPr lang="es-ES" sz="1050" dirty="0">
                <a:solidFill>
                  <a:srgbClr val="000000"/>
                </a:solidFill>
                <a:latin typeface="+mn-lt"/>
                <a:ea typeface="+mn-ea"/>
              </a:rPr>
              <a:t>unidad de control</a:t>
            </a:r>
            <a:endParaRPr lang="es-ES_tradnl" sz="105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cxnSp>
        <p:nvCxnSpPr>
          <p:cNvPr id="5" name="4 Conector recto de flecha"/>
          <p:cNvCxnSpPr>
            <a:cxnSpLocks/>
          </p:cNvCxnSpPr>
          <p:nvPr/>
        </p:nvCxnSpPr>
        <p:spPr bwMode="auto">
          <a:xfrm flipV="1">
            <a:off x="1940984" y="3534267"/>
            <a:ext cx="0" cy="1133001"/>
          </a:xfrm>
          <a:prstGeom prst="straightConnector1">
            <a:avLst/>
          </a:prstGeom>
          <a:ln w="28575">
            <a:solidFill>
              <a:srgbClr val="26697A"/>
            </a:solidFill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Rectángulo 3">
            <a:extLst>
              <a:ext uri="{FF2B5EF4-FFF2-40B4-BE49-F238E27FC236}">
                <a16:creationId xmlns:a16="http://schemas.microsoft.com/office/drawing/2014/main" id="{4F332FDE-6B3D-AC2A-E6DE-44326C00FA0F}"/>
              </a:ext>
            </a:extLst>
          </p:cNvPr>
          <p:cNvSpPr/>
          <p:nvPr/>
        </p:nvSpPr>
        <p:spPr bwMode="auto">
          <a:xfrm rot="16200000">
            <a:off x="7737637" y="5235893"/>
            <a:ext cx="589126" cy="14247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MUX</a:t>
            </a:r>
          </a:p>
        </p:txBody>
      </p:sp>
      <p:sp>
        <p:nvSpPr>
          <p:cNvPr id="13" name="Text Box 52">
            <a:extLst>
              <a:ext uri="{FF2B5EF4-FFF2-40B4-BE49-F238E27FC236}">
                <a16:creationId xmlns:a16="http://schemas.microsoft.com/office/drawing/2014/main" id="{2344129C-E995-1E49-D69D-F8581028AE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7786" y="3520672"/>
            <a:ext cx="765156" cy="338554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sz="1600" dirty="0">
                <a:solidFill>
                  <a:srgbClr val="26697A"/>
                </a:solidFill>
                <a:latin typeface="Arial Narrow" pitchFamily="-84" charset="0"/>
              </a:rPr>
              <a:t>LI/DI</a:t>
            </a:r>
            <a:endParaRPr lang="ca-ES" sz="1600" dirty="0">
              <a:solidFill>
                <a:srgbClr val="26697A"/>
              </a:solidFill>
              <a:latin typeface="Arial Narrow" pitchFamily="-84" charset="0"/>
            </a:endParaRPr>
          </a:p>
        </p:txBody>
      </p:sp>
      <p:sp>
        <p:nvSpPr>
          <p:cNvPr id="14" name="Text Box 53">
            <a:extLst>
              <a:ext uri="{FF2B5EF4-FFF2-40B4-BE49-F238E27FC236}">
                <a16:creationId xmlns:a16="http://schemas.microsoft.com/office/drawing/2014/main" id="{71D5D708-E29F-E175-8843-3EFFF56EA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3375" y="3514711"/>
            <a:ext cx="765156" cy="338554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sz="1600" dirty="0">
                <a:solidFill>
                  <a:srgbClr val="26697A"/>
                </a:solidFill>
                <a:latin typeface="Arial Narrow" pitchFamily="-84" charset="0"/>
              </a:rPr>
              <a:t>M/ER</a:t>
            </a:r>
            <a:endParaRPr lang="ca-ES" sz="1600" dirty="0">
              <a:solidFill>
                <a:srgbClr val="26697A"/>
              </a:solidFill>
              <a:latin typeface="Arial Narrow" pitchFamily="-84" charset="0"/>
            </a:endParaRPr>
          </a:p>
        </p:txBody>
      </p:sp>
      <p:sp>
        <p:nvSpPr>
          <p:cNvPr id="15" name="Rectangle 43">
            <a:extLst>
              <a:ext uri="{FF2B5EF4-FFF2-40B4-BE49-F238E27FC236}">
                <a16:creationId xmlns:a16="http://schemas.microsoft.com/office/drawing/2014/main" id="{B63DC9E6-E10E-95C4-CB08-62F6341230B7}"/>
              </a:ext>
            </a:extLst>
          </p:cNvPr>
          <p:cNvSpPr>
            <a:spLocks noChangeArrowheads="1"/>
          </p:cNvSpPr>
          <p:nvPr/>
        </p:nvSpPr>
        <p:spPr bwMode="blackWhite">
          <a:xfrm rot="10800000">
            <a:off x="7410789" y="3954004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200" dirty="0">
                <a:solidFill>
                  <a:srgbClr val="000000"/>
                </a:solidFill>
                <a:latin typeface="+mn-lt"/>
                <a:ea typeface="+mn-ea"/>
              </a:rPr>
              <a:t>ER</a:t>
            </a:r>
            <a:endParaRPr lang="ca-ES" sz="12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0" name="Freeform 42">
            <a:extLst>
              <a:ext uri="{FF2B5EF4-FFF2-40B4-BE49-F238E27FC236}">
                <a16:creationId xmlns:a16="http://schemas.microsoft.com/office/drawing/2014/main" id="{8F3E171C-87D1-7E56-135D-8E3B79A92B5A}"/>
              </a:ext>
            </a:extLst>
          </p:cNvPr>
          <p:cNvSpPr>
            <a:spLocks/>
          </p:cNvSpPr>
          <p:nvPr/>
        </p:nvSpPr>
        <p:spPr bwMode="blackWhite">
          <a:xfrm>
            <a:off x="4887260" y="4775345"/>
            <a:ext cx="495300" cy="1028700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r>
              <a:rPr lang="en-US" sz="1200" dirty="0"/>
              <a:t>ALU</a:t>
            </a:r>
            <a:endParaRPr lang="en-US" sz="1800" dirty="0"/>
          </a:p>
        </p:txBody>
      </p:sp>
      <p:sp>
        <p:nvSpPr>
          <p:cNvPr id="8" name="Line 65">
            <a:extLst>
              <a:ext uri="{FF2B5EF4-FFF2-40B4-BE49-F238E27FC236}">
                <a16:creationId xmlns:a16="http://schemas.microsoft.com/office/drawing/2014/main" id="{FE267064-F818-F375-8597-AA04B446F2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93120" y="5277086"/>
            <a:ext cx="291641" cy="0"/>
          </a:xfrm>
          <a:prstGeom prst="line">
            <a:avLst/>
          </a:prstGeom>
          <a:noFill/>
          <a:ln w="28575">
            <a:solidFill>
              <a:srgbClr val="26697A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24" name="Rectangle 28">
            <a:extLst>
              <a:ext uri="{FF2B5EF4-FFF2-40B4-BE49-F238E27FC236}">
                <a16:creationId xmlns:a16="http://schemas.microsoft.com/office/drawing/2014/main" id="{FE738E97-C0E9-598C-FC4C-FD6D2E82447B}"/>
              </a:ext>
            </a:extLst>
          </p:cNvPr>
          <p:cNvSpPr>
            <a:spLocks noChangeArrowheads="1"/>
          </p:cNvSpPr>
          <p:nvPr/>
        </p:nvSpPr>
        <p:spPr bwMode="blackWhite">
          <a:xfrm rot="10800000">
            <a:off x="3672455" y="6324065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400" dirty="0" err="1">
                <a:solidFill>
                  <a:srgbClr val="000000"/>
                </a:solidFill>
                <a:latin typeface="+mn-lt"/>
                <a:ea typeface="+mn-ea"/>
              </a:rPr>
              <a:t>Rd</a:t>
            </a:r>
            <a:endParaRPr lang="ca-ES" sz="14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6" name="Freeform 47">
            <a:extLst>
              <a:ext uri="{FF2B5EF4-FFF2-40B4-BE49-F238E27FC236}">
                <a16:creationId xmlns:a16="http://schemas.microsoft.com/office/drawing/2014/main" id="{C3041691-FC45-E810-4DB9-141F1F463524}"/>
              </a:ext>
            </a:extLst>
          </p:cNvPr>
          <p:cNvSpPr>
            <a:spLocks/>
          </p:cNvSpPr>
          <p:nvPr/>
        </p:nvSpPr>
        <p:spPr bwMode="auto">
          <a:xfrm>
            <a:off x="3931699" y="3557588"/>
            <a:ext cx="829724" cy="2971800"/>
          </a:xfrm>
          <a:custGeom>
            <a:avLst/>
            <a:gdLst>
              <a:gd name="T0" fmla="*/ 0 w 336"/>
              <a:gd name="T1" fmla="*/ 2147483647 h 1344"/>
              <a:gd name="T2" fmla="*/ 2147483647 w 336"/>
              <a:gd name="T3" fmla="*/ 2147483647 h 1344"/>
              <a:gd name="T4" fmla="*/ 2147483647 w 336"/>
              <a:gd name="T5" fmla="*/ 0 h 1344"/>
              <a:gd name="T6" fmla="*/ 0 60000 65536"/>
              <a:gd name="T7" fmla="*/ 0 60000 65536"/>
              <a:gd name="T8" fmla="*/ 0 60000 65536"/>
              <a:gd name="T9" fmla="*/ 0 w 336"/>
              <a:gd name="T10" fmla="*/ 0 h 1344"/>
              <a:gd name="T11" fmla="*/ 336 w 336"/>
              <a:gd name="T12" fmla="*/ 1344 h 13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1344">
                <a:moveTo>
                  <a:pt x="0" y="1344"/>
                </a:moveTo>
                <a:lnTo>
                  <a:pt x="336" y="1344"/>
                </a:lnTo>
                <a:lnTo>
                  <a:pt x="336" y="0"/>
                </a:lnTo>
              </a:path>
            </a:pathLst>
          </a:custGeom>
          <a:noFill/>
          <a:ln w="38100">
            <a:solidFill>
              <a:schemeClr val="accent5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28" name="Line 8">
            <a:extLst>
              <a:ext uri="{FF2B5EF4-FFF2-40B4-BE49-F238E27FC236}">
                <a16:creationId xmlns:a16="http://schemas.microsoft.com/office/drawing/2014/main" id="{D299B4AD-AE1C-0718-0F9C-081BA6AEDA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0061" y="3249594"/>
            <a:ext cx="765156" cy="11708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headEnd type="none" w="med" len="med"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8488889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FB9FC-69DD-7BE7-00F4-7EE67A13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99A7CB54-ED23-B0ED-DC10-58C333C10EB7}"/>
              </a:ext>
            </a:extLst>
          </p:cNvPr>
          <p:cNvSpPr/>
          <p:nvPr/>
        </p:nvSpPr>
        <p:spPr bwMode="auto">
          <a:xfrm>
            <a:off x="5768594" y="3029186"/>
            <a:ext cx="304800" cy="37464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45AAD06-EC1E-4767-E9FB-F3D5BC4B2934}"/>
              </a:ext>
            </a:extLst>
          </p:cNvPr>
          <p:cNvSpPr/>
          <p:nvPr/>
        </p:nvSpPr>
        <p:spPr bwMode="auto">
          <a:xfrm>
            <a:off x="3631893" y="4731755"/>
            <a:ext cx="304800" cy="204695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89BC5EEB-6C4E-C0A6-1C05-64578F5CFA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Lógica de Inserción del Ciclo de Parada</a:t>
            </a:r>
          </a:p>
        </p:txBody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2F6B7E0C-1CCD-1621-172A-8CA1D3B872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914400"/>
            <a:ext cx="8250237" cy="2298576"/>
          </a:xfrm>
        </p:spPr>
        <p:txBody>
          <a:bodyPr/>
          <a:lstStyle/>
          <a:p>
            <a:r>
              <a:rPr lang="es-ES" dirty="0"/>
              <a:t>Las etapas LI y DI han de repetir instrucción</a:t>
            </a:r>
          </a:p>
          <a:p>
            <a:r>
              <a:rPr lang="es-ES" dirty="0"/>
              <a:t>Hay que detener el avance en EX (creación de una burbuja)  (</a:t>
            </a:r>
            <a:r>
              <a:rPr lang="es-ES" dirty="0" err="1"/>
              <a:t>LMem</a:t>
            </a:r>
            <a:r>
              <a:rPr lang="es-ES" dirty="0"/>
              <a:t>=0; </a:t>
            </a:r>
            <a:r>
              <a:rPr lang="es-ES" dirty="0" err="1"/>
              <a:t>EMem</a:t>
            </a:r>
            <a:r>
              <a:rPr lang="es-ES" dirty="0"/>
              <a:t>=0; </a:t>
            </a:r>
            <a:r>
              <a:rPr lang="es-ES" dirty="0" err="1"/>
              <a:t>EReg</a:t>
            </a:r>
            <a:r>
              <a:rPr lang="es-ES" dirty="0"/>
              <a:t>=0)</a:t>
            </a:r>
          </a:p>
        </p:txBody>
      </p:sp>
      <p:sp>
        <p:nvSpPr>
          <p:cNvPr id="96258" name="5 Marcador de número de diapositiva">
            <a:extLst>
              <a:ext uri="{FF2B5EF4-FFF2-40B4-BE49-F238E27FC236}">
                <a16:creationId xmlns:a16="http://schemas.microsoft.com/office/drawing/2014/main" id="{2E997C6C-BDE6-E06D-F80B-D75ACC2F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FFA4C-3830-064D-9B4D-536A5527F5F2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96265" name="Line 8">
            <a:extLst>
              <a:ext uri="{FF2B5EF4-FFF2-40B4-BE49-F238E27FC236}">
                <a16:creationId xmlns:a16="http://schemas.microsoft.com/office/drawing/2014/main" id="{E32AEAB6-D48E-FF51-8D5D-317D140546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3239" y="4667268"/>
            <a:ext cx="556477" cy="1358"/>
          </a:xfrm>
          <a:prstGeom prst="line">
            <a:avLst/>
          </a:prstGeom>
          <a:noFill/>
          <a:ln w="28575">
            <a:solidFill>
              <a:srgbClr val="26697A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266" name="Line 9">
            <a:extLst>
              <a:ext uri="{FF2B5EF4-FFF2-40B4-BE49-F238E27FC236}">
                <a16:creationId xmlns:a16="http://schemas.microsoft.com/office/drawing/2014/main" id="{5E625D6F-58D9-E4C1-4179-3F3CEF85EC0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3239" y="5123573"/>
            <a:ext cx="556477" cy="1358"/>
          </a:xfrm>
          <a:prstGeom prst="line">
            <a:avLst/>
          </a:prstGeom>
          <a:noFill/>
          <a:ln w="28575">
            <a:solidFill>
              <a:srgbClr val="26697A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267" name="Rectangle 10">
            <a:extLst>
              <a:ext uri="{FF2B5EF4-FFF2-40B4-BE49-F238E27FC236}">
                <a16:creationId xmlns:a16="http://schemas.microsoft.com/office/drawing/2014/main" id="{837E66CE-D8C7-9EE5-5CC2-5FD643D44D44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649715" y="4473066"/>
            <a:ext cx="834715" cy="782237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" sz="1400" dirty="0">
                <a:solidFill>
                  <a:srgbClr val="000000"/>
                </a:solidFill>
                <a:latin typeface="+mn-lt"/>
                <a:ea typeface="+mn-ea"/>
              </a:rPr>
              <a:t>Banco de</a:t>
            </a:r>
            <a:br>
              <a:rPr lang="es-ES" sz="1400" dirty="0">
                <a:solidFill>
                  <a:srgbClr val="000000"/>
                </a:solidFill>
                <a:latin typeface="+mn-lt"/>
                <a:ea typeface="+mn-ea"/>
              </a:rPr>
            </a:br>
            <a:r>
              <a:rPr lang="es-ES" sz="1400" dirty="0">
                <a:solidFill>
                  <a:srgbClr val="000000"/>
                </a:solidFill>
                <a:latin typeface="+mn-lt"/>
                <a:ea typeface="+mn-ea"/>
              </a:rPr>
              <a:t>registros</a:t>
            </a:r>
            <a:endParaRPr lang="ca-ES" sz="14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96270" name="Line 13">
            <a:extLst>
              <a:ext uri="{FF2B5EF4-FFF2-40B4-BE49-F238E27FC236}">
                <a16:creationId xmlns:a16="http://schemas.microsoft.com/office/drawing/2014/main" id="{CF5B25E2-4E58-A9F1-63A6-6D7A86A47CC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4431" y="5123573"/>
            <a:ext cx="278238" cy="1358"/>
          </a:xfrm>
          <a:prstGeom prst="line">
            <a:avLst/>
          </a:prstGeom>
          <a:noFill/>
          <a:ln w="28575">
            <a:solidFill>
              <a:srgbClr val="26697A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272" name="Line 15">
            <a:extLst>
              <a:ext uri="{FF2B5EF4-FFF2-40B4-BE49-F238E27FC236}">
                <a16:creationId xmlns:a16="http://schemas.microsoft.com/office/drawing/2014/main" id="{1B8A0B24-0710-2B9A-4D2E-A45E867AFA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4431" y="4667268"/>
            <a:ext cx="278238" cy="1358"/>
          </a:xfrm>
          <a:prstGeom prst="line">
            <a:avLst/>
          </a:prstGeom>
          <a:noFill/>
          <a:ln w="28575">
            <a:solidFill>
              <a:srgbClr val="26697A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275" name="Rectangle 19">
            <a:extLst>
              <a:ext uri="{FF2B5EF4-FFF2-40B4-BE49-F238E27FC236}">
                <a16:creationId xmlns:a16="http://schemas.microsoft.com/office/drawing/2014/main" id="{C0F001B1-8217-CF2E-46E0-8F96B7508987}"/>
              </a:ext>
            </a:extLst>
          </p:cNvPr>
          <p:cNvSpPr>
            <a:spLocks noChangeArrowheads="1"/>
          </p:cNvSpPr>
          <p:nvPr/>
        </p:nvSpPr>
        <p:spPr bwMode="blackWhite">
          <a:xfrm rot="10800000">
            <a:off x="3675881" y="5159780"/>
            <a:ext cx="208679" cy="782237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400">
                <a:solidFill>
                  <a:srgbClr val="000000"/>
                </a:solidFill>
                <a:latin typeface="+mn-lt"/>
                <a:ea typeface="+mn-ea"/>
              </a:rPr>
              <a:t>RI</a:t>
            </a:r>
            <a:endParaRPr lang="ca-ES" sz="14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96276" name="Rectangle 21">
            <a:extLst>
              <a:ext uri="{FF2B5EF4-FFF2-40B4-BE49-F238E27FC236}">
                <a16:creationId xmlns:a16="http://schemas.microsoft.com/office/drawing/2014/main" id="{FBE475ED-9ACB-602A-0D67-351A877317DB}"/>
              </a:ext>
            </a:extLst>
          </p:cNvPr>
          <p:cNvSpPr>
            <a:spLocks noChangeArrowheads="1"/>
          </p:cNvSpPr>
          <p:nvPr/>
        </p:nvSpPr>
        <p:spPr bwMode="blackWhite">
          <a:xfrm rot="10800000">
            <a:off x="5812429" y="4471709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ca-ES" sz="1400">
                <a:solidFill>
                  <a:srgbClr val="000000"/>
                </a:solidFill>
                <a:latin typeface="+mn-lt"/>
                <a:ea typeface="+mn-ea"/>
              </a:rPr>
              <a:t>S</a:t>
            </a:r>
          </a:p>
        </p:txBody>
      </p:sp>
      <p:sp>
        <p:nvSpPr>
          <p:cNvPr id="96277" name="Rectangle 22">
            <a:extLst>
              <a:ext uri="{FF2B5EF4-FFF2-40B4-BE49-F238E27FC236}">
                <a16:creationId xmlns:a16="http://schemas.microsoft.com/office/drawing/2014/main" id="{BAE13A68-F967-07CA-39BA-DE6BFE1DBDA3}"/>
              </a:ext>
            </a:extLst>
          </p:cNvPr>
          <p:cNvSpPr>
            <a:spLocks noChangeArrowheads="1"/>
          </p:cNvSpPr>
          <p:nvPr/>
        </p:nvSpPr>
        <p:spPr bwMode="blackWhite">
          <a:xfrm rot="10800000">
            <a:off x="5812429" y="4929372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ca-ES" sz="1400">
                <a:solidFill>
                  <a:srgbClr val="000000"/>
                </a:solidFill>
                <a:latin typeface="+mn-lt"/>
                <a:ea typeface="+mn-ea"/>
              </a:rPr>
              <a:t>T</a:t>
            </a:r>
          </a:p>
        </p:txBody>
      </p:sp>
      <p:sp>
        <p:nvSpPr>
          <p:cNvPr id="96286" name="Line 32">
            <a:extLst>
              <a:ext uri="{FF2B5EF4-FFF2-40B4-BE49-F238E27FC236}">
                <a16:creationId xmlns:a16="http://schemas.microsoft.com/office/drawing/2014/main" id="{651DB01C-C595-7E59-18F9-A10BD6DA969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3239" y="4668626"/>
            <a:ext cx="0" cy="1368915"/>
          </a:xfrm>
          <a:prstGeom prst="line">
            <a:avLst/>
          </a:prstGeom>
          <a:noFill/>
          <a:ln w="28575">
            <a:solidFill>
              <a:srgbClr val="26697A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287" name="Line 33">
            <a:extLst>
              <a:ext uri="{FF2B5EF4-FFF2-40B4-BE49-F238E27FC236}">
                <a16:creationId xmlns:a16="http://schemas.microsoft.com/office/drawing/2014/main" id="{E518681A-3CA4-9319-3301-5A5D6CC0548B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0557" y="5575771"/>
            <a:ext cx="165122" cy="1358"/>
          </a:xfrm>
          <a:prstGeom prst="line">
            <a:avLst/>
          </a:prstGeom>
          <a:noFill/>
          <a:ln w="28575">
            <a:solidFill>
              <a:srgbClr val="26697A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288" name="Rectangle 39">
            <a:extLst>
              <a:ext uri="{FF2B5EF4-FFF2-40B4-BE49-F238E27FC236}">
                <a16:creationId xmlns:a16="http://schemas.microsoft.com/office/drawing/2014/main" id="{B2087E76-BA44-E0A3-F978-2937EC3752CB}"/>
              </a:ext>
            </a:extLst>
          </p:cNvPr>
          <p:cNvSpPr>
            <a:spLocks noChangeArrowheads="1"/>
          </p:cNvSpPr>
          <p:nvPr/>
        </p:nvSpPr>
        <p:spPr bwMode="blackWhite">
          <a:xfrm rot="10800000">
            <a:off x="5812429" y="5841982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400" dirty="0">
                <a:solidFill>
                  <a:srgbClr val="000000"/>
                </a:solidFill>
                <a:latin typeface="+mn-lt"/>
                <a:ea typeface="+mn-ea"/>
              </a:rPr>
              <a:t>Rs1</a:t>
            </a:r>
            <a:endParaRPr lang="ca-ES" sz="14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96289" name="Freeform 40">
            <a:extLst>
              <a:ext uri="{FF2B5EF4-FFF2-40B4-BE49-F238E27FC236}">
                <a16:creationId xmlns:a16="http://schemas.microsoft.com/office/drawing/2014/main" id="{D01C865D-9ED4-3C81-6692-7444687128EE}"/>
              </a:ext>
            </a:extLst>
          </p:cNvPr>
          <p:cNvSpPr>
            <a:spLocks/>
          </p:cNvSpPr>
          <p:nvPr/>
        </p:nvSpPr>
        <p:spPr bwMode="auto">
          <a:xfrm>
            <a:off x="4093239" y="5581236"/>
            <a:ext cx="1669431" cy="456305"/>
          </a:xfrm>
          <a:custGeom>
            <a:avLst/>
            <a:gdLst>
              <a:gd name="T0" fmla="*/ 0 w 1152"/>
              <a:gd name="T1" fmla="*/ 0 h 336"/>
              <a:gd name="T2" fmla="*/ 0 w 1152"/>
              <a:gd name="T3" fmla="*/ 2147483647 h 336"/>
              <a:gd name="T4" fmla="*/ 2147483647 w 1152"/>
              <a:gd name="T5" fmla="*/ 2147483647 h 336"/>
              <a:gd name="T6" fmla="*/ 0 60000 65536"/>
              <a:gd name="T7" fmla="*/ 0 60000 65536"/>
              <a:gd name="T8" fmla="*/ 0 60000 65536"/>
              <a:gd name="T9" fmla="*/ 0 w 1152"/>
              <a:gd name="T10" fmla="*/ 0 h 336"/>
              <a:gd name="T11" fmla="*/ 1152 w 1152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52" h="336">
                <a:moveTo>
                  <a:pt x="0" y="0"/>
                </a:moveTo>
                <a:lnTo>
                  <a:pt x="0" y="336"/>
                </a:lnTo>
                <a:lnTo>
                  <a:pt x="1152" y="336"/>
                </a:lnTo>
              </a:path>
            </a:pathLst>
          </a:custGeom>
          <a:noFill/>
          <a:ln w="28575">
            <a:solidFill>
              <a:srgbClr val="26697A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290" name="Rectangle 41">
            <a:extLst>
              <a:ext uri="{FF2B5EF4-FFF2-40B4-BE49-F238E27FC236}">
                <a16:creationId xmlns:a16="http://schemas.microsoft.com/office/drawing/2014/main" id="{A5DEAC4E-9598-BFF3-C623-FE96AB338996}"/>
              </a:ext>
            </a:extLst>
          </p:cNvPr>
          <p:cNvSpPr>
            <a:spLocks noChangeArrowheads="1"/>
          </p:cNvSpPr>
          <p:nvPr/>
        </p:nvSpPr>
        <p:spPr bwMode="blackWhite">
          <a:xfrm rot="10800000">
            <a:off x="5812429" y="4016761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200" dirty="0">
                <a:solidFill>
                  <a:srgbClr val="000000"/>
                </a:solidFill>
                <a:latin typeface="+mn-lt"/>
                <a:ea typeface="+mn-ea"/>
              </a:rPr>
              <a:t>EX</a:t>
            </a:r>
            <a:endParaRPr lang="ca-ES" sz="12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96297" name="Text Box 52">
            <a:extLst>
              <a:ext uri="{FF2B5EF4-FFF2-40B4-BE49-F238E27FC236}">
                <a16:creationId xmlns:a16="http://schemas.microsoft.com/office/drawing/2014/main" id="{D4F76B8C-7F47-1D67-2015-0DC2119D1C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4191" y="2661736"/>
            <a:ext cx="765156" cy="338554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sz="1600" dirty="0">
                <a:solidFill>
                  <a:srgbClr val="26697A"/>
                </a:solidFill>
                <a:latin typeface="Arial Narrow" pitchFamily="-84" charset="0"/>
              </a:rPr>
              <a:t>DI/EX</a:t>
            </a:r>
            <a:endParaRPr lang="ca-ES" sz="1600" dirty="0">
              <a:solidFill>
                <a:srgbClr val="26697A"/>
              </a:solidFill>
              <a:latin typeface="Arial Narrow" pitchFamily="-84" charset="0"/>
            </a:endParaRPr>
          </a:p>
        </p:txBody>
      </p:sp>
      <p:sp>
        <p:nvSpPr>
          <p:cNvPr id="96301" name="Rectangle 56">
            <a:extLst>
              <a:ext uri="{FF2B5EF4-FFF2-40B4-BE49-F238E27FC236}">
                <a16:creationId xmlns:a16="http://schemas.microsoft.com/office/drawing/2014/main" id="{948C85BA-714B-0666-1B23-C5D00F4640EE}"/>
              </a:ext>
            </a:extLst>
          </p:cNvPr>
          <p:cNvSpPr>
            <a:spLocks noChangeArrowheads="1"/>
          </p:cNvSpPr>
          <p:nvPr/>
        </p:nvSpPr>
        <p:spPr bwMode="blackWhite">
          <a:xfrm rot="10800000">
            <a:off x="5812429" y="5385677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400" dirty="0">
                <a:solidFill>
                  <a:srgbClr val="000000"/>
                </a:solidFill>
              </a:rPr>
              <a:t>Rs2</a:t>
            </a:r>
            <a:endParaRPr lang="ca-ES" sz="1400" dirty="0">
              <a:solidFill>
                <a:srgbClr val="000000"/>
              </a:solidFill>
            </a:endParaRPr>
          </a:p>
        </p:txBody>
      </p:sp>
      <p:sp>
        <p:nvSpPr>
          <p:cNvPr id="96303" name="Freeform 58">
            <a:extLst>
              <a:ext uri="{FF2B5EF4-FFF2-40B4-BE49-F238E27FC236}">
                <a16:creationId xmlns:a16="http://schemas.microsoft.com/office/drawing/2014/main" id="{04AA2B20-B364-0053-3BCD-234F2A6F0556}"/>
              </a:ext>
            </a:extLst>
          </p:cNvPr>
          <p:cNvSpPr>
            <a:spLocks/>
          </p:cNvSpPr>
          <p:nvPr/>
        </p:nvSpPr>
        <p:spPr bwMode="auto">
          <a:xfrm>
            <a:off x="4093239" y="5124931"/>
            <a:ext cx="1669431" cy="456305"/>
          </a:xfrm>
          <a:custGeom>
            <a:avLst/>
            <a:gdLst>
              <a:gd name="T0" fmla="*/ 0 w 1152"/>
              <a:gd name="T1" fmla="*/ 0 h 336"/>
              <a:gd name="T2" fmla="*/ 0 w 1152"/>
              <a:gd name="T3" fmla="*/ 2147483647 h 336"/>
              <a:gd name="T4" fmla="*/ 2147483647 w 1152"/>
              <a:gd name="T5" fmla="*/ 2147483647 h 336"/>
              <a:gd name="T6" fmla="*/ 0 60000 65536"/>
              <a:gd name="T7" fmla="*/ 0 60000 65536"/>
              <a:gd name="T8" fmla="*/ 0 60000 65536"/>
              <a:gd name="T9" fmla="*/ 0 w 1152"/>
              <a:gd name="T10" fmla="*/ 0 h 336"/>
              <a:gd name="T11" fmla="*/ 1152 w 1152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52" h="336">
                <a:moveTo>
                  <a:pt x="0" y="0"/>
                </a:moveTo>
                <a:lnTo>
                  <a:pt x="0" y="336"/>
                </a:lnTo>
                <a:lnTo>
                  <a:pt x="1152" y="336"/>
                </a:lnTo>
              </a:path>
            </a:pathLst>
          </a:custGeom>
          <a:noFill/>
          <a:ln w="28575">
            <a:solidFill>
              <a:srgbClr val="26697A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24" name="Rectangle 28">
            <a:extLst>
              <a:ext uri="{FF2B5EF4-FFF2-40B4-BE49-F238E27FC236}">
                <a16:creationId xmlns:a16="http://schemas.microsoft.com/office/drawing/2014/main" id="{228C119D-C004-61DD-43CC-32EEC726AE97}"/>
              </a:ext>
            </a:extLst>
          </p:cNvPr>
          <p:cNvSpPr>
            <a:spLocks noChangeArrowheads="1"/>
          </p:cNvSpPr>
          <p:nvPr/>
        </p:nvSpPr>
        <p:spPr bwMode="blackWhite">
          <a:xfrm rot="10800000">
            <a:off x="5824710" y="6324065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400" dirty="0" err="1">
                <a:solidFill>
                  <a:srgbClr val="000000"/>
                </a:solidFill>
                <a:latin typeface="+mn-lt"/>
                <a:ea typeface="+mn-ea"/>
              </a:rPr>
              <a:t>Rd</a:t>
            </a:r>
            <a:endParaRPr lang="ca-ES" sz="14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983B246-33AA-A984-390C-DB9C841509B4}"/>
              </a:ext>
            </a:extLst>
          </p:cNvPr>
          <p:cNvSpPr/>
          <p:nvPr/>
        </p:nvSpPr>
        <p:spPr bwMode="auto">
          <a:xfrm>
            <a:off x="2232785" y="4370159"/>
            <a:ext cx="838200" cy="3048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1C5EEF5-D0E0-58AD-BC48-569DD8440AA0}"/>
              </a:ext>
            </a:extLst>
          </p:cNvPr>
          <p:cNvSpPr/>
          <p:nvPr/>
        </p:nvSpPr>
        <p:spPr bwMode="auto">
          <a:xfrm>
            <a:off x="2425617" y="5055959"/>
            <a:ext cx="838200" cy="990600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900" dirty="0">
                <a:solidFill>
                  <a:srgbClr val="000000"/>
                </a:solidFill>
              </a:rPr>
              <a:t>Memoria de</a:t>
            </a:r>
          </a:p>
          <a:p>
            <a:pPr algn="l"/>
            <a:r>
              <a:rPr lang="es-ES_tradnl" sz="900" dirty="0">
                <a:solidFill>
                  <a:srgbClr val="000000"/>
                </a:solidFill>
              </a:rPr>
              <a:t>Instrucciones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6DFE0697-549A-8879-438A-E08BCE2BD8C8}"/>
              </a:ext>
            </a:extLst>
          </p:cNvPr>
          <p:cNvCxnSpPr>
            <a:cxnSpLocks/>
            <a:stCxn id="3" idx="2"/>
          </p:cNvCxnSpPr>
          <p:nvPr/>
        </p:nvCxnSpPr>
        <p:spPr bwMode="auto">
          <a:xfrm>
            <a:off x="2651885" y="4674959"/>
            <a:ext cx="0" cy="381000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D4C88A1F-A216-B1FE-6412-57B648657271}"/>
              </a:ext>
            </a:extLst>
          </p:cNvPr>
          <p:cNvCxnSpPr>
            <a:cxnSpLocks/>
            <a:stCxn id="7" idx="3"/>
          </p:cNvCxnSpPr>
          <p:nvPr/>
        </p:nvCxnSpPr>
        <p:spPr bwMode="auto">
          <a:xfrm>
            <a:off x="3263817" y="5551259"/>
            <a:ext cx="324630" cy="0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Oval 55">
            <a:extLst>
              <a:ext uri="{FF2B5EF4-FFF2-40B4-BE49-F238E27FC236}">
                <a16:creationId xmlns:a16="http://schemas.microsoft.com/office/drawing/2014/main" id="{0CEE9E2A-1C66-3C1C-27C0-37D1981E7D3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135804" y="4980421"/>
            <a:ext cx="152400" cy="152400"/>
          </a:xfrm>
          <a:prstGeom prst="ellipse">
            <a:avLst/>
          </a:prstGeom>
          <a:solidFill>
            <a:srgbClr val="FFCC00"/>
          </a:solidFill>
          <a:ln w="9525">
            <a:solidFill>
              <a:srgbClr val="FFCC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/>
          </a:p>
        </p:txBody>
      </p:sp>
      <p:sp>
        <p:nvSpPr>
          <p:cNvPr id="18" name="Line 56">
            <a:extLst>
              <a:ext uri="{FF2B5EF4-FFF2-40B4-BE49-F238E27FC236}">
                <a16:creationId xmlns:a16="http://schemas.microsoft.com/office/drawing/2014/main" id="{7329A12E-C63C-8A52-CDC5-E585CF52AF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8307" y="4058410"/>
            <a:ext cx="0" cy="304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Text Box 57">
            <a:extLst>
              <a:ext uri="{FF2B5EF4-FFF2-40B4-BE49-F238E27FC236}">
                <a16:creationId xmlns:a16="http://schemas.microsoft.com/office/drawing/2014/main" id="{1BD1C260-3BDE-9001-D79F-A259E94DC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0445" y="3802358"/>
            <a:ext cx="5357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rgbClr val="FF6600"/>
                </a:solidFill>
              </a:defRPr>
            </a:lvl1pPr>
          </a:lstStyle>
          <a:p>
            <a:r>
              <a:rPr lang="es-ES" dirty="0" err="1"/>
              <a:t>PCin</a:t>
            </a:r>
            <a:endParaRPr lang="ca-ES" dirty="0"/>
          </a:p>
        </p:txBody>
      </p:sp>
      <p:sp>
        <p:nvSpPr>
          <p:cNvPr id="23" name="Oval 108">
            <a:extLst>
              <a:ext uri="{FF2B5EF4-FFF2-40B4-BE49-F238E27FC236}">
                <a16:creationId xmlns:a16="http://schemas.microsoft.com/office/drawing/2014/main" id="{1FA08C9E-C5B8-D488-88EB-2513E0F66848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564061" y="4756013"/>
            <a:ext cx="152400" cy="152400"/>
          </a:xfrm>
          <a:prstGeom prst="ellipse">
            <a:avLst/>
          </a:prstGeom>
          <a:solidFill>
            <a:srgbClr val="FFCC00"/>
          </a:solidFill>
          <a:ln w="9525">
            <a:solidFill>
              <a:srgbClr val="FFCC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/>
          </a:p>
        </p:txBody>
      </p:sp>
      <p:sp>
        <p:nvSpPr>
          <p:cNvPr id="25" name="Freeform 111">
            <a:extLst>
              <a:ext uri="{FF2B5EF4-FFF2-40B4-BE49-F238E27FC236}">
                <a16:creationId xmlns:a16="http://schemas.microsoft.com/office/drawing/2014/main" id="{59B5717B-D84A-FCE6-702D-D1B303FA66CE}"/>
              </a:ext>
            </a:extLst>
          </p:cNvPr>
          <p:cNvSpPr>
            <a:spLocks/>
          </p:cNvSpPr>
          <p:nvPr/>
        </p:nvSpPr>
        <p:spPr bwMode="blackWhite">
          <a:xfrm>
            <a:off x="3202611" y="3781436"/>
            <a:ext cx="314193" cy="1240903"/>
          </a:xfrm>
          <a:custGeom>
            <a:avLst/>
            <a:gdLst>
              <a:gd name="T0" fmla="*/ 2147483647 w 1968"/>
              <a:gd name="T1" fmla="*/ 0 h 720"/>
              <a:gd name="T2" fmla="*/ 0 w 1968"/>
              <a:gd name="T3" fmla="*/ 0 h 720"/>
              <a:gd name="T4" fmla="*/ 0 w 1968"/>
              <a:gd name="T5" fmla="*/ 2147483647 h 720"/>
              <a:gd name="T6" fmla="*/ 0 60000 65536"/>
              <a:gd name="T7" fmla="*/ 0 60000 65536"/>
              <a:gd name="T8" fmla="*/ 0 60000 65536"/>
              <a:gd name="T9" fmla="*/ 0 w 1968"/>
              <a:gd name="T10" fmla="*/ 0 h 720"/>
              <a:gd name="T11" fmla="*/ 1968 w 1968"/>
              <a:gd name="T12" fmla="*/ 720 h 72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68" h="720">
                <a:moveTo>
                  <a:pt x="1968" y="0"/>
                </a:moveTo>
                <a:lnTo>
                  <a:pt x="0" y="0"/>
                </a:lnTo>
                <a:lnTo>
                  <a:pt x="0" y="720"/>
                </a:lnTo>
              </a:path>
            </a:pathLst>
          </a:custGeom>
          <a:noFill/>
          <a:ln w="28575">
            <a:solidFill>
              <a:srgbClr val="FFCC00"/>
            </a:solidFill>
            <a:round/>
            <a:headEnd/>
            <a:tailEnd type="triangle" w="med" len="med"/>
          </a:ln>
        </p:spPr>
        <p:txBody>
          <a:bodyPr wrap="square" lIns="0" tIns="0" rIns="0" bIns="0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Line 112">
            <a:extLst>
              <a:ext uri="{FF2B5EF4-FFF2-40B4-BE49-F238E27FC236}">
                <a16:creationId xmlns:a16="http://schemas.microsoft.com/office/drawing/2014/main" id="{89126588-80FE-C099-B53B-94BE08AC8D22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3216600" y="4846650"/>
            <a:ext cx="358090" cy="0"/>
          </a:xfrm>
          <a:prstGeom prst="line">
            <a:avLst/>
          </a:prstGeom>
          <a:noFill/>
          <a:ln w="28575">
            <a:solidFill>
              <a:srgbClr val="FFCC00"/>
            </a:solidFill>
            <a:round/>
            <a:headEnd/>
            <a:tailEnd type="triangle" w="med" len="med"/>
          </a:ln>
        </p:spPr>
        <p:txBody>
          <a:bodyPr wrap="square" lIns="0" tIns="0" rIns="0" bIns="0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9" name="Text Box 117">
            <a:extLst>
              <a:ext uri="{FF2B5EF4-FFF2-40B4-BE49-F238E27FC236}">
                <a16:creationId xmlns:a16="http://schemas.microsoft.com/office/drawing/2014/main" id="{B34C951D-B79F-1DBE-84EF-597F417F37FA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2284505" y="3220182"/>
            <a:ext cx="1096454" cy="55399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sz="1800" dirty="0">
                <a:solidFill>
                  <a:srgbClr val="FF0000"/>
                </a:solidFill>
                <a:latin typeface="Arial Narrow" pitchFamily="-84" charset="0"/>
              </a:rPr>
              <a:t>Inhibir carga </a:t>
            </a:r>
            <a:br>
              <a:rPr lang="es-ES" sz="1800" dirty="0">
                <a:solidFill>
                  <a:srgbClr val="FF0000"/>
                </a:solidFill>
                <a:latin typeface="Arial Narrow" pitchFamily="-84" charset="0"/>
              </a:rPr>
            </a:br>
            <a:r>
              <a:rPr lang="es-ES" sz="1800" dirty="0">
                <a:solidFill>
                  <a:srgbClr val="FF0000"/>
                </a:solidFill>
                <a:latin typeface="Arial Narrow" pitchFamily="-84" charset="0"/>
              </a:rPr>
              <a:t>registros</a:t>
            </a:r>
            <a:endParaRPr lang="ca-ES" sz="1800" dirty="0">
              <a:solidFill>
                <a:srgbClr val="FF0000"/>
              </a:solidFill>
              <a:latin typeface="Arial Narrow" pitchFamily="-84" charset="0"/>
            </a:endParaRPr>
          </a:p>
        </p:txBody>
      </p:sp>
      <p:sp>
        <p:nvSpPr>
          <p:cNvPr id="30" name="Text Box 118">
            <a:extLst>
              <a:ext uri="{FF2B5EF4-FFF2-40B4-BE49-F238E27FC236}">
                <a16:creationId xmlns:a16="http://schemas.microsoft.com/office/drawing/2014/main" id="{7EA2555C-1CC4-AA30-9735-964A3ED55EA2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3770140" y="2455591"/>
            <a:ext cx="633186" cy="55399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sz="1800" dirty="0">
                <a:solidFill>
                  <a:srgbClr val="FF0000"/>
                </a:solidFill>
                <a:latin typeface="Arial Narrow" pitchFamily="-84" charset="0"/>
              </a:rPr>
              <a:t>Crear </a:t>
            </a:r>
            <a:br>
              <a:rPr lang="es-ES" sz="1800" dirty="0">
                <a:solidFill>
                  <a:srgbClr val="FF0000"/>
                </a:solidFill>
                <a:latin typeface="Arial Narrow" pitchFamily="-84" charset="0"/>
              </a:rPr>
            </a:br>
            <a:r>
              <a:rPr lang="es-ES" sz="1800" dirty="0">
                <a:solidFill>
                  <a:srgbClr val="FF0000"/>
                </a:solidFill>
                <a:latin typeface="Arial Narrow" pitchFamily="-84" charset="0"/>
              </a:rPr>
              <a:t>burbuja</a:t>
            </a:r>
            <a:endParaRPr lang="ca-ES" sz="1800" dirty="0">
              <a:solidFill>
                <a:srgbClr val="FF0000"/>
              </a:solidFill>
              <a:latin typeface="Arial Narrow" pitchFamily="-84" charset="0"/>
            </a:endParaRPr>
          </a:p>
        </p:txBody>
      </p:sp>
      <p:sp>
        <p:nvSpPr>
          <p:cNvPr id="31" name="182 CuadroTexto">
            <a:extLst>
              <a:ext uri="{FF2B5EF4-FFF2-40B4-BE49-F238E27FC236}">
                <a16:creationId xmlns:a16="http://schemas.microsoft.com/office/drawing/2014/main" id="{6850344D-3BE2-11A6-73E9-6D1843CECEFF}"/>
              </a:ext>
            </a:extLst>
          </p:cNvPr>
          <p:cNvSpPr txBox="1"/>
          <p:nvPr/>
        </p:nvSpPr>
        <p:spPr>
          <a:xfrm>
            <a:off x="4780882" y="3969202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chemeClr val="accent1">
                    <a:lumMod val="75000"/>
                  </a:schemeClr>
                </a:solidFill>
              </a:rPr>
              <a:t>EX</a:t>
            </a:r>
          </a:p>
        </p:txBody>
      </p:sp>
      <p:sp>
        <p:nvSpPr>
          <p:cNvPr id="32" name="183 CuadroTexto">
            <a:extLst>
              <a:ext uri="{FF2B5EF4-FFF2-40B4-BE49-F238E27FC236}">
                <a16:creationId xmlns:a16="http://schemas.microsoft.com/office/drawing/2014/main" id="{97053BB9-29FC-9479-8797-EA96170319A0}"/>
              </a:ext>
            </a:extLst>
          </p:cNvPr>
          <p:cNvSpPr txBox="1"/>
          <p:nvPr/>
        </p:nvSpPr>
        <p:spPr>
          <a:xfrm>
            <a:off x="4780882" y="3568123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chemeClr val="accent1">
                    <a:lumMod val="75000"/>
                  </a:schemeClr>
                </a:solidFill>
              </a:rPr>
              <a:t>M</a:t>
            </a:r>
          </a:p>
        </p:txBody>
      </p:sp>
      <p:sp>
        <p:nvSpPr>
          <p:cNvPr id="33" name="184 CuadroTexto">
            <a:extLst>
              <a:ext uri="{FF2B5EF4-FFF2-40B4-BE49-F238E27FC236}">
                <a16:creationId xmlns:a16="http://schemas.microsoft.com/office/drawing/2014/main" id="{23171F39-AB57-5E65-A0CC-7AC427AA7173}"/>
              </a:ext>
            </a:extLst>
          </p:cNvPr>
          <p:cNvSpPr txBox="1"/>
          <p:nvPr/>
        </p:nvSpPr>
        <p:spPr>
          <a:xfrm>
            <a:off x="4780882" y="3130494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chemeClr val="accent1">
                    <a:lumMod val="75000"/>
                  </a:schemeClr>
                </a:solidFill>
              </a:rPr>
              <a:t>ER</a:t>
            </a:r>
          </a:p>
        </p:txBody>
      </p:sp>
      <p:sp>
        <p:nvSpPr>
          <p:cNvPr id="34" name="185 Forma libre">
            <a:extLst>
              <a:ext uri="{FF2B5EF4-FFF2-40B4-BE49-F238E27FC236}">
                <a16:creationId xmlns:a16="http://schemas.microsoft.com/office/drawing/2014/main" id="{F4DDC659-8CEC-5828-F865-4B88ED94EC1B}"/>
              </a:ext>
            </a:extLst>
          </p:cNvPr>
          <p:cNvSpPr/>
          <p:nvPr/>
        </p:nvSpPr>
        <p:spPr bwMode="auto">
          <a:xfrm>
            <a:off x="4513090" y="2602149"/>
            <a:ext cx="609997" cy="1455614"/>
          </a:xfrm>
          <a:custGeom>
            <a:avLst/>
            <a:gdLst>
              <a:gd name="connsiteX0" fmla="*/ 0 w 952500"/>
              <a:gd name="connsiteY0" fmla="*/ 433387 h 590550"/>
              <a:gd name="connsiteX1" fmla="*/ 9525 w 952500"/>
              <a:gd name="connsiteY1" fmla="*/ 0 h 590550"/>
              <a:gd name="connsiteX2" fmla="*/ 952500 w 952500"/>
              <a:gd name="connsiteY2" fmla="*/ 14287 h 590550"/>
              <a:gd name="connsiteX3" fmla="*/ 947738 w 952500"/>
              <a:gd name="connsiteY3" fmla="*/ 590550 h 590550"/>
              <a:gd name="connsiteX0" fmla="*/ 0 w 957263"/>
              <a:gd name="connsiteY0" fmla="*/ 438150 h 595313"/>
              <a:gd name="connsiteX1" fmla="*/ 9525 w 957263"/>
              <a:gd name="connsiteY1" fmla="*/ 4763 h 595313"/>
              <a:gd name="connsiteX2" fmla="*/ 957263 w 957263"/>
              <a:gd name="connsiteY2" fmla="*/ 0 h 595313"/>
              <a:gd name="connsiteX3" fmla="*/ 947738 w 957263"/>
              <a:gd name="connsiteY3" fmla="*/ 595313 h 595313"/>
              <a:gd name="connsiteX0" fmla="*/ 0 w 957263"/>
              <a:gd name="connsiteY0" fmla="*/ 438150 h 1392764"/>
              <a:gd name="connsiteX1" fmla="*/ 9525 w 957263"/>
              <a:gd name="connsiteY1" fmla="*/ 4763 h 1392764"/>
              <a:gd name="connsiteX2" fmla="*/ 957263 w 957263"/>
              <a:gd name="connsiteY2" fmla="*/ 0 h 1392764"/>
              <a:gd name="connsiteX3" fmla="*/ 947737 w 957263"/>
              <a:gd name="connsiteY3" fmla="*/ 1392764 h 1392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7263" h="1392764">
                <a:moveTo>
                  <a:pt x="0" y="438150"/>
                </a:moveTo>
                <a:lnTo>
                  <a:pt x="9525" y="4763"/>
                </a:lnTo>
                <a:lnTo>
                  <a:pt x="957263" y="0"/>
                </a:lnTo>
                <a:cubicBezTo>
                  <a:pt x="955676" y="192088"/>
                  <a:pt x="949324" y="1200676"/>
                  <a:pt x="947737" y="1392764"/>
                </a:cubicBezTo>
              </a:path>
            </a:pathLst>
          </a:custGeom>
          <a:ln w="28575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35" name="186 Grupo">
            <a:extLst>
              <a:ext uri="{FF2B5EF4-FFF2-40B4-BE49-F238E27FC236}">
                <a16:creationId xmlns:a16="http://schemas.microsoft.com/office/drawing/2014/main" id="{09AAC31F-8F4C-6899-EC09-E35FE34272C2}"/>
              </a:ext>
            </a:extLst>
          </p:cNvPr>
          <p:cNvGrpSpPr/>
          <p:nvPr/>
        </p:nvGrpSpPr>
        <p:grpSpPr>
          <a:xfrm>
            <a:off x="4835055" y="3142174"/>
            <a:ext cx="918937" cy="274637"/>
            <a:chOff x="3131840" y="3130825"/>
            <a:chExt cx="918937" cy="274637"/>
          </a:xfrm>
        </p:grpSpPr>
        <p:sp>
          <p:nvSpPr>
            <p:cNvPr id="36" name="Line 112">
              <a:extLst>
                <a:ext uri="{FF2B5EF4-FFF2-40B4-BE49-F238E27FC236}">
                  <a16:creationId xmlns:a16="http://schemas.microsoft.com/office/drawing/2014/main" id="{D562AD38-B383-4F5D-5572-5B6584A58B84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3131840" y="3356992"/>
              <a:ext cx="41855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none" w="med" len="med"/>
              <a:tailEnd type="none" w="med" len="med"/>
            </a:ln>
          </p:spPr>
          <p:txBody>
            <a:bodyPr wrap="squar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37" name="Line 112">
              <a:extLst>
                <a:ext uri="{FF2B5EF4-FFF2-40B4-BE49-F238E27FC236}">
                  <a16:creationId xmlns:a16="http://schemas.microsoft.com/office/drawing/2014/main" id="{BA459F38-F040-6592-EDD8-EFAC78C1F9F8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3864583" y="3268143"/>
              <a:ext cx="18619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none" w="med" len="med"/>
              <a:tailEnd type="none" w="med" len="med"/>
            </a:ln>
          </p:spPr>
          <p:txBody>
            <a:bodyPr wrap="squar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38" name="Line 112">
              <a:extLst>
                <a:ext uri="{FF2B5EF4-FFF2-40B4-BE49-F238E27FC236}">
                  <a16:creationId xmlns:a16="http://schemas.microsoft.com/office/drawing/2014/main" id="{4FA5645D-DAB0-F999-6679-DE02FAA8BFAB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3419873" y="3216275"/>
              <a:ext cx="13051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none" w="med" len="med"/>
              <a:tailEnd type="none" w="med" len="med"/>
            </a:ln>
          </p:spPr>
          <p:txBody>
            <a:bodyPr wrap="squar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39" name="AutoShape 173">
              <a:extLst>
                <a:ext uri="{FF2B5EF4-FFF2-40B4-BE49-F238E27FC236}">
                  <a16:creationId xmlns:a16="http://schemas.microsoft.com/office/drawing/2014/main" id="{8CBC7D60-170D-3716-7AF4-59E9F0DDD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0390" y="3130825"/>
              <a:ext cx="314193" cy="274637"/>
            </a:xfrm>
            <a:prstGeom prst="flowChartDelay">
              <a:avLst/>
            </a:prstGeom>
            <a:solidFill>
              <a:schemeClr val="accent2"/>
            </a:solidFill>
            <a:ln w="28575">
              <a:solidFill>
                <a:schemeClr val="accent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0" name="207 Elipse">
              <a:extLst>
                <a:ext uri="{FF2B5EF4-FFF2-40B4-BE49-F238E27FC236}">
                  <a16:creationId xmlns:a16="http://schemas.microsoft.com/office/drawing/2014/main" id="{519B65BC-CE8D-EE78-FC09-3E25410D79A1}"/>
                </a:ext>
              </a:extLst>
            </p:cNvPr>
            <p:cNvSpPr/>
            <p:nvPr/>
          </p:nvSpPr>
          <p:spPr bwMode="auto">
            <a:xfrm>
              <a:off x="3393073" y="3188494"/>
              <a:ext cx="49659" cy="50640"/>
            </a:xfrm>
            <a:prstGeom prst="ellipse">
              <a:avLst/>
            </a:prstGeom>
            <a:solidFill>
              <a:srgbClr val="FFC000"/>
            </a:solidFill>
            <a:ln w="19050">
              <a:noFill/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41" name="187 Grupo">
            <a:extLst>
              <a:ext uri="{FF2B5EF4-FFF2-40B4-BE49-F238E27FC236}">
                <a16:creationId xmlns:a16="http://schemas.microsoft.com/office/drawing/2014/main" id="{240A5053-EB4B-0860-DACC-02CEE18D470B}"/>
              </a:ext>
            </a:extLst>
          </p:cNvPr>
          <p:cNvGrpSpPr/>
          <p:nvPr/>
        </p:nvGrpSpPr>
        <p:grpSpPr>
          <a:xfrm>
            <a:off x="4861546" y="3568123"/>
            <a:ext cx="890859" cy="274637"/>
            <a:chOff x="3159918" y="3130825"/>
            <a:chExt cx="890859" cy="274637"/>
          </a:xfrm>
        </p:grpSpPr>
        <p:sp>
          <p:nvSpPr>
            <p:cNvPr id="42" name="Line 112">
              <a:extLst>
                <a:ext uri="{FF2B5EF4-FFF2-40B4-BE49-F238E27FC236}">
                  <a16:creationId xmlns:a16="http://schemas.microsoft.com/office/drawing/2014/main" id="{95DEC69C-1276-0C4F-64C1-FDC8252CD0D4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3159918" y="3356992"/>
              <a:ext cx="39047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none" w="med" len="med"/>
              <a:tailEnd type="none" w="med" len="med"/>
            </a:ln>
          </p:spPr>
          <p:txBody>
            <a:bodyPr wrap="squar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43" name="Line 112">
              <a:extLst>
                <a:ext uri="{FF2B5EF4-FFF2-40B4-BE49-F238E27FC236}">
                  <a16:creationId xmlns:a16="http://schemas.microsoft.com/office/drawing/2014/main" id="{92E012F0-FAD9-5ABD-70E3-CBAC8E820A21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3864583" y="3268143"/>
              <a:ext cx="18619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none" w="med" len="med"/>
              <a:tailEnd type="none" w="med" len="med"/>
            </a:ln>
          </p:spPr>
          <p:txBody>
            <a:bodyPr wrap="squar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44" name="Line 112">
              <a:extLst>
                <a:ext uri="{FF2B5EF4-FFF2-40B4-BE49-F238E27FC236}">
                  <a16:creationId xmlns:a16="http://schemas.microsoft.com/office/drawing/2014/main" id="{5731FDED-C088-11ED-8B17-74FA486BA34C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3419873" y="3216275"/>
              <a:ext cx="13051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none" w="med" len="med"/>
              <a:tailEnd type="none" w="med" len="med"/>
            </a:ln>
          </p:spPr>
          <p:txBody>
            <a:bodyPr wrap="squar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45" name="AutoShape 173">
              <a:extLst>
                <a:ext uri="{FF2B5EF4-FFF2-40B4-BE49-F238E27FC236}">
                  <a16:creationId xmlns:a16="http://schemas.microsoft.com/office/drawing/2014/main" id="{AC34F5FD-8B3B-8F50-B292-F8C288EA3E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0390" y="3130825"/>
              <a:ext cx="314193" cy="274637"/>
            </a:xfrm>
            <a:prstGeom prst="flowChartDelay">
              <a:avLst/>
            </a:prstGeom>
            <a:solidFill>
              <a:schemeClr val="accent2"/>
            </a:solidFill>
            <a:ln w="28575">
              <a:solidFill>
                <a:schemeClr val="accent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6" name="202 Elipse">
              <a:extLst>
                <a:ext uri="{FF2B5EF4-FFF2-40B4-BE49-F238E27FC236}">
                  <a16:creationId xmlns:a16="http://schemas.microsoft.com/office/drawing/2014/main" id="{152CC555-166B-2431-2F8B-3E8D1248F7AE}"/>
                </a:ext>
              </a:extLst>
            </p:cNvPr>
            <p:cNvSpPr/>
            <p:nvPr/>
          </p:nvSpPr>
          <p:spPr bwMode="auto">
            <a:xfrm>
              <a:off x="3393073" y="3188494"/>
              <a:ext cx="49659" cy="50640"/>
            </a:xfrm>
            <a:prstGeom prst="ellipse">
              <a:avLst/>
            </a:prstGeom>
            <a:solidFill>
              <a:srgbClr val="FFC000"/>
            </a:solidFill>
            <a:ln w="19050">
              <a:noFill/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47" name="188 Grupo">
            <a:extLst>
              <a:ext uri="{FF2B5EF4-FFF2-40B4-BE49-F238E27FC236}">
                <a16:creationId xmlns:a16="http://schemas.microsoft.com/office/drawing/2014/main" id="{45ECA81C-FFEE-A0F2-4811-CF3BE9B88531}"/>
              </a:ext>
            </a:extLst>
          </p:cNvPr>
          <p:cNvGrpSpPr/>
          <p:nvPr/>
        </p:nvGrpSpPr>
        <p:grpSpPr>
          <a:xfrm>
            <a:off x="4835055" y="3966881"/>
            <a:ext cx="918937" cy="274637"/>
            <a:chOff x="3131840" y="3130825"/>
            <a:chExt cx="918937" cy="274637"/>
          </a:xfrm>
        </p:grpSpPr>
        <p:sp>
          <p:nvSpPr>
            <p:cNvPr id="48" name="Line 112">
              <a:extLst>
                <a:ext uri="{FF2B5EF4-FFF2-40B4-BE49-F238E27FC236}">
                  <a16:creationId xmlns:a16="http://schemas.microsoft.com/office/drawing/2014/main" id="{EB80DC52-CDB5-8A91-EE23-E16C91BFE1AB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3131840" y="3356992"/>
              <a:ext cx="41855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none" w="med" len="med"/>
              <a:tailEnd type="none" w="med" len="med"/>
            </a:ln>
          </p:spPr>
          <p:txBody>
            <a:bodyPr wrap="squar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49" name="Line 112">
              <a:extLst>
                <a:ext uri="{FF2B5EF4-FFF2-40B4-BE49-F238E27FC236}">
                  <a16:creationId xmlns:a16="http://schemas.microsoft.com/office/drawing/2014/main" id="{8E9E213D-FEF7-0D4C-E45E-E2CA1D66B3CF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3864583" y="3268143"/>
              <a:ext cx="18619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none" w="med" len="med"/>
              <a:tailEnd type="none" w="med" len="med"/>
            </a:ln>
          </p:spPr>
          <p:txBody>
            <a:bodyPr wrap="squar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50" name="Line 112">
              <a:extLst>
                <a:ext uri="{FF2B5EF4-FFF2-40B4-BE49-F238E27FC236}">
                  <a16:creationId xmlns:a16="http://schemas.microsoft.com/office/drawing/2014/main" id="{666321C1-3698-EDF5-3482-492605B3EFF2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3419873" y="3216275"/>
              <a:ext cx="13051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none" w="med" len="med"/>
              <a:tailEnd type="none" w="med" len="med"/>
            </a:ln>
          </p:spPr>
          <p:txBody>
            <a:bodyPr wrap="squar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51" name="AutoShape 173">
              <a:extLst>
                <a:ext uri="{FF2B5EF4-FFF2-40B4-BE49-F238E27FC236}">
                  <a16:creationId xmlns:a16="http://schemas.microsoft.com/office/drawing/2014/main" id="{ADE3C210-2074-826A-D054-EC67F211C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0390" y="3130825"/>
              <a:ext cx="314193" cy="274637"/>
            </a:xfrm>
            <a:prstGeom prst="flowChartDelay">
              <a:avLst/>
            </a:prstGeom>
            <a:solidFill>
              <a:schemeClr val="accent2"/>
            </a:solidFill>
            <a:ln w="28575">
              <a:solidFill>
                <a:schemeClr val="accent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52" name="197 Elipse">
              <a:extLst>
                <a:ext uri="{FF2B5EF4-FFF2-40B4-BE49-F238E27FC236}">
                  <a16:creationId xmlns:a16="http://schemas.microsoft.com/office/drawing/2014/main" id="{F4B7F80F-594A-E431-5B9A-4B936B7C3F19}"/>
                </a:ext>
              </a:extLst>
            </p:cNvPr>
            <p:cNvSpPr/>
            <p:nvPr/>
          </p:nvSpPr>
          <p:spPr bwMode="auto">
            <a:xfrm>
              <a:off x="3393073" y="3188494"/>
              <a:ext cx="49659" cy="50640"/>
            </a:xfrm>
            <a:prstGeom prst="ellipse">
              <a:avLst/>
            </a:prstGeom>
            <a:solidFill>
              <a:srgbClr val="FFC000"/>
            </a:solidFill>
            <a:ln w="19050">
              <a:noFill/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53" name="AutoShape 93">
            <a:extLst>
              <a:ext uri="{FF2B5EF4-FFF2-40B4-BE49-F238E27FC236}">
                <a16:creationId xmlns:a16="http://schemas.microsoft.com/office/drawing/2014/main" id="{EA27DCC7-9A6C-57BB-E6B7-2EBD1D5FB5F2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455816" y="3029186"/>
            <a:ext cx="1379239" cy="1208266"/>
          </a:xfrm>
          <a:prstGeom prst="roundRect">
            <a:avLst>
              <a:gd name="adj" fmla="val 3721"/>
            </a:avLst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600" dirty="0">
                <a:solidFill>
                  <a:srgbClr val="000000"/>
                </a:solidFill>
                <a:latin typeface="+mn-lt"/>
                <a:ea typeface="+mn-ea"/>
              </a:rPr>
              <a:t>Control d</a:t>
            </a:r>
            <a:r>
              <a:rPr lang="es-ES_tradnl" sz="1600" dirty="0">
                <a:solidFill>
                  <a:srgbClr val="000000"/>
                </a:solidFill>
                <a:latin typeface="+mn-lt"/>
                <a:ea typeface="+mn-ea"/>
              </a:rPr>
              <a:t>e</a:t>
            </a:r>
          </a:p>
          <a:p>
            <a:r>
              <a:rPr lang="es-ES_tradnl" sz="1600" dirty="0">
                <a:solidFill>
                  <a:srgbClr val="000000"/>
                </a:solidFill>
                <a:latin typeface="+mn-lt"/>
                <a:ea typeface="+mn-ea"/>
              </a:rPr>
              <a:t>parada</a:t>
            </a:r>
            <a:endParaRPr lang="ca-ES" sz="16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55" name="Rectangle 41">
            <a:extLst>
              <a:ext uri="{FF2B5EF4-FFF2-40B4-BE49-F238E27FC236}">
                <a16:creationId xmlns:a16="http://schemas.microsoft.com/office/drawing/2014/main" id="{B275810E-9D29-C784-FD55-17BB49920687}"/>
              </a:ext>
            </a:extLst>
          </p:cNvPr>
          <p:cNvSpPr>
            <a:spLocks noChangeArrowheads="1"/>
          </p:cNvSpPr>
          <p:nvPr/>
        </p:nvSpPr>
        <p:spPr bwMode="blackWhite">
          <a:xfrm rot="10800000">
            <a:off x="5815545" y="3578222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200" dirty="0">
                <a:solidFill>
                  <a:srgbClr val="000000"/>
                </a:solidFill>
                <a:latin typeface="+mn-lt"/>
                <a:ea typeface="+mn-ea"/>
              </a:rPr>
              <a:t>M</a:t>
            </a:r>
            <a:endParaRPr lang="ca-ES" sz="12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56" name="Rectangle 41">
            <a:extLst>
              <a:ext uri="{FF2B5EF4-FFF2-40B4-BE49-F238E27FC236}">
                <a16:creationId xmlns:a16="http://schemas.microsoft.com/office/drawing/2014/main" id="{C9F2E77A-F667-2ABC-19E9-FABB3A93A274}"/>
              </a:ext>
            </a:extLst>
          </p:cNvPr>
          <p:cNvSpPr>
            <a:spLocks noChangeArrowheads="1"/>
          </p:cNvSpPr>
          <p:nvPr/>
        </p:nvSpPr>
        <p:spPr bwMode="blackWhite">
          <a:xfrm rot="10800000">
            <a:off x="5821764" y="3117911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200">
                <a:solidFill>
                  <a:srgbClr val="000000"/>
                </a:solidFill>
                <a:latin typeface="+mn-lt"/>
                <a:ea typeface="+mn-ea"/>
              </a:rPr>
              <a:t>ER</a:t>
            </a:r>
            <a:endParaRPr lang="ca-ES" sz="12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59" name="Text Box 52">
            <a:extLst>
              <a:ext uri="{FF2B5EF4-FFF2-40B4-BE49-F238E27FC236}">
                <a16:creationId xmlns:a16="http://schemas.microsoft.com/office/drawing/2014/main" id="{AA56BF95-1748-D94D-85D3-EAB19B8BE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7058" y="4394108"/>
            <a:ext cx="765156" cy="338554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sz="1600" dirty="0">
                <a:solidFill>
                  <a:srgbClr val="26697A"/>
                </a:solidFill>
                <a:latin typeface="Arial Narrow" pitchFamily="-84" charset="0"/>
              </a:rPr>
              <a:t>LI/DI</a:t>
            </a:r>
            <a:endParaRPr lang="ca-ES" sz="1600" dirty="0">
              <a:solidFill>
                <a:srgbClr val="26697A"/>
              </a:solidFill>
              <a:latin typeface="Arial Narrow" pitchFamily="-84" charset="0"/>
            </a:endParaRPr>
          </a:p>
        </p:txBody>
      </p:sp>
      <p:sp>
        <p:nvSpPr>
          <p:cNvPr id="61" name="Freeform 40">
            <a:extLst>
              <a:ext uri="{FF2B5EF4-FFF2-40B4-BE49-F238E27FC236}">
                <a16:creationId xmlns:a16="http://schemas.microsoft.com/office/drawing/2014/main" id="{A618BC11-F76D-1BF0-8705-157D06C1794E}"/>
              </a:ext>
            </a:extLst>
          </p:cNvPr>
          <p:cNvSpPr>
            <a:spLocks/>
          </p:cNvSpPr>
          <p:nvPr/>
        </p:nvSpPr>
        <p:spPr bwMode="auto">
          <a:xfrm>
            <a:off x="4090127" y="6044658"/>
            <a:ext cx="1669431" cy="456305"/>
          </a:xfrm>
          <a:custGeom>
            <a:avLst/>
            <a:gdLst>
              <a:gd name="T0" fmla="*/ 0 w 1152"/>
              <a:gd name="T1" fmla="*/ 0 h 336"/>
              <a:gd name="T2" fmla="*/ 0 w 1152"/>
              <a:gd name="T3" fmla="*/ 2147483647 h 336"/>
              <a:gd name="T4" fmla="*/ 2147483647 w 1152"/>
              <a:gd name="T5" fmla="*/ 2147483647 h 336"/>
              <a:gd name="T6" fmla="*/ 0 60000 65536"/>
              <a:gd name="T7" fmla="*/ 0 60000 65536"/>
              <a:gd name="T8" fmla="*/ 0 60000 65536"/>
              <a:gd name="T9" fmla="*/ 0 w 1152"/>
              <a:gd name="T10" fmla="*/ 0 h 336"/>
              <a:gd name="T11" fmla="*/ 1152 w 1152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52" h="336">
                <a:moveTo>
                  <a:pt x="0" y="0"/>
                </a:moveTo>
                <a:lnTo>
                  <a:pt x="0" y="336"/>
                </a:lnTo>
                <a:lnTo>
                  <a:pt x="1152" y="336"/>
                </a:lnTo>
              </a:path>
            </a:pathLst>
          </a:custGeom>
          <a:noFill/>
          <a:ln w="28575">
            <a:solidFill>
              <a:srgbClr val="26697A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6338005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Los Conflictos de Datos</a:t>
            </a:r>
          </a:p>
        </p:txBody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686799" cy="5256212"/>
          </a:xfrm>
        </p:spPr>
        <p:txBody>
          <a:bodyPr/>
          <a:lstStyle/>
          <a:p>
            <a:r>
              <a:rPr lang="es-ES" dirty="0"/>
              <a:t>Valoración de las dos soluciones vistas</a:t>
            </a:r>
          </a:p>
          <a:p>
            <a:pPr lvl="1"/>
            <a:r>
              <a:rPr lang="es-ES" dirty="0"/>
              <a:t>Semejanzas</a:t>
            </a:r>
          </a:p>
          <a:p>
            <a:pPr lvl="2"/>
            <a:r>
              <a:rPr lang="es-ES" dirty="0"/>
              <a:t>El número de ciclos en tiempo de ejecución es el mismo</a:t>
            </a:r>
          </a:p>
          <a:p>
            <a:pPr lvl="3"/>
            <a:r>
              <a:rPr lang="es-ES" dirty="0"/>
              <a:t>En el ejemplo: 12 ciclos</a:t>
            </a:r>
          </a:p>
          <a:p>
            <a:pPr lvl="2"/>
            <a:r>
              <a:rPr lang="es-ES" dirty="0"/>
              <a:t>El compilador puede ayudar a bajar el tiempo de ejecución mediante reordenación de código</a:t>
            </a:r>
          </a:p>
          <a:p>
            <a:pPr lvl="1"/>
            <a:r>
              <a:rPr lang="es-ES" dirty="0"/>
              <a:t>Difer</a:t>
            </a:r>
            <a:r>
              <a:rPr lang="es-ES_tradnl" dirty="0"/>
              <a:t>e</a:t>
            </a:r>
            <a:r>
              <a:rPr lang="es-ES" dirty="0"/>
              <a:t>ncias</a:t>
            </a:r>
          </a:p>
          <a:p>
            <a:pPr lvl="2"/>
            <a:r>
              <a:rPr lang="es-ES" dirty="0"/>
              <a:t>La inserción de instrucciones inútiles incrementa el factor I</a:t>
            </a:r>
          </a:p>
          <a:p>
            <a:pPr lvl="2"/>
            <a:r>
              <a:rPr lang="es-ES" dirty="0"/>
              <a:t>Los ciclos de parada incrementan el factor CPI</a:t>
            </a:r>
          </a:p>
          <a:p>
            <a:pPr lvl="3"/>
            <a:r>
              <a:rPr lang="es-ES" dirty="0"/>
              <a:t>La ruta de datos segmentada es </a:t>
            </a:r>
            <a:r>
              <a:rPr lang="es-ES" b="1" dirty="0">
                <a:solidFill>
                  <a:srgbClr val="FF0000"/>
                </a:solidFill>
              </a:rPr>
              <a:t>compatible binaria </a:t>
            </a:r>
            <a:r>
              <a:rPr lang="es-ES" dirty="0"/>
              <a:t>con la no segmentada (es decir, la ejecución del mismo programa en ambos procesadores produciría los </a:t>
            </a:r>
            <a:r>
              <a:rPr lang="es-ES" b="1" dirty="0">
                <a:solidFill>
                  <a:srgbClr val="FF0000"/>
                </a:solidFill>
              </a:rPr>
              <a:t>mismos resultados</a:t>
            </a:r>
            <a:r>
              <a:rPr lang="es-ES" dirty="0"/>
              <a:t>)</a:t>
            </a:r>
          </a:p>
          <a:p>
            <a:pPr lvl="3"/>
            <a:r>
              <a:rPr lang="es-ES" dirty="0"/>
              <a:t>La complejidad de la lógica de detección de riesgos + inserción de ciclos de parada podría alargar el retardo de las etapas y </a:t>
            </a:r>
            <a:r>
              <a:rPr lang="es-ES_tradnl" dirty="0"/>
              <a:t>habría </a:t>
            </a:r>
            <a:r>
              <a:rPr lang="es-ES" dirty="0"/>
              <a:t>que bajar la frecuencia del reloj</a:t>
            </a:r>
          </a:p>
        </p:txBody>
      </p:sp>
      <p:sp>
        <p:nvSpPr>
          <p:cNvPr id="66562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74BF7-0A2B-0441-A860-3CB0CAC3225A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Conflictos de Control</a:t>
            </a:r>
            <a:endParaRPr lang="ca-ES" dirty="0"/>
          </a:p>
        </p:txBody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838200"/>
            <a:ext cx="8610599" cy="5256212"/>
          </a:xfrm>
        </p:spPr>
        <p:txBody>
          <a:bodyPr/>
          <a:lstStyle/>
          <a:p>
            <a:r>
              <a:rPr lang="es-ES" dirty="0"/>
              <a:t>Las instrucciones de salto</a:t>
            </a:r>
          </a:p>
          <a:p>
            <a:pPr lvl="1"/>
            <a:r>
              <a:rPr lang="es-ES" sz="1600" dirty="0"/>
              <a:t>Son instrucciones que rompen la secuencia lineal de ejecución de los programas</a:t>
            </a:r>
          </a:p>
          <a:p>
            <a:pPr lvl="1"/>
            <a:r>
              <a:rPr lang="es-ES" sz="1600" dirty="0"/>
              <a:t>Tipos</a:t>
            </a:r>
          </a:p>
          <a:p>
            <a:pPr lvl="2"/>
            <a:r>
              <a:rPr lang="es-ES" sz="1400" dirty="0"/>
              <a:t>Salto incondicional (jump)</a:t>
            </a:r>
          </a:p>
          <a:p>
            <a:pPr lvl="2"/>
            <a:r>
              <a:rPr lang="es-ES" sz="1400" dirty="0"/>
              <a:t>Salto condicional o bifurcación (branch)</a:t>
            </a:r>
          </a:p>
          <a:p>
            <a:pPr lvl="2"/>
            <a:r>
              <a:rPr lang="es-ES" sz="1400" dirty="0"/>
              <a:t>Llamada y retorno de subprograma (call/jump&amp;link y retorno)</a:t>
            </a:r>
          </a:p>
          <a:p>
            <a:pPr lvl="1"/>
            <a:r>
              <a:rPr lang="es-ES" sz="1600" dirty="0"/>
              <a:t>Modos de direccionamiento</a:t>
            </a:r>
          </a:p>
          <a:p>
            <a:pPr lvl="2"/>
            <a:r>
              <a:rPr lang="es-ES" sz="1400" dirty="0"/>
              <a:t>Absoluto</a:t>
            </a:r>
          </a:p>
          <a:p>
            <a:pPr lvl="2"/>
            <a:r>
              <a:rPr lang="es-ES" sz="1400" dirty="0"/>
              <a:t>Relativo a PC</a:t>
            </a:r>
          </a:p>
          <a:p>
            <a:pPr lvl="2"/>
            <a:r>
              <a:rPr lang="es-ES" sz="1400" dirty="0"/>
              <a:t>Indirecto</a:t>
            </a:r>
          </a:p>
          <a:p>
            <a:pPr lvl="1"/>
            <a:r>
              <a:rPr lang="es-ES" sz="1600" dirty="0"/>
              <a:t>Frecuencia de aparición de las instrucciones de salto: 10 al 20% del código</a:t>
            </a:r>
          </a:p>
          <a:p>
            <a:pPr lvl="2"/>
            <a:r>
              <a:rPr lang="es-ES" sz="1400" dirty="0"/>
              <a:t>depende del tipo de procesador, de las técnicas de compilación y del programa en concreto</a:t>
            </a:r>
            <a:endParaRPr lang="ca-ES" sz="1400" dirty="0"/>
          </a:p>
        </p:txBody>
      </p:sp>
      <p:sp>
        <p:nvSpPr>
          <p:cNvPr id="99330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3F145-41D4-9240-ABEC-00B8E33FE8E4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8702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Conflictos de Control</a:t>
            </a:r>
            <a:endParaRPr lang="ca-ES" dirty="0"/>
          </a:p>
        </p:txBody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914400"/>
            <a:ext cx="8250237" cy="990600"/>
          </a:xfrm>
        </p:spPr>
        <p:txBody>
          <a:bodyPr/>
          <a:lstStyle/>
          <a:p>
            <a:r>
              <a:rPr lang="es-ES" dirty="0"/>
              <a:t>Instrucciones de salto condicional en el RISC-V</a:t>
            </a:r>
            <a:r>
              <a:rPr lang="es-ES_tradnl" dirty="0"/>
              <a:t> </a:t>
            </a:r>
          </a:p>
          <a:p>
            <a:pPr marL="82550" indent="0">
              <a:buNone/>
            </a:pPr>
            <a:r>
              <a:rPr lang="es-ES_tradnl" dirty="0"/>
              <a:t>               </a:t>
            </a:r>
            <a:r>
              <a:rPr lang="es-ES" dirty="0"/>
              <a:t>Ejemplos</a:t>
            </a:r>
          </a:p>
        </p:txBody>
      </p:sp>
      <p:sp>
        <p:nvSpPr>
          <p:cNvPr id="102402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6E54E-1DEA-5247-8864-12AC96AA2DCC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102405" name="Text Box 4"/>
          <p:cNvSpPr txBox="1">
            <a:spLocks noChangeArrowheads="1"/>
          </p:cNvSpPr>
          <p:nvPr/>
        </p:nvSpPr>
        <p:spPr bwMode="blackWhite">
          <a:xfrm>
            <a:off x="990600" y="2112764"/>
            <a:ext cx="2133600" cy="914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180000" tIns="0" rIns="0" bIns="0" anchor="ctr">
            <a:prstTxWarp prst="textNoShape">
              <a:avLst/>
            </a:prstTxWarp>
            <a:flatTx/>
          </a:bodyPr>
          <a:lstStyle/>
          <a:p>
            <a:pPr algn="l" eaLnBrk="0" hangingPunct="0">
              <a:tabLst>
                <a:tab pos="765175" algn="l"/>
              </a:tabLst>
            </a:pPr>
            <a:r>
              <a:rPr lang="es-ES" b="0" dirty="0" err="1">
                <a:solidFill>
                  <a:schemeClr val="tx1"/>
                </a:solidFill>
              </a:rPr>
              <a:t>if</a:t>
            </a:r>
            <a:r>
              <a:rPr lang="es-ES" b="0" dirty="0">
                <a:solidFill>
                  <a:schemeClr val="tx1"/>
                </a:solidFill>
              </a:rPr>
              <a:t> (x&gt;y) </a:t>
            </a:r>
            <a:br>
              <a:rPr lang="es-ES" b="0" dirty="0">
                <a:solidFill>
                  <a:schemeClr val="tx1"/>
                </a:solidFill>
              </a:rPr>
            </a:br>
            <a:r>
              <a:rPr lang="es-ES" b="0" dirty="0">
                <a:solidFill>
                  <a:schemeClr val="tx1"/>
                </a:solidFill>
              </a:rPr>
              <a:t>/*</a:t>
            </a:r>
            <a:r>
              <a:rPr lang="es-ES" b="0" dirty="0" err="1">
                <a:solidFill>
                  <a:schemeClr val="tx1"/>
                </a:solidFill>
              </a:rPr>
              <a:t>then</a:t>
            </a:r>
            <a:r>
              <a:rPr lang="es-ES" b="0" dirty="0">
                <a:solidFill>
                  <a:schemeClr val="tx1"/>
                </a:solidFill>
              </a:rPr>
              <a:t>*/ z=x</a:t>
            </a:r>
            <a:br>
              <a:rPr lang="es-ES" b="0" dirty="0">
                <a:solidFill>
                  <a:schemeClr val="tx1"/>
                </a:solidFill>
              </a:rPr>
            </a:br>
            <a:r>
              <a:rPr lang="es-ES" b="0" dirty="0" err="1">
                <a:solidFill>
                  <a:schemeClr val="tx1"/>
                </a:solidFill>
              </a:rPr>
              <a:t>else</a:t>
            </a:r>
            <a:r>
              <a:rPr lang="es-ES" b="0" dirty="0">
                <a:solidFill>
                  <a:schemeClr val="tx1"/>
                </a:solidFill>
              </a:rPr>
              <a:t> z=y;</a:t>
            </a:r>
            <a:endParaRPr lang="ca-ES" b="0" dirty="0">
              <a:solidFill>
                <a:schemeClr val="tx1"/>
              </a:solidFill>
            </a:endParaRPr>
          </a:p>
        </p:txBody>
      </p:sp>
      <p:sp>
        <p:nvSpPr>
          <p:cNvPr id="102406" name="Text Box 6"/>
          <p:cNvSpPr txBox="1">
            <a:spLocks noChangeArrowheads="1"/>
          </p:cNvSpPr>
          <p:nvPr/>
        </p:nvSpPr>
        <p:spPr bwMode="blackWhite">
          <a:xfrm>
            <a:off x="4953000" y="2112764"/>
            <a:ext cx="1828800" cy="1219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180000" tIns="0" rIns="0" bIns="0" anchor="ctr">
            <a:prstTxWarp prst="textNoShape">
              <a:avLst/>
            </a:prstTxWarp>
            <a:flatTx/>
          </a:bodyPr>
          <a:lstStyle/>
          <a:p>
            <a:pPr algn="l" eaLnBrk="0" hangingPunct="0">
              <a:tabLst>
                <a:tab pos="765175" algn="l"/>
              </a:tabLst>
            </a:pPr>
            <a:r>
              <a:rPr lang="es-ES" b="0">
                <a:solidFill>
                  <a:schemeClr val="tx1"/>
                </a:solidFill>
              </a:rPr>
              <a:t>z=0;</a:t>
            </a:r>
            <a:br>
              <a:rPr lang="es-ES" b="0">
                <a:solidFill>
                  <a:schemeClr val="tx1"/>
                </a:solidFill>
              </a:rPr>
            </a:br>
            <a:r>
              <a:rPr lang="es-ES" b="0">
                <a:solidFill>
                  <a:schemeClr val="tx1"/>
                </a:solidFill>
              </a:rPr>
              <a:t>do 	z=z+y;</a:t>
            </a:r>
            <a:br>
              <a:rPr lang="es-ES" b="0">
                <a:solidFill>
                  <a:schemeClr val="tx1"/>
                </a:solidFill>
              </a:rPr>
            </a:br>
            <a:r>
              <a:rPr lang="es-ES" b="0">
                <a:solidFill>
                  <a:schemeClr val="tx1"/>
                </a:solidFill>
              </a:rPr>
              <a:t>	x=x–1;</a:t>
            </a:r>
            <a:br>
              <a:rPr lang="es-ES" b="0">
                <a:solidFill>
                  <a:schemeClr val="tx1"/>
                </a:solidFill>
              </a:rPr>
            </a:br>
            <a:r>
              <a:rPr lang="es-ES" b="0">
                <a:solidFill>
                  <a:schemeClr val="tx1"/>
                </a:solidFill>
              </a:rPr>
              <a:t>while	(x!=0)</a:t>
            </a:r>
            <a:endParaRPr lang="ca-ES" b="0">
              <a:solidFill>
                <a:schemeClr val="tx1"/>
              </a:solidFill>
            </a:endParaRPr>
          </a:p>
        </p:txBody>
      </p:sp>
      <p:sp>
        <p:nvSpPr>
          <p:cNvPr id="102407" name="AutoShape 8"/>
          <p:cNvSpPr>
            <a:spLocks noChangeArrowheads="1"/>
          </p:cNvSpPr>
          <p:nvPr/>
        </p:nvSpPr>
        <p:spPr bwMode="blackWhite">
          <a:xfrm>
            <a:off x="1828800" y="3179564"/>
            <a:ext cx="381000" cy="304800"/>
          </a:xfrm>
          <a:prstGeom prst="downArrow">
            <a:avLst>
              <a:gd name="adj1" fmla="val 59167"/>
              <a:gd name="adj2" fmla="val 47083"/>
            </a:avLst>
          </a:prstGeom>
          <a:noFill/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102408" name="AutoShape 9"/>
          <p:cNvSpPr>
            <a:spLocks noChangeArrowheads="1"/>
          </p:cNvSpPr>
          <p:nvPr/>
        </p:nvSpPr>
        <p:spPr bwMode="blackWhite">
          <a:xfrm>
            <a:off x="5722938" y="3484364"/>
            <a:ext cx="381000" cy="304800"/>
          </a:xfrm>
          <a:prstGeom prst="downArrow">
            <a:avLst>
              <a:gd name="adj1" fmla="val 59167"/>
              <a:gd name="adj2" fmla="val 47083"/>
            </a:avLst>
          </a:prstGeom>
          <a:noFill/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102409" name="Text Box 12"/>
          <p:cNvSpPr txBox="1">
            <a:spLocks noChangeArrowheads="1"/>
          </p:cNvSpPr>
          <p:nvPr/>
        </p:nvSpPr>
        <p:spPr bwMode="blackWhite">
          <a:xfrm>
            <a:off x="990600" y="3636764"/>
            <a:ext cx="2936701" cy="196977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l" eaLnBrk="0" hangingPunct="0">
              <a:tabLst>
                <a:tab pos="952500" algn="l"/>
              </a:tabLst>
            </a:pPr>
            <a:r>
              <a:rPr lang="es-ES" sz="1600" dirty="0">
                <a:latin typeface="Courier New" pitchFamily="-84" charset="0"/>
              </a:rPr>
              <a:t>if:	</a:t>
            </a:r>
            <a:r>
              <a:rPr lang="es-ES" sz="1600" dirty="0" err="1">
                <a:latin typeface="Courier New" pitchFamily="-84" charset="0"/>
              </a:rPr>
              <a:t>lw</a:t>
            </a:r>
            <a:r>
              <a:rPr lang="es-ES" sz="1600" dirty="0">
                <a:latin typeface="Courier New" pitchFamily="-84" charset="0"/>
              </a:rPr>
              <a:t> t0,x(0)</a:t>
            </a:r>
            <a:br>
              <a:rPr lang="es-ES" sz="1600" dirty="0">
                <a:latin typeface="Courier New" pitchFamily="-84" charset="0"/>
              </a:rPr>
            </a:br>
            <a:r>
              <a:rPr lang="es-ES" sz="1600" dirty="0">
                <a:latin typeface="Courier New" pitchFamily="-84" charset="0"/>
              </a:rPr>
              <a:t>	</a:t>
            </a:r>
            <a:r>
              <a:rPr lang="es-ES" sz="1600" dirty="0" err="1">
                <a:latin typeface="Courier New" pitchFamily="-84" charset="0"/>
              </a:rPr>
              <a:t>lw</a:t>
            </a:r>
            <a:r>
              <a:rPr lang="es-ES" sz="1600" dirty="0">
                <a:latin typeface="Courier New" pitchFamily="-84" charset="0"/>
              </a:rPr>
              <a:t> t1,y(0)</a:t>
            </a:r>
            <a:br>
              <a:rPr lang="es-ES" sz="1600" dirty="0">
                <a:latin typeface="Courier New" pitchFamily="-84" charset="0"/>
              </a:rPr>
            </a:br>
            <a:r>
              <a:rPr lang="es-ES" sz="1600" dirty="0">
                <a:latin typeface="Courier New" pitchFamily="-84" charset="0"/>
              </a:rPr>
              <a:t>	sub t2,t1,t0</a:t>
            </a:r>
            <a:br>
              <a:rPr lang="es-ES" sz="1600" dirty="0">
                <a:latin typeface="Courier New" pitchFamily="-84" charset="0"/>
              </a:rPr>
            </a:br>
            <a:r>
              <a:rPr lang="es-ES" sz="1600" dirty="0">
                <a:latin typeface="Courier New" pitchFamily="-84" charset="0"/>
              </a:rPr>
              <a:t>	</a:t>
            </a:r>
            <a:r>
              <a:rPr lang="es-ES" sz="1600" dirty="0" err="1">
                <a:latin typeface="Courier New" pitchFamily="-84" charset="0"/>
              </a:rPr>
              <a:t>bge</a:t>
            </a:r>
            <a:r>
              <a:rPr lang="es-ES" sz="1600" dirty="0">
                <a:latin typeface="Courier New" pitchFamily="-84" charset="0"/>
              </a:rPr>
              <a:t> t2,zero,else</a:t>
            </a:r>
            <a:br>
              <a:rPr lang="es-ES" sz="1600" dirty="0">
                <a:latin typeface="Courier New" pitchFamily="-84" charset="0"/>
              </a:rPr>
            </a:br>
            <a:r>
              <a:rPr lang="es-ES" sz="1600" dirty="0">
                <a:latin typeface="Courier New" pitchFamily="-84" charset="0"/>
              </a:rPr>
              <a:t>then:	</a:t>
            </a:r>
            <a:r>
              <a:rPr lang="es-ES" sz="1600" dirty="0" err="1">
                <a:latin typeface="Courier New" pitchFamily="-84" charset="0"/>
              </a:rPr>
              <a:t>sw</a:t>
            </a:r>
            <a:r>
              <a:rPr lang="es-ES" sz="1600" dirty="0">
                <a:latin typeface="Courier New" pitchFamily="-84" charset="0"/>
              </a:rPr>
              <a:t> t0,z(</a:t>
            </a:r>
            <a:r>
              <a:rPr lang="es-ES" sz="1600" dirty="0" err="1">
                <a:latin typeface="Courier New" pitchFamily="-84" charset="0"/>
              </a:rPr>
              <a:t>zero</a:t>
            </a:r>
            <a:r>
              <a:rPr lang="es-ES" sz="1600" dirty="0">
                <a:latin typeface="Courier New" pitchFamily="-84" charset="0"/>
              </a:rPr>
              <a:t>)</a:t>
            </a:r>
            <a:br>
              <a:rPr lang="es-ES" sz="1600" dirty="0">
                <a:latin typeface="Courier New" pitchFamily="-84" charset="0"/>
              </a:rPr>
            </a:br>
            <a:r>
              <a:rPr lang="es-ES" sz="1600" dirty="0">
                <a:latin typeface="Courier New" pitchFamily="-84" charset="0"/>
              </a:rPr>
              <a:t>	j</a:t>
            </a:r>
            <a:r>
              <a:rPr lang="es-ES" sz="1600" i="1" dirty="0">
                <a:latin typeface="Courier New" pitchFamily="-84" charset="0"/>
              </a:rPr>
              <a:t> </a:t>
            </a:r>
            <a:r>
              <a:rPr lang="es-ES" sz="1600" dirty="0">
                <a:latin typeface="Courier New" pitchFamily="-84" charset="0"/>
              </a:rPr>
              <a:t>endif</a:t>
            </a:r>
            <a:br>
              <a:rPr lang="es-ES" sz="1600" dirty="0">
                <a:latin typeface="Courier New" pitchFamily="-84" charset="0"/>
              </a:rPr>
            </a:br>
            <a:r>
              <a:rPr lang="es-ES" sz="1600" dirty="0">
                <a:latin typeface="Courier New" pitchFamily="-84" charset="0"/>
              </a:rPr>
              <a:t>else:	</a:t>
            </a:r>
            <a:r>
              <a:rPr lang="es-ES" sz="1600" dirty="0" err="1">
                <a:latin typeface="Courier New" pitchFamily="-84" charset="0"/>
              </a:rPr>
              <a:t>sw</a:t>
            </a:r>
            <a:r>
              <a:rPr lang="es-ES" sz="1600" dirty="0">
                <a:latin typeface="Courier New" pitchFamily="-84" charset="0"/>
              </a:rPr>
              <a:t> t1,z(</a:t>
            </a:r>
            <a:r>
              <a:rPr lang="es-ES" sz="1600" dirty="0" err="1">
                <a:latin typeface="Courier New" pitchFamily="-84" charset="0"/>
              </a:rPr>
              <a:t>zero</a:t>
            </a:r>
            <a:r>
              <a:rPr lang="es-ES" sz="1600" dirty="0">
                <a:latin typeface="Courier New" pitchFamily="-84" charset="0"/>
              </a:rPr>
              <a:t>) </a:t>
            </a:r>
            <a:br>
              <a:rPr lang="es-ES" sz="1600" dirty="0">
                <a:latin typeface="Courier New" pitchFamily="-84" charset="0"/>
              </a:rPr>
            </a:br>
            <a:r>
              <a:rPr lang="es-ES" sz="1600" dirty="0">
                <a:latin typeface="Courier New" pitchFamily="-84" charset="0"/>
              </a:rPr>
              <a:t>endif:</a:t>
            </a:r>
            <a:endParaRPr lang="ca-ES" sz="1600" dirty="0">
              <a:latin typeface="Courier New" pitchFamily="-84" charset="0"/>
            </a:endParaRPr>
          </a:p>
        </p:txBody>
      </p:sp>
      <p:sp>
        <p:nvSpPr>
          <p:cNvPr id="102410" name="Text Box 13"/>
          <p:cNvSpPr txBox="1">
            <a:spLocks noChangeArrowheads="1"/>
          </p:cNvSpPr>
          <p:nvPr/>
        </p:nvSpPr>
        <p:spPr bwMode="blackWhite">
          <a:xfrm>
            <a:off x="4648200" y="4093964"/>
            <a:ext cx="2936701" cy="178510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l" eaLnBrk="0" hangingPunct="0">
              <a:tabLst>
                <a:tab pos="952500" algn="l"/>
              </a:tabLst>
            </a:pPr>
            <a:r>
              <a:rPr lang="es-ES" dirty="0">
                <a:latin typeface="Courier New" pitchFamily="-84" charset="0"/>
              </a:rPr>
              <a:t>	</a:t>
            </a:r>
            <a:r>
              <a:rPr lang="es-ES" sz="1600" dirty="0" err="1">
                <a:latin typeface="Courier New" pitchFamily="-84" charset="0"/>
              </a:rPr>
              <a:t>add</a:t>
            </a:r>
            <a:r>
              <a:rPr lang="es-ES" sz="1600" dirty="0">
                <a:latin typeface="Courier New" pitchFamily="-84" charset="0"/>
              </a:rPr>
              <a:t> t2,zero,zero</a:t>
            </a:r>
            <a:br>
              <a:rPr lang="es-ES" sz="1600" dirty="0">
                <a:latin typeface="Courier New" pitchFamily="-84" charset="0"/>
              </a:rPr>
            </a:br>
            <a:r>
              <a:rPr lang="es-ES" sz="1600" dirty="0">
                <a:latin typeface="Courier New" pitchFamily="-84" charset="0"/>
              </a:rPr>
              <a:t>	</a:t>
            </a:r>
            <a:r>
              <a:rPr lang="es-ES" sz="1600" dirty="0" err="1">
                <a:latin typeface="Courier New" pitchFamily="-84" charset="0"/>
              </a:rPr>
              <a:t>lw</a:t>
            </a:r>
            <a:r>
              <a:rPr lang="es-ES" sz="1600" dirty="0">
                <a:latin typeface="Courier New" pitchFamily="-84" charset="0"/>
              </a:rPr>
              <a:t> t0,x(</a:t>
            </a:r>
            <a:r>
              <a:rPr lang="es-ES" sz="1600" dirty="0" err="1">
                <a:latin typeface="Courier New" pitchFamily="-84" charset="0"/>
              </a:rPr>
              <a:t>zero</a:t>
            </a:r>
            <a:r>
              <a:rPr lang="es-ES" sz="1600" dirty="0">
                <a:latin typeface="Courier New" pitchFamily="-84" charset="0"/>
              </a:rPr>
              <a:t>) </a:t>
            </a:r>
            <a:br>
              <a:rPr lang="es-ES" sz="1600" dirty="0">
                <a:latin typeface="Courier New" pitchFamily="-84" charset="0"/>
              </a:rPr>
            </a:br>
            <a:r>
              <a:rPr lang="es-ES" sz="1600" dirty="0">
                <a:latin typeface="Courier New" pitchFamily="-84" charset="0"/>
              </a:rPr>
              <a:t>	</a:t>
            </a:r>
            <a:r>
              <a:rPr lang="es-ES" sz="1600" dirty="0" err="1">
                <a:latin typeface="Courier New" pitchFamily="-84" charset="0"/>
              </a:rPr>
              <a:t>lw</a:t>
            </a:r>
            <a:r>
              <a:rPr lang="es-ES" sz="1600" dirty="0">
                <a:latin typeface="Courier New" pitchFamily="-84" charset="0"/>
              </a:rPr>
              <a:t> t1,y(</a:t>
            </a:r>
            <a:r>
              <a:rPr lang="es-ES" sz="1600" dirty="0" err="1">
                <a:latin typeface="Courier New" pitchFamily="-84" charset="0"/>
              </a:rPr>
              <a:t>zero</a:t>
            </a:r>
            <a:r>
              <a:rPr lang="es-ES" sz="1600" dirty="0">
                <a:latin typeface="Courier New" pitchFamily="-84" charset="0"/>
              </a:rPr>
              <a:t>) </a:t>
            </a:r>
            <a:br>
              <a:rPr lang="es-ES" sz="1600" dirty="0">
                <a:latin typeface="Courier New" pitchFamily="-84" charset="0"/>
              </a:rPr>
            </a:br>
            <a:r>
              <a:rPr lang="es-ES" sz="1600" dirty="0">
                <a:latin typeface="Courier New" pitchFamily="-84" charset="0"/>
              </a:rPr>
              <a:t>do: 	</a:t>
            </a:r>
            <a:r>
              <a:rPr lang="es-ES" sz="1600" dirty="0" err="1">
                <a:latin typeface="Courier New" pitchFamily="-84" charset="0"/>
              </a:rPr>
              <a:t>add</a:t>
            </a:r>
            <a:r>
              <a:rPr lang="es-ES" sz="1600" dirty="0">
                <a:latin typeface="Courier New" pitchFamily="-84" charset="0"/>
              </a:rPr>
              <a:t> t2,t2,t1</a:t>
            </a:r>
            <a:br>
              <a:rPr lang="es-ES" sz="1600" dirty="0">
                <a:latin typeface="Courier New" pitchFamily="-84" charset="0"/>
              </a:rPr>
            </a:br>
            <a:r>
              <a:rPr lang="es-ES" sz="1600" dirty="0">
                <a:latin typeface="Courier New" pitchFamily="-84" charset="0"/>
              </a:rPr>
              <a:t>	</a:t>
            </a:r>
            <a:r>
              <a:rPr lang="es-ES" sz="1600" dirty="0" err="1">
                <a:latin typeface="Courier New" pitchFamily="-84" charset="0"/>
              </a:rPr>
              <a:t>addi</a:t>
            </a:r>
            <a:r>
              <a:rPr lang="es-ES" sz="1600" dirty="0">
                <a:latin typeface="Courier New" pitchFamily="-84" charset="0"/>
              </a:rPr>
              <a:t> t0,t0,-1</a:t>
            </a:r>
            <a:br>
              <a:rPr lang="es-ES" sz="1600" dirty="0">
                <a:latin typeface="Courier New" pitchFamily="-84" charset="0"/>
              </a:rPr>
            </a:br>
            <a:r>
              <a:rPr lang="es-ES" sz="1600" dirty="0" err="1">
                <a:latin typeface="Courier New" pitchFamily="-84" charset="0"/>
              </a:rPr>
              <a:t>while</a:t>
            </a:r>
            <a:r>
              <a:rPr lang="es-ES" sz="1600" dirty="0">
                <a:latin typeface="Courier New" pitchFamily="-84" charset="0"/>
              </a:rPr>
              <a:t>:	</a:t>
            </a:r>
            <a:r>
              <a:rPr lang="es-ES" sz="1600" dirty="0" err="1">
                <a:latin typeface="Courier New" pitchFamily="-84" charset="0"/>
              </a:rPr>
              <a:t>bne</a:t>
            </a:r>
            <a:r>
              <a:rPr lang="es-ES" sz="1600" dirty="0">
                <a:latin typeface="Courier New" pitchFamily="-84" charset="0"/>
              </a:rPr>
              <a:t> t0,zero,do</a:t>
            </a:r>
            <a:br>
              <a:rPr lang="es-ES" sz="1600" dirty="0">
                <a:latin typeface="Courier New" pitchFamily="-84" charset="0"/>
              </a:rPr>
            </a:br>
            <a:r>
              <a:rPr lang="es-ES" sz="1600" dirty="0" err="1">
                <a:latin typeface="Courier New" pitchFamily="-84" charset="0"/>
              </a:rPr>
              <a:t>enddw</a:t>
            </a:r>
            <a:r>
              <a:rPr lang="es-ES" sz="1600" dirty="0">
                <a:latin typeface="Courier New" pitchFamily="-84" charset="0"/>
              </a:rPr>
              <a:t>:	</a:t>
            </a:r>
            <a:r>
              <a:rPr lang="es-ES" sz="1600" dirty="0" err="1">
                <a:latin typeface="Courier New" pitchFamily="-84" charset="0"/>
              </a:rPr>
              <a:t>sw</a:t>
            </a:r>
            <a:r>
              <a:rPr lang="es-ES" sz="1600" dirty="0">
                <a:latin typeface="Courier New" pitchFamily="-84" charset="0"/>
              </a:rPr>
              <a:t> t2,z(</a:t>
            </a:r>
            <a:r>
              <a:rPr lang="es-ES" sz="1600" dirty="0" err="1">
                <a:latin typeface="Courier New" pitchFamily="-84" charset="0"/>
              </a:rPr>
              <a:t>zero</a:t>
            </a:r>
            <a:r>
              <a:rPr lang="es-ES" sz="1600" dirty="0">
                <a:latin typeface="Courier New" pitchFamily="-84" charset="0"/>
              </a:rPr>
              <a:t>)</a:t>
            </a:r>
            <a:endParaRPr lang="ca-ES" dirty="0">
              <a:latin typeface="Courier New" pitchFamily="-8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Conflictos de Control</a:t>
            </a:r>
            <a:endParaRPr lang="ca-ES" dirty="0"/>
          </a:p>
        </p:txBody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8200"/>
            <a:ext cx="8686800" cy="3200400"/>
          </a:xfrm>
        </p:spPr>
        <p:txBody>
          <a:bodyPr/>
          <a:lstStyle/>
          <a:p>
            <a:r>
              <a:rPr lang="es-ES" dirty="0"/>
              <a:t>Vocabulario</a:t>
            </a:r>
          </a:p>
          <a:p>
            <a:pPr lvl="1"/>
            <a:r>
              <a:rPr lang="es-ES" dirty="0"/>
              <a:t>Instrucción objetivo (</a:t>
            </a:r>
            <a:r>
              <a:rPr lang="es-ES" i="1" dirty="0"/>
              <a:t>target</a:t>
            </a:r>
            <a:r>
              <a:rPr lang="es-ES" dirty="0"/>
              <a:t>): la instrucción destinataria del salto</a:t>
            </a:r>
          </a:p>
          <a:p>
            <a:pPr lvl="1"/>
            <a:r>
              <a:rPr lang="es-ES" dirty="0"/>
              <a:t>Las bifurcaciones saltan si se cumple una condición </a:t>
            </a:r>
          </a:p>
          <a:p>
            <a:pPr lvl="2"/>
            <a:r>
              <a:rPr lang="es-ES" dirty="0"/>
              <a:t>si bifurcan, diremos que el salto es efectivo (</a:t>
            </a:r>
            <a:r>
              <a:rPr lang="es-ES" i="1" dirty="0"/>
              <a:t>taken</a:t>
            </a:r>
            <a:r>
              <a:rPr lang="es-ES" dirty="0"/>
              <a:t>)</a:t>
            </a:r>
          </a:p>
          <a:p>
            <a:pPr lvl="2"/>
            <a:r>
              <a:rPr lang="es-ES" dirty="0"/>
              <a:t>en caso contrario, diremos que el salto es no efectivo (</a:t>
            </a:r>
            <a:r>
              <a:rPr lang="es-ES" i="1" dirty="0"/>
              <a:t>not taken</a:t>
            </a:r>
            <a:r>
              <a:rPr lang="es-ES" dirty="0"/>
              <a:t>) </a:t>
            </a:r>
          </a:p>
          <a:p>
            <a:pPr lvl="1"/>
            <a:r>
              <a:rPr lang="es-ES" dirty="0"/>
              <a:t>Una instrucción de salto condicional relaciona tres grupos de instrucciones:</a:t>
            </a:r>
          </a:p>
        </p:txBody>
      </p:sp>
      <p:sp>
        <p:nvSpPr>
          <p:cNvPr id="101378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4A36B-13EB-A14A-9212-A3A3F32B8AEE}" type="slidenum">
              <a:rPr lang="en-US" smtClean="0"/>
              <a:pPr/>
              <a:t>51</a:t>
            </a:fld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752600" y="3810000"/>
            <a:ext cx="6019800" cy="2133600"/>
            <a:chOff x="1104" y="2544"/>
            <a:chExt cx="3792" cy="1344"/>
          </a:xfrm>
        </p:grpSpPr>
        <p:sp>
          <p:nvSpPr>
            <p:cNvPr id="101382" name="Rectangle 5"/>
            <p:cNvSpPr>
              <a:spLocks noChangeArrowheads="1"/>
            </p:cNvSpPr>
            <p:nvPr/>
          </p:nvSpPr>
          <p:spPr bwMode="blackWhite">
            <a:xfrm>
              <a:off x="1104" y="2544"/>
              <a:ext cx="1200" cy="52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r>
                <a:rPr lang="es-ES" b="0"/>
                <a:t>instrucciones</a:t>
              </a:r>
              <a:br>
                <a:rPr lang="es-ES" b="0"/>
              </a:br>
              <a:r>
                <a:rPr lang="es-ES" b="0"/>
                <a:t>previas</a:t>
              </a:r>
              <a:endParaRPr lang="ca-ES" b="0"/>
            </a:p>
          </p:txBody>
        </p:sp>
        <p:sp>
          <p:nvSpPr>
            <p:cNvPr id="101383" name="Rectangle 6"/>
            <p:cNvSpPr>
              <a:spLocks noChangeArrowheads="1"/>
            </p:cNvSpPr>
            <p:nvPr/>
          </p:nvSpPr>
          <p:spPr bwMode="blackWhite">
            <a:xfrm>
              <a:off x="1104" y="3360"/>
              <a:ext cx="1200" cy="52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r>
                <a:rPr lang="es-ES" b="0"/>
                <a:t>instrucciones</a:t>
              </a:r>
              <a:br>
                <a:rPr lang="es-ES" b="0"/>
              </a:br>
              <a:r>
                <a:rPr lang="es-ES" b="0"/>
                <a:t>siguientes</a:t>
              </a:r>
              <a:endParaRPr lang="ca-ES" b="0"/>
            </a:p>
          </p:txBody>
        </p:sp>
        <p:sp>
          <p:nvSpPr>
            <p:cNvPr id="101384" name="Rectangle 7"/>
            <p:cNvSpPr>
              <a:spLocks noChangeArrowheads="1"/>
            </p:cNvSpPr>
            <p:nvPr/>
          </p:nvSpPr>
          <p:spPr bwMode="blackWhite">
            <a:xfrm>
              <a:off x="3696" y="3168"/>
              <a:ext cx="1200" cy="52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r>
                <a:rPr lang="es-ES" b="0"/>
                <a:t>instrucciones</a:t>
              </a:r>
              <a:br>
                <a:rPr lang="es-ES" b="0"/>
              </a:br>
              <a:r>
                <a:rPr lang="es-ES" b="0"/>
                <a:t>objetivo</a:t>
              </a:r>
              <a:endParaRPr lang="ca-ES" b="0"/>
            </a:p>
          </p:txBody>
        </p:sp>
        <p:sp>
          <p:nvSpPr>
            <p:cNvPr id="101385" name="Text Box 8"/>
            <p:cNvSpPr txBox="1">
              <a:spLocks noChangeArrowheads="1"/>
            </p:cNvSpPr>
            <p:nvPr/>
          </p:nvSpPr>
          <p:spPr bwMode="blackWhite">
            <a:xfrm>
              <a:off x="3115" y="3168"/>
              <a:ext cx="485" cy="1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s-ES" dirty="0" err="1">
                  <a:latin typeface="Courier New" pitchFamily="-84" charset="0"/>
                </a:rPr>
                <a:t>etiq</a:t>
              </a:r>
              <a:r>
                <a:rPr lang="es-ES" dirty="0">
                  <a:latin typeface="Courier New" pitchFamily="-84" charset="0"/>
                </a:rPr>
                <a:t>:</a:t>
              </a:r>
              <a:endParaRPr lang="ca-ES" dirty="0">
                <a:latin typeface="Courier New" pitchFamily="-84" charset="0"/>
              </a:endParaRPr>
            </a:p>
          </p:txBody>
        </p:sp>
        <p:sp>
          <p:nvSpPr>
            <p:cNvPr id="101386" name="Rectangle 9"/>
            <p:cNvSpPr>
              <a:spLocks noChangeArrowheads="1"/>
            </p:cNvSpPr>
            <p:nvPr/>
          </p:nvSpPr>
          <p:spPr bwMode="blackWhite">
            <a:xfrm>
              <a:off x="1104" y="3120"/>
              <a:ext cx="1152" cy="1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" i="1" dirty="0" err="1">
                  <a:latin typeface="Courier New" pitchFamily="-84" charset="0"/>
                </a:rPr>
                <a:t>bif_cond</a:t>
              </a:r>
              <a:r>
                <a:rPr lang="es-ES" dirty="0">
                  <a:latin typeface="Courier New" pitchFamily="-84" charset="0"/>
                </a:rPr>
                <a:t> </a:t>
              </a:r>
              <a:r>
                <a:rPr lang="es-ES" dirty="0" err="1">
                  <a:latin typeface="Courier New" pitchFamily="-84" charset="0"/>
                </a:rPr>
                <a:t>eti</a:t>
              </a:r>
              <a:endParaRPr lang="ca-ES" dirty="0">
                <a:latin typeface="Courier New" pitchFamily="-84" charset="0"/>
              </a:endParaRPr>
            </a:p>
          </p:txBody>
        </p:sp>
        <p:sp>
          <p:nvSpPr>
            <p:cNvPr id="101387" name="Freeform 10"/>
            <p:cNvSpPr>
              <a:spLocks/>
            </p:cNvSpPr>
            <p:nvPr/>
          </p:nvSpPr>
          <p:spPr bwMode="blackWhite">
            <a:xfrm>
              <a:off x="2400" y="3168"/>
              <a:ext cx="720" cy="160"/>
            </a:xfrm>
            <a:custGeom>
              <a:avLst/>
              <a:gdLst>
                <a:gd name="T0" fmla="*/ 0 w 672"/>
                <a:gd name="T1" fmla="*/ 48 h 160"/>
                <a:gd name="T2" fmla="*/ 381 w 672"/>
                <a:gd name="T3" fmla="*/ 0 h 160"/>
                <a:gd name="T4" fmla="*/ 631 w 672"/>
                <a:gd name="T5" fmla="*/ 48 h 160"/>
                <a:gd name="T6" fmla="*/ 1258 w 672"/>
                <a:gd name="T7" fmla="*/ 48 h 160"/>
                <a:gd name="T8" fmla="*/ 1384 w 672"/>
                <a:gd name="T9" fmla="*/ 144 h 160"/>
                <a:gd name="T10" fmla="*/ 1765 w 672"/>
                <a:gd name="T11" fmla="*/ 144 h 1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72"/>
                <a:gd name="T19" fmla="*/ 0 h 160"/>
                <a:gd name="T20" fmla="*/ 672 w 672"/>
                <a:gd name="T21" fmla="*/ 160 h 16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72" h="160">
                  <a:moveTo>
                    <a:pt x="0" y="48"/>
                  </a:moveTo>
                  <a:cubicBezTo>
                    <a:pt x="24" y="40"/>
                    <a:pt x="104" y="0"/>
                    <a:pt x="144" y="0"/>
                  </a:cubicBezTo>
                  <a:cubicBezTo>
                    <a:pt x="184" y="0"/>
                    <a:pt x="184" y="40"/>
                    <a:pt x="240" y="48"/>
                  </a:cubicBezTo>
                  <a:cubicBezTo>
                    <a:pt x="296" y="56"/>
                    <a:pt x="432" y="32"/>
                    <a:pt x="480" y="48"/>
                  </a:cubicBezTo>
                  <a:cubicBezTo>
                    <a:pt x="528" y="64"/>
                    <a:pt x="496" y="128"/>
                    <a:pt x="528" y="144"/>
                  </a:cubicBezTo>
                  <a:cubicBezTo>
                    <a:pt x="560" y="160"/>
                    <a:pt x="642" y="144"/>
                    <a:pt x="672" y="144"/>
                  </a:cubicBezTo>
                </a:path>
              </a:pathLst>
            </a:cu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Conflictos de Control</a:t>
            </a:r>
            <a:endParaRPr lang="ca-ES" dirty="0"/>
          </a:p>
        </p:txBody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9788"/>
            <a:ext cx="8686800" cy="1446212"/>
          </a:xfrm>
        </p:spPr>
        <p:txBody>
          <a:bodyPr/>
          <a:lstStyle/>
          <a:p>
            <a:r>
              <a:rPr lang="es-ES" dirty="0"/>
              <a:t>Análisis del conflicto</a:t>
            </a:r>
          </a:p>
          <a:p>
            <a:pPr lvl="1"/>
            <a:r>
              <a:rPr lang="es-ES" dirty="0"/>
              <a:t>Cuando el salto es efectivo en la etapa M, el procesador tiene tres instrucciones siguientes en proceso.  En la etapa ER se escribe el nuevo PC</a:t>
            </a:r>
            <a:endParaRPr lang="ca-ES" dirty="0"/>
          </a:p>
        </p:txBody>
      </p:sp>
      <p:sp>
        <p:nvSpPr>
          <p:cNvPr id="10547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8F6D1-830E-9D40-822D-70B4150AB1F9}" type="slidenum">
              <a:rPr lang="en-US" smtClean="0"/>
              <a:pPr/>
              <a:t>52</a:t>
            </a:fld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560512" y="2362200"/>
            <a:ext cx="6440488" cy="2378075"/>
            <a:chOff x="657" y="2204"/>
            <a:chExt cx="4057" cy="1498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05482" name="Text Box 5"/>
            <p:cNvSpPr txBox="1">
              <a:spLocks noChangeArrowheads="1"/>
            </p:cNvSpPr>
            <p:nvPr/>
          </p:nvSpPr>
          <p:spPr bwMode="auto">
            <a:xfrm>
              <a:off x="657" y="2204"/>
              <a:ext cx="4057" cy="1498"/>
            </a:xfrm>
            <a:prstGeom prst="rect">
              <a:avLst/>
            </a:prstGeom>
            <a:grpFill/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l" eaLnBrk="0" hangingPunct="0">
                <a:tabLst>
                  <a:tab pos="2092325" algn="l"/>
                  <a:tab pos="2568575" algn="l"/>
                  <a:tab pos="3044825" algn="l"/>
                  <a:tab pos="3521075" algn="l"/>
                  <a:tab pos="3997325" algn="l"/>
                  <a:tab pos="4473575" algn="l"/>
                  <a:tab pos="4949825" algn="l"/>
                  <a:tab pos="5426075" algn="l"/>
                  <a:tab pos="5902325" algn="l"/>
                  <a:tab pos="6667500" algn="l"/>
                </a:tabLst>
              </a:pPr>
              <a:r>
                <a:rPr lang="es-ES" dirty="0">
                  <a:latin typeface="Arial Narrow" pitchFamily="-84" charset="0"/>
                </a:rPr>
                <a:t>Instrucción</a:t>
              </a:r>
              <a:r>
                <a:rPr lang="es-ES" dirty="0"/>
                <a:t>	</a:t>
              </a:r>
              <a:r>
                <a:rPr lang="es-ES" dirty="0">
                  <a:latin typeface="Arial Narrow" pitchFamily="-84" charset="0"/>
                </a:rPr>
                <a:t>1	2	3	4	5	6	7	8	9</a:t>
              </a:r>
            </a:p>
            <a:p>
              <a:pPr algn="l" eaLnBrk="0" hangingPunct="0">
                <a:spcBef>
                  <a:spcPct val="50000"/>
                </a:spcBef>
                <a:tabLst>
                  <a:tab pos="2092325" algn="l"/>
                  <a:tab pos="2568575" algn="l"/>
                  <a:tab pos="3044825" algn="l"/>
                  <a:tab pos="3521075" algn="l"/>
                  <a:tab pos="3997325" algn="l"/>
                  <a:tab pos="4473575" algn="l"/>
                  <a:tab pos="4949825" algn="l"/>
                  <a:tab pos="5426075" algn="l"/>
                  <a:tab pos="5902325" algn="l"/>
                  <a:tab pos="6667500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previa</a:t>
              </a:r>
              <a:r>
                <a:rPr lang="es-ES_tradnl" b="0" dirty="0">
                  <a:solidFill>
                    <a:schemeClr val="tx1"/>
                  </a:solidFill>
                </a:rPr>
                <a:t> </a:t>
              </a:r>
              <a:r>
                <a:rPr lang="es-ES" b="0" dirty="0">
                  <a:solidFill>
                    <a:schemeClr val="tx1"/>
                  </a:solidFill>
                </a:rPr>
                <a:t>	LI	DI	EX	M	ER</a:t>
              </a:r>
              <a:br>
                <a:rPr lang="es-ES" dirty="0">
                  <a:solidFill>
                    <a:schemeClr val="tx1"/>
                  </a:solidFill>
                </a:rPr>
              </a:br>
              <a:r>
                <a:rPr lang="es-ES" dirty="0">
                  <a:solidFill>
                    <a:srgbClr val="FF0000"/>
                  </a:solidFill>
                </a:rPr>
                <a:t>bifurcación		LI	DI	EX	M	ER</a:t>
              </a:r>
              <a:br>
                <a:rPr lang="es-ES" dirty="0">
                  <a:solidFill>
                    <a:srgbClr val="FFCC00"/>
                  </a:solidFill>
                </a:rPr>
              </a:br>
              <a:r>
                <a:rPr lang="es-ES" b="0" dirty="0">
                  <a:solidFill>
                    <a:srgbClr val="33CC33"/>
                  </a:solidFill>
                </a:rPr>
                <a:t>siguiente 1</a:t>
              </a:r>
              <a:r>
                <a:rPr lang="es-ES" dirty="0">
                  <a:solidFill>
                    <a:srgbClr val="33CC33"/>
                  </a:solidFill>
                </a:rPr>
                <a:t> 			</a:t>
              </a:r>
              <a:r>
                <a:rPr lang="es-ES" b="0" dirty="0">
                  <a:solidFill>
                    <a:srgbClr val="33CC33"/>
                  </a:solidFill>
                </a:rPr>
                <a:t>LI	DI	EX	M	ER</a:t>
              </a:r>
              <a:br>
                <a:rPr lang="es-ES" b="0" dirty="0">
                  <a:solidFill>
                    <a:srgbClr val="33CC33"/>
                  </a:solidFill>
                </a:rPr>
              </a:br>
              <a:r>
                <a:rPr lang="es-ES" b="0" dirty="0">
                  <a:solidFill>
                    <a:srgbClr val="33CC33"/>
                  </a:solidFill>
                </a:rPr>
                <a:t>siguiente 2 				LI	DI	EX	M	ER</a:t>
              </a:r>
              <a:br>
                <a:rPr lang="es-ES" b="0" dirty="0">
                  <a:solidFill>
                    <a:srgbClr val="33CC33"/>
                  </a:solidFill>
                </a:rPr>
              </a:br>
              <a:r>
                <a:rPr lang="es-ES" b="0" dirty="0">
                  <a:solidFill>
                    <a:srgbClr val="33CC33"/>
                  </a:solidFill>
                </a:rPr>
                <a:t>siguiente 3 					LI	DI	EX	M	ER</a:t>
              </a:r>
              <a:br>
                <a:rPr lang="es-ES_tradnl" b="0" dirty="0">
                  <a:solidFill>
                    <a:srgbClr val="33CC33"/>
                  </a:solidFill>
                </a:rPr>
              </a:br>
              <a:r>
                <a:rPr lang="es-ES_tradnl" b="0" dirty="0">
                  <a:solidFill>
                    <a:schemeClr val="tx1"/>
                  </a:solidFill>
                </a:rPr>
                <a:t>objetivo						LI	DI	EX	M</a:t>
              </a:r>
              <a:endParaRPr lang="es-ES" b="0" dirty="0">
                <a:solidFill>
                  <a:schemeClr val="tx1"/>
                </a:solidFill>
              </a:endParaRPr>
            </a:p>
          </p:txBody>
        </p:sp>
        <p:sp>
          <p:nvSpPr>
            <p:cNvPr id="105483" name="Line 6"/>
            <p:cNvSpPr>
              <a:spLocks noChangeShapeType="1"/>
            </p:cNvSpPr>
            <p:nvPr/>
          </p:nvSpPr>
          <p:spPr bwMode="auto">
            <a:xfrm>
              <a:off x="657" y="2429"/>
              <a:ext cx="3984" cy="0"/>
            </a:xfrm>
            <a:prstGeom prst="line">
              <a:avLst/>
            </a:prstGeom>
            <a:grpFill/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05478" name="AutoShape 7"/>
          <p:cNvSpPr>
            <a:spLocks noChangeArrowheads="1"/>
          </p:cNvSpPr>
          <p:nvPr/>
        </p:nvSpPr>
        <p:spPr bwMode="blackWhite">
          <a:xfrm>
            <a:off x="5632450" y="2862263"/>
            <a:ext cx="381000" cy="1600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2"/>
            </a:solidFill>
            <a:prstDash val="sysDot"/>
            <a:round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endParaRPr lang="en-US"/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685800" y="5013325"/>
            <a:ext cx="7580313" cy="1768475"/>
            <a:chOff x="432" y="2582"/>
            <a:chExt cx="4775" cy="1114"/>
          </a:xfrm>
        </p:grpSpPr>
        <p:sp>
          <p:nvSpPr>
            <p:cNvPr id="105480" name="Text Box 9"/>
            <p:cNvSpPr txBox="1">
              <a:spLocks noChangeArrowheads="1"/>
            </p:cNvSpPr>
            <p:nvPr/>
          </p:nvSpPr>
          <p:spPr bwMode="auto">
            <a:xfrm>
              <a:off x="432" y="2582"/>
              <a:ext cx="4775" cy="111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l" eaLnBrk="0" hangingPunct="0">
                <a:tabLst>
                  <a:tab pos="765175" algn="l"/>
                  <a:tab pos="2092325" algn="l"/>
                  <a:tab pos="3427413" algn="l"/>
                  <a:tab pos="4762500" algn="l"/>
                  <a:tab pos="6097588" algn="l"/>
                </a:tabLst>
              </a:pPr>
              <a:r>
                <a:rPr lang="es-ES" dirty="0">
                  <a:latin typeface="Arial Narrow" pitchFamily="-84" charset="0"/>
                </a:rPr>
                <a:t>Ciclo</a:t>
              </a:r>
              <a:r>
                <a:rPr lang="es-ES" dirty="0"/>
                <a:t>	</a:t>
              </a:r>
              <a:r>
                <a:rPr lang="es-ES" dirty="0">
                  <a:latin typeface="Arial Narrow" pitchFamily="-84" charset="0"/>
                </a:rPr>
                <a:t>LI	DI	EX	M	ER </a:t>
              </a:r>
              <a:endParaRPr lang="es-ES_tradnl" dirty="0">
                <a:latin typeface="Arial Narrow" pitchFamily="-84" charset="0"/>
              </a:endParaRPr>
            </a:p>
            <a:p>
              <a:pPr algn="l" eaLnBrk="0" hangingPunct="0">
                <a:spcBef>
                  <a:spcPct val="50000"/>
                </a:spcBef>
                <a:tabLst>
                  <a:tab pos="765175" algn="l"/>
                  <a:tab pos="2092325" algn="l"/>
                  <a:tab pos="3427413" algn="l"/>
                  <a:tab pos="4762500" algn="l"/>
                  <a:tab pos="6097588" algn="l"/>
                </a:tabLst>
              </a:pPr>
              <a:r>
                <a:rPr lang="es-ES" b="0" dirty="0"/>
                <a:t>4	</a:t>
              </a:r>
              <a:r>
                <a:rPr lang="es-ES" b="0" dirty="0">
                  <a:solidFill>
                    <a:srgbClr val="33CC33"/>
                  </a:solidFill>
                </a:rPr>
                <a:t>siguiente2	siguiente1</a:t>
              </a:r>
              <a:r>
                <a:rPr lang="es-ES" b="0" dirty="0">
                  <a:solidFill>
                    <a:schemeClr val="tx1"/>
                  </a:solidFill>
                </a:rPr>
                <a:t>	</a:t>
              </a:r>
              <a:r>
                <a:rPr lang="es-ES" b="0" dirty="0">
                  <a:solidFill>
                    <a:srgbClr val="FF0000"/>
                  </a:solidFill>
                </a:rPr>
                <a:t>bif</a:t>
              </a:r>
              <a:r>
                <a:rPr lang="es-ES_tradnl" b="0" dirty="0" err="1">
                  <a:solidFill>
                    <a:srgbClr val="FF0000"/>
                  </a:solidFill>
                </a:rPr>
                <a:t>urcación</a:t>
              </a:r>
              <a:r>
                <a:rPr lang="es-ES" b="0" dirty="0">
                  <a:solidFill>
                    <a:schemeClr val="tx1"/>
                  </a:solidFill>
                </a:rPr>
                <a:t>	previa	?</a:t>
              </a:r>
              <a:r>
                <a:rPr lang="es-ES" b="0" dirty="0"/>
                <a:t> </a:t>
              </a:r>
              <a:br>
                <a:rPr lang="es-ES" b="0" dirty="0"/>
              </a:br>
              <a:r>
                <a:rPr lang="es-ES" b="0" dirty="0"/>
                <a:t>5	</a:t>
              </a:r>
              <a:r>
                <a:rPr lang="es-ES" b="0" dirty="0">
                  <a:solidFill>
                    <a:srgbClr val="33CC33"/>
                  </a:solidFill>
                </a:rPr>
                <a:t>siguiente</a:t>
              </a:r>
              <a:r>
                <a:rPr lang="es-ES_tradnl" b="0" dirty="0">
                  <a:solidFill>
                    <a:srgbClr val="33CC33"/>
                  </a:solidFill>
                </a:rPr>
                <a:t>3</a:t>
              </a:r>
              <a:r>
                <a:rPr lang="es-ES" b="0" dirty="0">
                  <a:solidFill>
                    <a:srgbClr val="33CC33"/>
                  </a:solidFill>
                </a:rPr>
                <a:t> 	siguiente2	siguiente1</a:t>
              </a:r>
              <a:r>
                <a:rPr lang="es-ES" b="0" dirty="0">
                  <a:solidFill>
                    <a:schemeClr val="tx1"/>
                  </a:solidFill>
                </a:rPr>
                <a:t>	</a:t>
              </a:r>
              <a:r>
                <a:rPr lang="es-ES" b="0" dirty="0">
                  <a:solidFill>
                    <a:srgbClr val="FF0000"/>
                  </a:solidFill>
                </a:rPr>
                <a:t>bif</a:t>
              </a:r>
              <a:r>
                <a:rPr lang="es-ES_tradnl" b="0" dirty="0" err="1">
                  <a:solidFill>
                    <a:srgbClr val="FF0000"/>
                  </a:solidFill>
                </a:rPr>
                <a:t>urcación</a:t>
              </a:r>
              <a:r>
                <a:rPr lang="es-ES" b="0" dirty="0">
                  <a:solidFill>
                    <a:srgbClr val="FF0000"/>
                  </a:solidFill>
                </a:rPr>
                <a:t> </a:t>
              </a:r>
              <a:r>
                <a:rPr lang="es-ES" b="0" dirty="0">
                  <a:solidFill>
                    <a:schemeClr val="tx1"/>
                  </a:solidFill>
                </a:rPr>
                <a:t>	previa	</a:t>
              </a:r>
              <a:br>
                <a:rPr lang="es-ES" b="0" dirty="0">
                  <a:solidFill>
                    <a:schemeClr val="tx1"/>
                  </a:solidFill>
                </a:rPr>
              </a:br>
              <a:r>
                <a:rPr lang="es-ES" b="0" dirty="0"/>
                <a:t>6	</a:t>
              </a:r>
              <a:r>
                <a:rPr lang="es-ES" b="0" dirty="0">
                  <a:solidFill>
                    <a:schemeClr val="tx1"/>
                  </a:solidFill>
                </a:rPr>
                <a:t>objetivo</a:t>
              </a:r>
              <a:r>
                <a:rPr lang="es-ES" b="0" dirty="0"/>
                <a:t>	</a:t>
              </a:r>
              <a:r>
                <a:rPr lang="es-ES" b="0" dirty="0">
                  <a:solidFill>
                    <a:srgbClr val="33CC33"/>
                  </a:solidFill>
                </a:rPr>
                <a:t>siguiente</a:t>
              </a:r>
              <a:r>
                <a:rPr lang="es-ES_tradnl" b="0" dirty="0">
                  <a:solidFill>
                    <a:srgbClr val="33CC33"/>
                  </a:solidFill>
                </a:rPr>
                <a:t>3</a:t>
              </a:r>
              <a:r>
                <a:rPr lang="es-ES" b="0" dirty="0">
                  <a:solidFill>
                    <a:srgbClr val="33CC33"/>
                  </a:solidFill>
                </a:rPr>
                <a:t> 	siguiente2	siguiente1</a:t>
              </a:r>
              <a:r>
                <a:rPr lang="es-ES" b="0" dirty="0">
                  <a:solidFill>
                    <a:schemeClr val="tx1"/>
                  </a:solidFill>
                </a:rPr>
                <a:t>	</a:t>
              </a:r>
              <a:r>
                <a:rPr lang="es-ES" b="0" dirty="0">
                  <a:solidFill>
                    <a:srgbClr val="FF0000"/>
                  </a:solidFill>
                </a:rPr>
                <a:t>bif</a:t>
              </a:r>
              <a:r>
                <a:rPr lang="es-ES_tradnl" b="0" dirty="0" err="1">
                  <a:solidFill>
                    <a:srgbClr val="FF0000"/>
                  </a:solidFill>
                </a:rPr>
                <a:t>urcación</a:t>
              </a:r>
              <a:r>
                <a:rPr lang="es-ES" b="0" dirty="0">
                  <a:solidFill>
                    <a:srgbClr val="FF0000"/>
                  </a:solidFill>
                </a:rPr>
                <a:t> </a:t>
              </a:r>
              <a:br>
                <a:rPr lang="es-ES" b="0" dirty="0">
                  <a:solidFill>
                    <a:schemeClr val="tx1"/>
                  </a:solidFill>
                </a:rPr>
              </a:br>
              <a:endParaRPr lang="es-ES" b="0" dirty="0">
                <a:solidFill>
                  <a:schemeClr val="tx1"/>
                </a:solidFill>
              </a:endParaRPr>
            </a:p>
          </p:txBody>
        </p:sp>
        <p:sp>
          <p:nvSpPr>
            <p:cNvPr id="105481" name="Line 10"/>
            <p:cNvSpPr>
              <a:spLocks noChangeShapeType="1"/>
            </p:cNvSpPr>
            <p:nvPr/>
          </p:nvSpPr>
          <p:spPr bwMode="auto">
            <a:xfrm>
              <a:off x="432" y="2832"/>
              <a:ext cx="4704" cy="0"/>
            </a:xfrm>
            <a:prstGeom prst="line">
              <a:avLst/>
            </a:prstGeom>
            <a:noFill/>
            <a:ln w="63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CuadroTexto 13">
            <a:hlinkClick r:id="" action="ppaction://customshow?id=0&amp;return=true"/>
          </p:cNvPr>
          <p:cNvSpPr txBox="1"/>
          <p:nvPr/>
        </p:nvSpPr>
        <p:spPr>
          <a:xfrm>
            <a:off x="148682" y="3124200"/>
            <a:ext cx="954107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Ver 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</a:rPr>
              <a:t>ruta</a:t>
            </a: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5 Rectángulo">
            <a:extLst>
              <a:ext uri="{FF2B5EF4-FFF2-40B4-BE49-F238E27FC236}">
                <a16:creationId xmlns:a16="http://schemas.microsoft.com/office/drawing/2014/main" id="{EAC21AB3-D183-4CDA-BB1B-BF4AD90486DD}"/>
              </a:ext>
            </a:extLst>
          </p:cNvPr>
          <p:cNvSpPr/>
          <p:nvPr/>
        </p:nvSpPr>
        <p:spPr>
          <a:xfrm>
            <a:off x="539552" y="1196752"/>
            <a:ext cx="7200800" cy="5204303"/>
          </a:xfrm>
          <a:prstGeom prst="rect">
            <a:avLst/>
          </a:prstGeom>
          <a:solidFill>
            <a:srgbClr val="EAEAEA"/>
          </a:solidFill>
          <a:ln>
            <a:solidFill>
              <a:srgbClr val="00B0F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0" name="49 Rectángulo"/>
          <p:cNvSpPr/>
          <p:nvPr/>
        </p:nvSpPr>
        <p:spPr>
          <a:xfrm>
            <a:off x="2684055" y="3284984"/>
            <a:ext cx="1859190" cy="203640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Análisis del Conflicto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5516756" y="2649167"/>
            <a:ext cx="3384376" cy="2247411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s-ES_tradnl" sz="2000" b="1" dirty="0">
                <a:solidFill>
                  <a:schemeClr val="bg2"/>
                </a:solidFill>
                <a:latin typeface="Courier New" pitchFamily="-84" charset="0"/>
              </a:rPr>
              <a:t>       </a:t>
            </a:r>
            <a:r>
              <a:rPr lang="es-ES_tradnl" sz="1600" dirty="0" err="1">
                <a:solidFill>
                  <a:srgbClr val="FF0000"/>
                </a:solidFill>
                <a:latin typeface="Courier New" pitchFamily="-84" charset="0"/>
              </a:rPr>
              <a:t>beq</a:t>
            </a:r>
            <a:r>
              <a:rPr lang="es-ES_tradnl" sz="1600" dirty="0">
                <a:solidFill>
                  <a:srgbClr val="FF0000"/>
                </a:solidFill>
                <a:latin typeface="Courier New" pitchFamily="-84" charset="0"/>
              </a:rPr>
              <a:t> t2,t3,L1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600" dirty="0">
                <a:latin typeface="Courier New" pitchFamily="-84" charset="0"/>
              </a:rPr>
              <a:t>         </a:t>
            </a:r>
            <a:r>
              <a:rPr lang="es-ES_tradnl" sz="1600" dirty="0" err="1">
                <a:latin typeface="Courier New" pitchFamily="-84" charset="0"/>
              </a:rPr>
              <a:t>lw</a:t>
            </a:r>
            <a:r>
              <a:rPr lang="es-ES_tradnl" sz="1600" dirty="0">
                <a:latin typeface="Courier New" pitchFamily="-84" charset="0"/>
              </a:rPr>
              <a:t> t2,100(t1)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600" dirty="0">
                <a:latin typeface="Courier New" pitchFamily="-84" charset="0"/>
              </a:rPr>
              <a:t>         </a:t>
            </a:r>
            <a:r>
              <a:rPr lang="es-ES_tradnl" sz="1600" dirty="0" err="1">
                <a:latin typeface="Courier New" pitchFamily="-84" charset="0"/>
              </a:rPr>
              <a:t>add</a:t>
            </a:r>
            <a:r>
              <a:rPr lang="es-ES_tradnl" sz="1600" dirty="0">
                <a:latin typeface="Courier New" pitchFamily="-84" charset="0"/>
              </a:rPr>
              <a:t> t3,t1,t4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600" dirty="0">
                <a:latin typeface="Courier New" pitchFamily="-84" charset="0"/>
              </a:rPr>
              <a:t>         </a:t>
            </a:r>
            <a:r>
              <a:rPr lang="es-ES_tradnl" sz="1600" dirty="0" err="1">
                <a:latin typeface="Courier New" pitchFamily="-84" charset="0"/>
              </a:rPr>
              <a:t>or</a:t>
            </a:r>
            <a:r>
              <a:rPr lang="es-ES_tradnl" sz="1600" dirty="0">
                <a:latin typeface="Courier New" pitchFamily="-84" charset="0"/>
              </a:rPr>
              <a:t>  t5,t6,t4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600" dirty="0">
                <a:latin typeface="Courier New" pitchFamily="-84" charset="0"/>
              </a:rPr>
              <a:t>         sub t5,t5,t4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600" dirty="0">
                <a:solidFill>
                  <a:srgbClr val="00B050"/>
                </a:solidFill>
                <a:latin typeface="Courier New" pitchFamily="-84" charset="0"/>
              </a:rPr>
              <a:t>L1:</a:t>
            </a:r>
            <a:r>
              <a:rPr lang="es-ES_tradnl" sz="1600" dirty="0">
                <a:latin typeface="Courier New" pitchFamily="-84" charset="0"/>
              </a:rPr>
              <a:t>      </a:t>
            </a:r>
            <a:r>
              <a:rPr lang="es-ES_tradnl" sz="1600" dirty="0" err="1">
                <a:solidFill>
                  <a:srgbClr val="00B050"/>
                </a:solidFill>
                <a:latin typeface="Courier New" pitchFamily="-84" charset="0"/>
              </a:rPr>
              <a:t>sw</a:t>
            </a:r>
            <a:r>
              <a:rPr lang="es-ES_tradnl" sz="1600" dirty="0">
                <a:solidFill>
                  <a:srgbClr val="00B050"/>
                </a:solidFill>
                <a:latin typeface="Courier New" pitchFamily="-84" charset="0"/>
              </a:rPr>
              <a:t>  t6,50(t4)</a:t>
            </a:r>
          </a:p>
        </p:txBody>
      </p:sp>
      <p:grpSp>
        <p:nvGrpSpPr>
          <p:cNvPr id="5" name="4 Grupo"/>
          <p:cNvGrpSpPr/>
          <p:nvPr/>
        </p:nvGrpSpPr>
        <p:grpSpPr>
          <a:xfrm>
            <a:off x="467544" y="1209962"/>
            <a:ext cx="6715344" cy="5088565"/>
            <a:chOff x="62602" y="1133835"/>
            <a:chExt cx="6715344" cy="3816424"/>
          </a:xfrm>
        </p:grpSpPr>
        <p:grpSp>
          <p:nvGrpSpPr>
            <p:cNvPr id="6" name="5 Grupo"/>
            <p:cNvGrpSpPr/>
            <p:nvPr/>
          </p:nvGrpSpPr>
          <p:grpSpPr>
            <a:xfrm>
              <a:off x="62602" y="1133835"/>
              <a:ext cx="6699514" cy="3816424"/>
              <a:chOff x="218556" y="1203981"/>
              <a:chExt cx="6699514" cy="3816424"/>
            </a:xfrm>
          </p:grpSpPr>
          <p:cxnSp>
            <p:nvCxnSpPr>
              <p:cNvPr id="32" name="31 Conector recto"/>
              <p:cNvCxnSpPr/>
              <p:nvPr/>
            </p:nvCxnSpPr>
            <p:spPr>
              <a:xfrm>
                <a:off x="1539490" y="1203981"/>
                <a:ext cx="0" cy="3816424"/>
              </a:xfrm>
              <a:prstGeom prst="line">
                <a:avLst/>
              </a:prstGeom>
              <a:ln w="571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32 Conector recto"/>
              <p:cNvCxnSpPr/>
              <p:nvPr/>
            </p:nvCxnSpPr>
            <p:spPr>
              <a:xfrm flipV="1">
                <a:off x="539010" y="2068077"/>
                <a:ext cx="6287725" cy="2270"/>
              </a:xfrm>
              <a:prstGeom prst="line">
                <a:avLst/>
              </a:prstGeom>
              <a:ln w="571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33 Conector recto"/>
              <p:cNvCxnSpPr/>
              <p:nvPr/>
            </p:nvCxnSpPr>
            <p:spPr>
              <a:xfrm flipH="1" flipV="1">
                <a:off x="799489" y="1393694"/>
                <a:ext cx="715030" cy="648072"/>
              </a:xfrm>
              <a:prstGeom prst="line">
                <a:avLst/>
              </a:prstGeom>
              <a:ln w="571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34 CuadroTexto"/>
              <p:cNvSpPr txBox="1"/>
              <p:nvPr/>
            </p:nvSpPr>
            <p:spPr>
              <a:xfrm>
                <a:off x="983747" y="1431038"/>
                <a:ext cx="524504" cy="2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200" dirty="0"/>
                  <a:t>Ciclo</a:t>
                </a:r>
              </a:p>
            </p:txBody>
          </p:sp>
          <p:sp>
            <p:nvSpPr>
              <p:cNvPr id="36" name="35 CuadroTexto"/>
              <p:cNvSpPr txBox="1"/>
              <p:nvPr/>
            </p:nvSpPr>
            <p:spPr>
              <a:xfrm>
                <a:off x="2062815" y="1723871"/>
                <a:ext cx="459897" cy="3000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b="1" dirty="0"/>
                  <a:t>1</a:t>
                </a:r>
              </a:p>
            </p:txBody>
          </p:sp>
          <p:sp>
            <p:nvSpPr>
              <p:cNvPr id="37" name="36 CuadroTexto"/>
              <p:cNvSpPr txBox="1"/>
              <p:nvPr/>
            </p:nvSpPr>
            <p:spPr>
              <a:xfrm>
                <a:off x="2612234" y="1723871"/>
                <a:ext cx="459897" cy="3000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b="1" dirty="0"/>
                  <a:t>2</a:t>
                </a:r>
              </a:p>
            </p:txBody>
          </p:sp>
          <p:sp>
            <p:nvSpPr>
              <p:cNvPr id="38" name="37 CuadroTexto"/>
              <p:cNvSpPr txBox="1"/>
              <p:nvPr/>
            </p:nvSpPr>
            <p:spPr>
              <a:xfrm>
                <a:off x="3161654" y="1723871"/>
                <a:ext cx="459897" cy="3000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b="1" dirty="0"/>
                  <a:t>3</a:t>
                </a:r>
              </a:p>
            </p:txBody>
          </p:sp>
          <p:sp>
            <p:nvSpPr>
              <p:cNvPr id="39" name="38 CuadroTexto"/>
              <p:cNvSpPr txBox="1"/>
              <p:nvPr/>
            </p:nvSpPr>
            <p:spPr>
              <a:xfrm>
                <a:off x="3711073" y="1723871"/>
                <a:ext cx="459897" cy="3000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b="1" dirty="0"/>
                  <a:t>4</a:t>
                </a:r>
              </a:p>
            </p:txBody>
          </p:sp>
          <p:sp>
            <p:nvSpPr>
              <p:cNvPr id="40" name="39 CuadroTexto"/>
              <p:cNvSpPr txBox="1"/>
              <p:nvPr/>
            </p:nvSpPr>
            <p:spPr>
              <a:xfrm>
                <a:off x="4260493" y="1723871"/>
                <a:ext cx="459897" cy="3000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b="1" dirty="0"/>
                  <a:t>5</a:t>
                </a:r>
              </a:p>
            </p:txBody>
          </p:sp>
          <p:sp>
            <p:nvSpPr>
              <p:cNvPr id="41" name="40 CuadroTexto"/>
              <p:cNvSpPr txBox="1"/>
              <p:nvPr/>
            </p:nvSpPr>
            <p:spPr>
              <a:xfrm>
                <a:off x="4809912" y="1723871"/>
                <a:ext cx="459897" cy="3000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b="1" dirty="0"/>
                  <a:t>6</a:t>
                </a:r>
              </a:p>
            </p:txBody>
          </p:sp>
          <p:sp>
            <p:nvSpPr>
              <p:cNvPr id="42" name="41 CuadroTexto"/>
              <p:cNvSpPr txBox="1"/>
              <p:nvPr/>
            </p:nvSpPr>
            <p:spPr>
              <a:xfrm>
                <a:off x="5359332" y="1723871"/>
                <a:ext cx="459897" cy="3000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b="1" dirty="0"/>
                  <a:t>7</a:t>
                </a:r>
              </a:p>
            </p:txBody>
          </p:sp>
          <p:sp>
            <p:nvSpPr>
              <p:cNvPr id="43" name="42 CuadroTexto"/>
              <p:cNvSpPr txBox="1"/>
              <p:nvPr/>
            </p:nvSpPr>
            <p:spPr>
              <a:xfrm>
                <a:off x="5908751" y="1723871"/>
                <a:ext cx="459897" cy="3000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b="1" dirty="0"/>
                  <a:t>8</a:t>
                </a:r>
              </a:p>
            </p:txBody>
          </p:sp>
          <p:sp>
            <p:nvSpPr>
              <p:cNvPr id="44" name="43 CuadroTexto"/>
              <p:cNvSpPr txBox="1"/>
              <p:nvPr/>
            </p:nvSpPr>
            <p:spPr>
              <a:xfrm>
                <a:off x="6458173" y="1723871"/>
                <a:ext cx="459897" cy="3000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b="1" dirty="0"/>
                  <a:t>9</a:t>
                </a:r>
              </a:p>
            </p:txBody>
          </p:sp>
          <p:sp>
            <p:nvSpPr>
              <p:cNvPr id="45" name="44 CuadroTexto"/>
              <p:cNvSpPr txBox="1"/>
              <p:nvPr/>
            </p:nvSpPr>
            <p:spPr>
              <a:xfrm>
                <a:off x="218556" y="1736675"/>
                <a:ext cx="1008610" cy="1962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100" dirty="0"/>
                  <a:t>Instrucciones</a:t>
                </a:r>
              </a:p>
            </p:txBody>
          </p:sp>
        </p:grpSp>
        <p:grpSp>
          <p:nvGrpSpPr>
            <p:cNvPr id="7" name="6 Grupo"/>
            <p:cNvGrpSpPr/>
            <p:nvPr/>
          </p:nvGrpSpPr>
          <p:grpSpPr>
            <a:xfrm>
              <a:off x="550229" y="2256394"/>
              <a:ext cx="6227717" cy="2490292"/>
              <a:chOff x="550229" y="2256394"/>
              <a:chExt cx="6227717" cy="2490292"/>
            </a:xfrm>
          </p:grpSpPr>
          <p:sp>
            <p:nvSpPr>
              <p:cNvPr id="8" name="Rectangle 49"/>
              <p:cNvSpPr>
                <a:spLocks noChangeArrowheads="1"/>
              </p:cNvSpPr>
              <p:nvPr/>
            </p:nvSpPr>
            <p:spPr bwMode="auto">
              <a:xfrm>
                <a:off x="1798781" y="2270185"/>
                <a:ext cx="480332" cy="418752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LI</a:t>
                </a:r>
              </a:p>
            </p:txBody>
          </p:sp>
          <p:grpSp>
            <p:nvGrpSpPr>
              <p:cNvPr id="9" name="Group 63"/>
              <p:cNvGrpSpPr>
                <a:grpSpLocks/>
              </p:cNvGrpSpPr>
              <p:nvPr/>
            </p:nvGrpSpPr>
            <p:grpSpPr bwMode="auto">
              <a:xfrm>
                <a:off x="2359656" y="2270187"/>
                <a:ext cx="481797" cy="899872"/>
                <a:chOff x="1347" y="1827"/>
                <a:chExt cx="329" cy="808"/>
              </a:xfrm>
            </p:grpSpPr>
            <p:sp>
              <p:nvSpPr>
                <p:cNvPr id="30" name="Rectangle 65"/>
                <p:cNvSpPr>
                  <a:spLocks noChangeArrowheads="1"/>
                </p:cNvSpPr>
                <p:nvPr/>
              </p:nvSpPr>
              <p:spPr bwMode="auto">
                <a:xfrm>
                  <a:off x="1347" y="1827"/>
                  <a:ext cx="328" cy="376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DI</a:t>
                  </a:r>
                </a:p>
              </p:txBody>
            </p:sp>
            <p:sp>
              <p:nvSpPr>
                <p:cNvPr id="31" name="Rectangle 66"/>
                <p:cNvSpPr>
                  <a:spLocks noChangeArrowheads="1"/>
                </p:cNvSpPr>
                <p:nvPr/>
              </p:nvSpPr>
              <p:spPr bwMode="auto">
                <a:xfrm>
                  <a:off x="1348" y="2259"/>
                  <a:ext cx="328" cy="376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LI</a:t>
                  </a:r>
                </a:p>
              </p:txBody>
            </p:sp>
          </p:grpSp>
          <p:grpSp>
            <p:nvGrpSpPr>
              <p:cNvPr id="10" name="Group 80"/>
              <p:cNvGrpSpPr>
                <a:grpSpLocks/>
              </p:cNvGrpSpPr>
              <p:nvPr/>
            </p:nvGrpSpPr>
            <p:grpSpPr bwMode="auto">
              <a:xfrm>
                <a:off x="2921998" y="2270186"/>
                <a:ext cx="481796" cy="1380991"/>
                <a:chOff x="1731" y="1827"/>
                <a:chExt cx="329" cy="1240"/>
              </a:xfrm>
            </p:grpSpPr>
            <p:sp>
              <p:nvSpPr>
                <p:cNvPr id="27" name="Rectangle 82"/>
                <p:cNvSpPr>
                  <a:spLocks noChangeArrowheads="1"/>
                </p:cNvSpPr>
                <p:nvPr/>
              </p:nvSpPr>
              <p:spPr bwMode="auto">
                <a:xfrm>
                  <a:off x="1731" y="1827"/>
                  <a:ext cx="328" cy="376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EX</a:t>
                  </a:r>
                </a:p>
              </p:txBody>
            </p:sp>
            <p:sp>
              <p:nvSpPr>
                <p:cNvPr id="28" name="Rectangle 83"/>
                <p:cNvSpPr>
                  <a:spLocks noChangeArrowheads="1"/>
                </p:cNvSpPr>
                <p:nvPr/>
              </p:nvSpPr>
              <p:spPr bwMode="auto">
                <a:xfrm>
                  <a:off x="1731" y="2259"/>
                  <a:ext cx="328" cy="376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DI</a:t>
                  </a:r>
                </a:p>
              </p:txBody>
            </p:sp>
            <p:sp>
              <p:nvSpPr>
                <p:cNvPr id="29" name="Rectangle 84"/>
                <p:cNvSpPr>
                  <a:spLocks noChangeArrowheads="1"/>
                </p:cNvSpPr>
                <p:nvPr/>
              </p:nvSpPr>
              <p:spPr bwMode="auto">
                <a:xfrm>
                  <a:off x="1732" y="2691"/>
                  <a:ext cx="328" cy="376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LI</a:t>
                  </a:r>
                </a:p>
              </p:txBody>
            </p:sp>
          </p:grpSp>
          <p:grpSp>
            <p:nvGrpSpPr>
              <p:cNvPr id="11" name="Group 98"/>
              <p:cNvGrpSpPr>
                <a:grpSpLocks/>
              </p:cNvGrpSpPr>
              <p:nvPr/>
            </p:nvGrpSpPr>
            <p:grpSpPr bwMode="auto">
              <a:xfrm>
                <a:off x="3484337" y="2270186"/>
                <a:ext cx="481797" cy="1862111"/>
                <a:chOff x="2115" y="1827"/>
                <a:chExt cx="329" cy="1672"/>
              </a:xfrm>
            </p:grpSpPr>
            <p:sp>
              <p:nvSpPr>
                <p:cNvPr id="23" name="Rectangle 100"/>
                <p:cNvSpPr>
                  <a:spLocks noChangeArrowheads="1"/>
                </p:cNvSpPr>
                <p:nvPr/>
              </p:nvSpPr>
              <p:spPr bwMode="auto">
                <a:xfrm>
                  <a:off x="2115" y="1827"/>
                  <a:ext cx="328" cy="376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M</a:t>
                  </a:r>
                </a:p>
              </p:txBody>
            </p:sp>
            <p:sp>
              <p:nvSpPr>
                <p:cNvPr id="24" name="Rectangle 101"/>
                <p:cNvSpPr>
                  <a:spLocks noChangeArrowheads="1"/>
                </p:cNvSpPr>
                <p:nvPr/>
              </p:nvSpPr>
              <p:spPr bwMode="auto">
                <a:xfrm>
                  <a:off x="2115" y="2259"/>
                  <a:ext cx="328" cy="376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EX</a:t>
                  </a:r>
                </a:p>
              </p:txBody>
            </p:sp>
            <p:sp>
              <p:nvSpPr>
                <p:cNvPr id="25" name="Rectangle 102"/>
                <p:cNvSpPr>
                  <a:spLocks noChangeArrowheads="1"/>
                </p:cNvSpPr>
                <p:nvPr/>
              </p:nvSpPr>
              <p:spPr bwMode="auto">
                <a:xfrm>
                  <a:off x="2115" y="2691"/>
                  <a:ext cx="328" cy="376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DI</a:t>
                  </a:r>
                </a:p>
              </p:txBody>
            </p:sp>
            <p:sp>
              <p:nvSpPr>
                <p:cNvPr id="26" name="Rectangle 103"/>
                <p:cNvSpPr>
                  <a:spLocks noChangeArrowheads="1"/>
                </p:cNvSpPr>
                <p:nvPr/>
              </p:nvSpPr>
              <p:spPr bwMode="auto">
                <a:xfrm>
                  <a:off x="2116" y="3123"/>
                  <a:ext cx="328" cy="376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LI</a:t>
                  </a:r>
                </a:p>
              </p:txBody>
            </p:sp>
          </p:grpSp>
          <p:sp>
            <p:nvSpPr>
              <p:cNvPr id="12" name="Rectangle 184"/>
              <p:cNvSpPr>
                <a:spLocks noChangeArrowheads="1"/>
              </p:cNvSpPr>
              <p:nvPr/>
            </p:nvSpPr>
            <p:spPr bwMode="auto">
              <a:xfrm>
                <a:off x="4065909" y="2284473"/>
                <a:ext cx="480431" cy="419100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ER</a:t>
                </a:r>
              </a:p>
            </p:txBody>
          </p:sp>
          <p:sp>
            <p:nvSpPr>
              <p:cNvPr id="13" name="Rectangle 185"/>
              <p:cNvSpPr>
                <a:spLocks noChangeArrowheads="1"/>
              </p:cNvSpPr>
              <p:nvPr/>
            </p:nvSpPr>
            <p:spPr bwMode="auto">
              <a:xfrm>
                <a:off x="4050157" y="4194236"/>
                <a:ext cx="480431" cy="419100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LI</a:t>
                </a:r>
              </a:p>
            </p:txBody>
          </p:sp>
          <p:sp>
            <p:nvSpPr>
              <p:cNvPr id="14" name="Rectangle 252"/>
              <p:cNvSpPr>
                <a:spLocks noChangeArrowheads="1"/>
              </p:cNvSpPr>
              <p:nvPr/>
            </p:nvSpPr>
            <p:spPr bwMode="auto">
              <a:xfrm>
                <a:off x="4610922" y="4194236"/>
                <a:ext cx="480431" cy="419100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DI</a:t>
                </a:r>
              </a:p>
            </p:txBody>
          </p:sp>
          <p:sp>
            <p:nvSpPr>
              <p:cNvPr id="15" name="Rectangle 331"/>
              <p:cNvSpPr>
                <a:spLocks noChangeArrowheads="1"/>
              </p:cNvSpPr>
              <p:nvPr/>
            </p:nvSpPr>
            <p:spPr bwMode="auto">
              <a:xfrm>
                <a:off x="5173263" y="4194236"/>
                <a:ext cx="480430" cy="419100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EX</a:t>
                </a:r>
              </a:p>
            </p:txBody>
          </p:sp>
          <p:sp>
            <p:nvSpPr>
              <p:cNvPr id="16" name="Rectangle 384"/>
              <p:cNvSpPr>
                <a:spLocks noChangeArrowheads="1"/>
              </p:cNvSpPr>
              <p:nvPr/>
            </p:nvSpPr>
            <p:spPr bwMode="auto">
              <a:xfrm>
                <a:off x="5735602" y="4194236"/>
                <a:ext cx="480431" cy="419100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M</a:t>
                </a:r>
              </a:p>
            </p:txBody>
          </p:sp>
          <p:sp>
            <p:nvSpPr>
              <p:cNvPr id="17" name="Rectangle 411"/>
              <p:cNvSpPr>
                <a:spLocks noChangeArrowheads="1"/>
              </p:cNvSpPr>
              <p:nvPr/>
            </p:nvSpPr>
            <p:spPr bwMode="auto">
              <a:xfrm>
                <a:off x="6297613" y="4194373"/>
                <a:ext cx="480333" cy="418963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ER</a:t>
                </a:r>
              </a:p>
            </p:txBody>
          </p:sp>
          <p:sp>
            <p:nvSpPr>
              <p:cNvPr id="18" name="AutoShape 35"/>
              <p:cNvSpPr>
                <a:spLocks noChangeArrowheads="1"/>
              </p:cNvSpPr>
              <p:nvPr/>
            </p:nvSpPr>
            <p:spPr bwMode="auto">
              <a:xfrm>
                <a:off x="585454" y="2256394"/>
                <a:ext cx="691359" cy="418821"/>
              </a:xfrm>
              <a:prstGeom prst="rightArrow">
                <a:avLst>
                  <a:gd name="adj1" fmla="val 75009"/>
                  <a:gd name="adj2" fmla="val 47964"/>
                </a:avLst>
              </a:prstGeom>
              <a:solidFill>
                <a:srgbClr val="0070C0"/>
              </a:solidFill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 </a:t>
                </a:r>
                <a:r>
                  <a:rPr lang="es-ES_tradnl" sz="2000" dirty="0" err="1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beq</a:t>
                </a:r>
                <a:endParaRPr lang="es-ES_tradnl" sz="2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 Black" pitchFamily="-84" charset="0"/>
                  <a:ea typeface="+mn-ea"/>
                </a:endParaRPr>
              </a:p>
            </p:txBody>
          </p:sp>
          <p:sp>
            <p:nvSpPr>
              <p:cNvPr id="19" name="AutoShape 51"/>
              <p:cNvSpPr>
                <a:spLocks noChangeArrowheads="1"/>
              </p:cNvSpPr>
              <p:nvPr/>
            </p:nvSpPr>
            <p:spPr bwMode="auto">
              <a:xfrm>
                <a:off x="569761" y="2735455"/>
                <a:ext cx="691359" cy="418821"/>
              </a:xfrm>
              <a:prstGeom prst="rightArrow">
                <a:avLst>
                  <a:gd name="adj1" fmla="val 75009"/>
                  <a:gd name="adj2" fmla="val 47964"/>
                </a:avLst>
              </a:prstGeom>
              <a:solidFill>
                <a:srgbClr val="0070C0"/>
              </a:solidFill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 </a:t>
                </a:r>
                <a:r>
                  <a:rPr lang="es-ES_tradnl" sz="2000" dirty="0" err="1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lw</a:t>
                </a:r>
                <a:endParaRPr lang="es-ES_tradnl" sz="2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 Black" pitchFamily="-84" charset="0"/>
                  <a:ea typeface="+mn-ea"/>
                </a:endParaRPr>
              </a:p>
            </p:txBody>
          </p:sp>
          <p:sp>
            <p:nvSpPr>
              <p:cNvPr id="20" name="AutoShape 68"/>
              <p:cNvSpPr>
                <a:spLocks noChangeArrowheads="1"/>
              </p:cNvSpPr>
              <p:nvPr/>
            </p:nvSpPr>
            <p:spPr bwMode="auto">
              <a:xfrm>
                <a:off x="569761" y="3220205"/>
                <a:ext cx="691359" cy="418821"/>
              </a:xfrm>
              <a:prstGeom prst="rightArrow">
                <a:avLst>
                  <a:gd name="adj1" fmla="val 75009"/>
                  <a:gd name="adj2" fmla="val 47964"/>
                </a:avLst>
              </a:prstGeom>
              <a:solidFill>
                <a:srgbClr val="0070C0"/>
              </a:solidFill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  </a:t>
                </a:r>
                <a:r>
                  <a:rPr lang="es-ES_tradnl" sz="2000" dirty="0" err="1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add</a:t>
                </a:r>
                <a:endParaRPr lang="es-ES_tradnl" sz="2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 Black" pitchFamily="-84" charset="0"/>
                  <a:ea typeface="+mn-ea"/>
                </a:endParaRPr>
              </a:p>
            </p:txBody>
          </p:sp>
          <p:sp>
            <p:nvSpPr>
              <p:cNvPr id="21" name="AutoShape 86"/>
              <p:cNvSpPr>
                <a:spLocks noChangeArrowheads="1"/>
              </p:cNvSpPr>
              <p:nvPr/>
            </p:nvSpPr>
            <p:spPr bwMode="auto">
              <a:xfrm>
                <a:off x="550229" y="3756288"/>
                <a:ext cx="691359" cy="417707"/>
              </a:xfrm>
              <a:prstGeom prst="rightArrow">
                <a:avLst>
                  <a:gd name="adj1" fmla="val 75009"/>
                  <a:gd name="adj2" fmla="val 47964"/>
                </a:avLst>
              </a:prstGeom>
              <a:solidFill>
                <a:srgbClr val="0070C0"/>
              </a:solidFill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 </a:t>
                </a:r>
                <a:r>
                  <a:rPr lang="es-ES_tradnl" sz="2000" dirty="0" err="1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or</a:t>
                </a:r>
                <a:endParaRPr lang="es-ES_tradnl" sz="2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 Black" pitchFamily="-84" charset="0"/>
                  <a:ea typeface="+mn-ea"/>
                </a:endParaRPr>
              </a:p>
            </p:txBody>
          </p:sp>
          <p:sp>
            <p:nvSpPr>
              <p:cNvPr id="22" name="AutoShape 105"/>
              <p:cNvSpPr>
                <a:spLocks noChangeArrowheads="1"/>
              </p:cNvSpPr>
              <p:nvPr/>
            </p:nvSpPr>
            <p:spPr bwMode="auto">
              <a:xfrm>
                <a:off x="550229" y="4328979"/>
                <a:ext cx="691359" cy="417707"/>
              </a:xfrm>
              <a:prstGeom prst="rightArrow">
                <a:avLst>
                  <a:gd name="adj1" fmla="val 75009"/>
                  <a:gd name="adj2" fmla="val 47964"/>
                </a:avLst>
              </a:prstGeom>
              <a:solidFill>
                <a:srgbClr val="0070C0"/>
              </a:solidFill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 err="1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sw</a:t>
                </a:r>
                <a:endParaRPr lang="es-ES_tradnl" sz="2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 Black" pitchFamily="-84" charset="0"/>
                  <a:ea typeface="+mn-ea"/>
                </a:endParaRPr>
              </a:p>
            </p:txBody>
          </p:sp>
        </p:grpSp>
      </p:grpSp>
      <p:sp>
        <p:nvSpPr>
          <p:cNvPr id="49" name="48 Flecha abajo"/>
          <p:cNvSpPr/>
          <p:nvPr/>
        </p:nvSpPr>
        <p:spPr>
          <a:xfrm>
            <a:off x="4480043" y="4540424"/>
            <a:ext cx="510777" cy="685967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7340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Latencia de Salto</a:t>
            </a:r>
            <a:endParaRPr lang="ca-ES" dirty="0"/>
          </a:p>
        </p:txBody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803400"/>
            <a:ext cx="8586536" cy="4323080"/>
          </a:xfrm>
        </p:spPr>
        <p:txBody>
          <a:bodyPr/>
          <a:lstStyle/>
          <a:p>
            <a:pPr lvl="2"/>
            <a:r>
              <a:rPr lang="es-ES" sz="2000" dirty="0"/>
              <a:t>Número de ciclos desperdiciados en caso de que el salto se produzca</a:t>
            </a:r>
          </a:p>
          <a:p>
            <a:pPr lvl="2"/>
            <a:r>
              <a:rPr lang="es-ES" sz="2000" dirty="0"/>
              <a:t>Número de instrucciones “erróneas” en el procesador si el salto se produce</a:t>
            </a:r>
          </a:p>
          <a:p>
            <a:pPr lvl="2"/>
            <a:r>
              <a:rPr lang="es-ES" sz="2000" b="1" dirty="0">
                <a:solidFill>
                  <a:srgbClr val="FF0000"/>
                </a:solidFill>
              </a:rPr>
              <a:t>Latencia de salto </a:t>
            </a:r>
            <a:r>
              <a:rPr lang="es-ES" sz="2000" dirty="0"/>
              <a:t>= número de etapa en la que el salto es efectivo – </a:t>
            </a:r>
            <a:r>
              <a:rPr lang="es-ES" sz="2000" dirty="0">
                <a:latin typeface="Arial"/>
                <a:cs typeface="Arial"/>
              </a:rPr>
              <a:t>1</a:t>
            </a:r>
          </a:p>
          <a:p>
            <a:pPr lvl="2"/>
            <a:r>
              <a:rPr lang="es-ES" sz="2000" dirty="0"/>
              <a:t>En el caso anterior la </a:t>
            </a:r>
            <a:r>
              <a:rPr lang="es-ES" sz="2000" dirty="0">
                <a:solidFill>
                  <a:srgbClr val="FF0000"/>
                </a:solidFill>
              </a:rPr>
              <a:t>latencia de salto = 3</a:t>
            </a:r>
          </a:p>
          <a:p>
            <a:pPr lvl="2"/>
            <a:r>
              <a:rPr lang="es-ES" sz="2000" dirty="0"/>
              <a:t>Cuanto más temprana sea la etapa en que se actualiza el PC,  menor latencia y por tanto menor penalización</a:t>
            </a:r>
          </a:p>
          <a:p>
            <a:pPr lvl="2"/>
            <a:r>
              <a:rPr lang="es-ES" sz="2000" dirty="0"/>
              <a:t>Para reducir el conflicto, se puede modificar </a:t>
            </a:r>
            <a:r>
              <a:rPr lang="ca-ES" sz="2000" dirty="0"/>
              <a:t>el dise</a:t>
            </a:r>
            <a:r>
              <a:rPr lang="es-ES" sz="2000" dirty="0"/>
              <a:t>ño</a:t>
            </a:r>
            <a:r>
              <a:rPr lang="ca-ES" sz="2000" dirty="0"/>
              <a:t> de la ruta de da</a:t>
            </a:r>
            <a:r>
              <a:rPr lang="es-ES" sz="2000" dirty="0"/>
              <a:t>to</a:t>
            </a:r>
            <a:r>
              <a:rPr lang="ca-ES" sz="2000" dirty="0"/>
              <a:t>s </a:t>
            </a:r>
            <a:r>
              <a:rPr lang="es-ES" sz="2000" dirty="0"/>
              <a:t>y</a:t>
            </a:r>
            <a:r>
              <a:rPr lang="ca-ES" sz="2000" dirty="0"/>
              <a:t> avan</a:t>
            </a:r>
            <a:r>
              <a:rPr lang="es-ES" sz="2000" dirty="0"/>
              <a:t>z</a:t>
            </a:r>
            <a:r>
              <a:rPr lang="ca-ES" sz="2000" dirty="0"/>
              <a:t>a</a:t>
            </a:r>
            <a:r>
              <a:rPr lang="es-ES" sz="2000" dirty="0"/>
              <a:t>r</a:t>
            </a:r>
            <a:r>
              <a:rPr lang="ca-ES" sz="2000" dirty="0"/>
              <a:t> el moment</a:t>
            </a:r>
            <a:r>
              <a:rPr lang="es-ES" sz="2000" dirty="0"/>
              <a:t>o</a:t>
            </a:r>
            <a:r>
              <a:rPr lang="ca-ES" sz="2000" dirty="0"/>
              <a:t> de l</a:t>
            </a:r>
            <a:r>
              <a:rPr lang="es-ES" sz="2000" dirty="0"/>
              <a:t>a </a:t>
            </a:r>
            <a:r>
              <a:rPr lang="ca-ES" sz="2000" dirty="0"/>
              <a:t>escritura del PC.  Ver </a:t>
            </a:r>
            <a:r>
              <a:rPr lang="ca-ES" sz="2000" dirty="0" err="1"/>
              <a:t>siguiente</a:t>
            </a:r>
            <a:r>
              <a:rPr lang="ca-ES" sz="2000" dirty="0"/>
              <a:t> transparència: salto con latència = 2</a:t>
            </a:r>
          </a:p>
          <a:p>
            <a:pPr lvl="1"/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27266886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1B9F3-2C80-2F5F-6F0D-8E994C8C1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" name="Conector recto 217">
            <a:extLst>
              <a:ext uri="{FF2B5EF4-FFF2-40B4-BE49-F238E27FC236}">
                <a16:creationId xmlns:a16="http://schemas.microsoft.com/office/drawing/2014/main" id="{4BE1FC5E-A062-B7C9-79FD-277CA54AD521}"/>
              </a:ext>
            </a:extLst>
          </p:cNvPr>
          <p:cNvCxnSpPr/>
          <p:nvPr/>
        </p:nvCxnSpPr>
        <p:spPr bwMode="auto">
          <a:xfrm>
            <a:off x="2430801" y="2722496"/>
            <a:ext cx="2057399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E29008E-CCD4-1E9E-CF9C-E423F3D5E287}"/>
              </a:ext>
            </a:extLst>
          </p:cNvPr>
          <p:cNvCxnSpPr/>
          <p:nvPr/>
        </p:nvCxnSpPr>
        <p:spPr bwMode="auto">
          <a:xfrm>
            <a:off x="2620507" y="3503612"/>
            <a:ext cx="609600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9" name="Conector recto 198">
            <a:extLst>
              <a:ext uri="{FF2B5EF4-FFF2-40B4-BE49-F238E27FC236}">
                <a16:creationId xmlns:a16="http://schemas.microsoft.com/office/drawing/2014/main" id="{F67EC4E2-E02D-7AE4-D0F2-E537FE0C8473}"/>
              </a:ext>
            </a:extLst>
          </p:cNvPr>
          <p:cNvCxnSpPr>
            <a:cxnSpLocks/>
          </p:cNvCxnSpPr>
          <p:nvPr/>
        </p:nvCxnSpPr>
        <p:spPr bwMode="auto">
          <a:xfrm>
            <a:off x="2569725" y="6292868"/>
            <a:ext cx="191688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DC07364F-B069-6FCB-193A-2734DC741C92}"/>
              </a:ext>
            </a:extLst>
          </p:cNvPr>
          <p:cNvSpPr/>
          <p:nvPr/>
        </p:nvSpPr>
        <p:spPr bwMode="auto">
          <a:xfrm>
            <a:off x="957603" y="4307947"/>
            <a:ext cx="838200" cy="3048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7AFD4EA-2035-C7B9-1ACF-B31FC2D5D673}"/>
              </a:ext>
            </a:extLst>
          </p:cNvPr>
          <p:cNvSpPr/>
          <p:nvPr/>
        </p:nvSpPr>
        <p:spPr bwMode="auto">
          <a:xfrm>
            <a:off x="957603" y="4993747"/>
            <a:ext cx="838200" cy="990600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900" dirty="0">
                <a:solidFill>
                  <a:srgbClr val="000000"/>
                </a:solidFill>
              </a:rPr>
              <a:t>Memoria de</a:t>
            </a:r>
          </a:p>
          <a:p>
            <a:pPr algn="l"/>
            <a:r>
              <a:rPr lang="es-ES_tradnl" sz="900" dirty="0">
                <a:solidFill>
                  <a:srgbClr val="000000"/>
                </a:solidFill>
              </a:rPr>
              <a:t>Instrucciones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89331C8D-1D0D-7D1E-02AC-7FF1564D566F}"/>
              </a:ext>
            </a:extLst>
          </p:cNvPr>
          <p:cNvCxnSpPr>
            <a:stCxn id="7" idx="2"/>
            <a:endCxn id="8" idx="0"/>
          </p:cNvCxnSpPr>
          <p:nvPr/>
        </p:nvCxnSpPr>
        <p:spPr bwMode="auto">
          <a:xfrm rot="5400000">
            <a:off x="1186203" y="4803247"/>
            <a:ext cx="381000" cy="1588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Freeform 42">
            <a:extLst>
              <a:ext uri="{FF2B5EF4-FFF2-40B4-BE49-F238E27FC236}">
                <a16:creationId xmlns:a16="http://schemas.microsoft.com/office/drawing/2014/main" id="{E49E01B1-565D-0BEE-44C7-A64C8D4551CF}"/>
              </a:ext>
            </a:extLst>
          </p:cNvPr>
          <p:cNvSpPr>
            <a:spLocks/>
          </p:cNvSpPr>
          <p:nvPr/>
        </p:nvSpPr>
        <p:spPr bwMode="blackWhite">
          <a:xfrm rot="5400000">
            <a:off x="1046496" y="2822048"/>
            <a:ext cx="381000" cy="762000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t" anchorCtr="0">
            <a:prstTxWarp prst="textNoShape">
              <a:avLst/>
            </a:prstTxWarp>
            <a:flatTx/>
          </a:bodyPr>
          <a:lstStyle/>
          <a:p>
            <a:r>
              <a:rPr lang="es-ES_tradnl"/>
              <a:t>+</a:t>
            </a:r>
          </a:p>
        </p:txBody>
      </p:sp>
      <p:cxnSp>
        <p:nvCxnSpPr>
          <p:cNvPr id="11" name="Conector angular 10">
            <a:extLst>
              <a:ext uri="{FF2B5EF4-FFF2-40B4-BE49-F238E27FC236}">
                <a16:creationId xmlns:a16="http://schemas.microsoft.com/office/drawing/2014/main" id="{0068B384-150B-6CAC-D6FF-6F84F7C87746}"/>
              </a:ext>
            </a:extLst>
          </p:cNvPr>
          <p:cNvCxnSpPr/>
          <p:nvPr/>
        </p:nvCxnSpPr>
        <p:spPr bwMode="auto">
          <a:xfrm rot="16200000" flipH="1">
            <a:off x="733233" y="2686578"/>
            <a:ext cx="347134" cy="304801"/>
          </a:xfrm>
          <a:prstGeom prst="bentConnector3">
            <a:avLst>
              <a:gd name="adj1" fmla="val -1490"/>
            </a:avLst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D7B77859-FF3D-68E0-3412-9E50E1287A7C}"/>
              </a:ext>
            </a:extLst>
          </p:cNvPr>
          <p:cNvCxnSpPr/>
          <p:nvPr/>
        </p:nvCxnSpPr>
        <p:spPr bwMode="auto">
          <a:xfrm rot="16200000" flipH="1">
            <a:off x="1279330" y="2817814"/>
            <a:ext cx="381000" cy="8467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7D1140B-F888-A801-4ECE-574211667700}"/>
              </a:ext>
            </a:extLst>
          </p:cNvPr>
          <p:cNvSpPr txBox="1"/>
          <p:nvPr/>
        </p:nvSpPr>
        <p:spPr>
          <a:xfrm>
            <a:off x="1409681" y="2326747"/>
            <a:ext cx="284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2C3CC51A-E7E7-0034-D714-867ECD11246D}"/>
              </a:ext>
            </a:extLst>
          </p:cNvPr>
          <p:cNvCxnSpPr>
            <a:cxnSpLocks/>
          </p:cNvCxnSpPr>
          <p:nvPr/>
        </p:nvCxnSpPr>
        <p:spPr bwMode="auto">
          <a:xfrm>
            <a:off x="2430801" y="5496808"/>
            <a:ext cx="176492" cy="0"/>
          </a:xfrm>
          <a:prstGeom prst="line">
            <a:avLst/>
          </a:prstGeom>
          <a:ln w="38100" cmpd="sng">
            <a:solidFill>
              <a:srgbClr val="2669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C815E2F-1F70-A3FF-7D22-4CE53910A4EF}"/>
              </a:ext>
            </a:extLst>
          </p:cNvPr>
          <p:cNvSpPr txBox="1"/>
          <p:nvPr/>
        </p:nvSpPr>
        <p:spPr>
          <a:xfrm rot="16200000">
            <a:off x="1615901" y="1653100"/>
            <a:ext cx="53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PCin</a:t>
            </a:r>
            <a:endParaRPr lang="es-ES_tradnl" sz="1200" b="1" dirty="0">
              <a:solidFill>
                <a:srgbClr val="FF6600"/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050A3F6A-05E3-A27B-E804-D29ED696A686}"/>
              </a:ext>
            </a:extLst>
          </p:cNvPr>
          <p:cNvSpPr txBox="1"/>
          <p:nvPr/>
        </p:nvSpPr>
        <p:spPr>
          <a:xfrm>
            <a:off x="2544307" y="3254787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i="1" dirty="0">
                <a:solidFill>
                  <a:schemeClr val="accent1">
                    <a:lumMod val="75000"/>
                  </a:schemeClr>
                </a:solidFill>
              </a:rPr>
              <a:t>19..15(rs1)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1A90088-F225-5116-2657-91593EEFA69F}"/>
              </a:ext>
            </a:extLst>
          </p:cNvPr>
          <p:cNvSpPr txBox="1"/>
          <p:nvPr/>
        </p:nvSpPr>
        <p:spPr>
          <a:xfrm>
            <a:off x="2544307" y="3645024"/>
            <a:ext cx="782587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ES_tradnl" sz="1000" i="1" dirty="0">
                <a:solidFill>
                  <a:schemeClr val="accent1">
                    <a:lumMod val="75000"/>
                  </a:schemeClr>
                </a:solidFill>
              </a:rPr>
              <a:t>24..20(rs2)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34DDD51F-AC9D-BDA6-A722-23A8E3D24306}"/>
              </a:ext>
            </a:extLst>
          </p:cNvPr>
          <p:cNvSpPr/>
          <p:nvPr/>
        </p:nvSpPr>
        <p:spPr bwMode="auto">
          <a:xfrm>
            <a:off x="3230107" y="4841346"/>
            <a:ext cx="1060916" cy="598687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rgbClr val="000000"/>
                </a:solidFill>
              </a:rPr>
              <a:t>Generador de Inmediatos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F9B1789B-92EF-557A-741C-6CED691D5064}"/>
              </a:ext>
            </a:extLst>
          </p:cNvPr>
          <p:cNvCxnSpPr>
            <a:cxnSpLocks/>
            <a:endCxn id="32" idx="1"/>
          </p:cNvCxnSpPr>
          <p:nvPr/>
        </p:nvCxnSpPr>
        <p:spPr bwMode="auto">
          <a:xfrm flipV="1">
            <a:off x="2626107" y="5140690"/>
            <a:ext cx="604000" cy="1121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513CF62-B03E-6E29-E566-3DABBF1A6097}"/>
              </a:ext>
            </a:extLst>
          </p:cNvPr>
          <p:cNvSpPr txBox="1"/>
          <p:nvPr/>
        </p:nvSpPr>
        <p:spPr>
          <a:xfrm>
            <a:off x="2788515" y="5180543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31..0</a:t>
            </a:r>
          </a:p>
        </p:txBody>
      </p:sp>
      <p:sp>
        <p:nvSpPr>
          <p:cNvPr id="37" name="Freeform 42">
            <a:extLst>
              <a:ext uri="{FF2B5EF4-FFF2-40B4-BE49-F238E27FC236}">
                <a16:creationId xmlns:a16="http://schemas.microsoft.com/office/drawing/2014/main" id="{142559C7-E37A-C350-CB00-76478DB03006}"/>
              </a:ext>
            </a:extLst>
          </p:cNvPr>
          <p:cNvSpPr>
            <a:spLocks/>
          </p:cNvSpPr>
          <p:nvPr/>
        </p:nvSpPr>
        <p:spPr bwMode="blackWhite">
          <a:xfrm>
            <a:off x="5782807" y="3275012"/>
            <a:ext cx="495300" cy="1028700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r>
              <a:rPr lang="es-ES_tradnl" sz="1200" dirty="0"/>
              <a:t>ALU</a:t>
            </a:r>
            <a:endParaRPr lang="es-ES_tradnl" sz="1800" dirty="0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CB14C672-9442-381C-1FA9-110AF3F172C3}"/>
              </a:ext>
            </a:extLst>
          </p:cNvPr>
          <p:cNvSpPr/>
          <p:nvPr/>
        </p:nvSpPr>
        <p:spPr bwMode="auto">
          <a:xfrm>
            <a:off x="7002800" y="4265612"/>
            <a:ext cx="782039" cy="990600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dirty="0">
                <a:solidFill>
                  <a:srgbClr val="000000"/>
                </a:solidFill>
              </a:rPr>
              <a:t>Memoria de datos</a:t>
            </a:r>
          </a:p>
        </p:txBody>
      </p: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4A40F13D-B52E-E64C-8629-35336670C707}"/>
              </a:ext>
            </a:extLst>
          </p:cNvPr>
          <p:cNvCxnSpPr>
            <a:cxnSpLocks/>
            <a:stCxn id="148" idx="2"/>
            <a:endCxn id="43" idx="0"/>
          </p:cNvCxnSpPr>
          <p:nvPr/>
        </p:nvCxnSpPr>
        <p:spPr bwMode="auto">
          <a:xfrm>
            <a:off x="7383799" y="3770311"/>
            <a:ext cx="10021" cy="495301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8" name="Rectángulo 47">
            <a:extLst>
              <a:ext uri="{FF2B5EF4-FFF2-40B4-BE49-F238E27FC236}">
                <a16:creationId xmlns:a16="http://schemas.microsoft.com/office/drawing/2014/main" id="{71009699-2DF6-A47C-7847-8D8F66C20F89}"/>
              </a:ext>
            </a:extLst>
          </p:cNvPr>
          <p:cNvSpPr/>
          <p:nvPr/>
        </p:nvSpPr>
        <p:spPr bwMode="auto">
          <a:xfrm rot="16200000">
            <a:off x="8395567" y="4134379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EAA01783-5BED-D2BC-0BEF-F89A7E8BCC7A}"/>
              </a:ext>
            </a:extLst>
          </p:cNvPr>
          <p:cNvCxnSpPr/>
          <p:nvPr/>
        </p:nvCxnSpPr>
        <p:spPr bwMode="auto">
          <a:xfrm>
            <a:off x="7764800" y="4949824"/>
            <a:ext cx="228600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A662F675-58C8-BE10-3D76-9E6F6C8F5162}"/>
              </a:ext>
            </a:extLst>
          </p:cNvPr>
          <p:cNvCxnSpPr>
            <a:cxnSpLocks/>
          </p:cNvCxnSpPr>
          <p:nvPr/>
        </p:nvCxnSpPr>
        <p:spPr bwMode="auto">
          <a:xfrm>
            <a:off x="8983206" y="4229100"/>
            <a:ext cx="0" cy="234950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876E7A3F-FEB4-7AE2-BA33-0D747AEEE339}"/>
              </a:ext>
            </a:extLst>
          </p:cNvPr>
          <p:cNvCxnSpPr>
            <a:cxnSpLocks/>
          </p:cNvCxnSpPr>
          <p:nvPr/>
        </p:nvCxnSpPr>
        <p:spPr bwMode="auto">
          <a:xfrm>
            <a:off x="2772907" y="6554788"/>
            <a:ext cx="6192279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358E95C6-A695-E221-5333-18C230BD3ACA}"/>
              </a:ext>
            </a:extLst>
          </p:cNvPr>
          <p:cNvCxnSpPr>
            <a:cxnSpLocks/>
          </p:cNvCxnSpPr>
          <p:nvPr/>
        </p:nvCxnSpPr>
        <p:spPr bwMode="auto">
          <a:xfrm flipV="1">
            <a:off x="2772907" y="4190206"/>
            <a:ext cx="794" cy="2385219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1E41714E-4067-7351-B059-8CC32D4065D5}"/>
              </a:ext>
            </a:extLst>
          </p:cNvPr>
          <p:cNvCxnSpPr>
            <a:cxnSpLocks/>
          </p:cNvCxnSpPr>
          <p:nvPr/>
        </p:nvCxnSpPr>
        <p:spPr bwMode="auto">
          <a:xfrm>
            <a:off x="2766557" y="4191000"/>
            <a:ext cx="45720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4BD60D6E-286D-2978-2ADA-C8B7798B7AFB}"/>
              </a:ext>
            </a:extLst>
          </p:cNvPr>
          <p:cNvCxnSpPr/>
          <p:nvPr/>
        </p:nvCxnSpPr>
        <p:spPr bwMode="auto">
          <a:xfrm>
            <a:off x="2849107" y="6475412"/>
            <a:ext cx="5753893" cy="1588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B821A54F-E127-46D9-5407-73884A60EA5B}"/>
              </a:ext>
            </a:extLst>
          </p:cNvPr>
          <p:cNvCxnSpPr>
            <a:cxnSpLocks/>
          </p:cNvCxnSpPr>
          <p:nvPr/>
        </p:nvCxnSpPr>
        <p:spPr bwMode="auto">
          <a:xfrm flipV="1">
            <a:off x="2849107" y="4418806"/>
            <a:ext cx="794" cy="2056606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2" name="CuadroTexto 61">
            <a:extLst>
              <a:ext uri="{FF2B5EF4-FFF2-40B4-BE49-F238E27FC236}">
                <a16:creationId xmlns:a16="http://schemas.microsoft.com/office/drawing/2014/main" id="{3CFC615F-2569-D3C6-CCC0-F4592277FC38}"/>
              </a:ext>
            </a:extLst>
          </p:cNvPr>
          <p:cNvSpPr txBox="1"/>
          <p:nvPr/>
        </p:nvSpPr>
        <p:spPr>
          <a:xfrm rot="16200000">
            <a:off x="8558929" y="5114873"/>
            <a:ext cx="5885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>
                <a:solidFill>
                  <a:schemeClr val="accent1">
                    <a:lumMod val="75000"/>
                  </a:schemeClr>
                </a:solidFill>
              </a:rPr>
              <a:t>Datos</a:t>
            </a:r>
          </a:p>
        </p:txBody>
      </p: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FFF26788-0458-9F1A-1DF9-D1A5E27068C6}"/>
              </a:ext>
            </a:extLst>
          </p:cNvPr>
          <p:cNvCxnSpPr>
            <a:cxnSpLocks/>
            <a:endCxn id="221" idx="2"/>
          </p:cNvCxnSpPr>
          <p:nvPr/>
        </p:nvCxnSpPr>
        <p:spPr bwMode="auto">
          <a:xfrm flipV="1">
            <a:off x="2592286" y="3540124"/>
            <a:ext cx="4553" cy="2740044"/>
          </a:xfrm>
          <a:prstGeom prst="line">
            <a:avLst/>
          </a:prstGeom>
          <a:ln w="38100" cmpd="sng">
            <a:solidFill>
              <a:srgbClr val="2669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99047D36-5D4F-D939-CB3B-504CF0C8941B}"/>
              </a:ext>
            </a:extLst>
          </p:cNvPr>
          <p:cNvCxnSpPr/>
          <p:nvPr/>
        </p:nvCxnSpPr>
        <p:spPr bwMode="auto">
          <a:xfrm flipV="1">
            <a:off x="1897400" y="2741612"/>
            <a:ext cx="228601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0" name="Rectángulo 79">
            <a:extLst>
              <a:ext uri="{FF2B5EF4-FFF2-40B4-BE49-F238E27FC236}">
                <a16:creationId xmlns:a16="http://schemas.microsoft.com/office/drawing/2014/main" id="{8051552E-7DC1-B22F-3A65-1C2B707788C4}"/>
              </a:ext>
            </a:extLst>
          </p:cNvPr>
          <p:cNvSpPr/>
          <p:nvPr/>
        </p:nvSpPr>
        <p:spPr bwMode="auto">
          <a:xfrm>
            <a:off x="1152999" y="3698347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84" name="Conector recto 83">
            <a:extLst>
              <a:ext uri="{FF2B5EF4-FFF2-40B4-BE49-F238E27FC236}">
                <a16:creationId xmlns:a16="http://schemas.microsoft.com/office/drawing/2014/main" id="{F5E6A4A2-28CB-6342-3EE8-1AD9B27C9EAE}"/>
              </a:ext>
            </a:extLst>
          </p:cNvPr>
          <p:cNvCxnSpPr>
            <a:cxnSpLocks/>
          </p:cNvCxnSpPr>
          <p:nvPr/>
        </p:nvCxnSpPr>
        <p:spPr bwMode="auto">
          <a:xfrm flipH="1">
            <a:off x="1721997" y="219075"/>
            <a:ext cx="23003" cy="3463239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7" name="Conector recto 86">
            <a:extLst>
              <a:ext uri="{FF2B5EF4-FFF2-40B4-BE49-F238E27FC236}">
                <a16:creationId xmlns:a16="http://schemas.microsoft.com/office/drawing/2014/main" id="{F98B6DF9-2475-60ED-4B78-64CEDC6B2932}"/>
              </a:ext>
            </a:extLst>
          </p:cNvPr>
          <p:cNvCxnSpPr>
            <a:cxnSpLocks/>
            <a:endCxn id="80" idx="1"/>
          </p:cNvCxnSpPr>
          <p:nvPr/>
        </p:nvCxnSpPr>
        <p:spPr bwMode="auto">
          <a:xfrm>
            <a:off x="623450" y="3812647"/>
            <a:ext cx="529549" cy="0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Conector recto de flecha 87">
            <a:extLst>
              <a:ext uri="{FF2B5EF4-FFF2-40B4-BE49-F238E27FC236}">
                <a16:creationId xmlns:a16="http://schemas.microsoft.com/office/drawing/2014/main" id="{1EF37216-66F2-6BB2-831A-11C85A691C08}"/>
              </a:ext>
            </a:extLst>
          </p:cNvPr>
          <p:cNvCxnSpPr/>
          <p:nvPr/>
        </p:nvCxnSpPr>
        <p:spPr bwMode="auto">
          <a:xfrm rot="16200000" flipH="1">
            <a:off x="1093069" y="3545947"/>
            <a:ext cx="304802" cy="2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F139180B-691F-6C70-8712-168782ED1083}"/>
              </a:ext>
            </a:extLst>
          </p:cNvPr>
          <p:cNvCxnSpPr/>
          <p:nvPr/>
        </p:nvCxnSpPr>
        <p:spPr bwMode="auto">
          <a:xfrm rot="5400000">
            <a:off x="1188318" y="4115332"/>
            <a:ext cx="381000" cy="4230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0" name="CuadroTexto 89">
            <a:extLst>
              <a:ext uri="{FF2B5EF4-FFF2-40B4-BE49-F238E27FC236}">
                <a16:creationId xmlns:a16="http://schemas.microsoft.com/office/drawing/2014/main" id="{9B0E131F-521D-7373-FBDD-7D2F34703715}"/>
              </a:ext>
            </a:extLst>
          </p:cNvPr>
          <p:cNvSpPr txBox="1"/>
          <p:nvPr/>
        </p:nvSpPr>
        <p:spPr>
          <a:xfrm rot="16200000">
            <a:off x="487760" y="2071021"/>
            <a:ext cx="612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>
                <a:solidFill>
                  <a:srgbClr val="FF6600"/>
                </a:solidFill>
              </a:rPr>
              <a:t>MxPC</a:t>
            </a:r>
          </a:p>
        </p:txBody>
      </p:sp>
      <p:sp>
        <p:nvSpPr>
          <p:cNvPr id="92" name="Rectángulo 91">
            <a:extLst>
              <a:ext uri="{FF2B5EF4-FFF2-40B4-BE49-F238E27FC236}">
                <a16:creationId xmlns:a16="http://schemas.microsoft.com/office/drawing/2014/main" id="{D1ACD039-FFE4-A2A2-C75C-8F8D730FAF00}"/>
              </a:ext>
            </a:extLst>
          </p:cNvPr>
          <p:cNvSpPr/>
          <p:nvPr/>
        </p:nvSpPr>
        <p:spPr bwMode="auto">
          <a:xfrm>
            <a:off x="2126001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3" name="Rectángulo 92">
            <a:extLst>
              <a:ext uri="{FF2B5EF4-FFF2-40B4-BE49-F238E27FC236}">
                <a16:creationId xmlns:a16="http://schemas.microsoft.com/office/drawing/2014/main" id="{1930444F-959F-27DB-F39E-12A5B90C75CA}"/>
              </a:ext>
            </a:extLst>
          </p:cNvPr>
          <p:cNvSpPr/>
          <p:nvPr/>
        </p:nvSpPr>
        <p:spPr bwMode="auto">
          <a:xfrm rot="16200000">
            <a:off x="1907279" y="5390270"/>
            <a:ext cx="7620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RI</a:t>
            </a:r>
          </a:p>
        </p:txBody>
      </p:sp>
      <p:sp>
        <p:nvSpPr>
          <p:cNvPr id="95" name="Rectángulo 94">
            <a:extLst>
              <a:ext uri="{FF2B5EF4-FFF2-40B4-BE49-F238E27FC236}">
                <a16:creationId xmlns:a16="http://schemas.microsoft.com/office/drawing/2014/main" id="{AA7D1636-A87E-4F88-21C5-17C6A829EE2D}"/>
              </a:ext>
            </a:extLst>
          </p:cNvPr>
          <p:cNvSpPr/>
          <p:nvPr/>
        </p:nvSpPr>
        <p:spPr bwMode="auto">
          <a:xfrm>
            <a:off x="4488201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6" name="Rectángulo 95">
            <a:extLst>
              <a:ext uri="{FF2B5EF4-FFF2-40B4-BE49-F238E27FC236}">
                <a16:creationId xmlns:a16="http://schemas.microsoft.com/office/drawing/2014/main" id="{F06B1C8A-E334-A383-747C-6075D221A087}"/>
              </a:ext>
            </a:extLst>
          </p:cNvPr>
          <p:cNvSpPr/>
          <p:nvPr/>
        </p:nvSpPr>
        <p:spPr bwMode="auto">
          <a:xfrm rot="16200000">
            <a:off x="4406353" y="3385080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S</a:t>
            </a:r>
          </a:p>
        </p:txBody>
      </p:sp>
      <p:sp>
        <p:nvSpPr>
          <p:cNvPr id="97" name="Rectángulo 96">
            <a:extLst>
              <a:ext uri="{FF2B5EF4-FFF2-40B4-BE49-F238E27FC236}">
                <a16:creationId xmlns:a16="http://schemas.microsoft.com/office/drawing/2014/main" id="{61C9D49C-F99E-F4CC-5E7C-8A66312F2C23}"/>
              </a:ext>
            </a:extLst>
          </p:cNvPr>
          <p:cNvSpPr/>
          <p:nvPr/>
        </p:nvSpPr>
        <p:spPr bwMode="auto">
          <a:xfrm rot="16200000">
            <a:off x="4406354" y="3936350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T</a:t>
            </a:r>
          </a:p>
        </p:txBody>
      </p:sp>
      <p:sp>
        <p:nvSpPr>
          <p:cNvPr id="98" name="Rectángulo 97">
            <a:extLst>
              <a:ext uri="{FF2B5EF4-FFF2-40B4-BE49-F238E27FC236}">
                <a16:creationId xmlns:a16="http://schemas.microsoft.com/office/drawing/2014/main" id="{91BD621B-6F40-71E5-E339-BF96CE9A4E47}"/>
              </a:ext>
            </a:extLst>
          </p:cNvPr>
          <p:cNvSpPr/>
          <p:nvPr/>
        </p:nvSpPr>
        <p:spPr bwMode="auto">
          <a:xfrm rot="16200000">
            <a:off x="4407298" y="4431386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K</a:t>
            </a:r>
          </a:p>
        </p:txBody>
      </p:sp>
      <p:sp>
        <p:nvSpPr>
          <p:cNvPr id="101" name="Rectángulo 100">
            <a:extLst>
              <a:ext uri="{FF2B5EF4-FFF2-40B4-BE49-F238E27FC236}">
                <a16:creationId xmlns:a16="http://schemas.microsoft.com/office/drawing/2014/main" id="{DF51F046-9F7C-EB5C-FC0E-6F35208AD182}"/>
              </a:ext>
            </a:extLst>
          </p:cNvPr>
          <p:cNvSpPr/>
          <p:nvPr/>
        </p:nvSpPr>
        <p:spPr bwMode="auto">
          <a:xfrm>
            <a:off x="6469400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2" name="Rectángulo 101">
            <a:extLst>
              <a:ext uri="{FF2B5EF4-FFF2-40B4-BE49-F238E27FC236}">
                <a16:creationId xmlns:a16="http://schemas.microsoft.com/office/drawing/2014/main" id="{4A452CE3-4911-AFAB-6A94-03E8E186B54F}"/>
              </a:ext>
            </a:extLst>
          </p:cNvPr>
          <p:cNvSpPr/>
          <p:nvPr/>
        </p:nvSpPr>
        <p:spPr bwMode="auto">
          <a:xfrm>
            <a:off x="7993400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A595B5F3-9401-B1E6-C8F8-3D920AA8FEED}"/>
              </a:ext>
            </a:extLst>
          </p:cNvPr>
          <p:cNvSpPr/>
          <p:nvPr/>
        </p:nvSpPr>
        <p:spPr bwMode="auto">
          <a:xfrm rot="16200000">
            <a:off x="6174479" y="36179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ALUout</a:t>
            </a:r>
          </a:p>
        </p:txBody>
      </p:sp>
      <p:sp>
        <p:nvSpPr>
          <p:cNvPr id="104" name="Rectángulo 103">
            <a:extLst>
              <a:ext uri="{FF2B5EF4-FFF2-40B4-BE49-F238E27FC236}">
                <a16:creationId xmlns:a16="http://schemas.microsoft.com/office/drawing/2014/main" id="{A827F48E-6483-7FF8-5176-E08D4A784E5B}"/>
              </a:ext>
            </a:extLst>
          </p:cNvPr>
          <p:cNvSpPr/>
          <p:nvPr/>
        </p:nvSpPr>
        <p:spPr bwMode="auto">
          <a:xfrm rot="16200000">
            <a:off x="7698479" y="36179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ALUout</a:t>
            </a:r>
          </a:p>
        </p:txBody>
      </p:sp>
      <p:sp>
        <p:nvSpPr>
          <p:cNvPr id="107" name="Rectángulo 106">
            <a:extLst>
              <a:ext uri="{FF2B5EF4-FFF2-40B4-BE49-F238E27FC236}">
                <a16:creationId xmlns:a16="http://schemas.microsoft.com/office/drawing/2014/main" id="{EB4D9B6F-CBED-8379-7C41-413CA12D245D}"/>
              </a:ext>
            </a:extLst>
          </p:cNvPr>
          <p:cNvSpPr/>
          <p:nvPr/>
        </p:nvSpPr>
        <p:spPr bwMode="auto">
          <a:xfrm rot="16200000">
            <a:off x="7698479" y="48371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 err="1">
                <a:solidFill>
                  <a:srgbClr val="000000"/>
                </a:solidFill>
              </a:rPr>
              <a:t>MEMout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108" name="Rectángulo 107">
            <a:extLst>
              <a:ext uri="{FF2B5EF4-FFF2-40B4-BE49-F238E27FC236}">
                <a16:creationId xmlns:a16="http://schemas.microsoft.com/office/drawing/2014/main" id="{AA0D527D-AC12-5258-7BF9-1213F6046A0D}"/>
              </a:ext>
            </a:extLst>
          </p:cNvPr>
          <p:cNvSpPr/>
          <p:nvPr/>
        </p:nvSpPr>
        <p:spPr bwMode="auto">
          <a:xfrm rot="16200000">
            <a:off x="6406518" y="4863434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T</a:t>
            </a:r>
          </a:p>
        </p:txBody>
      </p:sp>
      <p:cxnSp>
        <p:nvCxnSpPr>
          <p:cNvPr id="120" name="Conector recto 119">
            <a:extLst>
              <a:ext uri="{FF2B5EF4-FFF2-40B4-BE49-F238E27FC236}">
                <a16:creationId xmlns:a16="http://schemas.microsoft.com/office/drawing/2014/main" id="{9B523E4C-3C89-54E6-CCE4-4C994A8A010F}"/>
              </a:ext>
            </a:extLst>
          </p:cNvPr>
          <p:cNvCxnSpPr/>
          <p:nvPr/>
        </p:nvCxnSpPr>
        <p:spPr bwMode="auto">
          <a:xfrm>
            <a:off x="8374400" y="4037012"/>
            <a:ext cx="228600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Conector recto 120">
            <a:extLst>
              <a:ext uri="{FF2B5EF4-FFF2-40B4-BE49-F238E27FC236}">
                <a16:creationId xmlns:a16="http://schemas.microsoft.com/office/drawing/2014/main" id="{D02518DC-52B1-601C-6494-EF17DCA835C3}"/>
              </a:ext>
            </a:extLst>
          </p:cNvPr>
          <p:cNvCxnSpPr>
            <a:cxnSpLocks/>
          </p:cNvCxnSpPr>
          <p:nvPr/>
        </p:nvCxnSpPr>
        <p:spPr bwMode="auto">
          <a:xfrm>
            <a:off x="8373606" y="4494211"/>
            <a:ext cx="229394" cy="1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2" name="Conector recto 121">
            <a:extLst>
              <a:ext uri="{FF2B5EF4-FFF2-40B4-BE49-F238E27FC236}">
                <a16:creationId xmlns:a16="http://schemas.microsoft.com/office/drawing/2014/main" id="{0308B2F2-7178-4A96-D567-F088036F8EB6}"/>
              </a:ext>
            </a:extLst>
          </p:cNvPr>
          <p:cNvCxnSpPr>
            <a:cxnSpLocks/>
          </p:cNvCxnSpPr>
          <p:nvPr/>
        </p:nvCxnSpPr>
        <p:spPr bwMode="auto">
          <a:xfrm flipV="1">
            <a:off x="8373609" y="3711167"/>
            <a:ext cx="0" cy="346483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Conector recto 122">
            <a:extLst>
              <a:ext uri="{FF2B5EF4-FFF2-40B4-BE49-F238E27FC236}">
                <a16:creationId xmlns:a16="http://schemas.microsoft.com/office/drawing/2014/main" id="{214F530A-48B0-C1DB-1AFC-ACD76C7FF61C}"/>
              </a:ext>
            </a:extLst>
          </p:cNvPr>
          <p:cNvCxnSpPr>
            <a:cxnSpLocks/>
          </p:cNvCxnSpPr>
          <p:nvPr/>
        </p:nvCxnSpPr>
        <p:spPr bwMode="auto">
          <a:xfrm flipV="1">
            <a:off x="8373606" y="4479925"/>
            <a:ext cx="0" cy="476248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5" name="Conector recto 124">
            <a:extLst>
              <a:ext uri="{FF2B5EF4-FFF2-40B4-BE49-F238E27FC236}">
                <a16:creationId xmlns:a16="http://schemas.microsoft.com/office/drawing/2014/main" id="{76FC91B6-405C-0769-9104-EF716BE32FB4}"/>
              </a:ext>
            </a:extLst>
          </p:cNvPr>
          <p:cNvCxnSpPr/>
          <p:nvPr/>
        </p:nvCxnSpPr>
        <p:spPr bwMode="auto">
          <a:xfrm rot="10800000">
            <a:off x="8298200" y="3732212"/>
            <a:ext cx="76200" cy="1588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9" name="Conector recto 128">
            <a:extLst>
              <a:ext uri="{FF2B5EF4-FFF2-40B4-BE49-F238E27FC236}">
                <a16:creationId xmlns:a16="http://schemas.microsoft.com/office/drawing/2014/main" id="{CCFDFE31-6CAF-67AE-390E-530F7DC5DCD4}"/>
              </a:ext>
            </a:extLst>
          </p:cNvPr>
          <p:cNvCxnSpPr/>
          <p:nvPr/>
        </p:nvCxnSpPr>
        <p:spPr bwMode="auto">
          <a:xfrm>
            <a:off x="6287835" y="3789039"/>
            <a:ext cx="190027" cy="1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0" name="CuadroTexto 129">
            <a:extLst>
              <a:ext uri="{FF2B5EF4-FFF2-40B4-BE49-F238E27FC236}">
                <a16:creationId xmlns:a16="http://schemas.microsoft.com/office/drawing/2014/main" id="{10C3DA92-09AB-FABC-7DA5-4994E57C46A3}"/>
              </a:ext>
            </a:extLst>
          </p:cNvPr>
          <p:cNvSpPr txBox="1"/>
          <p:nvPr/>
        </p:nvSpPr>
        <p:spPr>
          <a:xfrm rot="16200000">
            <a:off x="1992834" y="604691"/>
            <a:ext cx="562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LI/DI</a:t>
            </a:r>
          </a:p>
        </p:txBody>
      </p:sp>
      <p:sp>
        <p:nvSpPr>
          <p:cNvPr id="131" name="CuadroTexto 130">
            <a:extLst>
              <a:ext uri="{FF2B5EF4-FFF2-40B4-BE49-F238E27FC236}">
                <a16:creationId xmlns:a16="http://schemas.microsoft.com/office/drawing/2014/main" id="{F5E2E00D-3C67-D49E-67C5-242CC3FA80B0}"/>
              </a:ext>
            </a:extLst>
          </p:cNvPr>
          <p:cNvSpPr txBox="1"/>
          <p:nvPr/>
        </p:nvSpPr>
        <p:spPr>
          <a:xfrm rot="16200000">
            <a:off x="4356744" y="2070736"/>
            <a:ext cx="612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ID/EX</a:t>
            </a:r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F9710E88-AD9D-AE8B-09DC-E552E2AE2270}"/>
              </a:ext>
            </a:extLst>
          </p:cNvPr>
          <p:cNvSpPr txBox="1"/>
          <p:nvPr/>
        </p:nvSpPr>
        <p:spPr>
          <a:xfrm rot="16200000">
            <a:off x="7830534" y="1305865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M/ER</a:t>
            </a:r>
          </a:p>
        </p:txBody>
      </p:sp>
      <p:cxnSp>
        <p:nvCxnSpPr>
          <p:cNvPr id="157" name="Conector recto 156">
            <a:extLst>
              <a:ext uri="{FF2B5EF4-FFF2-40B4-BE49-F238E27FC236}">
                <a16:creationId xmlns:a16="http://schemas.microsoft.com/office/drawing/2014/main" id="{02F894A4-4587-61EF-5A22-796CFF8623AF}"/>
              </a:ext>
            </a:extLst>
          </p:cNvPr>
          <p:cNvCxnSpPr>
            <a:cxnSpLocks/>
          </p:cNvCxnSpPr>
          <p:nvPr/>
        </p:nvCxnSpPr>
        <p:spPr bwMode="auto">
          <a:xfrm>
            <a:off x="6774200" y="3733800"/>
            <a:ext cx="121920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8" name="Rectángulo 157">
            <a:extLst>
              <a:ext uri="{FF2B5EF4-FFF2-40B4-BE49-F238E27FC236}">
                <a16:creationId xmlns:a16="http://schemas.microsoft.com/office/drawing/2014/main" id="{1DFB78C5-2EDD-C6B5-2CDD-32B961DE0773}"/>
              </a:ext>
            </a:extLst>
          </p:cNvPr>
          <p:cNvSpPr/>
          <p:nvPr/>
        </p:nvSpPr>
        <p:spPr bwMode="auto">
          <a:xfrm rot="16200000">
            <a:off x="1977833" y="2631714"/>
            <a:ext cx="609601" cy="21919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159" name="Rectángulo 158">
            <a:extLst>
              <a:ext uri="{FF2B5EF4-FFF2-40B4-BE49-F238E27FC236}">
                <a16:creationId xmlns:a16="http://schemas.microsoft.com/office/drawing/2014/main" id="{826EF194-5E48-57A1-D465-D317B56B5353}"/>
              </a:ext>
            </a:extLst>
          </p:cNvPr>
          <p:cNvSpPr/>
          <p:nvPr/>
        </p:nvSpPr>
        <p:spPr bwMode="auto">
          <a:xfrm rot="16200000">
            <a:off x="4335327" y="2671135"/>
            <a:ext cx="609601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PC</a:t>
            </a:r>
          </a:p>
        </p:txBody>
      </p:sp>
      <p:cxnSp>
        <p:nvCxnSpPr>
          <p:cNvPr id="172" name="Conector recto 171">
            <a:extLst>
              <a:ext uri="{FF2B5EF4-FFF2-40B4-BE49-F238E27FC236}">
                <a16:creationId xmlns:a16="http://schemas.microsoft.com/office/drawing/2014/main" id="{76F51928-8C91-646F-D41F-D78B393A4304}"/>
              </a:ext>
            </a:extLst>
          </p:cNvPr>
          <p:cNvCxnSpPr>
            <a:cxnSpLocks/>
          </p:cNvCxnSpPr>
          <p:nvPr/>
        </p:nvCxnSpPr>
        <p:spPr bwMode="auto">
          <a:xfrm>
            <a:off x="644336" y="103338"/>
            <a:ext cx="5041740" cy="1438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3" name="Conector recto 172">
            <a:extLst>
              <a:ext uri="{FF2B5EF4-FFF2-40B4-BE49-F238E27FC236}">
                <a16:creationId xmlns:a16="http://schemas.microsoft.com/office/drawing/2014/main" id="{9A896774-052F-E3C3-588C-701400F02719}"/>
              </a:ext>
            </a:extLst>
          </p:cNvPr>
          <p:cNvCxnSpPr>
            <a:cxnSpLocks/>
          </p:cNvCxnSpPr>
          <p:nvPr/>
        </p:nvCxnSpPr>
        <p:spPr bwMode="auto">
          <a:xfrm>
            <a:off x="644336" y="92075"/>
            <a:ext cx="0" cy="3728489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4" name="Conector recto 173">
            <a:extLst>
              <a:ext uri="{FF2B5EF4-FFF2-40B4-BE49-F238E27FC236}">
                <a16:creationId xmlns:a16="http://schemas.microsoft.com/office/drawing/2014/main" id="{C8F33E77-F488-BB4F-3FB1-ABF9F261FEA4}"/>
              </a:ext>
            </a:extLst>
          </p:cNvPr>
          <p:cNvCxnSpPr/>
          <p:nvPr/>
        </p:nvCxnSpPr>
        <p:spPr bwMode="auto">
          <a:xfrm rot="5400000" flipH="1" flipV="1">
            <a:off x="-312400" y="3732212"/>
            <a:ext cx="2133600" cy="1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5" name="Conector recto 174">
            <a:extLst>
              <a:ext uri="{FF2B5EF4-FFF2-40B4-BE49-F238E27FC236}">
                <a16:creationId xmlns:a16="http://schemas.microsoft.com/office/drawing/2014/main" id="{7B1E3CF8-6C61-4C26-FAA7-1BAEF128F040}"/>
              </a:ext>
            </a:extLst>
          </p:cNvPr>
          <p:cNvCxnSpPr>
            <a:cxnSpLocks/>
          </p:cNvCxnSpPr>
          <p:nvPr/>
        </p:nvCxnSpPr>
        <p:spPr bwMode="auto">
          <a:xfrm>
            <a:off x="728225" y="4791193"/>
            <a:ext cx="645442" cy="0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6" name="Conector recto 175">
            <a:extLst>
              <a:ext uri="{FF2B5EF4-FFF2-40B4-BE49-F238E27FC236}">
                <a16:creationId xmlns:a16="http://schemas.microsoft.com/office/drawing/2014/main" id="{B47FD676-5751-FCC5-76DF-F07ED4988E4B}"/>
              </a:ext>
            </a:extLst>
          </p:cNvPr>
          <p:cNvCxnSpPr>
            <a:cxnSpLocks/>
          </p:cNvCxnSpPr>
          <p:nvPr/>
        </p:nvCxnSpPr>
        <p:spPr bwMode="auto">
          <a:xfrm>
            <a:off x="1897400" y="2722496"/>
            <a:ext cx="794" cy="2076516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7" name="Conector recto 176">
            <a:extLst>
              <a:ext uri="{FF2B5EF4-FFF2-40B4-BE49-F238E27FC236}">
                <a16:creationId xmlns:a16="http://schemas.microsoft.com/office/drawing/2014/main" id="{2A2D7F8B-EA7D-8520-14D2-75928269E8FE}"/>
              </a:ext>
            </a:extLst>
          </p:cNvPr>
          <p:cNvCxnSpPr>
            <a:cxnSpLocks/>
          </p:cNvCxnSpPr>
          <p:nvPr/>
        </p:nvCxnSpPr>
        <p:spPr bwMode="auto">
          <a:xfrm>
            <a:off x="1399801" y="4779726"/>
            <a:ext cx="497127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2C8E5777-C698-26E0-46E9-D5E7F2D2C201}"/>
              </a:ext>
            </a:extLst>
          </p:cNvPr>
          <p:cNvSpPr txBox="1"/>
          <p:nvPr/>
        </p:nvSpPr>
        <p:spPr>
          <a:xfrm>
            <a:off x="3230107" y="6038626"/>
            <a:ext cx="6992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11..7(</a:t>
            </a:r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rd</a:t>
            </a:r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B57FA43F-2F0E-042C-3264-915EBE16702A}"/>
              </a:ext>
            </a:extLst>
          </p:cNvPr>
          <p:cNvCxnSpPr>
            <a:cxnSpLocks/>
          </p:cNvCxnSpPr>
          <p:nvPr/>
        </p:nvCxnSpPr>
        <p:spPr bwMode="auto">
          <a:xfrm>
            <a:off x="4946187" y="3578224"/>
            <a:ext cx="0" cy="1614472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1A0B55C-AFB8-1A33-979C-77D4FCE835C9}"/>
              </a:ext>
            </a:extLst>
          </p:cNvPr>
          <p:cNvCxnSpPr>
            <a:cxnSpLocks/>
            <a:stCxn id="147" idx="2"/>
          </p:cNvCxnSpPr>
          <p:nvPr/>
        </p:nvCxnSpPr>
        <p:spPr bwMode="auto">
          <a:xfrm>
            <a:off x="5589345" y="4115379"/>
            <a:ext cx="193462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269C15C5-35E9-64AE-FB65-05916B569B8A}"/>
              </a:ext>
            </a:extLst>
          </p:cNvPr>
          <p:cNvCxnSpPr>
            <a:cxnSpLocks/>
          </p:cNvCxnSpPr>
          <p:nvPr/>
        </p:nvCxnSpPr>
        <p:spPr bwMode="auto">
          <a:xfrm>
            <a:off x="4801003" y="2720908"/>
            <a:ext cx="220597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8D58EA00-2A09-1414-A120-D584CAE2F7D7}"/>
              </a:ext>
            </a:extLst>
          </p:cNvPr>
          <p:cNvCxnSpPr>
            <a:cxnSpLocks/>
          </p:cNvCxnSpPr>
          <p:nvPr/>
        </p:nvCxnSpPr>
        <p:spPr bwMode="auto">
          <a:xfrm flipV="1">
            <a:off x="5000768" y="2720908"/>
            <a:ext cx="0" cy="532672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0FC4F0E6-05FD-D72C-49D4-CF32A06C87EC}"/>
              </a:ext>
            </a:extLst>
          </p:cNvPr>
          <p:cNvCxnSpPr>
            <a:cxnSpLocks/>
          </p:cNvCxnSpPr>
          <p:nvPr/>
        </p:nvCxnSpPr>
        <p:spPr bwMode="auto">
          <a:xfrm>
            <a:off x="4793000" y="4077072"/>
            <a:ext cx="567745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Rectángulo 50">
            <a:extLst>
              <a:ext uri="{FF2B5EF4-FFF2-40B4-BE49-F238E27FC236}">
                <a16:creationId xmlns:a16="http://schemas.microsoft.com/office/drawing/2014/main" id="{5E0C4A4B-943D-7126-8B12-50A6DAD385DC}"/>
              </a:ext>
            </a:extLst>
          </p:cNvPr>
          <p:cNvSpPr/>
          <p:nvPr/>
        </p:nvSpPr>
        <p:spPr bwMode="auto">
          <a:xfrm>
            <a:off x="5084480" y="4046009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3BC281BD-75E0-7296-F980-6FA0F1A2BE38}"/>
              </a:ext>
            </a:extLst>
          </p:cNvPr>
          <p:cNvCxnSpPr>
            <a:cxnSpLocks/>
          </p:cNvCxnSpPr>
          <p:nvPr/>
        </p:nvCxnSpPr>
        <p:spPr bwMode="auto">
          <a:xfrm>
            <a:off x="5117560" y="4941168"/>
            <a:ext cx="1351046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AE97F912-7E39-523A-8DF0-B16FA3411894}"/>
              </a:ext>
            </a:extLst>
          </p:cNvPr>
          <p:cNvCxnSpPr>
            <a:cxnSpLocks/>
          </p:cNvCxnSpPr>
          <p:nvPr/>
        </p:nvCxnSpPr>
        <p:spPr bwMode="auto">
          <a:xfrm>
            <a:off x="4984294" y="3246790"/>
            <a:ext cx="37645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8D6B5539-AFD6-330A-B7FB-6A036988531E}"/>
              </a:ext>
            </a:extLst>
          </p:cNvPr>
          <p:cNvCxnSpPr>
            <a:cxnSpLocks/>
          </p:cNvCxnSpPr>
          <p:nvPr/>
        </p:nvCxnSpPr>
        <p:spPr bwMode="auto">
          <a:xfrm>
            <a:off x="4792056" y="3579812"/>
            <a:ext cx="56868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3" name="Rectángulo 72">
            <a:extLst>
              <a:ext uri="{FF2B5EF4-FFF2-40B4-BE49-F238E27FC236}">
                <a16:creationId xmlns:a16="http://schemas.microsoft.com/office/drawing/2014/main" id="{569A2DC6-11B3-9C6D-FAFA-206857F0A03B}"/>
              </a:ext>
            </a:extLst>
          </p:cNvPr>
          <p:cNvSpPr/>
          <p:nvPr/>
        </p:nvSpPr>
        <p:spPr bwMode="auto">
          <a:xfrm rot="16200000">
            <a:off x="5151044" y="3295427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99" name="Conector recto 98">
            <a:extLst>
              <a:ext uri="{FF2B5EF4-FFF2-40B4-BE49-F238E27FC236}">
                <a16:creationId xmlns:a16="http://schemas.microsoft.com/office/drawing/2014/main" id="{2F72062A-9D46-3B5A-F040-C63DE6F0DEAC}"/>
              </a:ext>
            </a:extLst>
          </p:cNvPr>
          <p:cNvCxnSpPr>
            <a:cxnSpLocks/>
          </p:cNvCxnSpPr>
          <p:nvPr/>
        </p:nvCxnSpPr>
        <p:spPr bwMode="auto">
          <a:xfrm>
            <a:off x="5589345" y="3402849"/>
            <a:ext cx="193462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7" name="Rectángulo 116">
            <a:extLst>
              <a:ext uri="{FF2B5EF4-FFF2-40B4-BE49-F238E27FC236}">
                <a16:creationId xmlns:a16="http://schemas.microsoft.com/office/drawing/2014/main" id="{D7389CEA-C9E4-F58D-6074-6D18C3878607}"/>
              </a:ext>
            </a:extLst>
          </p:cNvPr>
          <p:cNvSpPr/>
          <p:nvPr/>
        </p:nvSpPr>
        <p:spPr bwMode="auto">
          <a:xfrm>
            <a:off x="4913979" y="3544521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118" name="Conector recto 117">
            <a:extLst>
              <a:ext uri="{FF2B5EF4-FFF2-40B4-BE49-F238E27FC236}">
                <a16:creationId xmlns:a16="http://schemas.microsoft.com/office/drawing/2014/main" id="{32C5B28A-E8EF-0EC2-25DA-87715B3D1C2E}"/>
              </a:ext>
            </a:extLst>
          </p:cNvPr>
          <p:cNvCxnSpPr>
            <a:cxnSpLocks/>
            <a:stCxn id="51" idx="2"/>
          </p:cNvCxnSpPr>
          <p:nvPr/>
        </p:nvCxnSpPr>
        <p:spPr bwMode="auto">
          <a:xfrm>
            <a:off x="5122580" y="4122209"/>
            <a:ext cx="0" cy="1062907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7" name="Rectángulo 146">
            <a:extLst>
              <a:ext uri="{FF2B5EF4-FFF2-40B4-BE49-F238E27FC236}">
                <a16:creationId xmlns:a16="http://schemas.microsoft.com/office/drawing/2014/main" id="{A24C209F-4973-BC78-8966-FAAD10FA513A}"/>
              </a:ext>
            </a:extLst>
          </p:cNvPr>
          <p:cNvSpPr/>
          <p:nvPr/>
        </p:nvSpPr>
        <p:spPr bwMode="auto">
          <a:xfrm rot="16200000">
            <a:off x="5153312" y="4001079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194" name="Conector recto 193">
            <a:extLst>
              <a:ext uri="{FF2B5EF4-FFF2-40B4-BE49-F238E27FC236}">
                <a16:creationId xmlns:a16="http://schemas.microsoft.com/office/drawing/2014/main" id="{2FAC646F-4C02-83A5-57EA-45B21E4788D0}"/>
              </a:ext>
            </a:extLst>
          </p:cNvPr>
          <p:cNvCxnSpPr>
            <a:cxnSpLocks/>
          </p:cNvCxnSpPr>
          <p:nvPr/>
        </p:nvCxnSpPr>
        <p:spPr bwMode="auto">
          <a:xfrm flipV="1">
            <a:off x="4801003" y="6292868"/>
            <a:ext cx="1668397" cy="2244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5" name="Conector recto 194">
            <a:extLst>
              <a:ext uri="{FF2B5EF4-FFF2-40B4-BE49-F238E27FC236}">
                <a16:creationId xmlns:a16="http://schemas.microsoft.com/office/drawing/2014/main" id="{97ED8B1D-F2E2-73FE-D4EE-1F0DE369014A}"/>
              </a:ext>
            </a:extLst>
          </p:cNvPr>
          <p:cNvCxnSpPr>
            <a:cxnSpLocks/>
          </p:cNvCxnSpPr>
          <p:nvPr/>
        </p:nvCxnSpPr>
        <p:spPr bwMode="auto">
          <a:xfrm>
            <a:off x="2833250" y="6475412"/>
            <a:ext cx="5782449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0" name="Conector recto 199">
            <a:extLst>
              <a:ext uri="{FF2B5EF4-FFF2-40B4-BE49-F238E27FC236}">
                <a16:creationId xmlns:a16="http://schemas.microsoft.com/office/drawing/2014/main" id="{BFE4826B-A3DE-263C-7D71-B90167B7FC0B}"/>
              </a:ext>
            </a:extLst>
          </p:cNvPr>
          <p:cNvCxnSpPr>
            <a:cxnSpLocks/>
          </p:cNvCxnSpPr>
          <p:nvPr/>
        </p:nvCxnSpPr>
        <p:spPr bwMode="auto">
          <a:xfrm>
            <a:off x="6782786" y="6292868"/>
            <a:ext cx="1209826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1" name="Conector recto 200">
            <a:extLst>
              <a:ext uri="{FF2B5EF4-FFF2-40B4-BE49-F238E27FC236}">
                <a16:creationId xmlns:a16="http://schemas.microsoft.com/office/drawing/2014/main" id="{02AA9C53-B1D2-4E7E-8DA1-459C794C020F}"/>
              </a:ext>
            </a:extLst>
          </p:cNvPr>
          <p:cNvCxnSpPr>
            <a:cxnSpLocks/>
          </p:cNvCxnSpPr>
          <p:nvPr/>
        </p:nvCxnSpPr>
        <p:spPr bwMode="auto">
          <a:xfrm>
            <a:off x="8602206" y="6273818"/>
            <a:ext cx="793" cy="201594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4" name="Conector recto 203">
            <a:extLst>
              <a:ext uri="{FF2B5EF4-FFF2-40B4-BE49-F238E27FC236}">
                <a16:creationId xmlns:a16="http://schemas.microsoft.com/office/drawing/2014/main" id="{A6568680-0D75-7CA6-D5EA-8C0D97FFCDE7}"/>
              </a:ext>
            </a:extLst>
          </p:cNvPr>
          <p:cNvCxnSpPr>
            <a:cxnSpLocks/>
          </p:cNvCxnSpPr>
          <p:nvPr/>
        </p:nvCxnSpPr>
        <p:spPr bwMode="auto">
          <a:xfrm>
            <a:off x="8297412" y="6292322"/>
            <a:ext cx="305587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6" name="CuadroTexto 205">
            <a:extLst>
              <a:ext uri="{FF2B5EF4-FFF2-40B4-BE49-F238E27FC236}">
                <a16:creationId xmlns:a16="http://schemas.microsoft.com/office/drawing/2014/main" id="{AFF4A93C-9345-6E5B-25F4-F2148B2F4E51}"/>
              </a:ext>
            </a:extLst>
          </p:cNvPr>
          <p:cNvSpPr txBox="1"/>
          <p:nvPr/>
        </p:nvSpPr>
        <p:spPr>
          <a:xfrm>
            <a:off x="3180848" y="5873965"/>
            <a:ext cx="784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Reg</a:t>
            </a:r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dest</a:t>
            </a:r>
            <a:endParaRPr lang="es-ES_tradnl" sz="11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7" name="Rectángulo 206">
            <a:extLst>
              <a:ext uri="{FF2B5EF4-FFF2-40B4-BE49-F238E27FC236}">
                <a16:creationId xmlns:a16="http://schemas.microsoft.com/office/drawing/2014/main" id="{8C1BFF49-F3C1-FED2-F532-6FFB838DD8F0}"/>
              </a:ext>
            </a:extLst>
          </p:cNvPr>
          <p:cNvSpPr/>
          <p:nvPr/>
        </p:nvSpPr>
        <p:spPr bwMode="auto">
          <a:xfrm>
            <a:off x="4887433" y="5206577"/>
            <a:ext cx="1060916" cy="598687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  <a:tint val="66000"/>
                  <a:satMod val="160000"/>
                </a:schemeClr>
              </a:gs>
              <a:gs pos="50000">
                <a:schemeClr val="accent4">
                  <a:tint val="66000"/>
                  <a:satMod val="160000"/>
                  <a:tint val="44500"/>
                  <a:satMod val="160000"/>
                </a:schemeClr>
              </a:gs>
              <a:gs pos="100000">
                <a:schemeClr val="accent4">
                  <a:tint val="66000"/>
                  <a:satMod val="160000"/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Branch</a:t>
            </a:r>
          </a:p>
        </p:txBody>
      </p:sp>
      <p:sp>
        <p:nvSpPr>
          <p:cNvPr id="213" name="Rectángulo 212">
            <a:extLst>
              <a:ext uri="{FF2B5EF4-FFF2-40B4-BE49-F238E27FC236}">
                <a16:creationId xmlns:a16="http://schemas.microsoft.com/office/drawing/2014/main" id="{6B413948-C3D5-616F-17C6-292641C8EB19}"/>
              </a:ext>
            </a:extLst>
          </p:cNvPr>
          <p:cNvSpPr/>
          <p:nvPr/>
        </p:nvSpPr>
        <p:spPr bwMode="auto">
          <a:xfrm rot="16200000">
            <a:off x="4430815" y="6022781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214" name="Rectángulo 213">
            <a:extLst>
              <a:ext uri="{FF2B5EF4-FFF2-40B4-BE49-F238E27FC236}">
                <a16:creationId xmlns:a16="http://schemas.microsoft.com/office/drawing/2014/main" id="{0501F269-3A5D-60F2-F588-54607BB82E45}"/>
              </a:ext>
            </a:extLst>
          </p:cNvPr>
          <p:cNvSpPr/>
          <p:nvPr/>
        </p:nvSpPr>
        <p:spPr bwMode="auto">
          <a:xfrm rot="16200000">
            <a:off x="6444575" y="6054250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 err="1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215" name="Rectángulo 214">
            <a:extLst>
              <a:ext uri="{FF2B5EF4-FFF2-40B4-BE49-F238E27FC236}">
                <a16:creationId xmlns:a16="http://schemas.microsoft.com/office/drawing/2014/main" id="{34ACCC0C-62CC-7F23-6A60-3E2F3B8BC404}"/>
              </a:ext>
            </a:extLst>
          </p:cNvPr>
          <p:cNvSpPr/>
          <p:nvPr/>
        </p:nvSpPr>
        <p:spPr bwMode="auto">
          <a:xfrm rot="16200000">
            <a:off x="7974586" y="6072792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221" name="Rectángulo 220">
            <a:extLst>
              <a:ext uri="{FF2B5EF4-FFF2-40B4-BE49-F238E27FC236}">
                <a16:creationId xmlns:a16="http://schemas.microsoft.com/office/drawing/2014/main" id="{9394ED09-96B6-9014-4C74-E5C75C3D1BF2}"/>
              </a:ext>
            </a:extLst>
          </p:cNvPr>
          <p:cNvSpPr/>
          <p:nvPr/>
        </p:nvSpPr>
        <p:spPr bwMode="auto">
          <a:xfrm>
            <a:off x="2558739" y="3463924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226" name="Conector recto 225">
            <a:extLst>
              <a:ext uri="{FF2B5EF4-FFF2-40B4-BE49-F238E27FC236}">
                <a16:creationId xmlns:a16="http://schemas.microsoft.com/office/drawing/2014/main" id="{A320FC24-A40E-C6F4-D7F8-1ECF18F65B24}"/>
              </a:ext>
            </a:extLst>
          </p:cNvPr>
          <p:cNvCxnSpPr>
            <a:cxnSpLocks/>
          </p:cNvCxnSpPr>
          <p:nvPr/>
        </p:nvCxnSpPr>
        <p:spPr bwMode="auto">
          <a:xfrm>
            <a:off x="6774200" y="4958174"/>
            <a:ext cx="22860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7" name="Conector recto 226">
            <a:extLst>
              <a:ext uri="{FF2B5EF4-FFF2-40B4-BE49-F238E27FC236}">
                <a16:creationId xmlns:a16="http://schemas.microsoft.com/office/drawing/2014/main" id="{0C35092A-8BAD-5945-87B1-10FCD619592F}"/>
              </a:ext>
            </a:extLst>
          </p:cNvPr>
          <p:cNvCxnSpPr>
            <a:cxnSpLocks/>
          </p:cNvCxnSpPr>
          <p:nvPr/>
        </p:nvCxnSpPr>
        <p:spPr bwMode="auto">
          <a:xfrm flipV="1">
            <a:off x="6332481" y="219075"/>
            <a:ext cx="7826" cy="3566319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9" name="Conector recto 228">
            <a:extLst>
              <a:ext uri="{FF2B5EF4-FFF2-40B4-BE49-F238E27FC236}">
                <a16:creationId xmlns:a16="http://schemas.microsoft.com/office/drawing/2014/main" id="{6F98FDAB-7435-305E-535A-8BA68ED0F70F}"/>
              </a:ext>
            </a:extLst>
          </p:cNvPr>
          <p:cNvCxnSpPr>
            <a:cxnSpLocks/>
          </p:cNvCxnSpPr>
          <p:nvPr/>
        </p:nvCxnSpPr>
        <p:spPr bwMode="auto">
          <a:xfrm flipV="1">
            <a:off x="1745000" y="218281"/>
            <a:ext cx="4593596" cy="10319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1" name="Conector recto 170">
            <a:extLst>
              <a:ext uri="{FF2B5EF4-FFF2-40B4-BE49-F238E27FC236}">
                <a16:creationId xmlns:a16="http://schemas.microsoft.com/office/drawing/2014/main" id="{872B53FB-23B0-7E53-29E4-E81A85B8B4C2}"/>
              </a:ext>
            </a:extLst>
          </p:cNvPr>
          <p:cNvCxnSpPr>
            <a:cxnSpLocks/>
          </p:cNvCxnSpPr>
          <p:nvPr/>
        </p:nvCxnSpPr>
        <p:spPr bwMode="auto">
          <a:xfrm flipV="1">
            <a:off x="5673012" y="111152"/>
            <a:ext cx="0" cy="5081544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Rectángulo 26">
            <a:extLst>
              <a:ext uri="{FF2B5EF4-FFF2-40B4-BE49-F238E27FC236}">
                <a16:creationId xmlns:a16="http://schemas.microsoft.com/office/drawing/2014/main" id="{0287AD2C-AE0A-8D86-B3CB-68B130CCA877}"/>
              </a:ext>
            </a:extLst>
          </p:cNvPr>
          <p:cNvSpPr/>
          <p:nvPr/>
        </p:nvSpPr>
        <p:spPr bwMode="auto">
          <a:xfrm>
            <a:off x="3230107" y="3317347"/>
            <a:ext cx="913134" cy="1371600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rgbClr val="000000"/>
                </a:solidFill>
              </a:rPr>
              <a:t>Banco de Registros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7F7D6CCA-6E27-584D-6B0E-A0D64BFCC4A4}"/>
              </a:ext>
            </a:extLst>
          </p:cNvPr>
          <p:cNvCxnSpPr>
            <a:cxnSpLocks/>
          </p:cNvCxnSpPr>
          <p:nvPr/>
        </p:nvCxnSpPr>
        <p:spPr bwMode="auto">
          <a:xfrm>
            <a:off x="4143241" y="3579812"/>
            <a:ext cx="34496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88F43DDD-5214-304B-0A66-BFC9A3D00DE0}"/>
              </a:ext>
            </a:extLst>
          </p:cNvPr>
          <p:cNvCxnSpPr>
            <a:cxnSpLocks/>
          </p:cNvCxnSpPr>
          <p:nvPr/>
        </p:nvCxnSpPr>
        <p:spPr bwMode="auto">
          <a:xfrm>
            <a:off x="4150630" y="4073467"/>
            <a:ext cx="335983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F2501B6C-6CE0-964A-AEB0-7ADCBAB1B3A9}"/>
              </a:ext>
            </a:extLst>
          </p:cNvPr>
          <p:cNvSpPr txBox="1"/>
          <p:nvPr/>
        </p:nvSpPr>
        <p:spPr>
          <a:xfrm rot="16200000">
            <a:off x="6325551" y="1894188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EX/M</a:t>
            </a:r>
          </a:p>
        </p:txBody>
      </p: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C3D123AF-1282-6FCC-9B6D-D1EC39C80E80}"/>
              </a:ext>
            </a:extLst>
          </p:cNvPr>
          <p:cNvCxnSpPr>
            <a:cxnSpLocks/>
          </p:cNvCxnSpPr>
          <p:nvPr/>
        </p:nvCxnSpPr>
        <p:spPr bwMode="auto">
          <a:xfrm>
            <a:off x="4206413" y="4570412"/>
            <a:ext cx="254347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2586E907-D94E-FA97-91AD-8FC514DF1CF9}"/>
              </a:ext>
            </a:extLst>
          </p:cNvPr>
          <p:cNvCxnSpPr>
            <a:cxnSpLocks/>
          </p:cNvCxnSpPr>
          <p:nvPr/>
        </p:nvCxnSpPr>
        <p:spPr bwMode="auto">
          <a:xfrm flipV="1">
            <a:off x="4206413" y="4570412"/>
            <a:ext cx="0" cy="270934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077EBB6E-E926-4497-93DD-036181BB5FC5}"/>
              </a:ext>
            </a:extLst>
          </p:cNvPr>
          <p:cNvCxnSpPr>
            <a:cxnSpLocks/>
          </p:cNvCxnSpPr>
          <p:nvPr/>
        </p:nvCxnSpPr>
        <p:spPr bwMode="auto">
          <a:xfrm flipV="1">
            <a:off x="4748792" y="4376092"/>
            <a:ext cx="606424" cy="6853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B9C8DCD-7780-C901-78EB-9FEE79348A91}"/>
              </a:ext>
            </a:extLst>
          </p:cNvPr>
          <p:cNvSpPr/>
          <p:nvPr/>
        </p:nvSpPr>
        <p:spPr bwMode="auto">
          <a:xfrm>
            <a:off x="5097801" y="4891717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7" name="Rectángulo 126">
            <a:extLst>
              <a:ext uri="{FF2B5EF4-FFF2-40B4-BE49-F238E27FC236}">
                <a16:creationId xmlns:a16="http://schemas.microsoft.com/office/drawing/2014/main" id="{E5E1D74A-3504-212F-F15A-300E1FB07E89}"/>
              </a:ext>
            </a:extLst>
          </p:cNvPr>
          <p:cNvSpPr/>
          <p:nvPr/>
        </p:nvSpPr>
        <p:spPr bwMode="auto">
          <a:xfrm>
            <a:off x="1333481" y="4753876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shade val="50000"/>
                <a:alpha val="30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8" name="Rectángulo 127">
            <a:extLst>
              <a:ext uri="{FF2B5EF4-FFF2-40B4-BE49-F238E27FC236}">
                <a16:creationId xmlns:a16="http://schemas.microsoft.com/office/drawing/2014/main" id="{DC9F7E16-9561-DF03-6762-6161F3D0217F}"/>
              </a:ext>
            </a:extLst>
          </p:cNvPr>
          <p:cNvSpPr/>
          <p:nvPr/>
        </p:nvSpPr>
        <p:spPr bwMode="auto">
          <a:xfrm>
            <a:off x="2551779" y="5109475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8" name="Rectángulo 147">
            <a:extLst>
              <a:ext uri="{FF2B5EF4-FFF2-40B4-BE49-F238E27FC236}">
                <a16:creationId xmlns:a16="http://schemas.microsoft.com/office/drawing/2014/main" id="{B08D394B-8550-CA9C-04D5-4152D7828BA2}"/>
              </a:ext>
            </a:extLst>
          </p:cNvPr>
          <p:cNvSpPr/>
          <p:nvPr/>
        </p:nvSpPr>
        <p:spPr bwMode="auto">
          <a:xfrm>
            <a:off x="7345699" y="3694111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37372B64-B71C-D6C2-58DA-13B879B3CFE2}"/>
              </a:ext>
            </a:extLst>
          </p:cNvPr>
          <p:cNvCxnSpPr>
            <a:cxnSpLocks/>
          </p:cNvCxnSpPr>
          <p:nvPr/>
        </p:nvCxnSpPr>
        <p:spPr bwMode="auto">
          <a:xfrm>
            <a:off x="2849107" y="4418806"/>
            <a:ext cx="395354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742AD78D-35A8-08DF-C247-69425D12E341}"/>
              </a:ext>
            </a:extLst>
          </p:cNvPr>
          <p:cNvCxnSpPr>
            <a:cxnSpLocks/>
          </p:cNvCxnSpPr>
          <p:nvPr/>
        </p:nvCxnSpPr>
        <p:spPr bwMode="auto">
          <a:xfrm>
            <a:off x="8831600" y="4248679"/>
            <a:ext cx="151606" cy="0"/>
          </a:xfrm>
          <a:prstGeom prst="line">
            <a:avLst/>
          </a:prstGeom>
          <a:ln w="38100" cmpd="sng">
            <a:solidFill>
              <a:srgbClr val="26697A">
                <a:alpha val="30000"/>
              </a:srgb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9E287DC-6FFA-5DF0-3D59-F79B57171C55}"/>
              </a:ext>
            </a:extLst>
          </p:cNvPr>
          <p:cNvSpPr/>
          <p:nvPr/>
        </p:nvSpPr>
        <p:spPr bwMode="auto">
          <a:xfrm>
            <a:off x="2561689" y="3844924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F21AAE5-BEE2-582E-9A56-5E8E53554E24}"/>
              </a:ext>
            </a:extLst>
          </p:cNvPr>
          <p:cNvCxnSpPr>
            <a:cxnSpLocks/>
          </p:cNvCxnSpPr>
          <p:nvPr/>
        </p:nvCxnSpPr>
        <p:spPr bwMode="auto">
          <a:xfrm>
            <a:off x="8831600" y="4253172"/>
            <a:ext cx="151606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10DB70A2-3D21-53F8-E17F-08F8F3AF882C}"/>
              </a:ext>
            </a:extLst>
          </p:cNvPr>
          <p:cNvCxnSpPr>
            <a:cxnSpLocks/>
            <a:stCxn id="16" idx="3"/>
          </p:cNvCxnSpPr>
          <p:nvPr/>
        </p:nvCxnSpPr>
        <p:spPr bwMode="auto">
          <a:xfrm>
            <a:off x="2637889" y="3883024"/>
            <a:ext cx="58586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F0183F9B-17AF-3D68-9D94-9F0D6D09C72B}"/>
              </a:ext>
            </a:extLst>
          </p:cNvPr>
          <p:cNvCxnSpPr>
            <a:cxnSpLocks/>
            <a:stCxn id="8" idx="3"/>
          </p:cNvCxnSpPr>
          <p:nvPr/>
        </p:nvCxnSpPr>
        <p:spPr bwMode="auto">
          <a:xfrm>
            <a:off x="1795803" y="5489047"/>
            <a:ext cx="324630" cy="0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E03CD338-557F-9219-C4D0-250739D10612}"/>
              </a:ext>
            </a:extLst>
          </p:cNvPr>
          <p:cNvCxnSpPr>
            <a:cxnSpLocks/>
          </p:cNvCxnSpPr>
          <p:nvPr/>
        </p:nvCxnSpPr>
        <p:spPr bwMode="auto">
          <a:xfrm flipH="1">
            <a:off x="8316860" y="4962647"/>
            <a:ext cx="75406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ECDAF3E9-2116-FD93-F4F1-73256B8A4463}"/>
              </a:ext>
            </a:extLst>
          </p:cNvPr>
          <p:cNvSpPr/>
          <p:nvPr/>
        </p:nvSpPr>
        <p:spPr bwMode="auto">
          <a:xfrm>
            <a:off x="6306648" y="3745541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9" name="Llamada rectangular redondeada 38">
            <a:extLst>
              <a:ext uri="{FF2B5EF4-FFF2-40B4-BE49-F238E27FC236}">
                <a16:creationId xmlns:a16="http://schemas.microsoft.com/office/drawing/2014/main" id="{61DA46F9-1BEF-B9A8-D301-612A809572D9}"/>
              </a:ext>
            </a:extLst>
          </p:cNvPr>
          <p:cNvSpPr/>
          <p:nvPr/>
        </p:nvSpPr>
        <p:spPr bwMode="auto">
          <a:xfrm>
            <a:off x="5869046" y="381000"/>
            <a:ext cx="1447800" cy="802812"/>
          </a:xfrm>
          <a:prstGeom prst="wedgeRoundRectCallout">
            <a:avLst>
              <a:gd name="adj1" fmla="val -62061"/>
              <a:gd name="adj2" fmla="val 77560"/>
              <a:gd name="adj3" fmla="val 16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La condición de salto se lleva directamente de Branch a LI</a:t>
            </a:r>
          </a:p>
        </p:txBody>
      </p:sp>
      <p:sp>
        <p:nvSpPr>
          <p:cNvPr id="41" name="Llamada rectangular redondeada 40">
            <a:extLst>
              <a:ext uri="{FF2B5EF4-FFF2-40B4-BE49-F238E27FC236}">
                <a16:creationId xmlns:a16="http://schemas.microsoft.com/office/drawing/2014/main" id="{5A15F093-25A0-0634-F12C-07EAF0B71B7E}"/>
              </a:ext>
            </a:extLst>
          </p:cNvPr>
          <p:cNvSpPr/>
          <p:nvPr/>
        </p:nvSpPr>
        <p:spPr bwMode="auto">
          <a:xfrm>
            <a:off x="6517379" y="1674436"/>
            <a:ext cx="1447800" cy="802812"/>
          </a:xfrm>
          <a:prstGeom prst="wedgeRoundRectCallout">
            <a:avLst>
              <a:gd name="adj1" fmla="val -62061"/>
              <a:gd name="adj2" fmla="val 77560"/>
              <a:gd name="adj3" fmla="val 16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La dirección de salto se lleva directamente ALU a LI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4703894-F72C-006F-5380-579ECB3F5C49}"/>
              </a:ext>
            </a:extLst>
          </p:cNvPr>
          <p:cNvSpPr txBox="1"/>
          <p:nvPr/>
        </p:nvSpPr>
        <p:spPr>
          <a:xfrm rot="16200000">
            <a:off x="-1516364" y="2070735"/>
            <a:ext cx="3600666" cy="307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Ruta de datos con Latencia de salto de 2 ciclos</a:t>
            </a:r>
          </a:p>
        </p:txBody>
      </p:sp>
    </p:spTree>
    <p:extLst>
      <p:ext uri="{BB962C8B-B14F-4D97-AF65-F5344CB8AC3E}">
        <p14:creationId xmlns:p14="http://schemas.microsoft.com/office/powerpoint/2010/main" val="16039371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9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-26987"/>
            <a:ext cx="8250237" cy="865187"/>
          </a:xfrm>
        </p:spPr>
        <p:txBody>
          <a:bodyPr/>
          <a:lstStyle/>
          <a:p>
            <a:r>
              <a:rPr lang="es-ES_tradnl" dirty="0"/>
              <a:t>Tratamiento de los C</a:t>
            </a:r>
            <a:r>
              <a:rPr lang="es-ES" dirty="0"/>
              <a:t>onflictos de Control</a:t>
            </a:r>
            <a:endParaRPr lang="ca-ES" dirty="0"/>
          </a:p>
        </p:txBody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1" y="839788"/>
            <a:ext cx="8553450" cy="5256212"/>
          </a:xfrm>
        </p:spPr>
        <p:txBody>
          <a:bodyPr/>
          <a:lstStyle/>
          <a:p>
            <a:r>
              <a:rPr lang="es-ES" dirty="0"/>
              <a:t>Primeras s</a:t>
            </a:r>
            <a:r>
              <a:rPr lang="ca-ES" dirty="0"/>
              <a:t>olucion</a:t>
            </a:r>
            <a:r>
              <a:rPr lang="es-ES" dirty="0"/>
              <a:t>e</a:t>
            </a:r>
            <a:r>
              <a:rPr lang="ca-ES" dirty="0"/>
              <a:t>s al conflict</a:t>
            </a:r>
            <a:r>
              <a:rPr lang="es-ES" dirty="0"/>
              <a:t>o</a:t>
            </a:r>
            <a:endParaRPr lang="ca-ES" dirty="0"/>
          </a:p>
          <a:p>
            <a:pPr lvl="1"/>
            <a:r>
              <a:rPr lang="ca-ES" dirty="0"/>
              <a:t>Solucion</a:t>
            </a:r>
            <a:r>
              <a:rPr lang="es-ES" dirty="0"/>
              <a:t>e</a:t>
            </a:r>
            <a:r>
              <a:rPr lang="ca-ES" dirty="0" err="1"/>
              <a:t>s</a:t>
            </a:r>
            <a:r>
              <a:rPr lang="ca-ES" dirty="0"/>
              <a:t> </a:t>
            </a:r>
            <a:r>
              <a:rPr lang="ca-ES" dirty="0" err="1"/>
              <a:t>conservadoras</a:t>
            </a:r>
            <a:r>
              <a:rPr lang="ca-ES" dirty="0"/>
              <a:t> o d</a:t>
            </a:r>
            <a:r>
              <a:rPr lang="es-ES" dirty="0"/>
              <a:t>e </a:t>
            </a:r>
            <a:r>
              <a:rPr lang="ca-ES" dirty="0"/>
              <a:t>urg</a:t>
            </a:r>
            <a:r>
              <a:rPr lang="es-ES" dirty="0"/>
              <a:t>e</a:t>
            </a:r>
            <a:r>
              <a:rPr lang="ca-ES" dirty="0"/>
              <a:t>ncia:</a:t>
            </a:r>
          </a:p>
          <a:p>
            <a:pPr lvl="2"/>
            <a:r>
              <a:rPr lang="ca-ES" dirty="0"/>
              <a:t>Hardware</a:t>
            </a:r>
          </a:p>
          <a:p>
            <a:pPr lvl="3"/>
            <a:r>
              <a:rPr lang="ca-ES" dirty="0"/>
              <a:t>El descodificador inser</a:t>
            </a:r>
            <a:r>
              <a:rPr lang="es-ES" dirty="0"/>
              <a:t>ta</a:t>
            </a:r>
            <a:r>
              <a:rPr lang="ca-ES" dirty="0"/>
              <a:t> cicl</a:t>
            </a:r>
            <a:r>
              <a:rPr lang="es-ES" dirty="0"/>
              <a:t>o</a:t>
            </a:r>
            <a:r>
              <a:rPr lang="ca-ES" dirty="0"/>
              <a:t>s de parada </a:t>
            </a:r>
            <a:r>
              <a:rPr lang="es-ES" dirty="0"/>
              <a:t>al</a:t>
            </a:r>
            <a:r>
              <a:rPr lang="ca-ES" dirty="0"/>
              <a:t> detectar un </a:t>
            </a:r>
            <a:r>
              <a:rPr lang="es-ES" dirty="0"/>
              <a:t>salto</a:t>
            </a:r>
          </a:p>
          <a:p>
            <a:pPr lvl="2"/>
            <a:r>
              <a:rPr lang="es-ES" dirty="0"/>
              <a:t>Software</a:t>
            </a:r>
          </a:p>
          <a:p>
            <a:pPr lvl="3"/>
            <a:r>
              <a:rPr lang="es-ES" dirty="0"/>
              <a:t>El compilador inserta NOP</a:t>
            </a:r>
            <a:endParaRPr lang="ca-ES" dirty="0"/>
          </a:p>
          <a:p>
            <a:pPr lvl="1"/>
            <a:r>
              <a:rPr lang="es-ES" dirty="0"/>
              <a:t>Soluciones avanzadas: predicción </a:t>
            </a:r>
          </a:p>
          <a:p>
            <a:pPr lvl="2"/>
            <a:r>
              <a:rPr lang="es-ES" dirty="0"/>
              <a:t>Predicción fija</a:t>
            </a:r>
          </a:p>
          <a:p>
            <a:pPr lvl="3"/>
            <a:r>
              <a:rPr lang="es-ES" i="1" dirty="0" err="1"/>
              <a:t>predict-not</a:t>
            </a:r>
            <a:r>
              <a:rPr lang="es-ES" i="1" dirty="0"/>
              <a:t> taken</a:t>
            </a:r>
            <a:r>
              <a:rPr lang="es-ES" dirty="0"/>
              <a:t>			Intel i486</a:t>
            </a:r>
          </a:p>
          <a:p>
            <a:pPr lvl="3"/>
            <a:r>
              <a:rPr lang="es-ES" i="1" dirty="0"/>
              <a:t>predict taken</a:t>
            </a:r>
            <a:r>
              <a:rPr lang="es-ES" dirty="0"/>
              <a:t>			</a:t>
            </a:r>
            <a:r>
              <a:rPr lang="es-ES" dirty="0" err="1"/>
              <a:t>Sun</a:t>
            </a:r>
            <a:r>
              <a:rPr lang="es-ES" dirty="0"/>
              <a:t> </a:t>
            </a:r>
            <a:r>
              <a:rPr lang="es-ES" dirty="0" err="1"/>
              <a:t>SuperSparc</a:t>
            </a:r>
            <a:endParaRPr lang="es-ES" dirty="0"/>
          </a:p>
        </p:txBody>
      </p:sp>
      <p:sp>
        <p:nvSpPr>
          <p:cNvPr id="111618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081AD-6AC4-5246-BA7A-6DA65F897F33}" type="slidenum">
              <a:rPr lang="en-US" smtClean="0"/>
              <a:pPr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24 Grupo"/>
          <p:cNvGrpSpPr/>
          <p:nvPr/>
        </p:nvGrpSpPr>
        <p:grpSpPr>
          <a:xfrm>
            <a:off x="539552" y="1249033"/>
            <a:ext cx="7200800" cy="5204303"/>
            <a:chOff x="69877" y="1362304"/>
            <a:chExt cx="7200800" cy="3903227"/>
          </a:xfrm>
        </p:grpSpPr>
        <p:sp>
          <p:nvSpPr>
            <p:cNvPr id="24" name="23 Rectángulo"/>
            <p:cNvSpPr/>
            <p:nvPr/>
          </p:nvSpPr>
          <p:spPr>
            <a:xfrm>
              <a:off x="69877" y="1362304"/>
              <a:ext cx="7200800" cy="3903227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23" name="22 Grupo"/>
            <p:cNvGrpSpPr/>
            <p:nvPr/>
          </p:nvGrpSpPr>
          <p:grpSpPr>
            <a:xfrm>
              <a:off x="130443" y="1362409"/>
              <a:ext cx="6608179" cy="3816424"/>
              <a:chOff x="218556" y="1203981"/>
              <a:chExt cx="6608179" cy="3816424"/>
            </a:xfrm>
          </p:grpSpPr>
          <p:grpSp>
            <p:nvGrpSpPr>
              <p:cNvPr id="4" name="3 Grupo"/>
              <p:cNvGrpSpPr/>
              <p:nvPr/>
            </p:nvGrpSpPr>
            <p:grpSpPr>
              <a:xfrm>
                <a:off x="218556" y="1203981"/>
                <a:ext cx="6608179" cy="3816424"/>
                <a:chOff x="218556" y="1203981"/>
                <a:chExt cx="6608179" cy="3816424"/>
              </a:xfrm>
            </p:grpSpPr>
            <p:cxnSp>
              <p:nvCxnSpPr>
                <p:cNvPr id="6" name="5 Conector recto"/>
                <p:cNvCxnSpPr/>
                <p:nvPr/>
              </p:nvCxnSpPr>
              <p:spPr>
                <a:xfrm>
                  <a:off x="1539490" y="1203981"/>
                  <a:ext cx="0" cy="3816424"/>
                </a:xfrm>
                <a:prstGeom prst="line">
                  <a:avLst/>
                </a:prstGeom>
                <a:ln w="57150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6 Conector recto"/>
                <p:cNvCxnSpPr/>
                <p:nvPr/>
              </p:nvCxnSpPr>
              <p:spPr>
                <a:xfrm flipV="1">
                  <a:off x="539010" y="2068077"/>
                  <a:ext cx="6287725" cy="2270"/>
                </a:xfrm>
                <a:prstGeom prst="line">
                  <a:avLst/>
                </a:prstGeom>
                <a:ln w="57150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7 Conector recto"/>
                <p:cNvCxnSpPr/>
                <p:nvPr/>
              </p:nvCxnSpPr>
              <p:spPr>
                <a:xfrm flipH="1" flipV="1">
                  <a:off x="799489" y="1393694"/>
                  <a:ext cx="715030" cy="648072"/>
                </a:xfrm>
                <a:prstGeom prst="line">
                  <a:avLst/>
                </a:prstGeom>
                <a:ln w="57150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" name="8 CuadroTexto"/>
                <p:cNvSpPr txBox="1"/>
                <p:nvPr/>
              </p:nvSpPr>
              <p:spPr>
                <a:xfrm>
                  <a:off x="983747" y="1431038"/>
                  <a:ext cx="524504" cy="2077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sz="1200" dirty="0"/>
                    <a:t>Ciclo</a:t>
                  </a:r>
                </a:p>
              </p:txBody>
            </p:sp>
            <p:sp>
              <p:nvSpPr>
                <p:cNvPr id="10" name="9 CuadroTexto"/>
                <p:cNvSpPr txBox="1"/>
                <p:nvPr/>
              </p:nvSpPr>
              <p:spPr>
                <a:xfrm>
                  <a:off x="1875280" y="1723871"/>
                  <a:ext cx="327334" cy="3000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b="1" dirty="0"/>
                    <a:t>1</a:t>
                  </a:r>
                </a:p>
              </p:txBody>
            </p:sp>
            <p:sp>
              <p:nvSpPr>
                <p:cNvPr id="11" name="10 CuadroTexto"/>
                <p:cNvSpPr txBox="1"/>
                <p:nvPr/>
              </p:nvSpPr>
              <p:spPr>
                <a:xfrm>
                  <a:off x="2424699" y="1723871"/>
                  <a:ext cx="327334" cy="3000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b="1" dirty="0"/>
                    <a:t>2</a:t>
                  </a:r>
                </a:p>
              </p:txBody>
            </p:sp>
            <p:sp>
              <p:nvSpPr>
                <p:cNvPr id="12" name="11 CuadroTexto"/>
                <p:cNvSpPr txBox="1"/>
                <p:nvPr/>
              </p:nvSpPr>
              <p:spPr>
                <a:xfrm>
                  <a:off x="2974119" y="1723871"/>
                  <a:ext cx="327334" cy="3000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b="1" dirty="0"/>
                    <a:t>3</a:t>
                  </a:r>
                </a:p>
              </p:txBody>
            </p:sp>
            <p:sp>
              <p:nvSpPr>
                <p:cNvPr id="13" name="12 CuadroTexto"/>
                <p:cNvSpPr txBox="1"/>
                <p:nvPr/>
              </p:nvSpPr>
              <p:spPr>
                <a:xfrm>
                  <a:off x="3523538" y="1723871"/>
                  <a:ext cx="327334" cy="3000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b="1" dirty="0"/>
                    <a:t>4</a:t>
                  </a:r>
                </a:p>
              </p:txBody>
            </p:sp>
            <p:sp>
              <p:nvSpPr>
                <p:cNvPr id="14" name="13 CuadroTexto"/>
                <p:cNvSpPr txBox="1"/>
                <p:nvPr/>
              </p:nvSpPr>
              <p:spPr>
                <a:xfrm>
                  <a:off x="4072958" y="1723871"/>
                  <a:ext cx="327334" cy="3000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b="1" dirty="0"/>
                    <a:t>5</a:t>
                  </a:r>
                </a:p>
              </p:txBody>
            </p:sp>
            <p:sp>
              <p:nvSpPr>
                <p:cNvPr id="15" name="14 CuadroTexto"/>
                <p:cNvSpPr txBox="1"/>
                <p:nvPr/>
              </p:nvSpPr>
              <p:spPr>
                <a:xfrm>
                  <a:off x="4622377" y="1723871"/>
                  <a:ext cx="327334" cy="3000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b="1" dirty="0"/>
                    <a:t>6</a:t>
                  </a:r>
                </a:p>
              </p:txBody>
            </p:sp>
            <p:sp>
              <p:nvSpPr>
                <p:cNvPr id="16" name="15 CuadroTexto"/>
                <p:cNvSpPr txBox="1"/>
                <p:nvPr/>
              </p:nvSpPr>
              <p:spPr>
                <a:xfrm>
                  <a:off x="5171797" y="1723871"/>
                  <a:ext cx="327334" cy="3000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b="1" dirty="0"/>
                    <a:t>7</a:t>
                  </a:r>
                </a:p>
              </p:txBody>
            </p:sp>
            <p:sp>
              <p:nvSpPr>
                <p:cNvPr id="17" name="16 CuadroTexto"/>
                <p:cNvSpPr txBox="1"/>
                <p:nvPr/>
              </p:nvSpPr>
              <p:spPr>
                <a:xfrm>
                  <a:off x="5721216" y="1723871"/>
                  <a:ext cx="327334" cy="3000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b="1" dirty="0"/>
                    <a:t>8</a:t>
                  </a:r>
                </a:p>
              </p:txBody>
            </p:sp>
            <p:sp>
              <p:nvSpPr>
                <p:cNvPr id="18" name="17 CuadroTexto"/>
                <p:cNvSpPr txBox="1"/>
                <p:nvPr/>
              </p:nvSpPr>
              <p:spPr>
                <a:xfrm>
                  <a:off x="6270638" y="1723871"/>
                  <a:ext cx="327334" cy="3000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b="1" dirty="0"/>
                    <a:t>9</a:t>
                  </a:r>
                </a:p>
              </p:txBody>
            </p:sp>
            <p:sp>
              <p:nvSpPr>
                <p:cNvPr id="19" name="18 CuadroTexto"/>
                <p:cNvSpPr txBox="1"/>
                <p:nvPr/>
              </p:nvSpPr>
              <p:spPr>
                <a:xfrm>
                  <a:off x="218556" y="1736675"/>
                  <a:ext cx="1008610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sz="1100" dirty="0"/>
                    <a:t>Instrucciones</a:t>
                  </a:r>
                </a:p>
              </p:txBody>
            </p:sp>
          </p:grpSp>
          <p:grpSp>
            <p:nvGrpSpPr>
              <p:cNvPr id="22" name="21 Grupo"/>
              <p:cNvGrpSpPr/>
              <p:nvPr/>
            </p:nvGrpSpPr>
            <p:grpSpPr>
              <a:xfrm>
                <a:off x="550229" y="2256394"/>
                <a:ext cx="6227717" cy="2490292"/>
                <a:chOff x="550229" y="2256394"/>
                <a:chExt cx="6227717" cy="2490292"/>
              </a:xfrm>
            </p:grpSpPr>
            <p:sp>
              <p:nvSpPr>
                <p:cNvPr id="27" name="Rectangle 49"/>
                <p:cNvSpPr>
                  <a:spLocks noChangeArrowheads="1"/>
                </p:cNvSpPr>
                <p:nvPr/>
              </p:nvSpPr>
              <p:spPr bwMode="auto">
                <a:xfrm>
                  <a:off x="1798781" y="2270185"/>
                  <a:ext cx="480332" cy="418752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LI</a:t>
                  </a:r>
                </a:p>
              </p:txBody>
            </p:sp>
            <p:grpSp>
              <p:nvGrpSpPr>
                <p:cNvPr id="28" name="Group 63"/>
                <p:cNvGrpSpPr>
                  <a:grpSpLocks/>
                </p:cNvGrpSpPr>
                <p:nvPr/>
              </p:nvGrpSpPr>
              <p:grpSpPr bwMode="auto">
                <a:xfrm>
                  <a:off x="2359656" y="2270187"/>
                  <a:ext cx="481797" cy="899872"/>
                  <a:chOff x="1347" y="1827"/>
                  <a:chExt cx="329" cy="808"/>
                </a:xfrm>
              </p:grpSpPr>
              <p:sp>
                <p:nvSpPr>
                  <p:cNvPr id="29" name="Rectangle 65"/>
                  <p:cNvSpPr>
                    <a:spLocks noChangeArrowheads="1"/>
                  </p:cNvSpPr>
                  <p:nvPr/>
                </p:nvSpPr>
                <p:spPr bwMode="auto">
                  <a:xfrm>
                    <a:off x="1347" y="1827"/>
                    <a:ext cx="328" cy="376"/>
                  </a:xfrm>
                  <a:prstGeom prst="rect">
                    <a:avLst/>
                  </a:prstGeom>
                  <a:solidFill>
                    <a:srgbClr val="3366CC"/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DI</a:t>
                    </a:r>
                  </a:p>
                </p:txBody>
              </p:sp>
              <p:sp>
                <p:nvSpPr>
                  <p:cNvPr id="30" name="Rectangle 66"/>
                  <p:cNvSpPr>
                    <a:spLocks noChangeArrowheads="1"/>
                  </p:cNvSpPr>
                  <p:nvPr/>
                </p:nvSpPr>
                <p:spPr bwMode="auto">
                  <a:xfrm>
                    <a:off x="1348" y="2259"/>
                    <a:ext cx="328" cy="376"/>
                  </a:xfrm>
                  <a:prstGeom prst="rect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LI</a:t>
                    </a:r>
                  </a:p>
                </p:txBody>
              </p:sp>
            </p:grpSp>
            <p:grpSp>
              <p:nvGrpSpPr>
                <p:cNvPr id="31" name="Group 80"/>
                <p:cNvGrpSpPr>
                  <a:grpSpLocks/>
                </p:cNvGrpSpPr>
                <p:nvPr/>
              </p:nvGrpSpPr>
              <p:grpSpPr bwMode="auto">
                <a:xfrm>
                  <a:off x="2921998" y="2270186"/>
                  <a:ext cx="481796" cy="1380991"/>
                  <a:chOff x="1731" y="1827"/>
                  <a:chExt cx="329" cy="1240"/>
                </a:xfrm>
              </p:grpSpPr>
              <p:sp>
                <p:nvSpPr>
                  <p:cNvPr id="32" name="Rectangle 82"/>
                  <p:cNvSpPr>
                    <a:spLocks noChangeArrowheads="1"/>
                  </p:cNvSpPr>
                  <p:nvPr/>
                </p:nvSpPr>
                <p:spPr bwMode="auto">
                  <a:xfrm>
                    <a:off x="1731" y="1827"/>
                    <a:ext cx="328" cy="376"/>
                  </a:xfrm>
                  <a:prstGeom prst="rect">
                    <a:avLst/>
                  </a:prstGeom>
                  <a:solidFill>
                    <a:srgbClr val="3366CC"/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EX</a:t>
                    </a:r>
                  </a:p>
                </p:txBody>
              </p:sp>
              <p:sp>
                <p:nvSpPr>
                  <p:cNvPr id="33" name="Rectangle 83"/>
                  <p:cNvSpPr>
                    <a:spLocks noChangeArrowheads="1"/>
                  </p:cNvSpPr>
                  <p:nvPr/>
                </p:nvSpPr>
                <p:spPr bwMode="auto">
                  <a:xfrm>
                    <a:off x="1731" y="2259"/>
                    <a:ext cx="328" cy="376"/>
                  </a:xfrm>
                  <a:prstGeom prst="rect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DI</a:t>
                    </a:r>
                  </a:p>
                </p:txBody>
              </p:sp>
              <p:sp>
                <p:nvSpPr>
                  <p:cNvPr id="34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1732" y="2691"/>
                    <a:ext cx="328" cy="376"/>
                  </a:xfrm>
                  <a:prstGeom prst="rect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LI</a:t>
                    </a:r>
                  </a:p>
                </p:txBody>
              </p:sp>
            </p:grpSp>
            <p:grpSp>
              <p:nvGrpSpPr>
                <p:cNvPr id="35" name="Group 98"/>
                <p:cNvGrpSpPr>
                  <a:grpSpLocks/>
                </p:cNvGrpSpPr>
                <p:nvPr/>
              </p:nvGrpSpPr>
              <p:grpSpPr bwMode="auto">
                <a:xfrm>
                  <a:off x="3484337" y="2270186"/>
                  <a:ext cx="481797" cy="1862111"/>
                  <a:chOff x="2115" y="1827"/>
                  <a:chExt cx="329" cy="1672"/>
                </a:xfrm>
              </p:grpSpPr>
              <p:sp>
                <p:nvSpPr>
                  <p:cNvPr id="36" name="Rectangle 100"/>
                  <p:cNvSpPr>
                    <a:spLocks noChangeArrowheads="1"/>
                  </p:cNvSpPr>
                  <p:nvPr/>
                </p:nvSpPr>
                <p:spPr bwMode="auto">
                  <a:xfrm>
                    <a:off x="2115" y="1827"/>
                    <a:ext cx="328" cy="376"/>
                  </a:xfrm>
                  <a:prstGeom prst="rect">
                    <a:avLst/>
                  </a:prstGeom>
                  <a:solidFill>
                    <a:srgbClr val="3366CC"/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M</a:t>
                    </a:r>
                  </a:p>
                </p:txBody>
              </p:sp>
              <p:sp>
                <p:nvSpPr>
                  <p:cNvPr id="37" name="Rectangle 101"/>
                  <p:cNvSpPr>
                    <a:spLocks noChangeArrowheads="1"/>
                  </p:cNvSpPr>
                  <p:nvPr/>
                </p:nvSpPr>
                <p:spPr bwMode="auto">
                  <a:xfrm>
                    <a:off x="2115" y="2259"/>
                    <a:ext cx="328" cy="376"/>
                  </a:xfrm>
                  <a:prstGeom prst="rect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EX</a:t>
                    </a:r>
                  </a:p>
                </p:txBody>
              </p:sp>
              <p:sp>
                <p:nvSpPr>
                  <p:cNvPr id="38" name="Rectangle 102"/>
                  <p:cNvSpPr>
                    <a:spLocks noChangeArrowheads="1"/>
                  </p:cNvSpPr>
                  <p:nvPr/>
                </p:nvSpPr>
                <p:spPr bwMode="auto">
                  <a:xfrm>
                    <a:off x="2115" y="2691"/>
                    <a:ext cx="328" cy="376"/>
                  </a:xfrm>
                  <a:prstGeom prst="rect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DI</a:t>
                    </a:r>
                  </a:p>
                </p:txBody>
              </p:sp>
              <p:sp>
                <p:nvSpPr>
                  <p:cNvPr id="39" name="Rectangle 103"/>
                  <p:cNvSpPr>
                    <a:spLocks noChangeArrowheads="1"/>
                  </p:cNvSpPr>
                  <p:nvPr/>
                </p:nvSpPr>
                <p:spPr bwMode="auto">
                  <a:xfrm>
                    <a:off x="2116" y="3123"/>
                    <a:ext cx="328" cy="376"/>
                  </a:xfrm>
                  <a:prstGeom prst="rect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LI</a:t>
                    </a:r>
                  </a:p>
                </p:txBody>
              </p:sp>
            </p:grpSp>
            <p:sp>
              <p:nvSpPr>
                <p:cNvPr id="40" name="Rectangle 184"/>
                <p:cNvSpPr>
                  <a:spLocks noChangeArrowheads="1"/>
                </p:cNvSpPr>
                <p:nvPr/>
              </p:nvSpPr>
              <p:spPr bwMode="auto">
                <a:xfrm>
                  <a:off x="4065909" y="2284473"/>
                  <a:ext cx="480431" cy="419100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ER</a:t>
                  </a:r>
                </a:p>
              </p:txBody>
            </p:sp>
            <p:sp>
              <p:nvSpPr>
                <p:cNvPr id="41" name="Rectangle 185"/>
                <p:cNvSpPr>
                  <a:spLocks noChangeArrowheads="1"/>
                </p:cNvSpPr>
                <p:nvPr/>
              </p:nvSpPr>
              <p:spPr bwMode="auto">
                <a:xfrm>
                  <a:off x="4050157" y="4194236"/>
                  <a:ext cx="480431" cy="419100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LI</a:t>
                  </a:r>
                </a:p>
              </p:txBody>
            </p:sp>
            <p:sp>
              <p:nvSpPr>
                <p:cNvPr id="42" name="Rectangle 252"/>
                <p:cNvSpPr>
                  <a:spLocks noChangeArrowheads="1"/>
                </p:cNvSpPr>
                <p:nvPr/>
              </p:nvSpPr>
              <p:spPr bwMode="auto">
                <a:xfrm>
                  <a:off x="4610922" y="4194236"/>
                  <a:ext cx="480431" cy="419100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DI</a:t>
                  </a:r>
                </a:p>
              </p:txBody>
            </p:sp>
            <p:sp>
              <p:nvSpPr>
                <p:cNvPr id="43" name="Rectangle 331"/>
                <p:cNvSpPr>
                  <a:spLocks noChangeArrowheads="1"/>
                </p:cNvSpPr>
                <p:nvPr/>
              </p:nvSpPr>
              <p:spPr bwMode="auto">
                <a:xfrm>
                  <a:off x="5173263" y="4194236"/>
                  <a:ext cx="480430" cy="419100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EX</a:t>
                  </a:r>
                </a:p>
              </p:txBody>
            </p:sp>
            <p:sp>
              <p:nvSpPr>
                <p:cNvPr id="44" name="Rectangle 384"/>
                <p:cNvSpPr>
                  <a:spLocks noChangeArrowheads="1"/>
                </p:cNvSpPr>
                <p:nvPr/>
              </p:nvSpPr>
              <p:spPr bwMode="auto">
                <a:xfrm>
                  <a:off x="5735602" y="4194236"/>
                  <a:ext cx="480431" cy="419100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M</a:t>
                  </a:r>
                </a:p>
              </p:txBody>
            </p:sp>
            <p:sp>
              <p:nvSpPr>
                <p:cNvPr id="45" name="Rectangle 411"/>
                <p:cNvSpPr>
                  <a:spLocks noChangeArrowheads="1"/>
                </p:cNvSpPr>
                <p:nvPr/>
              </p:nvSpPr>
              <p:spPr bwMode="auto">
                <a:xfrm>
                  <a:off x="6297613" y="4194373"/>
                  <a:ext cx="480333" cy="418963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ER</a:t>
                  </a:r>
                </a:p>
              </p:txBody>
            </p:sp>
            <p:sp>
              <p:nvSpPr>
                <p:cNvPr id="46" name="AutoShape 35"/>
                <p:cNvSpPr>
                  <a:spLocks noChangeArrowheads="1"/>
                </p:cNvSpPr>
                <p:nvPr/>
              </p:nvSpPr>
              <p:spPr bwMode="auto">
                <a:xfrm>
                  <a:off x="585454" y="2256394"/>
                  <a:ext cx="691359" cy="418821"/>
                </a:xfrm>
                <a:prstGeom prst="rightArrow">
                  <a:avLst>
                    <a:gd name="adj1" fmla="val 75009"/>
                    <a:gd name="adj2" fmla="val 47964"/>
                  </a:avLst>
                </a:prstGeom>
                <a:solidFill>
                  <a:srgbClr val="0070C0"/>
                </a:solidFill>
                <a:ln w="28575">
                  <a:solidFill>
                    <a:schemeClr val="folHlink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 </a:t>
                  </a:r>
                  <a:r>
                    <a:rPr lang="es-ES_tradnl" sz="2000" dirty="0" err="1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beq</a:t>
                  </a:r>
                  <a:endPara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endParaRPr>
                </a:p>
              </p:txBody>
            </p:sp>
            <p:sp>
              <p:nvSpPr>
                <p:cNvPr id="47" name="AutoShape 51"/>
                <p:cNvSpPr>
                  <a:spLocks noChangeArrowheads="1"/>
                </p:cNvSpPr>
                <p:nvPr/>
              </p:nvSpPr>
              <p:spPr bwMode="auto">
                <a:xfrm>
                  <a:off x="569761" y="2735455"/>
                  <a:ext cx="691359" cy="418821"/>
                </a:xfrm>
                <a:prstGeom prst="rightArrow">
                  <a:avLst>
                    <a:gd name="adj1" fmla="val 75009"/>
                    <a:gd name="adj2" fmla="val 47964"/>
                  </a:avLst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 </a:t>
                  </a:r>
                  <a:r>
                    <a:rPr lang="es-ES_tradnl" sz="2000" dirty="0" err="1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nop</a:t>
                  </a:r>
                  <a:endPara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endParaRPr>
                </a:p>
              </p:txBody>
            </p:sp>
            <p:sp>
              <p:nvSpPr>
                <p:cNvPr id="48" name="AutoShape 68"/>
                <p:cNvSpPr>
                  <a:spLocks noChangeArrowheads="1"/>
                </p:cNvSpPr>
                <p:nvPr/>
              </p:nvSpPr>
              <p:spPr bwMode="auto">
                <a:xfrm>
                  <a:off x="569761" y="3220205"/>
                  <a:ext cx="691359" cy="418821"/>
                </a:xfrm>
                <a:prstGeom prst="rightArrow">
                  <a:avLst>
                    <a:gd name="adj1" fmla="val 75009"/>
                    <a:gd name="adj2" fmla="val 47964"/>
                  </a:avLst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  </a:t>
                  </a:r>
                  <a:r>
                    <a:rPr lang="es-ES_tradnl" sz="2000" dirty="0" err="1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nop</a:t>
                  </a:r>
                  <a:endPara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endParaRPr>
                </a:p>
              </p:txBody>
            </p:sp>
            <p:sp>
              <p:nvSpPr>
                <p:cNvPr id="49" name="AutoShape 86"/>
                <p:cNvSpPr>
                  <a:spLocks noChangeArrowheads="1"/>
                </p:cNvSpPr>
                <p:nvPr/>
              </p:nvSpPr>
              <p:spPr bwMode="auto">
                <a:xfrm>
                  <a:off x="550229" y="3756288"/>
                  <a:ext cx="691359" cy="417707"/>
                </a:xfrm>
                <a:prstGeom prst="rightArrow">
                  <a:avLst>
                    <a:gd name="adj1" fmla="val 75009"/>
                    <a:gd name="adj2" fmla="val 47964"/>
                  </a:avLst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 </a:t>
                  </a:r>
                  <a:r>
                    <a:rPr lang="es-ES_tradnl" sz="2000" dirty="0" err="1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nop</a:t>
                  </a:r>
                  <a:endPara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endParaRPr>
                </a:p>
              </p:txBody>
            </p:sp>
            <p:sp>
              <p:nvSpPr>
                <p:cNvPr id="50" name="AutoShape 105"/>
                <p:cNvSpPr>
                  <a:spLocks noChangeArrowheads="1"/>
                </p:cNvSpPr>
                <p:nvPr/>
              </p:nvSpPr>
              <p:spPr bwMode="auto">
                <a:xfrm>
                  <a:off x="550229" y="4328979"/>
                  <a:ext cx="691359" cy="417707"/>
                </a:xfrm>
                <a:prstGeom prst="rightArrow">
                  <a:avLst>
                    <a:gd name="adj1" fmla="val 75009"/>
                    <a:gd name="adj2" fmla="val 47964"/>
                  </a:avLst>
                </a:prstGeom>
                <a:solidFill>
                  <a:srgbClr val="0070C0"/>
                </a:solidFill>
                <a:ln w="28575">
                  <a:solidFill>
                    <a:schemeClr val="folHlink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 err="1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sw</a:t>
                  </a:r>
                  <a:endPara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endParaRPr>
                </a:p>
              </p:txBody>
            </p:sp>
          </p:grpSp>
        </p:grpSp>
      </p:grp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Solución Conservadora (o de Urgencia) </a:t>
            </a:r>
          </a:p>
        </p:txBody>
      </p:sp>
      <p:grpSp>
        <p:nvGrpSpPr>
          <p:cNvPr id="21" name="20 Grupo"/>
          <p:cNvGrpSpPr/>
          <p:nvPr/>
        </p:nvGrpSpPr>
        <p:grpSpPr>
          <a:xfrm>
            <a:off x="5415418" y="823792"/>
            <a:ext cx="3364382" cy="3037257"/>
            <a:chOff x="5586853" y="904616"/>
            <a:chExt cx="3193551" cy="2001729"/>
          </a:xfrm>
        </p:grpSpPr>
        <p:sp>
          <p:nvSpPr>
            <p:cNvPr id="3" name="Rectangle 2"/>
            <p:cNvSpPr>
              <a:spLocks noChangeArrowheads="1"/>
            </p:cNvSpPr>
            <p:nvPr/>
          </p:nvSpPr>
          <p:spPr bwMode="auto">
            <a:xfrm>
              <a:off x="5586853" y="904616"/>
              <a:ext cx="3193551" cy="1967997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s-ES_tradnl" sz="2000" b="1" dirty="0">
                  <a:solidFill>
                    <a:schemeClr val="bg2"/>
                  </a:solidFill>
                  <a:latin typeface="Courier New" pitchFamily="-84" charset="0"/>
                </a:rPr>
                <a:t>       </a:t>
              </a:r>
              <a:r>
                <a:rPr lang="es-ES_tradnl" sz="1400" b="1" dirty="0" err="1">
                  <a:latin typeface="Courier New" pitchFamily="-84" charset="0"/>
                </a:rPr>
                <a:t>beq</a:t>
              </a:r>
              <a:r>
                <a:rPr lang="es-ES_tradnl" sz="1400" b="1" dirty="0">
                  <a:latin typeface="Courier New" pitchFamily="-84" charset="0"/>
                </a:rPr>
                <a:t> t2,t3,L1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es-ES_tradnl" sz="1400" b="1" dirty="0" err="1">
                  <a:latin typeface="Courier New" pitchFamily="-84" charset="0"/>
                </a:rPr>
                <a:t>nop</a:t>
              </a:r>
              <a:endParaRPr lang="es-ES_tradnl" sz="1400" b="1" dirty="0">
                <a:latin typeface="Courier New" pitchFamily="-8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es-ES_tradnl" sz="1400" b="1" dirty="0" err="1">
                  <a:latin typeface="Courier New" pitchFamily="-84" charset="0"/>
                </a:rPr>
                <a:t>nop</a:t>
              </a:r>
              <a:endParaRPr lang="es-ES_tradnl" sz="1400" b="1" dirty="0">
                <a:latin typeface="Courier New" pitchFamily="-8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es-ES_tradnl" sz="1400" b="1" dirty="0" err="1">
                  <a:latin typeface="Courier New" pitchFamily="-84" charset="0"/>
                </a:rPr>
                <a:t>nop</a:t>
              </a:r>
              <a:endParaRPr lang="es-ES_tradnl" sz="1400" b="1" dirty="0">
                <a:latin typeface="Courier New" pitchFamily="-8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es-ES_tradnl" sz="1400" b="1" dirty="0">
                  <a:latin typeface="Courier New" pitchFamily="-84" charset="0"/>
                </a:rPr>
                <a:t>         </a:t>
              </a:r>
              <a:r>
                <a:rPr lang="es-ES_tradnl" sz="1400" b="1" dirty="0" err="1">
                  <a:latin typeface="Courier New" pitchFamily="-84" charset="0"/>
                </a:rPr>
                <a:t>lw</a:t>
              </a:r>
              <a:r>
                <a:rPr lang="es-ES_tradnl" sz="1400" b="1" dirty="0">
                  <a:latin typeface="Courier New" pitchFamily="-84" charset="0"/>
                </a:rPr>
                <a:t> t2,100(t1)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es-ES_tradnl" sz="1400" b="1" dirty="0">
                  <a:latin typeface="Courier New" pitchFamily="-84" charset="0"/>
                </a:rPr>
                <a:t>         </a:t>
              </a:r>
              <a:r>
                <a:rPr lang="es-ES_tradnl" sz="1400" b="1" dirty="0" err="1">
                  <a:latin typeface="Courier New" pitchFamily="-84" charset="0"/>
                </a:rPr>
                <a:t>add</a:t>
              </a:r>
              <a:r>
                <a:rPr lang="es-ES_tradnl" sz="1400" b="1" dirty="0">
                  <a:latin typeface="Courier New" pitchFamily="-84" charset="0"/>
                </a:rPr>
                <a:t> t3,t1,t4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es-ES_tradnl" sz="1400" b="1" dirty="0">
                  <a:latin typeface="Courier New" pitchFamily="-84" charset="0"/>
                </a:rPr>
                <a:t>         </a:t>
              </a:r>
              <a:r>
                <a:rPr lang="es-ES_tradnl" sz="1400" b="1" dirty="0" err="1">
                  <a:latin typeface="Courier New" pitchFamily="-84" charset="0"/>
                </a:rPr>
                <a:t>or</a:t>
              </a:r>
              <a:r>
                <a:rPr lang="es-ES_tradnl" sz="1400" b="1" dirty="0">
                  <a:latin typeface="Courier New" pitchFamily="-84" charset="0"/>
                </a:rPr>
                <a:t>  t5,t6,t4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es-ES_tradnl" sz="1400" b="1" dirty="0">
                  <a:latin typeface="Courier New" pitchFamily="-84" charset="0"/>
                </a:rPr>
                <a:t>         sub t5,t5,t4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es-ES_tradnl" sz="1400" b="1" dirty="0">
                  <a:latin typeface="Courier New" pitchFamily="-84" charset="0"/>
                </a:rPr>
                <a:t>L1:      </a:t>
              </a:r>
              <a:r>
                <a:rPr lang="es-ES_tradnl" sz="1400" b="1" dirty="0" err="1">
                  <a:latin typeface="Courier New" pitchFamily="-84" charset="0"/>
                </a:rPr>
                <a:t>sw</a:t>
              </a:r>
              <a:r>
                <a:rPr lang="es-ES_tradnl" sz="1400" b="1" dirty="0">
                  <a:latin typeface="Courier New" pitchFamily="-84" charset="0"/>
                </a:rPr>
                <a:t>  t6,50(t4)</a:t>
              </a:r>
            </a:p>
          </p:txBody>
        </p:sp>
        <p:sp>
          <p:nvSpPr>
            <p:cNvPr id="20" name="19 CuadroTexto"/>
            <p:cNvSpPr txBox="1"/>
            <p:nvPr/>
          </p:nvSpPr>
          <p:spPr>
            <a:xfrm>
              <a:off x="6519834" y="1767365"/>
              <a:ext cx="360996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?</a:t>
              </a:r>
            </a:p>
          </p:txBody>
        </p:sp>
        <p:sp>
          <p:nvSpPr>
            <p:cNvPr id="51" name="50 CuadroTexto"/>
            <p:cNvSpPr txBox="1"/>
            <p:nvPr/>
          </p:nvSpPr>
          <p:spPr>
            <a:xfrm>
              <a:off x="6556552" y="2560096"/>
              <a:ext cx="360996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1747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Prestaciones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83568" y="1844824"/>
            <a:ext cx="8153400" cy="4323080"/>
          </a:xfrm>
          <a:solidFill>
            <a:schemeClr val="accent2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marL="0" indent="0" algn="ctr">
              <a:buNone/>
            </a:pPr>
            <a:endParaRPr lang="es-ES" dirty="0"/>
          </a:p>
          <a:p>
            <a:pPr marL="0" indent="0" algn="ctr">
              <a:buNone/>
            </a:pPr>
            <a:endParaRPr lang="es-ES" dirty="0"/>
          </a:p>
          <a:p>
            <a:pPr marL="0" indent="0" algn="ctr">
              <a:buNone/>
            </a:pPr>
            <a:endParaRPr lang="es-ES" dirty="0"/>
          </a:p>
          <a:p>
            <a:pPr marL="0" indent="0" algn="ctr">
              <a:buNone/>
            </a:pPr>
            <a:r>
              <a:rPr lang="es-ES" b="1" dirty="0">
                <a:solidFill>
                  <a:schemeClr val="tx1"/>
                </a:solidFill>
              </a:rPr>
              <a:t>Las soluciones conservadoras (inserción de instrucciones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nop</a:t>
            </a:r>
            <a:r>
              <a:rPr lang="es-ES" b="1" dirty="0">
                <a:solidFill>
                  <a:schemeClr val="tx1"/>
                </a:solidFill>
              </a:rPr>
              <a:t> o ciclos de espera) no permiten mejorar el rendimiento del procesador</a:t>
            </a:r>
          </a:p>
          <a:p>
            <a:pPr marL="0" indent="0" algn="ctr">
              <a:buNone/>
            </a:pPr>
            <a:endParaRPr lang="es-ES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s-ES" sz="2000" dirty="0">
                <a:solidFill>
                  <a:schemeClr val="tx1"/>
                </a:solidFill>
              </a:rPr>
              <a:t>Para no tener ciclos improductivos el compilador puede encontrar instrucciones útiles en lugar de </a:t>
            </a:r>
            <a:r>
              <a:rPr lang="es-E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nop</a:t>
            </a:r>
            <a:r>
              <a:rPr lang="es-ES" sz="2000" dirty="0">
                <a:solidFill>
                  <a:schemeClr val="tx1"/>
                </a:solidFill>
              </a:rPr>
              <a:t>.  Esto supone re-organizar el código.</a:t>
            </a: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-387424"/>
            <a:ext cx="3672408" cy="367240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3899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"/>
          <p:cNvSpPr/>
          <p:nvPr/>
        </p:nvSpPr>
        <p:spPr>
          <a:xfrm>
            <a:off x="395536" y="1700808"/>
            <a:ext cx="7992888" cy="410445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664804"/>
            <a:ext cx="3024336" cy="352839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Alternativa: Predicción de Salto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294967295"/>
          </p:nvPr>
        </p:nvSpPr>
        <p:spPr>
          <a:xfrm>
            <a:off x="4844901" y="1803399"/>
            <a:ext cx="3886200" cy="4358167"/>
          </a:xfrm>
          <a:prstGeom prst="rect">
            <a:avLst/>
          </a:prstGeo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Predicción estática</a:t>
            </a:r>
          </a:p>
          <a:p>
            <a:pPr lvl="2"/>
            <a:r>
              <a:rPr lang="es-ES" dirty="0">
                <a:solidFill>
                  <a:schemeClr val="bg1"/>
                </a:solidFill>
              </a:rPr>
              <a:t>Salto efectivo</a:t>
            </a:r>
          </a:p>
          <a:p>
            <a:pPr lvl="2"/>
            <a:r>
              <a:rPr lang="es-ES" dirty="0">
                <a:solidFill>
                  <a:schemeClr val="bg1"/>
                </a:solidFill>
              </a:rPr>
              <a:t>Salto NO efectivo</a:t>
            </a:r>
          </a:p>
          <a:p>
            <a:pPr lvl="1"/>
            <a:endParaRPr lang="es-ES" dirty="0">
              <a:solidFill>
                <a:schemeClr val="bg1"/>
              </a:solidFill>
            </a:endParaRPr>
          </a:p>
          <a:p>
            <a:r>
              <a:rPr lang="es-ES" dirty="0">
                <a:solidFill>
                  <a:schemeClr val="bg1"/>
                </a:solidFill>
              </a:rPr>
              <a:t>Predicción dinámica </a:t>
            </a:r>
          </a:p>
          <a:p>
            <a:pPr marL="365760" lvl="1" indent="0">
              <a:buNone/>
            </a:pPr>
            <a:r>
              <a:rPr lang="es-ES" dirty="0">
                <a:solidFill>
                  <a:schemeClr val="bg1"/>
                </a:solidFill>
              </a:rPr>
              <a:t>(tiene en cuenta el histórico</a:t>
            </a:r>
            <a:r>
              <a:rPr lang="es-ES" dirty="0">
                <a:solidFill>
                  <a:srgbClr val="00B0F0"/>
                </a:solidFill>
              </a:rPr>
              <a:t>)</a:t>
            </a:r>
          </a:p>
        </p:txBody>
      </p:sp>
      <p:sp>
        <p:nvSpPr>
          <p:cNvPr id="7" name="6 Rectángulo"/>
          <p:cNvSpPr/>
          <p:nvPr/>
        </p:nvSpPr>
        <p:spPr>
          <a:xfrm>
            <a:off x="5156048" y="2660915"/>
            <a:ext cx="3096344" cy="480053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  <a:effectLst>
            <a:glow>
              <a:schemeClr val="accent6">
                <a:satMod val="175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9451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Predicción: Salto NO Efectivo</a:t>
            </a:r>
          </a:p>
        </p:txBody>
      </p:sp>
      <p:grpSp>
        <p:nvGrpSpPr>
          <p:cNvPr id="106" name="105 Grupo"/>
          <p:cNvGrpSpPr/>
          <p:nvPr/>
        </p:nvGrpSpPr>
        <p:grpSpPr>
          <a:xfrm>
            <a:off x="369914" y="1340768"/>
            <a:ext cx="7226422" cy="5223588"/>
            <a:chOff x="534524" y="1254494"/>
            <a:chExt cx="7226422" cy="3917691"/>
          </a:xfrm>
        </p:grpSpPr>
        <p:grpSp>
          <p:nvGrpSpPr>
            <p:cNvPr id="5" name="4 Grupo"/>
            <p:cNvGrpSpPr/>
            <p:nvPr/>
          </p:nvGrpSpPr>
          <p:grpSpPr>
            <a:xfrm>
              <a:off x="534524" y="1254494"/>
              <a:ext cx="7226422" cy="3917691"/>
              <a:chOff x="130443" y="1362409"/>
              <a:chExt cx="7226422" cy="3917691"/>
            </a:xfrm>
          </p:grpSpPr>
          <p:sp>
            <p:nvSpPr>
              <p:cNvPr id="6" name="5 Rectángulo"/>
              <p:cNvSpPr/>
              <p:nvPr/>
            </p:nvSpPr>
            <p:spPr>
              <a:xfrm>
                <a:off x="156065" y="1376873"/>
                <a:ext cx="7200800" cy="3903227"/>
              </a:xfrm>
              <a:prstGeom prst="rect">
                <a:avLst/>
              </a:prstGeom>
              <a:solidFill>
                <a:srgbClr val="EAEAEA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7" name="6 Grupo"/>
              <p:cNvGrpSpPr/>
              <p:nvPr/>
            </p:nvGrpSpPr>
            <p:grpSpPr>
              <a:xfrm>
                <a:off x="130443" y="1362409"/>
                <a:ext cx="6608179" cy="3816424"/>
                <a:chOff x="218556" y="1203981"/>
                <a:chExt cx="6608179" cy="3816424"/>
              </a:xfrm>
            </p:grpSpPr>
            <p:grpSp>
              <p:nvGrpSpPr>
                <p:cNvPr id="8" name="7 Grupo"/>
                <p:cNvGrpSpPr/>
                <p:nvPr/>
              </p:nvGrpSpPr>
              <p:grpSpPr>
                <a:xfrm>
                  <a:off x="218556" y="1203981"/>
                  <a:ext cx="6608179" cy="3816424"/>
                  <a:chOff x="218556" y="1203981"/>
                  <a:chExt cx="6608179" cy="3816424"/>
                </a:xfrm>
              </p:grpSpPr>
              <p:cxnSp>
                <p:nvCxnSpPr>
                  <p:cNvPr id="34" name="33 Conector recto"/>
                  <p:cNvCxnSpPr/>
                  <p:nvPr/>
                </p:nvCxnSpPr>
                <p:spPr>
                  <a:xfrm>
                    <a:off x="1539490" y="1203981"/>
                    <a:ext cx="0" cy="3816424"/>
                  </a:xfrm>
                  <a:prstGeom prst="line">
                    <a:avLst/>
                  </a:prstGeom>
                  <a:ln w="5715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34 Conector recto"/>
                  <p:cNvCxnSpPr/>
                  <p:nvPr/>
                </p:nvCxnSpPr>
                <p:spPr>
                  <a:xfrm flipV="1">
                    <a:off x="539010" y="2068077"/>
                    <a:ext cx="6287725" cy="2270"/>
                  </a:xfrm>
                  <a:prstGeom prst="line">
                    <a:avLst/>
                  </a:prstGeom>
                  <a:ln w="5715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35 Conector recto"/>
                  <p:cNvCxnSpPr/>
                  <p:nvPr/>
                </p:nvCxnSpPr>
                <p:spPr>
                  <a:xfrm flipH="1" flipV="1">
                    <a:off x="799489" y="1393694"/>
                    <a:ext cx="715030" cy="648072"/>
                  </a:xfrm>
                  <a:prstGeom prst="line">
                    <a:avLst/>
                  </a:prstGeom>
                  <a:ln w="5715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7" name="36 CuadroTexto"/>
                  <p:cNvSpPr txBox="1"/>
                  <p:nvPr/>
                </p:nvSpPr>
                <p:spPr>
                  <a:xfrm>
                    <a:off x="983747" y="1431038"/>
                    <a:ext cx="524504" cy="20774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s-ES" sz="1200" dirty="0"/>
                      <a:t>Ciclo</a:t>
                    </a:r>
                  </a:p>
                </p:txBody>
              </p:sp>
              <p:sp>
                <p:nvSpPr>
                  <p:cNvPr id="38" name="37 CuadroTexto"/>
                  <p:cNvSpPr txBox="1"/>
                  <p:nvPr/>
                </p:nvSpPr>
                <p:spPr>
                  <a:xfrm>
                    <a:off x="1875280" y="1723871"/>
                    <a:ext cx="327334" cy="3000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s-ES" b="1" dirty="0"/>
                      <a:t>1</a:t>
                    </a:r>
                  </a:p>
                </p:txBody>
              </p:sp>
              <p:sp>
                <p:nvSpPr>
                  <p:cNvPr id="39" name="38 CuadroTexto"/>
                  <p:cNvSpPr txBox="1"/>
                  <p:nvPr/>
                </p:nvSpPr>
                <p:spPr>
                  <a:xfrm>
                    <a:off x="2424699" y="1723871"/>
                    <a:ext cx="327334" cy="3000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s-ES" b="1" dirty="0"/>
                      <a:t>2</a:t>
                    </a:r>
                  </a:p>
                </p:txBody>
              </p:sp>
              <p:sp>
                <p:nvSpPr>
                  <p:cNvPr id="40" name="39 CuadroTexto"/>
                  <p:cNvSpPr txBox="1"/>
                  <p:nvPr/>
                </p:nvSpPr>
                <p:spPr>
                  <a:xfrm>
                    <a:off x="2974119" y="1723871"/>
                    <a:ext cx="327334" cy="3000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s-ES" b="1" dirty="0"/>
                      <a:t>3</a:t>
                    </a:r>
                  </a:p>
                </p:txBody>
              </p:sp>
              <p:sp>
                <p:nvSpPr>
                  <p:cNvPr id="41" name="40 CuadroTexto"/>
                  <p:cNvSpPr txBox="1"/>
                  <p:nvPr/>
                </p:nvSpPr>
                <p:spPr>
                  <a:xfrm>
                    <a:off x="3523538" y="1723871"/>
                    <a:ext cx="327334" cy="3000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s-ES" b="1" dirty="0"/>
                      <a:t>4</a:t>
                    </a:r>
                  </a:p>
                </p:txBody>
              </p:sp>
              <p:sp>
                <p:nvSpPr>
                  <p:cNvPr id="42" name="41 CuadroTexto"/>
                  <p:cNvSpPr txBox="1"/>
                  <p:nvPr/>
                </p:nvSpPr>
                <p:spPr>
                  <a:xfrm>
                    <a:off x="4072958" y="1723871"/>
                    <a:ext cx="327334" cy="3000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s-ES" b="1" dirty="0"/>
                      <a:t>5</a:t>
                    </a:r>
                  </a:p>
                </p:txBody>
              </p:sp>
              <p:sp>
                <p:nvSpPr>
                  <p:cNvPr id="43" name="42 CuadroTexto"/>
                  <p:cNvSpPr txBox="1"/>
                  <p:nvPr/>
                </p:nvSpPr>
                <p:spPr>
                  <a:xfrm>
                    <a:off x="4622377" y="1723871"/>
                    <a:ext cx="327334" cy="3000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s-ES" b="1" dirty="0"/>
                      <a:t>6</a:t>
                    </a:r>
                  </a:p>
                </p:txBody>
              </p:sp>
              <p:sp>
                <p:nvSpPr>
                  <p:cNvPr id="44" name="43 CuadroTexto"/>
                  <p:cNvSpPr txBox="1"/>
                  <p:nvPr/>
                </p:nvSpPr>
                <p:spPr>
                  <a:xfrm>
                    <a:off x="5171797" y="1723871"/>
                    <a:ext cx="327334" cy="3000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s-ES" b="1" dirty="0"/>
                      <a:t>7</a:t>
                    </a:r>
                  </a:p>
                </p:txBody>
              </p:sp>
              <p:sp>
                <p:nvSpPr>
                  <p:cNvPr id="45" name="44 CuadroTexto"/>
                  <p:cNvSpPr txBox="1"/>
                  <p:nvPr/>
                </p:nvSpPr>
                <p:spPr>
                  <a:xfrm>
                    <a:off x="5721216" y="1723871"/>
                    <a:ext cx="327334" cy="3000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s-ES" b="1" dirty="0"/>
                      <a:t>8</a:t>
                    </a:r>
                  </a:p>
                </p:txBody>
              </p:sp>
              <p:sp>
                <p:nvSpPr>
                  <p:cNvPr id="46" name="45 CuadroTexto"/>
                  <p:cNvSpPr txBox="1"/>
                  <p:nvPr/>
                </p:nvSpPr>
                <p:spPr>
                  <a:xfrm>
                    <a:off x="6270638" y="1723871"/>
                    <a:ext cx="327334" cy="3000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s-ES" b="1" dirty="0"/>
                      <a:t>9</a:t>
                    </a:r>
                  </a:p>
                </p:txBody>
              </p:sp>
              <p:sp>
                <p:nvSpPr>
                  <p:cNvPr id="47" name="46 CuadroTexto"/>
                  <p:cNvSpPr txBox="1"/>
                  <p:nvPr/>
                </p:nvSpPr>
                <p:spPr>
                  <a:xfrm>
                    <a:off x="218556" y="1736675"/>
                    <a:ext cx="1008610" cy="19620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s-ES" sz="1100" dirty="0"/>
                      <a:t>Instrucciones</a:t>
                    </a:r>
                  </a:p>
                </p:txBody>
              </p:sp>
            </p:grpSp>
            <p:grpSp>
              <p:nvGrpSpPr>
                <p:cNvPr id="9" name="8 Grupo"/>
                <p:cNvGrpSpPr/>
                <p:nvPr/>
              </p:nvGrpSpPr>
              <p:grpSpPr>
                <a:xfrm>
                  <a:off x="550229" y="2256394"/>
                  <a:ext cx="6227717" cy="2490292"/>
                  <a:chOff x="550229" y="2256394"/>
                  <a:chExt cx="6227717" cy="2490292"/>
                </a:xfrm>
              </p:grpSpPr>
              <p:sp>
                <p:nvSpPr>
                  <p:cNvPr id="10" name="Rectangle 49"/>
                  <p:cNvSpPr>
                    <a:spLocks noChangeArrowheads="1"/>
                  </p:cNvSpPr>
                  <p:nvPr/>
                </p:nvSpPr>
                <p:spPr bwMode="auto">
                  <a:xfrm>
                    <a:off x="1798781" y="2270185"/>
                    <a:ext cx="480332" cy="418752"/>
                  </a:xfrm>
                  <a:prstGeom prst="rect">
                    <a:avLst/>
                  </a:prstGeom>
                  <a:solidFill>
                    <a:srgbClr val="3366CC"/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LI</a:t>
                    </a:r>
                  </a:p>
                </p:txBody>
              </p:sp>
              <p:grpSp>
                <p:nvGrpSpPr>
                  <p:cNvPr id="11" name="Group 63"/>
                  <p:cNvGrpSpPr>
                    <a:grpSpLocks/>
                  </p:cNvGrpSpPr>
                  <p:nvPr/>
                </p:nvGrpSpPr>
                <p:grpSpPr bwMode="auto">
                  <a:xfrm>
                    <a:off x="2359656" y="2270187"/>
                    <a:ext cx="481797" cy="899872"/>
                    <a:chOff x="1347" y="1827"/>
                    <a:chExt cx="329" cy="808"/>
                  </a:xfrm>
                </p:grpSpPr>
                <p:sp>
                  <p:nvSpPr>
                    <p:cNvPr id="32" name="Rectangle 6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47" y="1827"/>
                      <a:ext cx="328" cy="376"/>
                    </a:xfrm>
                    <a:prstGeom prst="rect">
                      <a:avLst/>
                    </a:prstGeom>
                    <a:solidFill>
                      <a:srgbClr val="3366CC"/>
                    </a:solidFill>
                    <a:ln w="12699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lIns="92075" tIns="46038" rIns="92075" bIns="46038" anchor="ctr"/>
                    <a:lstStyle/>
                    <a:p>
                      <a:pPr algn="ctr" eaLnBrk="0" hangingPunct="0">
                        <a:defRPr/>
                      </a:pPr>
                      <a:r>
                        <a:rPr lang="es-ES_tradnl" sz="2000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Black" pitchFamily="-84" charset="0"/>
                          <a:ea typeface="+mn-ea"/>
                        </a:rPr>
                        <a:t>DI</a:t>
                      </a:r>
                    </a:p>
                  </p:txBody>
                </p:sp>
                <p:sp>
                  <p:nvSpPr>
                    <p:cNvPr id="33" name="Rectangle 6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48" y="2259"/>
                      <a:ext cx="328" cy="376"/>
                    </a:xfrm>
                    <a:prstGeom prst="rect">
                      <a:avLst/>
                    </a:prstGeom>
                    <a:solidFill>
                      <a:srgbClr val="0070C0"/>
                    </a:solidFill>
                    <a:ln w="12699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lIns="92075" tIns="46038" rIns="92075" bIns="46038" anchor="ctr"/>
                    <a:lstStyle/>
                    <a:p>
                      <a:pPr algn="ctr" eaLnBrk="0" hangingPunct="0">
                        <a:defRPr/>
                      </a:pPr>
                      <a:r>
                        <a:rPr lang="es-ES_tradnl" sz="2000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Black" pitchFamily="-84" charset="0"/>
                          <a:ea typeface="+mn-ea"/>
                        </a:rPr>
                        <a:t>LI</a:t>
                      </a:r>
                    </a:p>
                  </p:txBody>
                </p:sp>
              </p:grpSp>
              <p:grpSp>
                <p:nvGrpSpPr>
                  <p:cNvPr id="12" name="Group 80"/>
                  <p:cNvGrpSpPr>
                    <a:grpSpLocks/>
                  </p:cNvGrpSpPr>
                  <p:nvPr/>
                </p:nvGrpSpPr>
                <p:grpSpPr bwMode="auto">
                  <a:xfrm>
                    <a:off x="2921998" y="2270186"/>
                    <a:ext cx="481796" cy="1380991"/>
                    <a:chOff x="1731" y="1827"/>
                    <a:chExt cx="329" cy="1240"/>
                  </a:xfrm>
                </p:grpSpPr>
                <p:sp>
                  <p:nvSpPr>
                    <p:cNvPr id="29" name="Rectangle 8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31" y="1827"/>
                      <a:ext cx="328" cy="376"/>
                    </a:xfrm>
                    <a:prstGeom prst="rect">
                      <a:avLst/>
                    </a:prstGeom>
                    <a:solidFill>
                      <a:srgbClr val="3366CC"/>
                    </a:solidFill>
                    <a:ln w="12699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lIns="92075" tIns="46038" rIns="92075" bIns="46038" anchor="ctr"/>
                    <a:lstStyle/>
                    <a:p>
                      <a:pPr algn="ctr" eaLnBrk="0" hangingPunct="0">
                        <a:defRPr/>
                      </a:pPr>
                      <a:r>
                        <a:rPr lang="es-ES_tradnl" sz="2000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Black" pitchFamily="-84" charset="0"/>
                          <a:ea typeface="+mn-ea"/>
                        </a:rPr>
                        <a:t>EX</a:t>
                      </a:r>
                    </a:p>
                  </p:txBody>
                </p:sp>
                <p:sp>
                  <p:nvSpPr>
                    <p:cNvPr id="30" name="Rectangle 8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31" y="2259"/>
                      <a:ext cx="328" cy="376"/>
                    </a:xfrm>
                    <a:prstGeom prst="rect">
                      <a:avLst/>
                    </a:prstGeom>
                    <a:solidFill>
                      <a:srgbClr val="0070C0"/>
                    </a:solidFill>
                    <a:ln w="12699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lIns="92075" tIns="46038" rIns="92075" bIns="46038" anchor="ctr"/>
                    <a:lstStyle/>
                    <a:p>
                      <a:pPr algn="ctr" eaLnBrk="0" hangingPunct="0">
                        <a:defRPr/>
                      </a:pPr>
                      <a:r>
                        <a:rPr lang="es-ES_tradnl" sz="2000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Black" pitchFamily="-84" charset="0"/>
                          <a:ea typeface="+mn-ea"/>
                        </a:rPr>
                        <a:t>DI</a:t>
                      </a:r>
                    </a:p>
                  </p:txBody>
                </p:sp>
                <p:sp>
                  <p:nvSpPr>
                    <p:cNvPr id="31" name="Rectangle 8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32" y="2691"/>
                      <a:ext cx="328" cy="376"/>
                    </a:xfrm>
                    <a:prstGeom prst="rect">
                      <a:avLst/>
                    </a:prstGeom>
                    <a:solidFill>
                      <a:srgbClr val="0070C0"/>
                    </a:solidFill>
                    <a:ln w="12699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lIns="92075" tIns="46038" rIns="92075" bIns="46038" anchor="ctr"/>
                    <a:lstStyle/>
                    <a:p>
                      <a:pPr algn="ctr" eaLnBrk="0" hangingPunct="0">
                        <a:defRPr/>
                      </a:pPr>
                      <a:r>
                        <a:rPr lang="es-ES_tradnl" sz="2000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Black" pitchFamily="-84" charset="0"/>
                          <a:ea typeface="+mn-ea"/>
                        </a:rPr>
                        <a:t>LI</a:t>
                      </a:r>
                    </a:p>
                  </p:txBody>
                </p:sp>
              </p:grpSp>
              <p:grpSp>
                <p:nvGrpSpPr>
                  <p:cNvPr id="13" name="Group 98"/>
                  <p:cNvGrpSpPr>
                    <a:grpSpLocks/>
                  </p:cNvGrpSpPr>
                  <p:nvPr/>
                </p:nvGrpSpPr>
                <p:grpSpPr bwMode="auto">
                  <a:xfrm>
                    <a:off x="3484337" y="2270186"/>
                    <a:ext cx="481797" cy="1862111"/>
                    <a:chOff x="2115" y="1827"/>
                    <a:chExt cx="329" cy="1672"/>
                  </a:xfrm>
                </p:grpSpPr>
                <p:sp>
                  <p:nvSpPr>
                    <p:cNvPr id="25" name="Rectangle 10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15" y="1827"/>
                      <a:ext cx="328" cy="376"/>
                    </a:xfrm>
                    <a:prstGeom prst="rect">
                      <a:avLst/>
                    </a:prstGeom>
                    <a:solidFill>
                      <a:srgbClr val="3366CC"/>
                    </a:solidFill>
                    <a:ln w="12699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lIns="92075" tIns="46038" rIns="92075" bIns="46038" anchor="ctr"/>
                    <a:lstStyle/>
                    <a:p>
                      <a:pPr algn="ctr" eaLnBrk="0" hangingPunct="0">
                        <a:defRPr/>
                      </a:pPr>
                      <a:r>
                        <a:rPr lang="es-ES_tradnl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Black" pitchFamily="-84" charset="0"/>
                          <a:ea typeface="+mn-ea"/>
                        </a:rPr>
                        <a:t>M</a:t>
                      </a:r>
                    </a:p>
                  </p:txBody>
                </p:sp>
                <p:sp>
                  <p:nvSpPr>
                    <p:cNvPr id="26" name="Rectangle 10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15" y="2259"/>
                      <a:ext cx="328" cy="376"/>
                    </a:xfrm>
                    <a:prstGeom prst="rect">
                      <a:avLst/>
                    </a:prstGeom>
                    <a:solidFill>
                      <a:srgbClr val="0070C0"/>
                    </a:solidFill>
                    <a:ln w="12699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lIns="92075" tIns="46038" rIns="92075" bIns="46038" anchor="ctr"/>
                    <a:lstStyle/>
                    <a:p>
                      <a:pPr algn="ctr" eaLnBrk="0" hangingPunct="0">
                        <a:defRPr/>
                      </a:pPr>
                      <a:r>
                        <a:rPr lang="es-ES_tradnl" sz="2000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Black" pitchFamily="-84" charset="0"/>
                          <a:ea typeface="+mn-ea"/>
                        </a:rPr>
                        <a:t>EX</a:t>
                      </a:r>
                    </a:p>
                  </p:txBody>
                </p:sp>
                <p:sp>
                  <p:nvSpPr>
                    <p:cNvPr id="27" name="Rectangle 10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15" y="2691"/>
                      <a:ext cx="328" cy="376"/>
                    </a:xfrm>
                    <a:prstGeom prst="rect">
                      <a:avLst/>
                    </a:prstGeom>
                    <a:solidFill>
                      <a:srgbClr val="0070C0"/>
                    </a:solidFill>
                    <a:ln w="12699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lIns="92075" tIns="46038" rIns="92075" bIns="46038" anchor="ctr"/>
                    <a:lstStyle/>
                    <a:p>
                      <a:pPr algn="ctr" eaLnBrk="0" hangingPunct="0">
                        <a:defRPr/>
                      </a:pPr>
                      <a:r>
                        <a:rPr lang="es-ES_tradnl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Black" pitchFamily="-84" charset="0"/>
                          <a:ea typeface="+mn-ea"/>
                        </a:rPr>
                        <a:t>DI</a:t>
                      </a:r>
                    </a:p>
                  </p:txBody>
                </p:sp>
                <p:sp>
                  <p:nvSpPr>
                    <p:cNvPr id="28" name="Rectangle 10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16" y="3123"/>
                      <a:ext cx="328" cy="376"/>
                    </a:xfrm>
                    <a:prstGeom prst="rect">
                      <a:avLst/>
                    </a:prstGeom>
                    <a:solidFill>
                      <a:srgbClr val="0070C0"/>
                    </a:solidFill>
                    <a:ln w="12699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lIns="92075" tIns="46038" rIns="92075" bIns="46038" anchor="ctr"/>
                    <a:lstStyle/>
                    <a:p>
                      <a:pPr algn="ctr" eaLnBrk="0" hangingPunct="0">
                        <a:defRPr/>
                      </a:pPr>
                      <a:r>
                        <a:rPr lang="es-ES_tradnl" sz="2000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Black" pitchFamily="-84" charset="0"/>
                          <a:ea typeface="+mn-ea"/>
                        </a:rPr>
                        <a:t>LI</a:t>
                      </a:r>
                    </a:p>
                  </p:txBody>
                </p:sp>
              </p:grpSp>
              <p:sp>
                <p:nvSpPr>
                  <p:cNvPr id="14" name="Rectangle 184"/>
                  <p:cNvSpPr>
                    <a:spLocks noChangeArrowheads="1"/>
                  </p:cNvSpPr>
                  <p:nvPr/>
                </p:nvSpPr>
                <p:spPr bwMode="auto">
                  <a:xfrm>
                    <a:off x="4040008" y="2284473"/>
                    <a:ext cx="480431" cy="419100"/>
                  </a:xfrm>
                  <a:prstGeom prst="rect">
                    <a:avLst/>
                  </a:prstGeom>
                  <a:solidFill>
                    <a:srgbClr val="3366CC"/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ER</a:t>
                    </a:r>
                  </a:p>
                </p:txBody>
              </p:sp>
              <p:sp>
                <p:nvSpPr>
                  <p:cNvPr id="15" name="Rectangle 185"/>
                  <p:cNvSpPr>
                    <a:spLocks noChangeArrowheads="1"/>
                  </p:cNvSpPr>
                  <p:nvPr/>
                </p:nvSpPr>
                <p:spPr bwMode="auto">
                  <a:xfrm>
                    <a:off x="4050157" y="4194236"/>
                    <a:ext cx="480431" cy="419100"/>
                  </a:xfrm>
                  <a:prstGeom prst="rect">
                    <a:avLst/>
                  </a:prstGeom>
                  <a:solidFill>
                    <a:srgbClr val="3366CC"/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LI</a:t>
                    </a:r>
                  </a:p>
                </p:txBody>
              </p:sp>
              <p:sp>
                <p:nvSpPr>
                  <p:cNvPr id="16" name="Rectangle 252"/>
                  <p:cNvSpPr>
                    <a:spLocks noChangeArrowheads="1"/>
                  </p:cNvSpPr>
                  <p:nvPr/>
                </p:nvSpPr>
                <p:spPr bwMode="auto">
                  <a:xfrm>
                    <a:off x="4610922" y="4194236"/>
                    <a:ext cx="480431" cy="419100"/>
                  </a:xfrm>
                  <a:prstGeom prst="rect">
                    <a:avLst/>
                  </a:prstGeom>
                  <a:solidFill>
                    <a:srgbClr val="3366CC"/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DI</a:t>
                    </a:r>
                  </a:p>
                </p:txBody>
              </p:sp>
              <p:sp>
                <p:nvSpPr>
                  <p:cNvPr id="17" name="Rectangle 331"/>
                  <p:cNvSpPr>
                    <a:spLocks noChangeArrowheads="1"/>
                  </p:cNvSpPr>
                  <p:nvPr/>
                </p:nvSpPr>
                <p:spPr bwMode="auto">
                  <a:xfrm>
                    <a:off x="5173263" y="4194236"/>
                    <a:ext cx="480430" cy="419100"/>
                  </a:xfrm>
                  <a:prstGeom prst="rect">
                    <a:avLst/>
                  </a:prstGeom>
                  <a:solidFill>
                    <a:srgbClr val="3366CC"/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EX</a:t>
                    </a:r>
                  </a:p>
                </p:txBody>
              </p:sp>
              <p:sp>
                <p:nvSpPr>
                  <p:cNvPr id="18" name="Rectangle 384"/>
                  <p:cNvSpPr>
                    <a:spLocks noChangeArrowheads="1"/>
                  </p:cNvSpPr>
                  <p:nvPr/>
                </p:nvSpPr>
                <p:spPr bwMode="auto">
                  <a:xfrm>
                    <a:off x="5735602" y="4194236"/>
                    <a:ext cx="480431" cy="419100"/>
                  </a:xfrm>
                  <a:prstGeom prst="rect">
                    <a:avLst/>
                  </a:prstGeom>
                  <a:solidFill>
                    <a:srgbClr val="3366CC"/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M</a:t>
                    </a:r>
                  </a:p>
                </p:txBody>
              </p:sp>
              <p:sp>
                <p:nvSpPr>
                  <p:cNvPr id="19" name="Rectangle 411"/>
                  <p:cNvSpPr>
                    <a:spLocks noChangeArrowheads="1"/>
                  </p:cNvSpPr>
                  <p:nvPr/>
                </p:nvSpPr>
                <p:spPr bwMode="auto">
                  <a:xfrm>
                    <a:off x="6297613" y="4194373"/>
                    <a:ext cx="480333" cy="418963"/>
                  </a:xfrm>
                  <a:prstGeom prst="rect">
                    <a:avLst/>
                  </a:prstGeom>
                  <a:solidFill>
                    <a:srgbClr val="3366CC"/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ER</a:t>
                    </a:r>
                  </a:p>
                </p:txBody>
              </p:sp>
              <p:sp>
                <p:nvSpPr>
                  <p:cNvPr id="20" name="AutoShape 35"/>
                  <p:cNvSpPr>
                    <a:spLocks noChangeArrowheads="1"/>
                  </p:cNvSpPr>
                  <p:nvPr/>
                </p:nvSpPr>
                <p:spPr bwMode="auto">
                  <a:xfrm>
                    <a:off x="585454" y="2256394"/>
                    <a:ext cx="691359" cy="418821"/>
                  </a:xfrm>
                  <a:prstGeom prst="rightArrow">
                    <a:avLst>
                      <a:gd name="adj1" fmla="val 75009"/>
                      <a:gd name="adj2" fmla="val 47964"/>
                    </a:avLst>
                  </a:prstGeom>
                  <a:solidFill>
                    <a:srgbClr val="0070C0"/>
                  </a:solidFill>
                  <a:ln w="28575">
                    <a:solidFill>
                      <a:schemeClr val="folHlink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 </a:t>
                    </a:r>
                    <a:r>
                      <a:rPr lang="es-ES_tradnl" sz="2000" dirty="0" err="1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beq</a:t>
                    </a:r>
                    <a:endPara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endParaRPr>
                  </a:p>
                </p:txBody>
              </p:sp>
              <p:sp>
                <p:nvSpPr>
                  <p:cNvPr id="21" name="AutoShape 51"/>
                  <p:cNvSpPr>
                    <a:spLocks noChangeArrowheads="1"/>
                  </p:cNvSpPr>
                  <p:nvPr/>
                </p:nvSpPr>
                <p:spPr bwMode="auto">
                  <a:xfrm>
                    <a:off x="569761" y="2735455"/>
                    <a:ext cx="691359" cy="418821"/>
                  </a:xfrm>
                  <a:prstGeom prst="rightArrow">
                    <a:avLst>
                      <a:gd name="adj1" fmla="val 75009"/>
                      <a:gd name="adj2" fmla="val 47964"/>
                    </a:avLst>
                  </a:prstGeom>
                  <a:solidFill>
                    <a:srgbClr val="0070C0"/>
                  </a:solidFill>
                  <a:ln w="28575">
                    <a:solidFill>
                      <a:srgbClr val="00B0F0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 dirty="0" err="1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lw</a:t>
                    </a:r>
                    <a:endPara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endParaRPr>
                  </a:p>
                </p:txBody>
              </p:sp>
              <p:sp>
                <p:nvSpPr>
                  <p:cNvPr id="22" name="AutoShape 68"/>
                  <p:cNvSpPr>
                    <a:spLocks noChangeArrowheads="1"/>
                  </p:cNvSpPr>
                  <p:nvPr/>
                </p:nvSpPr>
                <p:spPr bwMode="auto">
                  <a:xfrm>
                    <a:off x="569761" y="3220205"/>
                    <a:ext cx="691359" cy="418821"/>
                  </a:xfrm>
                  <a:prstGeom prst="rightArrow">
                    <a:avLst>
                      <a:gd name="adj1" fmla="val 75009"/>
                      <a:gd name="adj2" fmla="val 47964"/>
                    </a:avLst>
                  </a:prstGeom>
                  <a:solidFill>
                    <a:srgbClr val="0070C0"/>
                  </a:solidFill>
                  <a:ln w="28575">
                    <a:solidFill>
                      <a:srgbClr val="00B0F0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  </a:t>
                    </a:r>
                    <a:r>
                      <a:rPr lang="es-ES_tradnl" sz="2000" dirty="0" err="1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add</a:t>
                    </a:r>
                    <a:endPara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endParaRPr>
                  </a:p>
                </p:txBody>
              </p:sp>
              <p:sp>
                <p:nvSpPr>
                  <p:cNvPr id="23" name="AutoShape 86"/>
                  <p:cNvSpPr>
                    <a:spLocks noChangeArrowheads="1"/>
                  </p:cNvSpPr>
                  <p:nvPr/>
                </p:nvSpPr>
                <p:spPr bwMode="auto">
                  <a:xfrm>
                    <a:off x="550229" y="3756288"/>
                    <a:ext cx="691359" cy="417707"/>
                  </a:xfrm>
                  <a:prstGeom prst="rightArrow">
                    <a:avLst>
                      <a:gd name="adj1" fmla="val 75009"/>
                      <a:gd name="adj2" fmla="val 47964"/>
                    </a:avLst>
                  </a:prstGeom>
                  <a:solidFill>
                    <a:srgbClr val="0070C0"/>
                  </a:solidFill>
                  <a:ln w="28575">
                    <a:solidFill>
                      <a:srgbClr val="00B0F0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 dirty="0" err="1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or</a:t>
                    </a:r>
                    <a:endPara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endParaRPr>
                  </a:p>
                </p:txBody>
              </p:sp>
              <p:sp>
                <p:nvSpPr>
                  <p:cNvPr id="24" name="AutoShape 105"/>
                  <p:cNvSpPr>
                    <a:spLocks noChangeArrowheads="1"/>
                  </p:cNvSpPr>
                  <p:nvPr/>
                </p:nvSpPr>
                <p:spPr bwMode="auto">
                  <a:xfrm>
                    <a:off x="550229" y="4328979"/>
                    <a:ext cx="691359" cy="417707"/>
                  </a:xfrm>
                  <a:prstGeom prst="rightArrow">
                    <a:avLst>
                      <a:gd name="adj1" fmla="val 75009"/>
                      <a:gd name="adj2" fmla="val 47964"/>
                    </a:avLst>
                  </a:prstGeom>
                  <a:solidFill>
                    <a:srgbClr val="0070C0"/>
                  </a:solidFill>
                  <a:ln w="28575">
                    <a:solidFill>
                      <a:schemeClr val="folHlink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sub</a:t>
                    </a:r>
                  </a:p>
                </p:txBody>
              </p:sp>
            </p:grpSp>
          </p:grpSp>
        </p:grpSp>
        <p:grpSp>
          <p:nvGrpSpPr>
            <p:cNvPr id="105" name="104 Grupo"/>
            <p:cNvGrpSpPr/>
            <p:nvPr/>
          </p:nvGrpSpPr>
          <p:grpSpPr>
            <a:xfrm>
              <a:off x="4355976" y="2785689"/>
              <a:ext cx="2189750" cy="1397121"/>
              <a:chOff x="4355976" y="2785689"/>
              <a:chExt cx="2189750" cy="1397121"/>
            </a:xfrm>
          </p:grpSpPr>
          <p:sp>
            <p:nvSpPr>
              <p:cNvPr id="51" name="Rectangle 100"/>
              <p:cNvSpPr>
                <a:spLocks noChangeArrowheads="1"/>
              </p:cNvSpPr>
              <p:nvPr/>
            </p:nvSpPr>
            <p:spPr bwMode="auto">
              <a:xfrm>
                <a:off x="4355976" y="2785689"/>
                <a:ext cx="480333" cy="418752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M</a:t>
                </a:r>
              </a:p>
            </p:txBody>
          </p:sp>
          <p:sp>
            <p:nvSpPr>
              <p:cNvPr id="52" name="Rectangle 82"/>
              <p:cNvSpPr>
                <a:spLocks noChangeArrowheads="1"/>
              </p:cNvSpPr>
              <p:nvPr/>
            </p:nvSpPr>
            <p:spPr bwMode="auto">
              <a:xfrm>
                <a:off x="4366125" y="3294538"/>
                <a:ext cx="480332" cy="418752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EX</a:t>
                </a:r>
              </a:p>
            </p:txBody>
          </p:sp>
          <p:sp>
            <p:nvSpPr>
              <p:cNvPr id="53" name="Rectangle 82"/>
              <p:cNvSpPr>
                <a:spLocks noChangeArrowheads="1"/>
              </p:cNvSpPr>
              <p:nvPr/>
            </p:nvSpPr>
            <p:spPr bwMode="auto">
              <a:xfrm>
                <a:off x="4391572" y="3764058"/>
                <a:ext cx="480332" cy="418752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DI</a:t>
                </a:r>
              </a:p>
            </p:txBody>
          </p:sp>
          <p:sp>
            <p:nvSpPr>
              <p:cNvPr id="54" name="Rectangle 184"/>
              <p:cNvSpPr>
                <a:spLocks noChangeArrowheads="1"/>
              </p:cNvSpPr>
              <p:nvPr/>
            </p:nvSpPr>
            <p:spPr bwMode="auto">
              <a:xfrm>
                <a:off x="4932040" y="2785689"/>
                <a:ext cx="480431" cy="419100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ER</a:t>
                </a:r>
              </a:p>
            </p:txBody>
          </p:sp>
          <p:sp>
            <p:nvSpPr>
              <p:cNvPr id="100" name="Rectangle 100"/>
              <p:cNvSpPr>
                <a:spLocks noChangeArrowheads="1"/>
              </p:cNvSpPr>
              <p:nvPr/>
            </p:nvSpPr>
            <p:spPr bwMode="auto">
              <a:xfrm>
                <a:off x="4914069" y="3291830"/>
                <a:ext cx="480333" cy="418752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M</a:t>
                </a:r>
              </a:p>
            </p:txBody>
          </p:sp>
          <p:sp>
            <p:nvSpPr>
              <p:cNvPr id="101" name="Rectangle 184"/>
              <p:cNvSpPr>
                <a:spLocks noChangeArrowheads="1"/>
              </p:cNvSpPr>
              <p:nvPr/>
            </p:nvSpPr>
            <p:spPr bwMode="auto">
              <a:xfrm>
                <a:off x="5490133" y="3291830"/>
                <a:ext cx="480431" cy="419100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ER</a:t>
                </a:r>
              </a:p>
            </p:txBody>
          </p:sp>
          <p:sp>
            <p:nvSpPr>
              <p:cNvPr id="102" name="Rectangle 82"/>
              <p:cNvSpPr>
                <a:spLocks noChangeArrowheads="1"/>
              </p:cNvSpPr>
              <p:nvPr/>
            </p:nvSpPr>
            <p:spPr bwMode="auto">
              <a:xfrm>
                <a:off x="4941287" y="3763804"/>
                <a:ext cx="480332" cy="418752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EX</a:t>
                </a:r>
              </a:p>
            </p:txBody>
          </p:sp>
          <p:sp>
            <p:nvSpPr>
              <p:cNvPr id="103" name="Rectangle 100"/>
              <p:cNvSpPr>
                <a:spLocks noChangeArrowheads="1"/>
              </p:cNvSpPr>
              <p:nvPr/>
            </p:nvSpPr>
            <p:spPr bwMode="auto">
              <a:xfrm>
                <a:off x="5489231" y="3761096"/>
                <a:ext cx="480333" cy="418752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M</a:t>
                </a:r>
              </a:p>
            </p:txBody>
          </p:sp>
          <p:sp>
            <p:nvSpPr>
              <p:cNvPr id="104" name="Rectangle 184"/>
              <p:cNvSpPr>
                <a:spLocks noChangeArrowheads="1"/>
              </p:cNvSpPr>
              <p:nvPr/>
            </p:nvSpPr>
            <p:spPr bwMode="auto">
              <a:xfrm>
                <a:off x="6065295" y="3761096"/>
                <a:ext cx="480431" cy="419100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ER</a:t>
                </a:r>
              </a:p>
            </p:txBody>
          </p:sp>
        </p:grpSp>
      </p:grpSp>
      <p:sp>
        <p:nvSpPr>
          <p:cNvPr id="49" name="Rectangle 2"/>
          <p:cNvSpPr>
            <a:spLocks noChangeArrowheads="1"/>
          </p:cNvSpPr>
          <p:nvPr/>
        </p:nvSpPr>
        <p:spPr bwMode="auto">
          <a:xfrm>
            <a:off x="5559112" y="867154"/>
            <a:ext cx="3384376" cy="2247411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s-ES_tradnl" sz="2000" b="1" dirty="0">
                <a:solidFill>
                  <a:schemeClr val="bg2"/>
                </a:solidFill>
                <a:latin typeface="Courier New" pitchFamily="-84" charset="0"/>
              </a:rPr>
              <a:t>       </a:t>
            </a:r>
            <a:r>
              <a:rPr lang="es-ES_tradnl" sz="1600" dirty="0" err="1">
                <a:latin typeface="Courier New" pitchFamily="-84" charset="0"/>
              </a:rPr>
              <a:t>beq</a:t>
            </a:r>
            <a:r>
              <a:rPr lang="es-ES_tradnl" sz="1600" dirty="0">
                <a:latin typeface="Courier New" pitchFamily="-84" charset="0"/>
              </a:rPr>
              <a:t> t2,t3,L1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600" dirty="0">
                <a:latin typeface="Courier New" pitchFamily="-84" charset="0"/>
              </a:rPr>
              <a:t>         </a:t>
            </a:r>
            <a:r>
              <a:rPr lang="es-ES_tradnl" sz="1600" dirty="0" err="1">
                <a:latin typeface="Courier New" pitchFamily="-84" charset="0"/>
              </a:rPr>
              <a:t>lw</a:t>
            </a:r>
            <a:r>
              <a:rPr lang="es-ES_tradnl" sz="1600" dirty="0">
                <a:latin typeface="Courier New" pitchFamily="-84" charset="0"/>
              </a:rPr>
              <a:t> t2,100(t1)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600" dirty="0">
                <a:latin typeface="Courier New" pitchFamily="-84" charset="0"/>
              </a:rPr>
              <a:t>         </a:t>
            </a:r>
            <a:r>
              <a:rPr lang="es-ES_tradnl" sz="1600" dirty="0" err="1">
                <a:latin typeface="Courier New" pitchFamily="-84" charset="0"/>
              </a:rPr>
              <a:t>add</a:t>
            </a:r>
            <a:r>
              <a:rPr lang="es-ES_tradnl" sz="1600" dirty="0">
                <a:latin typeface="Courier New" pitchFamily="-84" charset="0"/>
              </a:rPr>
              <a:t> t3,t1,t4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600" dirty="0">
                <a:latin typeface="Courier New" pitchFamily="-84" charset="0"/>
              </a:rPr>
              <a:t>         </a:t>
            </a:r>
            <a:r>
              <a:rPr lang="es-ES_tradnl" sz="1600" dirty="0" err="1">
                <a:latin typeface="Courier New" pitchFamily="-84" charset="0"/>
              </a:rPr>
              <a:t>or</a:t>
            </a:r>
            <a:r>
              <a:rPr lang="es-ES_tradnl" sz="1600" dirty="0">
                <a:latin typeface="Courier New" pitchFamily="-84" charset="0"/>
              </a:rPr>
              <a:t>  t5,t6,t4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600" dirty="0">
                <a:latin typeface="Courier New" pitchFamily="-84" charset="0"/>
              </a:rPr>
              <a:t>         sub t5,t5,t4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600" dirty="0">
                <a:latin typeface="Courier New" pitchFamily="-84" charset="0"/>
              </a:rPr>
              <a:t>L1:      </a:t>
            </a:r>
            <a:r>
              <a:rPr lang="es-ES_tradnl" sz="1600" dirty="0" err="1">
                <a:latin typeface="Courier New" pitchFamily="-84" charset="0"/>
              </a:rPr>
              <a:t>sw</a:t>
            </a:r>
            <a:r>
              <a:rPr lang="es-ES_tradnl" sz="1600" dirty="0">
                <a:latin typeface="Courier New" pitchFamily="-84" charset="0"/>
              </a:rPr>
              <a:t>  t6,50(t4)</a:t>
            </a:r>
          </a:p>
        </p:txBody>
      </p:sp>
      <p:pic>
        <p:nvPicPr>
          <p:cNvPr id="108" name="49 Marcador de contenido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1784" y="155904"/>
            <a:ext cx="894944" cy="117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046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5 Rectángulo">
            <a:extLst>
              <a:ext uri="{FF2B5EF4-FFF2-40B4-BE49-F238E27FC236}">
                <a16:creationId xmlns:a16="http://schemas.microsoft.com/office/drawing/2014/main" id="{3F8E3A09-FFCB-DEB5-08EF-C5199649D495}"/>
              </a:ext>
            </a:extLst>
          </p:cNvPr>
          <p:cNvSpPr/>
          <p:nvPr/>
        </p:nvSpPr>
        <p:spPr>
          <a:xfrm>
            <a:off x="395536" y="1360053"/>
            <a:ext cx="7200800" cy="5204303"/>
          </a:xfrm>
          <a:prstGeom prst="rect">
            <a:avLst/>
          </a:prstGeom>
          <a:solidFill>
            <a:srgbClr val="EAEAEA"/>
          </a:solidFill>
          <a:ln>
            <a:solidFill>
              <a:srgbClr val="00B0F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Predicción: Salto NO Efectivo</a:t>
            </a:r>
          </a:p>
        </p:txBody>
      </p:sp>
      <p:sp>
        <p:nvSpPr>
          <p:cNvPr id="61" name="60 Rectángulo"/>
          <p:cNvSpPr/>
          <p:nvPr/>
        </p:nvSpPr>
        <p:spPr>
          <a:xfrm>
            <a:off x="2418080" y="3336812"/>
            <a:ext cx="1859190" cy="203640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7" name="6 Grupo"/>
          <p:cNvGrpSpPr/>
          <p:nvPr/>
        </p:nvGrpSpPr>
        <p:grpSpPr>
          <a:xfrm>
            <a:off x="368094" y="1340768"/>
            <a:ext cx="6608179" cy="5088565"/>
            <a:chOff x="218556" y="1203981"/>
            <a:chExt cx="6608179" cy="3816424"/>
          </a:xfrm>
        </p:grpSpPr>
        <p:grpSp>
          <p:nvGrpSpPr>
            <p:cNvPr id="8" name="7 Grupo"/>
            <p:cNvGrpSpPr/>
            <p:nvPr/>
          </p:nvGrpSpPr>
          <p:grpSpPr>
            <a:xfrm>
              <a:off x="218556" y="1203981"/>
              <a:ext cx="6608179" cy="3816424"/>
              <a:chOff x="218556" y="1203981"/>
              <a:chExt cx="6608179" cy="3816424"/>
            </a:xfrm>
          </p:grpSpPr>
          <p:cxnSp>
            <p:nvCxnSpPr>
              <p:cNvPr id="34" name="33 Conector recto"/>
              <p:cNvCxnSpPr/>
              <p:nvPr/>
            </p:nvCxnSpPr>
            <p:spPr>
              <a:xfrm>
                <a:off x="1539490" y="1203981"/>
                <a:ext cx="0" cy="3816424"/>
              </a:xfrm>
              <a:prstGeom prst="line">
                <a:avLst/>
              </a:prstGeom>
              <a:ln w="571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34 Conector recto"/>
              <p:cNvCxnSpPr/>
              <p:nvPr/>
            </p:nvCxnSpPr>
            <p:spPr>
              <a:xfrm flipV="1">
                <a:off x="539010" y="2068077"/>
                <a:ext cx="6287725" cy="2270"/>
              </a:xfrm>
              <a:prstGeom prst="line">
                <a:avLst/>
              </a:prstGeom>
              <a:ln w="571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35 Conector recto"/>
              <p:cNvCxnSpPr/>
              <p:nvPr/>
            </p:nvCxnSpPr>
            <p:spPr>
              <a:xfrm flipH="1" flipV="1">
                <a:off x="799489" y="1393694"/>
                <a:ext cx="715030" cy="648072"/>
              </a:xfrm>
              <a:prstGeom prst="line">
                <a:avLst/>
              </a:prstGeom>
              <a:ln w="571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36 CuadroTexto"/>
              <p:cNvSpPr txBox="1"/>
              <p:nvPr/>
            </p:nvSpPr>
            <p:spPr>
              <a:xfrm>
                <a:off x="983747" y="1431038"/>
                <a:ext cx="524504" cy="2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200" dirty="0"/>
                  <a:t>Ciclo</a:t>
                </a:r>
              </a:p>
            </p:txBody>
          </p:sp>
          <p:sp>
            <p:nvSpPr>
              <p:cNvPr id="38" name="37 CuadroTexto"/>
              <p:cNvSpPr txBox="1"/>
              <p:nvPr/>
            </p:nvSpPr>
            <p:spPr>
              <a:xfrm>
                <a:off x="1875280" y="1723871"/>
                <a:ext cx="327334" cy="3000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b="1" dirty="0"/>
                  <a:t>1</a:t>
                </a:r>
              </a:p>
            </p:txBody>
          </p:sp>
          <p:sp>
            <p:nvSpPr>
              <p:cNvPr id="39" name="38 CuadroTexto"/>
              <p:cNvSpPr txBox="1"/>
              <p:nvPr/>
            </p:nvSpPr>
            <p:spPr>
              <a:xfrm>
                <a:off x="2424699" y="1723871"/>
                <a:ext cx="327334" cy="3000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b="1" dirty="0"/>
                  <a:t>2</a:t>
                </a:r>
              </a:p>
            </p:txBody>
          </p:sp>
          <p:sp>
            <p:nvSpPr>
              <p:cNvPr id="40" name="39 CuadroTexto"/>
              <p:cNvSpPr txBox="1"/>
              <p:nvPr/>
            </p:nvSpPr>
            <p:spPr>
              <a:xfrm>
                <a:off x="2974119" y="1723871"/>
                <a:ext cx="327334" cy="3000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b="1" dirty="0"/>
                  <a:t>3</a:t>
                </a:r>
              </a:p>
            </p:txBody>
          </p:sp>
          <p:sp>
            <p:nvSpPr>
              <p:cNvPr id="41" name="40 CuadroTexto"/>
              <p:cNvSpPr txBox="1"/>
              <p:nvPr/>
            </p:nvSpPr>
            <p:spPr>
              <a:xfrm>
                <a:off x="3523538" y="1723871"/>
                <a:ext cx="327334" cy="3000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b="1" dirty="0"/>
                  <a:t>4</a:t>
                </a:r>
              </a:p>
            </p:txBody>
          </p:sp>
          <p:sp>
            <p:nvSpPr>
              <p:cNvPr id="42" name="41 CuadroTexto"/>
              <p:cNvSpPr txBox="1"/>
              <p:nvPr/>
            </p:nvSpPr>
            <p:spPr>
              <a:xfrm>
                <a:off x="4072958" y="1723871"/>
                <a:ext cx="327334" cy="3000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b="1" dirty="0"/>
                  <a:t>5</a:t>
                </a:r>
              </a:p>
            </p:txBody>
          </p:sp>
          <p:sp>
            <p:nvSpPr>
              <p:cNvPr id="43" name="42 CuadroTexto"/>
              <p:cNvSpPr txBox="1"/>
              <p:nvPr/>
            </p:nvSpPr>
            <p:spPr>
              <a:xfrm>
                <a:off x="4622377" y="1723871"/>
                <a:ext cx="327334" cy="3000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b="1" dirty="0"/>
                  <a:t>6</a:t>
                </a:r>
              </a:p>
            </p:txBody>
          </p:sp>
          <p:sp>
            <p:nvSpPr>
              <p:cNvPr id="44" name="43 CuadroTexto"/>
              <p:cNvSpPr txBox="1"/>
              <p:nvPr/>
            </p:nvSpPr>
            <p:spPr>
              <a:xfrm>
                <a:off x="5171797" y="1723871"/>
                <a:ext cx="327334" cy="3000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b="1" dirty="0"/>
                  <a:t>7</a:t>
                </a:r>
              </a:p>
            </p:txBody>
          </p:sp>
          <p:sp>
            <p:nvSpPr>
              <p:cNvPr id="45" name="44 CuadroTexto"/>
              <p:cNvSpPr txBox="1"/>
              <p:nvPr/>
            </p:nvSpPr>
            <p:spPr>
              <a:xfrm>
                <a:off x="5721216" y="1723871"/>
                <a:ext cx="327334" cy="3000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b="1" dirty="0"/>
                  <a:t>8</a:t>
                </a:r>
              </a:p>
            </p:txBody>
          </p:sp>
          <p:sp>
            <p:nvSpPr>
              <p:cNvPr id="46" name="45 CuadroTexto"/>
              <p:cNvSpPr txBox="1"/>
              <p:nvPr/>
            </p:nvSpPr>
            <p:spPr>
              <a:xfrm>
                <a:off x="6270638" y="1723871"/>
                <a:ext cx="327334" cy="3000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b="1" dirty="0"/>
                  <a:t>9</a:t>
                </a:r>
              </a:p>
            </p:txBody>
          </p:sp>
          <p:sp>
            <p:nvSpPr>
              <p:cNvPr id="47" name="46 CuadroTexto"/>
              <p:cNvSpPr txBox="1"/>
              <p:nvPr/>
            </p:nvSpPr>
            <p:spPr>
              <a:xfrm>
                <a:off x="218556" y="1736675"/>
                <a:ext cx="1008610" cy="1962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100" dirty="0"/>
                  <a:t>instrucciones</a:t>
                </a:r>
              </a:p>
            </p:txBody>
          </p:sp>
        </p:grpSp>
        <p:grpSp>
          <p:nvGrpSpPr>
            <p:cNvPr id="9" name="8 Grupo"/>
            <p:cNvGrpSpPr/>
            <p:nvPr/>
          </p:nvGrpSpPr>
          <p:grpSpPr>
            <a:xfrm>
              <a:off x="550229" y="2256394"/>
              <a:ext cx="6227717" cy="2490292"/>
              <a:chOff x="550229" y="2256394"/>
              <a:chExt cx="6227717" cy="2490292"/>
            </a:xfrm>
          </p:grpSpPr>
          <p:sp>
            <p:nvSpPr>
              <p:cNvPr id="10" name="Rectangle 49"/>
              <p:cNvSpPr>
                <a:spLocks noChangeArrowheads="1"/>
              </p:cNvSpPr>
              <p:nvPr/>
            </p:nvSpPr>
            <p:spPr bwMode="auto">
              <a:xfrm>
                <a:off x="1798781" y="2270185"/>
                <a:ext cx="480332" cy="418752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LI</a:t>
                </a:r>
              </a:p>
            </p:txBody>
          </p:sp>
          <p:grpSp>
            <p:nvGrpSpPr>
              <p:cNvPr id="11" name="Group 63"/>
              <p:cNvGrpSpPr>
                <a:grpSpLocks/>
              </p:cNvGrpSpPr>
              <p:nvPr/>
            </p:nvGrpSpPr>
            <p:grpSpPr bwMode="auto">
              <a:xfrm>
                <a:off x="2359656" y="2270187"/>
                <a:ext cx="481797" cy="899872"/>
                <a:chOff x="1347" y="1827"/>
                <a:chExt cx="329" cy="808"/>
              </a:xfrm>
            </p:grpSpPr>
            <p:sp>
              <p:nvSpPr>
                <p:cNvPr id="32" name="Rectangle 65"/>
                <p:cNvSpPr>
                  <a:spLocks noChangeArrowheads="1"/>
                </p:cNvSpPr>
                <p:nvPr/>
              </p:nvSpPr>
              <p:spPr bwMode="auto">
                <a:xfrm>
                  <a:off x="1347" y="1827"/>
                  <a:ext cx="328" cy="376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DI</a:t>
                  </a:r>
                </a:p>
              </p:txBody>
            </p:sp>
            <p:sp>
              <p:nvSpPr>
                <p:cNvPr id="33" name="Rectangle 66"/>
                <p:cNvSpPr>
                  <a:spLocks noChangeArrowheads="1"/>
                </p:cNvSpPr>
                <p:nvPr/>
              </p:nvSpPr>
              <p:spPr bwMode="auto">
                <a:xfrm>
                  <a:off x="1348" y="2259"/>
                  <a:ext cx="328" cy="376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LI</a:t>
                  </a:r>
                </a:p>
              </p:txBody>
            </p:sp>
          </p:grpSp>
          <p:grpSp>
            <p:nvGrpSpPr>
              <p:cNvPr id="12" name="Group 80"/>
              <p:cNvGrpSpPr>
                <a:grpSpLocks/>
              </p:cNvGrpSpPr>
              <p:nvPr/>
            </p:nvGrpSpPr>
            <p:grpSpPr bwMode="auto">
              <a:xfrm>
                <a:off x="2921998" y="2270186"/>
                <a:ext cx="481796" cy="1380991"/>
                <a:chOff x="1731" y="1827"/>
                <a:chExt cx="329" cy="1240"/>
              </a:xfrm>
            </p:grpSpPr>
            <p:sp>
              <p:nvSpPr>
                <p:cNvPr id="29" name="Rectangle 82"/>
                <p:cNvSpPr>
                  <a:spLocks noChangeArrowheads="1"/>
                </p:cNvSpPr>
                <p:nvPr/>
              </p:nvSpPr>
              <p:spPr bwMode="auto">
                <a:xfrm>
                  <a:off x="1731" y="1827"/>
                  <a:ext cx="328" cy="376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EX</a:t>
                  </a:r>
                </a:p>
              </p:txBody>
            </p:sp>
            <p:sp>
              <p:nvSpPr>
                <p:cNvPr id="30" name="Rectangle 83"/>
                <p:cNvSpPr>
                  <a:spLocks noChangeArrowheads="1"/>
                </p:cNvSpPr>
                <p:nvPr/>
              </p:nvSpPr>
              <p:spPr bwMode="auto">
                <a:xfrm>
                  <a:off x="1731" y="2259"/>
                  <a:ext cx="328" cy="376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DI</a:t>
                  </a:r>
                </a:p>
              </p:txBody>
            </p:sp>
            <p:sp>
              <p:nvSpPr>
                <p:cNvPr id="31" name="Rectangle 84"/>
                <p:cNvSpPr>
                  <a:spLocks noChangeArrowheads="1"/>
                </p:cNvSpPr>
                <p:nvPr/>
              </p:nvSpPr>
              <p:spPr bwMode="auto">
                <a:xfrm>
                  <a:off x="1732" y="2691"/>
                  <a:ext cx="328" cy="376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LI</a:t>
                  </a:r>
                </a:p>
              </p:txBody>
            </p:sp>
          </p:grpSp>
          <p:grpSp>
            <p:nvGrpSpPr>
              <p:cNvPr id="13" name="Group 98"/>
              <p:cNvGrpSpPr>
                <a:grpSpLocks/>
              </p:cNvGrpSpPr>
              <p:nvPr/>
            </p:nvGrpSpPr>
            <p:grpSpPr bwMode="auto">
              <a:xfrm>
                <a:off x="3484337" y="2270186"/>
                <a:ext cx="481797" cy="1862111"/>
                <a:chOff x="2115" y="1827"/>
                <a:chExt cx="329" cy="1672"/>
              </a:xfrm>
            </p:grpSpPr>
            <p:sp>
              <p:nvSpPr>
                <p:cNvPr id="25" name="Rectangle 100"/>
                <p:cNvSpPr>
                  <a:spLocks noChangeArrowheads="1"/>
                </p:cNvSpPr>
                <p:nvPr/>
              </p:nvSpPr>
              <p:spPr bwMode="auto">
                <a:xfrm>
                  <a:off x="2115" y="1827"/>
                  <a:ext cx="328" cy="376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M</a:t>
                  </a:r>
                </a:p>
              </p:txBody>
            </p:sp>
            <p:sp>
              <p:nvSpPr>
                <p:cNvPr id="26" name="Rectangle 101"/>
                <p:cNvSpPr>
                  <a:spLocks noChangeArrowheads="1"/>
                </p:cNvSpPr>
                <p:nvPr/>
              </p:nvSpPr>
              <p:spPr bwMode="auto">
                <a:xfrm>
                  <a:off x="2115" y="2259"/>
                  <a:ext cx="328" cy="376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EX</a:t>
                  </a:r>
                </a:p>
              </p:txBody>
            </p:sp>
            <p:sp>
              <p:nvSpPr>
                <p:cNvPr id="27" name="Rectangle 102"/>
                <p:cNvSpPr>
                  <a:spLocks noChangeArrowheads="1"/>
                </p:cNvSpPr>
                <p:nvPr/>
              </p:nvSpPr>
              <p:spPr bwMode="auto">
                <a:xfrm>
                  <a:off x="2115" y="2691"/>
                  <a:ext cx="328" cy="376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DI</a:t>
                  </a:r>
                </a:p>
              </p:txBody>
            </p:sp>
            <p:sp>
              <p:nvSpPr>
                <p:cNvPr id="28" name="Rectangle 103"/>
                <p:cNvSpPr>
                  <a:spLocks noChangeArrowheads="1"/>
                </p:cNvSpPr>
                <p:nvPr/>
              </p:nvSpPr>
              <p:spPr bwMode="auto">
                <a:xfrm>
                  <a:off x="2116" y="3123"/>
                  <a:ext cx="328" cy="376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LI</a:t>
                  </a:r>
                </a:p>
              </p:txBody>
            </p:sp>
          </p:grpSp>
          <p:sp>
            <p:nvSpPr>
              <p:cNvPr id="14" name="Rectangle 184"/>
              <p:cNvSpPr>
                <a:spLocks noChangeArrowheads="1"/>
              </p:cNvSpPr>
              <p:nvPr/>
            </p:nvSpPr>
            <p:spPr bwMode="auto">
              <a:xfrm>
                <a:off x="4040008" y="2284473"/>
                <a:ext cx="480431" cy="419100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ER</a:t>
                </a:r>
              </a:p>
            </p:txBody>
          </p:sp>
          <p:sp>
            <p:nvSpPr>
              <p:cNvPr id="15" name="Rectangle 185"/>
              <p:cNvSpPr>
                <a:spLocks noChangeArrowheads="1"/>
              </p:cNvSpPr>
              <p:nvPr/>
            </p:nvSpPr>
            <p:spPr bwMode="auto">
              <a:xfrm>
                <a:off x="4050157" y="4194236"/>
                <a:ext cx="480431" cy="4191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LI</a:t>
                </a:r>
              </a:p>
            </p:txBody>
          </p:sp>
          <p:sp>
            <p:nvSpPr>
              <p:cNvPr id="16" name="Rectangle 252"/>
              <p:cNvSpPr>
                <a:spLocks noChangeArrowheads="1"/>
              </p:cNvSpPr>
              <p:nvPr/>
            </p:nvSpPr>
            <p:spPr bwMode="auto">
              <a:xfrm>
                <a:off x="4610922" y="4194236"/>
                <a:ext cx="480431" cy="4191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DI</a:t>
                </a:r>
              </a:p>
            </p:txBody>
          </p:sp>
          <p:sp>
            <p:nvSpPr>
              <p:cNvPr id="17" name="Rectangle 331"/>
              <p:cNvSpPr>
                <a:spLocks noChangeArrowheads="1"/>
              </p:cNvSpPr>
              <p:nvPr/>
            </p:nvSpPr>
            <p:spPr bwMode="auto">
              <a:xfrm>
                <a:off x="5173263" y="4194236"/>
                <a:ext cx="480430" cy="4191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EX</a:t>
                </a:r>
              </a:p>
            </p:txBody>
          </p:sp>
          <p:sp>
            <p:nvSpPr>
              <p:cNvPr id="18" name="Rectangle 384"/>
              <p:cNvSpPr>
                <a:spLocks noChangeArrowheads="1"/>
              </p:cNvSpPr>
              <p:nvPr/>
            </p:nvSpPr>
            <p:spPr bwMode="auto">
              <a:xfrm>
                <a:off x="5735602" y="4194236"/>
                <a:ext cx="480431" cy="4191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M</a:t>
                </a:r>
              </a:p>
            </p:txBody>
          </p:sp>
          <p:sp>
            <p:nvSpPr>
              <p:cNvPr id="19" name="Rectangle 411"/>
              <p:cNvSpPr>
                <a:spLocks noChangeArrowheads="1"/>
              </p:cNvSpPr>
              <p:nvPr/>
            </p:nvSpPr>
            <p:spPr bwMode="auto">
              <a:xfrm>
                <a:off x="6297613" y="4194373"/>
                <a:ext cx="480333" cy="418963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ER</a:t>
                </a:r>
              </a:p>
            </p:txBody>
          </p:sp>
          <p:sp>
            <p:nvSpPr>
              <p:cNvPr id="20" name="AutoShape 35"/>
              <p:cNvSpPr>
                <a:spLocks noChangeArrowheads="1"/>
              </p:cNvSpPr>
              <p:nvPr/>
            </p:nvSpPr>
            <p:spPr bwMode="auto">
              <a:xfrm>
                <a:off x="585454" y="2256394"/>
                <a:ext cx="691359" cy="418821"/>
              </a:xfrm>
              <a:prstGeom prst="rightArrow">
                <a:avLst>
                  <a:gd name="adj1" fmla="val 75009"/>
                  <a:gd name="adj2" fmla="val 47964"/>
                </a:avLst>
              </a:prstGeom>
              <a:solidFill>
                <a:srgbClr val="0070C0"/>
              </a:solidFill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 </a:t>
                </a:r>
                <a:r>
                  <a:rPr lang="es-ES_tradnl" sz="2000" dirty="0" err="1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beq</a:t>
                </a:r>
                <a:endParaRPr lang="es-ES_tradnl" sz="2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 Black" pitchFamily="-84" charset="0"/>
                  <a:ea typeface="+mn-ea"/>
                </a:endParaRPr>
              </a:p>
            </p:txBody>
          </p:sp>
          <p:sp>
            <p:nvSpPr>
              <p:cNvPr id="21" name="AutoShape 51"/>
              <p:cNvSpPr>
                <a:spLocks noChangeArrowheads="1"/>
              </p:cNvSpPr>
              <p:nvPr/>
            </p:nvSpPr>
            <p:spPr bwMode="auto">
              <a:xfrm>
                <a:off x="569761" y="2735455"/>
                <a:ext cx="691359" cy="418821"/>
              </a:xfrm>
              <a:prstGeom prst="rightArrow">
                <a:avLst>
                  <a:gd name="adj1" fmla="val 75009"/>
                  <a:gd name="adj2" fmla="val 47964"/>
                </a:avLst>
              </a:prstGeom>
              <a:solidFill>
                <a:schemeClr val="bg2">
                  <a:lumMod val="90000"/>
                </a:schemeClr>
              </a:solidFill>
              <a:ln w="28575">
                <a:solidFill>
                  <a:srgbClr val="00B0F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 err="1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lw</a:t>
                </a:r>
                <a:endParaRPr lang="es-ES_tradnl" sz="2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 Black" pitchFamily="-84" charset="0"/>
                  <a:ea typeface="+mn-ea"/>
                </a:endParaRPr>
              </a:p>
            </p:txBody>
          </p:sp>
          <p:sp>
            <p:nvSpPr>
              <p:cNvPr id="22" name="AutoShape 68"/>
              <p:cNvSpPr>
                <a:spLocks noChangeArrowheads="1"/>
              </p:cNvSpPr>
              <p:nvPr/>
            </p:nvSpPr>
            <p:spPr bwMode="auto">
              <a:xfrm>
                <a:off x="569761" y="3220205"/>
                <a:ext cx="691359" cy="418821"/>
              </a:xfrm>
              <a:prstGeom prst="rightArrow">
                <a:avLst>
                  <a:gd name="adj1" fmla="val 75009"/>
                  <a:gd name="adj2" fmla="val 47964"/>
                </a:avLst>
              </a:prstGeom>
              <a:solidFill>
                <a:schemeClr val="bg2">
                  <a:lumMod val="90000"/>
                </a:schemeClr>
              </a:solidFill>
              <a:ln w="28575">
                <a:solidFill>
                  <a:srgbClr val="00B0F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  </a:t>
                </a:r>
                <a:r>
                  <a:rPr lang="es-ES_tradnl" sz="2000" dirty="0" err="1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add</a:t>
                </a:r>
                <a:endParaRPr lang="es-ES_tradnl" sz="2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 Black" pitchFamily="-84" charset="0"/>
                  <a:ea typeface="+mn-ea"/>
                </a:endParaRPr>
              </a:p>
            </p:txBody>
          </p:sp>
          <p:sp>
            <p:nvSpPr>
              <p:cNvPr id="23" name="AutoShape 86"/>
              <p:cNvSpPr>
                <a:spLocks noChangeArrowheads="1"/>
              </p:cNvSpPr>
              <p:nvPr/>
            </p:nvSpPr>
            <p:spPr bwMode="auto">
              <a:xfrm>
                <a:off x="550229" y="3756288"/>
                <a:ext cx="691359" cy="417707"/>
              </a:xfrm>
              <a:prstGeom prst="rightArrow">
                <a:avLst>
                  <a:gd name="adj1" fmla="val 75009"/>
                  <a:gd name="adj2" fmla="val 47964"/>
                </a:avLst>
              </a:prstGeom>
              <a:solidFill>
                <a:schemeClr val="bg2">
                  <a:lumMod val="90000"/>
                </a:schemeClr>
              </a:solidFill>
              <a:ln w="28575">
                <a:solidFill>
                  <a:srgbClr val="00B0F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 err="1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or</a:t>
                </a:r>
                <a:endParaRPr lang="es-ES_tradnl" sz="2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 Black" pitchFamily="-84" charset="0"/>
                  <a:ea typeface="+mn-ea"/>
                </a:endParaRPr>
              </a:p>
            </p:txBody>
          </p:sp>
          <p:sp>
            <p:nvSpPr>
              <p:cNvPr id="24" name="AutoShape 105"/>
              <p:cNvSpPr>
                <a:spLocks noChangeArrowheads="1"/>
              </p:cNvSpPr>
              <p:nvPr/>
            </p:nvSpPr>
            <p:spPr bwMode="auto">
              <a:xfrm>
                <a:off x="550229" y="4328979"/>
                <a:ext cx="691359" cy="417707"/>
              </a:xfrm>
              <a:prstGeom prst="rightArrow">
                <a:avLst>
                  <a:gd name="adj1" fmla="val 75009"/>
                  <a:gd name="adj2" fmla="val 47964"/>
                </a:avLst>
              </a:prstGeom>
              <a:solidFill>
                <a:schemeClr val="accent3">
                  <a:lumMod val="75000"/>
                </a:schemeClr>
              </a:solidFill>
              <a:ln w="28575">
                <a:solidFill>
                  <a:srgbClr val="C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 err="1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sw</a:t>
                </a:r>
                <a:endParaRPr lang="es-ES_tradnl" sz="2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 Black" pitchFamily="-84" charset="0"/>
                  <a:ea typeface="+mn-ea"/>
                </a:endParaRPr>
              </a:p>
            </p:txBody>
          </p:sp>
        </p:grpSp>
      </p:grpSp>
      <p:sp>
        <p:nvSpPr>
          <p:cNvPr id="49" name="Rectangle 2"/>
          <p:cNvSpPr>
            <a:spLocks noChangeArrowheads="1"/>
          </p:cNvSpPr>
          <p:nvPr/>
        </p:nvSpPr>
        <p:spPr bwMode="auto">
          <a:xfrm>
            <a:off x="5957878" y="2960417"/>
            <a:ext cx="3018646" cy="2016579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s-ES_tradnl" sz="2000" b="1" dirty="0">
                <a:solidFill>
                  <a:schemeClr val="bg2"/>
                </a:solidFill>
                <a:latin typeface="Courier New" pitchFamily="-84" charset="0"/>
              </a:rPr>
              <a:t>       </a:t>
            </a:r>
            <a:r>
              <a:rPr lang="es-ES_tradnl" sz="1400" dirty="0" err="1">
                <a:latin typeface="Courier New" pitchFamily="-84" charset="0"/>
              </a:rPr>
              <a:t>beq</a:t>
            </a:r>
            <a:r>
              <a:rPr lang="es-ES_tradnl" sz="1400" dirty="0">
                <a:latin typeface="Courier New" pitchFamily="-84" charset="0"/>
              </a:rPr>
              <a:t> t2,t3,L1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400" dirty="0">
                <a:latin typeface="Courier New" pitchFamily="-84" charset="0"/>
              </a:rPr>
              <a:t>         </a:t>
            </a:r>
            <a:r>
              <a:rPr lang="es-ES_tradnl" sz="1400" dirty="0" err="1">
                <a:latin typeface="Courier New" pitchFamily="-84" charset="0"/>
              </a:rPr>
              <a:t>lw</a:t>
            </a:r>
            <a:r>
              <a:rPr lang="es-ES_tradnl" sz="1400" dirty="0">
                <a:latin typeface="Courier New" pitchFamily="-84" charset="0"/>
              </a:rPr>
              <a:t> t2,100(t1)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400" dirty="0">
                <a:latin typeface="Courier New" pitchFamily="-84" charset="0"/>
              </a:rPr>
              <a:t>         </a:t>
            </a:r>
            <a:r>
              <a:rPr lang="es-ES_tradnl" sz="1400" dirty="0" err="1">
                <a:latin typeface="Courier New" pitchFamily="-84" charset="0"/>
              </a:rPr>
              <a:t>add</a:t>
            </a:r>
            <a:r>
              <a:rPr lang="es-ES_tradnl" sz="1400" dirty="0">
                <a:latin typeface="Courier New" pitchFamily="-84" charset="0"/>
              </a:rPr>
              <a:t> t3,t1,t4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400" dirty="0">
                <a:latin typeface="Courier New" pitchFamily="-84" charset="0"/>
              </a:rPr>
              <a:t>         </a:t>
            </a:r>
            <a:r>
              <a:rPr lang="es-ES_tradnl" sz="1400" dirty="0" err="1">
                <a:latin typeface="Courier New" pitchFamily="-84" charset="0"/>
              </a:rPr>
              <a:t>or</a:t>
            </a:r>
            <a:r>
              <a:rPr lang="es-ES_tradnl" sz="1400" dirty="0">
                <a:latin typeface="Courier New" pitchFamily="-84" charset="0"/>
              </a:rPr>
              <a:t>  t5,t6,t4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400" dirty="0">
                <a:latin typeface="Courier New" pitchFamily="-84" charset="0"/>
              </a:rPr>
              <a:t>         sub t5,t5,t4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400" dirty="0">
                <a:latin typeface="Courier New" pitchFamily="-84" charset="0"/>
              </a:rPr>
              <a:t>L1:      </a:t>
            </a:r>
            <a:r>
              <a:rPr lang="es-ES_tradnl" sz="1400" dirty="0" err="1">
                <a:latin typeface="Courier New" pitchFamily="-84" charset="0"/>
              </a:rPr>
              <a:t>sw</a:t>
            </a:r>
            <a:r>
              <a:rPr lang="es-ES_tradnl" sz="1400" dirty="0">
                <a:latin typeface="Courier New" pitchFamily="-84" charset="0"/>
              </a:rPr>
              <a:t>  t6,50(t4)</a:t>
            </a:r>
          </a:p>
        </p:txBody>
      </p:sp>
      <p:pic>
        <p:nvPicPr>
          <p:cNvPr id="48" name="47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386673"/>
            <a:ext cx="1346811" cy="178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303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Conclusiones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ES" dirty="0"/>
              <a:t>Las instrucciones de salto (control de flujo) suponen la ruptura de la secuencia de ejecución de un programa y por tanto una pérdida de rendimiento</a:t>
            </a:r>
          </a:p>
          <a:p>
            <a:r>
              <a:rPr lang="es-ES" dirty="0"/>
              <a:t>Las soluciones conservadoras se limitan a resolver el problema para garantizar la correcta secuenciación del programa</a:t>
            </a:r>
          </a:p>
          <a:p>
            <a:r>
              <a:rPr lang="es-ES" dirty="0"/>
              <a:t>Para mejorar el rendimiento intentaremos que se puedan aprovechar las instrucciones que ya han entrado en el procesador.</a:t>
            </a:r>
          </a:p>
          <a:p>
            <a:r>
              <a:rPr lang="es-ES" dirty="0"/>
              <a:t>Las técnicas de predicción de salto van encaminadas a ello.</a:t>
            </a:r>
          </a:p>
        </p:txBody>
      </p:sp>
      <p:pic>
        <p:nvPicPr>
          <p:cNvPr id="7" name="6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9" y="2180862"/>
            <a:ext cx="1411357" cy="1920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986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Ejemplos de Segmentación Básica</a:t>
            </a:r>
          </a:p>
        </p:txBody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La segmentación básica en los procesadores comerciales</a:t>
            </a:r>
          </a:p>
          <a:p>
            <a:pPr lvl="1"/>
            <a:r>
              <a:rPr lang="es-ES" dirty="0"/>
              <a:t>El modelo de segmentación en cinco etapas </a:t>
            </a:r>
            <a:r>
              <a:rPr lang="es-ES_tradnl" dirty="0"/>
              <a:t>es la base del diseño de los procesadores modernos (excepto la familia Intel x86)</a:t>
            </a:r>
          </a:p>
          <a:p>
            <a:pPr lvl="1"/>
            <a:r>
              <a:rPr lang="es-ES_tradnl" dirty="0"/>
              <a:t>Ejemplos:</a:t>
            </a:r>
            <a:endParaRPr lang="es-ES" dirty="0"/>
          </a:p>
          <a:p>
            <a:pPr lvl="2"/>
            <a:r>
              <a:rPr lang="es-ES" dirty="0"/>
              <a:t>MIPS R2000, R3000, …</a:t>
            </a:r>
          </a:p>
          <a:p>
            <a:pPr lvl="2"/>
            <a:r>
              <a:rPr lang="es-ES" dirty="0"/>
              <a:t>Sun SPARC V7</a:t>
            </a:r>
            <a:endParaRPr lang="es-ES_tradnl" dirty="0"/>
          </a:p>
          <a:p>
            <a:pPr lvl="2"/>
            <a:r>
              <a:rPr lang="es-ES" dirty="0"/>
              <a:t>Hewlett Packard – Precisio</a:t>
            </a:r>
            <a:r>
              <a:rPr lang="es-ES_tradnl" dirty="0" err="1"/>
              <a:t>n</a:t>
            </a:r>
            <a:r>
              <a:rPr lang="es-ES_tradnl" dirty="0"/>
              <a:t> </a:t>
            </a:r>
            <a:r>
              <a:rPr lang="es-ES" dirty="0"/>
              <a:t>Architecture (HP-PA)</a:t>
            </a:r>
          </a:p>
          <a:p>
            <a:pPr lvl="1"/>
            <a:r>
              <a:rPr lang="es-ES" dirty="0"/>
              <a:t>Familia Intel x86</a:t>
            </a:r>
          </a:p>
          <a:p>
            <a:pPr lvl="2"/>
            <a:r>
              <a:rPr lang="es-ES" dirty="0"/>
              <a:t>80486: también estaba segmentado en 5 etapas, pero con diferente organización</a:t>
            </a:r>
          </a:p>
        </p:txBody>
      </p:sp>
      <p:sp>
        <p:nvSpPr>
          <p:cNvPr id="117762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1D616-6905-734C-A613-D8FEF6865F4C}" type="slidenum">
              <a:rPr lang="en-US" smtClean="0"/>
              <a:pPr/>
              <a:t>63</a:t>
            </a:fld>
            <a:endParaRPr lang="en-US"/>
          </a:p>
        </p:txBody>
      </p:sp>
      <p:pic>
        <p:nvPicPr>
          <p:cNvPr id="5" name="Picture 6" descr="220px-HP_PA-RISC_7300LC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24600" y="5334000"/>
            <a:ext cx="1371600" cy="1371600"/>
          </a:xfrm>
          <a:prstGeom prst="rect">
            <a:avLst/>
          </a:prstGeom>
          <a:noFill/>
        </p:spPr>
      </p:pic>
      <p:pic>
        <p:nvPicPr>
          <p:cNvPr id="6" name="Picture 7" descr="cpu03intel8048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31883" y="5408612"/>
            <a:ext cx="1463717" cy="1373188"/>
          </a:xfrm>
          <a:prstGeom prst="rect">
            <a:avLst/>
          </a:prstGeom>
          <a:noFill/>
        </p:spPr>
      </p:pic>
      <p:pic>
        <p:nvPicPr>
          <p:cNvPr id="7" name="Picture 8" descr="SUN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200400" y="5410200"/>
            <a:ext cx="1228725" cy="1228725"/>
          </a:xfrm>
          <a:prstGeom prst="rect">
            <a:avLst/>
          </a:prstGeom>
          <a:noFill/>
        </p:spPr>
      </p:pic>
      <p:pic>
        <p:nvPicPr>
          <p:cNvPr id="8" name="Picture 9" descr="MIPSR2000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876800" y="5200650"/>
            <a:ext cx="1079066" cy="1657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Otros Modelos de Segmentación</a:t>
            </a:r>
          </a:p>
        </p:txBody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8963" y="838200"/>
            <a:ext cx="8250237" cy="5256212"/>
          </a:xfrm>
        </p:spPr>
        <p:txBody>
          <a:bodyPr/>
          <a:lstStyle/>
          <a:p>
            <a:r>
              <a:rPr lang="es-ES" dirty="0"/>
              <a:t>Segmentación con etapas multiciclo</a:t>
            </a:r>
          </a:p>
          <a:p>
            <a:pPr lvl="1"/>
            <a:r>
              <a:rPr lang="es-ES" dirty="0"/>
              <a:t>Permite la ejecución de operaciones de larga duración</a:t>
            </a:r>
          </a:p>
          <a:p>
            <a:pPr lvl="2"/>
            <a:r>
              <a:rPr lang="es-ES" dirty="0"/>
              <a:t>aritmética de coma flotante, multimedia, etc.</a:t>
            </a:r>
          </a:p>
          <a:p>
            <a:pPr lvl="1"/>
            <a:r>
              <a:rPr lang="es-ES" dirty="0"/>
              <a:t>Dispone de una colección de diversos operadores, cada uno con latencia L y tasa de repetición R específicos</a:t>
            </a:r>
          </a:p>
          <a:p>
            <a:pPr lvl="2"/>
            <a:r>
              <a:rPr lang="es-ES" dirty="0"/>
              <a:t>acceso a memoria (típicamente L&gt;=1, R=1)</a:t>
            </a:r>
            <a:endParaRPr lang="ca-ES" dirty="0"/>
          </a:p>
          <a:p>
            <a:pPr lvl="2"/>
            <a:r>
              <a:rPr lang="es-ES" dirty="0"/>
              <a:t>aritmética entera (L=1, R=1)</a:t>
            </a:r>
          </a:p>
          <a:p>
            <a:pPr lvl="2"/>
            <a:r>
              <a:rPr lang="es-ES" dirty="0"/>
              <a:t>aritmética de CF (L&gt;1, R&gt;=1)</a:t>
            </a:r>
          </a:p>
          <a:p>
            <a:endParaRPr lang="es-ES" dirty="0"/>
          </a:p>
        </p:txBody>
      </p:sp>
      <p:sp>
        <p:nvSpPr>
          <p:cNvPr id="11878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836EB-10D9-F141-9961-03D243A59593}" type="slidenum">
              <a:rPr lang="en-US" smtClean="0"/>
              <a:pPr/>
              <a:t>64</a:t>
            </a:fld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895475" y="4495800"/>
            <a:ext cx="3200400" cy="1981200"/>
            <a:chOff x="2112" y="2496"/>
            <a:chExt cx="2016" cy="1248"/>
          </a:xfrm>
        </p:grpSpPr>
        <p:sp>
          <p:nvSpPr>
            <p:cNvPr id="118795" name="AutoShape 5"/>
            <p:cNvSpPr>
              <a:spLocks noChangeArrowheads="1"/>
            </p:cNvSpPr>
            <p:nvPr/>
          </p:nvSpPr>
          <p:spPr bwMode="grayWhite">
            <a:xfrm>
              <a:off x="2448" y="2928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18796" name="Rectangle 6"/>
            <p:cNvSpPr>
              <a:spLocks noChangeArrowheads="1"/>
            </p:cNvSpPr>
            <p:nvPr/>
          </p:nvSpPr>
          <p:spPr bwMode="blackWhite">
            <a:xfrm>
              <a:off x="3216" y="2592"/>
              <a:ext cx="240" cy="24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X1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18797" name="AutoShape 7"/>
            <p:cNvSpPr>
              <a:spLocks noChangeArrowheads="1"/>
            </p:cNvSpPr>
            <p:nvPr/>
          </p:nvSpPr>
          <p:spPr bwMode="grayWhite">
            <a:xfrm>
              <a:off x="3120" y="2496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18798" name="AutoShape 8"/>
            <p:cNvSpPr>
              <a:spLocks noChangeArrowheads="1"/>
            </p:cNvSpPr>
            <p:nvPr/>
          </p:nvSpPr>
          <p:spPr bwMode="grayWhite">
            <a:xfrm>
              <a:off x="3792" y="2928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18799" name="AutoShape 9"/>
            <p:cNvSpPr>
              <a:spLocks noChangeArrowheads="1"/>
            </p:cNvSpPr>
            <p:nvPr/>
          </p:nvSpPr>
          <p:spPr bwMode="grayWhite">
            <a:xfrm>
              <a:off x="3120" y="2928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18800" name="Rectangle 10"/>
            <p:cNvSpPr>
              <a:spLocks noChangeArrowheads="1"/>
            </p:cNvSpPr>
            <p:nvPr/>
          </p:nvSpPr>
          <p:spPr bwMode="blackWhite">
            <a:xfrm>
              <a:off x="3216" y="3456"/>
              <a:ext cx="240" cy="24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X3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18801" name="AutoShape 11"/>
            <p:cNvSpPr>
              <a:spLocks noChangeArrowheads="1"/>
            </p:cNvSpPr>
            <p:nvPr/>
          </p:nvSpPr>
          <p:spPr bwMode="grayWhite">
            <a:xfrm>
              <a:off x="3120" y="3360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18802" name="Rectangle 12"/>
            <p:cNvSpPr>
              <a:spLocks noChangeArrowheads="1"/>
            </p:cNvSpPr>
            <p:nvPr/>
          </p:nvSpPr>
          <p:spPr bwMode="blackWhite">
            <a:xfrm>
              <a:off x="2112" y="3024"/>
              <a:ext cx="240" cy="192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LI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18803" name="Rectangle 13"/>
            <p:cNvSpPr>
              <a:spLocks noChangeArrowheads="1"/>
            </p:cNvSpPr>
            <p:nvPr/>
          </p:nvSpPr>
          <p:spPr bwMode="blackWhite">
            <a:xfrm>
              <a:off x="2544" y="3024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DI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18804" name="Rectangle 14"/>
            <p:cNvSpPr>
              <a:spLocks noChangeArrowheads="1"/>
            </p:cNvSpPr>
            <p:nvPr/>
          </p:nvSpPr>
          <p:spPr bwMode="blackWhite">
            <a:xfrm>
              <a:off x="3888" y="3024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ER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18805" name="Rectangle 15"/>
            <p:cNvSpPr>
              <a:spLocks noChangeArrowheads="1"/>
            </p:cNvSpPr>
            <p:nvPr/>
          </p:nvSpPr>
          <p:spPr bwMode="blackWhite">
            <a:xfrm>
              <a:off x="3216" y="3024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X2</a:t>
              </a:r>
              <a:endParaRPr lang="ca-ES">
                <a:latin typeface="Arial Narrow" pitchFamily="-84" charset="0"/>
              </a:endParaRPr>
            </a:p>
          </p:txBody>
        </p:sp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2832" y="2688"/>
              <a:ext cx="240" cy="864"/>
              <a:chOff x="2352" y="1104"/>
              <a:chExt cx="192" cy="864"/>
            </a:xfrm>
          </p:grpSpPr>
          <p:sp>
            <p:nvSpPr>
              <p:cNvPr id="118811" name="Line 17"/>
              <p:cNvSpPr>
                <a:spLocks noChangeShapeType="1"/>
              </p:cNvSpPr>
              <p:nvPr/>
            </p:nvSpPr>
            <p:spPr bwMode="blackWhite">
              <a:xfrm>
                <a:off x="2352" y="153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8812" name="Line 18"/>
              <p:cNvSpPr>
                <a:spLocks noChangeShapeType="1"/>
              </p:cNvSpPr>
              <p:nvPr/>
            </p:nvSpPr>
            <p:spPr bwMode="blackWhite">
              <a:xfrm flipV="1">
                <a:off x="2352" y="1104"/>
                <a:ext cx="192" cy="38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8813" name="Line 19"/>
              <p:cNvSpPr>
                <a:spLocks noChangeShapeType="1"/>
              </p:cNvSpPr>
              <p:nvPr/>
            </p:nvSpPr>
            <p:spPr bwMode="blackWhite">
              <a:xfrm>
                <a:off x="2352" y="1584"/>
                <a:ext cx="192" cy="38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4" name="Group 20"/>
            <p:cNvGrpSpPr>
              <a:grpSpLocks/>
            </p:cNvGrpSpPr>
            <p:nvPr/>
          </p:nvGrpSpPr>
          <p:grpSpPr bwMode="auto">
            <a:xfrm flipH="1">
              <a:off x="3504" y="2688"/>
              <a:ext cx="240" cy="864"/>
              <a:chOff x="2352" y="1104"/>
              <a:chExt cx="192" cy="864"/>
            </a:xfrm>
          </p:grpSpPr>
          <p:sp>
            <p:nvSpPr>
              <p:cNvPr id="118808" name="Line 21"/>
              <p:cNvSpPr>
                <a:spLocks noChangeShapeType="1"/>
              </p:cNvSpPr>
              <p:nvPr/>
            </p:nvSpPr>
            <p:spPr bwMode="blackWhite">
              <a:xfrm>
                <a:off x="2352" y="153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 type="triangle" w="med" len="med"/>
                <a:tailEnd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8809" name="Line 22"/>
              <p:cNvSpPr>
                <a:spLocks noChangeShapeType="1"/>
              </p:cNvSpPr>
              <p:nvPr/>
            </p:nvSpPr>
            <p:spPr bwMode="blackWhite">
              <a:xfrm flipV="1">
                <a:off x="2352" y="1104"/>
                <a:ext cx="192" cy="38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 type="triangle" w="med" len="med"/>
                <a:tailEnd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8810" name="Line 23"/>
              <p:cNvSpPr>
                <a:spLocks noChangeShapeType="1"/>
              </p:cNvSpPr>
              <p:nvPr/>
            </p:nvSpPr>
            <p:spPr bwMode="blackWhite">
              <a:xfrm>
                <a:off x="2352" y="1584"/>
                <a:ext cx="192" cy="38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 type="triangle" w="med" len="med"/>
                <a:tailEnd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5794375" y="4648201"/>
            <a:ext cx="2511425" cy="1662113"/>
            <a:chOff x="3458" y="2150"/>
            <a:chExt cx="1582" cy="1047"/>
          </a:xfrm>
        </p:grpSpPr>
        <p:sp>
          <p:nvSpPr>
            <p:cNvPr id="118792" name="Text Box 25"/>
            <p:cNvSpPr txBox="1">
              <a:spLocks noChangeArrowheads="1"/>
            </p:cNvSpPr>
            <p:nvPr/>
          </p:nvSpPr>
          <p:spPr bwMode="auto">
            <a:xfrm>
              <a:off x="3458" y="2150"/>
              <a:ext cx="1564" cy="104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l" eaLnBrk="0" hangingPunct="0">
                <a:tabLst>
                  <a:tab pos="1522413" algn="l"/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unidad	L	R</a:t>
              </a:r>
            </a:p>
            <a:p>
              <a:pPr algn="l" eaLnBrk="0" hangingPunct="0">
                <a:lnSpc>
                  <a:spcPct val="150000"/>
                </a:lnSpc>
                <a:tabLst>
                  <a:tab pos="1522413" algn="l"/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X1 (</a:t>
              </a:r>
              <a:r>
                <a:rPr lang="es-ES_tradnl" b="0" dirty="0" err="1">
                  <a:solidFill>
                    <a:schemeClr val="tx1"/>
                  </a:solidFill>
                </a:rPr>
                <a:t>mem</a:t>
              </a:r>
              <a:r>
                <a:rPr lang="es-ES_tradnl" b="0" dirty="0">
                  <a:solidFill>
                    <a:schemeClr val="tx1"/>
                  </a:solidFill>
                </a:rPr>
                <a:t>)</a:t>
              </a:r>
              <a:r>
                <a:rPr lang="es-ES" b="0" dirty="0">
                  <a:solidFill>
                    <a:schemeClr val="tx1"/>
                  </a:solidFill>
                </a:rPr>
                <a:t>	</a:t>
              </a:r>
              <a:r>
                <a:rPr lang="es-ES_tradnl" b="0" dirty="0">
                  <a:solidFill>
                    <a:schemeClr val="tx1"/>
                  </a:solidFill>
                </a:rPr>
                <a:t>2</a:t>
              </a:r>
              <a:r>
                <a:rPr lang="es-ES" b="0" dirty="0">
                  <a:solidFill>
                    <a:schemeClr val="tx1"/>
                  </a:solidFill>
                </a:rPr>
                <a:t>	1</a:t>
              </a:r>
            </a:p>
            <a:p>
              <a:pPr algn="l" eaLnBrk="0" hangingPunct="0">
                <a:tabLst>
                  <a:tab pos="1522413" algn="l"/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X2 (enteros)	1	1</a:t>
              </a:r>
            </a:p>
            <a:p>
              <a:pPr algn="l" eaLnBrk="0" hangingPunct="0">
                <a:tabLst>
                  <a:tab pos="1522413" algn="l"/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X3 (CF)	3	3</a:t>
              </a:r>
            </a:p>
          </p:txBody>
        </p:sp>
        <p:sp>
          <p:nvSpPr>
            <p:cNvPr id="118793" name="Line 26"/>
            <p:cNvSpPr>
              <a:spLocks noChangeShapeType="1"/>
            </p:cNvSpPr>
            <p:nvPr/>
          </p:nvSpPr>
          <p:spPr bwMode="auto">
            <a:xfrm>
              <a:off x="3504" y="2400"/>
              <a:ext cx="1536" cy="0"/>
            </a:xfrm>
            <a:prstGeom prst="line">
              <a:avLst/>
            </a:prstGeom>
            <a:noFill/>
            <a:ln w="317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794" name="Line 27"/>
            <p:cNvSpPr>
              <a:spLocks noChangeShapeType="1"/>
            </p:cNvSpPr>
            <p:nvPr/>
          </p:nvSpPr>
          <p:spPr bwMode="blackWhite">
            <a:xfrm>
              <a:off x="4368" y="2208"/>
              <a:ext cx="0" cy="81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8791" name="Text Box 28"/>
          <p:cNvSpPr txBox="1">
            <a:spLocks noChangeArrowheads="1"/>
          </p:cNvSpPr>
          <p:nvPr/>
        </p:nvSpPr>
        <p:spPr bwMode="blackWhite">
          <a:xfrm>
            <a:off x="719138" y="4495800"/>
            <a:ext cx="9890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b="0"/>
              <a:t>Ejemplo:</a:t>
            </a:r>
            <a:endParaRPr lang="ca-ES" b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Otros Modelos de Segmentación</a:t>
            </a:r>
          </a:p>
        </p:txBody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6563" y="914400"/>
            <a:ext cx="8250237" cy="5256212"/>
          </a:xfrm>
        </p:spPr>
        <p:txBody>
          <a:bodyPr/>
          <a:lstStyle/>
          <a:p>
            <a:r>
              <a:rPr lang="es-ES" dirty="0"/>
              <a:t>Segmentación con etapas multiciclo (cont.)</a:t>
            </a:r>
          </a:p>
          <a:p>
            <a:pPr lvl="1"/>
            <a:r>
              <a:rPr lang="es-ES" dirty="0"/>
              <a:t>Hace falta una lógica de emisión (</a:t>
            </a:r>
            <a:r>
              <a:rPr lang="es-ES" i="1" dirty="0"/>
              <a:t>issue</a:t>
            </a:r>
            <a:r>
              <a:rPr lang="es-ES" dirty="0"/>
              <a:t>) que distribuya el trabajo entre los diversos operadores</a:t>
            </a:r>
          </a:p>
          <a:p>
            <a:pPr lvl="1"/>
            <a:r>
              <a:rPr lang="es-ES" dirty="0"/>
              <a:t>El orden en que acaba la ejecución de las instrucciones puede ser distinto al orden en que han sido decodificadas</a:t>
            </a:r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r>
              <a:rPr lang="es-ES" dirty="0"/>
              <a:t>La ruta de datos puede padecer conflictos estructurales</a:t>
            </a:r>
          </a:p>
          <a:p>
            <a:pPr lvl="2"/>
            <a:r>
              <a:rPr lang="es-ES" dirty="0"/>
              <a:t>Ejemplo: ¿qué pasa si van seguidas dos instrucciones de CF?</a:t>
            </a:r>
          </a:p>
          <a:p>
            <a:pPr lvl="2"/>
            <a:endParaRPr lang="es-ES" dirty="0"/>
          </a:p>
        </p:txBody>
      </p:sp>
      <p:sp>
        <p:nvSpPr>
          <p:cNvPr id="119810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39532-022A-3441-9D60-25D195A36466}" type="slidenum">
              <a:rPr lang="en-US" smtClean="0"/>
              <a:pPr/>
              <a:t>65</a:t>
            </a:fld>
            <a:endParaRPr lang="en-US"/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1600200" y="3367087"/>
            <a:ext cx="5765800" cy="1662113"/>
            <a:chOff x="806" y="2167"/>
            <a:chExt cx="3632" cy="1047"/>
          </a:xfrm>
        </p:grpSpPr>
        <p:sp>
          <p:nvSpPr>
            <p:cNvPr id="119814" name="Text Box 30"/>
            <p:cNvSpPr txBox="1">
              <a:spLocks noChangeArrowheads="1"/>
            </p:cNvSpPr>
            <p:nvPr/>
          </p:nvSpPr>
          <p:spPr bwMode="auto">
            <a:xfrm>
              <a:off x="806" y="2167"/>
              <a:ext cx="3632" cy="104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l" eaLnBrk="0" hangingPunct="0">
                <a:tabLst>
                  <a:tab pos="1522413" algn="l"/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instrucción	</a:t>
              </a:r>
              <a:r>
                <a:rPr lang="es-ES" dirty="0">
                  <a:solidFill>
                    <a:schemeClr val="tx1"/>
                  </a:solidFill>
                  <a:latin typeface="Arial Narrow" pitchFamily="-84" charset="0"/>
                </a:rPr>
                <a:t>1	2	3	4	5	6	7</a:t>
              </a:r>
              <a:r>
                <a:rPr lang="es-ES" b="0" dirty="0">
                  <a:solidFill>
                    <a:schemeClr val="tx1"/>
                  </a:solidFill>
                </a:rPr>
                <a:t>	</a:t>
              </a:r>
            </a:p>
            <a:p>
              <a:pPr algn="l" eaLnBrk="0" hangingPunct="0">
                <a:lnSpc>
                  <a:spcPct val="150000"/>
                </a:lnSpc>
                <a:tabLst>
                  <a:tab pos="1522413" algn="l"/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lw</a:t>
              </a:r>
              <a:r>
                <a:rPr lang="es-ES" b="0" dirty="0">
                  <a:solidFill>
                    <a:schemeClr val="tx1"/>
                  </a:solidFill>
                </a:rPr>
                <a:t>	LI	DI	X1	X1	ER	</a:t>
              </a:r>
            </a:p>
            <a:p>
              <a:pPr algn="l" eaLnBrk="0" hangingPunct="0">
                <a:tabLst>
                  <a:tab pos="1522413" algn="l"/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fadd</a:t>
              </a:r>
              <a:r>
                <a:rPr lang="es-ES" b="0" dirty="0">
                  <a:solidFill>
                    <a:schemeClr val="tx1"/>
                  </a:solidFill>
                </a:rPr>
                <a:t> (CF)		LI	DI	X3	X3	X3	ER	</a:t>
              </a:r>
            </a:p>
            <a:p>
              <a:pPr algn="l" eaLnBrk="0" hangingPunct="0">
                <a:tabLst>
                  <a:tab pos="1522413" algn="l"/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add</a:t>
              </a:r>
              <a:r>
                <a:rPr lang="es-ES" b="0" dirty="0">
                  <a:solidFill>
                    <a:schemeClr val="tx1"/>
                  </a:solidFill>
                </a:rPr>
                <a:t> (enteros)			LI	DI	X2	ER	</a:t>
              </a:r>
            </a:p>
          </p:txBody>
        </p:sp>
        <p:sp>
          <p:nvSpPr>
            <p:cNvPr id="119815" name="Line 31"/>
            <p:cNvSpPr>
              <a:spLocks noChangeShapeType="1"/>
            </p:cNvSpPr>
            <p:nvPr/>
          </p:nvSpPr>
          <p:spPr bwMode="auto">
            <a:xfrm>
              <a:off x="816" y="2400"/>
              <a:ext cx="3456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8250237" cy="865187"/>
          </a:xfrm>
        </p:spPr>
        <p:txBody>
          <a:bodyPr/>
          <a:lstStyle/>
          <a:p>
            <a:r>
              <a:rPr lang="es-ES" dirty="0"/>
              <a:t>Otros Modelos de Segmentación</a:t>
            </a:r>
          </a:p>
        </p:txBody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762000"/>
            <a:ext cx="8250237" cy="5791200"/>
          </a:xfrm>
        </p:spPr>
        <p:txBody>
          <a:bodyPr/>
          <a:lstStyle/>
          <a:p>
            <a:r>
              <a:rPr lang="es-ES" dirty="0"/>
              <a:t>Supersegmentación</a:t>
            </a:r>
          </a:p>
          <a:p>
            <a:pPr lvl="1"/>
            <a:r>
              <a:rPr lang="es-ES" dirty="0"/>
              <a:t>La tarea a</a:t>
            </a:r>
            <a:r>
              <a:rPr lang="es-ES_tradnl" dirty="0"/>
              <a:t> realizar en alguna/</a:t>
            </a:r>
            <a:r>
              <a:rPr lang="es-ES_tradnl" dirty="0" err="1"/>
              <a:t>s</a:t>
            </a:r>
            <a:r>
              <a:rPr lang="es-ES_tradnl" dirty="0"/>
              <a:t> </a:t>
            </a:r>
            <a:r>
              <a:rPr lang="es-ES" dirty="0"/>
              <a:t> etapa/s del modelo básico se</a:t>
            </a:r>
            <a:r>
              <a:rPr lang="es-ES_tradnl" dirty="0"/>
              <a:t> reparte (</a:t>
            </a:r>
            <a:r>
              <a:rPr lang="es-ES" dirty="0"/>
              <a:t>segmenta) ent</a:t>
            </a:r>
            <a:r>
              <a:rPr lang="es-ES_tradnl" dirty="0"/>
              <a:t>re</a:t>
            </a:r>
            <a:r>
              <a:rPr lang="es-ES" dirty="0"/>
              <a:t> varias etapas </a:t>
            </a:r>
          </a:p>
          <a:p>
            <a:pPr lvl="2"/>
            <a:r>
              <a:rPr lang="es-ES_tradnl" dirty="0"/>
              <a:t>Aumento del número de etapas</a:t>
            </a:r>
            <a:endParaRPr lang="es-ES" dirty="0"/>
          </a:p>
          <a:p>
            <a:pPr lvl="2"/>
            <a:r>
              <a:rPr lang="es-ES" dirty="0"/>
              <a:t>Objetivo: incrementar la frecuencia de reloj (etapas más cortas)</a:t>
            </a:r>
          </a:p>
          <a:p>
            <a:pPr lvl="2"/>
            <a:r>
              <a:rPr lang="es-ES" dirty="0"/>
              <a:t>CPI ideal = </a:t>
            </a:r>
            <a:r>
              <a:rPr lang="es-ES" dirty="0">
                <a:latin typeface="Arial"/>
                <a:cs typeface="Arial"/>
              </a:rPr>
              <a:t>1</a:t>
            </a:r>
          </a:p>
          <a:p>
            <a:pPr lvl="1"/>
            <a:r>
              <a:rPr lang="es-ES" dirty="0"/>
              <a:t>Ejemplo: MIPS R4000: 8 etapas LI1,LI2,DI,EX,M1,M2,M3,ER</a:t>
            </a:r>
          </a:p>
          <a:p>
            <a:pPr lvl="2"/>
            <a:r>
              <a:rPr lang="es-ES" dirty="0"/>
              <a:t>LI1 y LI2 hacen la lectura de instrucción</a:t>
            </a:r>
          </a:p>
          <a:p>
            <a:pPr lvl="2"/>
            <a:r>
              <a:rPr lang="es-ES" dirty="0"/>
              <a:t>M1, M2 y M3 realizan el acceso a la memoria de datos</a:t>
            </a:r>
          </a:p>
          <a:p>
            <a:pPr lvl="2"/>
            <a:endParaRPr lang="es-ES_tradnl" dirty="0"/>
          </a:p>
          <a:p>
            <a:pPr lvl="2">
              <a:buNone/>
            </a:pPr>
            <a:endParaRPr lang="es-ES" dirty="0"/>
          </a:p>
          <a:p>
            <a:pPr lvl="1"/>
            <a:r>
              <a:rPr lang="es-ES" dirty="0"/>
              <a:t>Otros ejemplos</a:t>
            </a:r>
          </a:p>
          <a:p>
            <a:pPr lvl="2"/>
            <a:r>
              <a:rPr lang="es-ES" dirty="0"/>
              <a:t>SPARC-V8 (9 etapas) </a:t>
            </a:r>
          </a:p>
          <a:p>
            <a:pPr lvl="2"/>
            <a:r>
              <a:rPr lang="es-ES" dirty="0"/>
              <a:t>Alpha 21064 (7 etapas)</a:t>
            </a:r>
          </a:p>
          <a:p>
            <a:pPr lvl="1"/>
            <a:endParaRPr lang="es-ES" dirty="0"/>
          </a:p>
        </p:txBody>
      </p:sp>
      <p:sp>
        <p:nvSpPr>
          <p:cNvPr id="12083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AFED2-EB89-634D-9B29-A00C67D8122D}" type="slidenum">
              <a:rPr lang="en-US" smtClean="0"/>
              <a:pPr/>
              <a:t>66</a:t>
            </a:fld>
            <a:endParaRPr lang="en-US"/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1908175" y="4800600"/>
            <a:ext cx="5181600" cy="609600"/>
            <a:chOff x="1392" y="3072"/>
            <a:chExt cx="3264" cy="384"/>
          </a:xfrm>
        </p:grpSpPr>
        <p:sp>
          <p:nvSpPr>
            <p:cNvPr id="120838" name="AutoShape 21"/>
            <p:cNvSpPr>
              <a:spLocks noChangeArrowheads="1"/>
            </p:cNvSpPr>
            <p:nvPr/>
          </p:nvSpPr>
          <p:spPr bwMode="grayWhite">
            <a:xfrm>
              <a:off x="2592" y="3072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20839" name="AutoShape 22"/>
            <p:cNvSpPr>
              <a:spLocks noChangeArrowheads="1"/>
            </p:cNvSpPr>
            <p:nvPr/>
          </p:nvSpPr>
          <p:spPr bwMode="grayWhite">
            <a:xfrm>
              <a:off x="3456" y="3072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20840" name="AutoShape 23"/>
            <p:cNvSpPr>
              <a:spLocks noChangeArrowheads="1"/>
            </p:cNvSpPr>
            <p:nvPr/>
          </p:nvSpPr>
          <p:spPr bwMode="grayWhite">
            <a:xfrm>
              <a:off x="4320" y="3072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20841" name="AutoShape 24"/>
            <p:cNvSpPr>
              <a:spLocks noChangeArrowheads="1"/>
            </p:cNvSpPr>
            <p:nvPr/>
          </p:nvSpPr>
          <p:spPr bwMode="grayWhite">
            <a:xfrm>
              <a:off x="3024" y="3072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20842" name="AutoShape 25"/>
            <p:cNvSpPr>
              <a:spLocks noChangeArrowheads="1"/>
            </p:cNvSpPr>
            <p:nvPr/>
          </p:nvSpPr>
          <p:spPr bwMode="grayWhite">
            <a:xfrm>
              <a:off x="1728" y="3072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20843" name="AutoShape 26"/>
            <p:cNvSpPr>
              <a:spLocks noChangeArrowheads="1"/>
            </p:cNvSpPr>
            <p:nvPr/>
          </p:nvSpPr>
          <p:spPr bwMode="grayWhite">
            <a:xfrm>
              <a:off x="2160" y="3072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20844" name="Rectangle 27"/>
            <p:cNvSpPr>
              <a:spLocks noChangeArrowheads="1"/>
            </p:cNvSpPr>
            <p:nvPr/>
          </p:nvSpPr>
          <p:spPr bwMode="blackWhite">
            <a:xfrm>
              <a:off x="3552" y="3168"/>
              <a:ext cx="240" cy="192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M1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0845" name="Rectangle 28"/>
            <p:cNvSpPr>
              <a:spLocks noChangeArrowheads="1"/>
            </p:cNvSpPr>
            <p:nvPr/>
          </p:nvSpPr>
          <p:spPr bwMode="blackWhite">
            <a:xfrm>
              <a:off x="2256" y="3168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DI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0846" name="Rectangle 29"/>
            <p:cNvSpPr>
              <a:spLocks noChangeArrowheads="1"/>
            </p:cNvSpPr>
            <p:nvPr/>
          </p:nvSpPr>
          <p:spPr bwMode="blackWhite">
            <a:xfrm>
              <a:off x="4416" y="3168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ER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0847" name="Rectangle 30"/>
            <p:cNvSpPr>
              <a:spLocks noChangeArrowheads="1"/>
            </p:cNvSpPr>
            <p:nvPr/>
          </p:nvSpPr>
          <p:spPr bwMode="blackWhite">
            <a:xfrm>
              <a:off x="2688" y="3168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X1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0848" name="Rectangle 31"/>
            <p:cNvSpPr>
              <a:spLocks noChangeArrowheads="1"/>
            </p:cNvSpPr>
            <p:nvPr/>
          </p:nvSpPr>
          <p:spPr bwMode="blackWhite">
            <a:xfrm>
              <a:off x="1824" y="3168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LI2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0849" name="Rectangle 32"/>
            <p:cNvSpPr>
              <a:spLocks noChangeArrowheads="1"/>
            </p:cNvSpPr>
            <p:nvPr/>
          </p:nvSpPr>
          <p:spPr bwMode="blackWhite">
            <a:xfrm>
              <a:off x="1392" y="3168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LI1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0850" name="Rectangle 33"/>
            <p:cNvSpPr>
              <a:spLocks noChangeArrowheads="1"/>
            </p:cNvSpPr>
            <p:nvPr/>
          </p:nvSpPr>
          <p:spPr bwMode="blackWhite">
            <a:xfrm>
              <a:off x="3120" y="3168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X2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0851" name="Rectangle 34"/>
            <p:cNvSpPr>
              <a:spLocks noChangeArrowheads="1"/>
            </p:cNvSpPr>
            <p:nvPr/>
          </p:nvSpPr>
          <p:spPr bwMode="blackWhite">
            <a:xfrm>
              <a:off x="3984" y="3168"/>
              <a:ext cx="240" cy="192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M2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0852" name="AutoShape 35"/>
            <p:cNvSpPr>
              <a:spLocks noChangeArrowheads="1"/>
            </p:cNvSpPr>
            <p:nvPr/>
          </p:nvSpPr>
          <p:spPr bwMode="grayWhite">
            <a:xfrm>
              <a:off x="3888" y="3072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Otros Modelos de Segmentación</a:t>
            </a:r>
          </a:p>
        </p:txBody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38200"/>
            <a:ext cx="8250237" cy="2133600"/>
          </a:xfrm>
        </p:spPr>
        <p:txBody>
          <a:bodyPr/>
          <a:lstStyle/>
          <a:p>
            <a:r>
              <a:rPr lang="es-ES_tradnl" dirty="0"/>
              <a:t>Procesadores superescalares</a:t>
            </a:r>
          </a:p>
          <a:p>
            <a:pPr lvl="1"/>
            <a:r>
              <a:rPr lang="es-ES_tradnl" dirty="0"/>
              <a:t>Cada etapa puede procesar </a:t>
            </a:r>
            <a:r>
              <a:rPr lang="es-ES_tradnl" dirty="0" err="1"/>
              <a:t>n</a:t>
            </a:r>
            <a:r>
              <a:rPr lang="es-ES_tradnl" dirty="0"/>
              <a:t> instrucciones</a:t>
            </a:r>
          </a:p>
          <a:p>
            <a:pPr lvl="2"/>
            <a:r>
              <a:rPr lang="es-ES_tradnl" dirty="0"/>
              <a:t>Intención: reducir CPI ideal a 1/</a:t>
            </a:r>
            <a:r>
              <a:rPr lang="es-ES_tradnl" dirty="0" err="1"/>
              <a:t>n</a:t>
            </a:r>
            <a:r>
              <a:rPr lang="es-ES_tradnl" dirty="0"/>
              <a:t> manteniendo la frecuencia de reloj</a:t>
            </a:r>
          </a:p>
          <a:p>
            <a:pPr lvl="3"/>
            <a:r>
              <a:rPr lang="es-ES_tradnl" dirty="0"/>
              <a:t>Se utiliza el índice IPC (Instrucciones por ciclo) = n. Inversa de CPI</a:t>
            </a:r>
          </a:p>
          <a:p>
            <a:pPr lvl="1"/>
            <a:r>
              <a:rPr lang="es-ES_tradnl" dirty="0"/>
              <a:t>Ejemplo con </a:t>
            </a:r>
            <a:r>
              <a:rPr lang="es-ES_tradnl" dirty="0" err="1"/>
              <a:t>n</a:t>
            </a:r>
            <a:r>
              <a:rPr lang="es-ES_tradnl" dirty="0"/>
              <a:t>=2 (CPI ideal = 0.5; IPC ideal = 2)</a:t>
            </a:r>
          </a:p>
        </p:txBody>
      </p:sp>
      <p:sp>
        <p:nvSpPr>
          <p:cNvPr id="121858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1E41D-8B34-2741-8689-325AE212610B}" type="slidenum">
              <a:rPr lang="en-US" smtClean="0"/>
              <a:pPr/>
              <a:t>67</a:t>
            </a:fld>
            <a:endParaRPr lang="en-US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838200" y="3706812"/>
            <a:ext cx="4964113" cy="2770188"/>
            <a:chOff x="1970" y="2150"/>
            <a:chExt cx="3127" cy="1745"/>
          </a:xfrm>
        </p:grpSpPr>
        <p:sp>
          <p:nvSpPr>
            <p:cNvPr id="121879" name="Text Box 8"/>
            <p:cNvSpPr txBox="1">
              <a:spLocks noChangeArrowheads="1"/>
            </p:cNvSpPr>
            <p:nvPr/>
          </p:nvSpPr>
          <p:spPr bwMode="auto">
            <a:xfrm>
              <a:off x="1970" y="2150"/>
              <a:ext cx="3127" cy="174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l" eaLnBrk="0" hangingPunct="0">
                <a:tabLst>
                  <a:tab pos="952500" algn="l"/>
                  <a:tab pos="1522413" algn="l"/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Instr.	1	2	3	4	5	6	7</a:t>
              </a:r>
            </a:p>
            <a:p>
              <a:pPr algn="l" eaLnBrk="0" hangingPunct="0">
                <a:lnSpc>
                  <a:spcPct val="150000"/>
                </a:lnSpc>
                <a:tabLst>
                  <a:tab pos="952500" algn="l"/>
                  <a:tab pos="1522413" algn="l"/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i1	LI	DI	EX	M	ER	</a:t>
              </a:r>
            </a:p>
            <a:p>
              <a:pPr algn="l" eaLnBrk="0" hangingPunct="0">
                <a:tabLst>
                  <a:tab pos="952500" algn="l"/>
                  <a:tab pos="1522413" algn="l"/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i2	LI	DI	EX	M	ER	</a:t>
              </a:r>
            </a:p>
            <a:p>
              <a:pPr algn="l" eaLnBrk="0" hangingPunct="0">
                <a:tabLst>
                  <a:tab pos="952500" algn="l"/>
                  <a:tab pos="1522413" algn="l"/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i3		LI	DI	EX	M	ER	</a:t>
              </a:r>
            </a:p>
            <a:p>
              <a:pPr algn="l" eaLnBrk="0" hangingPunct="0">
                <a:tabLst>
                  <a:tab pos="952500" algn="l"/>
                  <a:tab pos="1522413" algn="l"/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i4		LI	DI	EX	M	ER	</a:t>
              </a:r>
            </a:p>
            <a:p>
              <a:pPr algn="l" eaLnBrk="0" hangingPunct="0">
                <a:tabLst>
                  <a:tab pos="952500" algn="l"/>
                  <a:tab pos="1522413" algn="l"/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i5			LI	DI	EX	M	ER</a:t>
              </a:r>
            </a:p>
            <a:p>
              <a:pPr algn="l" eaLnBrk="0" hangingPunct="0">
                <a:tabLst>
                  <a:tab pos="952500" algn="l"/>
                  <a:tab pos="1522413" algn="l"/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i6			LI	DI	EX	M	ER</a:t>
              </a:r>
              <a:endParaRPr lang="ca-ES" b="0" dirty="0">
                <a:solidFill>
                  <a:schemeClr val="tx1"/>
                </a:solidFill>
              </a:endParaRPr>
            </a:p>
          </p:txBody>
        </p:sp>
        <p:sp>
          <p:nvSpPr>
            <p:cNvPr id="121880" name="Line 9"/>
            <p:cNvSpPr>
              <a:spLocks noChangeShapeType="1"/>
            </p:cNvSpPr>
            <p:nvPr/>
          </p:nvSpPr>
          <p:spPr bwMode="auto">
            <a:xfrm>
              <a:off x="2016" y="2400"/>
              <a:ext cx="2928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6400800" y="2971800"/>
            <a:ext cx="2133600" cy="990600"/>
            <a:chOff x="480" y="2208"/>
            <a:chExt cx="1344" cy="384"/>
          </a:xfrm>
        </p:grpSpPr>
        <p:sp>
          <p:nvSpPr>
            <p:cNvPr id="121875" name="AutoShape 11"/>
            <p:cNvSpPr>
              <a:spLocks noChangeArrowheads="1"/>
            </p:cNvSpPr>
            <p:nvPr/>
          </p:nvSpPr>
          <p:spPr bwMode="grayWhite">
            <a:xfrm>
              <a:off x="1344" y="2208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21876" name="AutoShape 12"/>
            <p:cNvSpPr>
              <a:spLocks noChangeArrowheads="1"/>
            </p:cNvSpPr>
            <p:nvPr/>
          </p:nvSpPr>
          <p:spPr bwMode="grayWhite">
            <a:xfrm>
              <a:off x="1776" y="2208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21877" name="AutoShape 13"/>
            <p:cNvSpPr>
              <a:spLocks noChangeArrowheads="1"/>
            </p:cNvSpPr>
            <p:nvPr/>
          </p:nvSpPr>
          <p:spPr bwMode="grayWhite">
            <a:xfrm>
              <a:off x="480" y="2208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21878" name="AutoShape 14"/>
            <p:cNvSpPr>
              <a:spLocks noChangeArrowheads="1"/>
            </p:cNvSpPr>
            <p:nvPr/>
          </p:nvSpPr>
          <p:spPr bwMode="grayWhite">
            <a:xfrm>
              <a:off x="912" y="2208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5867400" y="3124200"/>
            <a:ext cx="3124200" cy="301625"/>
            <a:chOff x="144" y="2304"/>
            <a:chExt cx="1968" cy="190"/>
          </a:xfrm>
        </p:grpSpPr>
        <p:sp>
          <p:nvSpPr>
            <p:cNvPr id="121870" name="Rectangle 16"/>
            <p:cNvSpPr>
              <a:spLocks noChangeArrowheads="1"/>
            </p:cNvSpPr>
            <p:nvPr/>
          </p:nvSpPr>
          <p:spPr bwMode="blackWhite">
            <a:xfrm>
              <a:off x="1008" y="2304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EX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1871" name="Rectangle 17"/>
            <p:cNvSpPr>
              <a:spLocks noChangeArrowheads="1"/>
            </p:cNvSpPr>
            <p:nvPr/>
          </p:nvSpPr>
          <p:spPr bwMode="blackWhite">
            <a:xfrm>
              <a:off x="1440" y="2304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M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1872" name="Rectangle 18"/>
            <p:cNvSpPr>
              <a:spLocks noChangeArrowheads="1"/>
            </p:cNvSpPr>
            <p:nvPr/>
          </p:nvSpPr>
          <p:spPr bwMode="blackWhite">
            <a:xfrm>
              <a:off x="576" y="2304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DI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1873" name="Rectangle 19"/>
            <p:cNvSpPr>
              <a:spLocks noChangeArrowheads="1"/>
            </p:cNvSpPr>
            <p:nvPr/>
          </p:nvSpPr>
          <p:spPr bwMode="blackWhite">
            <a:xfrm>
              <a:off x="144" y="2304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LI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1874" name="Rectangle 20"/>
            <p:cNvSpPr>
              <a:spLocks noChangeArrowheads="1"/>
            </p:cNvSpPr>
            <p:nvPr/>
          </p:nvSpPr>
          <p:spPr bwMode="blackWhite">
            <a:xfrm>
              <a:off x="1872" y="2304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ER</a:t>
              </a:r>
              <a:endParaRPr lang="ca-ES">
                <a:latin typeface="Arial Narrow" pitchFamily="-84" charset="0"/>
              </a:endParaRPr>
            </a:p>
          </p:txBody>
        </p:sp>
      </p:grp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5867400" y="3508375"/>
            <a:ext cx="3124200" cy="301625"/>
            <a:chOff x="144" y="2304"/>
            <a:chExt cx="1968" cy="190"/>
          </a:xfrm>
        </p:grpSpPr>
        <p:sp>
          <p:nvSpPr>
            <p:cNvPr id="121865" name="Rectangle 22"/>
            <p:cNvSpPr>
              <a:spLocks noChangeArrowheads="1"/>
            </p:cNvSpPr>
            <p:nvPr/>
          </p:nvSpPr>
          <p:spPr bwMode="blackWhite">
            <a:xfrm>
              <a:off x="1008" y="2304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EX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1866" name="Rectangle 23"/>
            <p:cNvSpPr>
              <a:spLocks noChangeArrowheads="1"/>
            </p:cNvSpPr>
            <p:nvPr/>
          </p:nvSpPr>
          <p:spPr bwMode="blackWhite">
            <a:xfrm>
              <a:off x="1440" y="2304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M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1867" name="Rectangle 24"/>
            <p:cNvSpPr>
              <a:spLocks noChangeArrowheads="1"/>
            </p:cNvSpPr>
            <p:nvPr/>
          </p:nvSpPr>
          <p:spPr bwMode="blackWhite">
            <a:xfrm>
              <a:off x="576" y="2304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DI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1868" name="Rectangle 25"/>
            <p:cNvSpPr>
              <a:spLocks noChangeArrowheads="1"/>
            </p:cNvSpPr>
            <p:nvPr/>
          </p:nvSpPr>
          <p:spPr bwMode="blackWhite">
            <a:xfrm>
              <a:off x="144" y="2304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LI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1869" name="Rectangle 26"/>
            <p:cNvSpPr>
              <a:spLocks noChangeArrowheads="1"/>
            </p:cNvSpPr>
            <p:nvPr/>
          </p:nvSpPr>
          <p:spPr bwMode="blackWhite">
            <a:xfrm>
              <a:off x="1872" y="2304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ER</a:t>
              </a:r>
              <a:endParaRPr lang="ca-ES">
                <a:latin typeface="Arial Narrow" pitchFamily="-84" charset="0"/>
              </a:endParaRPr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Otros Modelos de Segmentación</a:t>
            </a:r>
          </a:p>
        </p:txBody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38200"/>
            <a:ext cx="8250237" cy="5256212"/>
          </a:xfrm>
        </p:spPr>
        <p:txBody>
          <a:bodyPr/>
          <a:lstStyle/>
          <a:p>
            <a:r>
              <a:rPr lang="es-ES_tradnl" dirty="0"/>
              <a:t>Combinaciones</a:t>
            </a:r>
          </a:p>
          <a:p>
            <a:pPr lvl="1"/>
            <a:r>
              <a:rPr lang="es-ES" dirty="0"/>
              <a:t>Los procesadores actuales combinan diversos modelos de segmentación</a:t>
            </a:r>
          </a:p>
          <a:p>
            <a:pPr lvl="1"/>
            <a:r>
              <a:rPr lang="es-ES_tradnl" dirty="0"/>
              <a:t>Parámetros significativos:</a:t>
            </a:r>
          </a:p>
          <a:p>
            <a:pPr lvl="2"/>
            <a:r>
              <a:rPr lang="es-ES" dirty="0"/>
              <a:t>Número de etapas</a:t>
            </a:r>
          </a:p>
          <a:p>
            <a:pPr lvl="2"/>
            <a:r>
              <a:rPr lang="es-ES_tradnl" dirty="0"/>
              <a:t>Grado de escalabilidad = número de instrucciones que se pueden leer o descodificar por ciclo</a:t>
            </a:r>
          </a:p>
          <a:p>
            <a:pPr lvl="2"/>
            <a:r>
              <a:rPr lang="es-ES_tradnl" dirty="0"/>
              <a:t>Surtido de operadores y características (L, R) de cada uno</a:t>
            </a:r>
            <a:endParaRPr lang="es-ES" dirty="0"/>
          </a:p>
        </p:txBody>
      </p:sp>
      <p:sp>
        <p:nvSpPr>
          <p:cNvPr id="122882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0BE72-7EAF-ED49-B498-A98DF90F3D01}" type="slidenum">
              <a:rPr lang="en-US" smtClean="0"/>
              <a:pPr/>
              <a:t>68</a:t>
            </a:fld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429000" y="4038600"/>
            <a:ext cx="533400" cy="1981200"/>
            <a:chOff x="2112" y="2544"/>
            <a:chExt cx="336" cy="1248"/>
          </a:xfrm>
        </p:grpSpPr>
        <p:sp>
          <p:nvSpPr>
            <p:cNvPr id="122927" name="Rectangle 5"/>
            <p:cNvSpPr>
              <a:spLocks noChangeArrowheads="1"/>
            </p:cNvSpPr>
            <p:nvPr/>
          </p:nvSpPr>
          <p:spPr bwMode="blackWhite">
            <a:xfrm>
              <a:off x="2208" y="2640"/>
              <a:ext cx="240" cy="24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X4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2928" name="AutoShape 6"/>
            <p:cNvSpPr>
              <a:spLocks noChangeArrowheads="1"/>
            </p:cNvSpPr>
            <p:nvPr/>
          </p:nvSpPr>
          <p:spPr bwMode="grayWhite">
            <a:xfrm>
              <a:off x="2112" y="2544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22929" name="AutoShape 7"/>
            <p:cNvSpPr>
              <a:spLocks noChangeArrowheads="1"/>
            </p:cNvSpPr>
            <p:nvPr/>
          </p:nvSpPr>
          <p:spPr bwMode="grayWhite">
            <a:xfrm>
              <a:off x="2112" y="2976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22930" name="Rectangle 8"/>
            <p:cNvSpPr>
              <a:spLocks noChangeArrowheads="1"/>
            </p:cNvSpPr>
            <p:nvPr/>
          </p:nvSpPr>
          <p:spPr bwMode="blackWhite">
            <a:xfrm>
              <a:off x="2208" y="3504"/>
              <a:ext cx="240" cy="24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X6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2931" name="AutoShape 9"/>
            <p:cNvSpPr>
              <a:spLocks noChangeArrowheads="1"/>
            </p:cNvSpPr>
            <p:nvPr/>
          </p:nvSpPr>
          <p:spPr bwMode="grayWhite">
            <a:xfrm>
              <a:off x="2112" y="3408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22932" name="Rectangle 10"/>
            <p:cNvSpPr>
              <a:spLocks noChangeArrowheads="1"/>
            </p:cNvSpPr>
            <p:nvPr/>
          </p:nvSpPr>
          <p:spPr bwMode="blackWhite">
            <a:xfrm>
              <a:off x="2208" y="3072"/>
              <a:ext cx="240" cy="19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X5</a:t>
              </a:r>
              <a:endParaRPr lang="ca-ES">
                <a:latin typeface="Arial Narrow" pitchFamily="-84" charset="0"/>
              </a:endParaRPr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5483225" y="3962401"/>
            <a:ext cx="3203575" cy="2554288"/>
            <a:chOff x="3550" y="2640"/>
            <a:chExt cx="2018" cy="1609"/>
          </a:xfrm>
        </p:grpSpPr>
        <p:sp>
          <p:nvSpPr>
            <p:cNvPr id="122924" name="Text Box 12"/>
            <p:cNvSpPr txBox="1">
              <a:spLocks noChangeArrowheads="1"/>
            </p:cNvSpPr>
            <p:nvPr/>
          </p:nvSpPr>
          <p:spPr bwMode="auto">
            <a:xfrm>
              <a:off x="3574" y="2640"/>
              <a:ext cx="1994" cy="1609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l" eaLnBrk="0" hangingPunct="0">
                <a:tabLst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Unidad	L	R</a:t>
              </a:r>
            </a:p>
            <a:p>
              <a:pPr algn="l" eaLnBrk="0" hangingPunct="0">
                <a:tabLst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X1 (l/s memoria</a:t>
              </a:r>
              <a:r>
                <a:rPr lang="es-ES_tradnl" b="0" dirty="0">
                  <a:solidFill>
                    <a:schemeClr val="tx1"/>
                  </a:solidFill>
                </a:rPr>
                <a:t>)</a:t>
              </a:r>
              <a:r>
                <a:rPr lang="es-ES" b="0" dirty="0">
                  <a:solidFill>
                    <a:schemeClr val="tx1"/>
                  </a:solidFill>
                </a:rPr>
                <a:t>	</a:t>
              </a:r>
              <a:r>
                <a:rPr lang="es-ES_tradnl" b="0" dirty="0">
                  <a:solidFill>
                    <a:schemeClr val="tx1"/>
                  </a:solidFill>
                </a:rPr>
                <a:t>3</a:t>
              </a:r>
              <a:r>
                <a:rPr lang="es-ES" b="0" dirty="0">
                  <a:solidFill>
                    <a:schemeClr val="tx1"/>
                  </a:solidFill>
                </a:rPr>
                <a:t>	1</a:t>
              </a:r>
              <a:br>
                <a:rPr lang="es-ES" b="0" dirty="0">
                  <a:solidFill>
                    <a:schemeClr val="tx1"/>
                  </a:solidFill>
                </a:rPr>
              </a:br>
              <a:r>
                <a:rPr lang="es-ES" b="0" dirty="0">
                  <a:solidFill>
                    <a:schemeClr val="tx1"/>
                  </a:solidFill>
                </a:rPr>
                <a:t>X2 (s/r enteros)	1	1</a:t>
              </a:r>
            </a:p>
            <a:p>
              <a:pPr algn="l" eaLnBrk="0" hangingPunct="0">
                <a:tabLst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_tradnl" b="0" dirty="0">
                  <a:solidFill>
                    <a:schemeClr val="tx1"/>
                  </a:solidFill>
                </a:rPr>
                <a:t>X3 (</a:t>
              </a:r>
              <a:r>
                <a:rPr lang="es-ES_tradnl" b="0" dirty="0" err="1">
                  <a:solidFill>
                    <a:schemeClr val="tx1"/>
                  </a:solidFill>
                </a:rPr>
                <a:t>p</a:t>
              </a:r>
              <a:r>
                <a:rPr lang="es-ES_tradnl" b="0" dirty="0">
                  <a:solidFill>
                    <a:schemeClr val="tx1"/>
                  </a:solidFill>
                </a:rPr>
                <a:t>/</a:t>
              </a:r>
              <a:r>
                <a:rPr lang="es-ES_tradnl" b="0" dirty="0" err="1">
                  <a:solidFill>
                    <a:schemeClr val="tx1"/>
                  </a:solidFill>
                </a:rPr>
                <a:t>d</a:t>
              </a:r>
              <a:r>
                <a:rPr lang="es-ES_tradnl" b="0" dirty="0">
                  <a:solidFill>
                    <a:schemeClr val="tx1"/>
                  </a:solidFill>
                </a:rPr>
                <a:t> enteros)	4	3</a:t>
              </a:r>
              <a:endParaRPr lang="es-ES" b="0" dirty="0">
                <a:solidFill>
                  <a:schemeClr val="tx1"/>
                </a:solidFill>
              </a:endParaRPr>
            </a:p>
            <a:p>
              <a:pPr algn="l" eaLnBrk="0" hangingPunct="0">
                <a:tabLst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X4 (</a:t>
              </a:r>
              <a:r>
                <a:rPr lang="es-ES_tradnl" b="0" dirty="0" err="1">
                  <a:solidFill>
                    <a:schemeClr val="tx1"/>
                  </a:solidFill>
                </a:rPr>
                <a:t>s</a:t>
              </a:r>
              <a:r>
                <a:rPr lang="es-ES_tradnl" b="0" dirty="0">
                  <a:solidFill>
                    <a:schemeClr val="tx1"/>
                  </a:solidFill>
                </a:rPr>
                <a:t>/</a:t>
              </a:r>
              <a:r>
                <a:rPr lang="es-ES_tradnl" b="0" dirty="0" err="1">
                  <a:solidFill>
                    <a:schemeClr val="tx1"/>
                  </a:solidFill>
                </a:rPr>
                <a:t>r</a:t>
              </a:r>
              <a:r>
                <a:rPr lang="es-ES_tradnl" b="0" dirty="0">
                  <a:solidFill>
                    <a:schemeClr val="tx1"/>
                  </a:solidFill>
                </a:rPr>
                <a:t> CF</a:t>
              </a:r>
              <a:r>
                <a:rPr lang="es-ES" b="0" dirty="0">
                  <a:solidFill>
                    <a:schemeClr val="tx1"/>
                  </a:solidFill>
                </a:rPr>
                <a:t>)	5	3</a:t>
              </a:r>
            </a:p>
            <a:p>
              <a:pPr algn="l" eaLnBrk="0" hangingPunct="0">
                <a:tabLst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X5 (p/d CF)	15	15</a:t>
              </a:r>
            </a:p>
            <a:p>
              <a:pPr algn="l" eaLnBrk="0" hangingPunct="0">
                <a:tabLst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_tradnl" b="0" dirty="0">
                  <a:solidFill>
                    <a:schemeClr val="tx1"/>
                  </a:solidFill>
                </a:rPr>
                <a:t>X6 (multimedia)	3	1</a:t>
              </a:r>
              <a:endParaRPr lang="es-ES" b="0" dirty="0">
                <a:solidFill>
                  <a:schemeClr val="tx1"/>
                </a:solidFill>
              </a:endParaRPr>
            </a:p>
          </p:txBody>
        </p:sp>
        <p:sp>
          <p:nvSpPr>
            <p:cNvPr id="122925" name="Line 13"/>
            <p:cNvSpPr>
              <a:spLocks noChangeShapeType="1"/>
            </p:cNvSpPr>
            <p:nvPr/>
          </p:nvSpPr>
          <p:spPr bwMode="auto">
            <a:xfrm>
              <a:off x="3550" y="2855"/>
              <a:ext cx="1826" cy="0"/>
            </a:xfrm>
            <a:prstGeom prst="line">
              <a:avLst/>
            </a:prstGeom>
            <a:noFill/>
            <a:ln w="317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926" name="Line 14"/>
            <p:cNvSpPr>
              <a:spLocks noChangeShapeType="1"/>
            </p:cNvSpPr>
            <p:nvPr/>
          </p:nvSpPr>
          <p:spPr bwMode="blackWhite">
            <a:xfrm>
              <a:off x="4800" y="2688"/>
              <a:ext cx="0" cy="134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2887" name="Text Box 15"/>
          <p:cNvSpPr txBox="1">
            <a:spLocks noChangeArrowheads="1"/>
          </p:cNvSpPr>
          <p:nvPr/>
        </p:nvSpPr>
        <p:spPr bwMode="blackWhite">
          <a:xfrm>
            <a:off x="652463" y="4114800"/>
            <a:ext cx="9890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b="0"/>
              <a:t>Ejemplo:</a:t>
            </a:r>
            <a:endParaRPr lang="ca-ES" b="0"/>
          </a:p>
        </p:txBody>
      </p: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838200" y="4267200"/>
            <a:ext cx="4191000" cy="1981200"/>
            <a:chOff x="480" y="2640"/>
            <a:chExt cx="2640" cy="1248"/>
          </a:xfrm>
        </p:grpSpPr>
        <p:sp>
          <p:nvSpPr>
            <p:cNvPr id="122890" name="AutoShape 17"/>
            <p:cNvSpPr>
              <a:spLocks noChangeArrowheads="1"/>
            </p:cNvSpPr>
            <p:nvPr/>
          </p:nvSpPr>
          <p:spPr bwMode="grayWhite">
            <a:xfrm>
              <a:off x="2784" y="2976"/>
              <a:ext cx="48" cy="432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22891" name="Rectangle 18"/>
            <p:cNvSpPr>
              <a:spLocks noChangeArrowheads="1"/>
            </p:cNvSpPr>
            <p:nvPr/>
          </p:nvSpPr>
          <p:spPr bwMode="blackWhite">
            <a:xfrm>
              <a:off x="2880" y="2976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ER</a:t>
              </a:r>
              <a:endParaRPr lang="ca-ES">
                <a:latin typeface="Arial Narrow" pitchFamily="-84" charset="0"/>
              </a:endParaRPr>
            </a:p>
          </p:txBody>
        </p:sp>
        <p:grpSp>
          <p:nvGrpSpPr>
            <p:cNvPr id="5" name="Group 19"/>
            <p:cNvGrpSpPr>
              <a:grpSpLocks/>
            </p:cNvGrpSpPr>
            <p:nvPr/>
          </p:nvGrpSpPr>
          <p:grpSpPr bwMode="auto">
            <a:xfrm>
              <a:off x="1680" y="2832"/>
              <a:ext cx="240" cy="864"/>
              <a:chOff x="1680" y="2832"/>
              <a:chExt cx="240" cy="864"/>
            </a:xfrm>
          </p:grpSpPr>
          <p:sp>
            <p:nvSpPr>
              <p:cNvPr id="122921" name="Line 20"/>
              <p:cNvSpPr>
                <a:spLocks noChangeShapeType="1"/>
              </p:cNvSpPr>
              <p:nvPr/>
            </p:nvSpPr>
            <p:spPr bwMode="blackWhite">
              <a:xfrm>
                <a:off x="1680" y="321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2922" name="Line 21"/>
              <p:cNvSpPr>
                <a:spLocks noChangeShapeType="1"/>
              </p:cNvSpPr>
              <p:nvPr/>
            </p:nvSpPr>
            <p:spPr bwMode="blackWhite">
              <a:xfrm flipV="1">
                <a:off x="1680" y="2832"/>
                <a:ext cx="240" cy="33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2923" name="Line 22"/>
              <p:cNvSpPr>
                <a:spLocks noChangeShapeType="1"/>
              </p:cNvSpPr>
              <p:nvPr/>
            </p:nvSpPr>
            <p:spPr bwMode="blackWhite">
              <a:xfrm>
                <a:off x="1680" y="3312"/>
                <a:ext cx="240" cy="38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6" name="Group 23"/>
            <p:cNvGrpSpPr>
              <a:grpSpLocks/>
            </p:cNvGrpSpPr>
            <p:nvPr/>
          </p:nvGrpSpPr>
          <p:grpSpPr bwMode="auto">
            <a:xfrm flipH="1">
              <a:off x="2496" y="2736"/>
              <a:ext cx="240" cy="864"/>
              <a:chOff x="2352" y="1104"/>
              <a:chExt cx="192" cy="864"/>
            </a:xfrm>
          </p:grpSpPr>
          <p:sp>
            <p:nvSpPr>
              <p:cNvPr id="122918" name="Line 24"/>
              <p:cNvSpPr>
                <a:spLocks noChangeShapeType="1"/>
              </p:cNvSpPr>
              <p:nvPr/>
            </p:nvSpPr>
            <p:spPr bwMode="blackWhite">
              <a:xfrm>
                <a:off x="2352" y="153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 type="triangle" w="med" len="med"/>
                <a:tailEnd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2919" name="Line 25"/>
              <p:cNvSpPr>
                <a:spLocks noChangeShapeType="1"/>
              </p:cNvSpPr>
              <p:nvPr/>
            </p:nvSpPr>
            <p:spPr bwMode="blackWhite">
              <a:xfrm flipV="1">
                <a:off x="2352" y="1104"/>
                <a:ext cx="192" cy="38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 type="triangle" w="med" len="med"/>
                <a:tailEnd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2920" name="Line 26"/>
              <p:cNvSpPr>
                <a:spLocks noChangeShapeType="1"/>
              </p:cNvSpPr>
              <p:nvPr/>
            </p:nvSpPr>
            <p:spPr bwMode="blackWhite">
              <a:xfrm>
                <a:off x="2352" y="1584"/>
                <a:ext cx="192" cy="38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 type="triangle" w="med" len="med"/>
                <a:tailEnd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22894" name="AutoShape 27"/>
            <p:cNvSpPr>
              <a:spLocks noChangeArrowheads="1"/>
            </p:cNvSpPr>
            <p:nvPr/>
          </p:nvSpPr>
          <p:spPr bwMode="grayWhite">
            <a:xfrm>
              <a:off x="816" y="2976"/>
              <a:ext cx="48" cy="432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22895" name="AutoShape 28"/>
            <p:cNvSpPr>
              <a:spLocks noChangeArrowheads="1"/>
            </p:cNvSpPr>
            <p:nvPr/>
          </p:nvSpPr>
          <p:spPr bwMode="grayWhite">
            <a:xfrm>
              <a:off x="1248" y="2976"/>
              <a:ext cx="48" cy="432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22896" name="Rectangle 29"/>
            <p:cNvSpPr>
              <a:spLocks noChangeArrowheads="1"/>
            </p:cNvSpPr>
            <p:nvPr/>
          </p:nvSpPr>
          <p:spPr bwMode="blackWhite">
            <a:xfrm>
              <a:off x="1344" y="2976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DI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2897" name="Rectangle 30"/>
            <p:cNvSpPr>
              <a:spLocks noChangeArrowheads="1"/>
            </p:cNvSpPr>
            <p:nvPr/>
          </p:nvSpPr>
          <p:spPr bwMode="blackWhite">
            <a:xfrm>
              <a:off x="2880" y="3216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ER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2898" name="Rectangle 31"/>
            <p:cNvSpPr>
              <a:spLocks noChangeArrowheads="1"/>
            </p:cNvSpPr>
            <p:nvPr/>
          </p:nvSpPr>
          <p:spPr bwMode="blackWhite">
            <a:xfrm>
              <a:off x="912" y="2976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LI2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2899" name="Rectangle 32"/>
            <p:cNvSpPr>
              <a:spLocks noChangeArrowheads="1"/>
            </p:cNvSpPr>
            <p:nvPr/>
          </p:nvSpPr>
          <p:spPr bwMode="blackWhite">
            <a:xfrm>
              <a:off x="480" y="2976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LI1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2900" name="Rectangle 33"/>
            <p:cNvSpPr>
              <a:spLocks noChangeArrowheads="1"/>
            </p:cNvSpPr>
            <p:nvPr/>
          </p:nvSpPr>
          <p:spPr bwMode="blackWhite">
            <a:xfrm>
              <a:off x="912" y="3218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LI2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2901" name="Rectangle 34"/>
            <p:cNvSpPr>
              <a:spLocks noChangeArrowheads="1"/>
            </p:cNvSpPr>
            <p:nvPr/>
          </p:nvSpPr>
          <p:spPr bwMode="blackWhite">
            <a:xfrm>
              <a:off x="480" y="3218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LI1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2902" name="Rectangle 35"/>
            <p:cNvSpPr>
              <a:spLocks noChangeArrowheads="1"/>
            </p:cNvSpPr>
            <p:nvPr/>
          </p:nvSpPr>
          <p:spPr bwMode="blackWhite">
            <a:xfrm>
              <a:off x="1344" y="3218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DI</a:t>
              </a:r>
              <a:endParaRPr lang="ca-ES">
                <a:latin typeface="Arial Narrow" pitchFamily="-84" charset="0"/>
              </a:endParaRPr>
            </a:p>
          </p:txBody>
        </p:sp>
        <p:grpSp>
          <p:nvGrpSpPr>
            <p:cNvPr id="7" name="Group 36"/>
            <p:cNvGrpSpPr>
              <a:grpSpLocks/>
            </p:cNvGrpSpPr>
            <p:nvPr/>
          </p:nvGrpSpPr>
          <p:grpSpPr bwMode="auto">
            <a:xfrm>
              <a:off x="1680" y="2688"/>
              <a:ext cx="384" cy="864"/>
              <a:chOff x="1680" y="2688"/>
              <a:chExt cx="384" cy="864"/>
            </a:xfrm>
          </p:grpSpPr>
          <p:sp>
            <p:nvSpPr>
              <p:cNvPr id="122915" name="Line 37"/>
              <p:cNvSpPr>
                <a:spLocks noChangeShapeType="1"/>
              </p:cNvSpPr>
              <p:nvPr/>
            </p:nvSpPr>
            <p:spPr bwMode="blackWhite">
              <a:xfrm>
                <a:off x="1680" y="3120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2916" name="Line 38"/>
              <p:cNvSpPr>
                <a:spLocks noChangeShapeType="1"/>
              </p:cNvSpPr>
              <p:nvPr/>
            </p:nvSpPr>
            <p:spPr bwMode="blackWhite">
              <a:xfrm flipV="1">
                <a:off x="1680" y="2688"/>
                <a:ext cx="384" cy="38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2917" name="Line 39"/>
              <p:cNvSpPr>
                <a:spLocks noChangeShapeType="1"/>
              </p:cNvSpPr>
              <p:nvPr/>
            </p:nvSpPr>
            <p:spPr bwMode="blackWhite">
              <a:xfrm>
                <a:off x="1680" y="3264"/>
                <a:ext cx="384" cy="288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8" name="Group 40"/>
            <p:cNvGrpSpPr>
              <a:grpSpLocks/>
            </p:cNvGrpSpPr>
            <p:nvPr/>
          </p:nvGrpSpPr>
          <p:grpSpPr bwMode="auto">
            <a:xfrm>
              <a:off x="1968" y="2640"/>
              <a:ext cx="336" cy="1248"/>
              <a:chOff x="2016" y="2640"/>
              <a:chExt cx="336" cy="1248"/>
            </a:xfrm>
          </p:grpSpPr>
          <p:sp>
            <p:nvSpPr>
              <p:cNvPr id="122909" name="Rectangle 41"/>
              <p:cNvSpPr>
                <a:spLocks noChangeArrowheads="1"/>
              </p:cNvSpPr>
              <p:nvPr/>
            </p:nvSpPr>
            <p:spPr bwMode="blackWhite">
              <a:xfrm>
                <a:off x="2112" y="2736"/>
                <a:ext cx="240" cy="240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s-ES">
                    <a:latin typeface="Arial Narrow" pitchFamily="-84" charset="0"/>
                  </a:rPr>
                  <a:t>X1</a:t>
                </a:r>
                <a:endParaRPr lang="ca-ES">
                  <a:latin typeface="Arial Narrow" pitchFamily="-84" charset="0"/>
                </a:endParaRPr>
              </a:p>
            </p:txBody>
          </p:sp>
          <p:sp>
            <p:nvSpPr>
              <p:cNvPr id="122910" name="AutoShape 42"/>
              <p:cNvSpPr>
                <a:spLocks noChangeArrowheads="1"/>
              </p:cNvSpPr>
              <p:nvPr/>
            </p:nvSpPr>
            <p:spPr bwMode="grayWhite">
              <a:xfrm>
                <a:off x="2016" y="2640"/>
                <a:ext cx="48" cy="384"/>
              </a:xfrm>
              <a:prstGeom prst="roundRect">
                <a:avLst>
                  <a:gd name="adj" fmla="val 16667"/>
                </a:avLst>
              </a:prstGeom>
              <a:solidFill>
                <a:schemeClr val="hlink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9200" prstMaterial="legacyMetal">
                <a:bevelT w="13500" h="13500" prst="angle"/>
                <a:bevelB w="13500" h="13500" prst="angle"/>
                <a:extrusionClr>
                  <a:schemeClr val="hlink"/>
                </a:extrusionClr>
              </a:sp3d>
            </p:spPr>
            <p:txBody>
              <a:bodyPr wrap="none" anchor="ctr">
                <a:prstTxWarp prst="textNoShape">
                  <a:avLst/>
                </a:prstTxWarp>
                <a:flatTx/>
              </a:bodyPr>
              <a:lstStyle/>
              <a:p>
                <a:pPr algn="ctr" eaLnBrk="0" hangingPunct="0"/>
                <a:endParaRPr lang="en-US"/>
              </a:p>
            </p:txBody>
          </p:sp>
          <p:sp>
            <p:nvSpPr>
              <p:cNvPr id="122911" name="AutoShape 43"/>
              <p:cNvSpPr>
                <a:spLocks noChangeArrowheads="1"/>
              </p:cNvSpPr>
              <p:nvPr/>
            </p:nvSpPr>
            <p:spPr bwMode="grayWhite">
              <a:xfrm>
                <a:off x="2016" y="3072"/>
                <a:ext cx="48" cy="384"/>
              </a:xfrm>
              <a:prstGeom prst="roundRect">
                <a:avLst>
                  <a:gd name="adj" fmla="val 16667"/>
                </a:avLst>
              </a:prstGeom>
              <a:solidFill>
                <a:schemeClr val="hlink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9200" prstMaterial="legacyMetal">
                <a:bevelT w="13500" h="13500" prst="angle"/>
                <a:bevelB w="13500" h="13500" prst="angle"/>
                <a:extrusionClr>
                  <a:schemeClr val="hlink"/>
                </a:extrusionClr>
              </a:sp3d>
            </p:spPr>
            <p:txBody>
              <a:bodyPr wrap="none" anchor="ctr">
                <a:prstTxWarp prst="textNoShape">
                  <a:avLst/>
                </a:prstTxWarp>
                <a:flatTx/>
              </a:bodyPr>
              <a:lstStyle/>
              <a:p>
                <a:pPr algn="ctr" eaLnBrk="0" hangingPunct="0"/>
                <a:endParaRPr lang="en-US"/>
              </a:p>
            </p:txBody>
          </p:sp>
          <p:sp>
            <p:nvSpPr>
              <p:cNvPr id="122912" name="Rectangle 44"/>
              <p:cNvSpPr>
                <a:spLocks noChangeArrowheads="1"/>
              </p:cNvSpPr>
              <p:nvPr/>
            </p:nvSpPr>
            <p:spPr bwMode="blackWhite">
              <a:xfrm>
                <a:off x="2112" y="3600"/>
                <a:ext cx="240" cy="240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s-ES">
                    <a:latin typeface="Arial Narrow" pitchFamily="-84" charset="0"/>
                  </a:rPr>
                  <a:t>X3</a:t>
                </a:r>
                <a:endParaRPr lang="ca-ES">
                  <a:latin typeface="Arial Narrow" pitchFamily="-84" charset="0"/>
                </a:endParaRPr>
              </a:p>
            </p:txBody>
          </p:sp>
          <p:sp>
            <p:nvSpPr>
              <p:cNvPr id="122913" name="AutoShape 45"/>
              <p:cNvSpPr>
                <a:spLocks noChangeArrowheads="1"/>
              </p:cNvSpPr>
              <p:nvPr/>
            </p:nvSpPr>
            <p:spPr bwMode="grayWhite">
              <a:xfrm>
                <a:off x="2016" y="3504"/>
                <a:ext cx="48" cy="384"/>
              </a:xfrm>
              <a:prstGeom prst="roundRect">
                <a:avLst>
                  <a:gd name="adj" fmla="val 16667"/>
                </a:avLst>
              </a:prstGeom>
              <a:solidFill>
                <a:schemeClr val="hlink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9200" prstMaterial="legacyMetal">
                <a:bevelT w="13500" h="13500" prst="angle"/>
                <a:bevelB w="13500" h="13500" prst="angle"/>
                <a:extrusionClr>
                  <a:schemeClr val="hlink"/>
                </a:extrusionClr>
              </a:sp3d>
            </p:spPr>
            <p:txBody>
              <a:bodyPr wrap="none" anchor="ctr">
                <a:prstTxWarp prst="textNoShape">
                  <a:avLst/>
                </a:prstTxWarp>
                <a:flatTx/>
              </a:bodyPr>
              <a:lstStyle/>
              <a:p>
                <a:pPr algn="ctr" eaLnBrk="0" hangingPunct="0"/>
                <a:endParaRPr lang="en-US"/>
              </a:p>
            </p:txBody>
          </p:sp>
          <p:sp>
            <p:nvSpPr>
              <p:cNvPr id="122914" name="Rectangle 46"/>
              <p:cNvSpPr>
                <a:spLocks noChangeArrowheads="1"/>
              </p:cNvSpPr>
              <p:nvPr/>
            </p:nvSpPr>
            <p:spPr bwMode="blackWhite">
              <a:xfrm>
                <a:off x="2112" y="3168"/>
                <a:ext cx="240" cy="190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s-ES">
                    <a:latin typeface="Arial Narrow" pitchFamily="-84" charset="0"/>
                  </a:rPr>
                  <a:t>X2</a:t>
                </a:r>
                <a:endParaRPr lang="ca-ES">
                  <a:latin typeface="Arial Narrow" pitchFamily="-84" charset="0"/>
                </a:endParaRPr>
              </a:p>
            </p:txBody>
          </p:sp>
        </p:grpSp>
        <p:grpSp>
          <p:nvGrpSpPr>
            <p:cNvPr id="9" name="Group 47"/>
            <p:cNvGrpSpPr>
              <a:grpSpLocks/>
            </p:cNvGrpSpPr>
            <p:nvPr/>
          </p:nvGrpSpPr>
          <p:grpSpPr bwMode="auto">
            <a:xfrm flipH="1">
              <a:off x="2352" y="2832"/>
              <a:ext cx="384" cy="864"/>
              <a:chOff x="2352" y="1104"/>
              <a:chExt cx="192" cy="864"/>
            </a:xfrm>
          </p:grpSpPr>
          <p:sp>
            <p:nvSpPr>
              <p:cNvPr id="122906" name="Line 48"/>
              <p:cNvSpPr>
                <a:spLocks noChangeShapeType="1"/>
              </p:cNvSpPr>
              <p:nvPr/>
            </p:nvSpPr>
            <p:spPr bwMode="blackWhite">
              <a:xfrm>
                <a:off x="2352" y="153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 type="triangle" w="med" len="med"/>
                <a:tailEnd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2907" name="Line 49"/>
              <p:cNvSpPr>
                <a:spLocks noChangeShapeType="1"/>
              </p:cNvSpPr>
              <p:nvPr/>
            </p:nvSpPr>
            <p:spPr bwMode="blackWhite">
              <a:xfrm flipV="1">
                <a:off x="2352" y="1104"/>
                <a:ext cx="192" cy="38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 type="triangle" w="med" len="med"/>
                <a:tailEnd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2908" name="Line 50"/>
              <p:cNvSpPr>
                <a:spLocks noChangeShapeType="1"/>
              </p:cNvSpPr>
              <p:nvPr/>
            </p:nvSpPr>
            <p:spPr bwMode="blackWhite">
              <a:xfrm>
                <a:off x="2352" y="1584"/>
                <a:ext cx="192" cy="38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 type="triangle" w="med" len="med"/>
                <a:tailEnd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122889" name="Text Box 51"/>
          <p:cNvSpPr txBox="1">
            <a:spLocks noChangeArrowheads="1"/>
          </p:cNvSpPr>
          <p:nvPr/>
        </p:nvSpPr>
        <p:spPr bwMode="blackWhite">
          <a:xfrm>
            <a:off x="628650" y="6324600"/>
            <a:ext cx="4400550" cy="30777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Supersegmentado, superescalar de grado = 2</a:t>
            </a:r>
            <a:endParaRPr lang="ca-ES" dirty="0">
              <a:solidFill>
                <a:schemeClr val="tx1"/>
              </a:solidFill>
              <a:latin typeface="Arial Narrow" pitchFamily="-84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ítulo 1"/>
          <p:cNvSpPr>
            <a:spLocks noGrp="1"/>
          </p:cNvSpPr>
          <p:nvPr>
            <p:ph type="title"/>
          </p:nvPr>
        </p:nvSpPr>
        <p:spPr>
          <a:xfrm>
            <a:off x="684213" y="0"/>
            <a:ext cx="8250237" cy="752475"/>
          </a:xfrm>
        </p:spPr>
        <p:txBody>
          <a:bodyPr/>
          <a:lstStyle/>
          <a:p>
            <a:r>
              <a:rPr lang="es-ES_tradnl" dirty="0"/>
              <a:t>RISC </a:t>
            </a:r>
            <a:r>
              <a:rPr lang="es-ES_tradnl" dirty="0" err="1"/>
              <a:t>vs</a:t>
            </a:r>
            <a:r>
              <a:rPr lang="es-ES_tradnl" dirty="0"/>
              <a:t> CISC: Dos Estrategias de Diseño</a:t>
            </a:r>
          </a:p>
        </p:txBody>
      </p:sp>
      <p:sp>
        <p:nvSpPr>
          <p:cNvPr id="125955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5107E54-21DA-194D-8D2E-820CABAF07E5}" type="slidenum">
              <a:rPr lang="en-US"/>
              <a:pPr/>
              <a:t>69</a:t>
            </a:fld>
            <a:endParaRPr lang="en-US"/>
          </a:p>
        </p:txBody>
      </p:sp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111004"/>
              </p:ext>
            </p:extLst>
          </p:nvPr>
        </p:nvGraphicFramePr>
        <p:xfrm>
          <a:off x="448735" y="786190"/>
          <a:ext cx="8610600" cy="565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3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70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_tradnl" sz="1600" noProof="0" dirty="0"/>
                        <a:t>CISC</a:t>
                      </a:r>
                      <a:r>
                        <a:rPr lang="es-ES_tradnl" sz="1600" baseline="0" noProof="0" dirty="0"/>
                        <a:t>:  </a:t>
                      </a:r>
                      <a:r>
                        <a:rPr lang="es-ES_tradnl" sz="1600" baseline="0" noProof="0" dirty="0" err="1"/>
                        <a:t>Complex</a:t>
                      </a:r>
                      <a:r>
                        <a:rPr lang="es-ES_tradnl" sz="1600" baseline="0" noProof="0" dirty="0"/>
                        <a:t> </a:t>
                      </a:r>
                      <a:r>
                        <a:rPr lang="es-ES_tradnl" sz="1600" baseline="0" noProof="0" dirty="0" err="1"/>
                        <a:t>Instruction</a:t>
                      </a:r>
                      <a:r>
                        <a:rPr lang="es-ES_tradnl" sz="1600" baseline="0" noProof="0" dirty="0"/>
                        <a:t> Set </a:t>
                      </a:r>
                      <a:r>
                        <a:rPr lang="es-ES_tradnl" sz="1600" baseline="0" noProof="0" dirty="0" err="1"/>
                        <a:t>Computer</a:t>
                      </a:r>
                      <a:endParaRPr lang="es-ES_tradnl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600" noProof="0" dirty="0"/>
                        <a:t>RISC</a:t>
                      </a:r>
                      <a:r>
                        <a:rPr lang="es-ES_tradnl" sz="1600" baseline="0" noProof="0" dirty="0"/>
                        <a:t>: </a:t>
                      </a:r>
                      <a:r>
                        <a:rPr lang="es-ES_tradnl" sz="1600" baseline="0" noProof="0" dirty="0" err="1"/>
                        <a:t>Reduced</a:t>
                      </a:r>
                      <a:r>
                        <a:rPr lang="es-ES_tradnl" sz="1600" baseline="0" noProof="0" dirty="0"/>
                        <a:t> </a:t>
                      </a:r>
                      <a:r>
                        <a:rPr lang="es-ES_tradnl" sz="1600" baseline="0" noProof="0" dirty="0" err="1"/>
                        <a:t>Instruction</a:t>
                      </a:r>
                      <a:r>
                        <a:rPr lang="es-ES_tradnl" sz="1600" baseline="0" noProof="0" dirty="0"/>
                        <a:t> Set </a:t>
                      </a:r>
                      <a:r>
                        <a:rPr lang="es-ES_tradnl" sz="1600" baseline="0" noProof="0" dirty="0" err="1"/>
                        <a:t>Computer</a:t>
                      </a:r>
                      <a:endParaRPr lang="es-ES_tradnl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600" noProof="0"/>
                        <a:t>Juego de instrucciones grande y complejo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600" noProof="0" dirty="0"/>
                        <a:t>Juego de instrucciones reducido y sencillo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600" noProof="0" dirty="0"/>
                        <a:t>Formato de instrucciones variable (heterogéneo) con diferentes longitudes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600" noProof="0"/>
                        <a:t>Formato de instrucciones fijo (homogéneo) con la misma</a:t>
                      </a:r>
                      <a:r>
                        <a:rPr lang="es-ES_tradnl" sz="1600" baseline="0" noProof="0"/>
                        <a:t> longitud</a:t>
                      </a:r>
                      <a:endParaRPr lang="es-ES_tradnl" sz="1600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600" noProof="0" dirty="0"/>
                        <a:t>Múltiples modos</a:t>
                      </a:r>
                      <a:r>
                        <a:rPr lang="es-ES_tradnl" sz="1600" baseline="0" noProof="0" dirty="0"/>
                        <a:t> de direccionamiento complejos </a:t>
                      </a:r>
                      <a:endParaRPr lang="es-ES_tradnl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600" noProof="0" dirty="0"/>
                        <a:t>Pocos modos de direccionamiento y sencillos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600" noProof="0" dirty="0"/>
                        <a:t>Número de registros reducido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600" noProof="0" dirty="0"/>
                        <a:t>Número de registros grande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600" noProof="0" dirty="0" err="1"/>
                        <a:t>Mútiples</a:t>
                      </a:r>
                      <a:r>
                        <a:rPr lang="es-ES_tradnl" sz="1600" noProof="0" dirty="0"/>
                        <a:t> instrucciones pueden acceder a memoria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noProof="0" dirty="0"/>
                        <a:t>Arquitectura de carga-almacenamiento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600" noProof="0" dirty="0"/>
                        <a:t>Unidad de control compleja (</a:t>
                      </a:r>
                      <a:r>
                        <a:rPr lang="es-ES_tradnl" sz="1600" noProof="0" dirty="0" err="1"/>
                        <a:t>microprogramada</a:t>
                      </a:r>
                      <a:r>
                        <a:rPr lang="es-ES_tradnl" sz="1600" noProof="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600" noProof="0" dirty="0"/>
                        <a:t>Unidad de control sencilla (cableada)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600" noProof="0" dirty="0"/>
                        <a:t>Objetivo</a:t>
                      </a:r>
                      <a:r>
                        <a:rPr lang="es-ES_tradnl" sz="1600" baseline="0" noProof="0" dirty="0"/>
                        <a:t>: instrucciones complejas</a:t>
                      </a:r>
                      <a:endParaRPr lang="es-ES_tradnl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600" noProof="0" dirty="0"/>
                        <a:t>Objetivo</a:t>
                      </a:r>
                      <a:r>
                        <a:rPr lang="es-ES_tradnl" sz="1600" baseline="0" noProof="0" dirty="0"/>
                        <a:t> ejecutar cada instrucción en un solo ciclo</a:t>
                      </a:r>
                      <a:endParaRPr lang="es-ES_tradnl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600" noProof="0" dirty="0"/>
                        <a:t>Menor complejidad en el compilador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600" noProof="0" dirty="0"/>
                        <a:t>Mayor</a:t>
                      </a:r>
                      <a:r>
                        <a:rPr lang="es-ES_tradnl" sz="1600" baseline="0" noProof="0" dirty="0"/>
                        <a:t> complejidad en el compilador</a:t>
                      </a:r>
                      <a:endParaRPr lang="es-ES_tradnl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600" noProof="0" dirty="0"/>
                        <a:t>Mayor dificultad para la segmentación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600" noProof="0" dirty="0"/>
                        <a:t>Mayor facilidad</a:t>
                      </a:r>
                      <a:r>
                        <a:rPr lang="es-ES_tradnl" sz="1600" baseline="0" noProof="0" dirty="0"/>
                        <a:t> en la segmentación</a:t>
                      </a:r>
                      <a:endParaRPr lang="es-ES_tradnl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noProof="0" dirty="0"/>
                        <a:t>Arquitectura típica de los años 70 y 80</a:t>
                      </a:r>
                    </a:p>
                    <a:p>
                      <a:endParaRPr lang="es-ES_tradnl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noProof="0" dirty="0"/>
                        <a:t>Arquitectura</a:t>
                      </a:r>
                      <a:r>
                        <a:rPr lang="es-ES_tradnl" sz="1600" baseline="0" noProof="0" dirty="0"/>
                        <a:t> popular en los años 90</a:t>
                      </a:r>
                      <a:endParaRPr lang="es-ES_tradnl" sz="1600" noProof="0" dirty="0"/>
                    </a:p>
                    <a:p>
                      <a:endParaRPr lang="es-ES_tradnl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noProof="0" dirty="0"/>
                        <a:t>Intel x86, </a:t>
                      </a:r>
                      <a:r>
                        <a:rPr lang="es-ES_tradnl" sz="1600" noProof="0" dirty="0" err="1"/>
                        <a:t>celeron</a:t>
                      </a:r>
                      <a:r>
                        <a:rPr lang="es-ES_tradnl" sz="1600" noProof="0" dirty="0"/>
                        <a:t>, Pentium, AMD (</a:t>
                      </a:r>
                      <a:r>
                        <a:rPr lang="es-ES_tradnl" sz="1600" noProof="0" dirty="0" err="1"/>
                        <a:t>Duron</a:t>
                      </a:r>
                      <a:r>
                        <a:rPr lang="es-ES_tradnl" sz="1600" noProof="0" dirty="0"/>
                        <a:t>, Athlon)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600" dirty="0" err="1"/>
                        <a:t>Power</a:t>
                      </a:r>
                      <a:r>
                        <a:rPr lang="es-ES_tradnl" sz="1600" dirty="0"/>
                        <a:t> PC, DEC </a:t>
                      </a:r>
                      <a:r>
                        <a:rPr lang="es-ES_tradnl" sz="1600" dirty="0" err="1"/>
                        <a:t>Alpha</a:t>
                      </a:r>
                      <a:r>
                        <a:rPr lang="es-ES_tradnl" sz="1600" dirty="0"/>
                        <a:t>, MIPS, ARM, SPARC , HP</a:t>
                      </a:r>
                      <a:endParaRPr lang="es-ES_tradnl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s-ES_tradnl" sz="1600" noProof="0" dirty="0"/>
                        <a:t>En la actualidad no hay una clara diferencia entre CISC-RISC. Los procesadores</a:t>
                      </a:r>
                      <a:r>
                        <a:rPr lang="es-ES_tradnl" sz="1600" baseline="0" noProof="0" dirty="0"/>
                        <a:t> no obedecen a una clasificación tan polarizadas. Los procesadores Intel se consideran CISC-in RISC-out</a:t>
                      </a:r>
                      <a:endParaRPr lang="es-ES_tradnl" sz="1600" noProof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1 Rectángulo"/>
          <p:cNvSpPr/>
          <p:nvPr/>
        </p:nvSpPr>
        <p:spPr>
          <a:xfrm>
            <a:off x="2286000" y="3075057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ES_tradnl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AutoShape 17"/>
          <p:cNvSpPr>
            <a:spLocks noChangeArrowheads="1"/>
          </p:cNvSpPr>
          <p:nvPr/>
        </p:nvSpPr>
        <p:spPr bwMode="auto">
          <a:xfrm>
            <a:off x="2286000" y="5791200"/>
            <a:ext cx="5105400" cy="990600"/>
          </a:xfrm>
          <a:prstGeom prst="roundRect">
            <a:avLst>
              <a:gd name="adj" fmla="val 16667"/>
            </a:avLst>
          </a:prstGeom>
          <a:noFill/>
          <a:ln w="57150" cmpd="thinThick">
            <a:solidFill>
              <a:srgbClr val="9966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s-ES_tradnl"/>
          </a:p>
        </p:txBody>
      </p:sp>
      <p:sp>
        <p:nvSpPr>
          <p:cNvPr id="13316" name="Título 1"/>
          <p:cNvSpPr>
            <a:spLocks noGrp="1"/>
          </p:cNvSpPr>
          <p:nvPr>
            <p:ph type="title"/>
          </p:nvPr>
        </p:nvSpPr>
        <p:spPr>
          <a:xfrm>
            <a:off x="609600" y="0"/>
            <a:ext cx="8250237" cy="865187"/>
          </a:xfrm>
        </p:spPr>
        <p:txBody>
          <a:bodyPr/>
          <a:lstStyle/>
          <a:p>
            <a:r>
              <a:rPr lang="es-ES_tradnl" dirty="0"/>
              <a:t>RISC </a:t>
            </a:r>
            <a:r>
              <a:rPr lang="es-ES_tradnl" dirty="0" err="1"/>
              <a:t>vs</a:t>
            </a:r>
            <a:r>
              <a:rPr lang="es-ES_tradnl" dirty="0"/>
              <a:t> CISC: Dos Estrategias de Diseño</a:t>
            </a:r>
          </a:p>
        </p:txBody>
      </p:sp>
      <p:sp>
        <p:nvSpPr>
          <p:cNvPr id="9" name="Marcador de contenido 8"/>
          <p:cNvSpPr>
            <a:spLocks noGrp="1"/>
          </p:cNvSpPr>
          <p:nvPr>
            <p:ph idx="1"/>
          </p:nvPr>
        </p:nvSpPr>
        <p:spPr>
          <a:xfrm>
            <a:off x="381000" y="762000"/>
            <a:ext cx="8686800" cy="5256212"/>
          </a:xfrm>
        </p:spPr>
        <p:txBody>
          <a:bodyPr/>
          <a:lstStyle/>
          <a:p>
            <a:r>
              <a:rPr lang="es-ES_tradnl" dirty="0"/>
              <a:t>Estudios llevados a cabo en los años 80 demostraron: </a:t>
            </a:r>
          </a:p>
          <a:p>
            <a:pPr lvl="1"/>
            <a:r>
              <a:rPr lang="es-ES_tradnl" dirty="0"/>
              <a:t>Los procesadores (CISC) dedicaban el 80% de su tiempo a ejecutar solo un 20% de las instrucciones disponibles en su juego de instrucciones </a:t>
            </a:r>
          </a:p>
          <a:p>
            <a:pPr lvl="1"/>
            <a:r>
              <a:rPr lang="es-ES_tradnl" dirty="0"/>
              <a:t>Algunas instrucciones no se utilizaban nunca y otras muy pocas veces</a:t>
            </a:r>
          </a:p>
          <a:p>
            <a:r>
              <a:rPr lang="es-ES_tradnl" dirty="0"/>
              <a:t>Al reducir el juego de instrucciones y homogeneizar el formato</a:t>
            </a:r>
          </a:p>
          <a:p>
            <a:pPr lvl="1"/>
            <a:r>
              <a:rPr lang="es-ES_tradnl" dirty="0"/>
              <a:t>Se ejecutan las instrucciones más rápidamente</a:t>
            </a:r>
          </a:p>
          <a:p>
            <a:pPr lvl="1"/>
            <a:r>
              <a:rPr lang="es-ES_tradnl" dirty="0"/>
              <a:t>Unidades de control más simples, rápidas, y ocupan menos espacio</a:t>
            </a:r>
          </a:p>
          <a:p>
            <a:pPr lvl="1"/>
            <a:r>
              <a:rPr lang="es-ES_tradnl" dirty="0"/>
              <a:t>Utilizar el espacio del chip para incluir más registros y memoria cache</a:t>
            </a:r>
          </a:p>
          <a:p>
            <a:pPr lvl="1"/>
            <a:r>
              <a:rPr lang="es-ES_tradnl" dirty="0"/>
              <a:t>Hacer la segmentación más eficiente</a:t>
            </a:r>
          </a:p>
          <a:p>
            <a:r>
              <a:rPr lang="es-ES_tradnl" dirty="0"/>
              <a:t>CISC reduce I a costa de incrementar el CPI</a:t>
            </a:r>
          </a:p>
          <a:p>
            <a:r>
              <a:rPr lang="es-ES_tradnl" dirty="0"/>
              <a:t>RISC reduce el CPI aumentando I</a:t>
            </a:r>
          </a:p>
          <a:p>
            <a:endParaRPr lang="en-US" dirty="0"/>
          </a:p>
        </p:txBody>
      </p:sp>
      <p:sp>
        <p:nvSpPr>
          <p:cNvPr id="1331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A535E-D92D-9049-8E03-0F1C6FE22F15}" type="slidenum">
              <a:rPr lang="es-ES_tradnl" smtClean="0"/>
              <a:pPr/>
              <a:t>70</a:t>
            </a:fld>
            <a:endParaRPr lang="es-ES_tradnl"/>
          </a:p>
        </p:txBody>
      </p:sp>
      <p:graphicFrame>
        <p:nvGraphicFramePr>
          <p:cNvPr id="13314" name="Object 2"/>
          <p:cNvGraphicFramePr>
            <a:graphicFrameLocks noChangeAspect="1"/>
          </p:cNvGraphicFramePr>
          <p:nvPr/>
        </p:nvGraphicFramePr>
        <p:xfrm>
          <a:off x="2495550" y="5938838"/>
          <a:ext cx="4743450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2882880" imgH="419040" progId="Equation.3">
                  <p:embed/>
                </p:oleObj>
              </mc:Choice>
              <mc:Fallback>
                <p:oleObj name="Ecuación" r:id="rId2" imgW="2882880" imgH="4190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5938838"/>
                        <a:ext cx="4743450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CISC </a:t>
            </a:r>
            <a:r>
              <a:rPr lang="es-ES_tradnl" dirty="0" err="1"/>
              <a:t>vs</a:t>
            </a:r>
            <a:r>
              <a:rPr lang="es-ES_tradnl" dirty="0"/>
              <a:t> RISC: Dos Estrategias de Diseño</a:t>
            </a:r>
          </a:p>
        </p:txBody>
      </p:sp>
      <p:sp>
        <p:nvSpPr>
          <p:cNvPr id="126979" name="Marcador de contenido 2"/>
          <p:cNvSpPr>
            <a:spLocks noGrp="1"/>
          </p:cNvSpPr>
          <p:nvPr>
            <p:ph idx="1"/>
          </p:nvPr>
        </p:nvSpPr>
        <p:spPr>
          <a:xfrm>
            <a:off x="457200" y="914400"/>
            <a:ext cx="8610599" cy="5256212"/>
          </a:xfrm>
        </p:spPr>
        <p:txBody>
          <a:bodyPr/>
          <a:lstStyle/>
          <a:p>
            <a:r>
              <a:rPr lang="es-ES_tradnl" dirty="0"/>
              <a:t>Multiplicación de dos números que se encuentran ubicados en memoria guardando el producto en la dirección del operando 1:</a:t>
            </a:r>
          </a:p>
          <a:p>
            <a:pPr lvl="1"/>
            <a:r>
              <a:rPr lang="es-ES_tradnl" dirty="0"/>
              <a:t>dir1: dirección de memoria del operando 1</a:t>
            </a:r>
          </a:p>
          <a:p>
            <a:pPr lvl="1"/>
            <a:r>
              <a:rPr lang="es-ES_tradnl" dirty="0"/>
              <a:t>dir2: dirección de memoria del operando 2</a:t>
            </a:r>
          </a:p>
          <a:p>
            <a:pPr lvl="1"/>
            <a:endParaRPr lang="es-ES_tradnl" dirty="0"/>
          </a:p>
        </p:txBody>
      </p:sp>
      <p:sp>
        <p:nvSpPr>
          <p:cNvPr id="126982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79D87-4790-134C-83F5-5D57DB97D188}" type="slidenum">
              <a:rPr lang="es-ES_tradnl" smtClean="0"/>
              <a:pPr/>
              <a:t>71</a:t>
            </a:fld>
            <a:endParaRPr lang="es-ES_tradnl"/>
          </a:p>
        </p:txBody>
      </p:sp>
      <p:grpSp>
        <p:nvGrpSpPr>
          <p:cNvPr id="12" name="Agrupar 11"/>
          <p:cNvGrpSpPr/>
          <p:nvPr/>
        </p:nvGrpSpPr>
        <p:grpSpPr>
          <a:xfrm>
            <a:off x="609600" y="3886200"/>
            <a:ext cx="3543345" cy="1981200"/>
            <a:chOff x="676253" y="3962400"/>
            <a:chExt cx="3543345" cy="1981200"/>
          </a:xfrm>
        </p:grpSpPr>
        <p:sp>
          <p:nvSpPr>
            <p:cNvPr id="126983" name="AutoShape 7"/>
            <p:cNvSpPr>
              <a:spLocks noChangeArrowheads="1"/>
            </p:cNvSpPr>
            <p:nvPr/>
          </p:nvSpPr>
          <p:spPr bwMode="auto">
            <a:xfrm>
              <a:off x="685800" y="3962400"/>
              <a:ext cx="3505200" cy="1981200"/>
            </a:xfrm>
            <a:prstGeom prst="upArrowCallout">
              <a:avLst>
                <a:gd name="adj1" fmla="val 44231"/>
                <a:gd name="adj2" fmla="val 44231"/>
                <a:gd name="adj3" fmla="val 16667"/>
                <a:gd name="adj4" fmla="val 66667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0" hangingPunct="0"/>
              <a:endParaRPr lang="es-ES_tradnl"/>
            </a:p>
          </p:txBody>
        </p:sp>
        <p:sp>
          <p:nvSpPr>
            <p:cNvPr id="126984" name="Text Box 10"/>
            <p:cNvSpPr txBox="1">
              <a:spLocks noChangeArrowheads="1"/>
            </p:cNvSpPr>
            <p:nvPr/>
          </p:nvSpPr>
          <p:spPr bwMode="auto">
            <a:xfrm>
              <a:off x="676253" y="4724400"/>
              <a:ext cx="3543345" cy="10833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sz="1400" dirty="0">
                  <a:latin typeface="Calibri" pitchFamily="-84" charset="0"/>
                </a:rPr>
                <a:t>Poco trabajo para el compilador</a:t>
              </a:r>
            </a:p>
            <a:p>
              <a:pPr algn="ctr" eaLnBrk="0" hangingPunct="0"/>
              <a:r>
                <a:rPr lang="es-ES_tradnl" sz="1400" dirty="0">
                  <a:latin typeface="Calibri" pitchFamily="-84" charset="0"/>
                </a:rPr>
                <a:t>Baja ocupación de la memoria</a:t>
              </a:r>
            </a:p>
            <a:p>
              <a:pPr algn="ctr" eaLnBrk="0" hangingPunct="0"/>
              <a:r>
                <a:rPr lang="es-ES_tradnl" sz="1400" dirty="0">
                  <a:latin typeface="Calibri" pitchFamily="-84" charset="0"/>
                </a:rPr>
                <a:t>Mucho trabajo ejecutado por cada instrucción</a:t>
              </a:r>
            </a:p>
            <a:p>
              <a:pPr algn="ctr" eaLnBrk="0" hangingPunct="0"/>
              <a:r>
                <a:rPr lang="es-ES_tradnl" sz="1400" dirty="0">
                  <a:latin typeface="Calibri" pitchFamily="-84" charset="0"/>
                </a:rPr>
                <a:t>Elevado tiempo de ejecución</a:t>
              </a:r>
            </a:p>
          </p:txBody>
        </p:sp>
      </p:grpSp>
      <p:sp>
        <p:nvSpPr>
          <p:cNvPr id="126985" name="AutoShape 11"/>
          <p:cNvSpPr>
            <a:spLocks noChangeArrowheads="1"/>
          </p:cNvSpPr>
          <p:nvPr/>
        </p:nvSpPr>
        <p:spPr bwMode="auto">
          <a:xfrm>
            <a:off x="4343400" y="5257800"/>
            <a:ext cx="3505200" cy="1447800"/>
          </a:xfrm>
          <a:prstGeom prst="upArrowCallout">
            <a:avLst>
              <a:gd name="adj1" fmla="val 44238"/>
              <a:gd name="adj2" fmla="val 44229"/>
              <a:gd name="adj3" fmla="val 16667"/>
              <a:gd name="adj4" fmla="val 66667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s-ES_tradnl"/>
          </a:p>
        </p:txBody>
      </p:sp>
      <p:sp>
        <p:nvSpPr>
          <p:cNvPr id="126986" name="Text Box 12"/>
          <p:cNvSpPr txBox="1">
            <a:spLocks noChangeArrowheads="1"/>
          </p:cNvSpPr>
          <p:nvPr/>
        </p:nvSpPr>
        <p:spPr bwMode="auto">
          <a:xfrm>
            <a:off x="4724400" y="5763804"/>
            <a:ext cx="2889132" cy="941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_tradnl" sz="1200" dirty="0">
                <a:latin typeface="Calibri" pitchFamily="-84" charset="0"/>
              </a:rPr>
              <a:t>Más trabajo para el compilador</a:t>
            </a:r>
          </a:p>
          <a:p>
            <a:pPr algn="ctr" eaLnBrk="0" hangingPunct="0"/>
            <a:r>
              <a:rPr lang="es-ES_tradnl" sz="1200" dirty="0">
                <a:latin typeface="Calibri" pitchFamily="-84" charset="0"/>
              </a:rPr>
              <a:t>Mayor utilización de la memoria</a:t>
            </a:r>
          </a:p>
          <a:p>
            <a:pPr algn="ctr" eaLnBrk="0" hangingPunct="0"/>
            <a:r>
              <a:rPr lang="es-ES_tradnl" sz="1200" dirty="0">
                <a:latin typeface="Calibri" pitchFamily="-84" charset="0"/>
              </a:rPr>
              <a:t>Más instrucciones pero más simples</a:t>
            </a:r>
          </a:p>
          <a:p>
            <a:pPr algn="ctr" eaLnBrk="0" hangingPunct="0"/>
            <a:r>
              <a:rPr lang="es-ES_tradnl" sz="1200" dirty="0">
                <a:latin typeface="Calibri" pitchFamily="-84" charset="0"/>
              </a:rPr>
              <a:t>Menor tiempo de ejecución por instrucción</a:t>
            </a:r>
          </a:p>
        </p:txBody>
      </p:sp>
      <p:sp>
        <p:nvSpPr>
          <p:cNvPr id="126987" name="CuadroTexto 10"/>
          <p:cNvSpPr txBox="1">
            <a:spLocks noChangeArrowheads="1"/>
          </p:cNvSpPr>
          <p:nvPr/>
        </p:nvSpPr>
        <p:spPr bwMode="auto">
          <a:xfrm>
            <a:off x="1295400" y="2850988"/>
            <a:ext cx="7248525" cy="2111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just" eaLnBrk="0" hangingPunct="0"/>
            <a:r>
              <a:rPr lang="es-ES_tradnl" sz="1600" dirty="0"/>
              <a:t>CISC				     RISC</a:t>
            </a:r>
          </a:p>
          <a:p>
            <a:pPr algn="just" eaLnBrk="0" hangingPunct="0"/>
            <a:r>
              <a:rPr lang="es-ES_tradnl" sz="1600" dirty="0">
                <a:latin typeface="Courier New"/>
                <a:cs typeface="Courier New"/>
              </a:rPr>
              <a:t>MULT dir1, dir2		   </a:t>
            </a:r>
            <a:r>
              <a:rPr lang="es-ES_tradnl" sz="1600" dirty="0" err="1">
                <a:latin typeface="Courier New"/>
                <a:cs typeface="Courier New"/>
              </a:rPr>
              <a:t>li</a:t>
            </a:r>
            <a:r>
              <a:rPr lang="es-ES_tradnl" sz="1600" dirty="0">
                <a:latin typeface="Courier New"/>
                <a:cs typeface="Courier New"/>
              </a:rPr>
              <a:t> t0, dir1</a:t>
            </a:r>
          </a:p>
          <a:p>
            <a:pPr algn="just" eaLnBrk="0" hangingPunct="0"/>
            <a:r>
              <a:rPr lang="es-ES_tradnl" sz="1600" dirty="0">
                <a:latin typeface="Courier New"/>
                <a:cs typeface="Courier New"/>
              </a:rPr>
              <a:t>					</a:t>
            </a:r>
            <a:r>
              <a:rPr lang="es-ES_tradnl" sz="1600" dirty="0" err="1">
                <a:latin typeface="Courier New"/>
                <a:cs typeface="Courier New"/>
              </a:rPr>
              <a:t>li</a:t>
            </a:r>
            <a:r>
              <a:rPr lang="es-ES_tradnl" sz="1600" dirty="0">
                <a:latin typeface="Courier New"/>
                <a:cs typeface="Courier New"/>
              </a:rPr>
              <a:t> t1, dir2</a:t>
            </a:r>
          </a:p>
          <a:p>
            <a:pPr algn="just" eaLnBrk="0" hangingPunct="0"/>
            <a:r>
              <a:rPr lang="es-ES_tradnl" sz="1600" dirty="0">
                <a:latin typeface="Courier New"/>
                <a:cs typeface="Courier New"/>
              </a:rPr>
              <a:t>					</a:t>
            </a:r>
            <a:r>
              <a:rPr lang="es-ES_tradnl" sz="1600" dirty="0" err="1">
                <a:latin typeface="Courier New"/>
                <a:cs typeface="Courier New"/>
              </a:rPr>
              <a:t>lw</a:t>
            </a:r>
            <a:r>
              <a:rPr lang="es-ES_tradnl" sz="1600" dirty="0">
                <a:latin typeface="Courier New"/>
                <a:cs typeface="Courier New"/>
              </a:rPr>
              <a:t> t3, 0(t0)</a:t>
            </a:r>
          </a:p>
          <a:p>
            <a:pPr algn="just" eaLnBrk="0" hangingPunct="0"/>
            <a:r>
              <a:rPr lang="es-ES_tradnl" sz="1600" dirty="0">
                <a:latin typeface="Courier New"/>
                <a:cs typeface="Courier New"/>
              </a:rPr>
              <a:t>					</a:t>
            </a:r>
            <a:r>
              <a:rPr lang="es-ES_tradnl" sz="1600" dirty="0" err="1">
                <a:latin typeface="Courier New"/>
                <a:cs typeface="Courier New"/>
              </a:rPr>
              <a:t>lw</a:t>
            </a:r>
            <a:r>
              <a:rPr lang="es-ES_tradnl" sz="1600" dirty="0">
                <a:latin typeface="Courier New"/>
                <a:cs typeface="Courier New"/>
              </a:rPr>
              <a:t> t4, 0(t1)</a:t>
            </a:r>
          </a:p>
          <a:p>
            <a:pPr algn="just" eaLnBrk="0" hangingPunct="0"/>
            <a:r>
              <a:rPr lang="es-ES_tradnl" sz="1600" dirty="0">
                <a:latin typeface="Courier New"/>
                <a:cs typeface="Courier New"/>
              </a:rPr>
              <a:t>					</a:t>
            </a:r>
            <a:r>
              <a:rPr lang="es-ES_tradnl" sz="1600" dirty="0" err="1">
                <a:latin typeface="Courier New"/>
                <a:cs typeface="Courier New"/>
              </a:rPr>
              <a:t>mul</a:t>
            </a:r>
            <a:r>
              <a:rPr lang="es-ES_tradnl" sz="1600" dirty="0">
                <a:latin typeface="Courier New"/>
                <a:cs typeface="Courier New"/>
              </a:rPr>
              <a:t> t5, t3, t4</a:t>
            </a:r>
          </a:p>
          <a:p>
            <a:pPr algn="just" eaLnBrk="0" hangingPunct="0"/>
            <a:r>
              <a:rPr lang="es-ES_tradnl" sz="1600" dirty="0">
                <a:latin typeface="Courier New"/>
                <a:cs typeface="Courier New"/>
              </a:rPr>
              <a:t>					</a:t>
            </a:r>
            <a:r>
              <a:rPr lang="es-ES_tradnl" sz="1600" dirty="0" err="1">
                <a:latin typeface="Courier New"/>
                <a:cs typeface="Courier New"/>
              </a:rPr>
              <a:t>sw</a:t>
            </a:r>
            <a:r>
              <a:rPr lang="es-ES_tradnl" sz="1600" dirty="0">
                <a:latin typeface="Courier New"/>
                <a:cs typeface="Courier New"/>
              </a:rPr>
              <a:t> t5, 0(t0)    </a:t>
            </a:r>
            <a:r>
              <a:rPr lang="es-ES_tradnl" sz="1600" dirty="0"/>
              <a:t>   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1" name="Conector recto 430"/>
          <p:cNvCxnSpPr/>
          <p:nvPr/>
        </p:nvCxnSpPr>
        <p:spPr bwMode="auto">
          <a:xfrm rot="5400000" flipH="1" flipV="1">
            <a:off x="928511" y="4976518"/>
            <a:ext cx="3581401" cy="29167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Rectángulo 5"/>
          <p:cNvSpPr/>
          <p:nvPr/>
        </p:nvSpPr>
        <p:spPr bwMode="auto">
          <a:xfrm>
            <a:off x="965203" y="4460347"/>
            <a:ext cx="838200" cy="3048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7" name="Rectángulo 6"/>
          <p:cNvSpPr/>
          <p:nvPr/>
        </p:nvSpPr>
        <p:spPr bwMode="auto">
          <a:xfrm>
            <a:off x="965203" y="5146147"/>
            <a:ext cx="838200" cy="990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rgbClr val="000000"/>
                </a:solidFill>
              </a:rPr>
              <a:t>Memoria de</a:t>
            </a:r>
          </a:p>
          <a:p>
            <a:pPr algn="l"/>
            <a:r>
              <a:rPr lang="en-US" sz="1400" dirty="0" err="1">
                <a:solidFill>
                  <a:srgbClr val="000000"/>
                </a:solidFill>
              </a:rPr>
              <a:t>Instruc-ciones</a:t>
            </a:r>
            <a:endParaRPr lang="en-US" sz="1400" dirty="0">
              <a:solidFill>
                <a:srgbClr val="000000"/>
              </a:solidFill>
            </a:endParaRPr>
          </a:p>
        </p:txBody>
      </p:sp>
      <p:cxnSp>
        <p:nvCxnSpPr>
          <p:cNvPr id="8" name="Conector recto de flecha 7"/>
          <p:cNvCxnSpPr>
            <a:stCxn id="6" idx="2"/>
            <a:endCxn id="7" idx="0"/>
          </p:cNvCxnSpPr>
          <p:nvPr/>
        </p:nvCxnSpPr>
        <p:spPr bwMode="auto">
          <a:xfrm rot="5400000">
            <a:off x="1193803" y="4955647"/>
            <a:ext cx="381000" cy="1588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Freeform 42"/>
          <p:cNvSpPr>
            <a:spLocks/>
          </p:cNvSpPr>
          <p:nvPr/>
        </p:nvSpPr>
        <p:spPr bwMode="blackWhite">
          <a:xfrm rot="5400000">
            <a:off x="1054096" y="2974448"/>
            <a:ext cx="381000" cy="762000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t" anchorCtr="0">
            <a:prstTxWarp prst="textNoShape">
              <a:avLst/>
            </a:prstTxWarp>
            <a:flatTx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11" name="Conector angular 10"/>
          <p:cNvCxnSpPr/>
          <p:nvPr/>
        </p:nvCxnSpPr>
        <p:spPr bwMode="auto">
          <a:xfrm rot="16200000" flipH="1">
            <a:off x="740833" y="2838978"/>
            <a:ext cx="347134" cy="304801"/>
          </a:xfrm>
          <a:prstGeom prst="bentConnector3">
            <a:avLst>
              <a:gd name="adj1" fmla="val -1490"/>
            </a:avLst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Conector recto de flecha 11"/>
          <p:cNvCxnSpPr/>
          <p:nvPr/>
        </p:nvCxnSpPr>
        <p:spPr bwMode="auto">
          <a:xfrm rot="16200000" flipH="1">
            <a:off x="1286930" y="2970214"/>
            <a:ext cx="381000" cy="8467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CuadroTexto 12"/>
          <p:cNvSpPr txBox="1"/>
          <p:nvPr/>
        </p:nvSpPr>
        <p:spPr>
          <a:xfrm>
            <a:off x="1417281" y="2479147"/>
            <a:ext cx="284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16" name="Rectángulo 15"/>
          <p:cNvSpPr/>
          <p:nvPr/>
        </p:nvSpPr>
        <p:spPr bwMode="auto">
          <a:xfrm>
            <a:off x="2932907" y="608012"/>
            <a:ext cx="1029493" cy="1371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rgbClr val="000000"/>
                </a:solidFill>
              </a:rPr>
              <a:t>Descodificador</a:t>
            </a:r>
            <a:r>
              <a:rPr lang="en-US" sz="1050" dirty="0">
                <a:solidFill>
                  <a:srgbClr val="000000"/>
                </a:solidFill>
              </a:rPr>
              <a:t> </a:t>
            </a:r>
            <a:r>
              <a:rPr lang="en-US" sz="1050" dirty="0" err="1">
                <a:solidFill>
                  <a:srgbClr val="000000"/>
                </a:solidFill>
              </a:rPr>
              <a:t>y</a:t>
            </a:r>
            <a:r>
              <a:rPr lang="en-US" sz="1050" dirty="0">
                <a:solidFill>
                  <a:srgbClr val="000000"/>
                </a:solidFill>
              </a:rPr>
              <a:t> </a:t>
            </a:r>
            <a:r>
              <a:rPr lang="en-US" sz="1050" dirty="0" err="1">
                <a:solidFill>
                  <a:srgbClr val="000000"/>
                </a:solidFill>
              </a:rPr>
              <a:t>Unidad</a:t>
            </a:r>
            <a:r>
              <a:rPr lang="en-US" sz="1050" dirty="0">
                <a:solidFill>
                  <a:srgbClr val="000000"/>
                </a:solidFill>
              </a:rPr>
              <a:t> de Control</a:t>
            </a:r>
          </a:p>
        </p:txBody>
      </p:sp>
      <p:cxnSp>
        <p:nvCxnSpPr>
          <p:cNvPr id="17" name="Conector recto 16"/>
          <p:cNvCxnSpPr/>
          <p:nvPr/>
        </p:nvCxnSpPr>
        <p:spPr bwMode="auto">
          <a:xfrm flipV="1">
            <a:off x="2438401" y="5637212"/>
            <a:ext cx="190500" cy="4235"/>
          </a:xfrm>
          <a:prstGeom prst="line">
            <a:avLst/>
          </a:prstGeom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" name="Conector recto 18"/>
          <p:cNvCxnSpPr/>
          <p:nvPr/>
        </p:nvCxnSpPr>
        <p:spPr bwMode="auto">
          <a:xfrm>
            <a:off x="2599886" y="855426"/>
            <a:ext cx="3810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Conector recto 19"/>
          <p:cNvCxnSpPr/>
          <p:nvPr/>
        </p:nvCxnSpPr>
        <p:spPr bwMode="auto">
          <a:xfrm>
            <a:off x="4800600" y="1800999"/>
            <a:ext cx="381000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Conector recto 20"/>
          <p:cNvCxnSpPr/>
          <p:nvPr/>
        </p:nvCxnSpPr>
        <p:spPr bwMode="auto">
          <a:xfrm>
            <a:off x="4800600" y="1648599"/>
            <a:ext cx="381000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" name="Conector recto 21"/>
          <p:cNvCxnSpPr/>
          <p:nvPr/>
        </p:nvCxnSpPr>
        <p:spPr bwMode="auto">
          <a:xfrm>
            <a:off x="3962400" y="1751012"/>
            <a:ext cx="533400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Conector recto 25"/>
          <p:cNvCxnSpPr/>
          <p:nvPr/>
        </p:nvCxnSpPr>
        <p:spPr bwMode="auto">
          <a:xfrm rot="5400000" flipH="1" flipV="1">
            <a:off x="1258889" y="6285706"/>
            <a:ext cx="227012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" name="CuadroTexto 27"/>
          <p:cNvSpPr txBox="1"/>
          <p:nvPr/>
        </p:nvSpPr>
        <p:spPr>
          <a:xfrm>
            <a:off x="1113326" y="6323012"/>
            <a:ext cx="5522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rgbClr val="FF6600"/>
                </a:solidFill>
              </a:rPr>
              <a:t>LInst</a:t>
            </a:r>
            <a:endParaRPr lang="en-US" sz="1200" b="1" dirty="0">
              <a:solidFill>
                <a:srgbClr val="FF6600"/>
              </a:solidFill>
            </a:endParaRPr>
          </a:p>
        </p:txBody>
      </p:sp>
      <p:sp>
        <p:nvSpPr>
          <p:cNvPr id="29" name="CuadroTexto 28"/>
          <p:cNvSpPr txBox="1"/>
          <p:nvPr/>
        </p:nvSpPr>
        <p:spPr>
          <a:xfrm rot="16200000">
            <a:off x="1623501" y="1805500"/>
            <a:ext cx="53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rgbClr val="FF6600"/>
                </a:solidFill>
              </a:rPr>
              <a:t>PCin</a:t>
            </a:r>
            <a:endParaRPr lang="en-US" sz="1200" b="1" dirty="0">
              <a:solidFill>
                <a:srgbClr val="FF6600"/>
              </a:solidFill>
            </a:endParaRPr>
          </a:p>
        </p:txBody>
      </p:sp>
      <p:sp>
        <p:nvSpPr>
          <p:cNvPr id="30" name="Rectángulo 29"/>
          <p:cNvSpPr/>
          <p:nvPr/>
        </p:nvSpPr>
        <p:spPr bwMode="auto">
          <a:xfrm>
            <a:off x="3237707" y="3469747"/>
            <a:ext cx="877094" cy="1371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Banco de </a:t>
            </a:r>
            <a:r>
              <a:rPr lang="en-US" sz="1400" dirty="0" err="1">
                <a:solidFill>
                  <a:srgbClr val="000000"/>
                </a:solidFill>
              </a:rPr>
              <a:t>registros</a:t>
            </a:r>
            <a:endParaRPr lang="en-US" sz="1400" dirty="0">
              <a:solidFill>
                <a:srgbClr val="000000"/>
              </a:solidFill>
            </a:endParaRPr>
          </a:p>
        </p:txBody>
      </p:sp>
      <p:cxnSp>
        <p:nvCxnSpPr>
          <p:cNvPr id="31" name="Conector recto 30"/>
          <p:cNvCxnSpPr/>
          <p:nvPr/>
        </p:nvCxnSpPr>
        <p:spPr bwMode="auto">
          <a:xfrm>
            <a:off x="2628107" y="3656012"/>
            <a:ext cx="6096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" name="CuadroTexto 31"/>
          <p:cNvSpPr txBox="1"/>
          <p:nvPr/>
        </p:nvSpPr>
        <p:spPr>
          <a:xfrm>
            <a:off x="2551907" y="3351212"/>
            <a:ext cx="7633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>
                <a:solidFill>
                  <a:schemeClr val="accent1">
                    <a:lumMod val="75000"/>
                  </a:schemeClr>
                </a:solidFill>
              </a:rPr>
              <a:t>25..21(rs)</a:t>
            </a:r>
          </a:p>
        </p:txBody>
      </p:sp>
      <p:sp>
        <p:nvSpPr>
          <p:cNvPr id="33" name="CuadroTexto 32"/>
          <p:cNvSpPr txBox="1"/>
          <p:nvPr/>
        </p:nvSpPr>
        <p:spPr>
          <a:xfrm>
            <a:off x="2551907" y="3732212"/>
            <a:ext cx="7348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>
                <a:solidFill>
                  <a:schemeClr val="accent1">
                    <a:lumMod val="75000"/>
                  </a:schemeClr>
                </a:solidFill>
              </a:rPr>
              <a:t>20..16(rt)</a:t>
            </a:r>
          </a:p>
        </p:txBody>
      </p:sp>
      <p:sp>
        <p:nvSpPr>
          <p:cNvPr id="34" name="Rectángulo 33"/>
          <p:cNvSpPr/>
          <p:nvPr/>
        </p:nvSpPr>
        <p:spPr bwMode="auto">
          <a:xfrm>
            <a:off x="2566093" y="3614372"/>
            <a:ext cx="76200" cy="76200"/>
          </a:xfrm>
          <a:prstGeom prst="rect">
            <a:avLst/>
          </a:prstGeom>
          <a:solidFill>
            <a:schemeClr val="accent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Conector recto 35"/>
          <p:cNvCxnSpPr/>
          <p:nvPr/>
        </p:nvCxnSpPr>
        <p:spPr bwMode="auto">
          <a:xfrm>
            <a:off x="2628107" y="4035424"/>
            <a:ext cx="6096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7" name="Rectángulo 36"/>
          <p:cNvSpPr/>
          <p:nvPr/>
        </p:nvSpPr>
        <p:spPr bwMode="auto">
          <a:xfrm>
            <a:off x="2574733" y="3995372"/>
            <a:ext cx="76200" cy="76200"/>
          </a:xfrm>
          <a:prstGeom prst="rect">
            <a:avLst/>
          </a:prstGeom>
          <a:solidFill>
            <a:schemeClr val="accent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Conector recto 37"/>
          <p:cNvCxnSpPr/>
          <p:nvPr/>
        </p:nvCxnSpPr>
        <p:spPr bwMode="auto">
          <a:xfrm>
            <a:off x="4114801" y="3656012"/>
            <a:ext cx="3810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" name="Conector recto 38"/>
          <p:cNvCxnSpPr/>
          <p:nvPr/>
        </p:nvCxnSpPr>
        <p:spPr bwMode="auto">
          <a:xfrm>
            <a:off x="4114801" y="4187824"/>
            <a:ext cx="3810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0" name="Rectángulo 39"/>
          <p:cNvSpPr/>
          <p:nvPr/>
        </p:nvSpPr>
        <p:spPr bwMode="auto">
          <a:xfrm>
            <a:off x="3237707" y="4993747"/>
            <a:ext cx="990600" cy="4572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rgbClr val="000000"/>
                </a:solidFill>
              </a:rPr>
              <a:t>Extensión</a:t>
            </a:r>
            <a:r>
              <a:rPr lang="en-US" sz="1400" dirty="0">
                <a:solidFill>
                  <a:srgbClr val="000000"/>
                </a:solidFill>
              </a:rPr>
              <a:t> de </a:t>
            </a:r>
            <a:r>
              <a:rPr lang="en-US" sz="1400" dirty="0" err="1">
                <a:solidFill>
                  <a:srgbClr val="000000"/>
                </a:solidFill>
              </a:rPr>
              <a:t>signo</a:t>
            </a:r>
            <a:endParaRPr lang="en-US" sz="1400" dirty="0">
              <a:solidFill>
                <a:srgbClr val="000000"/>
              </a:solidFill>
            </a:endParaRPr>
          </a:p>
        </p:txBody>
      </p:sp>
      <p:cxnSp>
        <p:nvCxnSpPr>
          <p:cNvPr id="41" name="Conector recto 40"/>
          <p:cNvCxnSpPr>
            <a:stCxn id="44" idx="3"/>
          </p:cNvCxnSpPr>
          <p:nvPr/>
        </p:nvCxnSpPr>
        <p:spPr bwMode="auto">
          <a:xfrm>
            <a:off x="2650933" y="5252672"/>
            <a:ext cx="567960" cy="512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2" name="CuadroTexto 41"/>
          <p:cNvSpPr txBox="1"/>
          <p:nvPr/>
        </p:nvSpPr>
        <p:spPr>
          <a:xfrm>
            <a:off x="2780134" y="4951412"/>
            <a:ext cx="5337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>
                <a:solidFill>
                  <a:schemeClr val="accent1">
                    <a:lumMod val="75000"/>
                  </a:schemeClr>
                </a:solidFill>
              </a:rPr>
              <a:t>15..0</a:t>
            </a:r>
          </a:p>
        </p:txBody>
      </p:sp>
      <p:sp>
        <p:nvSpPr>
          <p:cNvPr id="44" name="Rectángulo 43"/>
          <p:cNvSpPr/>
          <p:nvPr/>
        </p:nvSpPr>
        <p:spPr bwMode="auto">
          <a:xfrm>
            <a:off x="2574733" y="5214572"/>
            <a:ext cx="76200" cy="76200"/>
          </a:xfrm>
          <a:prstGeom prst="rect">
            <a:avLst/>
          </a:prstGeom>
          <a:solidFill>
            <a:schemeClr val="accent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ángulo 45"/>
          <p:cNvSpPr/>
          <p:nvPr/>
        </p:nvSpPr>
        <p:spPr bwMode="auto">
          <a:xfrm rot="16200000">
            <a:off x="5050367" y="4134379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MUX</a:t>
            </a:r>
          </a:p>
        </p:txBody>
      </p:sp>
      <p:sp>
        <p:nvSpPr>
          <p:cNvPr id="47" name="Freeform 42"/>
          <p:cNvSpPr>
            <a:spLocks/>
          </p:cNvSpPr>
          <p:nvPr/>
        </p:nvSpPr>
        <p:spPr bwMode="blackWhite">
          <a:xfrm>
            <a:off x="5790407" y="3427412"/>
            <a:ext cx="495300" cy="1028700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r>
              <a:rPr lang="en-US" sz="1400" dirty="0"/>
              <a:t>ALU</a:t>
            </a:r>
            <a:endParaRPr lang="en-US" dirty="0"/>
          </a:p>
        </p:txBody>
      </p:sp>
      <p:cxnSp>
        <p:nvCxnSpPr>
          <p:cNvPr id="50" name="Conector recto 49"/>
          <p:cNvCxnSpPr/>
          <p:nvPr/>
        </p:nvCxnSpPr>
        <p:spPr bwMode="auto">
          <a:xfrm>
            <a:off x="5486400" y="4265612"/>
            <a:ext cx="3048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2" name="Conector recto 51"/>
          <p:cNvCxnSpPr/>
          <p:nvPr/>
        </p:nvCxnSpPr>
        <p:spPr bwMode="auto">
          <a:xfrm rot="5400000" flipH="1" flipV="1">
            <a:off x="5267679" y="4683124"/>
            <a:ext cx="227012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3" name="Conector recto 52"/>
          <p:cNvCxnSpPr/>
          <p:nvPr/>
        </p:nvCxnSpPr>
        <p:spPr bwMode="auto">
          <a:xfrm rot="5400000" flipH="1" flipV="1">
            <a:off x="5980907" y="4379912"/>
            <a:ext cx="227012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5" name="CuadroTexto 54"/>
          <p:cNvSpPr txBox="1"/>
          <p:nvPr/>
        </p:nvSpPr>
        <p:spPr>
          <a:xfrm>
            <a:off x="5484217" y="4418012"/>
            <a:ext cx="714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rgbClr val="FF6600"/>
                </a:solidFill>
              </a:rPr>
              <a:t>OpALU</a:t>
            </a:r>
            <a:endParaRPr lang="en-US" sz="1200" b="1" dirty="0">
              <a:solidFill>
                <a:srgbClr val="FF6600"/>
              </a:solidFill>
            </a:endParaRPr>
          </a:p>
        </p:txBody>
      </p:sp>
      <p:sp>
        <p:nvSpPr>
          <p:cNvPr id="56" name="CuadroTexto 55"/>
          <p:cNvSpPr txBox="1"/>
          <p:nvPr/>
        </p:nvSpPr>
        <p:spPr>
          <a:xfrm>
            <a:off x="5029201" y="4722812"/>
            <a:ext cx="7147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rgbClr val="FF6600"/>
                </a:solidFill>
              </a:rPr>
              <a:t>MxALU</a:t>
            </a:r>
            <a:endParaRPr lang="en-US" sz="1200" b="1" dirty="0">
              <a:solidFill>
                <a:srgbClr val="FF6600"/>
              </a:solidFill>
            </a:endParaRPr>
          </a:p>
        </p:txBody>
      </p:sp>
      <p:sp>
        <p:nvSpPr>
          <p:cNvPr id="57" name="Rectángulo 56"/>
          <p:cNvSpPr/>
          <p:nvPr/>
        </p:nvSpPr>
        <p:spPr bwMode="auto">
          <a:xfrm>
            <a:off x="7010400" y="4418012"/>
            <a:ext cx="782039" cy="990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Memoria de </a:t>
            </a:r>
            <a:r>
              <a:rPr lang="en-US" sz="1400" dirty="0" err="1">
                <a:solidFill>
                  <a:srgbClr val="000000"/>
                </a:solidFill>
              </a:rPr>
              <a:t>datos</a:t>
            </a:r>
            <a:endParaRPr lang="en-US" sz="1400" dirty="0">
              <a:solidFill>
                <a:srgbClr val="000000"/>
              </a:solidFill>
            </a:endParaRPr>
          </a:p>
        </p:txBody>
      </p:sp>
      <p:cxnSp>
        <p:nvCxnSpPr>
          <p:cNvPr id="59" name="Conector recto 58"/>
          <p:cNvCxnSpPr/>
          <p:nvPr/>
        </p:nvCxnSpPr>
        <p:spPr bwMode="auto">
          <a:xfrm>
            <a:off x="7353772" y="3889712"/>
            <a:ext cx="1588" cy="52830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ector recto 66"/>
          <p:cNvCxnSpPr/>
          <p:nvPr/>
        </p:nvCxnSpPr>
        <p:spPr bwMode="auto">
          <a:xfrm rot="5400000">
            <a:off x="3696174" y="3352802"/>
            <a:ext cx="304800" cy="1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8" name="CuadroTexto 67"/>
          <p:cNvSpPr txBox="1"/>
          <p:nvPr/>
        </p:nvSpPr>
        <p:spPr>
          <a:xfrm>
            <a:off x="3429000" y="2923401"/>
            <a:ext cx="5780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rgbClr val="FF6600"/>
                </a:solidFill>
              </a:rPr>
              <a:t>EReg</a:t>
            </a:r>
            <a:endParaRPr lang="en-US" sz="1200" b="1" dirty="0">
              <a:solidFill>
                <a:srgbClr val="FF6600"/>
              </a:solidFill>
            </a:endParaRPr>
          </a:p>
        </p:txBody>
      </p:sp>
      <p:sp>
        <p:nvSpPr>
          <p:cNvPr id="69" name="Rectángulo 68"/>
          <p:cNvSpPr/>
          <p:nvPr/>
        </p:nvSpPr>
        <p:spPr bwMode="auto">
          <a:xfrm rot="16200000">
            <a:off x="4897968" y="5886979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MUX</a:t>
            </a:r>
          </a:p>
        </p:txBody>
      </p:sp>
      <p:sp>
        <p:nvSpPr>
          <p:cNvPr id="70" name="Rectángulo 69"/>
          <p:cNvSpPr/>
          <p:nvPr/>
        </p:nvSpPr>
        <p:spPr bwMode="auto">
          <a:xfrm rot="16200000">
            <a:off x="8403167" y="4286779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71" name="Conector recto 70"/>
          <p:cNvCxnSpPr/>
          <p:nvPr/>
        </p:nvCxnSpPr>
        <p:spPr bwMode="auto">
          <a:xfrm>
            <a:off x="2628107" y="5848881"/>
            <a:ext cx="1867694" cy="16931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2" name="CuadroTexto 71"/>
          <p:cNvSpPr txBox="1"/>
          <p:nvPr/>
        </p:nvSpPr>
        <p:spPr>
          <a:xfrm>
            <a:off x="2993237" y="5604202"/>
            <a:ext cx="11765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>
                <a:solidFill>
                  <a:schemeClr val="accent1">
                    <a:lumMod val="75000"/>
                  </a:schemeClr>
                </a:solidFill>
              </a:rPr>
              <a:t>20..16 (</a:t>
            </a:r>
            <a:r>
              <a:rPr lang="en-US" sz="1100" i="1" dirty="0" err="1">
                <a:solidFill>
                  <a:schemeClr val="accent1">
                    <a:lumMod val="75000"/>
                  </a:schemeClr>
                </a:solidFill>
              </a:rPr>
              <a:t>rt</a:t>
            </a:r>
            <a:r>
              <a:rPr lang="en-US" sz="1100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100" i="1" dirty="0" err="1">
                <a:solidFill>
                  <a:schemeClr val="accent1">
                    <a:lumMod val="75000"/>
                  </a:schemeClr>
                </a:solidFill>
              </a:rPr>
              <a:t>tipo</a:t>
            </a:r>
            <a:r>
              <a:rPr lang="en-US" sz="1100" i="1" dirty="0">
                <a:solidFill>
                  <a:schemeClr val="accent1">
                    <a:lumMod val="75000"/>
                  </a:schemeClr>
                </a:solidFill>
              </a:rPr>
              <a:t> I)</a:t>
            </a:r>
          </a:p>
        </p:txBody>
      </p:sp>
      <p:sp>
        <p:nvSpPr>
          <p:cNvPr id="73" name="CuadroTexto 72"/>
          <p:cNvSpPr txBox="1"/>
          <p:nvPr/>
        </p:nvSpPr>
        <p:spPr>
          <a:xfrm>
            <a:off x="2977966" y="5909002"/>
            <a:ext cx="12680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>
                <a:solidFill>
                  <a:schemeClr val="accent1">
                    <a:lumMod val="75000"/>
                  </a:schemeClr>
                </a:solidFill>
              </a:rPr>
              <a:t>15..11 (rd </a:t>
            </a:r>
            <a:r>
              <a:rPr lang="en-US" sz="1100" i="1" dirty="0" err="1">
                <a:solidFill>
                  <a:schemeClr val="accent1">
                    <a:lumMod val="75000"/>
                  </a:schemeClr>
                </a:solidFill>
              </a:rPr>
              <a:t>tipo</a:t>
            </a:r>
            <a:r>
              <a:rPr lang="en-US" sz="1100" i="1" dirty="0">
                <a:solidFill>
                  <a:schemeClr val="accent1">
                    <a:lumMod val="75000"/>
                  </a:schemeClr>
                </a:solidFill>
              </a:rPr>
              <a:t> R)</a:t>
            </a:r>
          </a:p>
        </p:txBody>
      </p:sp>
      <p:cxnSp>
        <p:nvCxnSpPr>
          <p:cNvPr id="74" name="Conector recto 73"/>
          <p:cNvCxnSpPr/>
          <p:nvPr/>
        </p:nvCxnSpPr>
        <p:spPr bwMode="auto">
          <a:xfrm>
            <a:off x="7772400" y="5102224"/>
            <a:ext cx="2286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6" name="Conector recto 75"/>
          <p:cNvCxnSpPr/>
          <p:nvPr/>
        </p:nvCxnSpPr>
        <p:spPr bwMode="auto">
          <a:xfrm>
            <a:off x="8839200" y="4341812"/>
            <a:ext cx="152400" cy="158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7" name="Conector recto 76"/>
          <p:cNvCxnSpPr/>
          <p:nvPr/>
        </p:nvCxnSpPr>
        <p:spPr bwMode="auto">
          <a:xfrm rot="5400000">
            <a:off x="7810897" y="5522515"/>
            <a:ext cx="2362200" cy="794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8" name="Conector recto 77"/>
          <p:cNvCxnSpPr/>
          <p:nvPr/>
        </p:nvCxnSpPr>
        <p:spPr bwMode="auto">
          <a:xfrm>
            <a:off x="2800586" y="6705600"/>
            <a:ext cx="6172200" cy="158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Conector recto 78"/>
          <p:cNvCxnSpPr/>
          <p:nvPr/>
        </p:nvCxnSpPr>
        <p:spPr bwMode="auto">
          <a:xfrm rot="5400000" flipH="1" flipV="1">
            <a:off x="1599407" y="5522912"/>
            <a:ext cx="2362200" cy="1588"/>
          </a:xfrm>
          <a:prstGeom prst="line">
            <a:avLst/>
          </a:prstGeom>
          <a:ln w="38100" cmpd="sng"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Conector recto 79"/>
          <p:cNvCxnSpPr/>
          <p:nvPr/>
        </p:nvCxnSpPr>
        <p:spPr bwMode="auto">
          <a:xfrm>
            <a:off x="2780507" y="4341812"/>
            <a:ext cx="4572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1" name="Conector recto 80"/>
          <p:cNvCxnSpPr/>
          <p:nvPr/>
        </p:nvCxnSpPr>
        <p:spPr bwMode="auto">
          <a:xfrm>
            <a:off x="5354581" y="6018212"/>
            <a:ext cx="1103605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3" name="Conector recto 82"/>
          <p:cNvCxnSpPr/>
          <p:nvPr/>
        </p:nvCxnSpPr>
        <p:spPr bwMode="auto">
          <a:xfrm>
            <a:off x="2856707" y="6627812"/>
            <a:ext cx="5753893" cy="158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Conector recto 83"/>
          <p:cNvCxnSpPr/>
          <p:nvPr/>
        </p:nvCxnSpPr>
        <p:spPr bwMode="auto">
          <a:xfrm rot="5400000" flipH="1" flipV="1">
            <a:off x="1828007" y="5599112"/>
            <a:ext cx="2057400" cy="1588"/>
          </a:xfrm>
          <a:prstGeom prst="line">
            <a:avLst/>
          </a:prstGeom>
          <a:ln w="38100" cmpd="sng"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5" name="Conector recto 84"/>
          <p:cNvCxnSpPr/>
          <p:nvPr/>
        </p:nvCxnSpPr>
        <p:spPr bwMode="auto">
          <a:xfrm>
            <a:off x="2856707" y="4570412"/>
            <a:ext cx="3810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6" name="CuadroTexto 85"/>
          <p:cNvSpPr txBox="1"/>
          <p:nvPr/>
        </p:nvSpPr>
        <p:spPr>
          <a:xfrm rot="16200000">
            <a:off x="8566529" y="5267273"/>
            <a:ext cx="5885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 err="1">
                <a:solidFill>
                  <a:schemeClr val="accent1">
                    <a:lumMod val="75000"/>
                  </a:schemeClr>
                </a:solidFill>
              </a:rPr>
              <a:t>Datos</a:t>
            </a:r>
            <a:endParaRPr lang="en-US" sz="11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7" name="CuadroTexto 86"/>
          <p:cNvSpPr txBox="1"/>
          <p:nvPr/>
        </p:nvSpPr>
        <p:spPr>
          <a:xfrm rot="16200000">
            <a:off x="8316080" y="6108169"/>
            <a:ext cx="784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 err="1">
                <a:solidFill>
                  <a:schemeClr val="accent1">
                    <a:lumMod val="75000"/>
                  </a:schemeClr>
                </a:solidFill>
              </a:rPr>
              <a:t>Reg</a:t>
            </a:r>
            <a:r>
              <a:rPr lang="en-US" sz="1100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100" i="1" dirty="0" err="1">
                <a:solidFill>
                  <a:schemeClr val="accent1">
                    <a:lumMod val="75000"/>
                  </a:schemeClr>
                </a:solidFill>
              </a:rPr>
              <a:t>dest</a:t>
            </a:r>
            <a:endParaRPr lang="en-US" sz="11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8" name="Rectángulo 87"/>
          <p:cNvSpPr/>
          <p:nvPr/>
        </p:nvSpPr>
        <p:spPr bwMode="auto">
          <a:xfrm>
            <a:off x="2567653" y="5798252"/>
            <a:ext cx="76200" cy="76200"/>
          </a:xfrm>
          <a:prstGeom prst="rect">
            <a:avLst/>
          </a:prstGeom>
          <a:solidFill>
            <a:schemeClr val="accent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Conector recto 88"/>
          <p:cNvCxnSpPr/>
          <p:nvPr/>
        </p:nvCxnSpPr>
        <p:spPr bwMode="auto">
          <a:xfrm rot="16200000" flipH="1">
            <a:off x="5125563" y="5581832"/>
            <a:ext cx="227012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0" name="Conector recto 89"/>
          <p:cNvCxnSpPr/>
          <p:nvPr/>
        </p:nvCxnSpPr>
        <p:spPr bwMode="auto">
          <a:xfrm rot="16200000" flipH="1">
            <a:off x="7107792" y="2491824"/>
            <a:ext cx="3171008" cy="129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1" name="Conector recto 90"/>
          <p:cNvCxnSpPr/>
          <p:nvPr/>
        </p:nvCxnSpPr>
        <p:spPr bwMode="auto">
          <a:xfrm rot="16200000" flipV="1">
            <a:off x="-67189" y="3494601"/>
            <a:ext cx="5334794" cy="18815"/>
          </a:xfrm>
          <a:prstGeom prst="line">
            <a:avLst/>
          </a:prstGeom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2" name="Conector recto 91"/>
          <p:cNvCxnSpPr/>
          <p:nvPr/>
        </p:nvCxnSpPr>
        <p:spPr bwMode="auto">
          <a:xfrm>
            <a:off x="2628107" y="6153678"/>
            <a:ext cx="1867694" cy="16934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4" name="CuadroTexto 93"/>
          <p:cNvSpPr txBox="1"/>
          <p:nvPr/>
        </p:nvSpPr>
        <p:spPr>
          <a:xfrm>
            <a:off x="4992395" y="5180012"/>
            <a:ext cx="646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rgbClr val="FF6600"/>
                </a:solidFill>
              </a:rPr>
              <a:t>MxDst</a:t>
            </a:r>
            <a:endParaRPr lang="en-US" sz="1200" b="1" dirty="0">
              <a:solidFill>
                <a:srgbClr val="FF6600"/>
              </a:solidFill>
            </a:endParaRPr>
          </a:p>
        </p:txBody>
      </p:sp>
      <p:sp>
        <p:nvSpPr>
          <p:cNvPr id="95" name="Rectángulo 94"/>
          <p:cNvSpPr/>
          <p:nvPr/>
        </p:nvSpPr>
        <p:spPr bwMode="auto">
          <a:xfrm>
            <a:off x="7315200" y="3851612"/>
            <a:ext cx="76200" cy="76200"/>
          </a:xfrm>
          <a:prstGeom prst="rect">
            <a:avLst/>
          </a:prstGeom>
          <a:solidFill>
            <a:schemeClr val="accent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Freeform 42"/>
          <p:cNvSpPr>
            <a:spLocks/>
          </p:cNvSpPr>
          <p:nvPr/>
        </p:nvSpPr>
        <p:spPr bwMode="blackWhite">
          <a:xfrm>
            <a:off x="5219700" y="2589212"/>
            <a:ext cx="419100" cy="800100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t" anchorCtr="0">
            <a:prstTxWarp prst="textNoShape">
              <a:avLst/>
            </a:prstTxWarp>
            <a:flatTx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97" name="CuadroTexto 96"/>
          <p:cNvSpPr txBox="1"/>
          <p:nvPr/>
        </p:nvSpPr>
        <p:spPr>
          <a:xfrm>
            <a:off x="5126566" y="3164947"/>
            <a:ext cx="31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accent1">
                    <a:lumMod val="75000"/>
                  </a:schemeClr>
                </a:solidFill>
              </a:rPr>
              <a:t>&lt;&lt;</a:t>
            </a:r>
          </a:p>
        </p:txBody>
      </p:sp>
      <p:cxnSp>
        <p:nvCxnSpPr>
          <p:cNvPr id="98" name="Conector recto 97"/>
          <p:cNvCxnSpPr/>
          <p:nvPr/>
        </p:nvCxnSpPr>
        <p:spPr bwMode="auto">
          <a:xfrm rot="5400000">
            <a:off x="1715295" y="3160712"/>
            <a:ext cx="989806" cy="794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9" name="Conector recto 98"/>
          <p:cNvCxnSpPr/>
          <p:nvPr/>
        </p:nvCxnSpPr>
        <p:spPr bwMode="auto">
          <a:xfrm flipV="1">
            <a:off x="1905000" y="2894012"/>
            <a:ext cx="228601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1" name="Conector recto 100"/>
          <p:cNvCxnSpPr/>
          <p:nvPr/>
        </p:nvCxnSpPr>
        <p:spPr bwMode="auto">
          <a:xfrm>
            <a:off x="4267201" y="5256212"/>
            <a:ext cx="2286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2" name="CuadroTexto 101"/>
          <p:cNvSpPr txBox="1"/>
          <p:nvPr/>
        </p:nvSpPr>
        <p:spPr>
          <a:xfrm rot="16200000">
            <a:off x="5739339" y="2817812"/>
            <a:ext cx="701271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SALTO</a:t>
            </a:r>
          </a:p>
        </p:txBody>
      </p:sp>
      <p:cxnSp>
        <p:nvCxnSpPr>
          <p:cNvPr id="103" name="Conector recto 102"/>
          <p:cNvCxnSpPr>
            <a:endCxn id="102" idx="1"/>
          </p:cNvCxnSpPr>
          <p:nvPr/>
        </p:nvCxnSpPr>
        <p:spPr bwMode="auto">
          <a:xfrm rot="16200000" flipV="1">
            <a:off x="5938456" y="3473855"/>
            <a:ext cx="308278" cy="5239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7" name="Rectángulo 106"/>
          <p:cNvSpPr/>
          <p:nvPr/>
        </p:nvSpPr>
        <p:spPr bwMode="auto">
          <a:xfrm>
            <a:off x="1219201" y="3605732"/>
            <a:ext cx="76200" cy="76200"/>
          </a:xfrm>
          <a:prstGeom prst="rect">
            <a:avLst/>
          </a:prstGeom>
          <a:solidFill>
            <a:schemeClr val="accent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Conector recto 107"/>
          <p:cNvCxnSpPr/>
          <p:nvPr/>
        </p:nvCxnSpPr>
        <p:spPr bwMode="auto">
          <a:xfrm>
            <a:off x="2438401" y="2874896"/>
            <a:ext cx="2057399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9" name="Rectángulo 108"/>
          <p:cNvSpPr/>
          <p:nvPr/>
        </p:nvSpPr>
        <p:spPr bwMode="auto">
          <a:xfrm>
            <a:off x="1066800" y="3850747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110" name="Conector recto 109"/>
          <p:cNvCxnSpPr/>
          <p:nvPr/>
        </p:nvCxnSpPr>
        <p:spPr bwMode="auto">
          <a:xfrm>
            <a:off x="5638800" y="2968624"/>
            <a:ext cx="152400" cy="158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Conector recto 110"/>
          <p:cNvCxnSpPr/>
          <p:nvPr/>
        </p:nvCxnSpPr>
        <p:spPr bwMode="auto">
          <a:xfrm rot="5400000" flipH="1" flipV="1">
            <a:off x="5486400" y="2666206"/>
            <a:ext cx="608806" cy="794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2" name="Conector recto 111"/>
          <p:cNvCxnSpPr/>
          <p:nvPr/>
        </p:nvCxnSpPr>
        <p:spPr bwMode="auto">
          <a:xfrm>
            <a:off x="5791200" y="2360612"/>
            <a:ext cx="6858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3" name="Conector recto 112"/>
          <p:cNvCxnSpPr/>
          <p:nvPr/>
        </p:nvCxnSpPr>
        <p:spPr bwMode="auto">
          <a:xfrm rot="5400000">
            <a:off x="268289" y="1866107"/>
            <a:ext cx="2970210" cy="158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4" name="Conector recto 113"/>
          <p:cNvCxnSpPr/>
          <p:nvPr/>
        </p:nvCxnSpPr>
        <p:spPr bwMode="auto">
          <a:xfrm>
            <a:off x="1600201" y="3351212"/>
            <a:ext cx="152399" cy="158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5" name="Conector recto de flecha 114"/>
          <p:cNvCxnSpPr/>
          <p:nvPr/>
        </p:nvCxnSpPr>
        <p:spPr bwMode="auto">
          <a:xfrm rot="16200000" flipH="1">
            <a:off x="1341969" y="3609444"/>
            <a:ext cx="516466" cy="2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Conector recto 115"/>
          <p:cNvCxnSpPr/>
          <p:nvPr/>
        </p:nvCxnSpPr>
        <p:spPr bwMode="auto">
          <a:xfrm>
            <a:off x="609600" y="3960812"/>
            <a:ext cx="445021" cy="12152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Conector recto de flecha 116"/>
          <p:cNvCxnSpPr/>
          <p:nvPr/>
        </p:nvCxnSpPr>
        <p:spPr bwMode="auto">
          <a:xfrm rot="16200000" flipH="1">
            <a:off x="1100669" y="3698347"/>
            <a:ext cx="304802" cy="2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Conector recto de flecha 117"/>
          <p:cNvCxnSpPr/>
          <p:nvPr/>
        </p:nvCxnSpPr>
        <p:spPr bwMode="auto">
          <a:xfrm rot="5400000">
            <a:off x="1195918" y="4267732"/>
            <a:ext cx="381000" cy="4230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9" name="CuadroTexto 118"/>
          <p:cNvSpPr txBox="1"/>
          <p:nvPr/>
        </p:nvSpPr>
        <p:spPr>
          <a:xfrm rot="16200000">
            <a:off x="393592" y="2223421"/>
            <a:ext cx="612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rgbClr val="FF6600"/>
                </a:solidFill>
              </a:rPr>
              <a:t>MxPC</a:t>
            </a:r>
            <a:endParaRPr lang="en-US" sz="1200" b="1" dirty="0">
              <a:solidFill>
                <a:srgbClr val="FF6600"/>
              </a:solidFill>
            </a:endParaRPr>
          </a:p>
        </p:txBody>
      </p:sp>
      <p:sp>
        <p:nvSpPr>
          <p:cNvPr id="120" name="Rectángulo 119"/>
          <p:cNvSpPr/>
          <p:nvPr/>
        </p:nvSpPr>
        <p:spPr bwMode="auto">
          <a:xfrm>
            <a:off x="1343167" y="4894026"/>
            <a:ext cx="76200" cy="76200"/>
          </a:xfrm>
          <a:prstGeom prst="rect">
            <a:avLst/>
          </a:prstGeom>
          <a:solidFill>
            <a:schemeClr val="accent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ángulo 120"/>
          <p:cNvSpPr/>
          <p:nvPr/>
        </p:nvSpPr>
        <p:spPr bwMode="auto">
          <a:xfrm>
            <a:off x="2133601" y="6080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2" name="Rectángulo 121"/>
          <p:cNvSpPr/>
          <p:nvPr/>
        </p:nvSpPr>
        <p:spPr bwMode="auto">
          <a:xfrm rot="16200000">
            <a:off x="1914879" y="5542670"/>
            <a:ext cx="7620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RI</a:t>
            </a:r>
          </a:p>
        </p:txBody>
      </p:sp>
      <p:cxnSp>
        <p:nvCxnSpPr>
          <p:cNvPr id="15" name="Conector recto de flecha 14"/>
          <p:cNvCxnSpPr>
            <a:stCxn id="7" idx="3"/>
            <a:endCxn id="122" idx="0"/>
          </p:cNvCxnSpPr>
          <p:nvPr/>
        </p:nvCxnSpPr>
        <p:spPr bwMode="auto">
          <a:xfrm>
            <a:off x="1803403" y="5641447"/>
            <a:ext cx="378176" cy="15523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4" name="Rectángulo 123"/>
          <p:cNvSpPr/>
          <p:nvPr/>
        </p:nvSpPr>
        <p:spPr bwMode="auto">
          <a:xfrm>
            <a:off x="4495801" y="6080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ángulo 145"/>
          <p:cNvSpPr/>
          <p:nvPr/>
        </p:nvSpPr>
        <p:spPr bwMode="auto">
          <a:xfrm rot="16200000">
            <a:off x="4413953" y="3537480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S</a:t>
            </a:r>
          </a:p>
        </p:txBody>
      </p:sp>
      <p:sp>
        <p:nvSpPr>
          <p:cNvPr id="147" name="Rectángulo 146"/>
          <p:cNvSpPr/>
          <p:nvPr/>
        </p:nvSpPr>
        <p:spPr bwMode="auto">
          <a:xfrm rot="16200000">
            <a:off x="4413954" y="4088750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T</a:t>
            </a:r>
          </a:p>
        </p:txBody>
      </p:sp>
      <p:sp>
        <p:nvSpPr>
          <p:cNvPr id="150" name="Rectángulo 149"/>
          <p:cNvSpPr/>
          <p:nvPr/>
        </p:nvSpPr>
        <p:spPr bwMode="auto">
          <a:xfrm rot="16200000">
            <a:off x="4414898" y="5155550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K</a:t>
            </a:r>
          </a:p>
        </p:txBody>
      </p:sp>
      <p:sp>
        <p:nvSpPr>
          <p:cNvPr id="151" name="Rectángulo 150"/>
          <p:cNvSpPr/>
          <p:nvPr/>
        </p:nvSpPr>
        <p:spPr bwMode="auto">
          <a:xfrm rot="16200000">
            <a:off x="4429009" y="5751039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rgbClr val="000000"/>
                </a:solidFill>
              </a:rPr>
              <a:t>Rt</a:t>
            </a: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152" name="Rectángulo 151"/>
          <p:cNvSpPr/>
          <p:nvPr/>
        </p:nvSpPr>
        <p:spPr bwMode="auto">
          <a:xfrm rot="16200000">
            <a:off x="4429009" y="6189425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Rd</a:t>
            </a:r>
          </a:p>
        </p:txBody>
      </p:sp>
      <p:sp>
        <p:nvSpPr>
          <p:cNvPr id="154" name="Rectángulo 153"/>
          <p:cNvSpPr/>
          <p:nvPr/>
        </p:nvSpPr>
        <p:spPr bwMode="auto">
          <a:xfrm>
            <a:off x="6477000" y="6080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ángulo 160"/>
          <p:cNvSpPr/>
          <p:nvPr/>
        </p:nvSpPr>
        <p:spPr bwMode="auto">
          <a:xfrm>
            <a:off x="8001000" y="6080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ectángulo 167"/>
          <p:cNvSpPr/>
          <p:nvPr/>
        </p:nvSpPr>
        <p:spPr bwMode="auto">
          <a:xfrm rot="16200000">
            <a:off x="6182079" y="37703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rgbClr val="000000"/>
                </a:solidFill>
              </a:rPr>
              <a:t>ALUout</a:t>
            </a: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169" name="Rectángulo 168"/>
          <p:cNvSpPr/>
          <p:nvPr/>
        </p:nvSpPr>
        <p:spPr bwMode="auto">
          <a:xfrm rot="16200000">
            <a:off x="7706079" y="37703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rgbClr val="000000"/>
                </a:solidFill>
              </a:rPr>
              <a:t>ALUout</a:t>
            </a: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170" name="Rectángulo 169"/>
          <p:cNvSpPr/>
          <p:nvPr/>
        </p:nvSpPr>
        <p:spPr bwMode="auto">
          <a:xfrm rot="16200000">
            <a:off x="6419613" y="5883682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Re</a:t>
            </a:r>
          </a:p>
        </p:txBody>
      </p:sp>
      <p:sp>
        <p:nvSpPr>
          <p:cNvPr id="171" name="Rectángulo 170"/>
          <p:cNvSpPr/>
          <p:nvPr/>
        </p:nvSpPr>
        <p:spPr bwMode="auto">
          <a:xfrm rot="16200000">
            <a:off x="7953964" y="5875218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Re</a:t>
            </a:r>
          </a:p>
        </p:txBody>
      </p:sp>
      <p:sp>
        <p:nvSpPr>
          <p:cNvPr id="180" name="Rectángulo 179"/>
          <p:cNvSpPr/>
          <p:nvPr/>
        </p:nvSpPr>
        <p:spPr bwMode="auto">
          <a:xfrm rot="16200000">
            <a:off x="7706079" y="49895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rgbClr val="000000"/>
                </a:solidFill>
              </a:rPr>
              <a:t>MEMout</a:t>
            </a: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182" name="Rectángulo 181"/>
          <p:cNvSpPr/>
          <p:nvPr/>
        </p:nvSpPr>
        <p:spPr bwMode="auto">
          <a:xfrm rot="16200000">
            <a:off x="6414911" y="5013501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T</a:t>
            </a:r>
          </a:p>
        </p:txBody>
      </p:sp>
      <p:cxnSp>
        <p:nvCxnSpPr>
          <p:cNvPr id="183" name="Conector recto 182"/>
          <p:cNvCxnSpPr/>
          <p:nvPr/>
        </p:nvCxnSpPr>
        <p:spPr bwMode="auto">
          <a:xfrm>
            <a:off x="4800600" y="4187824"/>
            <a:ext cx="4572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7" name="Conector recto 186"/>
          <p:cNvCxnSpPr/>
          <p:nvPr/>
        </p:nvCxnSpPr>
        <p:spPr bwMode="auto">
          <a:xfrm>
            <a:off x="5029200" y="4418012"/>
            <a:ext cx="2286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8" name="Conector recto 187"/>
          <p:cNvCxnSpPr/>
          <p:nvPr/>
        </p:nvCxnSpPr>
        <p:spPr bwMode="auto">
          <a:xfrm rot="16200000" flipV="1">
            <a:off x="4583571" y="4849000"/>
            <a:ext cx="886024" cy="5233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9" name="Conector recto 188"/>
          <p:cNvCxnSpPr/>
          <p:nvPr/>
        </p:nvCxnSpPr>
        <p:spPr bwMode="auto">
          <a:xfrm>
            <a:off x="4800600" y="5275026"/>
            <a:ext cx="228600" cy="158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9" name="Conector recto 198"/>
          <p:cNvCxnSpPr/>
          <p:nvPr/>
        </p:nvCxnSpPr>
        <p:spPr bwMode="auto">
          <a:xfrm rot="5400000">
            <a:off x="4401258" y="4693325"/>
            <a:ext cx="989806" cy="794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Conector recto 202"/>
          <p:cNvCxnSpPr/>
          <p:nvPr/>
        </p:nvCxnSpPr>
        <p:spPr bwMode="auto">
          <a:xfrm>
            <a:off x="4800600" y="3656012"/>
            <a:ext cx="9906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3" name="Rectángulo 212"/>
          <p:cNvSpPr/>
          <p:nvPr/>
        </p:nvSpPr>
        <p:spPr bwMode="auto">
          <a:xfrm>
            <a:off x="4857986" y="4147772"/>
            <a:ext cx="76200" cy="76200"/>
          </a:xfrm>
          <a:prstGeom prst="rect">
            <a:avLst/>
          </a:prstGeom>
          <a:solidFill>
            <a:schemeClr val="accent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4" name="Conector recto 213"/>
          <p:cNvCxnSpPr/>
          <p:nvPr/>
        </p:nvCxnSpPr>
        <p:spPr bwMode="auto">
          <a:xfrm>
            <a:off x="4876800" y="5178424"/>
            <a:ext cx="16002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7" name="Conector recto 216"/>
          <p:cNvCxnSpPr/>
          <p:nvPr/>
        </p:nvCxnSpPr>
        <p:spPr bwMode="auto">
          <a:xfrm>
            <a:off x="4837906" y="5865812"/>
            <a:ext cx="267494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9" name="Conector recto 218"/>
          <p:cNvCxnSpPr/>
          <p:nvPr/>
        </p:nvCxnSpPr>
        <p:spPr bwMode="auto">
          <a:xfrm>
            <a:off x="4828499" y="6246812"/>
            <a:ext cx="267494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5" name="Conector recto 224"/>
          <p:cNvCxnSpPr/>
          <p:nvPr/>
        </p:nvCxnSpPr>
        <p:spPr bwMode="auto">
          <a:xfrm>
            <a:off x="6811788" y="6018212"/>
            <a:ext cx="1179805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0" name="Conector recto 229"/>
          <p:cNvCxnSpPr/>
          <p:nvPr/>
        </p:nvCxnSpPr>
        <p:spPr bwMode="auto">
          <a:xfrm>
            <a:off x="8382000" y="4189412"/>
            <a:ext cx="2286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3" name="Conector recto 232"/>
          <p:cNvCxnSpPr/>
          <p:nvPr/>
        </p:nvCxnSpPr>
        <p:spPr bwMode="auto">
          <a:xfrm>
            <a:off x="8382000" y="4645024"/>
            <a:ext cx="2286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8" name="Conector recto 237"/>
          <p:cNvCxnSpPr/>
          <p:nvPr/>
        </p:nvCxnSpPr>
        <p:spPr bwMode="auto">
          <a:xfrm rot="5400000" flipH="1" flipV="1">
            <a:off x="8229601" y="4037012"/>
            <a:ext cx="304799" cy="158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1" name="Conector recto 240"/>
          <p:cNvCxnSpPr/>
          <p:nvPr/>
        </p:nvCxnSpPr>
        <p:spPr bwMode="auto">
          <a:xfrm rot="5400000" flipH="1" flipV="1">
            <a:off x="8154196" y="4874420"/>
            <a:ext cx="457197" cy="1589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2" name="Conector recto 241"/>
          <p:cNvCxnSpPr/>
          <p:nvPr/>
        </p:nvCxnSpPr>
        <p:spPr bwMode="auto">
          <a:xfrm rot="10800000">
            <a:off x="8305804" y="5102223"/>
            <a:ext cx="76196" cy="158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7" name="Conector recto 246"/>
          <p:cNvCxnSpPr/>
          <p:nvPr/>
        </p:nvCxnSpPr>
        <p:spPr bwMode="auto">
          <a:xfrm rot="10800000">
            <a:off x="8305800" y="3884612"/>
            <a:ext cx="76200" cy="158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3" name="Conector recto 252"/>
          <p:cNvCxnSpPr/>
          <p:nvPr/>
        </p:nvCxnSpPr>
        <p:spPr bwMode="auto">
          <a:xfrm rot="5400000">
            <a:off x="8305800" y="6323012"/>
            <a:ext cx="609600" cy="158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5" name="Conector recto 254"/>
          <p:cNvCxnSpPr/>
          <p:nvPr/>
        </p:nvCxnSpPr>
        <p:spPr bwMode="auto">
          <a:xfrm>
            <a:off x="8305800" y="6018212"/>
            <a:ext cx="304800" cy="158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8" name="Conector recto 257"/>
          <p:cNvCxnSpPr>
            <a:stCxn id="182" idx="2"/>
          </p:cNvCxnSpPr>
          <p:nvPr/>
        </p:nvCxnSpPr>
        <p:spPr bwMode="auto">
          <a:xfrm flipV="1">
            <a:off x="6744173" y="5103812"/>
            <a:ext cx="266227" cy="5175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2" name="Conector recto 261"/>
          <p:cNvCxnSpPr/>
          <p:nvPr/>
        </p:nvCxnSpPr>
        <p:spPr bwMode="auto">
          <a:xfrm>
            <a:off x="6295435" y="3884612"/>
            <a:ext cx="190027" cy="1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5" name="CuadroTexto 264"/>
          <p:cNvSpPr txBox="1"/>
          <p:nvPr/>
        </p:nvSpPr>
        <p:spPr>
          <a:xfrm>
            <a:off x="876638" y="-76200"/>
            <a:ext cx="41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LI</a:t>
            </a:r>
          </a:p>
        </p:txBody>
      </p:sp>
      <p:sp>
        <p:nvSpPr>
          <p:cNvPr id="266" name="CuadroTexto 265"/>
          <p:cNvSpPr txBox="1"/>
          <p:nvPr/>
        </p:nvSpPr>
        <p:spPr>
          <a:xfrm>
            <a:off x="3306930" y="-7620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DI</a:t>
            </a:r>
          </a:p>
        </p:txBody>
      </p:sp>
      <p:sp>
        <p:nvSpPr>
          <p:cNvPr id="267" name="CuadroTexto 266"/>
          <p:cNvSpPr txBox="1"/>
          <p:nvPr/>
        </p:nvSpPr>
        <p:spPr>
          <a:xfrm>
            <a:off x="5276893" y="-76200"/>
            <a:ext cx="5268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EX</a:t>
            </a:r>
          </a:p>
        </p:txBody>
      </p:sp>
      <p:sp>
        <p:nvSpPr>
          <p:cNvPr id="268" name="CuadroTexto 267"/>
          <p:cNvSpPr txBox="1"/>
          <p:nvPr/>
        </p:nvSpPr>
        <p:spPr>
          <a:xfrm>
            <a:off x="7214545" y="-76200"/>
            <a:ext cx="39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M</a:t>
            </a:r>
          </a:p>
        </p:txBody>
      </p:sp>
      <p:sp>
        <p:nvSpPr>
          <p:cNvPr id="269" name="CuadroTexto 268"/>
          <p:cNvSpPr txBox="1"/>
          <p:nvPr/>
        </p:nvSpPr>
        <p:spPr>
          <a:xfrm>
            <a:off x="8374442" y="-76200"/>
            <a:ext cx="5409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ER</a:t>
            </a:r>
          </a:p>
        </p:txBody>
      </p:sp>
      <p:sp>
        <p:nvSpPr>
          <p:cNvPr id="270" name="CuadroTexto 269"/>
          <p:cNvSpPr txBox="1"/>
          <p:nvPr/>
        </p:nvSpPr>
        <p:spPr>
          <a:xfrm rot="16200000">
            <a:off x="2000014" y="1956819"/>
            <a:ext cx="56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LI/DI</a:t>
            </a:r>
          </a:p>
        </p:txBody>
      </p:sp>
      <p:sp>
        <p:nvSpPr>
          <p:cNvPr id="272" name="CuadroTexto 271"/>
          <p:cNvSpPr txBox="1"/>
          <p:nvPr/>
        </p:nvSpPr>
        <p:spPr>
          <a:xfrm rot="16200000">
            <a:off x="4322897" y="2154103"/>
            <a:ext cx="653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DI/EX</a:t>
            </a:r>
          </a:p>
        </p:txBody>
      </p:sp>
      <p:sp>
        <p:nvSpPr>
          <p:cNvPr id="273" name="CuadroTexto 272"/>
          <p:cNvSpPr txBox="1"/>
          <p:nvPr/>
        </p:nvSpPr>
        <p:spPr>
          <a:xfrm rot="16200000">
            <a:off x="6319088" y="1667911"/>
            <a:ext cx="6236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EX/M</a:t>
            </a:r>
          </a:p>
        </p:txBody>
      </p:sp>
      <p:sp>
        <p:nvSpPr>
          <p:cNvPr id="274" name="CuadroTexto 273"/>
          <p:cNvSpPr txBox="1"/>
          <p:nvPr/>
        </p:nvSpPr>
        <p:spPr>
          <a:xfrm rot="16200000">
            <a:off x="7838135" y="1458265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M/ER</a:t>
            </a:r>
          </a:p>
        </p:txBody>
      </p:sp>
      <p:sp>
        <p:nvSpPr>
          <p:cNvPr id="275" name="Rectángulo 274"/>
          <p:cNvSpPr/>
          <p:nvPr/>
        </p:nvSpPr>
        <p:spPr bwMode="auto">
          <a:xfrm rot="16200000">
            <a:off x="4471812" y="1698802"/>
            <a:ext cx="3913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EX</a:t>
            </a:r>
          </a:p>
        </p:txBody>
      </p:sp>
      <p:sp>
        <p:nvSpPr>
          <p:cNvPr id="276" name="Rectángulo 275"/>
          <p:cNvSpPr/>
          <p:nvPr/>
        </p:nvSpPr>
        <p:spPr bwMode="auto">
          <a:xfrm rot="16200000">
            <a:off x="4471812" y="1231251"/>
            <a:ext cx="391350" cy="19097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M</a:t>
            </a:r>
          </a:p>
        </p:txBody>
      </p:sp>
      <p:sp>
        <p:nvSpPr>
          <p:cNvPr id="277" name="Rectángulo 276"/>
          <p:cNvSpPr/>
          <p:nvPr/>
        </p:nvSpPr>
        <p:spPr bwMode="auto">
          <a:xfrm rot="16200000">
            <a:off x="4476987" y="779226"/>
            <a:ext cx="380999" cy="19097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ER</a:t>
            </a:r>
          </a:p>
        </p:txBody>
      </p:sp>
      <p:sp>
        <p:nvSpPr>
          <p:cNvPr id="278" name="Rectángulo 277"/>
          <p:cNvSpPr/>
          <p:nvPr/>
        </p:nvSpPr>
        <p:spPr bwMode="auto">
          <a:xfrm rot="16200000">
            <a:off x="6433253" y="1231251"/>
            <a:ext cx="391350" cy="19097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M</a:t>
            </a:r>
          </a:p>
        </p:txBody>
      </p:sp>
      <p:sp>
        <p:nvSpPr>
          <p:cNvPr id="279" name="Rectángulo 278"/>
          <p:cNvSpPr/>
          <p:nvPr/>
        </p:nvSpPr>
        <p:spPr bwMode="auto">
          <a:xfrm rot="16200000">
            <a:off x="6438428" y="779226"/>
            <a:ext cx="380999" cy="19097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ER</a:t>
            </a:r>
          </a:p>
        </p:txBody>
      </p:sp>
      <p:sp>
        <p:nvSpPr>
          <p:cNvPr id="280" name="Rectángulo 279"/>
          <p:cNvSpPr/>
          <p:nvPr/>
        </p:nvSpPr>
        <p:spPr bwMode="auto">
          <a:xfrm rot="16200000">
            <a:off x="7982186" y="779226"/>
            <a:ext cx="380999" cy="19097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ER</a:t>
            </a:r>
          </a:p>
        </p:txBody>
      </p:sp>
      <p:cxnSp>
        <p:nvCxnSpPr>
          <p:cNvPr id="281" name="Conector recto 280"/>
          <p:cNvCxnSpPr/>
          <p:nvPr/>
        </p:nvCxnSpPr>
        <p:spPr bwMode="auto">
          <a:xfrm>
            <a:off x="4800600" y="1293812"/>
            <a:ext cx="1676400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4" name="Conector recto 283"/>
          <p:cNvCxnSpPr/>
          <p:nvPr/>
        </p:nvCxnSpPr>
        <p:spPr bwMode="auto">
          <a:xfrm>
            <a:off x="4800600" y="836612"/>
            <a:ext cx="1676400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5" name="Conector recto 284"/>
          <p:cNvCxnSpPr/>
          <p:nvPr/>
        </p:nvCxnSpPr>
        <p:spPr bwMode="auto">
          <a:xfrm>
            <a:off x="6781800" y="836612"/>
            <a:ext cx="1219200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1" name="Conector recto 290"/>
          <p:cNvCxnSpPr/>
          <p:nvPr/>
        </p:nvCxnSpPr>
        <p:spPr bwMode="auto">
          <a:xfrm>
            <a:off x="3962400" y="1293812"/>
            <a:ext cx="533400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2" name="Conector recto 291"/>
          <p:cNvCxnSpPr/>
          <p:nvPr/>
        </p:nvCxnSpPr>
        <p:spPr bwMode="auto">
          <a:xfrm>
            <a:off x="3962400" y="836612"/>
            <a:ext cx="533400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3" name="CuadroTexto 292"/>
          <p:cNvSpPr txBox="1"/>
          <p:nvPr/>
        </p:nvSpPr>
        <p:spPr>
          <a:xfrm>
            <a:off x="5105400" y="1447800"/>
            <a:ext cx="714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rgbClr val="FF6600"/>
                </a:solidFill>
              </a:rPr>
              <a:t>OpALU</a:t>
            </a:r>
            <a:endParaRPr lang="en-US" sz="1200" b="1" dirty="0">
              <a:solidFill>
                <a:srgbClr val="FF6600"/>
              </a:solidFill>
            </a:endParaRPr>
          </a:p>
        </p:txBody>
      </p:sp>
      <p:sp>
        <p:nvSpPr>
          <p:cNvPr id="294" name="CuadroTexto 293"/>
          <p:cNvSpPr txBox="1"/>
          <p:nvPr/>
        </p:nvSpPr>
        <p:spPr>
          <a:xfrm>
            <a:off x="5105400" y="1619014"/>
            <a:ext cx="7147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rgbClr val="FF6600"/>
                </a:solidFill>
              </a:rPr>
              <a:t>MxALU</a:t>
            </a:r>
            <a:endParaRPr lang="en-US" sz="1200" b="1" dirty="0">
              <a:solidFill>
                <a:srgbClr val="FF6600"/>
              </a:solidFill>
            </a:endParaRPr>
          </a:p>
        </p:txBody>
      </p:sp>
      <p:cxnSp>
        <p:nvCxnSpPr>
          <p:cNvPr id="295" name="Conector recto 294"/>
          <p:cNvCxnSpPr/>
          <p:nvPr/>
        </p:nvCxnSpPr>
        <p:spPr bwMode="auto">
          <a:xfrm>
            <a:off x="4800600" y="1953399"/>
            <a:ext cx="381000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6" name="CuadroTexto 295"/>
          <p:cNvSpPr txBox="1"/>
          <p:nvPr/>
        </p:nvSpPr>
        <p:spPr>
          <a:xfrm>
            <a:off x="5105400" y="1800999"/>
            <a:ext cx="646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rgbClr val="FF6600"/>
                </a:solidFill>
              </a:rPr>
              <a:t>MxDst</a:t>
            </a:r>
            <a:endParaRPr lang="en-US" sz="1200" b="1" dirty="0">
              <a:solidFill>
                <a:srgbClr val="FF6600"/>
              </a:solidFill>
            </a:endParaRPr>
          </a:p>
        </p:txBody>
      </p:sp>
      <p:cxnSp>
        <p:nvCxnSpPr>
          <p:cNvPr id="297" name="Conector recto 296"/>
          <p:cNvCxnSpPr/>
          <p:nvPr/>
        </p:nvCxnSpPr>
        <p:spPr bwMode="auto">
          <a:xfrm>
            <a:off x="6781800" y="1370012"/>
            <a:ext cx="381000" cy="1588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8" name="Conector recto 297"/>
          <p:cNvCxnSpPr/>
          <p:nvPr/>
        </p:nvCxnSpPr>
        <p:spPr bwMode="auto">
          <a:xfrm>
            <a:off x="6781800" y="1217612"/>
            <a:ext cx="838200" cy="1588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9" name="CuadroTexto 298"/>
          <p:cNvSpPr txBox="1"/>
          <p:nvPr/>
        </p:nvSpPr>
        <p:spPr>
          <a:xfrm rot="16200000">
            <a:off x="6938263" y="1698549"/>
            <a:ext cx="629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rgbClr val="FF6600"/>
                </a:solidFill>
              </a:rPr>
              <a:t>LMem</a:t>
            </a:r>
            <a:endParaRPr lang="en-US" sz="1200" b="1" dirty="0">
              <a:solidFill>
                <a:srgbClr val="FF6600"/>
              </a:solidFill>
            </a:endParaRPr>
          </a:p>
        </p:txBody>
      </p:sp>
      <p:sp>
        <p:nvSpPr>
          <p:cNvPr id="300" name="CuadroTexto 299"/>
          <p:cNvSpPr txBox="1"/>
          <p:nvPr/>
        </p:nvSpPr>
        <p:spPr>
          <a:xfrm rot="16200000">
            <a:off x="7391143" y="2083870"/>
            <a:ext cx="637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rgbClr val="FF6600"/>
                </a:solidFill>
              </a:rPr>
              <a:t>EMem</a:t>
            </a:r>
            <a:endParaRPr lang="en-US" sz="1200" b="1" dirty="0">
              <a:solidFill>
                <a:srgbClr val="FF6600"/>
              </a:solidFill>
            </a:endParaRPr>
          </a:p>
        </p:txBody>
      </p:sp>
      <p:cxnSp>
        <p:nvCxnSpPr>
          <p:cNvPr id="301" name="Conector recto 300"/>
          <p:cNvCxnSpPr/>
          <p:nvPr/>
        </p:nvCxnSpPr>
        <p:spPr bwMode="auto">
          <a:xfrm>
            <a:off x="8315288" y="894418"/>
            <a:ext cx="381000" cy="1588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2" name="CuadroTexto 301"/>
          <p:cNvSpPr txBox="1"/>
          <p:nvPr/>
        </p:nvSpPr>
        <p:spPr>
          <a:xfrm rot="16200000">
            <a:off x="8470792" y="1613821"/>
            <a:ext cx="612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rgbClr val="FF6600"/>
                </a:solidFill>
              </a:rPr>
              <a:t>MxER</a:t>
            </a:r>
            <a:endParaRPr lang="en-US" sz="1200" b="1" dirty="0">
              <a:solidFill>
                <a:srgbClr val="FF6600"/>
              </a:solidFill>
            </a:endParaRPr>
          </a:p>
        </p:txBody>
      </p:sp>
      <p:cxnSp>
        <p:nvCxnSpPr>
          <p:cNvPr id="303" name="Conector recto 302"/>
          <p:cNvCxnSpPr/>
          <p:nvPr/>
        </p:nvCxnSpPr>
        <p:spPr bwMode="auto">
          <a:xfrm rot="5400000">
            <a:off x="5638006" y="2894012"/>
            <a:ext cx="3048794" cy="794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6" name="Conector recto 305"/>
          <p:cNvCxnSpPr/>
          <p:nvPr/>
        </p:nvCxnSpPr>
        <p:spPr bwMode="auto">
          <a:xfrm rot="5400000">
            <a:off x="6019006" y="2817812"/>
            <a:ext cx="3201194" cy="794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" name="Conector recto 53"/>
          <p:cNvCxnSpPr>
            <a:stCxn id="168" idx="2"/>
          </p:cNvCxnSpPr>
          <p:nvPr/>
        </p:nvCxnSpPr>
        <p:spPr bwMode="auto">
          <a:xfrm>
            <a:off x="6753579" y="3884612"/>
            <a:ext cx="1247421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2" name="Rectángulo 311"/>
          <p:cNvSpPr/>
          <p:nvPr/>
        </p:nvSpPr>
        <p:spPr bwMode="auto">
          <a:xfrm rot="16200000">
            <a:off x="1985433" y="2784114"/>
            <a:ext cx="609601" cy="21919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PC+4</a:t>
            </a:r>
          </a:p>
        </p:txBody>
      </p:sp>
      <p:sp>
        <p:nvSpPr>
          <p:cNvPr id="313" name="Rectángulo 312"/>
          <p:cNvSpPr/>
          <p:nvPr/>
        </p:nvSpPr>
        <p:spPr bwMode="auto">
          <a:xfrm rot="16200000">
            <a:off x="4342928" y="2781299"/>
            <a:ext cx="609601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PC+4</a:t>
            </a:r>
          </a:p>
        </p:txBody>
      </p:sp>
      <p:cxnSp>
        <p:nvCxnSpPr>
          <p:cNvPr id="315" name="Conector recto 314"/>
          <p:cNvCxnSpPr/>
          <p:nvPr/>
        </p:nvCxnSpPr>
        <p:spPr bwMode="auto">
          <a:xfrm>
            <a:off x="4800600" y="2743200"/>
            <a:ext cx="3810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4" name="Conector recto 323"/>
          <p:cNvCxnSpPr/>
          <p:nvPr/>
        </p:nvCxnSpPr>
        <p:spPr bwMode="auto">
          <a:xfrm>
            <a:off x="6248400" y="2970212"/>
            <a:ext cx="2286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6" name="Rectángulo 325"/>
          <p:cNvSpPr/>
          <p:nvPr/>
        </p:nvSpPr>
        <p:spPr bwMode="auto">
          <a:xfrm rot="16200000">
            <a:off x="6325072" y="2266715"/>
            <a:ext cx="609601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NPC</a:t>
            </a: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327" name="Rectángulo 326"/>
          <p:cNvSpPr/>
          <p:nvPr/>
        </p:nvSpPr>
        <p:spPr bwMode="auto">
          <a:xfrm rot="16200000">
            <a:off x="6334478" y="2933699"/>
            <a:ext cx="609601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Cond</a:t>
            </a:r>
          </a:p>
        </p:txBody>
      </p:sp>
      <p:cxnSp>
        <p:nvCxnSpPr>
          <p:cNvPr id="330" name="Conector recto 329"/>
          <p:cNvCxnSpPr/>
          <p:nvPr/>
        </p:nvCxnSpPr>
        <p:spPr bwMode="auto">
          <a:xfrm rot="5400000" flipH="1" flipV="1">
            <a:off x="4455219" y="3844820"/>
            <a:ext cx="1143789" cy="4174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2" name="Conector recto 331"/>
          <p:cNvCxnSpPr/>
          <p:nvPr/>
        </p:nvCxnSpPr>
        <p:spPr bwMode="auto">
          <a:xfrm>
            <a:off x="5010386" y="3275012"/>
            <a:ext cx="2286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3" name="Rectángulo 332"/>
          <p:cNvSpPr/>
          <p:nvPr/>
        </p:nvSpPr>
        <p:spPr bwMode="auto">
          <a:xfrm>
            <a:off x="4991572" y="4380384"/>
            <a:ext cx="76200" cy="76200"/>
          </a:xfrm>
          <a:prstGeom prst="rect">
            <a:avLst/>
          </a:prstGeom>
          <a:solidFill>
            <a:schemeClr val="accent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4" name="Conector recto 333"/>
          <p:cNvCxnSpPr/>
          <p:nvPr/>
        </p:nvCxnSpPr>
        <p:spPr bwMode="auto">
          <a:xfrm>
            <a:off x="6781800" y="2284412"/>
            <a:ext cx="228600" cy="158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6" name="Conector recto 335"/>
          <p:cNvCxnSpPr/>
          <p:nvPr/>
        </p:nvCxnSpPr>
        <p:spPr bwMode="auto">
          <a:xfrm rot="5400000" flipH="1" flipV="1">
            <a:off x="6057900" y="1332706"/>
            <a:ext cx="1904206" cy="794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0" name="Conector recto 339"/>
          <p:cNvCxnSpPr/>
          <p:nvPr/>
        </p:nvCxnSpPr>
        <p:spPr bwMode="auto">
          <a:xfrm>
            <a:off x="1752600" y="381000"/>
            <a:ext cx="5257800" cy="158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5" name="Conector recto 344"/>
          <p:cNvCxnSpPr/>
          <p:nvPr/>
        </p:nvCxnSpPr>
        <p:spPr bwMode="auto">
          <a:xfrm>
            <a:off x="6781800" y="2892424"/>
            <a:ext cx="304800" cy="1588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7" name="Conector recto 346"/>
          <p:cNvCxnSpPr/>
          <p:nvPr/>
        </p:nvCxnSpPr>
        <p:spPr bwMode="auto">
          <a:xfrm rot="5400000" flipH="1" flipV="1">
            <a:off x="5791200" y="1599406"/>
            <a:ext cx="2590006" cy="794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9" name="Conector recto 348"/>
          <p:cNvCxnSpPr/>
          <p:nvPr/>
        </p:nvCxnSpPr>
        <p:spPr bwMode="auto">
          <a:xfrm>
            <a:off x="609600" y="304800"/>
            <a:ext cx="6477000" cy="1588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1" name="Conector recto 350"/>
          <p:cNvCxnSpPr/>
          <p:nvPr/>
        </p:nvCxnSpPr>
        <p:spPr bwMode="auto">
          <a:xfrm rot="5400000">
            <a:off x="-1218406" y="2132806"/>
            <a:ext cx="3656012" cy="1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3" name="Conector recto 362"/>
          <p:cNvCxnSpPr/>
          <p:nvPr/>
        </p:nvCxnSpPr>
        <p:spPr bwMode="auto">
          <a:xfrm rot="5400000" flipH="1" flipV="1">
            <a:off x="-304800" y="3884612"/>
            <a:ext cx="2133600" cy="1"/>
          </a:xfrm>
          <a:prstGeom prst="line">
            <a:avLst/>
          </a:prstGeom>
          <a:ln w="38100" cmpd="sng"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6" name="Conector recto 365"/>
          <p:cNvCxnSpPr/>
          <p:nvPr/>
        </p:nvCxnSpPr>
        <p:spPr bwMode="auto">
          <a:xfrm>
            <a:off x="762000" y="4942005"/>
            <a:ext cx="619267" cy="1588"/>
          </a:xfrm>
          <a:prstGeom prst="line">
            <a:avLst/>
          </a:prstGeom>
          <a:ln w="38100" cmpd="sng"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81" name="Conector recto 380"/>
          <p:cNvCxnSpPr/>
          <p:nvPr/>
        </p:nvCxnSpPr>
        <p:spPr bwMode="auto">
          <a:xfrm rot="5400000">
            <a:off x="1524000" y="3276600"/>
            <a:ext cx="762000" cy="158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84" name="Conector recto 383"/>
          <p:cNvCxnSpPr/>
          <p:nvPr/>
        </p:nvCxnSpPr>
        <p:spPr bwMode="auto">
          <a:xfrm>
            <a:off x="1285993" y="3637198"/>
            <a:ext cx="609600" cy="158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4" name="Conector recto 403"/>
          <p:cNvCxnSpPr/>
          <p:nvPr/>
        </p:nvCxnSpPr>
        <p:spPr bwMode="auto">
          <a:xfrm>
            <a:off x="8305800" y="762000"/>
            <a:ext cx="762000" cy="1588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6" name="Conector recto 405"/>
          <p:cNvCxnSpPr/>
          <p:nvPr/>
        </p:nvCxnSpPr>
        <p:spPr bwMode="auto">
          <a:xfrm rot="5400000" flipH="1" flipV="1">
            <a:off x="6057106" y="3771106"/>
            <a:ext cx="6019800" cy="1588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28" name="Conector recto 427"/>
          <p:cNvCxnSpPr/>
          <p:nvPr/>
        </p:nvCxnSpPr>
        <p:spPr bwMode="auto">
          <a:xfrm rot="10800000" flipV="1">
            <a:off x="2733793" y="6781798"/>
            <a:ext cx="6324600" cy="1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37" name="Conector recto 436"/>
          <p:cNvCxnSpPr/>
          <p:nvPr/>
        </p:nvCxnSpPr>
        <p:spPr bwMode="auto">
          <a:xfrm>
            <a:off x="2704628" y="3200400"/>
            <a:ext cx="1143002" cy="2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2" name="CuadroTexto 441"/>
          <p:cNvSpPr txBox="1"/>
          <p:nvPr/>
        </p:nvSpPr>
        <p:spPr>
          <a:xfrm rot="16200000">
            <a:off x="8688686" y="2298592"/>
            <a:ext cx="5780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rgbClr val="FF6600"/>
                </a:solidFill>
              </a:rPr>
              <a:t>EReg</a:t>
            </a:r>
            <a:endParaRPr lang="en-US" sz="1200" b="1" dirty="0">
              <a:solidFill>
                <a:srgbClr val="FF6600"/>
              </a:solidFill>
            </a:endParaRPr>
          </a:p>
        </p:txBody>
      </p:sp>
      <p:sp>
        <p:nvSpPr>
          <p:cNvPr id="445" name="CuadroTexto 444"/>
          <p:cNvSpPr txBox="1"/>
          <p:nvPr/>
        </p:nvSpPr>
        <p:spPr>
          <a:xfrm>
            <a:off x="762000" y="381000"/>
            <a:ext cx="4450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err="1">
                <a:solidFill>
                  <a:schemeClr val="accent1">
                    <a:lumMod val="75000"/>
                  </a:schemeClr>
                </a:solidFill>
              </a:rPr>
              <a:t>Clk</a:t>
            </a:r>
            <a:endParaRPr lang="en-US" sz="12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447" name="Conector recto de flecha 446"/>
          <p:cNvCxnSpPr/>
          <p:nvPr/>
        </p:nvCxnSpPr>
        <p:spPr bwMode="auto">
          <a:xfrm>
            <a:off x="1981200" y="685800"/>
            <a:ext cx="1524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9" name="Conector recto de flecha 448"/>
          <p:cNvCxnSpPr/>
          <p:nvPr/>
        </p:nvCxnSpPr>
        <p:spPr bwMode="auto">
          <a:xfrm>
            <a:off x="4315600" y="685800"/>
            <a:ext cx="1524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1" name="Conector recto de flecha 450"/>
          <p:cNvCxnSpPr/>
          <p:nvPr/>
        </p:nvCxnSpPr>
        <p:spPr bwMode="auto">
          <a:xfrm>
            <a:off x="6324600" y="685800"/>
            <a:ext cx="1524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6" name="Conector recto 455"/>
          <p:cNvCxnSpPr/>
          <p:nvPr/>
        </p:nvCxnSpPr>
        <p:spPr bwMode="auto">
          <a:xfrm>
            <a:off x="1143000" y="531812"/>
            <a:ext cx="67056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9" name="Conector recto 458"/>
          <p:cNvCxnSpPr/>
          <p:nvPr/>
        </p:nvCxnSpPr>
        <p:spPr bwMode="auto">
          <a:xfrm rot="5400000" flipH="1" flipV="1">
            <a:off x="-75406" y="2590800"/>
            <a:ext cx="4114006" cy="794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60" name="Conector recto 459"/>
          <p:cNvCxnSpPr/>
          <p:nvPr/>
        </p:nvCxnSpPr>
        <p:spPr bwMode="auto">
          <a:xfrm rot="5400000" flipH="1" flipV="1">
            <a:off x="4238829" y="608806"/>
            <a:ext cx="1524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61" name="Conector recto 460"/>
          <p:cNvCxnSpPr/>
          <p:nvPr/>
        </p:nvCxnSpPr>
        <p:spPr bwMode="auto">
          <a:xfrm rot="5400000" flipH="1" flipV="1">
            <a:off x="6247606" y="608806"/>
            <a:ext cx="1524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62" name="Conector recto 461"/>
          <p:cNvCxnSpPr/>
          <p:nvPr/>
        </p:nvCxnSpPr>
        <p:spPr bwMode="auto">
          <a:xfrm rot="5400000" flipH="1" flipV="1">
            <a:off x="7771606" y="608806"/>
            <a:ext cx="1524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63" name="Conector recto de flecha 462"/>
          <p:cNvCxnSpPr/>
          <p:nvPr/>
        </p:nvCxnSpPr>
        <p:spPr bwMode="auto">
          <a:xfrm>
            <a:off x="7848600" y="685800"/>
            <a:ext cx="1524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65" name="Conector recto de flecha 464"/>
          <p:cNvCxnSpPr/>
          <p:nvPr/>
        </p:nvCxnSpPr>
        <p:spPr bwMode="auto">
          <a:xfrm rot="10800000">
            <a:off x="1828800" y="4648200"/>
            <a:ext cx="1524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xC1">
  <a:themeElements>
    <a:clrScheme name="Solsticio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io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io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51000" t="-20000" r="2000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spDef>
      <a:spPr bwMode="auto">
        <a:noFill/>
        <a:ln w="19050">
          <a:prstDash val="sysDash"/>
          <a:tailEnd type="triangle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ln w="12700"/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>
        <a:noFill/>
      </a:spPr>
      <a:bodyPr wrap="none" rtlCol="0">
        <a:spAutoFit/>
      </a:bodyPr>
      <a:lstStyle>
        <a:defPPr>
          <a:defRPr sz="1400" dirty="0">
            <a:solidFill>
              <a:schemeClr val="accent1">
                <a:lumMod val="75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VxC1</Template>
  <TotalTime>42280</TotalTime>
  <Words>7747</Words>
  <Application>Microsoft Macintosh PowerPoint</Application>
  <PresentationFormat>Presentación en pantalla (4:3)</PresentationFormat>
  <Paragraphs>1764</Paragraphs>
  <Slides>72</Slides>
  <Notes>54</Notes>
  <HiddenSlides>1</HiddenSlides>
  <MMClips>0</MMClips>
  <ScaleCrop>false</ScaleCrop>
  <HeadingPairs>
    <vt:vector size="10" baseType="variant">
      <vt:variant>
        <vt:lpstr>Fuentes usadas</vt:lpstr>
      </vt:variant>
      <vt:variant>
        <vt:i4>15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72</vt:i4>
      </vt:variant>
      <vt:variant>
        <vt:lpstr>Presentaciones personalizadas</vt:lpstr>
      </vt:variant>
      <vt:variant>
        <vt:i4>1</vt:i4>
      </vt:variant>
    </vt:vector>
  </HeadingPairs>
  <TitlesOfParts>
    <vt:vector size="90" baseType="lpstr">
      <vt:lpstr>ＭＳ Ｐゴシック</vt:lpstr>
      <vt:lpstr>Arial</vt:lpstr>
      <vt:lpstr>Arial Black</vt:lpstr>
      <vt:lpstr>Arial Narrow</vt:lpstr>
      <vt:lpstr>Arial Rounded MT Bold</vt:lpstr>
      <vt:lpstr>Calibri</vt:lpstr>
      <vt:lpstr>Cambria Math</vt:lpstr>
      <vt:lpstr>Consolas</vt:lpstr>
      <vt:lpstr>Courier New</vt:lpstr>
      <vt:lpstr>Gill Sans MT</vt:lpstr>
      <vt:lpstr>Symbol</vt:lpstr>
      <vt:lpstr>Times</vt:lpstr>
      <vt:lpstr>Times New Roman</vt:lpstr>
      <vt:lpstr>Wingdings</vt:lpstr>
      <vt:lpstr>Wingdings 2</vt:lpstr>
      <vt:lpstr>VxC1</vt:lpstr>
      <vt:lpstr>Ecuación</vt:lpstr>
      <vt:lpstr>Tema 2: Segmentación Básica  del Procesador</vt:lpstr>
      <vt:lpstr>Objetivos</vt:lpstr>
      <vt:lpstr>Contenidos y Bibliografía</vt:lpstr>
      <vt:lpstr>Concepto de Segmentación</vt:lpstr>
      <vt:lpstr>Concepto de Segmentación</vt:lpstr>
      <vt:lpstr>Concepto de Segmentación</vt:lpstr>
      <vt:lpstr>El Símil de la Lavandería</vt:lpstr>
      <vt:lpstr>Proceso de Segmentación</vt:lpstr>
      <vt:lpstr>Proceso de Segmentación</vt:lpstr>
      <vt:lpstr>Proceso de Segmentación</vt:lpstr>
      <vt:lpstr>Diagramas Temporales: Diagrama Instrucciones/Tiempo</vt:lpstr>
      <vt:lpstr>Prestaciones de la Segmentación </vt:lpstr>
      <vt:lpstr>Prestaciones de la Segmentación </vt:lpstr>
      <vt:lpstr>Prestaciones de la Segmentación</vt:lpstr>
      <vt:lpstr>Segmentación de la Ruta de Datos</vt:lpstr>
      <vt:lpstr>Segmentación de la Ruta de Datos</vt:lpstr>
      <vt:lpstr>Segmentación de la Ruta de Datos</vt:lpstr>
      <vt:lpstr>Presentación de PowerPoint</vt:lpstr>
      <vt:lpstr>Soporte para instrucciones de Salto</vt:lpstr>
      <vt:lpstr>Cálculo de la dirección de Salto</vt:lpstr>
      <vt:lpstr>Evaluación de la condición de Salto</vt:lpstr>
      <vt:lpstr>Evaluación de la condición de Salto</vt:lpstr>
      <vt:lpstr>Presentación de PowerPoint</vt:lpstr>
      <vt:lpstr>Etapa de Lectura de Instrucción</vt:lpstr>
      <vt:lpstr>Etapa de Descodificación</vt:lpstr>
      <vt:lpstr>Etapa de Ejecución</vt:lpstr>
      <vt:lpstr>Etapa de Acceso a Memoria</vt:lpstr>
      <vt:lpstr>Etapa de Escritura en Registro</vt:lpstr>
      <vt:lpstr>Presentación de PowerPoint</vt:lpstr>
      <vt:lpstr>Segmentación de la Ruta de Datos</vt:lpstr>
      <vt:lpstr>Control del Procesador Segmentado</vt:lpstr>
      <vt:lpstr>Unidad de Control: Señales de Control RISC-V</vt:lpstr>
      <vt:lpstr>Presentación de PowerPoint</vt:lpstr>
      <vt:lpstr>Representación Gráfica de la Segmentación</vt:lpstr>
      <vt:lpstr>Prestaciones del Procesador Segmentado</vt:lpstr>
      <vt:lpstr>Prestaciones del Procesador Segmentado</vt:lpstr>
      <vt:lpstr>Introducción a los Conflictos</vt:lpstr>
      <vt:lpstr>Los Conflictos de Datos</vt:lpstr>
      <vt:lpstr>Los Conflictos de Datos</vt:lpstr>
      <vt:lpstr>Los Conflictos de Datos</vt:lpstr>
      <vt:lpstr>Los Conflictos de Datos</vt:lpstr>
      <vt:lpstr>Los Conflictos de Datos</vt:lpstr>
      <vt:lpstr>Los Conflictos de Datos</vt:lpstr>
      <vt:lpstr>Soluciones y Prestaciones</vt:lpstr>
      <vt:lpstr>Presentación de PowerPoint</vt:lpstr>
      <vt:lpstr>Lógica de Detección de Conflicto </vt:lpstr>
      <vt:lpstr>Lógica de Inserción del Ciclo de Parada</vt:lpstr>
      <vt:lpstr>Los Conflictos de Datos</vt:lpstr>
      <vt:lpstr>Conflictos de Control</vt:lpstr>
      <vt:lpstr>Conflictos de Control</vt:lpstr>
      <vt:lpstr>Conflictos de Control</vt:lpstr>
      <vt:lpstr>Conflictos de Control</vt:lpstr>
      <vt:lpstr>Análisis del Conflicto</vt:lpstr>
      <vt:lpstr>Latencia de Salto</vt:lpstr>
      <vt:lpstr>Presentación de PowerPoint</vt:lpstr>
      <vt:lpstr>Tratamiento de los Conflictos de Control</vt:lpstr>
      <vt:lpstr>Solución Conservadora (o de Urgencia) </vt:lpstr>
      <vt:lpstr>Prestaciones</vt:lpstr>
      <vt:lpstr>Alternativa: Predicción de Salto</vt:lpstr>
      <vt:lpstr>Predicción: Salto NO Efectivo</vt:lpstr>
      <vt:lpstr>Predicción: Salto NO Efectivo</vt:lpstr>
      <vt:lpstr>Conclusiones</vt:lpstr>
      <vt:lpstr>Ejemplos de Segmentación Básica</vt:lpstr>
      <vt:lpstr>Otros Modelos de Segmentación</vt:lpstr>
      <vt:lpstr>Otros Modelos de Segmentación</vt:lpstr>
      <vt:lpstr>Otros Modelos de Segmentación</vt:lpstr>
      <vt:lpstr>Otros Modelos de Segmentación</vt:lpstr>
      <vt:lpstr>Otros Modelos de Segmentación</vt:lpstr>
      <vt:lpstr>RISC vs CISC: Dos Estrategias de Diseño</vt:lpstr>
      <vt:lpstr>RISC vs CISC: Dos Estrategias de Diseño</vt:lpstr>
      <vt:lpstr>CISC vs RISC: Dos Estrategias de Diseño</vt:lpstr>
      <vt:lpstr>Presentación de PowerPoint</vt:lpstr>
      <vt:lpstr>Ruta salto</vt:lpstr>
    </vt:vector>
  </TitlesOfParts>
  <Company>DISCA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9: Sincronización de la E/S</dc:title>
  <dc:subject>Estructura de Computadores</dc:subject>
  <dc:creator>José Miguel Valiente</dc:creator>
  <cp:lastModifiedBy>ENRIQUE SALVADOR QUINTANA ORTI</cp:lastModifiedBy>
  <cp:revision>1170</cp:revision>
  <cp:lastPrinted>2012-10-22T10:58:46Z</cp:lastPrinted>
  <dcterms:created xsi:type="dcterms:W3CDTF">2012-09-18T12:09:44Z</dcterms:created>
  <dcterms:modified xsi:type="dcterms:W3CDTF">2026-01-20T11:31:53Z</dcterms:modified>
</cp:coreProperties>
</file>