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omments/modernComment_290_0.xml" ContentType="application/vnd.ms-powerpoint.comments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324_7D96761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84"/>
  </p:notesMasterIdLst>
  <p:handoutMasterIdLst>
    <p:handoutMasterId r:id="rId85"/>
  </p:handoutMasterIdLst>
  <p:sldIdLst>
    <p:sldId id="257" r:id="rId2"/>
    <p:sldId id="508" r:id="rId3"/>
    <p:sldId id="509" r:id="rId4"/>
    <p:sldId id="871" r:id="rId5"/>
    <p:sldId id="855" r:id="rId6"/>
    <p:sldId id="853" r:id="rId7"/>
    <p:sldId id="868" r:id="rId8"/>
    <p:sldId id="869" r:id="rId9"/>
    <p:sldId id="854" r:id="rId10"/>
    <p:sldId id="659" r:id="rId11"/>
    <p:sldId id="656" r:id="rId12"/>
    <p:sldId id="872" r:id="rId13"/>
    <p:sldId id="660" r:id="rId14"/>
    <p:sldId id="661" r:id="rId15"/>
    <p:sldId id="664" r:id="rId16"/>
    <p:sldId id="663" r:id="rId17"/>
    <p:sldId id="662" r:id="rId18"/>
    <p:sldId id="772" r:id="rId19"/>
    <p:sldId id="665" r:id="rId20"/>
    <p:sldId id="824" r:id="rId21"/>
    <p:sldId id="901" r:id="rId22"/>
    <p:sldId id="766" r:id="rId23"/>
    <p:sldId id="876" r:id="rId24"/>
    <p:sldId id="875" r:id="rId25"/>
    <p:sldId id="877" r:id="rId26"/>
    <p:sldId id="878" r:id="rId27"/>
    <p:sldId id="879" r:id="rId28"/>
    <p:sldId id="880" r:id="rId29"/>
    <p:sldId id="770" r:id="rId30"/>
    <p:sldId id="694" r:id="rId31"/>
    <p:sldId id="881" r:id="rId32"/>
    <p:sldId id="757" r:id="rId33"/>
    <p:sldId id="758" r:id="rId34"/>
    <p:sldId id="759" r:id="rId35"/>
    <p:sldId id="760" r:id="rId36"/>
    <p:sldId id="857" r:id="rId37"/>
    <p:sldId id="858" r:id="rId38"/>
    <p:sldId id="763" r:id="rId39"/>
    <p:sldId id="764" r:id="rId40"/>
    <p:sldId id="882" r:id="rId41"/>
    <p:sldId id="687" r:id="rId42"/>
    <p:sldId id="688" r:id="rId43"/>
    <p:sldId id="689" r:id="rId44"/>
    <p:sldId id="690" r:id="rId45"/>
    <p:sldId id="691" r:id="rId46"/>
    <p:sldId id="693" r:id="rId47"/>
    <p:sldId id="900" r:id="rId48"/>
    <p:sldId id="692" r:id="rId49"/>
    <p:sldId id="698" r:id="rId50"/>
    <p:sldId id="817" r:id="rId51"/>
    <p:sldId id="695" r:id="rId52"/>
    <p:sldId id="883" r:id="rId53"/>
    <p:sldId id="696" r:id="rId54"/>
    <p:sldId id="716" r:id="rId55"/>
    <p:sldId id="898" r:id="rId56"/>
    <p:sldId id="844" r:id="rId57"/>
    <p:sldId id="697" r:id="rId58"/>
    <p:sldId id="884" r:id="rId59"/>
    <p:sldId id="805" r:id="rId60"/>
    <p:sldId id="885" r:id="rId61"/>
    <p:sldId id="822" r:id="rId62"/>
    <p:sldId id="887" r:id="rId63"/>
    <p:sldId id="705" r:id="rId64"/>
    <p:sldId id="820" r:id="rId65"/>
    <p:sldId id="902" r:id="rId66"/>
    <p:sldId id="903" r:id="rId67"/>
    <p:sldId id="888" r:id="rId68"/>
    <p:sldId id="889" r:id="rId69"/>
    <p:sldId id="707" r:id="rId70"/>
    <p:sldId id="804" r:id="rId71"/>
    <p:sldId id="891" r:id="rId72"/>
    <p:sldId id="892" r:id="rId73"/>
    <p:sldId id="893" r:id="rId74"/>
    <p:sldId id="806" r:id="rId75"/>
    <p:sldId id="894" r:id="rId76"/>
    <p:sldId id="895" r:id="rId77"/>
    <p:sldId id="896" r:id="rId78"/>
    <p:sldId id="897" r:id="rId79"/>
    <p:sldId id="711" r:id="rId80"/>
    <p:sldId id="712" r:id="rId81"/>
    <p:sldId id="713" r:id="rId82"/>
    <p:sldId id="714" r:id="rId83"/>
  </p:sldIdLst>
  <p:sldSz cx="9144000" cy="6858000" type="screen4x3"/>
  <p:notesSz cx="6797675" cy="9856788"/>
  <p:custShowLst>
    <p:custShow name="Formato instrucciones" id="0">
      <p:sldLst/>
    </p:custShow>
    <p:custShow name="Fases de ejecución" id="1">
      <p:sldLst>
        <p:sld r:id="rId49"/>
      </p:sldLst>
    </p:custShow>
  </p:custShowLst>
  <p:defaultTextStyle>
    <a:defPPr>
      <a:defRPr lang="en-US"/>
    </a:defPPr>
    <a:lvl1pPr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4617F1-3C12-A8C1-5CC9-30EF056B68D2}" name="ENRIQUE SALVADOR QUINTANA ORTI" initials="EQ" userId="S::enquior@upv.edu.es::7c37bc33-6bb4-4897-b997-327ef8183a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697A"/>
    <a:srgbClr val="00CC00"/>
    <a:srgbClr val="CCFFCC"/>
    <a:srgbClr val="FF3300"/>
    <a:srgbClr val="FFFFFF"/>
    <a:srgbClr val="CC3300"/>
    <a:srgbClr val="9999FF"/>
    <a:srgbClr val="008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9" autoAdjust="0"/>
    <p:restoredTop sz="90959" autoAdjust="0"/>
  </p:normalViewPr>
  <p:slideViewPr>
    <p:cSldViewPr>
      <p:cViewPr varScale="1">
        <p:scale>
          <a:sx n="111" d="100"/>
          <a:sy n="111" d="100"/>
        </p:scale>
        <p:origin x="2704" y="192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3584" y="-84"/>
      </p:cViewPr>
      <p:guideLst>
        <p:guide orient="horz" pos="3105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8/10/relationships/authors" Target="author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Ventas 2019</a:t>
            </a:r>
          </a:p>
        </c:rich>
      </c:tx>
      <c:layout>
        <c:manualLayout>
          <c:xMode val="edge"/>
          <c:yMode val="edge"/>
          <c:x val="0.32728553893989287"/>
          <c:y val="8.2956468889077686E-4"/>
        </c:manualLayout>
      </c:layout>
      <c:overlay val="0"/>
    </c:title>
    <c:autoTitleDeleted val="0"/>
    <c:view3D>
      <c:rotX val="30"/>
      <c:rotY val="6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 2015</c:v>
                </c:pt>
              </c:strCache>
            </c:strRef>
          </c:tx>
          <c:explosion val="13"/>
          <c:dPt>
            <c:idx val="0"/>
            <c:bubble3D val="0"/>
            <c:explosion val="7"/>
            <c:extLst>
              <c:ext xmlns:c16="http://schemas.microsoft.com/office/drawing/2014/chart" uri="{C3380CC4-5D6E-409C-BE32-E72D297353CC}">
                <c16:uniqueId val="{00000000-13D0-49BE-855F-E4B5B09EF947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13D0-49BE-855F-E4B5B09EF947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13D0-49BE-855F-E4B5B09EF947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13D0-49BE-855F-E4B5B09EF947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13D0-49BE-855F-E4B5B09EF947}"/>
              </c:ext>
            </c:extLst>
          </c:dPt>
          <c:dLbls>
            <c:dLbl>
              <c:idx val="0"/>
              <c:layout>
                <c:manualLayout>
                  <c:x val="-0.22073638554392744"/>
                  <c:y val="-0.3034589294000013"/>
                </c:manualLayout>
              </c:layout>
              <c:tx>
                <c:rich>
                  <a:bodyPr/>
                  <a:lstStyle/>
                  <a:p>
                    <a:pPr>
                      <a:defRPr sz="14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pPr>
                    <a:fld id="{912611A5-27CC-4518-9607-EA7553A7DDD6}" type="CATEGORYNAME">
                      <a:rPr lang="en-US" sz="14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pPr>
                        <a:defRPr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[NOMBRE DE CATEGORÍA]</a:t>
                    </a:fld>
                    <a:r>
                      <a: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
53%</a:t>
                    </a:r>
                  </a:p>
                </c:rich>
              </c:tx>
              <c:spPr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13D0-49BE-855F-E4B5B09EF947}"/>
                </c:ext>
              </c:extLst>
            </c:dLbl>
            <c:dLbl>
              <c:idx val="1"/>
              <c:layout>
                <c:manualLayout>
                  <c:x val="0"/>
                  <c:y val="-9.5451608318030026E-2"/>
                </c:manualLayout>
              </c:layout>
              <c:tx>
                <c:rich>
                  <a:bodyPr/>
                  <a:lstStyle/>
                  <a:p>
                    <a:fld id="{0F7E7E93-53EA-4596-8A8A-85D01C25D7AF}" type="CATEGORYNAME">
                      <a:rPr lang="en-US"/>
                      <a:pPr/>
                      <a:t>[NOMBRE DE CATEGORÍA]</a:t>
                    </a:fld>
                    <a:r>
                      <a:rPr lang="en-US" baseline="0" dirty="0"/>
                      <a:t>
3%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3D0-49BE-855F-E4B5B09EF947}"/>
                </c:ext>
              </c:extLst>
            </c:dLbl>
            <c:dLbl>
              <c:idx val="2"/>
              <c:layout>
                <c:manualLayout>
                  <c:x val="-2.6749317863047094E-2"/>
                  <c:y val="-1.3206457452439925E-2"/>
                </c:manualLayout>
              </c:layout>
              <c:tx>
                <c:rich>
                  <a:bodyPr/>
                  <a:lstStyle/>
                  <a:p>
                    <a:fld id="{3FC97D98-6E9D-431A-A0FC-A1C889739D93}" type="CATEGORYNAME">
                      <a:rPr lang="en-US"/>
                      <a:pPr/>
                      <a:t>[NOMBRE DE CATEGORÍA]</a:t>
                    </a:fld>
                    <a:r>
                      <a:rPr lang="en-US" baseline="0" dirty="0"/>
                      <a:t>
27%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3D0-49BE-855F-E4B5B09EF947}"/>
                </c:ext>
              </c:extLst>
            </c:dLbl>
            <c:dLbl>
              <c:idx val="3"/>
              <c:layout>
                <c:manualLayout>
                  <c:x val="-5.8413564763171055E-2"/>
                  <c:y val="-7.285505858826144E-2"/>
                </c:manualLayout>
              </c:layout>
              <c:tx>
                <c:rich>
                  <a:bodyPr/>
                  <a:lstStyle/>
                  <a:p>
                    <a:fld id="{047E37C4-657E-4722-B870-FCF260874813}" type="CATEGORYNAME">
                      <a:rPr lang="en-US"/>
                      <a:pPr/>
                      <a:t>[NOMBRE DE CATEGORÍA]</a:t>
                    </a:fld>
                    <a:r>
                      <a:rPr lang="en-US" baseline="0" dirty="0"/>
                      <a:t>
16%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3D0-49BE-855F-E4B5B09EF947}"/>
                </c:ext>
              </c:extLst>
            </c:dLbl>
            <c:dLbl>
              <c:idx val="4"/>
              <c:layout>
                <c:manualLayout>
                  <c:x val="1.2555212645474904E-2"/>
                  <c:y val="-8.4439964186985766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3D0-49BE-855F-E4B5B09EF9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Hoja1!$A$2:$A$6</c:f>
              <c:strCache>
                <c:ptCount val="5"/>
                <c:pt idx="0">
                  <c:v>PCs - servidores - supercomput.</c:v>
                </c:pt>
                <c:pt idx="1">
                  <c:v>MPUs Tabletas</c:v>
                </c:pt>
                <c:pt idx="2">
                  <c:v>MPUs telefonía mobil</c:v>
                </c:pt>
                <c:pt idx="3">
                  <c:v>MPUs sistemas empotrados</c:v>
                </c:pt>
                <c:pt idx="4">
                  <c:v>Otras CPUs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56</c:v>
                </c:pt>
                <c:pt idx="1">
                  <c:v>6</c:v>
                </c:pt>
                <c:pt idx="2">
                  <c:v>26</c:v>
                </c:pt>
                <c:pt idx="3">
                  <c:v>11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3D0-49BE-855F-E4B5B09EF94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29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2C403B-A3F5-7D4F-87AD-7F4D5FD8B011}" authorId="{864617F1-3C12-A8C1-5CC9-30EF056B68D2}" created="2026-01-19T08:36:11.0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656"/>
      <ac:spMk id="52" creationId="{00000000-0000-0000-0000-000000000000}"/>
      <ac:txMk cp="21" len="167">
        <ac:context len="193" hash="2436650946"/>
      </ac:txMk>
    </ac:txMkLst>
    <p188:pos x="2222808" y="544590"/>
    <p188:txBody>
      <a:bodyPr/>
      <a:lstStyle/>
      <a:p>
        <a:r>
          <a:rPr lang="es-ES"/>
          <a:t>Para esta transparencia y la siguiente, sería interesante copiar la codificación en ensamblador del código que se usa para la traza de ejecución más adelante</a:t>
        </a:r>
      </a:p>
    </p188:txBody>
  </p188:cm>
</p188:cmLst>
</file>

<file path=ppt/comments/modernComment_324_7D9676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E65101-FAE6-B449-8014-A0D3EE9510F2}" authorId="{864617F1-3C12-A8C1-5CC9-30EF056B68D2}" created="2026-01-19T09:32:12.10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07012625" sldId="804"/>
      <ac:graphicFrameMk id="26" creationId="{D4D42079-A44B-E0C3-18CA-70EA957AE212}"/>
      <ac:tblMk/>
      <ac:tcMk rowId="10008" colId="647838279"/>
      <ac:txMk cp="0">
        <ac:context len="1" hash="13"/>
      </ac:txMk>
    </ac:txMkLst>
    <p188:pos x="8794034" y="3317961"/>
    <p188:txBody>
      <a:bodyPr/>
      <a:lstStyle/>
      <a:p>
        <a:r>
          <a:rPr lang="es-ES"/>
          <a:t>Por revisar</a:t>
        </a:r>
      </a:p>
    </p188:txBody>
  </p188:cm>
  <p188:cm id="{3E4AE150-4E85-EF48-8FFD-AE102AF4BE63}" authorId="{864617F1-3C12-A8C1-5CC9-30EF056B68D2}" created="2026-01-19T09:32:58.9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07012625" sldId="804"/>
      <ac:spMk id="36" creationId="{2CBB89AF-7AB4-75DB-A90B-FAA7B6858F19}"/>
      <ac:txMk cp="93" len="21">
        <ac:context len="115" hash="2902944941"/>
      </ac:txMk>
    </ac:txMkLst>
    <p188:pos x="2165607" y="1336070"/>
    <p188:txBody>
      <a:bodyPr/>
      <a:lstStyle/>
      <a:p>
        <a:r>
          <a:rPr lang="es-ES"/>
          <a:t>Ojo comentario sobre su necesidad o no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3842"/>
            <a:ext cx="2968663" cy="28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ctr" anchorCtr="0" compatLnSpc="1">
            <a:prstTxWarp prst="textNoShape">
              <a:avLst/>
            </a:prstTxWarp>
            <a:spAutoFit/>
          </a:bodyPr>
          <a:lstStyle>
            <a:lvl1pPr algn="l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8295" y="123842"/>
            <a:ext cx="2892660" cy="28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ctr" anchorCtr="0" compatLnSpc="1">
            <a:prstTxWarp prst="textNoShape">
              <a:avLst/>
            </a:prstTxWarp>
            <a:spAutoFit/>
          </a:bodyPr>
          <a:lstStyle>
            <a:lvl1pPr algn="r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2537"/>
            <a:ext cx="2968663" cy="282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  <a:spAutoFit/>
          </a:bodyPr>
          <a:lstStyle>
            <a:lvl1pPr algn="l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8295" y="9552537"/>
            <a:ext cx="2892660" cy="282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  <a:spAutoFit/>
          </a:bodyPr>
          <a:lstStyle>
            <a:lvl1pPr algn="r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E2AEC8A5-E10B-4D8C-B8C5-EBD3EC80F16F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49418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85.10638" units="1/cm"/>
          <inkml:channelProperty channel="Y" name="resolution" value="35.8804" units="1/cm"/>
        </inkml:channelProperties>
      </inkml:inkSource>
      <inkml:timestamp xml:id="ts0" timeString="2020-09-22T06:35:30.8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4251 11359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342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>
            <a:lvl1pPr algn="l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334" y="1"/>
            <a:ext cx="2944341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>
            <a:lvl1pPr algn="r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6625" y="739775"/>
            <a:ext cx="4926013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681477"/>
            <a:ext cx="4985772" cy="4435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4484"/>
            <a:ext cx="2944342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</a:bodyPr>
          <a:lstStyle>
            <a:lvl1pPr algn="l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334" y="9364484"/>
            <a:ext cx="2944341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</a:bodyPr>
          <a:lstStyle>
            <a:lvl1pPr algn="r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AB90BAE6-DC3E-4CE4-BA88-EF7C5446036B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888366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CA5636-1F55-41A3-BDB9-3417D041D1D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1</a:t>
            </a:fld>
            <a:endParaRPr lang="es-ES_tradnl" dirty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BA318-BD7B-47FB-B619-9739270ACA37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2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9AC87-7D63-4F94-8E57-6B73E4D6196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3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261E-0B02-C57D-6C00-19B5CEBE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3372E46B-56B4-7B15-3C9E-0F9A2B28BD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9AC87-7D63-4F94-8E57-6B73E4D6196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4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26A1675-C411-2469-F1BB-13361BFF2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359955C-475A-070B-5014-DF68B301A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7827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0CE37BF-7676-4DDC-9755-C45C9C9ACFBF}" type="slidenum">
              <a:rPr lang="es-ES_tradnl" smtClean="0"/>
              <a:pPr>
                <a:defRPr/>
              </a:pPr>
              <a:t>32</a:t>
            </a:fld>
            <a:endParaRPr lang="es-ES_trad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33</a:t>
            </a:fld>
            <a:endParaRPr lang="es-ES_tradnl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0CE37BF-7676-4DDC-9755-C45C9C9ACFBF}" type="slidenum">
              <a:rPr lang="es-ES_tradnl" smtClean="0"/>
              <a:pPr>
                <a:defRPr/>
              </a:pPr>
              <a:t>34</a:t>
            </a:fld>
            <a:endParaRPr lang="es-ES_trad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0CE37BF-7676-4DDC-9755-C45C9C9ACFBF}" type="slidenum">
              <a:rPr lang="es-ES_tradnl" smtClean="0"/>
              <a:pPr>
                <a:defRPr/>
              </a:pPr>
              <a:t>35</a:t>
            </a:fld>
            <a:endParaRPr lang="es-ES_tradn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0CE37BF-7676-4DDC-9755-C45C9C9ACFBF}" type="slidenum">
              <a:rPr lang="es-ES_tradnl" smtClean="0"/>
              <a:pPr>
                <a:defRPr/>
              </a:pPr>
              <a:t>36</a:t>
            </a:fld>
            <a:endParaRPr lang="es-ES_tradn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0CE37BF-7676-4DDC-9755-C45C9C9ACFBF}" type="slidenum">
              <a:rPr lang="es-ES_tradnl" smtClean="0"/>
              <a:pPr>
                <a:defRPr/>
              </a:pPr>
              <a:t>37</a:t>
            </a:fld>
            <a:endParaRPr lang="es-ES_tradn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51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69659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/>
          <p:nvPr/>
        </p:nvSpPr>
        <p:spPr>
          <a:xfrm>
            <a:off x="755576" y="141277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5" name="Oval 8"/>
          <p:cNvSpPr/>
          <p:nvPr/>
        </p:nvSpPr>
        <p:spPr>
          <a:xfrm>
            <a:off x="971550" y="12684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5608" y="435936"/>
            <a:ext cx="7406640" cy="1472184"/>
          </a:xfrm>
        </p:spPr>
        <p:txBody>
          <a:bodyPr anchor="b"/>
          <a:lstStyle>
            <a:lvl1pPr algn="l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03648" y="2636912"/>
            <a:ext cx="7406640" cy="1752600"/>
          </a:xfrm>
        </p:spPr>
        <p:txBody>
          <a:bodyPr>
            <a:normAutofit/>
          </a:bodyPr>
          <a:lstStyle>
            <a:lvl1pPr marL="73152" indent="0" algn="l" latinLnBrk="0">
              <a:buNone/>
              <a:defRPr lang="es-ES" sz="24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235F0-53CE-465E-8D3A-9DC1B1486A06}" type="datetime1">
              <a:rPr lang="es-ES" smtClean="0"/>
              <a:pPr>
                <a:defRPr/>
              </a:pPr>
              <a:t>19/1/26</a:t>
            </a:fld>
            <a:endParaRPr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94CD1-4EBB-4CC9-A43D-A4D61A4E6E6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buClr>
                <a:schemeClr val="accent2">
                  <a:lumMod val="75000"/>
                </a:schemeClr>
              </a:buClr>
              <a:defRPr/>
            </a:lvl1pPr>
            <a:lvl2pPr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  <a:defRPr/>
            </a:lvl2pPr>
          </a:lstStyle>
          <a:p>
            <a:pPr lvl="0"/>
            <a:r>
              <a:rPr lang="es-ES" noProof="0" dirty="0"/>
              <a:t>Haga clic para modificar el estilo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fld id="{1069CC27-7017-486F-93F9-D5B463D0B764}" type="datetime1">
              <a:rPr lang="es-ES" smtClean="0"/>
              <a:pPr>
                <a:defRPr/>
              </a:pPr>
              <a:t>19/1/26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/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 latinLnBrk="0">
              <a:lnSpc>
                <a:spcPts val="4500"/>
              </a:lnSpc>
              <a:buNone/>
              <a:defRPr lang="es-ES"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100138"/>
            <a:ext cx="6400800" cy="1509712"/>
          </a:xfrm>
        </p:spPr>
        <p:txBody>
          <a:bodyPr anchor="b"/>
          <a:lstStyle>
            <a:lvl1pPr marL="27432" indent="0" latinLnBrk="0">
              <a:lnSpc>
                <a:spcPts val="2300"/>
              </a:lnSpc>
              <a:spcBef>
                <a:spcPts val="0"/>
              </a:spcBef>
              <a:buNone/>
              <a:defRPr lang="es-ES"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49D96-D3F7-464B-AE22-5BC30077CC73}" type="datetime1">
              <a:rPr lang="es-ES" smtClean="0"/>
              <a:pPr>
                <a:defRPr/>
              </a:pPr>
              <a:t>19/1/26</a:t>
            </a:fld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9BF12-8ABE-4E61-9E56-D7A65AFDF1B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ido 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e 8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9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8" name="Rectangle 11"/>
          <p:cNvSpPr/>
          <p:nvPr/>
        </p:nvSpPr>
        <p:spPr>
          <a:xfrm>
            <a:off x="539750" y="0"/>
            <a:ext cx="86248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136904" cy="93610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88432" cy="4824536"/>
          </a:xfrm>
        </p:spPr>
        <p:txBody>
          <a:bodyPr>
            <a:normAutofit/>
          </a:bodyPr>
          <a:lstStyle>
            <a:lvl1pPr latinLnBrk="0"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032" y="1340768"/>
            <a:ext cx="4001648" cy="4824536"/>
          </a:xfrm>
        </p:spPr>
        <p:txBody>
          <a:bodyPr>
            <a:normAutofit/>
          </a:bodyPr>
          <a:lstStyle>
            <a:lvl1pPr algn="l" rtl="0" eaLnBrk="0" fontAlgn="base" latinLnBrk="0" hangingPunct="0">
              <a:spcAft>
                <a:spcPct val="0"/>
              </a:spcAft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7DEBA-46E8-4090-8DBD-6334ED08EC11}" type="datetime1">
              <a:rPr lang="es-ES" smtClean="0"/>
              <a:pPr>
                <a:defRPr/>
              </a:pPr>
              <a:t>19/1/26</a:t>
            </a:fld>
            <a:endParaRPr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B5AE4-A292-4B6C-BA7D-67E7BB52BE0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B0E74-F7AB-4C11-B164-731583444FAF}" type="datetime1">
              <a:rPr lang="es-ES" smtClean="0"/>
              <a:pPr>
                <a:defRPr/>
              </a:pPr>
              <a:t>19/1/26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35083-A155-4028-8A67-2E61E721E30B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24627-BD8E-4DC4-8228-A63DC6655C26}" type="datetime1">
              <a:rPr lang="es-ES" smtClean="0"/>
              <a:pPr>
                <a:defRPr/>
              </a:pPr>
              <a:t>19/1/26</a:t>
            </a:fld>
            <a:endParaRPr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512A6-B289-4C6F-A5FC-D4B27A6C4E6A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73E27-0EC0-4410-8E63-208E224DAD01}" type="datetime1">
              <a:rPr lang="es-ES" smtClean="0"/>
              <a:pPr>
                <a:defRPr/>
              </a:pPr>
              <a:t>19/1/26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F2BF9-80B0-46AE-B211-BBDCC93C2B4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C3E5-1D71-42B6-A49B-3D9C371461FA}" type="datetime1">
              <a:rPr lang="es-ES" smtClean="0"/>
              <a:pPr>
                <a:defRPr/>
              </a:pPr>
              <a:t>19/1/26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DEDAF-2978-4C4D-95C2-0057A248641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logoDISCA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6188" y="5516563"/>
            <a:ext cx="14366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 userDrawn="1"/>
        </p:nvSpPr>
        <p:spPr>
          <a:xfrm>
            <a:off x="755650" y="115888"/>
            <a:ext cx="7772400" cy="16764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  <a:endParaRPr lang="ca-ES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 userDrawn="1"/>
        </p:nvSpPr>
        <p:spPr>
          <a:xfrm>
            <a:off x="2565400" y="1844675"/>
            <a:ext cx="4152900" cy="904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Grado de Ingeniería Informática</a:t>
            </a:r>
          </a:p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ETSINF</a:t>
            </a:r>
          </a:p>
        </p:txBody>
      </p:sp>
      <p:sp>
        <p:nvSpPr>
          <p:cNvPr id="7" name="Oval 7"/>
          <p:cNvSpPr/>
          <p:nvPr userDrawn="1"/>
        </p:nvSpPr>
        <p:spPr>
          <a:xfrm>
            <a:off x="204788" y="1844675"/>
            <a:ext cx="1271587" cy="12700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Pie 6"/>
          <p:cNvSpPr/>
          <p:nvPr userDrawn="1"/>
        </p:nvSpPr>
        <p:spPr>
          <a:xfrm>
            <a:off x="-1422400" y="-1295400"/>
            <a:ext cx="2844800" cy="25908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9" name="Oval 7"/>
          <p:cNvSpPr/>
          <p:nvPr userDrawn="1"/>
        </p:nvSpPr>
        <p:spPr>
          <a:xfrm>
            <a:off x="7440613" y="1376363"/>
            <a:ext cx="1452562" cy="1450975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" name="Donut 10"/>
          <p:cNvSpPr/>
          <p:nvPr userDrawn="1"/>
        </p:nvSpPr>
        <p:spPr>
          <a:xfrm rot="2315675">
            <a:off x="7097228" y="2075521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 userDrawn="1"/>
        </p:nvSpPr>
        <p:spPr>
          <a:xfrm rot="2315675">
            <a:off x="3025756" y="5560002"/>
            <a:ext cx="560076" cy="548587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11 Arco de bloque"/>
          <p:cNvSpPr/>
          <p:nvPr userDrawn="1"/>
        </p:nvSpPr>
        <p:spPr>
          <a:xfrm rot="5400000">
            <a:off x="-1404144" y="1988344"/>
            <a:ext cx="2808287" cy="2809876"/>
          </a:xfrm>
          <a:prstGeom prst="blockArc">
            <a:avLst>
              <a:gd name="adj1" fmla="val 10800000"/>
              <a:gd name="adj2" fmla="val 21582511"/>
              <a:gd name="adj3" fmla="val 0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3" name="12 Arco de bloque"/>
          <p:cNvSpPr/>
          <p:nvPr userDrawn="1"/>
        </p:nvSpPr>
        <p:spPr>
          <a:xfrm rot="5400000">
            <a:off x="6696075" y="4410075"/>
            <a:ext cx="4895850" cy="4895850"/>
          </a:xfrm>
          <a:prstGeom prst="blockArc">
            <a:avLst>
              <a:gd name="adj1" fmla="val 5434997"/>
              <a:gd name="adj2" fmla="val 10779070"/>
              <a:gd name="adj3" fmla="val 78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5616" y="3356992"/>
            <a:ext cx="7412620" cy="1676400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s-ES"/>
              <a:t>Clic para editar estilo título patrón</a:t>
            </a:r>
            <a:endParaRPr lang="ca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7"/>
          <p:cNvSpPr/>
          <p:nvPr userDrawn="1"/>
        </p:nvSpPr>
        <p:spPr>
          <a:xfrm>
            <a:off x="250825" y="5013325"/>
            <a:ext cx="1703388" cy="17018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539750" y="0"/>
            <a:ext cx="860425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s-ES" noProof="0" dirty="0"/>
              <a:t>Haga clic el estilo de título del patrón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 noProof="0" dirty="0"/>
              <a:t>Haga clic para modificar los estilos de título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  <a:p>
            <a:pPr lvl="5"/>
            <a:r>
              <a:rPr lang="es-ES" noProof="0" dirty="0"/>
              <a:t>Sexto nivel</a:t>
            </a:r>
          </a:p>
          <a:p>
            <a:pPr lvl="6"/>
            <a:r>
              <a:rPr lang="es-ES" noProof="0" dirty="0"/>
              <a:t>Séptimo nivel</a:t>
            </a:r>
          </a:p>
          <a:p>
            <a:pPr lvl="7"/>
            <a:r>
              <a:rPr lang="es-ES" noProof="0" dirty="0"/>
              <a:t>Octavo nivel</a:t>
            </a:r>
          </a:p>
          <a:p>
            <a:pPr lvl="8"/>
            <a:r>
              <a:rPr lang="es-ES" noProof="0" dirty="0"/>
              <a:t>Noveno nivel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635375" y="6529388"/>
            <a:ext cx="2133600" cy="328612"/>
          </a:xfrm>
          <a:prstGeom prst="rect">
            <a:avLst/>
          </a:prstGeom>
        </p:spPr>
        <p:txBody>
          <a:bodyPr anchor="b"/>
          <a:lstStyle>
            <a:lvl1pPr algn="r"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  <a:satMod val="200000"/>
                  </a:schemeClr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D3CC5109-EACF-4D29-A965-72F8EF4B326C}" type="datetime1">
              <a:rPr lang="es-ES" smtClean="0"/>
              <a:pPr>
                <a:defRPr/>
              </a:pPr>
              <a:t>19/1/26</a:t>
            </a:fld>
            <a:endParaRPr lang="es-E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95963" y="6529388"/>
            <a:ext cx="2895600" cy="328612"/>
          </a:xfrm>
          <a:prstGeom prst="rect">
            <a:avLst/>
          </a:prstGeom>
        </p:spPr>
        <p:txBody>
          <a:bodyPr anchor="b"/>
          <a:lstStyle>
            <a:lvl1pPr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r>
              <a:rPr lang="es-ES"/>
              <a:t>Curso 2011-2012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lvl1pPr algn="ctr" latinLnBrk="0">
              <a:buFont typeface="Wingdings" pitchFamily="48" charset="2"/>
              <a:buNone/>
              <a:defRPr lang="es-ES" sz="10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9F24CC15-B2D5-4EA3-B498-48A14C7038C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539750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5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13 Rectángulo"/>
          <p:cNvSpPr/>
          <p:nvPr userDrawn="1"/>
        </p:nvSpPr>
        <p:spPr>
          <a:xfrm rot="16200000">
            <a:off x="-799306" y="5796756"/>
            <a:ext cx="1860550" cy="261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48" charset="2"/>
              <a:buNone/>
              <a:defRPr/>
            </a:pPr>
            <a:r>
              <a:rPr lang="es-ES" sz="11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s-ES" sz="32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9pPr>
    </p:titleStyle>
    <p:bodyStyle>
      <a:lvl1pPr marL="365125" indent="-282575" algn="l" rtl="0" eaLnBrk="0" fontAlgn="base" hangingPunct="0">
        <a:lnSpc>
          <a:spcPts val="3000"/>
        </a:lnSpc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lnSpc>
          <a:spcPts val="3000"/>
        </a:lnSpc>
        <a:spcBef>
          <a:spcPts val="550"/>
        </a:spcBef>
        <a:spcAft>
          <a:spcPct val="0"/>
        </a:spcAft>
        <a:buClr>
          <a:srgbClr val="C58D01"/>
        </a:buClr>
        <a:buSzPct val="85000"/>
        <a:buFont typeface="Wingdings" pitchFamily="2" charset="2"/>
        <a:buChar char="ü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lnSpc>
          <a:spcPts val="2800"/>
        </a:lnSpc>
        <a:spcBef>
          <a:spcPct val="20000"/>
        </a:spcBef>
        <a:spcAft>
          <a:spcPct val="0"/>
        </a:spcAft>
        <a:buFont typeface="Wingdings 2" pitchFamily="18" charset="2"/>
        <a:buChar char=""/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90_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iscv.github.io/riscv-isa-manual/snapshot/unprivileged/" TargetMode="External"/><Relationship Id="rId2" Type="http://schemas.openxmlformats.org/officeDocument/2006/relationships/hyperlink" Target="https://riscv.org/specifications/ratified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324_7D967611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00113" y="3068638"/>
            <a:ext cx="7772400" cy="1676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_tradnl" noProof="1">
                <a:solidFill>
                  <a:schemeClr val="tx2">
                    <a:satMod val="130000"/>
                  </a:schemeClr>
                </a:solidFill>
              </a:rPr>
              <a:t>Tema 1:  El procesador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A85F36-A8CB-45D3-98A3-A5C30F7AB61A}"/>
              </a:ext>
            </a:extLst>
          </p:cNvPr>
          <p:cNvSpPr txBox="1"/>
          <p:nvPr/>
        </p:nvSpPr>
        <p:spPr>
          <a:xfrm>
            <a:off x="4479634" y="5301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b="1" noProof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Contextualizar la asignatura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Conocer el contexto de la arquitectura RISC-V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Conocer los aspectos más generales de la arquitectura RISC-V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Aprender las instrucciones del procesador</a:t>
            </a: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Conocer el diseño de la ruta de datos de un procesador monociclo basada en multiplexores</a:t>
            </a: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Conocer el diseño de la unidad de control del procesador</a:t>
            </a:r>
          </a:p>
        </p:txBody>
      </p:sp>
      <p:sp>
        <p:nvSpPr>
          <p:cNvPr id="9218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2CEDC467-8F65-4314-9FB4-CB8A823609FB}" type="slidenum">
              <a:rPr lang="es-ES_tradnl" noProof="1" smtClean="0"/>
              <a:pPr/>
              <a:t>2</a:t>
            </a:fld>
            <a:endParaRPr lang="es-ES_tradnl" noProof="1"/>
          </a:p>
        </p:txBody>
      </p:sp>
      <p:sp>
        <p:nvSpPr>
          <p:cNvPr id="7" name="Cerrar llave 6"/>
          <p:cNvSpPr/>
          <p:nvPr/>
        </p:nvSpPr>
        <p:spPr bwMode="auto">
          <a:xfrm>
            <a:off x="7998023" y="1295400"/>
            <a:ext cx="457200" cy="1752600"/>
          </a:xfrm>
          <a:prstGeom prst="rightBrace">
            <a:avLst/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 rot="16200000">
            <a:off x="7638690" y="1999890"/>
            <a:ext cx="19408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Introductorio (Tema 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9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12787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Contenido y bibliografía</a:t>
            </a:r>
          </a:p>
        </p:txBody>
      </p:sp>
      <p:sp>
        <p:nvSpPr>
          <p:cNvPr id="13315" name="Rectangle 10"/>
          <p:cNvSpPr>
            <a:spLocks noGrp="1" noChangeArrowheads="1"/>
          </p:cNvSpPr>
          <p:nvPr>
            <p:ph idx="1"/>
          </p:nvPr>
        </p:nvSpPr>
        <p:spPr>
          <a:xfrm>
            <a:off x="609601" y="687388"/>
            <a:ext cx="8534400" cy="5256212"/>
          </a:xfrm>
        </p:spPr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1 – Arquitectura RISC-V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Introducción y Definición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Carácterísticas básicas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Ejemplo de ejecución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2 – La ruta de datos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Diseño de ruta de datos básica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3 – La unidad de control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Diseño de unidad de control</a:t>
            </a:r>
          </a:p>
          <a:p>
            <a:pPr lvl="2">
              <a:buNone/>
            </a:pPr>
            <a:endParaRPr lang="es-ES_tradnl" sz="1600" noProof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s-ES_tradnl" sz="16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Bibliografía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: Patterson, D.A., Hennessy, J.L., “Computer Organizationand Design RISC-V Edition: The Hardware-Software Interface,” 2ª edición, Ed. MK, 2020</a:t>
            </a:r>
          </a:p>
          <a:p>
            <a:pPr lvl="1"/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2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35E7AC4-CF51-4D8E-9049-04CC0E2A541C}" type="slidenum">
              <a:rPr lang="es-ES_tradnl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errar llave 5"/>
          <p:cNvSpPr/>
          <p:nvPr/>
        </p:nvSpPr>
        <p:spPr bwMode="auto">
          <a:xfrm>
            <a:off x="4788024" y="838200"/>
            <a:ext cx="241176" cy="1676400"/>
          </a:xfrm>
          <a:prstGeom prst="rightBrace">
            <a:avLst>
              <a:gd name="adj1" fmla="val 8333"/>
              <a:gd name="adj2" fmla="val 51001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425868" y="1447800"/>
            <a:ext cx="1228221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Introductorio </a:t>
            </a:r>
          </a:p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(Tema 0)</a:t>
            </a:r>
          </a:p>
        </p:txBody>
      </p:sp>
      <p:cxnSp>
        <p:nvCxnSpPr>
          <p:cNvPr id="9" name="Conector recto 8"/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ADD9-A1AB-B09D-1A97-03642C9C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9">
            <a:extLst>
              <a:ext uri="{FF2B5EF4-FFF2-40B4-BE49-F238E27FC236}">
                <a16:creationId xmlns:a16="http://schemas.microsoft.com/office/drawing/2014/main" id="{07167AAB-52B2-6D26-F124-E535BC01B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12787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1 - Arquitectura RISC-V: Introducción</a:t>
            </a:r>
          </a:p>
        </p:txBody>
      </p:sp>
      <p:sp>
        <p:nvSpPr>
          <p:cNvPr id="10242" name="Rectangle 4">
            <a:extLst>
              <a:ext uri="{FF2B5EF4-FFF2-40B4-BE49-F238E27FC236}">
                <a16:creationId xmlns:a16="http://schemas.microsoft.com/office/drawing/2014/main" id="{13BF09FE-0582-AD92-DC5C-3349568BAA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35E7AC4-CF51-4D8E-9049-04CC0E2A541C}" type="slidenum">
              <a:rPr lang="es-ES_tradnl" sz="900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s-ES_tradnl" sz="9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contenido 15">
            <a:extLst>
              <a:ext uri="{FF2B5EF4-FFF2-40B4-BE49-F238E27FC236}">
                <a16:creationId xmlns:a16="http://schemas.microsoft.com/office/drawing/2014/main" id="{A0416C59-BAEB-811B-BA80-5A112E38E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3733800"/>
            <a:ext cx="4955232" cy="2971800"/>
          </a:xfrm>
        </p:spPr>
        <p:txBody>
          <a:bodyPr/>
          <a:lstStyle/>
          <a:p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Componentes básicos computador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Procesador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Entrada/Salida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Interconexión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F1B113-FDE5-1B75-3495-1A000317D485}"/>
              </a:ext>
            </a:extLst>
          </p:cNvPr>
          <p:cNvSpPr txBox="1">
            <a:spLocks/>
          </p:cNvSpPr>
          <p:nvPr/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algn="ctr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itchFamily="48" charset="2"/>
              <a:buNone/>
              <a:defRPr lang="es-ES" sz="10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  <a:cs typeface="+mn-cs"/>
              </a:defRPr>
            </a:lvl1pPr>
            <a:lvl2pPr marL="4572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A7699608-B574-4B82-8EEF-626F712CB985}" type="slidenum">
              <a:rPr lang="es-ES_tradnl" sz="900" noProof="1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</a:t>
            </a:fld>
            <a:endParaRPr lang="es-ES_tradnl" sz="9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A6B5FCE2-F43D-F345-5D92-B9F5C5036F0F}"/>
              </a:ext>
            </a:extLst>
          </p:cNvPr>
          <p:cNvSpPr/>
          <p:nvPr/>
        </p:nvSpPr>
        <p:spPr bwMode="auto">
          <a:xfrm>
            <a:off x="4953000" y="1447800"/>
            <a:ext cx="1143000" cy="1066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Procesador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D8072E3C-91EE-C606-E95E-CA624F907467}"/>
              </a:ext>
            </a:extLst>
          </p:cNvPr>
          <p:cNvSpPr/>
          <p:nvPr/>
        </p:nvSpPr>
        <p:spPr bwMode="auto">
          <a:xfrm>
            <a:off x="7543800" y="1447800"/>
            <a:ext cx="1143000" cy="1066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2A1E8F6B-E14F-2C75-DB7A-E5C48B4AB2EB}"/>
              </a:ext>
            </a:extLst>
          </p:cNvPr>
          <p:cNvSpPr/>
          <p:nvPr/>
        </p:nvSpPr>
        <p:spPr bwMode="auto">
          <a:xfrm>
            <a:off x="6248400" y="3581400"/>
            <a:ext cx="1143000" cy="1066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/ Salida</a:t>
            </a:r>
          </a:p>
        </p:txBody>
      </p:sp>
      <p:sp>
        <p:nvSpPr>
          <p:cNvPr id="12" name="Flecha izquierda y derecha 11">
            <a:extLst>
              <a:ext uri="{FF2B5EF4-FFF2-40B4-BE49-F238E27FC236}">
                <a16:creationId xmlns:a16="http://schemas.microsoft.com/office/drawing/2014/main" id="{5D94EC01-2CD1-A709-E09A-7AC8ABC0E220}"/>
              </a:ext>
            </a:extLst>
          </p:cNvPr>
          <p:cNvSpPr/>
          <p:nvPr/>
        </p:nvSpPr>
        <p:spPr bwMode="auto">
          <a:xfrm>
            <a:off x="4953000" y="2743200"/>
            <a:ext cx="3810000" cy="609600"/>
          </a:xfrm>
          <a:prstGeom prst="leftRight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 de interconexión</a:t>
            </a:r>
          </a:p>
        </p:txBody>
      </p:sp>
      <p:sp>
        <p:nvSpPr>
          <p:cNvPr id="13" name="Flecha arriba y abajo 12">
            <a:extLst>
              <a:ext uri="{FF2B5EF4-FFF2-40B4-BE49-F238E27FC236}">
                <a16:creationId xmlns:a16="http://schemas.microsoft.com/office/drawing/2014/main" id="{5EE65220-1625-4C21-EA86-910F22FC441C}"/>
              </a:ext>
            </a:extLst>
          </p:cNvPr>
          <p:cNvSpPr/>
          <p:nvPr/>
        </p:nvSpPr>
        <p:spPr bwMode="auto">
          <a:xfrm>
            <a:off x="5410200" y="2514600"/>
            <a:ext cx="304800" cy="381000"/>
          </a:xfrm>
          <a:prstGeom prst="upDown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 arriba y abajo 13">
            <a:extLst>
              <a:ext uri="{FF2B5EF4-FFF2-40B4-BE49-F238E27FC236}">
                <a16:creationId xmlns:a16="http://schemas.microsoft.com/office/drawing/2014/main" id="{50D6248F-7983-90B9-CEB3-02DB81DFD3D2}"/>
              </a:ext>
            </a:extLst>
          </p:cNvPr>
          <p:cNvSpPr/>
          <p:nvPr/>
        </p:nvSpPr>
        <p:spPr bwMode="auto">
          <a:xfrm>
            <a:off x="8001000" y="2514600"/>
            <a:ext cx="304800" cy="381000"/>
          </a:xfrm>
          <a:prstGeom prst="upDown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lecha arriba y abajo 14">
            <a:extLst>
              <a:ext uri="{FF2B5EF4-FFF2-40B4-BE49-F238E27FC236}">
                <a16:creationId xmlns:a16="http://schemas.microsoft.com/office/drawing/2014/main" id="{AEA23F66-C379-77AA-91C3-C0A27D3C06AF}"/>
              </a:ext>
            </a:extLst>
          </p:cNvPr>
          <p:cNvSpPr/>
          <p:nvPr/>
        </p:nvSpPr>
        <p:spPr bwMode="auto">
          <a:xfrm>
            <a:off x="6705600" y="3200400"/>
            <a:ext cx="304800" cy="381000"/>
          </a:xfrm>
          <a:prstGeom prst="upDown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B2F66F5-A4BB-8CE3-6A4A-F662C922B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66800"/>
            <a:ext cx="2743200" cy="2743200"/>
          </a:xfrm>
          <a:prstGeom prst="rect">
            <a:avLst/>
          </a:prstGeom>
        </p:spPr>
      </p:pic>
      <p:sp>
        <p:nvSpPr>
          <p:cNvPr id="17" name="Flecha a la derecha con bandas 16">
            <a:extLst>
              <a:ext uri="{FF2B5EF4-FFF2-40B4-BE49-F238E27FC236}">
                <a16:creationId xmlns:a16="http://schemas.microsoft.com/office/drawing/2014/main" id="{CD48609E-5D08-BFC0-E159-2CC3F334B3E6}"/>
              </a:ext>
            </a:extLst>
          </p:cNvPr>
          <p:cNvSpPr/>
          <p:nvPr/>
        </p:nvSpPr>
        <p:spPr bwMode="auto">
          <a:xfrm>
            <a:off x="3733800" y="2286000"/>
            <a:ext cx="762000" cy="609600"/>
          </a:xfrm>
          <a:prstGeom prst="stripedRigh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286101B-EBDF-36BD-39F3-8DC07DCD8279}"/>
              </a:ext>
            </a:extLst>
          </p:cNvPr>
          <p:cNvSpPr txBox="1"/>
          <p:nvPr/>
        </p:nvSpPr>
        <p:spPr>
          <a:xfrm>
            <a:off x="1142142" y="6169223"/>
            <a:ext cx="7273145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6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RISC-V seleccionada como base de aprendizaje en la asignatura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7D2CF03-DCEE-0368-D881-A7FAD4C01FCD}"/>
              </a:ext>
            </a:extLst>
          </p:cNvPr>
          <p:cNvSpPr txBox="1"/>
          <p:nvPr/>
        </p:nvSpPr>
        <p:spPr>
          <a:xfrm>
            <a:off x="5105400" y="4953000"/>
            <a:ext cx="3829159" cy="10402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Concepto de programa almacenado:</a:t>
            </a:r>
          </a:p>
          <a:p>
            <a:pPr lvl="1" algn="l">
              <a:buFontTx/>
              <a:buChar char="-"/>
            </a:pPr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 instrucciones se representan como números</a:t>
            </a:r>
          </a:p>
          <a:p>
            <a:pPr lvl="1" algn="l">
              <a:buFontTx/>
              <a:buChar char="-"/>
            </a:pPr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programas son almacenados en memoria para ser leídos o escritos también como números</a:t>
            </a:r>
          </a:p>
          <a:p>
            <a:pPr algn="l">
              <a:buFontTx/>
              <a:buChar char="-"/>
            </a:pPr>
            <a:endParaRPr lang="es-ES_tradnl" sz="1100" noProof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72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Introducción: Tipos de computadores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B5AE4-A292-4B6C-BA7D-67E7BB52BE03}" type="slidenum">
              <a:rPr lang="es-ES_tradnl" noProof="1" smtClean="0"/>
              <a:pPr>
                <a:defRPr/>
              </a:pPr>
              <a:t>5</a:t>
            </a:fld>
            <a:endParaRPr lang="es-ES_tradnl" noProof="1"/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130842"/>
              </p:ext>
            </p:extLst>
          </p:nvPr>
        </p:nvGraphicFramePr>
        <p:xfrm>
          <a:off x="848188" y="1124744"/>
          <a:ext cx="7920880" cy="3947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215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0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Ancho </a:t>
                      </a:r>
                    </a:p>
                    <a:p>
                      <a:r>
                        <a:rPr lang="es-ES_tradnl" sz="10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Palabra (bits)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Supercomputadores</a:t>
                      </a:r>
                      <a:endParaRPr lang="es-ES_tradnl" sz="1100" b="1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 alta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potencia de cálculo. </a:t>
                      </a:r>
                      <a:endParaRPr lang="es-ES_tradnl" sz="11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64, 128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Extremadamente 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Gestión en Corporaciones,  Gobiernos,</a:t>
                      </a:r>
                    </a:p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Aplicaciones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computación, masiva, </a:t>
                      </a:r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Centros de investigación.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Estaciones de trabajo</a:t>
                      </a:r>
                      <a:endParaRPr lang="es-ES_tradnl" sz="1100" b="1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Diseño, simulación,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control: </a:t>
                      </a:r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Empresas, Universidades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Portátiles</a:t>
                      </a:r>
                    </a:p>
                    <a:p>
                      <a:endParaRPr lang="es-ES_tradnl" sz="1100" b="1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Alta-Media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</a:t>
                      </a:r>
                    </a:p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Informática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 general</a:t>
                      </a:r>
                    </a:p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Computadores personales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Tabletas</a:t>
                      </a:r>
                      <a:endParaRPr lang="es-ES_tradnl" sz="1100" b="1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endParaRPr lang="es-ES_tradnl" sz="11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Informática personal</a:t>
                      </a:r>
                    </a:p>
                    <a:p>
                      <a:endParaRPr lang="es-ES_tradnl" sz="11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Sistemas empotrados</a:t>
                      </a:r>
                      <a:endParaRPr lang="es-ES_tradnl" sz="1100" b="1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Media-Alta.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16, 32, 64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</a:t>
                      </a:r>
                    </a:p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Sistemas empotrados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</a:t>
                      </a:r>
                    </a:p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Comunicaciones (routers, switches).  Electrodomésticos,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automoción, periféricos, sistemas industriales,…</a:t>
                      </a:r>
                      <a:endParaRPr lang="es-ES_tradnl" sz="11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Teléfonos</a:t>
                      </a:r>
                      <a:endParaRPr lang="es-ES_tradnl" sz="1100" b="1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Media-Baja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16, 32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Extremadamente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Teléfonos móviles (Smartphones)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69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Introducción: El mercado de los procesadores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z="900" noProof="1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6</a:t>
            </a:fld>
            <a:endParaRPr lang="es-ES_tradnl" sz="9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http://www.icinsights.com/files/images/mr15sec11fig1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 noProof="1"/>
          </a:p>
        </p:txBody>
      </p:sp>
      <p:sp>
        <p:nvSpPr>
          <p:cNvPr id="6" name="AutoShape 4" descr="http://www.icinsights.com/files/images/mr15sec11fig1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 sz="1800" noProof="1">
              <a:cs typeface="Arial" panose="020B0604020202020204" pitchFamily="34" charset="0"/>
            </a:endParaRPr>
          </a:p>
        </p:txBody>
      </p:sp>
      <p:sp>
        <p:nvSpPr>
          <p:cNvPr id="8" name="AutoShape 6" descr="http://www.icinsights.com/files/images/mr15sec11fig1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 sz="1800" noProof="1">
              <a:cs typeface="Arial" panose="020B0604020202020204" pitchFamily="34" charset="0"/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1470403" y="6299447"/>
            <a:ext cx="540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Todo procesador se define de acuerdo con una </a:t>
            </a:r>
            <a:r>
              <a:rPr lang="es-ES_tradnl" sz="1400" b="1" noProof="1">
                <a:solidFill>
                  <a:srgbClr val="FF0000"/>
                </a:solidFill>
                <a:cs typeface="Arial" panose="020B0604020202020204" pitchFamily="34" charset="0"/>
              </a:rPr>
              <a:t>ARQUITECTURA</a:t>
            </a:r>
          </a:p>
        </p:txBody>
      </p:sp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3904737914"/>
              </p:ext>
            </p:extLst>
          </p:nvPr>
        </p:nvGraphicFramePr>
        <p:xfrm>
          <a:off x="1091133" y="1099723"/>
          <a:ext cx="7005691" cy="489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1243418" y="5805264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MPU: Microprocessor Unit</a:t>
            </a:r>
            <a:endParaRPr lang="es-ES_tradnl" sz="1400" b="1" noProof="1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99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Introducción: Arquitectura</a:t>
            </a:r>
          </a:p>
        </p:txBody>
      </p:sp>
      <p:sp>
        <p:nvSpPr>
          <p:cNvPr id="42" name="Marcador de contenido 41"/>
          <p:cNvSpPr>
            <a:spLocks noGrp="1"/>
          </p:cNvSpPr>
          <p:nvPr>
            <p:ph idx="1"/>
          </p:nvPr>
        </p:nvSpPr>
        <p:spPr>
          <a:xfrm>
            <a:off x="684213" y="839788"/>
            <a:ext cx="8250237" cy="5256212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(ISA: Instruction Set Architecture)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Hace referencia al repertorio de instrucciones, registros, modelo de excepciones, manejo de la memoria virtual, mapa de direcciones físicas y otras características comunes de un procesador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Todo aquello que el programador debe saber acerca de la máquina</a:t>
            </a:r>
          </a:p>
          <a:p>
            <a:r>
              <a:rPr lang="es-ES_tradnl" sz="2200" noProof="1">
                <a:latin typeface="Arial" panose="020B0604020202020204" pitchFamily="34" charset="0"/>
                <a:cs typeface="Arial" panose="020B0604020202020204" pitchFamily="34" charset="0"/>
              </a:rPr>
              <a:t>Ejemplos de arquitecturas:</a:t>
            </a:r>
          </a:p>
          <a:p>
            <a:pPr lvl="2"/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Las arquitecturas pueden evolucionar, dando lugar a versiones de 16, 32 o 64 bits, siempre compatibles entre sí</a:t>
            </a:r>
          </a:p>
          <a:p>
            <a:pPr lvl="1"/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7</a:t>
            </a:fld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650246"/>
              </p:ext>
            </p:extLst>
          </p:nvPr>
        </p:nvGraphicFramePr>
        <p:xfrm>
          <a:off x="1547664" y="3284984"/>
          <a:ext cx="66967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Arquitectura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Empresas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x86, x86-64,  IA-32, INTEL®64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INTEL, AMD,..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MIPS-32, MIPS-64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Mips Technologies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 Alpha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Digital Equipment Corp.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Power , PowerPC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Apple, IBM, Motorola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ARM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Advanced RISC Machines Holdings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RISC 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RISC-V International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411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Introducción: Implementación </a:t>
            </a:r>
          </a:p>
        </p:txBody>
      </p:sp>
      <p:sp>
        <p:nvSpPr>
          <p:cNvPr id="42" name="Marcador de contenido 41"/>
          <p:cNvSpPr>
            <a:spLocks noGrp="1"/>
          </p:cNvSpPr>
          <p:nvPr>
            <p:ph idx="1"/>
          </p:nvPr>
        </p:nvSpPr>
        <p:spPr>
          <a:xfrm>
            <a:off x="684213" y="839788"/>
            <a:ext cx="8250237" cy="4461420"/>
          </a:xfrm>
        </p:spPr>
        <p:txBody>
          <a:bodyPr/>
          <a:lstStyle/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Implementación: 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Hace referencia a las características precisas de los circuitos que conforman el diseño de un procesador concreto que ejecuta una arquitectura. 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También se denominan </a:t>
            </a:r>
            <a:r>
              <a:rPr lang="es-ES_tradnl" sz="1600" b="1" noProof="1">
                <a:latin typeface="Arial" panose="020B0604020202020204" pitchFamily="34" charset="0"/>
                <a:cs typeface="Arial" panose="020B0604020202020204" pitchFamily="34" charset="0"/>
              </a:rPr>
              <a:t>Microarquitecturas</a:t>
            </a:r>
          </a:p>
          <a:p>
            <a:endParaRPr lang="es-ES_tradnl" noProof="1"/>
          </a:p>
          <a:p>
            <a:pPr lvl="1"/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8</a:t>
            </a:fld>
            <a:endParaRPr lang="es-ES_tradnl" noProof="1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130224"/>
              </p:ext>
            </p:extLst>
          </p:nvPr>
        </p:nvGraphicFramePr>
        <p:xfrm>
          <a:off x="971600" y="2132856"/>
          <a:ext cx="7920880" cy="4150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372"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Arquitectura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Microarquitecuras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b="1" kern="1200" noProof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Fabricantes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484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MIPS32 ;MIPS64, Warrior,  Aptiv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R2000, R3000, R4000,…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P5600, P6600,</a:t>
                      </a:r>
                      <a:r>
                        <a:rPr lang="es-ES_tradnl" sz="11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_tradnl" sz="11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MicroAptiv, InterAptiv, ProAptiv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2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MIPS</a:t>
                      </a:r>
                      <a:r>
                        <a:rPr lang="es-ES_tradnl" sz="12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Tech. Imagination Tech.</a:t>
                      </a:r>
                      <a:endParaRPr lang="es-ES_tradnl" sz="12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47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IA-32,</a:t>
                      </a:r>
                      <a:r>
                        <a:rPr lang="es-ES_tradnl" sz="14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Intel 64</a:t>
                      </a:r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P5, 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4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Pentium II, III, 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NetBurst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Pentium 4, Pentium D, Celeron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16"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Pentium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 Duo, Core Solo, Pentium M, Celeron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293"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Intel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4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 2 Duo, Quad, Extreme, Xeon 5xxx, 7xxx, Celeron dual-core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016"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016"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i3, i5, i7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X86, x86-64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K5,K6,K8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Athlon 64, Phenom, Turion, Semprom, Opteron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ARMv8-A, ARMv9-A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Cortex-A53, Cortex-A57, Apple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Apple, Qualcomm, Samsung,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r>
                        <a:rPr lang="es-ES_tradnl" sz="14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RISC-V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Hardware 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s-ES_tradnl" sz="1100" kern="1200" noProof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59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35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RISC-V</a:t>
            </a:r>
          </a:p>
        </p:txBody>
      </p:sp>
      <p:sp>
        <p:nvSpPr>
          <p:cNvPr id="42" name="Marcador de contenido 41"/>
          <p:cNvSpPr>
            <a:spLocks noGrp="1"/>
          </p:cNvSpPr>
          <p:nvPr>
            <p:ph idx="1"/>
          </p:nvPr>
        </p:nvSpPr>
        <p:spPr>
          <a:xfrm>
            <a:off x="684213" y="839788"/>
            <a:ext cx="8250237" cy="5256212"/>
          </a:xfrm>
        </p:spPr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Estándar ISA abierto de arquitectura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Tipo RISC: Reduced Instruction Set Computer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Permite construir computadores y desarrollar software compatible para distintos entornos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Origen en ámbito universitario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2010, en la University of California, Berkeley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Krste Asanović, David Patterson y estudiantes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RISC-I, RISC-II, RISC-III, RISC-IV, RISC-V (2017)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Diferencia con otras arquitecturas: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X86-32, AMD64, ARM, MIPS, SPARC</a:t>
            </a:r>
          </a:p>
          <a:p>
            <a:pPr lvl="1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Protegidas por patentes</a:t>
            </a:r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9</a:t>
            </a:fld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295159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Características básicas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ISA básica o base (RV32/64I)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I: instrucciones para enteros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ALU, saltos, acceso a memoria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Extensiones estándar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M: multiplicación y división enteras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A: instrucciones atómicas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F: números reales en simple precisión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D: números reales en doble precisión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C: instrucciones comprimidas (16 bits)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G = IMAFD = base + 4 extensiones estándar</a:t>
            </a:r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10</a:t>
            </a:fld>
            <a:endParaRPr lang="es-ES_tradnl" noProof="1"/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2C32EBEB-DC8E-07F5-6058-3E81A3206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49" y="1125538"/>
            <a:ext cx="3563167" cy="4031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683568" y="-21704"/>
            <a:ext cx="8136904" cy="936104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Características básicas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11</a:t>
            </a:fld>
            <a:endParaRPr lang="es-ES_tradnl" noProof="1"/>
          </a:p>
        </p:txBody>
      </p:sp>
      <p:grpSp>
        <p:nvGrpSpPr>
          <p:cNvPr id="45" name="Agrupar 44"/>
          <p:cNvGrpSpPr/>
          <p:nvPr/>
        </p:nvGrpSpPr>
        <p:grpSpPr>
          <a:xfrm>
            <a:off x="4485456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2847908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2847908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2847908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2813015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3252572" y="288992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3" name="CuadroTexto 22"/>
          <p:cNvSpPr txBox="1"/>
          <p:nvPr/>
        </p:nvSpPr>
        <p:spPr>
          <a:xfrm rot="16200000">
            <a:off x="3898523" y="2899182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2466908" y="1213520"/>
            <a:ext cx="2357628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2469192" y="908720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3782524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3782524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3782524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3747631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7" name="Flecha curva 76"/>
          <p:cNvSpPr/>
          <p:nvPr/>
        </p:nvSpPr>
        <p:spPr bwMode="auto">
          <a:xfrm rot="5400000" flipH="1">
            <a:off x="7419156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6619056" y="759023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52" name="Rectángulo redondeado 51"/>
          <p:cNvSpPr/>
          <p:nvPr/>
        </p:nvSpPr>
        <p:spPr bwMode="auto">
          <a:xfrm>
            <a:off x="6390456" y="1066800"/>
            <a:ext cx="2286000" cy="2590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0x00a0ff80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609036" y="5397470"/>
            <a:ext cx="3110516" cy="112338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registro PC (Program Counter) no pertenece a la arquitectura pero se utilizan en la CPU. PC apunta a la instrucción a buscar en memoria para su ejecución. El PC no es visible al programador, pero es modificado por ciertas instrucciones de forma indirect</a:t>
            </a:r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a.</a:t>
            </a:r>
          </a:p>
        </p:txBody>
      </p:sp>
      <p:sp>
        <p:nvSpPr>
          <p:cNvPr id="2" name="Flecha curva 1">
            <a:extLst>
              <a:ext uri="{FF2B5EF4-FFF2-40B4-BE49-F238E27FC236}">
                <a16:creationId xmlns:a16="http://schemas.microsoft.com/office/drawing/2014/main" id="{5EE2D963-4018-49BB-AA73-B74BB4C0FB23}"/>
              </a:ext>
            </a:extLst>
          </p:cNvPr>
          <p:cNvSpPr/>
          <p:nvPr/>
        </p:nvSpPr>
        <p:spPr bwMode="auto">
          <a:xfrm rot="5400000" flipH="1" flipV="1">
            <a:off x="3476600" y="3582888"/>
            <a:ext cx="762000" cy="946448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186D-F1EA-E59F-8DD9-11FA0B23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CA91576A-A279-5934-465F-E320BCCD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-21704"/>
            <a:ext cx="8136904" cy="936104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RISC-V en la asignatura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4B841D-DE28-6D2A-77CC-DC481B31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12</a:t>
            </a:fld>
            <a:endParaRPr lang="es-ES_tradnl" noProof="1"/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EDA7DA09-EF00-590F-690D-568EA66294E1}"/>
              </a:ext>
            </a:extLst>
          </p:cNvPr>
          <p:cNvGrpSpPr/>
          <p:nvPr/>
        </p:nvGrpSpPr>
        <p:grpSpPr>
          <a:xfrm>
            <a:off x="4485456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356E97D1-396E-C859-6F8A-DE3CFDA052E0}"/>
                </a:ext>
              </a:extLst>
            </p:cNvPr>
            <p:cNvSpPr/>
            <p:nvPr/>
          </p:nvSpPr>
          <p:spPr bwMode="auto">
            <a:xfrm>
              <a:off x="47244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FC3D38FD-62CE-08DD-4BC9-4CB0DE9E9A14}"/>
                </a:ext>
              </a:extLst>
            </p:cNvPr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ED581780-A3B6-97D7-D4AD-B3D03A6494C0}"/>
                </a:ext>
              </a:extLst>
            </p:cNvPr>
            <p:cNvSpPr/>
            <p:nvPr/>
          </p:nvSpPr>
          <p:spPr bwMode="auto">
            <a:xfrm>
              <a:off x="6019800" y="37338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1CF4D282-4685-472A-EB10-50C3FFFB8709}"/>
                </a:ext>
              </a:extLst>
            </p:cNvPr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>
              <a:extLst>
                <a:ext uri="{FF2B5EF4-FFF2-40B4-BE49-F238E27FC236}">
                  <a16:creationId xmlns:a16="http://schemas.microsoft.com/office/drawing/2014/main" id="{9739886B-2D8A-4A63-AB30-DF165A897509}"/>
                </a:ext>
              </a:extLst>
            </p:cNvPr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>
              <a:extLst>
                <a:ext uri="{FF2B5EF4-FFF2-40B4-BE49-F238E27FC236}">
                  <a16:creationId xmlns:a16="http://schemas.microsoft.com/office/drawing/2014/main" id="{CE46B2FD-02E7-D473-9BAF-AC3BC3022B0A}"/>
                </a:ext>
              </a:extLst>
            </p:cNvPr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>
              <a:extLst>
                <a:ext uri="{FF2B5EF4-FFF2-40B4-BE49-F238E27FC236}">
                  <a16:creationId xmlns:a16="http://schemas.microsoft.com/office/drawing/2014/main" id="{CD455019-9BCF-A76B-836D-01AEF8041DCD}"/>
                </a:ext>
              </a:extLst>
            </p:cNvPr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71D2DD1-E22D-F0D0-2C15-DE9AD74E71F0}"/>
              </a:ext>
            </a:extLst>
          </p:cNvPr>
          <p:cNvSpPr/>
          <p:nvPr/>
        </p:nvSpPr>
        <p:spPr bwMode="auto">
          <a:xfrm>
            <a:off x="2847908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BCC89F8-F36F-2484-AA4C-3B4139AACAB7}"/>
              </a:ext>
            </a:extLst>
          </p:cNvPr>
          <p:cNvSpPr/>
          <p:nvPr/>
        </p:nvSpPr>
        <p:spPr bwMode="auto">
          <a:xfrm>
            <a:off x="2847908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DD0AE5D-5934-27D1-BF9B-1091D163ADE4}"/>
              </a:ext>
            </a:extLst>
          </p:cNvPr>
          <p:cNvSpPr/>
          <p:nvPr/>
        </p:nvSpPr>
        <p:spPr bwMode="auto">
          <a:xfrm>
            <a:off x="2847908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4219A98-9B54-FB96-8D57-283F47C2B053}"/>
              </a:ext>
            </a:extLst>
          </p:cNvPr>
          <p:cNvSpPr txBox="1"/>
          <p:nvPr/>
        </p:nvSpPr>
        <p:spPr>
          <a:xfrm>
            <a:off x="2813015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>
            <a:extLst>
              <a:ext uri="{FF2B5EF4-FFF2-40B4-BE49-F238E27FC236}">
                <a16:creationId xmlns:a16="http://schemas.microsoft.com/office/drawing/2014/main" id="{A0E17F26-403F-21D1-D1AB-4E23D9AAB6DE}"/>
              </a:ext>
            </a:extLst>
          </p:cNvPr>
          <p:cNvSpPr/>
          <p:nvPr/>
        </p:nvSpPr>
        <p:spPr bwMode="auto">
          <a:xfrm>
            <a:off x="3252572" y="288992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6104C80-98E2-44F3-03BD-49AC89D9EE61}"/>
              </a:ext>
            </a:extLst>
          </p:cNvPr>
          <p:cNvSpPr txBox="1"/>
          <p:nvPr/>
        </p:nvSpPr>
        <p:spPr>
          <a:xfrm rot="16200000">
            <a:off x="3898523" y="2899182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43" name="Rectángulo redondeado 42">
            <a:extLst>
              <a:ext uri="{FF2B5EF4-FFF2-40B4-BE49-F238E27FC236}">
                <a16:creationId xmlns:a16="http://schemas.microsoft.com/office/drawing/2014/main" id="{6A539A56-5AAF-CD24-3383-F239AEEB35A3}"/>
              </a:ext>
            </a:extLst>
          </p:cNvPr>
          <p:cNvSpPr/>
          <p:nvPr/>
        </p:nvSpPr>
        <p:spPr bwMode="auto">
          <a:xfrm>
            <a:off x="2466908" y="1213520"/>
            <a:ext cx="2357628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C6C68BE-AA43-63BA-FF8D-5A2DE759A951}"/>
              </a:ext>
            </a:extLst>
          </p:cNvPr>
          <p:cNvSpPr txBox="1"/>
          <p:nvPr/>
        </p:nvSpPr>
        <p:spPr>
          <a:xfrm>
            <a:off x="2469192" y="908720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5EDAACF-AE7C-546E-6CE4-27DBA5D6295A}"/>
              </a:ext>
            </a:extLst>
          </p:cNvPr>
          <p:cNvSpPr/>
          <p:nvPr/>
        </p:nvSpPr>
        <p:spPr bwMode="auto">
          <a:xfrm>
            <a:off x="3782524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72EB6243-325C-9781-B81A-3CE707FA82EC}"/>
              </a:ext>
            </a:extLst>
          </p:cNvPr>
          <p:cNvSpPr/>
          <p:nvPr/>
        </p:nvSpPr>
        <p:spPr bwMode="auto">
          <a:xfrm>
            <a:off x="3782524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84A72AE5-1ADC-101B-C3D1-EB63E4EE13B1}"/>
              </a:ext>
            </a:extLst>
          </p:cNvPr>
          <p:cNvSpPr/>
          <p:nvPr/>
        </p:nvSpPr>
        <p:spPr bwMode="auto">
          <a:xfrm>
            <a:off x="3782524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AC111A2-588D-BE61-392B-89B839A0F1E2}"/>
              </a:ext>
            </a:extLst>
          </p:cNvPr>
          <p:cNvSpPr txBox="1"/>
          <p:nvPr/>
        </p:nvSpPr>
        <p:spPr>
          <a:xfrm>
            <a:off x="3747631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7" name="Flecha curva 76">
            <a:extLst>
              <a:ext uri="{FF2B5EF4-FFF2-40B4-BE49-F238E27FC236}">
                <a16:creationId xmlns:a16="http://schemas.microsoft.com/office/drawing/2014/main" id="{FA2CE851-9667-6831-95C9-26C745FD1C90}"/>
              </a:ext>
            </a:extLst>
          </p:cNvPr>
          <p:cNvSpPr/>
          <p:nvPr/>
        </p:nvSpPr>
        <p:spPr bwMode="auto">
          <a:xfrm rot="5400000" flipH="1">
            <a:off x="7419156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76D6FB6-68D9-B888-EBA0-B74F9655334A}"/>
              </a:ext>
            </a:extLst>
          </p:cNvPr>
          <p:cNvSpPr txBox="1"/>
          <p:nvPr/>
        </p:nvSpPr>
        <p:spPr>
          <a:xfrm>
            <a:off x="6619056" y="759023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9D29138E-AC66-CB4B-01D9-344FB10D6B9C}"/>
              </a:ext>
            </a:extLst>
          </p:cNvPr>
          <p:cNvSpPr/>
          <p:nvPr/>
        </p:nvSpPr>
        <p:spPr bwMode="auto">
          <a:xfrm>
            <a:off x="6390456" y="1066800"/>
            <a:ext cx="2286000" cy="2590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0x00a0ff80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2" name="Flecha curva 1">
            <a:extLst>
              <a:ext uri="{FF2B5EF4-FFF2-40B4-BE49-F238E27FC236}">
                <a16:creationId xmlns:a16="http://schemas.microsoft.com/office/drawing/2014/main" id="{6008D0B4-4FB9-BB1E-B9BE-C3B7FCF051D3}"/>
              </a:ext>
            </a:extLst>
          </p:cNvPr>
          <p:cNvSpPr/>
          <p:nvPr/>
        </p:nvSpPr>
        <p:spPr bwMode="auto">
          <a:xfrm rot="5400000" flipH="1" flipV="1">
            <a:off x="3476600" y="3582888"/>
            <a:ext cx="762000" cy="946448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33C9DF-5A66-1640-9169-411095D79DDA}"/>
              </a:ext>
            </a:extLst>
          </p:cNvPr>
          <p:cNvSpPr txBox="1"/>
          <p:nvPr/>
        </p:nvSpPr>
        <p:spPr>
          <a:xfrm>
            <a:off x="4427984" y="3807023"/>
            <a:ext cx="977940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Temas 1&amp;2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F87E0F-DE14-B1FD-1CE9-4D44A0F3E925}"/>
              </a:ext>
            </a:extLst>
          </p:cNvPr>
          <p:cNvSpPr txBox="1"/>
          <p:nvPr/>
        </p:nvSpPr>
        <p:spPr>
          <a:xfrm>
            <a:off x="2701477" y="2880711"/>
            <a:ext cx="706882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Tema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5B3E57-FD81-B5F3-631A-FB2D7C5F560B}"/>
              </a:ext>
            </a:extLst>
          </p:cNvPr>
          <p:cNvSpPr txBox="1"/>
          <p:nvPr/>
        </p:nvSpPr>
        <p:spPr>
          <a:xfrm>
            <a:off x="3857600" y="2869247"/>
            <a:ext cx="706882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Tema 4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03ADBA-6C73-95EE-97B4-FE2E938899F2}"/>
              </a:ext>
            </a:extLst>
          </p:cNvPr>
          <p:cNvSpPr txBox="1"/>
          <p:nvPr/>
        </p:nvSpPr>
        <p:spPr>
          <a:xfrm>
            <a:off x="6300192" y="3733800"/>
            <a:ext cx="977940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Temas 5&amp;6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C9CB22D-E769-7774-DA08-A65A0C745128}"/>
              </a:ext>
            </a:extLst>
          </p:cNvPr>
          <p:cNvSpPr txBox="1"/>
          <p:nvPr/>
        </p:nvSpPr>
        <p:spPr>
          <a:xfrm>
            <a:off x="6084168" y="6289575"/>
            <a:ext cx="923971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Temas 7-9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F8DAE23-D1F2-432D-D7DC-338438696DBD}"/>
              </a:ext>
            </a:extLst>
          </p:cNvPr>
          <p:cNvSpPr txBox="1"/>
          <p:nvPr/>
        </p:nvSpPr>
        <p:spPr>
          <a:xfrm>
            <a:off x="4571658" y="5334000"/>
            <a:ext cx="797334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Tema 10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CDB6E46-C4C7-2584-34DD-550F8D54A5E9}"/>
              </a:ext>
            </a:extLst>
          </p:cNvPr>
          <p:cNvSpPr txBox="1"/>
          <p:nvPr/>
        </p:nvSpPr>
        <p:spPr>
          <a:xfrm>
            <a:off x="609036" y="5373216"/>
            <a:ext cx="3156355" cy="8679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arquitectura RISC-V será utilizada como ejemplo en toda la asignatura, </a:t>
            </a:r>
          </a:p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utilizando siempre ejemplos de código en ensamblador del RISC-V</a:t>
            </a:r>
          </a:p>
        </p:txBody>
      </p:sp>
    </p:spTree>
    <p:extLst>
      <p:ext uri="{BB962C8B-B14F-4D97-AF65-F5344CB8AC3E}">
        <p14:creationId xmlns:p14="http://schemas.microsoft.com/office/powerpoint/2010/main" val="283365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Modelo de programación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838200"/>
            <a:ext cx="7543800" cy="1743939"/>
          </a:xfr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  <a:p>
            <a:pPr lvl="1">
              <a:spcAft>
                <a:spcPts val="0"/>
              </a:spcAft>
            </a:pP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32 registros de 32 bits: </a:t>
            </a:r>
            <a:r>
              <a:rPr lang="es-ES_tradnl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x0,x1,…,x31</a:t>
            </a:r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0"/>
              </a:spcAft>
            </a:pP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32 registros de coma flotante, de 32 ó 64 bits (depende de la extensión utilizada: F o D): </a:t>
            </a:r>
            <a:r>
              <a:rPr lang="es-ES_tradnl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f0,f1,…,f31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Registros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14</a:t>
            </a:fld>
            <a:endParaRPr lang="es-ES_tradnl" noProof="1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959797"/>
              </p:ext>
            </p:extLst>
          </p:nvPr>
        </p:nvGraphicFramePr>
        <p:xfrm>
          <a:off x="1259632" y="1130939"/>
          <a:ext cx="6118448" cy="533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sz="1400" noProof="1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/>
                        <a:t>Registro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/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Constante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</a:t>
                      </a:r>
                      <a:r>
                        <a:rPr lang="es-ES_tradnl" sz="14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retorno</a:t>
                      </a:r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Puntero de pila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Puntero global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Puntero de thread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t0-t2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x5-x7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</a:t>
                      </a:r>
                      <a:r>
                        <a:rPr lang="es-ES_tradnl" sz="14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temporales</a:t>
                      </a:r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s0/fp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salvado/puntero de marco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salvado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a0-a1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x10-x11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Argumentos de funciones/valores retornados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a2-a7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x12-x17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Argumentos de funciones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s2-s11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x18-x27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 salvados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t3-t6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x28-x31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</a:t>
                      </a:r>
                      <a:r>
                        <a:rPr lang="es-ES_tradnl" sz="1400" baseline="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temporales</a:t>
                      </a:r>
                      <a:endParaRPr lang="es-ES_tradnl" sz="1400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Tema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f0-f31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 de coma flotante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z="900" noProof="1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15</a:t>
            </a:fld>
            <a:endParaRPr lang="es-ES_tradnl" sz="9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928822" y="1680485"/>
            <a:ext cx="2005211" cy="1861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de usuario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928822" y="3551933"/>
            <a:ext cx="2005211" cy="19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de sistema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835419" y="1613651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1">
                <a:cs typeface="Arial" panose="020B0604020202020204" pitchFamily="34" charset="0"/>
              </a:rPr>
              <a:t>0x00000000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844584" y="3466001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1">
                <a:cs typeface="Arial" panose="020B0604020202020204" pitchFamily="34" charset="0"/>
              </a:rPr>
              <a:t>0x80000000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760020" y="5232021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1">
                <a:cs typeface="Arial" panose="020B0604020202020204" pitchFamily="34" charset="0"/>
              </a:rPr>
              <a:t>0xFFFFFFFF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867400" y="1417638"/>
            <a:ext cx="2005211" cy="9598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5870480" y="2739661"/>
            <a:ext cx="2005211" cy="9598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5870480" y="4031866"/>
            <a:ext cx="2005211" cy="9598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Pila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8026136" y="2663277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1">
                <a:cs typeface="Arial" panose="020B0604020202020204" pitchFamily="34" charset="0"/>
              </a:rPr>
              <a:t>0x10000000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8012455" y="1339486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1">
                <a:cs typeface="Arial" panose="020B0604020202020204" pitchFamily="34" charset="0"/>
              </a:rPr>
              <a:t>0x00400000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8047782" y="4717775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1">
                <a:cs typeface="Arial" panose="020B0604020202020204" pitchFamily="34" charset="0"/>
              </a:rPr>
              <a:t>0x80000000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 flipV="1">
            <a:off x="4112846" y="1417638"/>
            <a:ext cx="1690077" cy="260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4112846" y="3542385"/>
            <a:ext cx="1690077" cy="14493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echa arriba 18"/>
          <p:cNvSpPr/>
          <p:nvPr/>
        </p:nvSpPr>
        <p:spPr>
          <a:xfrm>
            <a:off x="8316851" y="4287145"/>
            <a:ext cx="496528" cy="43063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lecha arriba 19"/>
          <p:cNvSpPr/>
          <p:nvPr/>
        </p:nvSpPr>
        <p:spPr>
          <a:xfrm flipV="1">
            <a:off x="8316851" y="3035371"/>
            <a:ext cx="496528" cy="43063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CC00348-6477-4FE4-8AB5-96DEE1C6105F}"/>
              </a:ext>
            </a:extLst>
          </p:cNvPr>
          <p:cNvSpPr txBox="1"/>
          <p:nvPr/>
        </p:nvSpPr>
        <p:spPr>
          <a:xfrm flipH="1">
            <a:off x="2375035" y="6067723"/>
            <a:ext cx="4868640" cy="6340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6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hay una separación fija entre los dos espacios. </a:t>
            </a: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6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implementa usando privilegios y memoria virtual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6E5A49-94D4-E69B-D20D-A66EAF6710BC}"/>
              </a:ext>
            </a:extLst>
          </p:cNvPr>
          <p:cNvSpPr txBox="1"/>
          <p:nvPr/>
        </p:nvSpPr>
        <p:spPr>
          <a:xfrm flipH="1">
            <a:off x="791364" y="879103"/>
            <a:ext cx="8028159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6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una CPU con direcciones de 32 bits </a:t>
            </a:r>
            <a:r>
              <a:rPr lang="es-ES_tradnl" sz="16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→</a:t>
            </a:r>
            <a:r>
              <a:rPr lang="es-ES_tradnl" sz="18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_tradnl" sz="16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de direccionamiento 2</a:t>
            </a:r>
            <a:r>
              <a:rPr lang="es-ES_tradnl" sz="1600" baseline="30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r>
              <a:rPr lang="es-ES_tradnl" sz="16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4 GB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D1F3B2C7-E595-58CF-4B54-697E591D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Memoria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Memoria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Direccionamiento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Direccionamiento a nivel de byte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Modos big-endian y little-endian soportados (aunque little-endian es el estándar)</a:t>
            </a:r>
          </a:p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Alineamiento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Byte en cualquier dirección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Media palabra (half) en dirección par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Palabra (word) en dirección múltiplo de 4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Doble palabra (dword) en dirección múltiplo de 8</a:t>
            </a:r>
          </a:p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Directiva</a:t>
            </a:r>
          </a:p>
          <a:p>
            <a:pPr lvl="1"/>
            <a:r>
              <a:rPr lang="es-ES_tradnl" sz="1800" noProof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.align</a:t>
            </a:r>
            <a:r>
              <a:rPr lang="es-ES_tradnl" sz="1800" noProof="1"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</a:p>
          <a:p>
            <a:pPr lvl="1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Alinea a partir de la siguiente dirección múltiplo de 2</a:t>
            </a:r>
            <a:r>
              <a:rPr lang="es-ES_tradnl" sz="2000" baseline="30000" noProof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16</a:t>
            </a:fld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Memoria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914400"/>
            <a:ext cx="8250237" cy="546735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Directivas de ensamblador</a:t>
            </a:r>
          </a:p>
          <a:p>
            <a:pPr lvl="1">
              <a:spcAft>
                <a:spcPts val="0"/>
              </a:spcAft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Directivas de segmentos de memoria</a:t>
            </a:r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Aft>
                <a:spcPts val="0"/>
              </a:spcAft>
            </a:pPr>
            <a:r>
              <a:rPr lang="es-ES_tradnl" sz="2000" noProof="1">
                <a:solidFill>
                  <a:srgbClr val="00B0F0"/>
                </a:solidFill>
                <a:latin typeface="Courier New"/>
                <a:cs typeface="Courier New"/>
              </a:rPr>
              <a:t>.data</a:t>
            </a:r>
          </a:p>
          <a:p>
            <a:pPr lvl="2">
              <a:spcAft>
                <a:spcPts val="0"/>
              </a:spcAft>
            </a:pPr>
            <a:r>
              <a:rPr lang="es-ES_tradnl" noProof="1">
                <a:solidFill>
                  <a:srgbClr val="00B0F0"/>
                </a:solidFill>
                <a:latin typeface="Courier New"/>
                <a:cs typeface="Courier New"/>
              </a:rPr>
              <a:t>.text</a:t>
            </a:r>
            <a:endParaRPr lang="es-ES_tradnl" noProof="1">
              <a:latin typeface="Courier New"/>
              <a:cs typeface="Courier New"/>
            </a:endParaRPr>
          </a:p>
          <a:p>
            <a:pPr lvl="2">
              <a:lnSpc>
                <a:spcPts val="3000"/>
              </a:lnSpc>
              <a:spcAft>
                <a:spcPts val="0"/>
              </a:spcAft>
            </a:pPr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El SO decide dónde se colacan los segmentos en memoria</a:t>
            </a:r>
          </a:p>
          <a:p>
            <a:pPr lvl="2">
              <a:lnSpc>
                <a:spcPts val="3000"/>
              </a:lnSpc>
              <a:spcAft>
                <a:spcPts val="0"/>
              </a:spcAft>
            </a:pPr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El ensamblador detecta el fin del programa por el fin del fichero (EOF)</a:t>
            </a:r>
          </a:p>
          <a:p>
            <a:pPr lvl="1">
              <a:spcAft>
                <a:spcPts val="0"/>
              </a:spcAft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Directivas de reserva de memoria de datos</a:t>
            </a:r>
          </a:p>
          <a:p>
            <a:pPr lvl="2">
              <a:spcAft>
                <a:spcPts val="0"/>
              </a:spcAft>
            </a:pPr>
            <a:r>
              <a:rPr lang="es-ES_tradnl" sz="1400" noProof="1">
                <a:solidFill>
                  <a:srgbClr val="00B0F0"/>
                </a:solidFill>
                <a:latin typeface="Courier New"/>
                <a:cs typeface="Courier New"/>
              </a:rPr>
              <a:t>.</a:t>
            </a:r>
            <a:r>
              <a:rPr lang="es-ES_tradnl" noProof="1">
                <a:solidFill>
                  <a:srgbClr val="00B0F0"/>
                </a:solidFill>
                <a:latin typeface="Courier New"/>
                <a:cs typeface="Courier New"/>
              </a:rPr>
              <a:t>space </a:t>
            </a:r>
            <a:r>
              <a:rPr lang="es-ES_tradnl" noProof="1">
                <a:latin typeface="Courier New"/>
                <a:cs typeface="Courier New"/>
              </a:rPr>
              <a:t>n</a:t>
            </a:r>
          </a:p>
          <a:p>
            <a:pPr lvl="2">
              <a:spcAft>
                <a:spcPts val="0"/>
              </a:spcAft>
            </a:pPr>
            <a:r>
              <a:rPr lang="es-ES_tradnl" noProof="1">
                <a:solidFill>
                  <a:srgbClr val="00B0F0"/>
                </a:solidFill>
                <a:latin typeface="Courier New"/>
                <a:cs typeface="Courier New"/>
              </a:rPr>
              <a:t>.byte </a:t>
            </a:r>
            <a:r>
              <a:rPr lang="es-ES_tradnl" noProof="1">
                <a:latin typeface="Courier New"/>
                <a:cs typeface="Courier New"/>
              </a:rPr>
              <a:t>b1 [, b2] …</a:t>
            </a:r>
          </a:p>
          <a:p>
            <a:pPr lvl="2">
              <a:spcAft>
                <a:spcPts val="0"/>
              </a:spcAft>
            </a:pPr>
            <a:r>
              <a:rPr lang="es-ES_tradnl" noProof="1">
                <a:solidFill>
                  <a:srgbClr val="00B0F0"/>
                </a:solidFill>
                <a:latin typeface="Courier New"/>
                <a:cs typeface="Courier New"/>
              </a:rPr>
              <a:t>.half </a:t>
            </a:r>
            <a:r>
              <a:rPr lang="es-ES_tradnl" noProof="1">
                <a:latin typeface="Courier New"/>
                <a:cs typeface="Courier New"/>
              </a:rPr>
              <a:t>h1 [, h2] …</a:t>
            </a:r>
          </a:p>
          <a:p>
            <a:pPr lvl="2">
              <a:spcAft>
                <a:spcPts val="0"/>
              </a:spcAft>
            </a:pPr>
            <a:r>
              <a:rPr lang="es-ES_tradnl" noProof="1">
                <a:solidFill>
                  <a:srgbClr val="00B0F0"/>
                </a:solidFill>
                <a:latin typeface="Courier New"/>
                <a:cs typeface="Courier New"/>
              </a:rPr>
              <a:t>.word </a:t>
            </a:r>
            <a:r>
              <a:rPr lang="es-ES_tradnl" noProof="1">
                <a:latin typeface="Courier New"/>
                <a:cs typeface="Courier New"/>
              </a:rPr>
              <a:t>w1 [, w2] …</a:t>
            </a:r>
          </a:p>
          <a:p>
            <a:pPr lvl="2">
              <a:spcAft>
                <a:spcPts val="0"/>
              </a:spcAft>
            </a:pPr>
            <a:r>
              <a:rPr lang="es-ES_tradnl" noProof="1">
                <a:solidFill>
                  <a:srgbClr val="00B0F0"/>
                </a:solidFill>
                <a:latin typeface="Courier New"/>
                <a:cs typeface="Courier New"/>
              </a:rPr>
              <a:t>.ascii </a:t>
            </a:r>
            <a:r>
              <a:rPr lang="es-ES_tradnl" noProof="1">
                <a:latin typeface="Courier New"/>
                <a:cs typeface="Courier New"/>
              </a:rPr>
              <a:t>cadena1 [, cadena2] …</a:t>
            </a:r>
          </a:p>
          <a:p>
            <a:pPr lvl="2">
              <a:spcAft>
                <a:spcPts val="0"/>
              </a:spcAft>
            </a:pPr>
            <a:r>
              <a:rPr lang="es-ES_tradnl" noProof="1">
                <a:solidFill>
                  <a:srgbClr val="00B0F0"/>
                </a:solidFill>
                <a:latin typeface="Courier New"/>
                <a:cs typeface="Courier New"/>
              </a:rPr>
              <a:t>.asciz </a:t>
            </a:r>
            <a:r>
              <a:rPr lang="es-ES_tradnl" noProof="1">
                <a:latin typeface="Courier New"/>
                <a:cs typeface="Courier New"/>
              </a:rPr>
              <a:t>cadena1 [, cadena2]…</a:t>
            </a:r>
          </a:p>
          <a:p>
            <a:pPr lvl="1">
              <a:spcAft>
                <a:spcPts val="0"/>
              </a:spcAft>
            </a:pPr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17</a:t>
            </a:fld>
            <a:endParaRPr lang="es-ES_tradnl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Alineamiento en memoria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fld id="{A7699608-B574-4B82-8EEF-626F712CB985}" type="slidenum">
              <a:rPr lang="es-ES_tradnl" noProof="1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 eaLnBrk="0" fontAlgn="base" hangingPunct="0">
                <a:spcBef>
                  <a:spcPct val="20000"/>
                </a:spcBef>
                <a:spcAft>
                  <a:spcPct val="0"/>
                </a:spcAft>
                <a:defRPr/>
              </a:pPr>
              <a:t>18</a:t>
            </a:fld>
            <a:endParaRPr lang="es-ES_tradnl" noProof="1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182103" y="2875875"/>
            <a:ext cx="2414577" cy="22929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 New"/>
                <a:cs typeface="Courier New"/>
              </a:rPr>
              <a:t>         .</a:t>
            </a: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data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A:       .byte 2, 3, 4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W:       .word 33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B:       .half  680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         .align 2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V:       .space 128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1">
              <a:solidFill>
                <a:prstClr val="black"/>
              </a:solidFill>
              <a:latin typeface="Courier"/>
              <a:cs typeface="Courier"/>
            </a:endParaRP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         .data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C1:      .ascii “hola”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Courier"/>
                <a:cs typeface="Courier"/>
              </a:rPr>
              <a:t>C2:      .asciiz “HOLA”</a:t>
            </a:r>
          </a:p>
        </p:txBody>
      </p:sp>
      <p:sp>
        <p:nvSpPr>
          <p:cNvPr id="7" name="Llamada rectangular redondeada 6"/>
          <p:cNvSpPr/>
          <p:nvPr/>
        </p:nvSpPr>
        <p:spPr bwMode="auto">
          <a:xfrm>
            <a:off x="937279" y="764704"/>
            <a:ext cx="2705860" cy="2026570"/>
          </a:xfrm>
          <a:prstGeom prst="wedgeRoundRectCallout">
            <a:avLst>
              <a:gd name="adj1" fmla="val -11742"/>
              <a:gd name="adj2" fmla="val 66806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variables del programa son codificadas como etiquetas de datos.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ejemplo, el SO ha decidido cargar este segmento de datos a partir de la dirección 0x10000000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= 0x10000000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= 0x10000004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s-ES_tradnl" sz="1200" noProof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67 Grupo"/>
          <p:cNvGrpSpPr/>
          <p:nvPr/>
        </p:nvGrpSpPr>
        <p:grpSpPr>
          <a:xfrm>
            <a:off x="5435000" y="1531018"/>
            <a:ext cx="2955328" cy="3987322"/>
            <a:chOff x="7246663" y="898358"/>
            <a:chExt cx="3940435" cy="5316428"/>
          </a:xfrm>
        </p:grpSpPr>
        <p:grpSp>
          <p:nvGrpSpPr>
            <p:cNvPr id="12" name="11 Grupo"/>
            <p:cNvGrpSpPr/>
            <p:nvPr/>
          </p:nvGrpSpPr>
          <p:grpSpPr>
            <a:xfrm>
              <a:off x="7249132" y="1917123"/>
              <a:ext cx="2534652" cy="312821"/>
              <a:chOff x="8317832" y="1909011"/>
              <a:chExt cx="2534652" cy="312821"/>
            </a:xfrm>
          </p:grpSpPr>
          <p:sp>
            <p:nvSpPr>
              <p:cNvPr id="8" name="7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--</a:t>
                </a:r>
              </a:p>
            </p:txBody>
          </p:sp>
          <p:sp>
            <p:nvSpPr>
              <p:cNvPr id="9" name="8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4</a:t>
                </a:r>
              </a:p>
            </p:txBody>
          </p:sp>
          <p:sp>
            <p:nvSpPr>
              <p:cNvPr id="10" name="9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3</a:t>
                </a:r>
              </a:p>
            </p:txBody>
          </p:sp>
          <p:sp>
            <p:nvSpPr>
              <p:cNvPr id="11" name="10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2</a:t>
                </a:r>
              </a:p>
            </p:txBody>
          </p:sp>
        </p:grpSp>
        <p:sp>
          <p:nvSpPr>
            <p:cNvPr id="14" name="13 Rectángulo"/>
            <p:cNvSpPr/>
            <p:nvPr/>
          </p:nvSpPr>
          <p:spPr bwMode="auto">
            <a:xfrm>
              <a:off x="7249132" y="2542765"/>
              <a:ext cx="633663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1"/>
                <a:t>--</a:t>
              </a:r>
            </a:p>
          </p:txBody>
        </p:sp>
        <p:sp>
          <p:nvSpPr>
            <p:cNvPr id="15" name="14 Rectángulo"/>
            <p:cNvSpPr/>
            <p:nvPr/>
          </p:nvSpPr>
          <p:spPr bwMode="auto">
            <a:xfrm>
              <a:off x="7882795" y="2542765"/>
              <a:ext cx="633663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1"/>
                <a:t>--</a:t>
              </a:r>
            </a:p>
          </p:txBody>
        </p:sp>
        <p:sp>
          <p:nvSpPr>
            <p:cNvPr id="16" name="15 Rectángulo"/>
            <p:cNvSpPr/>
            <p:nvPr/>
          </p:nvSpPr>
          <p:spPr bwMode="auto">
            <a:xfrm>
              <a:off x="8516457" y="2542765"/>
              <a:ext cx="1267327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1"/>
                <a:t>680</a:t>
              </a:r>
            </a:p>
          </p:txBody>
        </p:sp>
        <p:sp>
          <p:nvSpPr>
            <p:cNvPr id="19" name="18 Rectángulo"/>
            <p:cNvSpPr/>
            <p:nvPr/>
          </p:nvSpPr>
          <p:spPr bwMode="auto">
            <a:xfrm>
              <a:off x="7249132" y="2229944"/>
              <a:ext cx="2534652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1"/>
                <a:t>33</a:t>
              </a:r>
            </a:p>
          </p:txBody>
        </p:sp>
        <p:sp>
          <p:nvSpPr>
            <p:cNvPr id="28" name="27 Rectángulo"/>
            <p:cNvSpPr/>
            <p:nvPr/>
          </p:nvSpPr>
          <p:spPr bwMode="auto">
            <a:xfrm>
              <a:off x="7249132" y="2855587"/>
              <a:ext cx="2534652" cy="986588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1"/>
                <a:t>V</a:t>
              </a:r>
            </a:p>
          </p:txBody>
        </p:sp>
        <p:sp>
          <p:nvSpPr>
            <p:cNvPr id="29" name="28 Rectángulo"/>
            <p:cNvSpPr/>
            <p:nvPr/>
          </p:nvSpPr>
          <p:spPr bwMode="auto">
            <a:xfrm>
              <a:off x="7246663" y="1298468"/>
              <a:ext cx="2534652" cy="633664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500" noProof="1"/>
            </a:p>
          </p:txBody>
        </p:sp>
        <p:sp>
          <p:nvSpPr>
            <p:cNvPr id="31" name="30 CuadroTexto"/>
            <p:cNvSpPr txBox="1"/>
            <p:nvPr/>
          </p:nvSpPr>
          <p:spPr>
            <a:xfrm>
              <a:off x="9733283" y="1903079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0x10000000</a:t>
              </a:r>
            </a:p>
          </p:txBody>
        </p:sp>
        <p:sp>
          <p:nvSpPr>
            <p:cNvPr id="32" name="31 CuadroTexto"/>
            <p:cNvSpPr txBox="1"/>
            <p:nvPr/>
          </p:nvSpPr>
          <p:spPr>
            <a:xfrm>
              <a:off x="9733283" y="2209367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0x10000004</a:t>
              </a:r>
            </a:p>
          </p:txBody>
        </p:sp>
        <p:sp>
          <p:nvSpPr>
            <p:cNvPr id="33" name="32 CuadroTexto"/>
            <p:cNvSpPr txBox="1"/>
            <p:nvPr/>
          </p:nvSpPr>
          <p:spPr>
            <a:xfrm>
              <a:off x="9733283" y="2552786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0x10000008</a:t>
              </a:r>
            </a:p>
          </p:txBody>
        </p:sp>
        <p:sp>
          <p:nvSpPr>
            <p:cNvPr id="34" name="33 CuadroTexto"/>
            <p:cNvSpPr txBox="1"/>
            <p:nvPr/>
          </p:nvSpPr>
          <p:spPr>
            <a:xfrm>
              <a:off x="9731146" y="2863335"/>
              <a:ext cx="1402521" cy="1255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0x1000000C</a:t>
              </a:r>
            </a:p>
            <a:p>
              <a:r>
                <a:rPr lang="es-ES_tradnl" sz="1200" noProof="1">
                  <a:solidFill>
                    <a:schemeClr val="accent3"/>
                  </a:solidFill>
                </a:rPr>
                <a:t>0x10000010</a:t>
              </a:r>
            </a:p>
            <a:p>
              <a:r>
                <a:rPr lang="es-ES_tradnl" sz="1200" noProof="1">
                  <a:solidFill>
                    <a:schemeClr val="accent3"/>
                  </a:solidFill>
                </a:rPr>
                <a:t>………</a:t>
              </a:r>
            </a:p>
            <a:p>
              <a:endParaRPr lang="es-ES_tradnl" sz="1200" noProof="1">
                <a:solidFill>
                  <a:schemeClr val="accent3"/>
                </a:solidFill>
              </a:endParaRPr>
            </a:p>
          </p:txBody>
        </p:sp>
        <p:grpSp>
          <p:nvGrpSpPr>
            <p:cNvPr id="35" name="34 Grupo"/>
            <p:cNvGrpSpPr/>
            <p:nvPr/>
          </p:nvGrpSpPr>
          <p:grpSpPr>
            <a:xfrm>
              <a:off x="7249131" y="3842175"/>
              <a:ext cx="2534652" cy="312821"/>
              <a:chOff x="8317832" y="1909011"/>
              <a:chExt cx="2534652" cy="312821"/>
            </a:xfrm>
          </p:grpSpPr>
          <p:sp>
            <p:nvSpPr>
              <p:cNvPr id="36" name="35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a</a:t>
                </a:r>
              </a:p>
            </p:txBody>
          </p:sp>
          <p:sp>
            <p:nvSpPr>
              <p:cNvPr id="37" name="36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l</a:t>
                </a:r>
              </a:p>
            </p:txBody>
          </p:sp>
          <p:sp>
            <p:nvSpPr>
              <p:cNvPr id="38" name="37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o</a:t>
                </a:r>
              </a:p>
            </p:txBody>
          </p:sp>
          <p:sp>
            <p:nvSpPr>
              <p:cNvPr id="39" name="38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h</a:t>
                </a:r>
              </a:p>
            </p:txBody>
          </p:sp>
        </p:grpSp>
        <p:grpSp>
          <p:nvGrpSpPr>
            <p:cNvPr id="40" name="39 Grupo"/>
            <p:cNvGrpSpPr/>
            <p:nvPr/>
          </p:nvGrpSpPr>
          <p:grpSpPr>
            <a:xfrm>
              <a:off x="7249132" y="4154996"/>
              <a:ext cx="2534652" cy="312821"/>
              <a:chOff x="8317832" y="1909011"/>
              <a:chExt cx="2534652" cy="312821"/>
            </a:xfrm>
          </p:grpSpPr>
          <p:sp>
            <p:nvSpPr>
              <p:cNvPr id="41" name="40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A</a:t>
                </a:r>
              </a:p>
            </p:txBody>
          </p:sp>
          <p:sp>
            <p:nvSpPr>
              <p:cNvPr id="42" name="41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L</a:t>
                </a:r>
              </a:p>
            </p:txBody>
          </p:sp>
          <p:sp>
            <p:nvSpPr>
              <p:cNvPr id="43" name="42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O</a:t>
                </a:r>
              </a:p>
            </p:txBody>
          </p:sp>
          <p:sp>
            <p:nvSpPr>
              <p:cNvPr id="44" name="43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H</a:t>
                </a:r>
              </a:p>
            </p:txBody>
          </p:sp>
        </p:grpSp>
        <p:grpSp>
          <p:nvGrpSpPr>
            <p:cNvPr id="45" name="44 Grupo"/>
            <p:cNvGrpSpPr/>
            <p:nvPr/>
          </p:nvGrpSpPr>
          <p:grpSpPr>
            <a:xfrm>
              <a:off x="7249132" y="4467817"/>
              <a:ext cx="2534652" cy="312821"/>
              <a:chOff x="8317832" y="1909011"/>
              <a:chExt cx="2534652" cy="312821"/>
            </a:xfrm>
          </p:grpSpPr>
          <p:sp>
            <p:nvSpPr>
              <p:cNvPr id="46" name="45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--</a:t>
                </a:r>
              </a:p>
            </p:txBody>
          </p:sp>
          <p:sp>
            <p:nvSpPr>
              <p:cNvPr id="47" name="46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--</a:t>
                </a:r>
              </a:p>
            </p:txBody>
          </p:sp>
          <p:sp>
            <p:nvSpPr>
              <p:cNvPr id="48" name="47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--</a:t>
                </a:r>
              </a:p>
            </p:txBody>
          </p:sp>
          <p:sp>
            <p:nvSpPr>
              <p:cNvPr id="49" name="48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1"/>
                  <a:t>0</a:t>
                </a:r>
              </a:p>
            </p:txBody>
          </p:sp>
        </p:grpSp>
        <p:sp>
          <p:nvSpPr>
            <p:cNvPr id="50" name="49 CuadroTexto"/>
            <p:cNvSpPr txBox="1"/>
            <p:nvPr/>
          </p:nvSpPr>
          <p:spPr>
            <a:xfrm>
              <a:off x="9733283" y="3782561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0x10004000</a:t>
              </a:r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9733283" y="4104437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0x10004004</a:t>
              </a:r>
            </a:p>
          </p:txBody>
        </p:sp>
        <p:sp>
          <p:nvSpPr>
            <p:cNvPr id="52" name="51 CuadroTexto"/>
            <p:cNvSpPr txBox="1"/>
            <p:nvPr/>
          </p:nvSpPr>
          <p:spPr>
            <a:xfrm>
              <a:off x="9733283" y="4408205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0x10004008</a:t>
              </a:r>
            </a:p>
          </p:txBody>
        </p:sp>
        <p:sp>
          <p:nvSpPr>
            <p:cNvPr id="53" name="52 Rectángulo"/>
            <p:cNvSpPr/>
            <p:nvPr/>
          </p:nvSpPr>
          <p:spPr bwMode="auto">
            <a:xfrm>
              <a:off x="7257080" y="4780637"/>
              <a:ext cx="2534652" cy="1355467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1"/>
                <a:t>--</a:t>
              </a:r>
            </a:p>
          </p:txBody>
        </p:sp>
        <p:sp>
          <p:nvSpPr>
            <p:cNvPr id="54" name="53 CuadroTexto"/>
            <p:cNvSpPr txBox="1"/>
            <p:nvPr/>
          </p:nvSpPr>
          <p:spPr>
            <a:xfrm>
              <a:off x="9731146" y="4715981"/>
              <a:ext cx="1402521" cy="1255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0x1000400C</a:t>
              </a:r>
            </a:p>
            <a:p>
              <a:r>
                <a:rPr lang="es-ES_tradnl" sz="1200" noProof="1">
                  <a:solidFill>
                    <a:schemeClr val="accent3"/>
                  </a:solidFill>
                </a:rPr>
                <a:t>0x10004010</a:t>
              </a:r>
            </a:p>
            <a:p>
              <a:r>
                <a:rPr lang="es-ES_tradnl" sz="1200" noProof="1">
                  <a:solidFill>
                    <a:schemeClr val="accent3"/>
                  </a:solidFill>
                </a:rPr>
                <a:t>………</a:t>
              </a:r>
            </a:p>
            <a:p>
              <a:endParaRPr lang="es-ES_tradnl" sz="1200" noProof="1">
                <a:solidFill>
                  <a:schemeClr val="accent3"/>
                </a:solidFill>
              </a:endParaRPr>
            </a:p>
          </p:txBody>
        </p:sp>
        <p:sp>
          <p:nvSpPr>
            <p:cNvPr id="58" name="57 CuadroTexto"/>
            <p:cNvSpPr txBox="1"/>
            <p:nvPr/>
          </p:nvSpPr>
          <p:spPr>
            <a:xfrm>
              <a:off x="7334479" y="898358"/>
              <a:ext cx="227669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500" noProof="1">
                  <a:solidFill>
                    <a:schemeClr val="accent1">
                      <a:lumMod val="75000"/>
                    </a:schemeClr>
                  </a:solidFill>
                </a:rPr>
                <a:t>Memoria principal</a:t>
              </a:r>
            </a:p>
          </p:txBody>
        </p:sp>
        <p:sp>
          <p:nvSpPr>
            <p:cNvPr id="66" name="65 CuadroTexto"/>
            <p:cNvSpPr txBox="1"/>
            <p:nvPr/>
          </p:nvSpPr>
          <p:spPr>
            <a:xfrm>
              <a:off x="9733283" y="1335046"/>
              <a:ext cx="1368323" cy="66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0x00000000</a:t>
              </a:r>
            </a:p>
            <a:p>
              <a:r>
                <a:rPr lang="es-ES_tradnl" sz="1200" noProof="1">
                  <a:solidFill>
                    <a:schemeClr val="accent3"/>
                  </a:solidFill>
                </a:rPr>
                <a:t>…………</a:t>
              </a:r>
            </a:p>
          </p:txBody>
        </p:sp>
        <p:sp>
          <p:nvSpPr>
            <p:cNvPr id="67" name="66 CuadroTexto"/>
            <p:cNvSpPr txBox="1"/>
            <p:nvPr/>
          </p:nvSpPr>
          <p:spPr>
            <a:xfrm>
              <a:off x="9716183" y="5845454"/>
              <a:ext cx="147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>
                  <a:solidFill>
                    <a:schemeClr val="accent3"/>
                  </a:solidFill>
                </a:rPr>
                <a:t>0xFFFFFFFF</a:t>
              </a:r>
            </a:p>
          </p:txBody>
        </p:sp>
      </p:grpSp>
      <p:cxnSp>
        <p:nvCxnSpPr>
          <p:cNvPr id="64" name="63 Conector recto de flecha"/>
          <p:cNvCxnSpPr>
            <a:cxnSpLocks/>
            <a:endCxn id="15" idx="1"/>
          </p:cNvCxnSpPr>
          <p:nvPr/>
        </p:nvCxnSpPr>
        <p:spPr bwMode="auto">
          <a:xfrm flipV="1">
            <a:off x="2876469" y="2881632"/>
            <a:ext cx="3035629" cy="114011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/>
          <p:nvPr/>
        </p:nvCxnSpPr>
        <p:spPr bwMode="auto">
          <a:xfrm flipV="1">
            <a:off x="3199292" y="2440398"/>
            <a:ext cx="2388269" cy="956511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>
            <a:cxnSpLocks/>
          </p:cNvCxnSpPr>
          <p:nvPr/>
        </p:nvCxnSpPr>
        <p:spPr bwMode="auto">
          <a:xfrm flipV="1">
            <a:off x="3100548" y="2617795"/>
            <a:ext cx="2733691" cy="103011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7" name="Llamada rectangular redondeada 6">
            <a:extLst>
              <a:ext uri="{FF2B5EF4-FFF2-40B4-BE49-F238E27FC236}">
                <a16:creationId xmlns:a16="http://schemas.microsoft.com/office/drawing/2014/main" id="{73FC460E-9B38-4FD6-B2C1-FAD5905D886F}"/>
              </a:ext>
            </a:extLst>
          </p:cNvPr>
          <p:cNvSpPr/>
          <p:nvPr/>
        </p:nvSpPr>
        <p:spPr bwMode="auto">
          <a:xfrm>
            <a:off x="3515172" y="5504313"/>
            <a:ext cx="2159303" cy="1237055"/>
          </a:xfrm>
          <a:prstGeom prst="wedgeRoundRectCallout">
            <a:avLst>
              <a:gd name="adj1" fmla="val -55759"/>
              <a:gd name="adj2" fmla="val -122685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pueden definer varias zonas de datos.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ejemplo, el SO decide cargar este segundo segmento de datos a partir de la dirección 0x10004000</a:t>
            </a:r>
          </a:p>
        </p:txBody>
      </p:sp>
    </p:spTree>
    <p:extLst>
      <p:ext uri="{BB962C8B-B14F-4D97-AF65-F5344CB8AC3E}">
        <p14:creationId xmlns:p14="http://schemas.microsoft.com/office/powerpoint/2010/main" val="2750947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Instrucciones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Grupos de instrucciones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Transferencia entre registros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Carga/almacenamiento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Aritméticas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Lógicas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Comparación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Salto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Coma flotante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Otras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Sintaxis y codificación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https://riscv.org/specifications/ratified/</a:t>
            </a:r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https://riscv.github.io/riscv-isa-manual/snapshot/unprivileged/</a:t>
            </a:r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19</a:t>
            </a:fld>
            <a:endParaRPr lang="es-ES_tradnl" noProof="1"/>
          </a:p>
        </p:txBody>
      </p:sp>
      <p:sp>
        <p:nvSpPr>
          <p:cNvPr id="6" name="CuadroTexto 5"/>
          <p:cNvSpPr txBox="1"/>
          <p:nvPr/>
        </p:nvSpPr>
        <p:spPr>
          <a:xfrm>
            <a:off x="5689352" y="1524000"/>
            <a:ext cx="2980303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instrucciones serán ejercitadas</a:t>
            </a:r>
          </a:p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las sesiones de laboratorio</a:t>
            </a:r>
            <a:endParaRPr lang="es-ES_tradnl" sz="140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191000" y="3124200"/>
            <a:ext cx="4648200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b="1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 vs pseudo-instrucciones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instrucciones son soportadas por el hardware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mientras que las pseudo-instrucciones son traducidas por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ensamblador en un conjunto de instrucciones equivalente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ejemplo: </a:t>
            </a:r>
          </a:p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la t1, 0x10002000 -&gt; lui  t1, 0x10002</a:t>
            </a:r>
          </a:p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	    addi t1, t1, 0</a:t>
            </a:r>
          </a:p>
          <a:p>
            <a:pPr algn="l"/>
            <a:endParaRPr lang="es-ES_tradnl" sz="1400" noProof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2 Entrada de lápiz"/>
              <p14:cNvContentPartPr/>
              <p14:nvPr/>
            </p14:nvContentPartPr>
            <p14:xfrm>
              <a:off x="1579818" y="3924180"/>
              <a:ext cx="270" cy="270"/>
            </p14:xfrm>
          </p:contentPart>
        </mc:Choice>
        <mc:Fallback xmlns="">
          <p:pic>
            <p:nvPicPr>
              <p:cNvPr id="3" name="2 Entrada de lápiz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2798" y="3917160"/>
                <a:ext cx="14310" cy="1431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3F0CB5C9-6966-150F-096E-0EA19821F8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417469"/>
              </p:ext>
            </p:extLst>
          </p:nvPr>
        </p:nvGraphicFramePr>
        <p:xfrm>
          <a:off x="1055167" y="1022863"/>
          <a:ext cx="7765304" cy="297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Instrucción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Operación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Formato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+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 –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</a:t>
                      </a:r>
                      <a:r>
                        <a:rPr lang="es-ES_tradnl" sz="14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</a:t>
                      </a:r>
                      <a:r>
                        <a:rPr lang="es-ES_trad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</a:t>
                      </a:r>
                      <a:r>
                        <a:rPr lang="es-ES_tradnl" sz="14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</a:t>
                      </a:r>
                      <a:r>
                        <a:rPr lang="es-ES_trad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Mem[rs1+inm]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Mem[rs1+inm]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rs1, rs2,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(rs1==rs2),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entonces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PC =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PC = (PC+4)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PC + 4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 =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J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2" name="Marcador de contenido 61">
            <a:extLst>
              <a:ext uri="{FF2B5EF4-FFF2-40B4-BE49-F238E27FC236}">
                <a16:creationId xmlns:a16="http://schemas.microsoft.com/office/drawing/2014/main" id="{B5029E08-D81B-32D0-A483-2F0B6FF89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4328268"/>
            <a:ext cx="8250237" cy="54089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   6 Formatos distintos: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3B9A60B4-A794-E37F-F6AD-CC8878D6EF28}"/>
              </a:ext>
            </a:extLst>
          </p:cNvPr>
          <p:cNvSpPr txBox="1"/>
          <p:nvPr/>
        </p:nvSpPr>
        <p:spPr>
          <a:xfrm>
            <a:off x="1403648" y="4869160"/>
            <a:ext cx="7056784" cy="150810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800100" lvl="1" indent="-342900" algn="l">
              <a:buFont typeface="Wingdings" pitchFamily="2" charset="2"/>
              <a:buChar char="ü"/>
            </a:pPr>
            <a:r>
              <a:rPr lang="es-ES" dirty="0"/>
              <a:t>R (</a:t>
            </a:r>
            <a:r>
              <a:rPr lang="es-ES" dirty="0" err="1"/>
              <a:t>Register-register</a:t>
            </a:r>
            <a:r>
              <a:rPr lang="es-ES" dirty="0"/>
              <a:t>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" dirty="0"/>
              <a:t>I (Inmediate)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" dirty="0"/>
              <a:t>S (Store)</a:t>
            </a:r>
          </a:p>
          <a:p>
            <a:pPr marL="800100" lvl="1" indent="-342900" algn="l">
              <a:buFont typeface="Wingdings" pitchFamily="2" charset="2"/>
              <a:buChar char="ü"/>
            </a:pPr>
            <a:endParaRPr lang="es-ES" dirty="0"/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" dirty="0"/>
              <a:t>B (Branch)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" dirty="0"/>
              <a:t>U (</a:t>
            </a:r>
            <a:r>
              <a:rPr lang="es-ES" dirty="0" err="1"/>
              <a:t>Upper</a:t>
            </a:r>
            <a:r>
              <a:rPr lang="es-ES" dirty="0"/>
              <a:t> Inmediate)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" dirty="0"/>
              <a:t>J (</a:t>
            </a:r>
            <a:r>
              <a:rPr lang="es-ES" dirty="0" err="1"/>
              <a:t>Jump</a:t>
            </a:r>
            <a:r>
              <a:rPr lang="es-ES" dirty="0"/>
              <a:t>)</a:t>
            </a:r>
            <a:endParaRPr lang="es-ES_tradnl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4969-4C98-F79E-9CCE-B334A8A0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08A58-4F5F-1E97-2754-9C12AB5D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10C0D87-A2E3-53D2-2641-B973A8764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función de una instrucción se especifica usando el campo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y, en caso de que existan 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funct7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opcode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(bits [6:0] de la instrucción) especifica la clase de instrucción:</a:t>
            </a:r>
          </a:p>
          <a:p>
            <a:pPr lvl="1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Selecciona la ”categoría” de la instrucción</a:t>
            </a:r>
          </a:p>
          <a:p>
            <a:pPr lvl="1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Determina:</a:t>
            </a:r>
          </a:p>
          <a:p>
            <a:pPr lvl="2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Formato de la instrucción (R, I, S, B, U, J)</a:t>
            </a:r>
          </a:p>
          <a:p>
            <a:pPr lvl="2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Determina si existen </a:t>
            </a:r>
            <a:r>
              <a:rPr 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funct3 | funct7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Ruta básica de la instrucción (ALU, load/store,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, etc.).</a:t>
            </a:r>
          </a:p>
          <a:p>
            <a:pPr lvl="2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 usan 7 bits para permitir extensiones futuras</a:t>
            </a:r>
          </a:p>
          <a:p>
            <a:pPr>
              <a:lnSpc>
                <a:spcPct val="100000"/>
              </a:lnSpc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(bits [14:12] de la instrucción) es un selector de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suboperación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Refina el significado de </a:t>
            </a:r>
            <a:r>
              <a:rPr lang="es-E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endParaRPr lang="es-E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Selecciona:</a:t>
            </a:r>
          </a:p>
          <a:p>
            <a:pPr lvl="2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Operación en la ALU (</a:t>
            </a:r>
            <a:r>
              <a:rPr lang="es-E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and, </a:t>
            </a:r>
            <a:r>
              <a:rPr lang="es-E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lvl="2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Ancho de load/store (byte,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Condición de salto (</a:t>
            </a:r>
            <a:r>
              <a:rPr lang="es-E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blt</a:t>
            </a:r>
            <a:r>
              <a:rPr 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>
              <a:lnSpc>
                <a:spcPct val="100000"/>
              </a:lnSpc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funct7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: (bits [31:25] de la instrucción) especifica la variante:</a:t>
            </a:r>
          </a:p>
          <a:p>
            <a:pPr lvl="1">
              <a:lnSpc>
                <a:spcPct val="100000"/>
              </a:lnSpc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Distingue entre operaciones relacionadas. Por ejemplo, </a:t>
            </a:r>
            <a:r>
              <a:rPr lang="es-E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2311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8C916053-F2DA-6677-9F6B-F921FBA01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0567295"/>
              </p:ext>
            </p:extLst>
          </p:nvPr>
        </p:nvGraphicFramePr>
        <p:xfrm>
          <a:off x="1055167" y="1590695"/>
          <a:ext cx="7583813" cy="219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Instrucción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Operación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Formato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opcode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noProof="0" dirty="0">
                          <a:solidFill>
                            <a:schemeClr val="bg1"/>
                          </a:solidFill>
                          <a:latin typeface="Arial Narrow"/>
                          <a:cs typeface="Arial Narrow"/>
                        </a:rPr>
                        <a:t>funct3 |  funct7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+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 –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0100000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</a:t>
                      </a:r>
                      <a:r>
                        <a:rPr lang="es-ES_tradnl" sz="14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</a:t>
                      </a:r>
                      <a:r>
                        <a:rPr lang="es-ES_trad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 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</a:t>
                      </a:r>
                      <a:r>
                        <a:rPr lang="es-ES_tradnl" sz="14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</a:t>
                      </a:r>
                      <a:r>
                        <a:rPr lang="es-ES_trad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*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" sz="1400" kern="1200" dirty="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 Narrow"/>
                        </a:rPr>
                        <a:t>0110011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Arial Narrow"/>
                        <a:ea typeface="+mn-ea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rs&lt;rt, rd = 1</a:t>
                      </a:r>
                    </a:p>
                    <a:p>
                      <a:r>
                        <a:rPr lang="es-ES_tradnl" sz="1400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 rd = 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3" name="30 CuadroTexto">
            <a:extLst>
              <a:ext uri="{FF2B5EF4-FFF2-40B4-BE49-F238E27FC236}">
                <a16:creationId xmlns:a16="http://schemas.microsoft.com/office/drawing/2014/main" id="{6C3650AE-75F8-4C22-A139-4A745F3A0B02}"/>
              </a:ext>
            </a:extLst>
          </p:cNvPr>
          <p:cNvSpPr txBox="1"/>
          <p:nvPr/>
        </p:nvSpPr>
        <p:spPr>
          <a:xfrm>
            <a:off x="2339752" y="5027488"/>
            <a:ext cx="5328592" cy="174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_tradnl" sz="1500" noProof="1">
                <a:cs typeface="Arial" panose="020B0604020202020204" pitchFamily="34" charset="0"/>
              </a:rPr>
              <a:t>Sintaxis:	</a:t>
            </a:r>
            <a:r>
              <a:rPr lang="es-ES_tradnl" sz="1500" noProof="1">
                <a:latin typeface="Courier New" panose="02070309020205020404" pitchFamily="49" charset="0"/>
                <a:cs typeface="Courier New" panose="02070309020205020404" pitchFamily="49" charset="0"/>
              </a:rPr>
              <a:t>add rd, rs1, rs2    </a:t>
            </a:r>
            <a:r>
              <a:rPr lang="es-ES_tradnl" sz="1500" noProof="1">
                <a:cs typeface="Arial" panose="020B0604020202020204" pitchFamily="34" charset="0"/>
              </a:rPr>
              <a:t>rd </a:t>
            </a:r>
            <a:r>
              <a:rPr lang="es-ES_tradnl" sz="1500" noProof="1"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s-ES_tradnl" sz="1500" noProof="1">
                <a:cs typeface="Arial" panose="020B0604020202020204" pitchFamily="34" charset="0"/>
              </a:rPr>
              <a:t> rs1 + rs2</a:t>
            </a:r>
          </a:p>
          <a:p>
            <a:pPr algn="l"/>
            <a:r>
              <a:rPr lang="es-ES_tradnl" sz="1500" noProof="1"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s-ES_tradnl" sz="1500" noProof="1">
                <a:cs typeface="Arial" panose="020B0604020202020204" pitchFamily="34" charset="0"/>
              </a:rPr>
              <a:t>Ejemplos:	</a:t>
            </a:r>
            <a:r>
              <a:rPr lang="es-ES_tradnl" sz="1500" noProof="1">
                <a:latin typeface="Courier New" panose="02070309020205020404" pitchFamily="49" charset="0"/>
                <a:cs typeface="Courier New" panose="02070309020205020404" pitchFamily="49" charset="0"/>
              </a:rPr>
              <a:t>add x1, x2, x3	    </a:t>
            </a:r>
            <a:r>
              <a:rPr lang="es-ES_tradnl" sz="1500" noProof="1">
                <a:cs typeface="Arial" panose="020B0604020202020204" pitchFamily="34" charset="0"/>
              </a:rPr>
              <a:t>x1 </a:t>
            </a:r>
            <a:r>
              <a:rPr lang="es-ES_tradnl" sz="1500" noProof="1"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s-ES_tradnl" sz="1500" noProof="1">
                <a:cs typeface="Arial" panose="020B0604020202020204" pitchFamily="34" charset="0"/>
              </a:rPr>
              <a:t> x2 + x3</a:t>
            </a:r>
          </a:p>
          <a:p>
            <a:pPr algn="l"/>
            <a:r>
              <a:rPr lang="es-ES_tradnl" sz="1500" noProof="1">
                <a:cs typeface="Arial" panose="020B0604020202020204" pitchFamily="34" charset="0"/>
              </a:rPr>
              <a:t>                 	</a:t>
            </a:r>
            <a:r>
              <a:rPr lang="es-ES_tradnl" sz="1500" noProof="1">
                <a:latin typeface="Courier New" panose="02070309020205020404" pitchFamily="49" charset="0"/>
                <a:cs typeface="Courier New" panose="02070309020205020404" pitchFamily="49" charset="0"/>
              </a:rPr>
              <a:t>or  x5, x5, x5	    </a:t>
            </a:r>
            <a:r>
              <a:rPr lang="es-ES_tradnl" sz="1500" noProof="1">
                <a:cs typeface="Arial" panose="020B0604020202020204" pitchFamily="34" charset="0"/>
              </a:rPr>
              <a:t>x5 </a:t>
            </a:r>
            <a:r>
              <a:rPr lang="es-ES_tradnl" sz="1500" noProof="1"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s-ES_tradnl" sz="1500" noProof="1">
                <a:cs typeface="Arial" panose="020B0604020202020204" pitchFamily="34" charset="0"/>
              </a:rPr>
              <a:t> x5 </a:t>
            </a:r>
            <a:r>
              <a:rPr lang="es-ES_tradnl" sz="1600" b="1" dirty="0">
                <a:latin typeface="Arial Narrow"/>
                <a:cs typeface="Arial Narrow"/>
                <a:sym typeface="Symbol"/>
              </a:rPr>
              <a:t></a:t>
            </a:r>
            <a:r>
              <a:rPr lang="es-ES_tradnl" sz="1500" noProof="1">
                <a:cs typeface="Arial" panose="020B0604020202020204" pitchFamily="34" charset="0"/>
              </a:rPr>
              <a:t> x5</a:t>
            </a:r>
          </a:p>
          <a:p>
            <a:pPr algn="l"/>
            <a:r>
              <a:rPr lang="es-ES_tradnl" sz="1500" noProof="1">
                <a:cs typeface="Arial" panose="020B0604020202020204" pitchFamily="34" charset="0"/>
              </a:rPr>
              <a:t>                 	</a:t>
            </a:r>
            <a:r>
              <a:rPr lang="es-ES_tradnl" sz="1500" noProof="1">
                <a:latin typeface="Courier New" panose="02070309020205020404" pitchFamily="49" charset="0"/>
                <a:cs typeface="Courier New" panose="02070309020205020404" pitchFamily="49" charset="0"/>
              </a:rPr>
              <a:t>and x2, x3, x2      </a:t>
            </a:r>
            <a:r>
              <a:rPr lang="es-ES_tradnl" sz="1500" noProof="1">
                <a:cs typeface="Arial" panose="020B0604020202020204" pitchFamily="34" charset="0"/>
              </a:rPr>
              <a:t>x2 </a:t>
            </a:r>
            <a:r>
              <a:rPr lang="es-ES_tradnl" sz="1500" noProof="1">
                <a:cs typeface="Arial" panose="020B0604020202020204" pitchFamily="34" charset="0"/>
                <a:sym typeface="Wingdings" panose="05000000000000000000" pitchFamily="2" charset="2"/>
              </a:rPr>
              <a:t> </a:t>
            </a:r>
            <a:r>
              <a:rPr lang="es-ES_tradnl" sz="1500" noProof="1">
                <a:cs typeface="Arial" panose="020B0604020202020204" pitchFamily="34" charset="0"/>
              </a:rPr>
              <a:t>x3 </a:t>
            </a:r>
            <a:r>
              <a:rPr lang="es-ES_tradnl" sz="1600" b="1" dirty="0">
                <a:latin typeface="Arial Narrow"/>
                <a:cs typeface="Arial Narrow"/>
                <a:sym typeface="Symbol"/>
              </a:rPr>
              <a:t></a:t>
            </a:r>
            <a:r>
              <a:rPr lang="es-ES_tradnl" sz="1500" noProof="1">
                <a:cs typeface="Arial" panose="020B0604020202020204" pitchFamily="34" charset="0"/>
              </a:rPr>
              <a:t> x2</a:t>
            </a:r>
          </a:p>
          <a:p>
            <a:endParaRPr lang="es-ES_tradnl" sz="1500" noProof="1"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AF968F-6004-4D31-8EC6-1279F9AADC78}"/>
              </a:ext>
            </a:extLst>
          </p:cNvPr>
          <p:cNvSpPr txBox="1"/>
          <p:nvPr/>
        </p:nvSpPr>
        <p:spPr>
          <a:xfrm>
            <a:off x="713580" y="1079777"/>
            <a:ext cx="4968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800" noProof="1"/>
              <a:t>Formato R:  Instrucciones aritméticas y lógicas</a:t>
            </a:r>
            <a:endParaRPr lang="es-ES_tradnl" sz="1800" noProof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53F6A2BE-78F6-7EDA-80FE-5EA1C3CA4AE3}"/>
              </a:ext>
            </a:extLst>
          </p:cNvPr>
          <p:cNvGrpSpPr/>
          <p:nvPr/>
        </p:nvGrpSpPr>
        <p:grpSpPr>
          <a:xfrm>
            <a:off x="1616244" y="3881764"/>
            <a:ext cx="5764068" cy="1180085"/>
            <a:chOff x="975305" y="4921594"/>
            <a:chExt cx="3345284" cy="753875"/>
          </a:xfrm>
        </p:grpSpPr>
        <p:grpSp>
          <p:nvGrpSpPr>
            <p:cNvPr id="13" name="Group 9">
              <a:extLst>
                <a:ext uri="{FF2B5EF4-FFF2-40B4-BE49-F238E27FC236}">
                  <a16:creationId xmlns:a16="http://schemas.microsoft.com/office/drawing/2014/main" id="{27345C9D-92F1-FB10-AAE0-E8F0A121E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6" name="Rectangle 10">
                <a:extLst>
                  <a:ext uri="{FF2B5EF4-FFF2-40B4-BE49-F238E27FC236}">
                    <a16:creationId xmlns:a16="http://schemas.microsoft.com/office/drawing/2014/main" id="{281FEDCF-8695-44A0-28CE-DBEA85A02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7" name="Group 155">
                <a:extLst>
                  <a:ext uri="{FF2B5EF4-FFF2-40B4-BE49-F238E27FC236}">
                    <a16:creationId xmlns:a16="http://schemas.microsoft.com/office/drawing/2014/main" id="{3D9C3DAF-1CAE-ABAE-3C11-3EA8A7E405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18" name="Group 5">
                  <a:extLst>
                    <a:ext uri="{FF2B5EF4-FFF2-40B4-BE49-F238E27FC236}">
                      <a16:creationId xmlns:a16="http://schemas.microsoft.com/office/drawing/2014/main" id="{578CFC5C-C1C1-F173-76C0-DC437F42C7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36" name="Rectangle 6">
                    <a:extLst>
                      <a:ext uri="{FF2B5EF4-FFF2-40B4-BE49-F238E27FC236}">
                        <a16:creationId xmlns:a16="http://schemas.microsoft.com/office/drawing/2014/main" id="{3824D618-C753-3355-47DC-DDADE536D6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37" name="Group 7">
                    <a:extLst>
                      <a:ext uri="{FF2B5EF4-FFF2-40B4-BE49-F238E27FC236}">
                        <a16:creationId xmlns:a16="http://schemas.microsoft.com/office/drawing/2014/main" id="{3A223C3F-26B8-8E4A-FDC2-98DBDEBCAB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38" name="Line 9">
                      <a:extLst>
                        <a:ext uri="{FF2B5EF4-FFF2-40B4-BE49-F238E27FC236}">
                          <a16:creationId xmlns:a16="http://schemas.microsoft.com/office/drawing/2014/main" id="{B5EE0548-0528-275E-E0E9-F2E3F7CA5E6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9" name="Line 10">
                      <a:extLst>
                        <a:ext uri="{FF2B5EF4-FFF2-40B4-BE49-F238E27FC236}">
                          <a16:creationId xmlns:a16="http://schemas.microsoft.com/office/drawing/2014/main" id="{0CAD43E0-EC75-14E0-E2A4-1C1D511274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0" name="Line 11">
                      <a:extLst>
                        <a:ext uri="{FF2B5EF4-FFF2-40B4-BE49-F238E27FC236}">
                          <a16:creationId xmlns:a16="http://schemas.microsoft.com/office/drawing/2014/main" id="{45626683-85A4-4D28-FCFD-0D770E3E8B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1" name="Line 12">
                      <a:extLst>
                        <a:ext uri="{FF2B5EF4-FFF2-40B4-BE49-F238E27FC236}">
                          <a16:creationId xmlns:a16="http://schemas.microsoft.com/office/drawing/2014/main" id="{F95A3983-2235-EDFC-DFD8-27060728B48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2" name="Line 13">
                      <a:extLst>
                        <a:ext uri="{FF2B5EF4-FFF2-40B4-BE49-F238E27FC236}">
                          <a16:creationId xmlns:a16="http://schemas.microsoft.com/office/drawing/2014/main" id="{DC42509F-1BCB-4CA6-1115-96089E0BC60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3" name="Line 14">
                      <a:extLst>
                        <a:ext uri="{FF2B5EF4-FFF2-40B4-BE49-F238E27FC236}">
                          <a16:creationId xmlns:a16="http://schemas.microsoft.com/office/drawing/2014/main" id="{93541595-191E-836B-BBB1-B8417AA3708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4" name="Line 15">
                      <a:extLst>
                        <a:ext uri="{FF2B5EF4-FFF2-40B4-BE49-F238E27FC236}">
                          <a16:creationId xmlns:a16="http://schemas.microsoft.com/office/drawing/2014/main" id="{FB0BFC6A-0653-F0EF-89A9-43FED08108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5" name="Line 16">
                      <a:extLst>
                        <a:ext uri="{FF2B5EF4-FFF2-40B4-BE49-F238E27FC236}">
                          <a16:creationId xmlns:a16="http://schemas.microsoft.com/office/drawing/2014/main" id="{C7489E34-71C1-25F2-278C-21C327D837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6" name="Line 17">
                      <a:extLst>
                        <a:ext uri="{FF2B5EF4-FFF2-40B4-BE49-F238E27FC236}">
                          <a16:creationId xmlns:a16="http://schemas.microsoft.com/office/drawing/2014/main" id="{B3D5D01C-6562-625C-B6F2-76BB04DAA6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7" name="Line 18">
                      <a:extLst>
                        <a:ext uri="{FF2B5EF4-FFF2-40B4-BE49-F238E27FC236}">
                          <a16:creationId xmlns:a16="http://schemas.microsoft.com/office/drawing/2014/main" id="{4EA134A4-77DB-D744-3ED1-8D0E7AB6FB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8" name="Line 19">
                      <a:extLst>
                        <a:ext uri="{FF2B5EF4-FFF2-40B4-BE49-F238E27FC236}">
                          <a16:creationId xmlns:a16="http://schemas.microsoft.com/office/drawing/2014/main" id="{C0BBC16E-6120-EA38-4C75-07557516A3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9" name="Line 20">
                      <a:extLst>
                        <a:ext uri="{FF2B5EF4-FFF2-40B4-BE49-F238E27FC236}">
                          <a16:creationId xmlns:a16="http://schemas.microsoft.com/office/drawing/2014/main" id="{0F5BC280-624A-BFA3-859F-91FC1FDD30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0" name="Line 21">
                      <a:extLst>
                        <a:ext uri="{FF2B5EF4-FFF2-40B4-BE49-F238E27FC236}">
                          <a16:creationId xmlns:a16="http://schemas.microsoft.com/office/drawing/2014/main" id="{3AE9F168-1487-C792-21ED-E06D7D47D3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1" name="Line 22">
                      <a:extLst>
                        <a:ext uri="{FF2B5EF4-FFF2-40B4-BE49-F238E27FC236}">
                          <a16:creationId xmlns:a16="http://schemas.microsoft.com/office/drawing/2014/main" id="{9DE2BEC5-8184-423D-E999-30B352646D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2" name="Line 23">
                      <a:extLst>
                        <a:ext uri="{FF2B5EF4-FFF2-40B4-BE49-F238E27FC236}">
                          <a16:creationId xmlns:a16="http://schemas.microsoft.com/office/drawing/2014/main" id="{DC673375-CAC1-6570-C2C5-5EFDD02DE86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3" name="Line 24">
                      <a:extLst>
                        <a:ext uri="{FF2B5EF4-FFF2-40B4-BE49-F238E27FC236}">
                          <a16:creationId xmlns:a16="http://schemas.microsoft.com/office/drawing/2014/main" id="{687DB40F-B689-8A85-A767-EE679A7A22D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4" name="Line 25">
                      <a:extLst>
                        <a:ext uri="{FF2B5EF4-FFF2-40B4-BE49-F238E27FC236}">
                          <a16:creationId xmlns:a16="http://schemas.microsoft.com/office/drawing/2014/main" id="{485EC2FA-E936-D21F-F95F-7EAE0FB0ADC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5" name="Line 26">
                      <a:extLst>
                        <a:ext uri="{FF2B5EF4-FFF2-40B4-BE49-F238E27FC236}">
                          <a16:creationId xmlns:a16="http://schemas.microsoft.com/office/drawing/2014/main" id="{91610647-CADD-D6A6-B7BE-BE9826E2294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6" name="Line 27">
                      <a:extLst>
                        <a:ext uri="{FF2B5EF4-FFF2-40B4-BE49-F238E27FC236}">
                          <a16:creationId xmlns:a16="http://schemas.microsoft.com/office/drawing/2014/main" id="{FD8175F8-9317-8584-6E55-F79D1CB91B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7" name="Line 28">
                      <a:extLst>
                        <a:ext uri="{FF2B5EF4-FFF2-40B4-BE49-F238E27FC236}">
                          <a16:creationId xmlns:a16="http://schemas.microsoft.com/office/drawing/2014/main" id="{A8736D5D-5642-05B1-F2F2-C85C8FE448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8" name="Line 29">
                      <a:extLst>
                        <a:ext uri="{FF2B5EF4-FFF2-40B4-BE49-F238E27FC236}">
                          <a16:creationId xmlns:a16="http://schemas.microsoft.com/office/drawing/2014/main" id="{3A8043E1-6D73-AACF-D41E-18AE9BD5F14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9" name="Line 30">
                      <a:extLst>
                        <a:ext uri="{FF2B5EF4-FFF2-40B4-BE49-F238E27FC236}">
                          <a16:creationId xmlns:a16="http://schemas.microsoft.com/office/drawing/2014/main" id="{EFC16990-F1C1-85C7-CB0C-4473DA7B51B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0" name="Line 31">
                      <a:extLst>
                        <a:ext uri="{FF2B5EF4-FFF2-40B4-BE49-F238E27FC236}">
                          <a16:creationId xmlns:a16="http://schemas.microsoft.com/office/drawing/2014/main" id="{DFB54ECD-DB94-4DD7-61DA-5982C78DE06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1" name="Line 32">
                      <a:extLst>
                        <a:ext uri="{FF2B5EF4-FFF2-40B4-BE49-F238E27FC236}">
                          <a16:creationId xmlns:a16="http://schemas.microsoft.com/office/drawing/2014/main" id="{CDF7FA2D-60D2-F8C3-72FB-5595C92C27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2" name="Line 33">
                      <a:extLst>
                        <a:ext uri="{FF2B5EF4-FFF2-40B4-BE49-F238E27FC236}">
                          <a16:creationId xmlns:a16="http://schemas.microsoft.com/office/drawing/2014/main" id="{78997FE1-7C8F-38D7-0EF9-1856B30625E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3" name="Line 34">
                      <a:extLst>
                        <a:ext uri="{FF2B5EF4-FFF2-40B4-BE49-F238E27FC236}">
                          <a16:creationId xmlns:a16="http://schemas.microsoft.com/office/drawing/2014/main" id="{A12D46E7-6AE2-6717-9CD0-41577A426F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8" name="Line 35">
                      <a:extLst>
                        <a:ext uri="{FF2B5EF4-FFF2-40B4-BE49-F238E27FC236}">
                          <a16:creationId xmlns:a16="http://schemas.microsoft.com/office/drawing/2014/main" id="{F98AD836-C1B9-BFC6-A678-7F193E7366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9" name="Line 36">
                      <a:extLst>
                        <a:ext uri="{FF2B5EF4-FFF2-40B4-BE49-F238E27FC236}">
                          <a16:creationId xmlns:a16="http://schemas.microsoft.com/office/drawing/2014/main" id="{B1A219C4-E720-D9D4-B9F9-FA3EC42636D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0" name="Line 37">
                      <a:extLst>
                        <a:ext uri="{FF2B5EF4-FFF2-40B4-BE49-F238E27FC236}">
                          <a16:creationId xmlns:a16="http://schemas.microsoft.com/office/drawing/2014/main" id="{176A29D9-C0D1-E3AC-C15B-D749126079F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1" name="Line 38">
                      <a:extLst>
                        <a:ext uri="{FF2B5EF4-FFF2-40B4-BE49-F238E27FC236}">
                          <a16:creationId xmlns:a16="http://schemas.microsoft.com/office/drawing/2014/main" id="{DF458F77-7C7E-9D57-3C22-E9794C4F4DE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9" name="Line 39">
                  <a:extLst>
                    <a:ext uri="{FF2B5EF4-FFF2-40B4-BE49-F238E27FC236}">
                      <a16:creationId xmlns:a16="http://schemas.microsoft.com/office/drawing/2014/main" id="{065A0447-A9BB-39FA-7BAD-E7E9EBD699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0" name="Text Box 40">
                  <a:extLst>
                    <a:ext uri="{FF2B5EF4-FFF2-40B4-BE49-F238E27FC236}">
                      <a16:creationId xmlns:a16="http://schemas.microsoft.com/office/drawing/2014/main" id="{134CDB95-2F40-CCA4-3866-30DEB16654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1" name="Text Box 41">
                  <a:extLst>
                    <a:ext uri="{FF2B5EF4-FFF2-40B4-BE49-F238E27FC236}">
                      <a16:creationId xmlns:a16="http://schemas.microsoft.com/office/drawing/2014/main" id="{1000D61C-1520-17BB-F26B-21BE3A3494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2" name="Line 42">
                  <a:extLst>
                    <a:ext uri="{FF2B5EF4-FFF2-40B4-BE49-F238E27FC236}">
                      <a16:creationId xmlns:a16="http://schemas.microsoft.com/office/drawing/2014/main" id="{F1C6D3AF-9C02-40E7-9EFC-CC1814563A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3" name="Line 43">
                  <a:extLst>
                    <a:ext uri="{FF2B5EF4-FFF2-40B4-BE49-F238E27FC236}">
                      <a16:creationId xmlns:a16="http://schemas.microsoft.com/office/drawing/2014/main" id="{E32C8DB5-753A-7E82-681C-FBF3F26096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4" name="Line 44">
                  <a:extLst>
                    <a:ext uri="{FF2B5EF4-FFF2-40B4-BE49-F238E27FC236}">
                      <a16:creationId xmlns:a16="http://schemas.microsoft.com/office/drawing/2014/main" id="{FAC93DFC-F52A-BDAC-9D7A-D20019889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5" name="Text Box 45">
                  <a:extLst>
                    <a:ext uri="{FF2B5EF4-FFF2-40B4-BE49-F238E27FC236}">
                      <a16:creationId xmlns:a16="http://schemas.microsoft.com/office/drawing/2014/main" id="{260BFB4F-FBF7-89AE-9FA0-3C9CC4CA37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6" name="Text Box 46">
                  <a:extLst>
                    <a:ext uri="{FF2B5EF4-FFF2-40B4-BE49-F238E27FC236}">
                      <a16:creationId xmlns:a16="http://schemas.microsoft.com/office/drawing/2014/main" id="{4570712A-57C2-5A90-D521-7107141973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7" name="Text Box 47">
                  <a:extLst>
                    <a:ext uri="{FF2B5EF4-FFF2-40B4-BE49-F238E27FC236}">
                      <a16:creationId xmlns:a16="http://schemas.microsoft.com/office/drawing/2014/main" id="{76F2C3B7-FCC7-74F1-B6BD-09669D6CAE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8" name="Text Box 48">
                  <a:extLst>
                    <a:ext uri="{FF2B5EF4-FFF2-40B4-BE49-F238E27FC236}">
                      <a16:creationId xmlns:a16="http://schemas.microsoft.com/office/drawing/2014/main" id="{98E6C56D-23C8-76EB-B76A-A686B2163D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9" name="Text Box 49">
                  <a:extLst>
                    <a:ext uri="{FF2B5EF4-FFF2-40B4-BE49-F238E27FC236}">
                      <a16:creationId xmlns:a16="http://schemas.microsoft.com/office/drawing/2014/main" id="{F60148E3-5A74-84E7-92BB-3D41718313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0" name="Text Box 50">
                  <a:extLst>
                    <a:ext uri="{FF2B5EF4-FFF2-40B4-BE49-F238E27FC236}">
                      <a16:creationId xmlns:a16="http://schemas.microsoft.com/office/drawing/2014/main" id="{29D48B54-37AA-1959-5ABF-EB5614DB23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1" name="Text Box 51">
                  <a:extLst>
                    <a:ext uri="{FF2B5EF4-FFF2-40B4-BE49-F238E27FC236}">
                      <a16:creationId xmlns:a16="http://schemas.microsoft.com/office/drawing/2014/main" id="{41E70919-CE5C-521E-CD84-34264BE343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2" name="Text Box 52">
                  <a:extLst>
                    <a:ext uri="{FF2B5EF4-FFF2-40B4-BE49-F238E27FC236}">
                      <a16:creationId xmlns:a16="http://schemas.microsoft.com/office/drawing/2014/main" id="{C435FB3B-D5CF-20F4-741C-E2CE9A61CD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3" name="Text Box 53">
                  <a:extLst>
                    <a:ext uri="{FF2B5EF4-FFF2-40B4-BE49-F238E27FC236}">
                      <a16:creationId xmlns:a16="http://schemas.microsoft.com/office/drawing/2014/main" id="{7F1F704A-CA5A-A7E7-A934-75D4289772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4" name="Line 153">
                  <a:extLst>
                    <a:ext uri="{FF2B5EF4-FFF2-40B4-BE49-F238E27FC236}">
                      <a16:creationId xmlns:a16="http://schemas.microsoft.com/office/drawing/2014/main" id="{657A7827-46B3-A608-74C4-023A6C2E4E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5" name="Text Box 154">
                  <a:extLst>
                    <a:ext uri="{FF2B5EF4-FFF2-40B4-BE49-F238E27FC236}">
                      <a16:creationId xmlns:a16="http://schemas.microsoft.com/office/drawing/2014/main" id="{B4AEB361-FF28-ED06-D50D-FB5B3E1F7D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4" name="Text Box 41">
              <a:extLst>
                <a:ext uri="{FF2B5EF4-FFF2-40B4-BE49-F238E27FC236}">
                  <a16:creationId xmlns:a16="http://schemas.microsoft.com/office/drawing/2014/main" id="{13A7BC0E-58F9-D48F-77AA-40091283B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0779EC6C-DDC3-67FE-BCB1-92AA7C291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37" name="Título 136">
            <a:extLst>
              <a:ext uri="{FF2B5EF4-FFF2-40B4-BE49-F238E27FC236}">
                <a16:creationId xmlns:a16="http://schemas.microsoft.com/office/drawing/2014/main" id="{34C9B338-5DAD-10CF-2594-33E95FD4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  <a:endParaRPr lang="es-ES_tradnl" sz="2800" dirty="0"/>
          </a:p>
        </p:txBody>
      </p:sp>
    </p:spTree>
    <p:extLst>
      <p:ext uri="{BB962C8B-B14F-4D97-AF65-F5344CB8AC3E}">
        <p14:creationId xmlns:p14="http://schemas.microsoft.com/office/powerpoint/2010/main" val="943592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5900-2545-5167-1740-07136CB5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upo 56">
            <a:extLst>
              <a:ext uri="{FF2B5EF4-FFF2-40B4-BE49-F238E27FC236}">
                <a16:creationId xmlns:a16="http://schemas.microsoft.com/office/drawing/2014/main" id="{BDAABDA0-7712-3985-DB7A-6308205BDA32}"/>
              </a:ext>
            </a:extLst>
          </p:cNvPr>
          <p:cNvGrpSpPr/>
          <p:nvPr/>
        </p:nvGrpSpPr>
        <p:grpSpPr>
          <a:xfrm>
            <a:off x="2624356" y="1052736"/>
            <a:ext cx="5764068" cy="1180085"/>
            <a:chOff x="975305" y="4921594"/>
            <a:chExt cx="3345284" cy="753875"/>
          </a:xfrm>
        </p:grpSpPr>
        <p:grpSp>
          <p:nvGrpSpPr>
            <p:cNvPr id="61" name="Group 9">
              <a:extLst>
                <a:ext uri="{FF2B5EF4-FFF2-40B4-BE49-F238E27FC236}">
                  <a16:creationId xmlns:a16="http://schemas.microsoft.com/office/drawing/2014/main" id="{77B3FB25-5749-9F46-759D-67DE08E72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64" name="Rectangle 10">
                <a:extLst>
                  <a:ext uri="{FF2B5EF4-FFF2-40B4-BE49-F238E27FC236}">
                    <a16:creationId xmlns:a16="http://schemas.microsoft.com/office/drawing/2014/main" id="{8D3A748E-97A9-07B8-A488-CADB9444A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65" name="Group 155">
                <a:extLst>
                  <a:ext uri="{FF2B5EF4-FFF2-40B4-BE49-F238E27FC236}">
                    <a16:creationId xmlns:a16="http://schemas.microsoft.com/office/drawing/2014/main" id="{73847208-9AD9-B51A-92A8-30E17C40C3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66" name="Group 5">
                  <a:extLst>
                    <a:ext uri="{FF2B5EF4-FFF2-40B4-BE49-F238E27FC236}">
                      <a16:creationId xmlns:a16="http://schemas.microsoft.com/office/drawing/2014/main" id="{360AF166-C1AB-2CAF-5E10-330A9CD0BE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85" name="Rectangle 6">
                    <a:extLst>
                      <a:ext uri="{FF2B5EF4-FFF2-40B4-BE49-F238E27FC236}">
                        <a16:creationId xmlns:a16="http://schemas.microsoft.com/office/drawing/2014/main" id="{2A9FFCF6-7ADD-BBA2-8B6D-066FA3989C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86" name="Group 7">
                    <a:extLst>
                      <a:ext uri="{FF2B5EF4-FFF2-40B4-BE49-F238E27FC236}">
                        <a16:creationId xmlns:a16="http://schemas.microsoft.com/office/drawing/2014/main" id="{AC87FC83-0663-8BEC-C196-77C53E77610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87" name="Line 9">
                      <a:extLst>
                        <a:ext uri="{FF2B5EF4-FFF2-40B4-BE49-F238E27FC236}">
                          <a16:creationId xmlns:a16="http://schemas.microsoft.com/office/drawing/2014/main" id="{FF12DE32-0485-98B6-E8DA-3D4D6650B69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8" name="Line 10">
                      <a:extLst>
                        <a:ext uri="{FF2B5EF4-FFF2-40B4-BE49-F238E27FC236}">
                          <a16:creationId xmlns:a16="http://schemas.microsoft.com/office/drawing/2014/main" id="{0D0492CF-7955-A4AD-75A3-1C574DBC40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9" name="Line 11">
                      <a:extLst>
                        <a:ext uri="{FF2B5EF4-FFF2-40B4-BE49-F238E27FC236}">
                          <a16:creationId xmlns:a16="http://schemas.microsoft.com/office/drawing/2014/main" id="{936AB55A-4126-54D1-9AD0-AAA9FC9B4D4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0" name="Line 12">
                      <a:extLst>
                        <a:ext uri="{FF2B5EF4-FFF2-40B4-BE49-F238E27FC236}">
                          <a16:creationId xmlns:a16="http://schemas.microsoft.com/office/drawing/2014/main" id="{E9EBED6B-65FF-7BD6-8FF9-40A915AC2D6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1" name="Line 13">
                      <a:extLst>
                        <a:ext uri="{FF2B5EF4-FFF2-40B4-BE49-F238E27FC236}">
                          <a16:creationId xmlns:a16="http://schemas.microsoft.com/office/drawing/2014/main" id="{01C59558-386E-5917-BFE5-61EDA0F209C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2" name="Line 14">
                      <a:extLst>
                        <a:ext uri="{FF2B5EF4-FFF2-40B4-BE49-F238E27FC236}">
                          <a16:creationId xmlns:a16="http://schemas.microsoft.com/office/drawing/2014/main" id="{17CB653C-A093-A436-5248-67AF93F309F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4" name="Line 15">
                      <a:extLst>
                        <a:ext uri="{FF2B5EF4-FFF2-40B4-BE49-F238E27FC236}">
                          <a16:creationId xmlns:a16="http://schemas.microsoft.com/office/drawing/2014/main" id="{5262A40D-5187-004B-6437-64DF861C936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3" name="Line 16">
                      <a:extLst>
                        <a:ext uri="{FF2B5EF4-FFF2-40B4-BE49-F238E27FC236}">
                          <a16:creationId xmlns:a16="http://schemas.microsoft.com/office/drawing/2014/main" id="{A21CE5BD-4DB9-B080-02F3-DA54902D51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4" name="Line 17">
                      <a:extLst>
                        <a:ext uri="{FF2B5EF4-FFF2-40B4-BE49-F238E27FC236}">
                          <a16:creationId xmlns:a16="http://schemas.microsoft.com/office/drawing/2014/main" id="{97703E68-54A3-C27B-0E7A-5920F6D889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5" name="Line 18">
                      <a:extLst>
                        <a:ext uri="{FF2B5EF4-FFF2-40B4-BE49-F238E27FC236}">
                          <a16:creationId xmlns:a16="http://schemas.microsoft.com/office/drawing/2014/main" id="{5AC25955-4734-099B-7BA7-52B5BD27942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6" name="Line 19">
                      <a:extLst>
                        <a:ext uri="{FF2B5EF4-FFF2-40B4-BE49-F238E27FC236}">
                          <a16:creationId xmlns:a16="http://schemas.microsoft.com/office/drawing/2014/main" id="{081E072B-2998-BA77-2925-442C68E0F3A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9" name="Line 20">
                      <a:extLst>
                        <a:ext uri="{FF2B5EF4-FFF2-40B4-BE49-F238E27FC236}">
                          <a16:creationId xmlns:a16="http://schemas.microsoft.com/office/drawing/2014/main" id="{7CE750AF-6213-0059-7938-8BF5559AE86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0" name="Line 21">
                      <a:extLst>
                        <a:ext uri="{FF2B5EF4-FFF2-40B4-BE49-F238E27FC236}">
                          <a16:creationId xmlns:a16="http://schemas.microsoft.com/office/drawing/2014/main" id="{85057FA8-A9E1-6C67-BBC6-F973479155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1" name="Line 22">
                      <a:extLst>
                        <a:ext uri="{FF2B5EF4-FFF2-40B4-BE49-F238E27FC236}">
                          <a16:creationId xmlns:a16="http://schemas.microsoft.com/office/drawing/2014/main" id="{8167CD24-5506-B389-278D-703B4B7EC8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2" name="Line 23">
                      <a:extLst>
                        <a:ext uri="{FF2B5EF4-FFF2-40B4-BE49-F238E27FC236}">
                          <a16:creationId xmlns:a16="http://schemas.microsoft.com/office/drawing/2014/main" id="{A5566AA9-11D2-0FC7-C4E3-21D0B859DB8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3" name="Line 24">
                      <a:extLst>
                        <a:ext uri="{FF2B5EF4-FFF2-40B4-BE49-F238E27FC236}">
                          <a16:creationId xmlns:a16="http://schemas.microsoft.com/office/drawing/2014/main" id="{89035999-7A10-A472-8AD6-14C8B681D1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4" name="Line 25">
                      <a:extLst>
                        <a:ext uri="{FF2B5EF4-FFF2-40B4-BE49-F238E27FC236}">
                          <a16:creationId xmlns:a16="http://schemas.microsoft.com/office/drawing/2014/main" id="{A654E0D6-ED5F-087C-4B6C-E4AAFBCA5CA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5" name="Line 26">
                      <a:extLst>
                        <a:ext uri="{FF2B5EF4-FFF2-40B4-BE49-F238E27FC236}">
                          <a16:creationId xmlns:a16="http://schemas.microsoft.com/office/drawing/2014/main" id="{5449C502-8043-D164-7567-62851B480F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6" name="Line 27">
                      <a:extLst>
                        <a:ext uri="{FF2B5EF4-FFF2-40B4-BE49-F238E27FC236}">
                          <a16:creationId xmlns:a16="http://schemas.microsoft.com/office/drawing/2014/main" id="{11CFE275-A8DD-17EF-AB7C-96E1D926FC6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7" name="Line 28">
                      <a:extLst>
                        <a:ext uri="{FF2B5EF4-FFF2-40B4-BE49-F238E27FC236}">
                          <a16:creationId xmlns:a16="http://schemas.microsoft.com/office/drawing/2014/main" id="{85DBB702-8DE6-A9F5-E878-7987C65743A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8" name="Line 29">
                      <a:extLst>
                        <a:ext uri="{FF2B5EF4-FFF2-40B4-BE49-F238E27FC236}">
                          <a16:creationId xmlns:a16="http://schemas.microsoft.com/office/drawing/2014/main" id="{64D9CA41-783D-517B-5AD2-064FBF16520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9" name="Line 30">
                      <a:extLst>
                        <a:ext uri="{FF2B5EF4-FFF2-40B4-BE49-F238E27FC236}">
                          <a16:creationId xmlns:a16="http://schemas.microsoft.com/office/drawing/2014/main" id="{B76582A3-D266-2F13-5A71-4093411DD25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0" name="Line 31">
                      <a:extLst>
                        <a:ext uri="{FF2B5EF4-FFF2-40B4-BE49-F238E27FC236}">
                          <a16:creationId xmlns:a16="http://schemas.microsoft.com/office/drawing/2014/main" id="{1D83C733-AC35-0D06-6E9F-87828DBC70C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1" name="Line 32">
                      <a:extLst>
                        <a:ext uri="{FF2B5EF4-FFF2-40B4-BE49-F238E27FC236}">
                          <a16:creationId xmlns:a16="http://schemas.microsoft.com/office/drawing/2014/main" id="{3FFEC52A-CFB5-AD88-C1A5-A4B424D7B93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2" name="Line 33">
                      <a:extLst>
                        <a:ext uri="{FF2B5EF4-FFF2-40B4-BE49-F238E27FC236}">
                          <a16:creationId xmlns:a16="http://schemas.microsoft.com/office/drawing/2014/main" id="{2602D3E0-6A53-DD16-D397-B2907534E8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3" name="Line 34">
                      <a:extLst>
                        <a:ext uri="{FF2B5EF4-FFF2-40B4-BE49-F238E27FC236}">
                          <a16:creationId xmlns:a16="http://schemas.microsoft.com/office/drawing/2014/main" id="{F5FE2088-25B5-6238-4F72-C4638582E4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4" name="Line 35">
                      <a:extLst>
                        <a:ext uri="{FF2B5EF4-FFF2-40B4-BE49-F238E27FC236}">
                          <a16:creationId xmlns:a16="http://schemas.microsoft.com/office/drawing/2014/main" id="{A2E25883-2B0D-118E-09B0-FB8ED7DCE10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5" name="Line 36">
                      <a:extLst>
                        <a:ext uri="{FF2B5EF4-FFF2-40B4-BE49-F238E27FC236}">
                          <a16:creationId xmlns:a16="http://schemas.microsoft.com/office/drawing/2014/main" id="{B5F0D9C4-F10F-C8E6-3DB3-8A3E3FE1BF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6" name="Line 37">
                      <a:extLst>
                        <a:ext uri="{FF2B5EF4-FFF2-40B4-BE49-F238E27FC236}">
                          <a16:creationId xmlns:a16="http://schemas.microsoft.com/office/drawing/2014/main" id="{99CB6942-94EE-8AE7-004F-861B2359AAE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7" name="Line 38">
                      <a:extLst>
                        <a:ext uri="{FF2B5EF4-FFF2-40B4-BE49-F238E27FC236}">
                          <a16:creationId xmlns:a16="http://schemas.microsoft.com/office/drawing/2014/main" id="{0E04F2F5-C5BE-6D09-8665-62F70672B7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67" name="Line 39">
                  <a:extLst>
                    <a:ext uri="{FF2B5EF4-FFF2-40B4-BE49-F238E27FC236}">
                      <a16:creationId xmlns:a16="http://schemas.microsoft.com/office/drawing/2014/main" id="{EEA27B22-F063-A9EC-6BC5-2974B5F326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68" name="Text Box 40">
                  <a:extLst>
                    <a:ext uri="{FF2B5EF4-FFF2-40B4-BE49-F238E27FC236}">
                      <a16:creationId xmlns:a16="http://schemas.microsoft.com/office/drawing/2014/main" id="{53ED744D-CA2E-E543-7900-A08A09FA61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69" name="Text Box 41">
                  <a:extLst>
                    <a:ext uri="{FF2B5EF4-FFF2-40B4-BE49-F238E27FC236}">
                      <a16:creationId xmlns:a16="http://schemas.microsoft.com/office/drawing/2014/main" id="{A7511977-5D56-CA1E-49A6-F0DBB68569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0" name="Line 42">
                  <a:extLst>
                    <a:ext uri="{FF2B5EF4-FFF2-40B4-BE49-F238E27FC236}">
                      <a16:creationId xmlns:a16="http://schemas.microsoft.com/office/drawing/2014/main" id="{0407E601-115A-7B6D-38FD-6FF99BC2E6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1" name="Line 43">
                  <a:extLst>
                    <a:ext uri="{FF2B5EF4-FFF2-40B4-BE49-F238E27FC236}">
                      <a16:creationId xmlns:a16="http://schemas.microsoft.com/office/drawing/2014/main" id="{5E8087A1-73A2-249C-4F78-A7B12FDB65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2" name="Line 44">
                  <a:extLst>
                    <a:ext uri="{FF2B5EF4-FFF2-40B4-BE49-F238E27FC236}">
                      <a16:creationId xmlns:a16="http://schemas.microsoft.com/office/drawing/2014/main" id="{60D01699-11D0-E0B3-73D2-D11268FDE1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3" name="Text Box 45">
                  <a:extLst>
                    <a:ext uri="{FF2B5EF4-FFF2-40B4-BE49-F238E27FC236}">
                      <a16:creationId xmlns:a16="http://schemas.microsoft.com/office/drawing/2014/main" id="{E7871F15-BB4D-E951-B600-868924569C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4" name="Text Box 46">
                  <a:extLst>
                    <a:ext uri="{FF2B5EF4-FFF2-40B4-BE49-F238E27FC236}">
                      <a16:creationId xmlns:a16="http://schemas.microsoft.com/office/drawing/2014/main" id="{F1380E4C-AE97-42B3-EEB0-4188DC5AD4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5" name="Text Box 47">
                  <a:extLst>
                    <a:ext uri="{FF2B5EF4-FFF2-40B4-BE49-F238E27FC236}">
                      <a16:creationId xmlns:a16="http://schemas.microsoft.com/office/drawing/2014/main" id="{EF74066C-EA57-DE3A-0FE6-4877710FAD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7" name="Text Box 48">
                  <a:extLst>
                    <a:ext uri="{FF2B5EF4-FFF2-40B4-BE49-F238E27FC236}">
                      <a16:creationId xmlns:a16="http://schemas.microsoft.com/office/drawing/2014/main" id="{3754C2A7-617B-6855-3B16-FFF2C286B2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8" name="Text Box 49">
                  <a:extLst>
                    <a:ext uri="{FF2B5EF4-FFF2-40B4-BE49-F238E27FC236}">
                      <a16:creationId xmlns:a16="http://schemas.microsoft.com/office/drawing/2014/main" id="{345AE3A0-447E-45ED-37E5-C880B6C8D5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9" name="Text Box 50">
                  <a:extLst>
                    <a:ext uri="{FF2B5EF4-FFF2-40B4-BE49-F238E27FC236}">
                      <a16:creationId xmlns:a16="http://schemas.microsoft.com/office/drawing/2014/main" id="{1203301F-8D05-7BF6-8879-3D733CED74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0" name="Text Box 51">
                  <a:extLst>
                    <a:ext uri="{FF2B5EF4-FFF2-40B4-BE49-F238E27FC236}">
                      <a16:creationId xmlns:a16="http://schemas.microsoft.com/office/drawing/2014/main" id="{0E59F3CB-2A1D-7C69-2949-391BC5661E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1" name="Text Box 52">
                  <a:extLst>
                    <a:ext uri="{FF2B5EF4-FFF2-40B4-BE49-F238E27FC236}">
                      <a16:creationId xmlns:a16="http://schemas.microsoft.com/office/drawing/2014/main" id="{DDA82509-9C7A-F8D5-09C2-870A76DEE6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2" name="Text Box 53">
                  <a:extLst>
                    <a:ext uri="{FF2B5EF4-FFF2-40B4-BE49-F238E27FC236}">
                      <a16:creationId xmlns:a16="http://schemas.microsoft.com/office/drawing/2014/main" id="{0324B989-89A1-5A07-5C55-72F6FBDF72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3" name="Line 153">
                  <a:extLst>
                    <a:ext uri="{FF2B5EF4-FFF2-40B4-BE49-F238E27FC236}">
                      <a16:creationId xmlns:a16="http://schemas.microsoft.com/office/drawing/2014/main" id="{5F5BDA47-EA36-98AB-CCF1-F34AC3BA2A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4" name="Text Box 154">
                  <a:extLst>
                    <a:ext uri="{FF2B5EF4-FFF2-40B4-BE49-F238E27FC236}">
                      <a16:creationId xmlns:a16="http://schemas.microsoft.com/office/drawing/2014/main" id="{541D0353-6430-0F64-E0DA-C19FE4323D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62" name="Text Box 41">
              <a:extLst>
                <a:ext uri="{FF2B5EF4-FFF2-40B4-BE49-F238E27FC236}">
                  <a16:creationId xmlns:a16="http://schemas.microsoft.com/office/drawing/2014/main" id="{459886CE-9BE3-D4BC-1D21-C5A225AAC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86D85743-930B-1A4C-E87B-94598495F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9A240118-D9F9-1856-7B52-A9B3850D9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Ejemplo de codificación de la instrucción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968C64C-B739-0524-13D0-BBE64E351954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s-ES_tradnl" sz="2000" noProof="1">
                <a:cs typeface="Arial" panose="020B0604020202020204" pitchFamily="34" charset="0"/>
              </a:rPr>
              <a:t>Cómo se codifica en binario la instrucción </a:t>
            </a:r>
            <a:r>
              <a:rPr lang="es-ES_tradnl" sz="1800" noProof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x2, x3, x4</a:t>
            </a: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82550" indent="0">
              <a:buNone/>
            </a:pPr>
            <a:r>
              <a:rPr lang="es-ES_tradnl" sz="1800" noProof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= 0110011</a:t>
            </a:r>
          </a:p>
          <a:p>
            <a:pPr marL="814388" lvl="3" indent="0"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funct3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= 111</a:t>
            </a:r>
          </a:p>
          <a:p>
            <a:pPr marL="814388" lvl="3" indent="0"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funct7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= 0000000</a:t>
            </a:r>
          </a:p>
          <a:p>
            <a:pPr marL="82550" indent="0">
              <a:lnSpc>
                <a:spcPct val="100000"/>
              </a:lnSpc>
              <a:buNone/>
            </a:pP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lnSpc>
                <a:spcPct val="100000"/>
              </a:lnSpc>
              <a:buNone/>
            </a:pP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Registers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60388" lvl="1" indent="-285750">
              <a:lnSpc>
                <a:spcPct val="100000"/>
              </a:lnSpc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= x2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→ 00010</a:t>
            </a:r>
          </a:p>
          <a:p>
            <a:pPr marL="560388" lvl="1" indent="-285750">
              <a:lnSpc>
                <a:spcPct val="100000"/>
              </a:lnSpc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rs1 = x3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→ 00011</a:t>
            </a:r>
          </a:p>
          <a:p>
            <a:pPr marL="560388" lvl="1" indent="-285750">
              <a:lnSpc>
                <a:spcPct val="100000"/>
              </a:lnSpc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rs2 = x4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→ 00100</a:t>
            </a:r>
          </a:p>
          <a:p>
            <a:pPr marL="82550" indent="0">
              <a:lnSpc>
                <a:spcPct val="100000"/>
              </a:lnSpc>
              <a:buNone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Total:</a:t>
            </a:r>
          </a:p>
          <a:p>
            <a:pPr marL="403225" lvl="1" indent="0">
              <a:lnSpc>
                <a:spcPct val="100000"/>
              </a:lnSpc>
              <a:buNone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0000000   00100   00011   111   00010   0110011  =  0x0041F133</a:t>
            </a:r>
          </a:p>
          <a:p>
            <a:pPr marL="82550" indent="0">
              <a:buNone/>
            </a:pPr>
            <a:endParaRPr lang="es-ES_tradnl" sz="2000" noProof="1"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1"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rchete izquierdo 3">
            <a:extLst>
              <a:ext uri="{FF2B5EF4-FFF2-40B4-BE49-F238E27FC236}">
                <a16:creationId xmlns:a16="http://schemas.microsoft.com/office/drawing/2014/main" id="{AAD44DDD-E2B9-E537-5AEC-8A0F0812B8F9}"/>
              </a:ext>
            </a:extLst>
          </p:cNvPr>
          <p:cNvSpPr/>
          <p:nvPr/>
        </p:nvSpPr>
        <p:spPr bwMode="auto">
          <a:xfrm rot="16200000">
            <a:off x="2481437" y="5757108"/>
            <a:ext cx="166174" cy="650217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orchete izquierdo 6">
            <a:extLst>
              <a:ext uri="{FF2B5EF4-FFF2-40B4-BE49-F238E27FC236}">
                <a16:creationId xmlns:a16="http://schemas.microsoft.com/office/drawing/2014/main" id="{49DEA414-FE6E-2209-A602-C8754329B12A}"/>
              </a:ext>
            </a:extLst>
          </p:cNvPr>
          <p:cNvSpPr/>
          <p:nvPr/>
        </p:nvSpPr>
        <p:spPr bwMode="auto">
          <a:xfrm rot="16200000">
            <a:off x="3216199" y="5842761"/>
            <a:ext cx="166176" cy="47890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orchete izquierdo 7">
            <a:extLst>
              <a:ext uri="{FF2B5EF4-FFF2-40B4-BE49-F238E27FC236}">
                <a16:creationId xmlns:a16="http://schemas.microsoft.com/office/drawing/2014/main" id="{799D609B-9122-78FE-3483-270B49201245}"/>
              </a:ext>
            </a:extLst>
          </p:cNvPr>
          <p:cNvSpPr/>
          <p:nvPr/>
        </p:nvSpPr>
        <p:spPr bwMode="auto">
          <a:xfrm rot="16200000">
            <a:off x="3817409" y="5842761"/>
            <a:ext cx="166176" cy="47890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Corchete izquierdo 8">
            <a:extLst>
              <a:ext uri="{FF2B5EF4-FFF2-40B4-BE49-F238E27FC236}">
                <a16:creationId xmlns:a16="http://schemas.microsoft.com/office/drawing/2014/main" id="{01E1D2AD-74DC-FFD6-55E8-95AAEF7B553D}"/>
              </a:ext>
            </a:extLst>
          </p:cNvPr>
          <p:cNvSpPr/>
          <p:nvPr/>
        </p:nvSpPr>
        <p:spPr bwMode="auto">
          <a:xfrm rot="16200000">
            <a:off x="4872383" y="5842761"/>
            <a:ext cx="166176" cy="47890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orchete izquierdo 11">
            <a:extLst>
              <a:ext uri="{FF2B5EF4-FFF2-40B4-BE49-F238E27FC236}">
                <a16:creationId xmlns:a16="http://schemas.microsoft.com/office/drawing/2014/main" id="{9B8412E0-AAAD-0161-3F0D-49546C6FE670}"/>
              </a:ext>
            </a:extLst>
          </p:cNvPr>
          <p:cNvSpPr/>
          <p:nvPr/>
        </p:nvSpPr>
        <p:spPr bwMode="auto">
          <a:xfrm rot="16200000">
            <a:off x="5569433" y="5815944"/>
            <a:ext cx="166176" cy="576865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CD88C29-54FD-6BD5-0454-8F8FF4CC71CB}"/>
              </a:ext>
            </a:extLst>
          </p:cNvPr>
          <p:cNvSpPr txBox="1"/>
          <p:nvPr/>
        </p:nvSpPr>
        <p:spPr>
          <a:xfrm>
            <a:off x="2117189" y="6165304"/>
            <a:ext cx="8290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funct7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EAD50E-01BA-3CD9-51F6-26D85A8A6FEC}"/>
              </a:ext>
            </a:extLst>
          </p:cNvPr>
          <p:cNvSpPr txBox="1"/>
          <p:nvPr/>
        </p:nvSpPr>
        <p:spPr>
          <a:xfrm>
            <a:off x="4049093" y="6361583"/>
            <a:ext cx="8290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FE17A80-F096-C450-794B-0D58BEF25F16}"/>
              </a:ext>
            </a:extLst>
          </p:cNvPr>
          <p:cNvSpPr txBox="1"/>
          <p:nvPr/>
        </p:nvSpPr>
        <p:spPr>
          <a:xfrm>
            <a:off x="3038711" y="6165304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EFF6318-C200-1364-661F-9944F926A815}"/>
              </a:ext>
            </a:extLst>
          </p:cNvPr>
          <p:cNvSpPr txBox="1"/>
          <p:nvPr/>
        </p:nvSpPr>
        <p:spPr>
          <a:xfrm>
            <a:off x="3635896" y="6165304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C530F-A2D0-E123-253E-448409D10199}"/>
              </a:ext>
            </a:extLst>
          </p:cNvPr>
          <p:cNvSpPr txBox="1"/>
          <p:nvPr/>
        </p:nvSpPr>
        <p:spPr>
          <a:xfrm>
            <a:off x="4766903" y="6165304"/>
            <a:ext cx="399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594D819-903E-BFF1-FD2B-B1A8E7F4BF9F}"/>
              </a:ext>
            </a:extLst>
          </p:cNvPr>
          <p:cNvSpPr txBox="1"/>
          <p:nvPr/>
        </p:nvSpPr>
        <p:spPr>
          <a:xfrm>
            <a:off x="5220072" y="616530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endParaRPr lang="es-ES_tradnl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Corchete izquierdo 26">
            <a:extLst>
              <a:ext uri="{FF2B5EF4-FFF2-40B4-BE49-F238E27FC236}">
                <a16:creationId xmlns:a16="http://schemas.microsoft.com/office/drawing/2014/main" id="{6DA6075D-F33C-5125-219A-93EACEB5C3A2}"/>
              </a:ext>
            </a:extLst>
          </p:cNvPr>
          <p:cNvSpPr/>
          <p:nvPr/>
        </p:nvSpPr>
        <p:spPr bwMode="auto">
          <a:xfrm rot="16200000">
            <a:off x="4379408" y="5997857"/>
            <a:ext cx="144015" cy="19087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3332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45EB-E661-23E4-EA64-6CAA14B8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4BB566F-D4FD-BDDC-563E-866427F7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700ED43B-2FD5-067B-2D84-20215D883384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¿Cómo se relaciona con el resto de formatos?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Partimos como caso general del formato R: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2 operandos fuente (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rs1, rs2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) y un operando destino (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7+3 bits para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5 bits por registro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Mantener las </a:t>
            </a:r>
            <a:r>
              <a:rPr lang="es-E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mismas posiciones del formato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y aquellos operandos en registros que existan en cada uno de los formatos restantes</a:t>
            </a:r>
          </a:p>
          <a:p>
            <a:pPr marL="82550" indent="0">
              <a:buNone/>
            </a:pPr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B82E9385-761F-147A-7412-07124E72EBA4}"/>
              </a:ext>
            </a:extLst>
          </p:cNvPr>
          <p:cNvGrpSpPr/>
          <p:nvPr/>
        </p:nvGrpSpPr>
        <p:grpSpPr>
          <a:xfrm>
            <a:off x="2624356" y="1052736"/>
            <a:ext cx="5764068" cy="1180085"/>
            <a:chOff x="975305" y="4921594"/>
            <a:chExt cx="3345284" cy="753875"/>
          </a:xfrm>
        </p:grpSpPr>
        <p:grpSp>
          <p:nvGrpSpPr>
            <p:cNvPr id="63" name="Group 9">
              <a:extLst>
                <a:ext uri="{FF2B5EF4-FFF2-40B4-BE49-F238E27FC236}">
                  <a16:creationId xmlns:a16="http://schemas.microsoft.com/office/drawing/2014/main" id="{BF652A0A-147F-EE8A-A0F7-8F8570C99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66" name="Rectangle 10">
                <a:extLst>
                  <a:ext uri="{FF2B5EF4-FFF2-40B4-BE49-F238E27FC236}">
                    <a16:creationId xmlns:a16="http://schemas.microsoft.com/office/drawing/2014/main" id="{7147F20F-5328-952B-E941-4DB86B3BC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67" name="Group 155">
                <a:extLst>
                  <a:ext uri="{FF2B5EF4-FFF2-40B4-BE49-F238E27FC236}">
                    <a16:creationId xmlns:a16="http://schemas.microsoft.com/office/drawing/2014/main" id="{C0E53FE9-6D1D-3240-B9C7-531D450243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68" name="Group 5">
                  <a:extLst>
                    <a:ext uri="{FF2B5EF4-FFF2-40B4-BE49-F238E27FC236}">
                      <a16:creationId xmlns:a16="http://schemas.microsoft.com/office/drawing/2014/main" id="{F26B4A7B-80EF-642C-F287-51AA0C5BBA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87" name="Rectangle 6">
                    <a:extLst>
                      <a:ext uri="{FF2B5EF4-FFF2-40B4-BE49-F238E27FC236}">
                        <a16:creationId xmlns:a16="http://schemas.microsoft.com/office/drawing/2014/main" id="{7CFF40B8-8971-4362-62F6-1E0D6F6D8F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88" name="Group 7">
                    <a:extLst>
                      <a:ext uri="{FF2B5EF4-FFF2-40B4-BE49-F238E27FC236}">
                        <a16:creationId xmlns:a16="http://schemas.microsoft.com/office/drawing/2014/main" id="{8E1F2D8E-11AA-3B4A-FE28-0F71636041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89" name="Line 9">
                      <a:extLst>
                        <a:ext uri="{FF2B5EF4-FFF2-40B4-BE49-F238E27FC236}">
                          <a16:creationId xmlns:a16="http://schemas.microsoft.com/office/drawing/2014/main" id="{EC8791BF-EEDD-8699-2872-7B25D0194D4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0" name="Line 10">
                      <a:extLst>
                        <a:ext uri="{FF2B5EF4-FFF2-40B4-BE49-F238E27FC236}">
                          <a16:creationId xmlns:a16="http://schemas.microsoft.com/office/drawing/2014/main" id="{5CE45A04-7A9E-C3DE-4E4D-BC63914CEF2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1" name="Line 11">
                      <a:extLst>
                        <a:ext uri="{FF2B5EF4-FFF2-40B4-BE49-F238E27FC236}">
                          <a16:creationId xmlns:a16="http://schemas.microsoft.com/office/drawing/2014/main" id="{D4EEF497-5698-EE7A-5BE3-BCBF1E7017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2" name="Line 12">
                      <a:extLst>
                        <a:ext uri="{FF2B5EF4-FFF2-40B4-BE49-F238E27FC236}">
                          <a16:creationId xmlns:a16="http://schemas.microsoft.com/office/drawing/2014/main" id="{4A914839-2970-8BBF-3211-FF79B5DF06C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4" name="Line 13">
                      <a:extLst>
                        <a:ext uri="{FF2B5EF4-FFF2-40B4-BE49-F238E27FC236}">
                          <a16:creationId xmlns:a16="http://schemas.microsoft.com/office/drawing/2014/main" id="{8A562FF2-22C7-B5A4-058B-843D6D7E592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3" name="Line 14">
                      <a:extLst>
                        <a:ext uri="{FF2B5EF4-FFF2-40B4-BE49-F238E27FC236}">
                          <a16:creationId xmlns:a16="http://schemas.microsoft.com/office/drawing/2014/main" id="{84443213-4D50-CFA6-8A7A-1BC3F135BC8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4" name="Line 15">
                      <a:extLst>
                        <a:ext uri="{FF2B5EF4-FFF2-40B4-BE49-F238E27FC236}">
                          <a16:creationId xmlns:a16="http://schemas.microsoft.com/office/drawing/2014/main" id="{8C778999-4B77-766A-698A-C694322E07E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5" name="Line 16">
                      <a:extLst>
                        <a:ext uri="{FF2B5EF4-FFF2-40B4-BE49-F238E27FC236}">
                          <a16:creationId xmlns:a16="http://schemas.microsoft.com/office/drawing/2014/main" id="{71A6B73B-930D-69D2-193A-C989CB10AEF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6" name="Line 17">
                      <a:extLst>
                        <a:ext uri="{FF2B5EF4-FFF2-40B4-BE49-F238E27FC236}">
                          <a16:creationId xmlns:a16="http://schemas.microsoft.com/office/drawing/2014/main" id="{311C1161-0403-CF18-C008-660845893D6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09" name="Line 18">
                      <a:extLst>
                        <a:ext uri="{FF2B5EF4-FFF2-40B4-BE49-F238E27FC236}">
                          <a16:creationId xmlns:a16="http://schemas.microsoft.com/office/drawing/2014/main" id="{ABCB8715-6097-6A5A-9A24-5147CFE2B98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0" name="Line 19">
                      <a:extLst>
                        <a:ext uri="{FF2B5EF4-FFF2-40B4-BE49-F238E27FC236}">
                          <a16:creationId xmlns:a16="http://schemas.microsoft.com/office/drawing/2014/main" id="{07260536-E69B-68DA-C826-8888C3B577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1" name="Line 20">
                      <a:extLst>
                        <a:ext uri="{FF2B5EF4-FFF2-40B4-BE49-F238E27FC236}">
                          <a16:creationId xmlns:a16="http://schemas.microsoft.com/office/drawing/2014/main" id="{234D131F-25A7-E094-F8F6-A9B93D32D55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2" name="Line 21">
                      <a:extLst>
                        <a:ext uri="{FF2B5EF4-FFF2-40B4-BE49-F238E27FC236}">
                          <a16:creationId xmlns:a16="http://schemas.microsoft.com/office/drawing/2014/main" id="{AC6E2878-DDF7-FA95-233C-720683DF8E4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3" name="Line 22">
                      <a:extLst>
                        <a:ext uri="{FF2B5EF4-FFF2-40B4-BE49-F238E27FC236}">
                          <a16:creationId xmlns:a16="http://schemas.microsoft.com/office/drawing/2014/main" id="{A6B1C65A-744D-1C62-E54B-DF0C21E2E8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4" name="Line 23">
                      <a:extLst>
                        <a:ext uri="{FF2B5EF4-FFF2-40B4-BE49-F238E27FC236}">
                          <a16:creationId xmlns:a16="http://schemas.microsoft.com/office/drawing/2014/main" id="{87B83EA8-E50A-C767-BD3E-593E3E29AE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5" name="Line 24">
                      <a:extLst>
                        <a:ext uri="{FF2B5EF4-FFF2-40B4-BE49-F238E27FC236}">
                          <a16:creationId xmlns:a16="http://schemas.microsoft.com/office/drawing/2014/main" id="{189C6DAC-EC95-9E7C-DB88-38ED4EE92EB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6" name="Line 25">
                      <a:extLst>
                        <a:ext uri="{FF2B5EF4-FFF2-40B4-BE49-F238E27FC236}">
                          <a16:creationId xmlns:a16="http://schemas.microsoft.com/office/drawing/2014/main" id="{9CC9CFA7-659D-4F40-2E59-16A0AC8A938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7" name="Line 26">
                      <a:extLst>
                        <a:ext uri="{FF2B5EF4-FFF2-40B4-BE49-F238E27FC236}">
                          <a16:creationId xmlns:a16="http://schemas.microsoft.com/office/drawing/2014/main" id="{3A750B6F-F0A8-69DC-F03B-1DA3B12B716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8" name="Line 27">
                      <a:extLst>
                        <a:ext uri="{FF2B5EF4-FFF2-40B4-BE49-F238E27FC236}">
                          <a16:creationId xmlns:a16="http://schemas.microsoft.com/office/drawing/2014/main" id="{FFED265C-D4A2-7F2F-825D-194F7D4FCF5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9" name="Line 28">
                      <a:extLst>
                        <a:ext uri="{FF2B5EF4-FFF2-40B4-BE49-F238E27FC236}">
                          <a16:creationId xmlns:a16="http://schemas.microsoft.com/office/drawing/2014/main" id="{A2A5D24F-02B4-3C4B-81D9-690CADB584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0" name="Line 29">
                      <a:extLst>
                        <a:ext uri="{FF2B5EF4-FFF2-40B4-BE49-F238E27FC236}">
                          <a16:creationId xmlns:a16="http://schemas.microsoft.com/office/drawing/2014/main" id="{7287732D-0E64-B646-EB72-3BC3F84034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1" name="Line 30">
                      <a:extLst>
                        <a:ext uri="{FF2B5EF4-FFF2-40B4-BE49-F238E27FC236}">
                          <a16:creationId xmlns:a16="http://schemas.microsoft.com/office/drawing/2014/main" id="{3BCDC509-F734-80B8-B736-73211533F56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2" name="Line 31">
                      <a:extLst>
                        <a:ext uri="{FF2B5EF4-FFF2-40B4-BE49-F238E27FC236}">
                          <a16:creationId xmlns:a16="http://schemas.microsoft.com/office/drawing/2014/main" id="{BC0173AF-69CA-5FE6-D2EE-89D9F13E7D7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3" name="Line 32">
                      <a:extLst>
                        <a:ext uri="{FF2B5EF4-FFF2-40B4-BE49-F238E27FC236}">
                          <a16:creationId xmlns:a16="http://schemas.microsoft.com/office/drawing/2014/main" id="{6B34E44F-4944-E4DA-5A0D-75373A000C0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4" name="Line 33">
                      <a:extLst>
                        <a:ext uri="{FF2B5EF4-FFF2-40B4-BE49-F238E27FC236}">
                          <a16:creationId xmlns:a16="http://schemas.microsoft.com/office/drawing/2014/main" id="{D205502C-DE2F-02E5-40E6-9FF46A95DA7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5" name="Line 34">
                      <a:extLst>
                        <a:ext uri="{FF2B5EF4-FFF2-40B4-BE49-F238E27FC236}">
                          <a16:creationId xmlns:a16="http://schemas.microsoft.com/office/drawing/2014/main" id="{D675CFEF-9614-650A-0DA0-FDAC8A4434B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6" name="Line 35">
                      <a:extLst>
                        <a:ext uri="{FF2B5EF4-FFF2-40B4-BE49-F238E27FC236}">
                          <a16:creationId xmlns:a16="http://schemas.microsoft.com/office/drawing/2014/main" id="{CC1DB753-F644-DDAD-D4FA-3ABAD98D32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7" name="Line 36">
                      <a:extLst>
                        <a:ext uri="{FF2B5EF4-FFF2-40B4-BE49-F238E27FC236}">
                          <a16:creationId xmlns:a16="http://schemas.microsoft.com/office/drawing/2014/main" id="{5F6A30C8-3753-27AA-1805-0624D2DBE06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8" name="Line 37">
                      <a:extLst>
                        <a:ext uri="{FF2B5EF4-FFF2-40B4-BE49-F238E27FC236}">
                          <a16:creationId xmlns:a16="http://schemas.microsoft.com/office/drawing/2014/main" id="{67D05678-28C2-8976-E5F5-B63B858B45E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9" name="Line 38">
                      <a:extLst>
                        <a:ext uri="{FF2B5EF4-FFF2-40B4-BE49-F238E27FC236}">
                          <a16:creationId xmlns:a16="http://schemas.microsoft.com/office/drawing/2014/main" id="{BCA78270-444A-0D75-D715-A0790B2930C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69" name="Line 39">
                  <a:extLst>
                    <a:ext uri="{FF2B5EF4-FFF2-40B4-BE49-F238E27FC236}">
                      <a16:creationId xmlns:a16="http://schemas.microsoft.com/office/drawing/2014/main" id="{824BD0F4-36D1-FA49-9B67-9AF203FEAF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0" name="Text Box 40">
                  <a:extLst>
                    <a:ext uri="{FF2B5EF4-FFF2-40B4-BE49-F238E27FC236}">
                      <a16:creationId xmlns:a16="http://schemas.microsoft.com/office/drawing/2014/main" id="{B716BF1A-CA8A-FE2C-D07A-412D991D2C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1" name="Text Box 41">
                  <a:extLst>
                    <a:ext uri="{FF2B5EF4-FFF2-40B4-BE49-F238E27FC236}">
                      <a16:creationId xmlns:a16="http://schemas.microsoft.com/office/drawing/2014/main" id="{43422D7F-CC0A-5159-3FF8-F640D3CB1D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2" name="Line 42">
                  <a:extLst>
                    <a:ext uri="{FF2B5EF4-FFF2-40B4-BE49-F238E27FC236}">
                      <a16:creationId xmlns:a16="http://schemas.microsoft.com/office/drawing/2014/main" id="{A9C98818-9277-9FFF-D5EF-9F7771CC7F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3" name="Line 43">
                  <a:extLst>
                    <a:ext uri="{FF2B5EF4-FFF2-40B4-BE49-F238E27FC236}">
                      <a16:creationId xmlns:a16="http://schemas.microsoft.com/office/drawing/2014/main" id="{42713B55-1D83-A4FB-6989-AD9B643FF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4" name="Line 44">
                  <a:extLst>
                    <a:ext uri="{FF2B5EF4-FFF2-40B4-BE49-F238E27FC236}">
                      <a16:creationId xmlns:a16="http://schemas.microsoft.com/office/drawing/2014/main" id="{445F58CB-1F45-E508-4651-9FA4DB712A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5" name="Text Box 45">
                  <a:extLst>
                    <a:ext uri="{FF2B5EF4-FFF2-40B4-BE49-F238E27FC236}">
                      <a16:creationId xmlns:a16="http://schemas.microsoft.com/office/drawing/2014/main" id="{602B1857-6CB7-F726-31A7-524898172F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7" name="Text Box 46">
                  <a:extLst>
                    <a:ext uri="{FF2B5EF4-FFF2-40B4-BE49-F238E27FC236}">
                      <a16:creationId xmlns:a16="http://schemas.microsoft.com/office/drawing/2014/main" id="{84316D92-CAE7-FA7A-E04B-4BA892D6B1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8" name="Text Box 47">
                  <a:extLst>
                    <a:ext uri="{FF2B5EF4-FFF2-40B4-BE49-F238E27FC236}">
                      <a16:creationId xmlns:a16="http://schemas.microsoft.com/office/drawing/2014/main" id="{FFCDD128-4E88-5A30-8B17-851C2DBE9F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9" name="Text Box 48">
                  <a:extLst>
                    <a:ext uri="{FF2B5EF4-FFF2-40B4-BE49-F238E27FC236}">
                      <a16:creationId xmlns:a16="http://schemas.microsoft.com/office/drawing/2014/main" id="{75955C84-0BC5-3F7A-37F5-03C80A83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0" name="Text Box 49">
                  <a:extLst>
                    <a:ext uri="{FF2B5EF4-FFF2-40B4-BE49-F238E27FC236}">
                      <a16:creationId xmlns:a16="http://schemas.microsoft.com/office/drawing/2014/main" id="{4A10A005-E957-DF9D-6EE6-ED1A05E1ED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1" name="Text Box 50">
                  <a:extLst>
                    <a:ext uri="{FF2B5EF4-FFF2-40B4-BE49-F238E27FC236}">
                      <a16:creationId xmlns:a16="http://schemas.microsoft.com/office/drawing/2014/main" id="{3C5A8B64-A6BE-2CA9-B5D7-C51EF271E5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2" name="Text Box 51">
                  <a:extLst>
                    <a:ext uri="{FF2B5EF4-FFF2-40B4-BE49-F238E27FC236}">
                      <a16:creationId xmlns:a16="http://schemas.microsoft.com/office/drawing/2014/main" id="{C8792C18-4B0A-0C1F-27F4-4265A6614B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3" name="Text Box 52">
                  <a:extLst>
                    <a:ext uri="{FF2B5EF4-FFF2-40B4-BE49-F238E27FC236}">
                      <a16:creationId xmlns:a16="http://schemas.microsoft.com/office/drawing/2014/main" id="{B4763AFB-7445-984F-DD62-A6CBCD036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4" name="Text Box 53">
                  <a:extLst>
                    <a:ext uri="{FF2B5EF4-FFF2-40B4-BE49-F238E27FC236}">
                      <a16:creationId xmlns:a16="http://schemas.microsoft.com/office/drawing/2014/main" id="{896311FB-80F6-0B4F-CB57-498D5987A0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5" name="Line 153">
                  <a:extLst>
                    <a:ext uri="{FF2B5EF4-FFF2-40B4-BE49-F238E27FC236}">
                      <a16:creationId xmlns:a16="http://schemas.microsoft.com/office/drawing/2014/main" id="{56DB0029-B856-CD56-ECBF-13658395B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6" name="Text Box 154">
                  <a:extLst>
                    <a:ext uri="{FF2B5EF4-FFF2-40B4-BE49-F238E27FC236}">
                      <a16:creationId xmlns:a16="http://schemas.microsoft.com/office/drawing/2014/main" id="{79C1C7B1-699B-C4DF-9353-A94D0C1BCA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64" name="Text Box 41">
              <a:extLst>
                <a:ext uri="{FF2B5EF4-FFF2-40B4-BE49-F238E27FC236}">
                  <a16:creationId xmlns:a16="http://schemas.microsoft.com/office/drawing/2014/main" id="{EE9E6280-5DC0-072B-8642-0699D1678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5" name="Line 11">
              <a:extLst>
                <a:ext uri="{FF2B5EF4-FFF2-40B4-BE49-F238E27FC236}">
                  <a16:creationId xmlns:a16="http://schemas.microsoft.com/office/drawing/2014/main" id="{F517CB3B-F8B8-BF97-5D9E-D55987585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973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FECE-A616-6C60-1162-01AF3F25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EDFC2F0-12EE-72BB-901A-361E3B2C7EE4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" sz="20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I:</a:t>
            </a:r>
            <a:r>
              <a:rPr lang="es-ES" sz="20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(rs1)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o también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rs1,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endParaRPr lang="es-ES" sz="2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1 operando fuente (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 y un operando destino (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Huecos: 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funct7+rs2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(12 bits) para el inmediato</a:t>
            </a:r>
          </a:p>
          <a:p>
            <a:pPr marL="82550" indent="0">
              <a:buNone/>
            </a:pP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5BF793A0-4A08-099E-160F-E48DE206B3C4}"/>
              </a:ext>
            </a:extLst>
          </p:cNvPr>
          <p:cNvGrpSpPr/>
          <p:nvPr/>
        </p:nvGrpSpPr>
        <p:grpSpPr>
          <a:xfrm>
            <a:off x="2624356" y="1052736"/>
            <a:ext cx="5764068" cy="1180085"/>
            <a:chOff x="975305" y="4921594"/>
            <a:chExt cx="3345284" cy="753875"/>
          </a:xfrm>
        </p:grpSpPr>
        <p:grpSp>
          <p:nvGrpSpPr>
            <p:cNvPr id="117" name="Group 9">
              <a:extLst>
                <a:ext uri="{FF2B5EF4-FFF2-40B4-BE49-F238E27FC236}">
                  <a16:creationId xmlns:a16="http://schemas.microsoft.com/office/drawing/2014/main" id="{91B54660-9FE3-110D-5301-F4379CAB98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20" name="Rectangle 10">
                <a:extLst>
                  <a:ext uri="{FF2B5EF4-FFF2-40B4-BE49-F238E27FC236}">
                    <a16:creationId xmlns:a16="http://schemas.microsoft.com/office/drawing/2014/main" id="{8ABD1BC4-46B4-F4FD-116F-B1CC1A286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21" name="Group 155">
                <a:extLst>
                  <a:ext uri="{FF2B5EF4-FFF2-40B4-BE49-F238E27FC236}">
                    <a16:creationId xmlns:a16="http://schemas.microsoft.com/office/drawing/2014/main" id="{D09A637C-BCF2-BE3E-7C33-3963483B9E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122" name="Group 5">
                  <a:extLst>
                    <a:ext uri="{FF2B5EF4-FFF2-40B4-BE49-F238E27FC236}">
                      <a16:creationId xmlns:a16="http://schemas.microsoft.com/office/drawing/2014/main" id="{FE98FA51-CCA6-4866-CFE4-6AE9602075C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40" name="Rectangle 6">
                    <a:extLst>
                      <a:ext uri="{FF2B5EF4-FFF2-40B4-BE49-F238E27FC236}">
                        <a16:creationId xmlns:a16="http://schemas.microsoft.com/office/drawing/2014/main" id="{CF34AE21-DD7E-A360-36E4-2987879287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141" name="Group 7">
                    <a:extLst>
                      <a:ext uri="{FF2B5EF4-FFF2-40B4-BE49-F238E27FC236}">
                        <a16:creationId xmlns:a16="http://schemas.microsoft.com/office/drawing/2014/main" id="{6461FC87-4911-BB70-F262-9070DE1F792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42" name="Line 9">
                      <a:extLst>
                        <a:ext uri="{FF2B5EF4-FFF2-40B4-BE49-F238E27FC236}">
                          <a16:creationId xmlns:a16="http://schemas.microsoft.com/office/drawing/2014/main" id="{D1535A9B-286E-0A1D-51BE-B6E56FA013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3" name="Line 10">
                      <a:extLst>
                        <a:ext uri="{FF2B5EF4-FFF2-40B4-BE49-F238E27FC236}">
                          <a16:creationId xmlns:a16="http://schemas.microsoft.com/office/drawing/2014/main" id="{1C467B2F-8EEF-97D7-B926-DA913AE7DC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4" name="Line 11">
                      <a:extLst>
                        <a:ext uri="{FF2B5EF4-FFF2-40B4-BE49-F238E27FC236}">
                          <a16:creationId xmlns:a16="http://schemas.microsoft.com/office/drawing/2014/main" id="{EB717A5C-5C07-9178-FFDC-4D490F57210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5" name="Line 12">
                      <a:extLst>
                        <a:ext uri="{FF2B5EF4-FFF2-40B4-BE49-F238E27FC236}">
                          <a16:creationId xmlns:a16="http://schemas.microsoft.com/office/drawing/2014/main" id="{66856242-A5AE-6FA4-FBB2-FAA1839B10B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6" name="Line 13">
                      <a:extLst>
                        <a:ext uri="{FF2B5EF4-FFF2-40B4-BE49-F238E27FC236}">
                          <a16:creationId xmlns:a16="http://schemas.microsoft.com/office/drawing/2014/main" id="{488C9606-2094-106F-8DFF-E2DF7680D3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7" name="Line 14">
                      <a:extLst>
                        <a:ext uri="{FF2B5EF4-FFF2-40B4-BE49-F238E27FC236}">
                          <a16:creationId xmlns:a16="http://schemas.microsoft.com/office/drawing/2014/main" id="{FBBBAAB3-7589-A0D4-39E3-8126D1D415B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8" name="Line 15">
                      <a:extLst>
                        <a:ext uri="{FF2B5EF4-FFF2-40B4-BE49-F238E27FC236}">
                          <a16:creationId xmlns:a16="http://schemas.microsoft.com/office/drawing/2014/main" id="{21AA5494-2802-CCC6-3F4A-2D5C207ACA2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9" name="Line 16">
                      <a:extLst>
                        <a:ext uri="{FF2B5EF4-FFF2-40B4-BE49-F238E27FC236}">
                          <a16:creationId xmlns:a16="http://schemas.microsoft.com/office/drawing/2014/main" id="{C2F9A17A-3B6B-5368-B542-1B0CA3B7670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0" name="Line 17">
                      <a:extLst>
                        <a:ext uri="{FF2B5EF4-FFF2-40B4-BE49-F238E27FC236}">
                          <a16:creationId xmlns:a16="http://schemas.microsoft.com/office/drawing/2014/main" id="{62E5D3C6-A6A2-8531-6B3E-436A6B570A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1" name="Line 18">
                      <a:extLst>
                        <a:ext uri="{FF2B5EF4-FFF2-40B4-BE49-F238E27FC236}">
                          <a16:creationId xmlns:a16="http://schemas.microsoft.com/office/drawing/2014/main" id="{F8B59744-06FA-BD0E-DC1A-8793178BD4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2" name="Line 19">
                      <a:extLst>
                        <a:ext uri="{FF2B5EF4-FFF2-40B4-BE49-F238E27FC236}">
                          <a16:creationId xmlns:a16="http://schemas.microsoft.com/office/drawing/2014/main" id="{F5AD47FF-8558-5742-5953-088375263D3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3" name="Line 20">
                      <a:extLst>
                        <a:ext uri="{FF2B5EF4-FFF2-40B4-BE49-F238E27FC236}">
                          <a16:creationId xmlns:a16="http://schemas.microsoft.com/office/drawing/2014/main" id="{8A1DFC23-BB79-9548-43F4-0216E25295E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4" name="Line 21">
                      <a:extLst>
                        <a:ext uri="{FF2B5EF4-FFF2-40B4-BE49-F238E27FC236}">
                          <a16:creationId xmlns:a16="http://schemas.microsoft.com/office/drawing/2014/main" id="{218182E2-70DE-FF3D-5C75-2A87E2AE4C5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5" name="Line 22">
                      <a:extLst>
                        <a:ext uri="{FF2B5EF4-FFF2-40B4-BE49-F238E27FC236}">
                          <a16:creationId xmlns:a16="http://schemas.microsoft.com/office/drawing/2014/main" id="{61A2E749-2E51-5BCF-9266-B6E6E536608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6" name="Line 23">
                      <a:extLst>
                        <a:ext uri="{FF2B5EF4-FFF2-40B4-BE49-F238E27FC236}">
                          <a16:creationId xmlns:a16="http://schemas.microsoft.com/office/drawing/2014/main" id="{44B15DFA-EB00-7738-88DD-976E750C91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7" name="Line 24">
                      <a:extLst>
                        <a:ext uri="{FF2B5EF4-FFF2-40B4-BE49-F238E27FC236}">
                          <a16:creationId xmlns:a16="http://schemas.microsoft.com/office/drawing/2014/main" id="{07988B50-226D-C388-C504-A0AC9AF1C9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8" name="Line 25">
                      <a:extLst>
                        <a:ext uri="{FF2B5EF4-FFF2-40B4-BE49-F238E27FC236}">
                          <a16:creationId xmlns:a16="http://schemas.microsoft.com/office/drawing/2014/main" id="{1ED66B23-2A8D-1565-344B-8887F348FE1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9" name="Line 26">
                      <a:extLst>
                        <a:ext uri="{FF2B5EF4-FFF2-40B4-BE49-F238E27FC236}">
                          <a16:creationId xmlns:a16="http://schemas.microsoft.com/office/drawing/2014/main" id="{04EEFB2F-A732-4F53-CB40-1C3D25B8685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0" name="Line 27">
                      <a:extLst>
                        <a:ext uri="{FF2B5EF4-FFF2-40B4-BE49-F238E27FC236}">
                          <a16:creationId xmlns:a16="http://schemas.microsoft.com/office/drawing/2014/main" id="{F74B1A14-A740-2BFB-F5CB-AED433BF44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1" name="Line 28">
                      <a:extLst>
                        <a:ext uri="{FF2B5EF4-FFF2-40B4-BE49-F238E27FC236}">
                          <a16:creationId xmlns:a16="http://schemas.microsoft.com/office/drawing/2014/main" id="{31FADC6F-4B09-6244-ACD3-B991E84745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2" name="Line 29">
                      <a:extLst>
                        <a:ext uri="{FF2B5EF4-FFF2-40B4-BE49-F238E27FC236}">
                          <a16:creationId xmlns:a16="http://schemas.microsoft.com/office/drawing/2014/main" id="{EE2A9570-97B3-FD73-A7A1-82A6AFD42F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3" name="Line 30">
                      <a:extLst>
                        <a:ext uri="{FF2B5EF4-FFF2-40B4-BE49-F238E27FC236}">
                          <a16:creationId xmlns:a16="http://schemas.microsoft.com/office/drawing/2014/main" id="{F09E4449-A131-36E9-EF28-2814F10C078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4" name="Line 31">
                      <a:extLst>
                        <a:ext uri="{FF2B5EF4-FFF2-40B4-BE49-F238E27FC236}">
                          <a16:creationId xmlns:a16="http://schemas.microsoft.com/office/drawing/2014/main" id="{672025B2-D8E1-689C-287A-B947A2764B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5" name="Line 32">
                      <a:extLst>
                        <a:ext uri="{FF2B5EF4-FFF2-40B4-BE49-F238E27FC236}">
                          <a16:creationId xmlns:a16="http://schemas.microsoft.com/office/drawing/2014/main" id="{E5695175-4CE3-4F4B-7A95-92572CA78D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6" name="Line 33">
                      <a:extLst>
                        <a:ext uri="{FF2B5EF4-FFF2-40B4-BE49-F238E27FC236}">
                          <a16:creationId xmlns:a16="http://schemas.microsoft.com/office/drawing/2014/main" id="{0F918649-DF44-F76D-786E-88F7FB2B4C9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7" name="Line 34">
                      <a:extLst>
                        <a:ext uri="{FF2B5EF4-FFF2-40B4-BE49-F238E27FC236}">
                          <a16:creationId xmlns:a16="http://schemas.microsoft.com/office/drawing/2014/main" id="{05A2ECEE-D294-15C3-C51B-E86B29A4DBC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8" name="Line 35">
                      <a:extLst>
                        <a:ext uri="{FF2B5EF4-FFF2-40B4-BE49-F238E27FC236}">
                          <a16:creationId xmlns:a16="http://schemas.microsoft.com/office/drawing/2014/main" id="{791A4B6C-DE77-25DA-BCCD-17CAF88C588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9" name="Line 36">
                      <a:extLst>
                        <a:ext uri="{FF2B5EF4-FFF2-40B4-BE49-F238E27FC236}">
                          <a16:creationId xmlns:a16="http://schemas.microsoft.com/office/drawing/2014/main" id="{F9307383-A01E-0C1F-CCA2-B7F83012469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0" name="Line 37">
                      <a:extLst>
                        <a:ext uri="{FF2B5EF4-FFF2-40B4-BE49-F238E27FC236}">
                          <a16:creationId xmlns:a16="http://schemas.microsoft.com/office/drawing/2014/main" id="{C75A2CBA-C8D0-CAF5-0034-FBCD5DDEB9D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1" name="Line 38">
                      <a:extLst>
                        <a:ext uri="{FF2B5EF4-FFF2-40B4-BE49-F238E27FC236}">
                          <a16:creationId xmlns:a16="http://schemas.microsoft.com/office/drawing/2014/main" id="{1F54F3D5-3006-CC11-3B18-85465781202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23" name="Line 39">
                  <a:extLst>
                    <a:ext uri="{FF2B5EF4-FFF2-40B4-BE49-F238E27FC236}">
                      <a16:creationId xmlns:a16="http://schemas.microsoft.com/office/drawing/2014/main" id="{A57D1FAF-2F23-5AC2-4814-817EC20BB8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4" name="Text Box 40">
                  <a:extLst>
                    <a:ext uri="{FF2B5EF4-FFF2-40B4-BE49-F238E27FC236}">
                      <a16:creationId xmlns:a16="http://schemas.microsoft.com/office/drawing/2014/main" id="{FEA7C4BF-3A68-4D86-9858-3BDB8C46A1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5" name="Text Box 41">
                  <a:extLst>
                    <a:ext uri="{FF2B5EF4-FFF2-40B4-BE49-F238E27FC236}">
                      <a16:creationId xmlns:a16="http://schemas.microsoft.com/office/drawing/2014/main" id="{8D5C2762-EFE9-54BE-74B0-C87629BB85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6" name="Line 42">
                  <a:extLst>
                    <a:ext uri="{FF2B5EF4-FFF2-40B4-BE49-F238E27FC236}">
                      <a16:creationId xmlns:a16="http://schemas.microsoft.com/office/drawing/2014/main" id="{B659F997-F703-970C-C2C1-090C6322A2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7" name="Line 43">
                  <a:extLst>
                    <a:ext uri="{FF2B5EF4-FFF2-40B4-BE49-F238E27FC236}">
                      <a16:creationId xmlns:a16="http://schemas.microsoft.com/office/drawing/2014/main" id="{D311B0FF-AD7A-10EC-C6AB-2DAF53D70A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8" name="Line 44">
                  <a:extLst>
                    <a:ext uri="{FF2B5EF4-FFF2-40B4-BE49-F238E27FC236}">
                      <a16:creationId xmlns:a16="http://schemas.microsoft.com/office/drawing/2014/main" id="{DC2B889E-491D-0725-26E9-86D0685F1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9" name="Text Box 45">
                  <a:extLst>
                    <a:ext uri="{FF2B5EF4-FFF2-40B4-BE49-F238E27FC236}">
                      <a16:creationId xmlns:a16="http://schemas.microsoft.com/office/drawing/2014/main" id="{4CDE7DB8-C40D-385D-B62F-99F3409CDB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0" name="Text Box 46">
                  <a:extLst>
                    <a:ext uri="{FF2B5EF4-FFF2-40B4-BE49-F238E27FC236}">
                      <a16:creationId xmlns:a16="http://schemas.microsoft.com/office/drawing/2014/main" id="{A1D37F2C-0ED4-6DDF-CD1F-206F9FDDBF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1" name="Text Box 47">
                  <a:extLst>
                    <a:ext uri="{FF2B5EF4-FFF2-40B4-BE49-F238E27FC236}">
                      <a16:creationId xmlns:a16="http://schemas.microsoft.com/office/drawing/2014/main" id="{7CB59A74-89A5-8A7F-0ED5-14BE09BC53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2" name="Text Box 48">
                  <a:extLst>
                    <a:ext uri="{FF2B5EF4-FFF2-40B4-BE49-F238E27FC236}">
                      <a16:creationId xmlns:a16="http://schemas.microsoft.com/office/drawing/2014/main" id="{931C2451-ABE5-0704-15D4-2606CF299B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3" name="Text Box 49">
                  <a:extLst>
                    <a:ext uri="{FF2B5EF4-FFF2-40B4-BE49-F238E27FC236}">
                      <a16:creationId xmlns:a16="http://schemas.microsoft.com/office/drawing/2014/main" id="{1D94C5BB-8C25-6CBD-316D-CB754D9F03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4" name="Text Box 50">
                  <a:extLst>
                    <a:ext uri="{FF2B5EF4-FFF2-40B4-BE49-F238E27FC236}">
                      <a16:creationId xmlns:a16="http://schemas.microsoft.com/office/drawing/2014/main" id="{D52283E1-A4C0-4A87-DA82-881E0D6749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5" name="Text Box 51">
                  <a:extLst>
                    <a:ext uri="{FF2B5EF4-FFF2-40B4-BE49-F238E27FC236}">
                      <a16:creationId xmlns:a16="http://schemas.microsoft.com/office/drawing/2014/main" id="{23A3383A-E447-C076-ACE7-EBE492B177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6" name="Text Box 52">
                  <a:extLst>
                    <a:ext uri="{FF2B5EF4-FFF2-40B4-BE49-F238E27FC236}">
                      <a16:creationId xmlns:a16="http://schemas.microsoft.com/office/drawing/2014/main" id="{7D905EB1-1D6C-6914-1D25-361611CF63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7" name="Text Box 53">
                  <a:extLst>
                    <a:ext uri="{FF2B5EF4-FFF2-40B4-BE49-F238E27FC236}">
                      <a16:creationId xmlns:a16="http://schemas.microsoft.com/office/drawing/2014/main" id="{B78A2BFF-5E75-D314-D410-3F15BE38AA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8" name="Line 153">
                  <a:extLst>
                    <a:ext uri="{FF2B5EF4-FFF2-40B4-BE49-F238E27FC236}">
                      <a16:creationId xmlns:a16="http://schemas.microsoft.com/office/drawing/2014/main" id="{6BFE0CFE-5178-E41D-0A64-A8AAB5799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9" name="Text Box 154">
                  <a:extLst>
                    <a:ext uri="{FF2B5EF4-FFF2-40B4-BE49-F238E27FC236}">
                      <a16:creationId xmlns:a16="http://schemas.microsoft.com/office/drawing/2014/main" id="{80FB6780-0774-81BC-7AE2-54B21D50A5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18" name="Text Box 41">
              <a:extLst>
                <a:ext uri="{FF2B5EF4-FFF2-40B4-BE49-F238E27FC236}">
                  <a16:creationId xmlns:a16="http://schemas.microsoft.com/office/drawing/2014/main" id="{1CC19813-D299-B32F-62A4-23A5A3686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Line 11">
              <a:extLst>
                <a:ext uri="{FF2B5EF4-FFF2-40B4-BE49-F238E27FC236}">
                  <a16:creationId xmlns:a16="http://schemas.microsoft.com/office/drawing/2014/main" id="{0021914E-379B-036E-CE47-AAF83333A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E59E2E9D-946F-F319-8330-CCD3837C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643CFF3-03E4-C356-FC28-8336C65F9D41}"/>
              </a:ext>
            </a:extLst>
          </p:cNvPr>
          <p:cNvGrpSpPr/>
          <p:nvPr/>
        </p:nvGrpSpPr>
        <p:grpSpPr>
          <a:xfrm>
            <a:off x="2621342" y="5017063"/>
            <a:ext cx="5788979" cy="1308452"/>
            <a:chOff x="5564455" y="4243453"/>
            <a:chExt cx="3387406" cy="878363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792816F1-7CE5-AA63-34AB-5461B7985917}"/>
                </a:ext>
              </a:extLst>
            </p:cNvPr>
            <p:cNvGrpSpPr/>
            <p:nvPr/>
          </p:nvGrpSpPr>
          <p:grpSpPr>
            <a:xfrm>
              <a:off x="5564455" y="4243453"/>
              <a:ext cx="3387406" cy="878363"/>
              <a:chOff x="5474422" y="4834674"/>
              <a:chExt cx="3361057" cy="1043057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9E8570D6-9244-2B34-58E9-14AAABAEDA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4422" y="4834674"/>
                <a:ext cx="3361057" cy="1043057"/>
                <a:chOff x="143" y="668"/>
                <a:chExt cx="2557" cy="624"/>
              </a:xfrm>
            </p:grpSpPr>
            <p:sp>
              <p:nvSpPr>
                <p:cNvPr id="13" name="Rectangle 10">
                  <a:extLst>
                    <a:ext uri="{FF2B5EF4-FFF2-40B4-BE49-F238E27FC236}">
                      <a16:creationId xmlns:a16="http://schemas.microsoft.com/office/drawing/2014/main" id="{796FEA9E-3B38-BA75-E9CB-CAD0CD3D5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" y="668"/>
                  <a:ext cx="2544" cy="5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7" name="Group 155">
                  <a:extLst>
                    <a:ext uri="{FF2B5EF4-FFF2-40B4-BE49-F238E27FC236}">
                      <a16:creationId xmlns:a16="http://schemas.microsoft.com/office/drawing/2014/main" id="{6DED076D-66B8-C024-5070-EEA0EFDD0C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39"/>
                  <a:ext cx="2519" cy="553"/>
                  <a:chOff x="1168" y="1244"/>
                  <a:chExt cx="3246" cy="904"/>
                </a:xfrm>
              </p:grpSpPr>
              <p:sp>
                <p:nvSpPr>
                  <p:cNvPr id="18" name="Text Box 154">
                    <a:extLst>
                      <a:ext uri="{FF2B5EF4-FFF2-40B4-BE49-F238E27FC236}">
                        <a16:creationId xmlns:a16="http://schemas.microsoft.com/office/drawing/2014/main" id="{D94BEBEB-268A-0D50-1B56-7553A2D2C2E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grpSp>
                <p:nvGrpSpPr>
                  <p:cNvPr id="20" name="Group 5">
                    <a:extLst>
                      <a:ext uri="{FF2B5EF4-FFF2-40B4-BE49-F238E27FC236}">
                        <a16:creationId xmlns:a16="http://schemas.microsoft.com/office/drawing/2014/main" id="{F672C0E2-AD1C-9B47-0F6F-590BAE2264D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44"/>
                    <a:ext cx="3050" cy="423"/>
                    <a:chOff x="982" y="1234"/>
                    <a:chExt cx="3050" cy="423"/>
                  </a:xfrm>
                </p:grpSpPr>
                <p:sp>
                  <p:nvSpPr>
                    <p:cNvPr id="70" name="Rectangle 6">
                      <a:extLst>
                        <a:ext uri="{FF2B5EF4-FFF2-40B4-BE49-F238E27FC236}">
                          <a16:creationId xmlns:a16="http://schemas.microsoft.com/office/drawing/2014/main" id="{D342C095-66B8-5C24-2334-87B0A445A2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1234"/>
                      <a:ext cx="3050" cy="423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71" name="Group 7">
                      <a:extLst>
                        <a:ext uri="{FF2B5EF4-FFF2-40B4-BE49-F238E27FC236}">
                          <a16:creationId xmlns:a16="http://schemas.microsoft.com/office/drawing/2014/main" id="{08E12290-A268-CDCF-BD96-AD63A4548B2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72" name="Line 9">
                        <a:extLst>
                          <a:ext uri="{FF2B5EF4-FFF2-40B4-BE49-F238E27FC236}">
                            <a16:creationId xmlns:a16="http://schemas.microsoft.com/office/drawing/2014/main" id="{15665CAD-571A-4B8B-4187-8250CB83AB7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3" name="Line 10">
                        <a:extLst>
                          <a:ext uri="{FF2B5EF4-FFF2-40B4-BE49-F238E27FC236}">
                            <a16:creationId xmlns:a16="http://schemas.microsoft.com/office/drawing/2014/main" id="{549648B5-86AA-283D-314C-FBB2B05FC98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4" name="Line 11">
                        <a:extLst>
                          <a:ext uri="{FF2B5EF4-FFF2-40B4-BE49-F238E27FC236}">
                            <a16:creationId xmlns:a16="http://schemas.microsoft.com/office/drawing/2014/main" id="{07EA6A54-4C65-BA77-6A6F-66F0AE0315B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5" name="Line 12">
                        <a:extLst>
                          <a:ext uri="{FF2B5EF4-FFF2-40B4-BE49-F238E27FC236}">
                            <a16:creationId xmlns:a16="http://schemas.microsoft.com/office/drawing/2014/main" id="{756A9D0D-B4DA-DF29-54D1-D9A668323F5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7" name="Line 13">
                        <a:extLst>
                          <a:ext uri="{FF2B5EF4-FFF2-40B4-BE49-F238E27FC236}">
                            <a16:creationId xmlns:a16="http://schemas.microsoft.com/office/drawing/2014/main" id="{7FE799FD-7AB3-A71C-E636-F6DD40400CB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8" name="Line 14">
                        <a:extLst>
                          <a:ext uri="{FF2B5EF4-FFF2-40B4-BE49-F238E27FC236}">
                            <a16:creationId xmlns:a16="http://schemas.microsoft.com/office/drawing/2014/main" id="{0A16A477-4EF2-5E6C-8B66-E3562EEBBAC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9" name="Line 15">
                        <a:extLst>
                          <a:ext uri="{FF2B5EF4-FFF2-40B4-BE49-F238E27FC236}">
                            <a16:creationId xmlns:a16="http://schemas.microsoft.com/office/drawing/2014/main" id="{A953F16C-2503-2496-B123-8F7599A2513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0" name="Line 16">
                        <a:extLst>
                          <a:ext uri="{FF2B5EF4-FFF2-40B4-BE49-F238E27FC236}">
                            <a16:creationId xmlns:a16="http://schemas.microsoft.com/office/drawing/2014/main" id="{63409EF4-D98A-1D82-2512-A4B13CB32E6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1" name="Line 17">
                        <a:extLst>
                          <a:ext uri="{FF2B5EF4-FFF2-40B4-BE49-F238E27FC236}">
                            <a16:creationId xmlns:a16="http://schemas.microsoft.com/office/drawing/2014/main" id="{7B44E9A8-AD13-A832-1615-D5CDF10183D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2" name="Line 18">
                        <a:extLst>
                          <a:ext uri="{FF2B5EF4-FFF2-40B4-BE49-F238E27FC236}">
                            <a16:creationId xmlns:a16="http://schemas.microsoft.com/office/drawing/2014/main" id="{FF5BDBF7-548F-790E-9ADE-21D9ED33089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3" name="Line 19">
                        <a:extLst>
                          <a:ext uri="{FF2B5EF4-FFF2-40B4-BE49-F238E27FC236}">
                            <a16:creationId xmlns:a16="http://schemas.microsoft.com/office/drawing/2014/main" id="{E99CBB56-013C-7782-890A-B717F6929D9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4" name="Line 20">
                        <a:extLst>
                          <a:ext uri="{FF2B5EF4-FFF2-40B4-BE49-F238E27FC236}">
                            <a16:creationId xmlns:a16="http://schemas.microsoft.com/office/drawing/2014/main" id="{6C20F741-AADA-66F0-EF9D-849E0D733B6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5" name="Line 21">
                        <a:extLst>
                          <a:ext uri="{FF2B5EF4-FFF2-40B4-BE49-F238E27FC236}">
                            <a16:creationId xmlns:a16="http://schemas.microsoft.com/office/drawing/2014/main" id="{FCB613EC-AE80-6094-7979-C11E8478003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6" name="Line 22">
                        <a:extLst>
                          <a:ext uri="{FF2B5EF4-FFF2-40B4-BE49-F238E27FC236}">
                            <a16:creationId xmlns:a16="http://schemas.microsoft.com/office/drawing/2014/main" id="{9E6B4CFC-1AFE-3D22-B9DE-168B667FB62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7" name="Line 23">
                        <a:extLst>
                          <a:ext uri="{FF2B5EF4-FFF2-40B4-BE49-F238E27FC236}">
                            <a16:creationId xmlns:a16="http://schemas.microsoft.com/office/drawing/2014/main" id="{61A89225-E7E0-8117-0FEB-AF869846FF0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8" name="Line 24">
                        <a:extLst>
                          <a:ext uri="{FF2B5EF4-FFF2-40B4-BE49-F238E27FC236}">
                            <a16:creationId xmlns:a16="http://schemas.microsoft.com/office/drawing/2014/main" id="{E7095BA3-0EC5-B4CD-1CA8-EF4B87007ED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9" name="Line 25">
                        <a:extLst>
                          <a:ext uri="{FF2B5EF4-FFF2-40B4-BE49-F238E27FC236}">
                            <a16:creationId xmlns:a16="http://schemas.microsoft.com/office/drawing/2014/main" id="{727FCD67-4511-2F64-DA0A-9C5D4319CD6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0" name="Line 26">
                        <a:extLst>
                          <a:ext uri="{FF2B5EF4-FFF2-40B4-BE49-F238E27FC236}">
                            <a16:creationId xmlns:a16="http://schemas.microsoft.com/office/drawing/2014/main" id="{E813686F-89BE-4FF2-D63F-C4B069C2D84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1" name="Line 27">
                        <a:extLst>
                          <a:ext uri="{FF2B5EF4-FFF2-40B4-BE49-F238E27FC236}">
                            <a16:creationId xmlns:a16="http://schemas.microsoft.com/office/drawing/2014/main" id="{91CABE5C-CA5D-E94F-551E-1913A6D3E94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2" name="Line 28">
                        <a:extLst>
                          <a:ext uri="{FF2B5EF4-FFF2-40B4-BE49-F238E27FC236}">
                            <a16:creationId xmlns:a16="http://schemas.microsoft.com/office/drawing/2014/main" id="{4BB42499-6DBC-2213-BFC8-D4903E638C5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4" name="Line 29">
                        <a:extLst>
                          <a:ext uri="{FF2B5EF4-FFF2-40B4-BE49-F238E27FC236}">
                            <a16:creationId xmlns:a16="http://schemas.microsoft.com/office/drawing/2014/main" id="{C472CEA6-CA99-116B-C9A2-711D76D8A5D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3" name="Line 30">
                        <a:extLst>
                          <a:ext uri="{FF2B5EF4-FFF2-40B4-BE49-F238E27FC236}">
                            <a16:creationId xmlns:a16="http://schemas.microsoft.com/office/drawing/2014/main" id="{4E5D6974-D280-18AC-3BEB-6175FE29DE0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4" name="Line 31">
                        <a:extLst>
                          <a:ext uri="{FF2B5EF4-FFF2-40B4-BE49-F238E27FC236}">
                            <a16:creationId xmlns:a16="http://schemas.microsoft.com/office/drawing/2014/main" id="{BA1D1399-1003-03CA-249D-1B88AE05ACB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5" name="Line 32">
                        <a:extLst>
                          <a:ext uri="{FF2B5EF4-FFF2-40B4-BE49-F238E27FC236}">
                            <a16:creationId xmlns:a16="http://schemas.microsoft.com/office/drawing/2014/main" id="{E493FDF1-8325-9734-4AF3-95749CE520D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6" name="Line 33">
                        <a:extLst>
                          <a:ext uri="{FF2B5EF4-FFF2-40B4-BE49-F238E27FC236}">
                            <a16:creationId xmlns:a16="http://schemas.microsoft.com/office/drawing/2014/main" id="{7B82B009-6280-DF2C-5073-6B7ADF58FED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9" name="Line 34">
                        <a:extLst>
                          <a:ext uri="{FF2B5EF4-FFF2-40B4-BE49-F238E27FC236}">
                            <a16:creationId xmlns:a16="http://schemas.microsoft.com/office/drawing/2014/main" id="{B660C4EF-C02E-5A7A-BEAE-F59766AA4BD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0" name="Line 35">
                        <a:extLst>
                          <a:ext uri="{FF2B5EF4-FFF2-40B4-BE49-F238E27FC236}">
                            <a16:creationId xmlns:a16="http://schemas.microsoft.com/office/drawing/2014/main" id="{04D0C4EE-B241-2750-32EE-BEFB8E294C3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1" name="Line 36">
                        <a:extLst>
                          <a:ext uri="{FF2B5EF4-FFF2-40B4-BE49-F238E27FC236}">
                            <a16:creationId xmlns:a16="http://schemas.microsoft.com/office/drawing/2014/main" id="{1C594EC8-F854-1B38-6F21-B69D520E541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2" name="Line 37">
                        <a:extLst>
                          <a:ext uri="{FF2B5EF4-FFF2-40B4-BE49-F238E27FC236}">
                            <a16:creationId xmlns:a16="http://schemas.microsoft.com/office/drawing/2014/main" id="{39A7253C-ABCD-1882-517B-D84D2286F6F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3" name="Line 38">
                        <a:extLst>
                          <a:ext uri="{FF2B5EF4-FFF2-40B4-BE49-F238E27FC236}">
                            <a16:creationId xmlns:a16="http://schemas.microsoft.com/office/drawing/2014/main" id="{96B463CF-6763-9FF9-162F-44AC7AC1762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1" name="Text Box 40">
                    <a:extLst>
                      <a:ext uri="{FF2B5EF4-FFF2-40B4-BE49-F238E27FC236}">
                        <a16:creationId xmlns:a16="http://schemas.microsoft.com/office/drawing/2014/main" id="{30496FA9-1003-7F39-C23B-4837D2ACB11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3" y="1312"/>
                    <a:ext cx="120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[11:0]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6" name="Text Box 41">
                    <a:extLst>
                      <a:ext uri="{FF2B5EF4-FFF2-40B4-BE49-F238E27FC236}">
                        <a16:creationId xmlns:a16="http://schemas.microsoft.com/office/drawing/2014/main" id="{8D454AD2-E58A-563B-C16C-AAA3546D3BB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51" y="1326"/>
                    <a:ext cx="543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7" name="Line 42">
                    <a:extLst>
                      <a:ext uri="{FF2B5EF4-FFF2-40B4-BE49-F238E27FC236}">
                        <a16:creationId xmlns:a16="http://schemas.microsoft.com/office/drawing/2014/main" id="{ED65F1DF-5978-80A9-B0D0-FF92C36E26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" name="Line 43">
                    <a:extLst>
                      <a:ext uri="{FF2B5EF4-FFF2-40B4-BE49-F238E27FC236}">
                        <a16:creationId xmlns:a16="http://schemas.microsoft.com/office/drawing/2014/main" id="{64F61AEB-93FE-06E6-25E7-6911CF8B0A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1" name="Line 44">
                    <a:extLst>
                      <a:ext uri="{FF2B5EF4-FFF2-40B4-BE49-F238E27FC236}">
                        <a16:creationId xmlns:a16="http://schemas.microsoft.com/office/drawing/2014/main" id="{C3565724-4A2A-11B6-072C-E0C6D928EB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2" name="Text Box 46">
                    <a:extLst>
                      <a:ext uri="{FF2B5EF4-FFF2-40B4-BE49-F238E27FC236}">
                        <a16:creationId xmlns:a16="http://schemas.microsoft.com/office/drawing/2014/main" id="{B0721C7A-FFF4-AD9B-2AB0-01049E5D9FA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44" y="1314"/>
                    <a:ext cx="39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63" name="Text Box 47">
                    <a:extLst>
                      <a:ext uri="{FF2B5EF4-FFF2-40B4-BE49-F238E27FC236}">
                        <a16:creationId xmlns:a16="http://schemas.microsoft.com/office/drawing/2014/main" id="{E4E7AE0E-DD34-59CA-0CBC-9F0173C3502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8" y="1307"/>
                    <a:ext cx="662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64" name="Text Box 48">
                    <a:extLst>
                      <a:ext uri="{FF2B5EF4-FFF2-40B4-BE49-F238E27FC236}">
                        <a16:creationId xmlns:a16="http://schemas.microsoft.com/office/drawing/2014/main" id="{4D0EF67B-C04C-70CB-1A18-A2BD0D1033E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5" name="Text Box 50">
                    <a:extLst>
                      <a:ext uri="{FF2B5EF4-FFF2-40B4-BE49-F238E27FC236}">
                        <a16:creationId xmlns:a16="http://schemas.microsoft.com/office/drawing/2014/main" id="{5CE6AE3A-647C-7DAB-E59E-9DFB28E9E6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6" name="Text Box 51">
                    <a:extLst>
                      <a:ext uri="{FF2B5EF4-FFF2-40B4-BE49-F238E27FC236}">
                        <a16:creationId xmlns:a16="http://schemas.microsoft.com/office/drawing/2014/main" id="{8B75FC1B-019F-6F0A-1F03-E017CFF36F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7" name="Text Box 52">
                    <a:extLst>
                      <a:ext uri="{FF2B5EF4-FFF2-40B4-BE49-F238E27FC236}">
                        <a16:creationId xmlns:a16="http://schemas.microsoft.com/office/drawing/2014/main" id="{46212F5F-F39D-6273-0595-F1B28CD147A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8" name="Text Box 53">
                    <a:extLst>
                      <a:ext uri="{FF2B5EF4-FFF2-40B4-BE49-F238E27FC236}">
                        <a16:creationId xmlns:a16="http://schemas.microsoft.com/office/drawing/2014/main" id="{FA897284-044F-10A6-5CE4-649999CB948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9" name="Line 153">
                    <a:extLst>
                      <a:ext uri="{FF2B5EF4-FFF2-40B4-BE49-F238E27FC236}">
                        <a16:creationId xmlns:a16="http://schemas.microsoft.com/office/drawing/2014/main" id="{54E27CCE-2ACE-DDC0-0B79-1814B89A76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12" name="Line 11">
                <a:extLst>
                  <a:ext uri="{FF2B5EF4-FFF2-40B4-BE49-F238E27FC236}">
                    <a16:creationId xmlns:a16="http://schemas.microsoft.com/office/drawing/2014/main" id="{85271C82-CAA0-0DCD-0E05-2C21CA36B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0008" y="5256087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8" name="Text Box 41">
              <a:extLst>
                <a:ext uri="{FF2B5EF4-FFF2-40B4-BE49-F238E27FC236}">
                  <a16:creationId xmlns:a16="http://schemas.microsoft.com/office/drawing/2014/main" id="{C2A351E0-F5B0-5F5D-60FD-9CAB689CE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3198" y="4392001"/>
              <a:ext cx="383616" cy="175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14" name="Flecha abajo 113">
            <a:extLst>
              <a:ext uri="{FF2B5EF4-FFF2-40B4-BE49-F238E27FC236}">
                <a16:creationId xmlns:a16="http://schemas.microsoft.com/office/drawing/2014/main" id="{5806ABDE-0FFF-AD26-16C4-D36B04A5F035}"/>
              </a:ext>
            </a:extLst>
          </p:cNvPr>
          <p:cNvSpPr/>
          <p:nvPr/>
        </p:nvSpPr>
        <p:spPr>
          <a:xfrm>
            <a:off x="5254453" y="4122432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81DD51E6-237D-5E2D-58A1-7DDC49302BC4}"/>
              </a:ext>
            </a:extLst>
          </p:cNvPr>
          <p:cNvSpPr/>
          <p:nvPr/>
        </p:nvSpPr>
        <p:spPr>
          <a:xfrm>
            <a:off x="2814236" y="1211622"/>
            <a:ext cx="1973788" cy="530674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9139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94B7-45EE-D9FD-9E64-E269F2FC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8CE3CE9-5C8A-8560-4560-6D4C25CA763F}"/>
              </a:ext>
            </a:extLst>
          </p:cNvPr>
          <p:cNvGrpSpPr/>
          <p:nvPr/>
        </p:nvGrpSpPr>
        <p:grpSpPr>
          <a:xfrm>
            <a:off x="2628879" y="5013628"/>
            <a:ext cx="5759545" cy="1511716"/>
            <a:chOff x="3109309" y="5917230"/>
            <a:chExt cx="3345284" cy="997923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5126D68-D648-E3DA-E4DC-6BA9637AA9E6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14" name="Group 9">
                <a:extLst>
                  <a:ext uri="{FF2B5EF4-FFF2-40B4-BE49-F238E27FC236}">
                    <a16:creationId xmlns:a16="http://schemas.microsoft.com/office/drawing/2014/main" id="{1988E5AE-1089-09D4-CE6A-BD2E4D8CD9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16" name="Rectangle 10">
                  <a:extLst>
                    <a:ext uri="{FF2B5EF4-FFF2-40B4-BE49-F238E27FC236}">
                      <a16:creationId xmlns:a16="http://schemas.microsoft.com/office/drawing/2014/main" id="{11FE606B-8E05-A45D-4417-0BE75B3BB4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9" name="Group 155">
                  <a:extLst>
                    <a:ext uri="{FF2B5EF4-FFF2-40B4-BE49-F238E27FC236}">
                      <a16:creationId xmlns:a16="http://schemas.microsoft.com/office/drawing/2014/main" id="{E0E501E2-D9C1-7006-3C30-6C77C24DF4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22" name="Group 5">
                    <a:extLst>
                      <a:ext uri="{FF2B5EF4-FFF2-40B4-BE49-F238E27FC236}">
                        <a16:creationId xmlns:a16="http://schemas.microsoft.com/office/drawing/2014/main" id="{1D9C3381-99E0-30BB-7CD6-2A2E6CEE506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42" name="Rectangle 6">
                      <a:extLst>
                        <a:ext uri="{FF2B5EF4-FFF2-40B4-BE49-F238E27FC236}">
                          <a16:creationId xmlns:a16="http://schemas.microsoft.com/office/drawing/2014/main" id="{3AE42DC7-8963-380C-A7D5-95C70CA613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43" name="Group 7">
                      <a:extLst>
                        <a:ext uri="{FF2B5EF4-FFF2-40B4-BE49-F238E27FC236}">
                          <a16:creationId xmlns:a16="http://schemas.microsoft.com/office/drawing/2014/main" id="{E658922E-B881-A18B-3062-8B19ED27111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44" name="Line 9">
                        <a:extLst>
                          <a:ext uri="{FF2B5EF4-FFF2-40B4-BE49-F238E27FC236}">
                            <a16:creationId xmlns:a16="http://schemas.microsoft.com/office/drawing/2014/main" id="{58620539-96B5-99AE-F10A-A3015A933D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" name="Line 10">
                        <a:extLst>
                          <a:ext uri="{FF2B5EF4-FFF2-40B4-BE49-F238E27FC236}">
                            <a16:creationId xmlns:a16="http://schemas.microsoft.com/office/drawing/2014/main" id="{DB00D7F6-BBC5-CB4A-566B-7E90A6A62F2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" name="Line 11">
                        <a:extLst>
                          <a:ext uri="{FF2B5EF4-FFF2-40B4-BE49-F238E27FC236}">
                            <a16:creationId xmlns:a16="http://schemas.microsoft.com/office/drawing/2014/main" id="{E722E1A7-5B8D-B4F7-7B20-AD41D1F04B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7" name="Line 12">
                        <a:extLst>
                          <a:ext uri="{FF2B5EF4-FFF2-40B4-BE49-F238E27FC236}">
                            <a16:creationId xmlns:a16="http://schemas.microsoft.com/office/drawing/2014/main" id="{AAAF882C-2D1B-AA2F-B2D7-C4F13CB3AB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8" name="Line 13">
                        <a:extLst>
                          <a:ext uri="{FF2B5EF4-FFF2-40B4-BE49-F238E27FC236}">
                            <a16:creationId xmlns:a16="http://schemas.microsoft.com/office/drawing/2014/main" id="{3F370808-C987-5F29-2869-83BE8384E0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9" name="Line 14">
                        <a:extLst>
                          <a:ext uri="{FF2B5EF4-FFF2-40B4-BE49-F238E27FC236}">
                            <a16:creationId xmlns:a16="http://schemas.microsoft.com/office/drawing/2014/main" id="{8B73C14B-06A5-F455-371C-5BA62813881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0" name="Line 15">
                        <a:extLst>
                          <a:ext uri="{FF2B5EF4-FFF2-40B4-BE49-F238E27FC236}">
                            <a16:creationId xmlns:a16="http://schemas.microsoft.com/office/drawing/2014/main" id="{350D0622-A3F6-B40F-3C17-F115941455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1" name="Line 16">
                        <a:extLst>
                          <a:ext uri="{FF2B5EF4-FFF2-40B4-BE49-F238E27FC236}">
                            <a16:creationId xmlns:a16="http://schemas.microsoft.com/office/drawing/2014/main" id="{2B31B8D6-CDD1-FE54-89F2-8EF366DA24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2" name="Line 17">
                        <a:extLst>
                          <a:ext uri="{FF2B5EF4-FFF2-40B4-BE49-F238E27FC236}">
                            <a16:creationId xmlns:a16="http://schemas.microsoft.com/office/drawing/2014/main" id="{E02445B2-51E0-E6F6-9CE3-A40B20EB6B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3" name="Line 18">
                        <a:extLst>
                          <a:ext uri="{FF2B5EF4-FFF2-40B4-BE49-F238E27FC236}">
                            <a16:creationId xmlns:a16="http://schemas.microsoft.com/office/drawing/2014/main" id="{DC2CF297-8385-2A3F-73FB-E10ED773DF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4" name="Line 19">
                        <a:extLst>
                          <a:ext uri="{FF2B5EF4-FFF2-40B4-BE49-F238E27FC236}">
                            <a16:creationId xmlns:a16="http://schemas.microsoft.com/office/drawing/2014/main" id="{8BA179A9-A8EF-322B-768D-98F40EC845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5" name="Line 20">
                        <a:extLst>
                          <a:ext uri="{FF2B5EF4-FFF2-40B4-BE49-F238E27FC236}">
                            <a16:creationId xmlns:a16="http://schemas.microsoft.com/office/drawing/2014/main" id="{A178A65B-7CF8-8E14-D1B8-625F68A90B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6" name="Line 21">
                        <a:extLst>
                          <a:ext uri="{FF2B5EF4-FFF2-40B4-BE49-F238E27FC236}">
                            <a16:creationId xmlns:a16="http://schemas.microsoft.com/office/drawing/2014/main" id="{ED9A8849-20AF-BAEB-403E-270E3F3C04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8" name="Line 22">
                        <a:extLst>
                          <a:ext uri="{FF2B5EF4-FFF2-40B4-BE49-F238E27FC236}">
                            <a16:creationId xmlns:a16="http://schemas.microsoft.com/office/drawing/2014/main" id="{BC84749C-10D5-7B0A-B437-A91C3909F8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23">
                        <a:extLst>
                          <a:ext uri="{FF2B5EF4-FFF2-40B4-BE49-F238E27FC236}">
                            <a16:creationId xmlns:a16="http://schemas.microsoft.com/office/drawing/2014/main" id="{BD4E5999-B1D8-1255-6A20-CEFD465BF0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0" name="Line 24">
                        <a:extLst>
                          <a:ext uri="{FF2B5EF4-FFF2-40B4-BE49-F238E27FC236}">
                            <a16:creationId xmlns:a16="http://schemas.microsoft.com/office/drawing/2014/main" id="{E093B2DD-664B-5479-3F19-9B7EE66B3E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6" name="Line 25">
                        <a:extLst>
                          <a:ext uri="{FF2B5EF4-FFF2-40B4-BE49-F238E27FC236}">
                            <a16:creationId xmlns:a16="http://schemas.microsoft.com/office/drawing/2014/main" id="{7A15B1E3-544E-FCEA-D0AA-69C9FD9273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3" name="Line 26">
                        <a:extLst>
                          <a:ext uri="{FF2B5EF4-FFF2-40B4-BE49-F238E27FC236}">
                            <a16:creationId xmlns:a16="http://schemas.microsoft.com/office/drawing/2014/main" id="{5D78AB85-E4E7-7A55-ECBE-C724DABB8A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5" name="Line 27">
                        <a:extLst>
                          <a:ext uri="{FF2B5EF4-FFF2-40B4-BE49-F238E27FC236}">
                            <a16:creationId xmlns:a16="http://schemas.microsoft.com/office/drawing/2014/main" id="{067DDB13-7B24-015E-4494-DA89AE7A74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6" name="Line 28">
                        <a:extLst>
                          <a:ext uri="{FF2B5EF4-FFF2-40B4-BE49-F238E27FC236}">
                            <a16:creationId xmlns:a16="http://schemas.microsoft.com/office/drawing/2014/main" id="{1DC876F7-D9CA-2A1E-CABD-14D06749CC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7" name="Line 29">
                        <a:extLst>
                          <a:ext uri="{FF2B5EF4-FFF2-40B4-BE49-F238E27FC236}">
                            <a16:creationId xmlns:a16="http://schemas.microsoft.com/office/drawing/2014/main" id="{578F3C98-40F5-FBAB-C43A-EADA7CD811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8" name="Line 30">
                        <a:extLst>
                          <a:ext uri="{FF2B5EF4-FFF2-40B4-BE49-F238E27FC236}">
                            <a16:creationId xmlns:a16="http://schemas.microsoft.com/office/drawing/2014/main" id="{0354832A-1114-887D-9926-1DE1C1CFBA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9" name="Line 31">
                        <a:extLst>
                          <a:ext uri="{FF2B5EF4-FFF2-40B4-BE49-F238E27FC236}">
                            <a16:creationId xmlns:a16="http://schemas.microsoft.com/office/drawing/2014/main" id="{25476C2A-DC3D-2A47-CA39-2C8CF8C0A9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0" name="Line 32">
                        <a:extLst>
                          <a:ext uri="{FF2B5EF4-FFF2-40B4-BE49-F238E27FC236}">
                            <a16:creationId xmlns:a16="http://schemas.microsoft.com/office/drawing/2014/main" id="{B00D9424-AF08-5551-B964-21C15A0DD4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1" name="Line 33">
                        <a:extLst>
                          <a:ext uri="{FF2B5EF4-FFF2-40B4-BE49-F238E27FC236}">
                            <a16:creationId xmlns:a16="http://schemas.microsoft.com/office/drawing/2014/main" id="{132B40D2-51C3-5BBE-E839-25C323545D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" name="Line 34">
                        <a:extLst>
                          <a:ext uri="{FF2B5EF4-FFF2-40B4-BE49-F238E27FC236}">
                            <a16:creationId xmlns:a16="http://schemas.microsoft.com/office/drawing/2014/main" id="{175FBE75-3F44-16FA-FD02-759F6B66D23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7" name="Line 35">
                        <a:extLst>
                          <a:ext uri="{FF2B5EF4-FFF2-40B4-BE49-F238E27FC236}">
                            <a16:creationId xmlns:a16="http://schemas.microsoft.com/office/drawing/2014/main" id="{83185AFC-C2E2-7028-3A43-ED2590E1CC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8" name="Line 36">
                        <a:extLst>
                          <a:ext uri="{FF2B5EF4-FFF2-40B4-BE49-F238E27FC236}">
                            <a16:creationId xmlns:a16="http://schemas.microsoft.com/office/drawing/2014/main" id="{EDF4610F-6D91-EFAF-25BD-FADE94C8A4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2" name="Line 37">
                        <a:extLst>
                          <a:ext uri="{FF2B5EF4-FFF2-40B4-BE49-F238E27FC236}">
                            <a16:creationId xmlns:a16="http://schemas.microsoft.com/office/drawing/2014/main" id="{E2975AC6-217C-E41F-35A1-2E8FFADAC4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3" name="Line 38">
                        <a:extLst>
                          <a:ext uri="{FF2B5EF4-FFF2-40B4-BE49-F238E27FC236}">
                            <a16:creationId xmlns:a16="http://schemas.microsoft.com/office/drawing/2014/main" id="{9AD61D5B-42D3-1D6A-9189-0506A8A507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3" name="Line 39">
                    <a:extLst>
                      <a:ext uri="{FF2B5EF4-FFF2-40B4-BE49-F238E27FC236}">
                        <a16:creationId xmlns:a16="http://schemas.microsoft.com/office/drawing/2014/main" id="{8E4BA076-5E19-020D-35B2-F754454BCD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4" name="Text Box 40">
                    <a:extLst>
                      <a:ext uri="{FF2B5EF4-FFF2-40B4-BE49-F238E27FC236}">
                        <a16:creationId xmlns:a16="http://schemas.microsoft.com/office/drawing/2014/main" id="{6D214688-D450-A858-E132-7662B372EDB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[11:5]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5" name="Text Box 41">
                    <a:extLst>
                      <a:ext uri="{FF2B5EF4-FFF2-40B4-BE49-F238E27FC236}">
                        <a16:creationId xmlns:a16="http://schemas.microsoft.com/office/drawing/2014/main" id="{E21B8B8C-025A-BDC1-0E44-73F3859DF64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" name="Line 42">
                    <a:extLst>
                      <a:ext uri="{FF2B5EF4-FFF2-40B4-BE49-F238E27FC236}">
                        <a16:creationId xmlns:a16="http://schemas.microsoft.com/office/drawing/2014/main" id="{8A72ED6F-24C4-6A39-90CE-CA2142EA2A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9" name="Line 43">
                    <a:extLst>
                      <a:ext uri="{FF2B5EF4-FFF2-40B4-BE49-F238E27FC236}">
                        <a16:creationId xmlns:a16="http://schemas.microsoft.com/office/drawing/2014/main" id="{0B704779-BDC4-EC4A-60D8-3C086B539C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" name="Line 44">
                    <a:extLst>
                      <a:ext uri="{FF2B5EF4-FFF2-40B4-BE49-F238E27FC236}">
                        <a16:creationId xmlns:a16="http://schemas.microsoft.com/office/drawing/2014/main" id="{08180575-6E14-130D-C74E-16ED3D272B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1" name="Text Box 45">
                    <a:extLst>
                      <a:ext uri="{FF2B5EF4-FFF2-40B4-BE49-F238E27FC236}">
                        <a16:creationId xmlns:a16="http://schemas.microsoft.com/office/drawing/2014/main" id="{467A6EF9-9E53-BEE0-2490-27CA750109A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2" name="Text Box 46">
                    <a:extLst>
                      <a:ext uri="{FF2B5EF4-FFF2-40B4-BE49-F238E27FC236}">
                        <a16:creationId xmlns:a16="http://schemas.microsoft.com/office/drawing/2014/main" id="{D7C52C59-F464-696E-9D66-418F37106CA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3" name="Text Box 47">
                    <a:extLst>
                      <a:ext uri="{FF2B5EF4-FFF2-40B4-BE49-F238E27FC236}">
                        <a16:creationId xmlns:a16="http://schemas.microsoft.com/office/drawing/2014/main" id="{2E571A0D-4741-F4FB-3F3D-B1571FFACDA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4" name="Text Box 48">
                    <a:extLst>
                      <a:ext uri="{FF2B5EF4-FFF2-40B4-BE49-F238E27FC236}">
                        <a16:creationId xmlns:a16="http://schemas.microsoft.com/office/drawing/2014/main" id="{F7199018-70BC-1DA2-4858-9FAD69F1C26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5" name="Text Box 49">
                    <a:extLst>
                      <a:ext uri="{FF2B5EF4-FFF2-40B4-BE49-F238E27FC236}">
                        <a16:creationId xmlns:a16="http://schemas.microsoft.com/office/drawing/2014/main" id="{4811386B-8349-E2EC-2B4C-540DED78B81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6" name="Text Box 50">
                    <a:extLst>
                      <a:ext uri="{FF2B5EF4-FFF2-40B4-BE49-F238E27FC236}">
                        <a16:creationId xmlns:a16="http://schemas.microsoft.com/office/drawing/2014/main" id="{18F84D73-E751-5A32-FDD6-A8953D45625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" name="Text Box 51">
                    <a:extLst>
                      <a:ext uri="{FF2B5EF4-FFF2-40B4-BE49-F238E27FC236}">
                        <a16:creationId xmlns:a16="http://schemas.microsoft.com/office/drawing/2014/main" id="{7D30711D-FA5E-4C07-D6DD-DAAB03D6BE6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8" name="Text Box 52">
                    <a:extLst>
                      <a:ext uri="{FF2B5EF4-FFF2-40B4-BE49-F238E27FC236}">
                        <a16:creationId xmlns:a16="http://schemas.microsoft.com/office/drawing/2014/main" id="{1193A0D5-84A1-2B4E-DBA1-042284B0014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9" name="Text Box 53">
                    <a:extLst>
                      <a:ext uri="{FF2B5EF4-FFF2-40B4-BE49-F238E27FC236}">
                        <a16:creationId xmlns:a16="http://schemas.microsoft.com/office/drawing/2014/main" id="{85111FB8-5F98-678A-584F-ED236DF94D3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" name="Line 153">
                    <a:extLst>
                      <a:ext uri="{FF2B5EF4-FFF2-40B4-BE49-F238E27FC236}">
                        <a16:creationId xmlns:a16="http://schemas.microsoft.com/office/drawing/2014/main" id="{C2B1AEAC-0BCD-D17C-D444-9F9C52D49C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1" name="Text Box 154">
                    <a:extLst>
                      <a:ext uri="{FF2B5EF4-FFF2-40B4-BE49-F238E27FC236}">
                        <a16:creationId xmlns:a16="http://schemas.microsoft.com/office/drawing/2014/main" id="{9F907282-4757-651F-DC1A-C95035DE898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5" name="Text Box 41">
                <a:extLst>
                  <a:ext uri="{FF2B5EF4-FFF2-40B4-BE49-F238E27FC236}">
                    <a16:creationId xmlns:a16="http://schemas.microsoft.com/office/drawing/2014/main" id="{884218F9-FB87-1F92-11A5-A134729D3C5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[4:0]</a:t>
                </a:r>
                <a:endParaRPr lang="ca-E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30E6BD45-3E67-27C5-18EF-4E045B7ED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7D91845-22A4-791D-7086-D37D7CB566FA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" sz="20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S:</a:t>
            </a:r>
            <a:r>
              <a:rPr lang="es-ES" sz="20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noProof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rs2,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(rs1)</a:t>
            </a:r>
            <a:endParaRPr lang="es-ES" sz="2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2 operandos fuente (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rs1, rs2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), sin operando destino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Huecos: 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funct7+rd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(12 bits) para el inmediato</a:t>
            </a:r>
          </a:p>
          <a:p>
            <a:pPr marL="82550" indent="0">
              <a:buNone/>
            </a:pP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6EAED848-7EF5-CCA4-4B97-A8D5EDF65FBB}"/>
              </a:ext>
            </a:extLst>
          </p:cNvPr>
          <p:cNvGrpSpPr/>
          <p:nvPr/>
        </p:nvGrpSpPr>
        <p:grpSpPr>
          <a:xfrm>
            <a:off x="2624356" y="1052736"/>
            <a:ext cx="5764068" cy="1180085"/>
            <a:chOff x="975305" y="4921594"/>
            <a:chExt cx="3345284" cy="753875"/>
          </a:xfrm>
        </p:grpSpPr>
        <p:grpSp>
          <p:nvGrpSpPr>
            <p:cNvPr id="117" name="Group 9">
              <a:extLst>
                <a:ext uri="{FF2B5EF4-FFF2-40B4-BE49-F238E27FC236}">
                  <a16:creationId xmlns:a16="http://schemas.microsoft.com/office/drawing/2014/main" id="{93EB0555-4778-0571-7E7C-7ACD36EBB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20" name="Rectangle 10">
                <a:extLst>
                  <a:ext uri="{FF2B5EF4-FFF2-40B4-BE49-F238E27FC236}">
                    <a16:creationId xmlns:a16="http://schemas.microsoft.com/office/drawing/2014/main" id="{B57A621F-9D04-3C66-34FD-0CF55A438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21" name="Group 155">
                <a:extLst>
                  <a:ext uri="{FF2B5EF4-FFF2-40B4-BE49-F238E27FC236}">
                    <a16:creationId xmlns:a16="http://schemas.microsoft.com/office/drawing/2014/main" id="{0D24C2E4-B0B6-39FF-90F1-8348A8BB2D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122" name="Group 5">
                  <a:extLst>
                    <a:ext uri="{FF2B5EF4-FFF2-40B4-BE49-F238E27FC236}">
                      <a16:creationId xmlns:a16="http://schemas.microsoft.com/office/drawing/2014/main" id="{E22DB63D-3BE3-357E-8C02-22975F8A58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40" name="Rectangle 6">
                    <a:extLst>
                      <a:ext uri="{FF2B5EF4-FFF2-40B4-BE49-F238E27FC236}">
                        <a16:creationId xmlns:a16="http://schemas.microsoft.com/office/drawing/2014/main" id="{22819965-B89D-2AAF-9D97-1BEC9D47B3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141" name="Group 7">
                    <a:extLst>
                      <a:ext uri="{FF2B5EF4-FFF2-40B4-BE49-F238E27FC236}">
                        <a16:creationId xmlns:a16="http://schemas.microsoft.com/office/drawing/2014/main" id="{DCD16B5F-8857-0F39-376F-CDDFD16CEE5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42" name="Line 9">
                      <a:extLst>
                        <a:ext uri="{FF2B5EF4-FFF2-40B4-BE49-F238E27FC236}">
                          <a16:creationId xmlns:a16="http://schemas.microsoft.com/office/drawing/2014/main" id="{E053B9F3-7934-D5C7-F9CA-A3AA6DB5601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3" name="Line 10">
                      <a:extLst>
                        <a:ext uri="{FF2B5EF4-FFF2-40B4-BE49-F238E27FC236}">
                          <a16:creationId xmlns:a16="http://schemas.microsoft.com/office/drawing/2014/main" id="{BC8FC097-4BAC-B971-1927-B1724B606D4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4" name="Line 11">
                      <a:extLst>
                        <a:ext uri="{FF2B5EF4-FFF2-40B4-BE49-F238E27FC236}">
                          <a16:creationId xmlns:a16="http://schemas.microsoft.com/office/drawing/2014/main" id="{D61B7921-AAB9-3E4E-E880-06580104DF2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5" name="Line 12">
                      <a:extLst>
                        <a:ext uri="{FF2B5EF4-FFF2-40B4-BE49-F238E27FC236}">
                          <a16:creationId xmlns:a16="http://schemas.microsoft.com/office/drawing/2014/main" id="{7FEE45F3-D8E2-5205-7C1F-0BA6367BEC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6" name="Line 13">
                      <a:extLst>
                        <a:ext uri="{FF2B5EF4-FFF2-40B4-BE49-F238E27FC236}">
                          <a16:creationId xmlns:a16="http://schemas.microsoft.com/office/drawing/2014/main" id="{9904CA00-D6E0-BDD7-F58F-9762F0B79C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7" name="Line 14">
                      <a:extLst>
                        <a:ext uri="{FF2B5EF4-FFF2-40B4-BE49-F238E27FC236}">
                          <a16:creationId xmlns:a16="http://schemas.microsoft.com/office/drawing/2014/main" id="{7756F63A-7C79-3C39-59CA-DE547630E1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8" name="Line 15">
                      <a:extLst>
                        <a:ext uri="{FF2B5EF4-FFF2-40B4-BE49-F238E27FC236}">
                          <a16:creationId xmlns:a16="http://schemas.microsoft.com/office/drawing/2014/main" id="{AEDA0A69-2D2D-48DE-6661-2B6A6FBC5B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9" name="Line 16">
                      <a:extLst>
                        <a:ext uri="{FF2B5EF4-FFF2-40B4-BE49-F238E27FC236}">
                          <a16:creationId xmlns:a16="http://schemas.microsoft.com/office/drawing/2014/main" id="{A53015AA-04CB-596C-34F0-CF82D4FC01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0" name="Line 17">
                      <a:extLst>
                        <a:ext uri="{FF2B5EF4-FFF2-40B4-BE49-F238E27FC236}">
                          <a16:creationId xmlns:a16="http://schemas.microsoft.com/office/drawing/2014/main" id="{8A7DB5DC-CEE2-C389-936B-058A8044757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1" name="Line 18">
                      <a:extLst>
                        <a:ext uri="{FF2B5EF4-FFF2-40B4-BE49-F238E27FC236}">
                          <a16:creationId xmlns:a16="http://schemas.microsoft.com/office/drawing/2014/main" id="{BB1CEED3-59F2-C54F-99B4-5FFB3422AC6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2" name="Line 19">
                      <a:extLst>
                        <a:ext uri="{FF2B5EF4-FFF2-40B4-BE49-F238E27FC236}">
                          <a16:creationId xmlns:a16="http://schemas.microsoft.com/office/drawing/2014/main" id="{AF88C70D-0466-E778-7C5C-613CC4ED82A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3" name="Line 20">
                      <a:extLst>
                        <a:ext uri="{FF2B5EF4-FFF2-40B4-BE49-F238E27FC236}">
                          <a16:creationId xmlns:a16="http://schemas.microsoft.com/office/drawing/2014/main" id="{771AD1E6-1BB2-079B-35E7-239E78604A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4" name="Line 21">
                      <a:extLst>
                        <a:ext uri="{FF2B5EF4-FFF2-40B4-BE49-F238E27FC236}">
                          <a16:creationId xmlns:a16="http://schemas.microsoft.com/office/drawing/2014/main" id="{5C28121F-5FC6-01B2-337D-9E6DA7886AA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5" name="Line 22">
                      <a:extLst>
                        <a:ext uri="{FF2B5EF4-FFF2-40B4-BE49-F238E27FC236}">
                          <a16:creationId xmlns:a16="http://schemas.microsoft.com/office/drawing/2014/main" id="{C55D1270-22DD-B72A-1D40-1FFBCD2FCD3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6" name="Line 23">
                      <a:extLst>
                        <a:ext uri="{FF2B5EF4-FFF2-40B4-BE49-F238E27FC236}">
                          <a16:creationId xmlns:a16="http://schemas.microsoft.com/office/drawing/2014/main" id="{918DB32F-2E05-64B2-4B64-C299115AEA4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7" name="Line 24">
                      <a:extLst>
                        <a:ext uri="{FF2B5EF4-FFF2-40B4-BE49-F238E27FC236}">
                          <a16:creationId xmlns:a16="http://schemas.microsoft.com/office/drawing/2014/main" id="{62677532-FD99-6C00-0B28-F6CC9FF330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8" name="Line 25">
                      <a:extLst>
                        <a:ext uri="{FF2B5EF4-FFF2-40B4-BE49-F238E27FC236}">
                          <a16:creationId xmlns:a16="http://schemas.microsoft.com/office/drawing/2014/main" id="{4176C9A7-8D55-7DC0-0883-15C71494015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9" name="Line 26">
                      <a:extLst>
                        <a:ext uri="{FF2B5EF4-FFF2-40B4-BE49-F238E27FC236}">
                          <a16:creationId xmlns:a16="http://schemas.microsoft.com/office/drawing/2014/main" id="{09064077-8F7B-E63A-B4BF-B0684267742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0" name="Line 27">
                      <a:extLst>
                        <a:ext uri="{FF2B5EF4-FFF2-40B4-BE49-F238E27FC236}">
                          <a16:creationId xmlns:a16="http://schemas.microsoft.com/office/drawing/2014/main" id="{B66C2A13-9857-4743-7EEF-2DF958D3756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1" name="Line 28">
                      <a:extLst>
                        <a:ext uri="{FF2B5EF4-FFF2-40B4-BE49-F238E27FC236}">
                          <a16:creationId xmlns:a16="http://schemas.microsoft.com/office/drawing/2014/main" id="{45527300-67AF-313B-AC37-961600CAAC3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2" name="Line 29">
                      <a:extLst>
                        <a:ext uri="{FF2B5EF4-FFF2-40B4-BE49-F238E27FC236}">
                          <a16:creationId xmlns:a16="http://schemas.microsoft.com/office/drawing/2014/main" id="{BE879AB6-951F-C63A-AB64-B9F1409E546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3" name="Line 30">
                      <a:extLst>
                        <a:ext uri="{FF2B5EF4-FFF2-40B4-BE49-F238E27FC236}">
                          <a16:creationId xmlns:a16="http://schemas.microsoft.com/office/drawing/2014/main" id="{6724118E-B2F8-A6E1-8482-7826E63A4C0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4" name="Line 31">
                      <a:extLst>
                        <a:ext uri="{FF2B5EF4-FFF2-40B4-BE49-F238E27FC236}">
                          <a16:creationId xmlns:a16="http://schemas.microsoft.com/office/drawing/2014/main" id="{60DA34F5-35F6-A1D8-1DCA-1558C85231C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5" name="Line 32">
                      <a:extLst>
                        <a:ext uri="{FF2B5EF4-FFF2-40B4-BE49-F238E27FC236}">
                          <a16:creationId xmlns:a16="http://schemas.microsoft.com/office/drawing/2014/main" id="{C3CD3832-634F-CD66-0103-81DCE7EA218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6" name="Line 33">
                      <a:extLst>
                        <a:ext uri="{FF2B5EF4-FFF2-40B4-BE49-F238E27FC236}">
                          <a16:creationId xmlns:a16="http://schemas.microsoft.com/office/drawing/2014/main" id="{88BE289A-5E13-855C-D054-6DD9180F697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7" name="Line 34">
                      <a:extLst>
                        <a:ext uri="{FF2B5EF4-FFF2-40B4-BE49-F238E27FC236}">
                          <a16:creationId xmlns:a16="http://schemas.microsoft.com/office/drawing/2014/main" id="{0E2D8A38-4E82-6ED0-DF8B-F19D1BEB747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8" name="Line 35">
                      <a:extLst>
                        <a:ext uri="{FF2B5EF4-FFF2-40B4-BE49-F238E27FC236}">
                          <a16:creationId xmlns:a16="http://schemas.microsoft.com/office/drawing/2014/main" id="{4DADC4CD-CECE-D068-09D6-83F7C10370D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9" name="Line 36">
                      <a:extLst>
                        <a:ext uri="{FF2B5EF4-FFF2-40B4-BE49-F238E27FC236}">
                          <a16:creationId xmlns:a16="http://schemas.microsoft.com/office/drawing/2014/main" id="{8C4F4EE8-3E90-3048-D9CE-3169E0DB91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0" name="Line 37">
                      <a:extLst>
                        <a:ext uri="{FF2B5EF4-FFF2-40B4-BE49-F238E27FC236}">
                          <a16:creationId xmlns:a16="http://schemas.microsoft.com/office/drawing/2014/main" id="{7A93F466-BBCF-371B-50BF-8A9562BFEE5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1" name="Line 38">
                      <a:extLst>
                        <a:ext uri="{FF2B5EF4-FFF2-40B4-BE49-F238E27FC236}">
                          <a16:creationId xmlns:a16="http://schemas.microsoft.com/office/drawing/2014/main" id="{494DDFC6-D54A-8B69-6629-C9044349728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23" name="Line 39">
                  <a:extLst>
                    <a:ext uri="{FF2B5EF4-FFF2-40B4-BE49-F238E27FC236}">
                      <a16:creationId xmlns:a16="http://schemas.microsoft.com/office/drawing/2014/main" id="{AC3280BB-DF9A-4274-CB04-8379F4D2E3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4" name="Text Box 40">
                  <a:extLst>
                    <a:ext uri="{FF2B5EF4-FFF2-40B4-BE49-F238E27FC236}">
                      <a16:creationId xmlns:a16="http://schemas.microsoft.com/office/drawing/2014/main" id="{D7CDF39C-EB90-9213-CA98-7A05D82BBB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5" name="Text Box 41">
                  <a:extLst>
                    <a:ext uri="{FF2B5EF4-FFF2-40B4-BE49-F238E27FC236}">
                      <a16:creationId xmlns:a16="http://schemas.microsoft.com/office/drawing/2014/main" id="{13CED704-2209-5BAF-72D8-EF81D43F3A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6" name="Line 42">
                  <a:extLst>
                    <a:ext uri="{FF2B5EF4-FFF2-40B4-BE49-F238E27FC236}">
                      <a16:creationId xmlns:a16="http://schemas.microsoft.com/office/drawing/2014/main" id="{AE4DFDBE-8FF8-74F8-5B25-AAF08886F5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7" name="Line 43">
                  <a:extLst>
                    <a:ext uri="{FF2B5EF4-FFF2-40B4-BE49-F238E27FC236}">
                      <a16:creationId xmlns:a16="http://schemas.microsoft.com/office/drawing/2014/main" id="{1B9E8B36-C3A7-5FCC-1869-6430D1495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8" name="Line 44">
                  <a:extLst>
                    <a:ext uri="{FF2B5EF4-FFF2-40B4-BE49-F238E27FC236}">
                      <a16:creationId xmlns:a16="http://schemas.microsoft.com/office/drawing/2014/main" id="{0D29B3C4-C217-9EB9-6837-02FBA8843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9" name="Text Box 45">
                  <a:extLst>
                    <a:ext uri="{FF2B5EF4-FFF2-40B4-BE49-F238E27FC236}">
                      <a16:creationId xmlns:a16="http://schemas.microsoft.com/office/drawing/2014/main" id="{B9D77AA6-F7E3-E30C-0D89-D1D7B4B991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0" name="Text Box 46">
                  <a:extLst>
                    <a:ext uri="{FF2B5EF4-FFF2-40B4-BE49-F238E27FC236}">
                      <a16:creationId xmlns:a16="http://schemas.microsoft.com/office/drawing/2014/main" id="{1A1F41BA-038B-B3EF-92E2-FEB784DB09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1" name="Text Box 47">
                  <a:extLst>
                    <a:ext uri="{FF2B5EF4-FFF2-40B4-BE49-F238E27FC236}">
                      <a16:creationId xmlns:a16="http://schemas.microsoft.com/office/drawing/2014/main" id="{0F1D2D5C-4200-BB04-F233-68EF0899B2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2" name="Text Box 48">
                  <a:extLst>
                    <a:ext uri="{FF2B5EF4-FFF2-40B4-BE49-F238E27FC236}">
                      <a16:creationId xmlns:a16="http://schemas.microsoft.com/office/drawing/2014/main" id="{803A1234-DA35-2222-DE93-1ACA03D063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3" name="Text Box 49">
                  <a:extLst>
                    <a:ext uri="{FF2B5EF4-FFF2-40B4-BE49-F238E27FC236}">
                      <a16:creationId xmlns:a16="http://schemas.microsoft.com/office/drawing/2014/main" id="{C1C2CE6A-DBF3-05E5-98B5-9EC91FA476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4" name="Text Box 50">
                  <a:extLst>
                    <a:ext uri="{FF2B5EF4-FFF2-40B4-BE49-F238E27FC236}">
                      <a16:creationId xmlns:a16="http://schemas.microsoft.com/office/drawing/2014/main" id="{37C8F45E-3923-F10D-1DC5-53C988ECC9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5" name="Text Box 51">
                  <a:extLst>
                    <a:ext uri="{FF2B5EF4-FFF2-40B4-BE49-F238E27FC236}">
                      <a16:creationId xmlns:a16="http://schemas.microsoft.com/office/drawing/2014/main" id="{74E5D110-AD7E-0B69-C495-4E3201DE44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6" name="Text Box 52">
                  <a:extLst>
                    <a:ext uri="{FF2B5EF4-FFF2-40B4-BE49-F238E27FC236}">
                      <a16:creationId xmlns:a16="http://schemas.microsoft.com/office/drawing/2014/main" id="{7AC22AA3-93FE-4498-C5D8-92BBED0B80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7" name="Text Box 53">
                  <a:extLst>
                    <a:ext uri="{FF2B5EF4-FFF2-40B4-BE49-F238E27FC236}">
                      <a16:creationId xmlns:a16="http://schemas.microsoft.com/office/drawing/2014/main" id="{9A2AF10B-9319-C6C1-42D8-EB61613BF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8" name="Line 153">
                  <a:extLst>
                    <a:ext uri="{FF2B5EF4-FFF2-40B4-BE49-F238E27FC236}">
                      <a16:creationId xmlns:a16="http://schemas.microsoft.com/office/drawing/2014/main" id="{D236D0B6-E31D-DBAA-C470-A620F53485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9" name="Text Box 154">
                  <a:extLst>
                    <a:ext uri="{FF2B5EF4-FFF2-40B4-BE49-F238E27FC236}">
                      <a16:creationId xmlns:a16="http://schemas.microsoft.com/office/drawing/2014/main" id="{543FD162-43C7-A1FA-EF7B-A5DCC4E081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18" name="Text Box 41">
              <a:extLst>
                <a:ext uri="{FF2B5EF4-FFF2-40B4-BE49-F238E27FC236}">
                  <a16:creationId xmlns:a16="http://schemas.microsoft.com/office/drawing/2014/main" id="{6FD1DEE2-D47B-34D8-205B-D59AD67AF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Line 11">
              <a:extLst>
                <a:ext uri="{FF2B5EF4-FFF2-40B4-BE49-F238E27FC236}">
                  <a16:creationId xmlns:a16="http://schemas.microsoft.com/office/drawing/2014/main" id="{E13D7D13-DEF7-2D3E-2382-FBDA029F0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26A71B9F-536F-9CEA-CA0D-CE336319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14" name="Flecha abajo 113">
            <a:extLst>
              <a:ext uri="{FF2B5EF4-FFF2-40B4-BE49-F238E27FC236}">
                <a16:creationId xmlns:a16="http://schemas.microsoft.com/office/drawing/2014/main" id="{E3B8BF49-AC12-E650-382D-2A0D574D31B2}"/>
              </a:ext>
            </a:extLst>
          </p:cNvPr>
          <p:cNvSpPr/>
          <p:nvPr/>
        </p:nvSpPr>
        <p:spPr>
          <a:xfrm>
            <a:off x="5254453" y="4122432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7018D8AE-9829-830A-653E-FFE7FF324B0C}"/>
              </a:ext>
            </a:extLst>
          </p:cNvPr>
          <p:cNvSpPr/>
          <p:nvPr/>
        </p:nvSpPr>
        <p:spPr>
          <a:xfrm>
            <a:off x="2814236" y="1211622"/>
            <a:ext cx="1131429" cy="530674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DC26D81-5504-E609-03F0-AC8171FB7E0E}"/>
              </a:ext>
            </a:extLst>
          </p:cNvPr>
          <p:cNvSpPr/>
          <p:nvPr/>
        </p:nvSpPr>
        <p:spPr>
          <a:xfrm>
            <a:off x="6159559" y="1196752"/>
            <a:ext cx="818276" cy="530674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7135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E9180-9ADC-839B-1B11-1FC1E3FC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A71F8000-5610-D6D4-EED5-3643862BE2A5}"/>
              </a:ext>
            </a:extLst>
          </p:cNvPr>
          <p:cNvGrpSpPr/>
          <p:nvPr/>
        </p:nvGrpSpPr>
        <p:grpSpPr>
          <a:xfrm>
            <a:off x="2628879" y="5013628"/>
            <a:ext cx="5759545" cy="1511716"/>
            <a:chOff x="3109309" y="5917230"/>
            <a:chExt cx="3345284" cy="997923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792EADC6-7DFF-ABB5-3D55-69BFAA4327C5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14" name="Group 9">
                <a:extLst>
                  <a:ext uri="{FF2B5EF4-FFF2-40B4-BE49-F238E27FC236}">
                    <a16:creationId xmlns:a16="http://schemas.microsoft.com/office/drawing/2014/main" id="{97B91B3C-D5A9-8377-167D-5A76C3D37C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16" name="Rectangle 10">
                  <a:extLst>
                    <a:ext uri="{FF2B5EF4-FFF2-40B4-BE49-F238E27FC236}">
                      <a16:creationId xmlns:a16="http://schemas.microsoft.com/office/drawing/2014/main" id="{985C61E2-026D-1654-5654-0F2A995C28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9" name="Group 155">
                  <a:extLst>
                    <a:ext uri="{FF2B5EF4-FFF2-40B4-BE49-F238E27FC236}">
                      <a16:creationId xmlns:a16="http://schemas.microsoft.com/office/drawing/2014/main" id="{C26D852F-BAA5-654E-90A8-8FE3E03535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22" name="Group 5">
                    <a:extLst>
                      <a:ext uri="{FF2B5EF4-FFF2-40B4-BE49-F238E27FC236}">
                        <a16:creationId xmlns:a16="http://schemas.microsoft.com/office/drawing/2014/main" id="{F72BC211-7560-CFCF-5DA2-06D4DAD8F3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42" name="Rectangle 6">
                      <a:extLst>
                        <a:ext uri="{FF2B5EF4-FFF2-40B4-BE49-F238E27FC236}">
                          <a16:creationId xmlns:a16="http://schemas.microsoft.com/office/drawing/2014/main" id="{4F7F3816-6A56-4ACD-910C-B72B10A6DF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43" name="Group 7">
                      <a:extLst>
                        <a:ext uri="{FF2B5EF4-FFF2-40B4-BE49-F238E27FC236}">
                          <a16:creationId xmlns:a16="http://schemas.microsoft.com/office/drawing/2014/main" id="{731989A6-356F-1CC0-003C-B5FD4D4A8AF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44" name="Line 9">
                        <a:extLst>
                          <a:ext uri="{FF2B5EF4-FFF2-40B4-BE49-F238E27FC236}">
                            <a16:creationId xmlns:a16="http://schemas.microsoft.com/office/drawing/2014/main" id="{48A1ABF6-9AB4-2BCE-2E01-9C90C88103E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" name="Line 10">
                        <a:extLst>
                          <a:ext uri="{FF2B5EF4-FFF2-40B4-BE49-F238E27FC236}">
                            <a16:creationId xmlns:a16="http://schemas.microsoft.com/office/drawing/2014/main" id="{A1A40885-2786-7A88-1832-2D595B68E3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" name="Line 11">
                        <a:extLst>
                          <a:ext uri="{FF2B5EF4-FFF2-40B4-BE49-F238E27FC236}">
                            <a16:creationId xmlns:a16="http://schemas.microsoft.com/office/drawing/2014/main" id="{E3418687-EB6B-CAE8-6D9F-EEA1157174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7" name="Line 12">
                        <a:extLst>
                          <a:ext uri="{FF2B5EF4-FFF2-40B4-BE49-F238E27FC236}">
                            <a16:creationId xmlns:a16="http://schemas.microsoft.com/office/drawing/2014/main" id="{3627A7F8-C9C3-1F89-2F93-2D8366B020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8" name="Line 13">
                        <a:extLst>
                          <a:ext uri="{FF2B5EF4-FFF2-40B4-BE49-F238E27FC236}">
                            <a16:creationId xmlns:a16="http://schemas.microsoft.com/office/drawing/2014/main" id="{06196045-6641-3372-F78C-C661C6EC59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9" name="Line 14">
                        <a:extLst>
                          <a:ext uri="{FF2B5EF4-FFF2-40B4-BE49-F238E27FC236}">
                            <a16:creationId xmlns:a16="http://schemas.microsoft.com/office/drawing/2014/main" id="{EA391022-783C-6EED-B2DA-4E1E602476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0" name="Line 15">
                        <a:extLst>
                          <a:ext uri="{FF2B5EF4-FFF2-40B4-BE49-F238E27FC236}">
                            <a16:creationId xmlns:a16="http://schemas.microsoft.com/office/drawing/2014/main" id="{09E9296C-33B2-D98A-2E84-D0660A778A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1" name="Line 16">
                        <a:extLst>
                          <a:ext uri="{FF2B5EF4-FFF2-40B4-BE49-F238E27FC236}">
                            <a16:creationId xmlns:a16="http://schemas.microsoft.com/office/drawing/2014/main" id="{CC74B919-BD81-D6CF-A243-F855AAFFC5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2" name="Line 17">
                        <a:extLst>
                          <a:ext uri="{FF2B5EF4-FFF2-40B4-BE49-F238E27FC236}">
                            <a16:creationId xmlns:a16="http://schemas.microsoft.com/office/drawing/2014/main" id="{C8C62F32-1959-7A5B-140E-6A42FD4547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3" name="Line 18">
                        <a:extLst>
                          <a:ext uri="{FF2B5EF4-FFF2-40B4-BE49-F238E27FC236}">
                            <a16:creationId xmlns:a16="http://schemas.microsoft.com/office/drawing/2014/main" id="{2EAF5439-0C30-405C-C3CF-3242062C78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4" name="Line 19">
                        <a:extLst>
                          <a:ext uri="{FF2B5EF4-FFF2-40B4-BE49-F238E27FC236}">
                            <a16:creationId xmlns:a16="http://schemas.microsoft.com/office/drawing/2014/main" id="{A35D010C-F274-CFE8-56B1-43CA8363CB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5" name="Line 20">
                        <a:extLst>
                          <a:ext uri="{FF2B5EF4-FFF2-40B4-BE49-F238E27FC236}">
                            <a16:creationId xmlns:a16="http://schemas.microsoft.com/office/drawing/2014/main" id="{CA5EC524-A4E5-D61E-CB4B-A4CA8B32A2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6" name="Line 21">
                        <a:extLst>
                          <a:ext uri="{FF2B5EF4-FFF2-40B4-BE49-F238E27FC236}">
                            <a16:creationId xmlns:a16="http://schemas.microsoft.com/office/drawing/2014/main" id="{6B1C5309-9714-EA21-6107-9C6C867C12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8" name="Line 22">
                        <a:extLst>
                          <a:ext uri="{FF2B5EF4-FFF2-40B4-BE49-F238E27FC236}">
                            <a16:creationId xmlns:a16="http://schemas.microsoft.com/office/drawing/2014/main" id="{8E167C52-DBCF-D5CA-FC31-0A3705AA06A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23">
                        <a:extLst>
                          <a:ext uri="{FF2B5EF4-FFF2-40B4-BE49-F238E27FC236}">
                            <a16:creationId xmlns:a16="http://schemas.microsoft.com/office/drawing/2014/main" id="{FAADFE2E-EF76-08A6-1A3A-359AC3687C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0" name="Line 24">
                        <a:extLst>
                          <a:ext uri="{FF2B5EF4-FFF2-40B4-BE49-F238E27FC236}">
                            <a16:creationId xmlns:a16="http://schemas.microsoft.com/office/drawing/2014/main" id="{FD19DC84-B7CF-E6C3-3BA8-386DE775750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6" name="Line 25">
                        <a:extLst>
                          <a:ext uri="{FF2B5EF4-FFF2-40B4-BE49-F238E27FC236}">
                            <a16:creationId xmlns:a16="http://schemas.microsoft.com/office/drawing/2014/main" id="{45DAC92C-F797-781A-F713-6CC5F5F70C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3" name="Line 26">
                        <a:extLst>
                          <a:ext uri="{FF2B5EF4-FFF2-40B4-BE49-F238E27FC236}">
                            <a16:creationId xmlns:a16="http://schemas.microsoft.com/office/drawing/2014/main" id="{3B345E22-2008-CE4A-C183-252152559F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5" name="Line 27">
                        <a:extLst>
                          <a:ext uri="{FF2B5EF4-FFF2-40B4-BE49-F238E27FC236}">
                            <a16:creationId xmlns:a16="http://schemas.microsoft.com/office/drawing/2014/main" id="{88753F2A-B140-0399-38FE-C02C064AC2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6" name="Line 28">
                        <a:extLst>
                          <a:ext uri="{FF2B5EF4-FFF2-40B4-BE49-F238E27FC236}">
                            <a16:creationId xmlns:a16="http://schemas.microsoft.com/office/drawing/2014/main" id="{CC82DD9C-4554-07D6-17CD-5D1EAB4E6C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7" name="Line 29">
                        <a:extLst>
                          <a:ext uri="{FF2B5EF4-FFF2-40B4-BE49-F238E27FC236}">
                            <a16:creationId xmlns:a16="http://schemas.microsoft.com/office/drawing/2014/main" id="{B9FB3923-4AC3-C67C-6DA6-7BD12BB8E5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8" name="Line 30">
                        <a:extLst>
                          <a:ext uri="{FF2B5EF4-FFF2-40B4-BE49-F238E27FC236}">
                            <a16:creationId xmlns:a16="http://schemas.microsoft.com/office/drawing/2014/main" id="{263B7EFC-A82D-2B61-D2CF-C54AFEF2FD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9" name="Line 31">
                        <a:extLst>
                          <a:ext uri="{FF2B5EF4-FFF2-40B4-BE49-F238E27FC236}">
                            <a16:creationId xmlns:a16="http://schemas.microsoft.com/office/drawing/2014/main" id="{FAEA80FB-C482-6681-2C80-D463155CCE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0" name="Line 32">
                        <a:extLst>
                          <a:ext uri="{FF2B5EF4-FFF2-40B4-BE49-F238E27FC236}">
                            <a16:creationId xmlns:a16="http://schemas.microsoft.com/office/drawing/2014/main" id="{A5C8A7DD-514F-75E0-9137-D4ADF1B944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1" name="Line 33">
                        <a:extLst>
                          <a:ext uri="{FF2B5EF4-FFF2-40B4-BE49-F238E27FC236}">
                            <a16:creationId xmlns:a16="http://schemas.microsoft.com/office/drawing/2014/main" id="{E6B807FC-BF11-6D3E-8F1B-95DD6618F5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" name="Line 34">
                        <a:extLst>
                          <a:ext uri="{FF2B5EF4-FFF2-40B4-BE49-F238E27FC236}">
                            <a16:creationId xmlns:a16="http://schemas.microsoft.com/office/drawing/2014/main" id="{66B3CC9F-BC22-8752-A8BE-8A0E47E8CB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7" name="Line 35">
                        <a:extLst>
                          <a:ext uri="{FF2B5EF4-FFF2-40B4-BE49-F238E27FC236}">
                            <a16:creationId xmlns:a16="http://schemas.microsoft.com/office/drawing/2014/main" id="{A32AE676-97E1-4C2F-E961-8887110DA4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8" name="Line 36">
                        <a:extLst>
                          <a:ext uri="{FF2B5EF4-FFF2-40B4-BE49-F238E27FC236}">
                            <a16:creationId xmlns:a16="http://schemas.microsoft.com/office/drawing/2014/main" id="{B15CA4C0-371A-5188-4A3B-D31B9BFAD8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2" name="Line 37">
                        <a:extLst>
                          <a:ext uri="{FF2B5EF4-FFF2-40B4-BE49-F238E27FC236}">
                            <a16:creationId xmlns:a16="http://schemas.microsoft.com/office/drawing/2014/main" id="{4DB7AEF9-DA34-7623-3376-A1BB6301ED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3" name="Line 38">
                        <a:extLst>
                          <a:ext uri="{FF2B5EF4-FFF2-40B4-BE49-F238E27FC236}">
                            <a16:creationId xmlns:a16="http://schemas.microsoft.com/office/drawing/2014/main" id="{957D38C9-36BC-98C8-E009-0DBC249F03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3" name="Line 39">
                    <a:extLst>
                      <a:ext uri="{FF2B5EF4-FFF2-40B4-BE49-F238E27FC236}">
                        <a16:creationId xmlns:a16="http://schemas.microsoft.com/office/drawing/2014/main" id="{EAF244BF-B667-7AF0-64F7-FCB7122ECB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4" name="Text Box 40">
                    <a:extLst>
                      <a:ext uri="{FF2B5EF4-FFF2-40B4-BE49-F238E27FC236}">
                        <a16:creationId xmlns:a16="http://schemas.microsoft.com/office/drawing/2014/main" id="{D5290B57-5A84-53B7-1F4F-ABF8CEEE426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b="1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b="1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[12|10:5]</a:t>
                    </a:r>
                    <a:endParaRPr lang="ca-ES" sz="1100" b="1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5" name="Text Box 41">
                    <a:extLst>
                      <a:ext uri="{FF2B5EF4-FFF2-40B4-BE49-F238E27FC236}">
                        <a16:creationId xmlns:a16="http://schemas.microsoft.com/office/drawing/2014/main" id="{B9286976-7D00-027C-01B0-1F9D18A22D1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" name="Line 42">
                    <a:extLst>
                      <a:ext uri="{FF2B5EF4-FFF2-40B4-BE49-F238E27FC236}">
                        <a16:creationId xmlns:a16="http://schemas.microsoft.com/office/drawing/2014/main" id="{CA4C42C0-1A65-5E42-29AA-692A67D7B6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9" name="Line 43">
                    <a:extLst>
                      <a:ext uri="{FF2B5EF4-FFF2-40B4-BE49-F238E27FC236}">
                        <a16:creationId xmlns:a16="http://schemas.microsoft.com/office/drawing/2014/main" id="{BE822007-463B-7025-13B9-2F5EBD7363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" name="Line 44">
                    <a:extLst>
                      <a:ext uri="{FF2B5EF4-FFF2-40B4-BE49-F238E27FC236}">
                        <a16:creationId xmlns:a16="http://schemas.microsoft.com/office/drawing/2014/main" id="{3892619D-E641-F8A8-40A1-52E4E43E05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1" name="Text Box 45">
                    <a:extLst>
                      <a:ext uri="{FF2B5EF4-FFF2-40B4-BE49-F238E27FC236}">
                        <a16:creationId xmlns:a16="http://schemas.microsoft.com/office/drawing/2014/main" id="{63299B49-8185-00F0-1F61-16A46830A52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2" name="Text Box 46">
                    <a:extLst>
                      <a:ext uri="{FF2B5EF4-FFF2-40B4-BE49-F238E27FC236}">
                        <a16:creationId xmlns:a16="http://schemas.microsoft.com/office/drawing/2014/main" id="{CB6FE4C8-2450-2042-3D86-BBC160104E4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3" name="Text Box 47">
                    <a:extLst>
                      <a:ext uri="{FF2B5EF4-FFF2-40B4-BE49-F238E27FC236}">
                        <a16:creationId xmlns:a16="http://schemas.microsoft.com/office/drawing/2014/main" id="{9507B19F-BE53-2B54-AF8B-365EF261544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4" name="Text Box 48">
                    <a:extLst>
                      <a:ext uri="{FF2B5EF4-FFF2-40B4-BE49-F238E27FC236}">
                        <a16:creationId xmlns:a16="http://schemas.microsoft.com/office/drawing/2014/main" id="{A5614A94-0C32-27B1-DEBD-9DF31DBB483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5" name="Text Box 49">
                    <a:extLst>
                      <a:ext uri="{FF2B5EF4-FFF2-40B4-BE49-F238E27FC236}">
                        <a16:creationId xmlns:a16="http://schemas.microsoft.com/office/drawing/2014/main" id="{7E15461E-C175-365C-E763-E2E79A145A3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6" name="Text Box 50">
                    <a:extLst>
                      <a:ext uri="{FF2B5EF4-FFF2-40B4-BE49-F238E27FC236}">
                        <a16:creationId xmlns:a16="http://schemas.microsoft.com/office/drawing/2014/main" id="{12C4DF09-E6CC-B834-FF87-2CED302B5EE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" name="Text Box 51">
                    <a:extLst>
                      <a:ext uri="{FF2B5EF4-FFF2-40B4-BE49-F238E27FC236}">
                        <a16:creationId xmlns:a16="http://schemas.microsoft.com/office/drawing/2014/main" id="{5233686E-1432-924B-5DDD-5FAA1CEBCCD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8" name="Text Box 52">
                    <a:extLst>
                      <a:ext uri="{FF2B5EF4-FFF2-40B4-BE49-F238E27FC236}">
                        <a16:creationId xmlns:a16="http://schemas.microsoft.com/office/drawing/2014/main" id="{5EF8BFFD-CDD2-2051-F3DC-E686AA7B43A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9" name="Text Box 53">
                    <a:extLst>
                      <a:ext uri="{FF2B5EF4-FFF2-40B4-BE49-F238E27FC236}">
                        <a16:creationId xmlns:a16="http://schemas.microsoft.com/office/drawing/2014/main" id="{80EEB2AF-3FE4-ACFF-CC4A-E6FAFA36EC3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" name="Line 153">
                    <a:extLst>
                      <a:ext uri="{FF2B5EF4-FFF2-40B4-BE49-F238E27FC236}">
                        <a16:creationId xmlns:a16="http://schemas.microsoft.com/office/drawing/2014/main" id="{69A18B24-C677-EC8B-9F63-4182ED31D8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1" name="Text Box 154">
                    <a:extLst>
                      <a:ext uri="{FF2B5EF4-FFF2-40B4-BE49-F238E27FC236}">
                        <a16:creationId xmlns:a16="http://schemas.microsoft.com/office/drawing/2014/main" id="{5A291368-3F8D-9276-D065-3C16F0C796E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5" name="Text Box 41">
                <a:extLst>
                  <a:ext uri="{FF2B5EF4-FFF2-40B4-BE49-F238E27FC236}">
                    <a16:creationId xmlns:a16="http://schemas.microsoft.com/office/drawing/2014/main" id="{1580FC3C-AC65-DD24-E4A7-6705989B1FB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[4:1|11]</a:t>
                </a:r>
                <a:endParaRPr lang="ca-ES" sz="10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2EA5D751-DD0A-5B28-C429-08368F32E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71EA103-A563-8A91-7A31-4DDEC2DCEB5A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" sz="20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B:</a:t>
            </a:r>
            <a:r>
              <a:rPr lang="es-ES" sz="20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noProof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rs1, rs2, </a:t>
            </a:r>
            <a:r>
              <a:rPr lang="es-E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endParaRPr lang="es-ES" sz="2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2 operandos fuente (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rs1, rs2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), sin operando destino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Huecos: 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funct7+rd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(12 bits) para el inmediato</a:t>
            </a:r>
          </a:p>
          <a:p>
            <a:pPr marL="82550" indent="0">
              <a:buNone/>
            </a:pP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8830052D-0E1E-6197-80CE-5FD03253A557}"/>
              </a:ext>
            </a:extLst>
          </p:cNvPr>
          <p:cNvGrpSpPr/>
          <p:nvPr/>
        </p:nvGrpSpPr>
        <p:grpSpPr>
          <a:xfrm>
            <a:off x="2624356" y="1052736"/>
            <a:ext cx="5764068" cy="1180085"/>
            <a:chOff x="975305" y="4921594"/>
            <a:chExt cx="3345284" cy="753875"/>
          </a:xfrm>
        </p:grpSpPr>
        <p:grpSp>
          <p:nvGrpSpPr>
            <p:cNvPr id="117" name="Group 9">
              <a:extLst>
                <a:ext uri="{FF2B5EF4-FFF2-40B4-BE49-F238E27FC236}">
                  <a16:creationId xmlns:a16="http://schemas.microsoft.com/office/drawing/2014/main" id="{A9A3B0C9-B12F-7BBC-FAAD-4619EEFD5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20" name="Rectangle 10">
                <a:extLst>
                  <a:ext uri="{FF2B5EF4-FFF2-40B4-BE49-F238E27FC236}">
                    <a16:creationId xmlns:a16="http://schemas.microsoft.com/office/drawing/2014/main" id="{900714C2-39E1-B22B-6312-19A95F9E7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21" name="Group 155">
                <a:extLst>
                  <a:ext uri="{FF2B5EF4-FFF2-40B4-BE49-F238E27FC236}">
                    <a16:creationId xmlns:a16="http://schemas.microsoft.com/office/drawing/2014/main" id="{51C54865-1CD3-842E-5739-A0DBD2C03F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122" name="Group 5">
                  <a:extLst>
                    <a:ext uri="{FF2B5EF4-FFF2-40B4-BE49-F238E27FC236}">
                      <a16:creationId xmlns:a16="http://schemas.microsoft.com/office/drawing/2014/main" id="{B80A2198-3A44-D520-C55B-B9ACE3F311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40" name="Rectangle 6">
                    <a:extLst>
                      <a:ext uri="{FF2B5EF4-FFF2-40B4-BE49-F238E27FC236}">
                        <a16:creationId xmlns:a16="http://schemas.microsoft.com/office/drawing/2014/main" id="{6F2FDF46-F71C-D607-9DC6-F0056514C3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141" name="Group 7">
                    <a:extLst>
                      <a:ext uri="{FF2B5EF4-FFF2-40B4-BE49-F238E27FC236}">
                        <a16:creationId xmlns:a16="http://schemas.microsoft.com/office/drawing/2014/main" id="{44250648-56CB-C7C2-1819-40CD7D0B3C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42" name="Line 9">
                      <a:extLst>
                        <a:ext uri="{FF2B5EF4-FFF2-40B4-BE49-F238E27FC236}">
                          <a16:creationId xmlns:a16="http://schemas.microsoft.com/office/drawing/2014/main" id="{2C0482EA-26A8-72D0-9F8F-03785F96279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3" name="Line 10">
                      <a:extLst>
                        <a:ext uri="{FF2B5EF4-FFF2-40B4-BE49-F238E27FC236}">
                          <a16:creationId xmlns:a16="http://schemas.microsoft.com/office/drawing/2014/main" id="{CABDAEE8-5DD9-D805-52F4-416B9E66921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4" name="Line 11">
                      <a:extLst>
                        <a:ext uri="{FF2B5EF4-FFF2-40B4-BE49-F238E27FC236}">
                          <a16:creationId xmlns:a16="http://schemas.microsoft.com/office/drawing/2014/main" id="{A8077FEA-F58B-73A1-1E19-AC70881DEF0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5" name="Line 12">
                      <a:extLst>
                        <a:ext uri="{FF2B5EF4-FFF2-40B4-BE49-F238E27FC236}">
                          <a16:creationId xmlns:a16="http://schemas.microsoft.com/office/drawing/2014/main" id="{8F0914ED-D4F5-81DC-BD19-3DCB28CEBB0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6" name="Line 13">
                      <a:extLst>
                        <a:ext uri="{FF2B5EF4-FFF2-40B4-BE49-F238E27FC236}">
                          <a16:creationId xmlns:a16="http://schemas.microsoft.com/office/drawing/2014/main" id="{939A480A-FB41-05A5-FE60-7C10190343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7" name="Line 14">
                      <a:extLst>
                        <a:ext uri="{FF2B5EF4-FFF2-40B4-BE49-F238E27FC236}">
                          <a16:creationId xmlns:a16="http://schemas.microsoft.com/office/drawing/2014/main" id="{603A3BD1-E6E5-7284-4EB8-87BEE8CA51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8" name="Line 15">
                      <a:extLst>
                        <a:ext uri="{FF2B5EF4-FFF2-40B4-BE49-F238E27FC236}">
                          <a16:creationId xmlns:a16="http://schemas.microsoft.com/office/drawing/2014/main" id="{19857EB1-8CAD-D741-8797-AAFFEB4351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9" name="Line 16">
                      <a:extLst>
                        <a:ext uri="{FF2B5EF4-FFF2-40B4-BE49-F238E27FC236}">
                          <a16:creationId xmlns:a16="http://schemas.microsoft.com/office/drawing/2014/main" id="{86A0A8A8-5F8B-A624-8D30-692EDCDD8E9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0" name="Line 17">
                      <a:extLst>
                        <a:ext uri="{FF2B5EF4-FFF2-40B4-BE49-F238E27FC236}">
                          <a16:creationId xmlns:a16="http://schemas.microsoft.com/office/drawing/2014/main" id="{BBBEFE8C-BF73-DF75-EAF3-69EA58B7D7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1" name="Line 18">
                      <a:extLst>
                        <a:ext uri="{FF2B5EF4-FFF2-40B4-BE49-F238E27FC236}">
                          <a16:creationId xmlns:a16="http://schemas.microsoft.com/office/drawing/2014/main" id="{5F0AED18-332E-16D1-4196-AB671668782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2" name="Line 19">
                      <a:extLst>
                        <a:ext uri="{FF2B5EF4-FFF2-40B4-BE49-F238E27FC236}">
                          <a16:creationId xmlns:a16="http://schemas.microsoft.com/office/drawing/2014/main" id="{5E79BB09-C4C6-4450-71B3-E9D9A5386B4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3" name="Line 20">
                      <a:extLst>
                        <a:ext uri="{FF2B5EF4-FFF2-40B4-BE49-F238E27FC236}">
                          <a16:creationId xmlns:a16="http://schemas.microsoft.com/office/drawing/2014/main" id="{AA5B8476-FBF4-F21B-1854-810204CDBE0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4" name="Line 21">
                      <a:extLst>
                        <a:ext uri="{FF2B5EF4-FFF2-40B4-BE49-F238E27FC236}">
                          <a16:creationId xmlns:a16="http://schemas.microsoft.com/office/drawing/2014/main" id="{A7FA1CC9-58F7-6F1C-5309-703B9EF3557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5" name="Line 22">
                      <a:extLst>
                        <a:ext uri="{FF2B5EF4-FFF2-40B4-BE49-F238E27FC236}">
                          <a16:creationId xmlns:a16="http://schemas.microsoft.com/office/drawing/2014/main" id="{ADE7F4BD-739E-6B3C-AD1C-98D8269CDE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6" name="Line 23">
                      <a:extLst>
                        <a:ext uri="{FF2B5EF4-FFF2-40B4-BE49-F238E27FC236}">
                          <a16:creationId xmlns:a16="http://schemas.microsoft.com/office/drawing/2014/main" id="{35392D98-FB2D-E06A-39CF-38F9A427968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7" name="Line 24">
                      <a:extLst>
                        <a:ext uri="{FF2B5EF4-FFF2-40B4-BE49-F238E27FC236}">
                          <a16:creationId xmlns:a16="http://schemas.microsoft.com/office/drawing/2014/main" id="{38C8B25C-70B3-558B-41E9-3ACCFC3271B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8" name="Line 25">
                      <a:extLst>
                        <a:ext uri="{FF2B5EF4-FFF2-40B4-BE49-F238E27FC236}">
                          <a16:creationId xmlns:a16="http://schemas.microsoft.com/office/drawing/2014/main" id="{32ED2E4D-40BB-98DB-CECE-F606AFE7476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9" name="Line 26">
                      <a:extLst>
                        <a:ext uri="{FF2B5EF4-FFF2-40B4-BE49-F238E27FC236}">
                          <a16:creationId xmlns:a16="http://schemas.microsoft.com/office/drawing/2014/main" id="{B74C71AD-B7D7-492E-ABDC-9959DE806B4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0" name="Line 27">
                      <a:extLst>
                        <a:ext uri="{FF2B5EF4-FFF2-40B4-BE49-F238E27FC236}">
                          <a16:creationId xmlns:a16="http://schemas.microsoft.com/office/drawing/2014/main" id="{51719377-12EC-FD37-612E-5372A40FE5D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1" name="Line 28">
                      <a:extLst>
                        <a:ext uri="{FF2B5EF4-FFF2-40B4-BE49-F238E27FC236}">
                          <a16:creationId xmlns:a16="http://schemas.microsoft.com/office/drawing/2014/main" id="{8E0B187E-304E-EF7B-B13B-F31AE0080EB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2" name="Line 29">
                      <a:extLst>
                        <a:ext uri="{FF2B5EF4-FFF2-40B4-BE49-F238E27FC236}">
                          <a16:creationId xmlns:a16="http://schemas.microsoft.com/office/drawing/2014/main" id="{21B1FEE3-0526-623C-CA60-790341BF67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3" name="Line 30">
                      <a:extLst>
                        <a:ext uri="{FF2B5EF4-FFF2-40B4-BE49-F238E27FC236}">
                          <a16:creationId xmlns:a16="http://schemas.microsoft.com/office/drawing/2014/main" id="{C8E32BE2-05CE-600B-6E49-5BA623EB25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4" name="Line 31">
                      <a:extLst>
                        <a:ext uri="{FF2B5EF4-FFF2-40B4-BE49-F238E27FC236}">
                          <a16:creationId xmlns:a16="http://schemas.microsoft.com/office/drawing/2014/main" id="{C51DE981-F6C4-8B3D-F3E6-CA2D3C340E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5" name="Line 32">
                      <a:extLst>
                        <a:ext uri="{FF2B5EF4-FFF2-40B4-BE49-F238E27FC236}">
                          <a16:creationId xmlns:a16="http://schemas.microsoft.com/office/drawing/2014/main" id="{DB1227D1-4186-6A11-99E4-CA80D1A0F17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6" name="Line 33">
                      <a:extLst>
                        <a:ext uri="{FF2B5EF4-FFF2-40B4-BE49-F238E27FC236}">
                          <a16:creationId xmlns:a16="http://schemas.microsoft.com/office/drawing/2014/main" id="{90A3302A-8AC3-1D74-BB90-5DFDF4852A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7" name="Line 34">
                      <a:extLst>
                        <a:ext uri="{FF2B5EF4-FFF2-40B4-BE49-F238E27FC236}">
                          <a16:creationId xmlns:a16="http://schemas.microsoft.com/office/drawing/2014/main" id="{632AD4AE-C21D-7C81-4148-885D64B59AD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8" name="Line 35">
                      <a:extLst>
                        <a:ext uri="{FF2B5EF4-FFF2-40B4-BE49-F238E27FC236}">
                          <a16:creationId xmlns:a16="http://schemas.microsoft.com/office/drawing/2014/main" id="{4C0D2A15-E250-4BF6-5D5E-9C1C4A91BE7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9" name="Line 36">
                      <a:extLst>
                        <a:ext uri="{FF2B5EF4-FFF2-40B4-BE49-F238E27FC236}">
                          <a16:creationId xmlns:a16="http://schemas.microsoft.com/office/drawing/2014/main" id="{949B3FE9-D91A-DC81-C1A6-F476A040AE3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0" name="Line 37">
                      <a:extLst>
                        <a:ext uri="{FF2B5EF4-FFF2-40B4-BE49-F238E27FC236}">
                          <a16:creationId xmlns:a16="http://schemas.microsoft.com/office/drawing/2014/main" id="{3D68D902-0427-1631-8A0C-8AE4253BB8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1" name="Line 38">
                      <a:extLst>
                        <a:ext uri="{FF2B5EF4-FFF2-40B4-BE49-F238E27FC236}">
                          <a16:creationId xmlns:a16="http://schemas.microsoft.com/office/drawing/2014/main" id="{8BE4DC81-0AC1-6EDE-6589-899E9422811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23" name="Line 39">
                  <a:extLst>
                    <a:ext uri="{FF2B5EF4-FFF2-40B4-BE49-F238E27FC236}">
                      <a16:creationId xmlns:a16="http://schemas.microsoft.com/office/drawing/2014/main" id="{7DBD5AC2-3213-EB23-F508-3FA2C7BB6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4" name="Text Box 40">
                  <a:extLst>
                    <a:ext uri="{FF2B5EF4-FFF2-40B4-BE49-F238E27FC236}">
                      <a16:creationId xmlns:a16="http://schemas.microsoft.com/office/drawing/2014/main" id="{B543D746-D144-27D4-DF32-9732742CFA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5" name="Text Box 41">
                  <a:extLst>
                    <a:ext uri="{FF2B5EF4-FFF2-40B4-BE49-F238E27FC236}">
                      <a16:creationId xmlns:a16="http://schemas.microsoft.com/office/drawing/2014/main" id="{4FE8FC22-B7B4-44E2-58AF-810979886C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6" name="Line 42">
                  <a:extLst>
                    <a:ext uri="{FF2B5EF4-FFF2-40B4-BE49-F238E27FC236}">
                      <a16:creationId xmlns:a16="http://schemas.microsoft.com/office/drawing/2014/main" id="{618B928D-BFE6-276F-CA74-894787DABE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7" name="Line 43">
                  <a:extLst>
                    <a:ext uri="{FF2B5EF4-FFF2-40B4-BE49-F238E27FC236}">
                      <a16:creationId xmlns:a16="http://schemas.microsoft.com/office/drawing/2014/main" id="{56C44924-E088-2ADE-7A25-C5E0CF332C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8" name="Line 44">
                  <a:extLst>
                    <a:ext uri="{FF2B5EF4-FFF2-40B4-BE49-F238E27FC236}">
                      <a16:creationId xmlns:a16="http://schemas.microsoft.com/office/drawing/2014/main" id="{38985503-6900-8E72-C997-433EAF7D1C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9" name="Text Box 45">
                  <a:extLst>
                    <a:ext uri="{FF2B5EF4-FFF2-40B4-BE49-F238E27FC236}">
                      <a16:creationId xmlns:a16="http://schemas.microsoft.com/office/drawing/2014/main" id="{DDA03393-98FA-6C3E-1BB7-D7DD992959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0" name="Text Box 46">
                  <a:extLst>
                    <a:ext uri="{FF2B5EF4-FFF2-40B4-BE49-F238E27FC236}">
                      <a16:creationId xmlns:a16="http://schemas.microsoft.com/office/drawing/2014/main" id="{1873A471-0A73-3FC3-ECDD-6EC52ADD3C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1" name="Text Box 47">
                  <a:extLst>
                    <a:ext uri="{FF2B5EF4-FFF2-40B4-BE49-F238E27FC236}">
                      <a16:creationId xmlns:a16="http://schemas.microsoft.com/office/drawing/2014/main" id="{C478A014-2D29-FA7A-BE78-99F90F1EDA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2" name="Text Box 48">
                  <a:extLst>
                    <a:ext uri="{FF2B5EF4-FFF2-40B4-BE49-F238E27FC236}">
                      <a16:creationId xmlns:a16="http://schemas.microsoft.com/office/drawing/2014/main" id="{A38A2837-A424-E49B-F1AC-53123D09F5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3" name="Text Box 49">
                  <a:extLst>
                    <a:ext uri="{FF2B5EF4-FFF2-40B4-BE49-F238E27FC236}">
                      <a16:creationId xmlns:a16="http://schemas.microsoft.com/office/drawing/2014/main" id="{35C17E93-E4F2-AD58-CB31-F4DFADD8B9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4" name="Text Box 50">
                  <a:extLst>
                    <a:ext uri="{FF2B5EF4-FFF2-40B4-BE49-F238E27FC236}">
                      <a16:creationId xmlns:a16="http://schemas.microsoft.com/office/drawing/2014/main" id="{EB62B5E3-821F-8082-07E5-69194219D3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5" name="Text Box 51">
                  <a:extLst>
                    <a:ext uri="{FF2B5EF4-FFF2-40B4-BE49-F238E27FC236}">
                      <a16:creationId xmlns:a16="http://schemas.microsoft.com/office/drawing/2014/main" id="{A65B7075-252E-E15D-5BAF-0FED86FC83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6" name="Text Box 52">
                  <a:extLst>
                    <a:ext uri="{FF2B5EF4-FFF2-40B4-BE49-F238E27FC236}">
                      <a16:creationId xmlns:a16="http://schemas.microsoft.com/office/drawing/2014/main" id="{E11BEDE4-AE6C-C20B-FE19-D7D2C51427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7" name="Text Box 53">
                  <a:extLst>
                    <a:ext uri="{FF2B5EF4-FFF2-40B4-BE49-F238E27FC236}">
                      <a16:creationId xmlns:a16="http://schemas.microsoft.com/office/drawing/2014/main" id="{59FE7672-8A9C-0019-A0B1-1C220F2373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8" name="Line 153">
                  <a:extLst>
                    <a:ext uri="{FF2B5EF4-FFF2-40B4-BE49-F238E27FC236}">
                      <a16:creationId xmlns:a16="http://schemas.microsoft.com/office/drawing/2014/main" id="{1FEC40DA-6409-E8FA-9D14-5BCE1F4623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39" name="Text Box 154">
                  <a:extLst>
                    <a:ext uri="{FF2B5EF4-FFF2-40B4-BE49-F238E27FC236}">
                      <a16:creationId xmlns:a16="http://schemas.microsoft.com/office/drawing/2014/main" id="{E0C36DAF-69BE-353B-4117-3982E877F3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18" name="Text Box 41">
              <a:extLst>
                <a:ext uri="{FF2B5EF4-FFF2-40B4-BE49-F238E27FC236}">
                  <a16:creationId xmlns:a16="http://schemas.microsoft.com/office/drawing/2014/main" id="{3869117F-925A-0E20-0554-016A44EE2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Line 11">
              <a:extLst>
                <a:ext uri="{FF2B5EF4-FFF2-40B4-BE49-F238E27FC236}">
                  <a16:creationId xmlns:a16="http://schemas.microsoft.com/office/drawing/2014/main" id="{E0C7912F-B928-2283-F4F1-9F8AF50DA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376DED88-F512-A762-6BD5-45170BBF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14" name="Flecha abajo 113">
            <a:extLst>
              <a:ext uri="{FF2B5EF4-FFF2-40B4-BE49-F238E27FC236}">
                <a16:creationId xmlns:a16="http://schemas.microsoft.com/office/drawing/2014/main" id="{9D16ED7C-3C9E-A2E7-5E51-CF8ADE2B22FB}"/>
              </a:ext>
            </a:extLst>
          </p:cNvPr>
          <p:cNvSpPr/>
          <p:nvPr/>
        </p:nvSpPr>
        <p:spPr>
          <a:xfrm>
            <a:off x="5254453" y="4122432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B206BDB1-1E15-0257-E55F-1A250D0CE3DC}"/>
              </a:ext>
            </a:extLst>
          </p:cNvPr>
          <p:cNvSpPr/>
          <p:nvPr/>
        </p:nvSpPr>
        <p:spPr>
          <a:xfrm>
            <a:off x="2814236" y="1211622"/>
            <a:ext cx="1131429" cy="530674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04BBE14-36DE-00F8-025C-F31084393D33}"/>
              </a:ext>
            </a:extLst>
          </p:cNvPr>
          <p:cNvSpPr/>
          <p:nvPr/>
        </p:nvSpPr>
        <p:spPr>
          <a:xfrm>
            <a:off x="6159559" y="1196752"/>
            <a:ext cx="818276" cy="530674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5512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5D6E-394D-2FDD-951D-535593CA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6A687922-C1FB-C5B9-9FCA-9D65331B8F20}"/>
              </a:ext>
            </a:extLst>
          </p:cNvPr>
          <p:cNvGrpSpPr/>
          <p:nvPr/>
        </p:nvGrpSpPr>
        <p:grpSpPr>
          <a:xfrm>
            <a:off x="2628879" y="4221540"/>
            <a:ext cx="5759545" cy="1511716"/>
            <a:chOff x="3109309" y="5917230"/>
            <a:chExt cx="3345284" cy="997923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913212F-BD32-E737-816F-B34BD20AB955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14" name="Group 9">
                <a:extLst>
                  <a:ext uri="{FF2B5EF4-FFF2-40B4-BE49-F238E27FC236}">
                    <a16:creationId xmlns:a16="http://schemas.microsoft.com/office/drawing/2014/main" id="{59F93B14-D7B7-2829-191C-16B79006BD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16" name="Rectangle 10">
                  <a:extLst>
                    <a:ext uri="{FF2B5EF4-FFF2-40B4-BE49-F238E27FC236}">
                      <a16:creationId xmlns:a16="http://schemas.microsoft.com/office/drawing/2014/main" id="{7C2E28C5-2C5B-237A-A045-12D928D958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9" name="Group 155">
                  <a:extLst>
                    <a:ext uri="{FF2B5EF4-FFF2-40B4-BE49-F238E27FC236}">
                      <a16:creationId xmlns:a16="http://schemas.microsoft.com/office/drawing/2014/main" id="{C680A4DA-75B1-2ECB-0BA5-99509111F1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22" name="Group 5">
                    <a:extLst>
                      <a:ext uri="{FF2B5EF4-FFF2-40B4-BE49-F238E27FC236}">
                        <a16:creationId xmlns:a16="http://schemas.microsoft.com/office/drawing/2014/main" id="{7F754DED-14F0-CA39-5534-C7FC77713A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42" name="Rectangle 6">
                      <a:extLst>
                        <a:ext uri="{FF2B5EF4-FFF2-40B4-BE49-F238E27FC236}">
                          <a16:creationId xmlns:a16="http://schemas.microsoft.com/office/drawing/2014/main" id="{09FB75B1-1E6D-59B0-40D5-972969BC3F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43" name="Group 7">
                      <a:extLst>
                        <a:ext uri="{FF2B5EF4-FFF2-40B4-BE49-F238E27FC236}">
                          <a16:creationId xmlns:a16="http://schemas.microsoft.com/office/drawing/2014/main" id="{465A2074-DD3B-D31B-A542-FFED69F806A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44" name="Line 9">
                        <a:extLst>
                          <a:ext uri="{FF2B5EF4-FFF2-40B4-BE49-F238E27FC236}">
                            <a16:creationId xmlns:a16="http://schemas.microsoft.com/office/drawing/2014/main" id="{4982591B-0A78-C398-A95E-503BB2FEA0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" name="Line 10">
                        <a:extLst>
                          <a:ext uri="{FF2B5EF4-FFF2-40B4-BE49-F238E27FC236}">
                            <a16:creationId xmlns:a16="http://schemas.microsoft.com/office/drawing/2014/main" id="{8CE433BC-FBBE-B39B-A6E3-BBB2AAD15C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" name="Line 11">
                        <a:extLst>
                          <a:ext uri="{FF2B5EF4-FFF2-40B4-BE49-F238E27FC236}">
                            <a16:creationId xmlns:a16="http://schemas.microsoft.com/office/drawing/2014/main" id="{31CD6EDA-9557-388B-1937-F657C5C1FA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7" name="Line 12">
                        <a:extLst>
                          <a:ext uri="{FF2B5EF4-FFF2-40B4-BE49-F238E27FC236}">
                            <a16:creationId xmlns:a16="http://schemas.microsoft.com/office/drawing/2014/main" id="{2E4CAC41-8DAC-FC8C-9088-7EE3C85DC8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8" name="Line 13">
                        <a:extLst>
                          <a:ext uri="{FF2B5EF4-FFF2-40B4-BE49-F238E27FC236}">
                            <a16:creationId xmlns:a16="http://schemas.microsoft.com/office/drawing/2014/main" id="{8D008176-4C36-32D8-1D7D-DE47BA9514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9" name="Line 14">
                        <a:extLst>
                          <a:ext uri="{FF2B5EF4-FFF2-40B4-BE49-F238E27FC236}">
                            <a16:creationId xmlns:a16="http://schemas.microsoft.com/office/drawing/2014/main" id="{4A1A06AF-7899-6F96-AB7B-296710A09B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0" name="Line 15">
                        <a:extLst>
                          <a:ext uri="{FF2B5EF4-FFF2-40B4-BE49-F238E27FC236}">
                            <a16:creationId xmlns:a16="http://schemas.microsoft.com/office/drawing/2014/main" id="{B7F5A73B-1FF5-ED90-725D-BF3F1E7836A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1" name="Line 16">
                        <a:extLst>
                          <a:ext uri="{FF2B5EF4-FFF2-40B4-BE49-F238E27FC236}">
                            <a16:creationId xmlns:a16="http://schemas.microsoft.com/office/drawing/2014/main" id="{9BC44592-4946-6132-EF12-7B94DD5E4D6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2" name="Line 17">
                        <a:extLst>
                          <a:ext uri="{FF2B5EF4-FFF2-40B4-BE49-F238E27FC236}">
                            <a16:creationId xmlns:a16="http://schemas.microsoft.com/office/drawing/2014/main" id="{C049E0EB-421A-72D9-715D-5402EB38A97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3" name="Line 18">
                        <a:extLst>
                          <a:ext uri="{FF2B5EF4-FFF2-40B4-BE49-F238E27FC236}">
                            <a16:creationId xmlns:a16="http://schemas.microsoft.com/office/drawing/2014/main" id="{ECC1E285-1852-F620-30CF-D949D2705B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4" name="Line 19">
                        <a:extLst>
                          <a:ext uri="{FF2B5EF4-FFF2-40B4-BE49-F238E27FC236}">
                            <a16:creationId xmlns:a16="http://schemas.microsoft.com/office/drawing/2014/main" id="{5C170FFB-66E6-5F48-10F0-F2A65E4ABE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5" name="Line 20">
                        <a:extLst>
                          <a:ext uri="{FF2B5EF4-FFF2-40B4-BE49-F238E27FC236}">
                            <a16:creationId xmlns:a16="http://schemas.microsoft.com/office/drawing/2014/main" id="{32789363-D8B8-C2CB-4196-2DBA7D1AE6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6" name="Line 21">
                        <a:extLst>
                          <a:ext uri="{FF2B5EF4-FFF2-40B4-BE49-F238E27FC236}">
                            <a16:creationId xmlns:a16="http://schemas.microsoft.com/office/drawing/2014/main" id="{A2AAD0F4-3694-098B-E565-C39944EEFD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8" name="Line 22">
                        <a:extLst>
                          <a:ext uri="{FF2B5EF4-FFF2-40B4-BE49-F238E27FC236}">
                            <a16:creationId xmlns:a16="http://schemas.microsoft.com/office/drawing/2014/main" id="{794D60AD-1FD5-BF96-2EDF-41016D98F6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23">
                        <a:extLst>
                          <a:ext uri="{FF2B5EF4-FFF2-40B4-BE49-F238E27FC236}">
                            <a16:creationId xmlns:a16="http://schemas.microsoft.com/office/drawing/2014/main" id="{CF740B82-DFF9-8AD5-B162-3615032D75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0" name="Line 24">
                        <a:extLst>
                          <a:ext uri="{FF2B5EF4-FFF2-40B4-BE49-F238E27FC236}">
                            <a16:creationId xmlns:a16="http://schemas.microsoft.com/office/drawing/2014/main" id="{56171A95-4BB6-3297-31F4-48607D5D1A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6" name="Line 25">
                        <a:extLst>
                          <a:ext uri="{FF2B5EF4-FFF2-40B4-BE49-F238E27FC236}">
                            <a16:creationId xmlns:a16="http://schemas.microsoft.com/office/drawing/2014/main" id="{D185325A-879B-B055-5B78-EA604A9A59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3" name="Line 26">
                        <a:extLst>
                          <a:ext uri="{FF2B5EF4-FFF2-40B4-BE49-F238E27FC236}">
                            <a16:creationId xmlns:a16="http://schemas.microsoft.com/office/drawing/2014/main" id="{8357113D-8C3B-E2BA-F04D-469AD28FE8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5" name="Line 27">
                        <a:extLst>
                          <a:ext uri="{FF2B5EF4-FFF2-40B4-BE49-F238E27FC236}">
                            <a16:creationId xmlns:a16="http://schemas.microsoft.com/office/drawing/2014/main" id="{53FC6DA6-2374-C3E4-679D-54301DFB5D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6" name="Line 28">
                        <a:extLst>
                          <a:ext uri="{FF2B5EF4-FFF2-40B4-BE49-F238E27FC236}">
                            <a16:creationId xmlns:a16="http://schemas.microsoft.com/office/drawing/2014/main" id="{8773A6C4-CF3D-0352-1BAF-95EB609C95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7" name="Line 29">
                        <a:extLst>
                          <a:ext uri="{FF2B5EF4-FFF2-40B4-BE49-F238E27FC236}">
                            <a16:creationId xmlns:a16="http://schemas.microsoft.com/office/drawing/2014/main" id="{668A6CDB-0D66-3A06-D0B1-A5CDBA698F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8" name="Line 30">
                        <a:extLst>
                          <a:ext uri="{FF2B5EF4-FFF2-40B4-BE49-F238E27FC236}">
                            <a16:creationId xmlns:a16="http://schemas.microsoft.com/office/drawing/2014/main" id="{2766F489-4C84-4CA9-D6E3-E6F753CCA2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9" name="Line 31">
                        <a:extLst>
                          <a:ext uri="{FF2B5EF4-FFF2-40B4-BE49-F238E27FC236}">
                            <a16:creationId xmlns:a16="http://schemas.microsoft.com/office/drawing/2014/main" id="{D0C19964-7F68-638E-EF0E-AD4F01A7F7D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0" name="Line 32">
                        <a:extLst>
                          <a:ext uri="{FF2B5EF4-FFF2-40B4-BE49-F238E27FC236}">
                            <a16:creationId xmlns:a16="http://schemas.microsoft.com/office/drawing/2014/main" id="{0048EC6D-E058-E867-A4BD-DBBD8EB91B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1" name="Line 33">
                        <a:extLst>
                          <a:ext uri="{FF2B5EF4-FFF2-40B4-BE49-F238E27FC236}">
                            <a16:creationId xmlns:a16="http://schemas.microsoft.com/office/drawing/2014/main" id="{326C9FF3-3347-B7B9-3946-600D213639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" name="Line 34">
                        <a:extLst>
                          <a:ext uri="{FF2B5EF4-FFF2-40B4-BE49-F238E27FC236}">
                            <a16:creationId xmlns:a16="http://schemas.microsoft.com/office/drawing/2014/main" id="{4876FE05-1044-970F-D97D-715A29A114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7" name="Line 35">
                        <a:extLst>
                          <a:ext uri="{FF2B5EF4-FFF2-40B4-BE49-F238E27FC236}">
                            <a16:creationId xmlns:a16="http://schemas.microsoft.com/office/drawing/2014/main" id="{7360F8A1-DC76-23C1-512E-C4A123F98F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8" name="Line 36">
                        <a:extLst>
                          <a:ext uri="{FF2B5EF4-FFF2-40B4-BE49-F238E27FC236}">
                            <a16:creationId xmlns:a16="http://schemas.microsoft.com/office/drawing/2014/main" id="{7666C59A-5E39-7A2F-EB48-13BB324AF7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2" name="Line 37">
                        <a:extLst>
                          <a:ext uri="{FF2B5EF4-FFF2-40B4-BE49-F238E27FC236}">
                            <a16:creationId xmlns:a16="http://schemas.microsoft.com/office/drawing/2014/main" id="{454BBE77-A741-4505-875C-4FAE962E32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3" name="Line 38">
                        <a:extLst>
                          <a:ext uri="{FF2B5EF4-FFF2-40B4-BE49-F238E27FC236}">
                            <a16:creationId xmlns:a16="http://schemas.microsoft.com/office/drawing/2014/main" id="{4DD4691C-F5B5-2851-A0C2-1CD04C2B2F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3" name="Line 39">
                    <a:extLst>
                      <a:ext uri="{FF2B5EF4-FFF2-40B4-BE49-F238E27FC236}">
                        <a16:creationId xmlns:a16="http://schemas.microsoft.com/office/drawing/2014/main" id="{EE86BF6F-B859-0308-3560-9642453F99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4" name="Text Box 40">
                    <a:extLst>
                      <a:ext uri="{FF2B5EF4-FFF2-40B4-BE49-F238E27FC236}">
                        <a16:creationId xmlns:a16="http://schemas.microsoft.com/office/drawing/2014/main" id="{1D1977B1-7698-D872-2DB1-CE5628518F9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b="1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b="1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[12|10:5]</a:t>
                    </a:r>
                    <a:endParaRPr lang="ca-ES" sz="1100" b="1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5" name="Text Box 41">
                    <a:extLst>
                      <a:ext uri="{FF2B5EF4-FFF2-40B4-BE49-F238E27FC236}">
                        <a16:creationId xmlns:a16="http://schemas.microsoft.com/office/drawing/2014/main" id="{F8F995D9-3C05-F1DA-E1A4-9B3DD902400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" name="Line 42">
                    <a:extLst>
                      <a:ext uri="{FF2B5EF4-FFF2-40B4-BE49-F238E27FC236}">
                        <a16:creationId xmlns:a16="http://schemas.microsoft.com/office/drawing/2014/main" id="{4253986C-1A0F-BBFC-1FA8-CDD378740B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9" name="Line 43">
                    <a:extLst>
                      <a:ext uri="{FF2B5EF4-FFF2-40B4-BE49-F238E27FC236}">
                        <a16:creationId xmlns:a16="http://schemas.microsoft.com/office/drawing/2014/main" id="{256F057C-7FB2-2595-8B26-461F1ED912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" name="Line 44">
                    <a:extLst>
                      <a:ext uri="{FF2B5EF4-FFF2-40B4-BE49-F238E27FC236}">
                        <a16:creationId xmlns:a16="http://schemas.microsoft.com/office/drawing/2014/main" id="{967BEF33-7DFA-35FE-FC1A-819356343D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1" name="Text Box 45">
                    <a:extLst>
                      <a:ext uri="{FF2B5EF4-FFF2-40B4-BE49-F238E27FC236}">
                        <a16:creationId xmlns:a16="http://schemas.microsoft.com/office/drawing/2014/main" id="{4B672A6B-5EE1-D0FF-9867-5094798249B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2" name="Text Box 46">
                    <a:extLst>
                      <a:ext uri="{FF2B5EF4-FFF2-40B4-BE49-F238E27FC236}">
                        <a16:creationId xmlns:a16="http://schemas.microsoft.com/office/drawing/2014/main" id="{19770D3A-82C0-B698-110D-F2B94BC2DE7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3" name="Text Box 47">
                    <a:extLst>
                      <a:ext uri="{FF2B5EF4-FFF2-40B4-BE49-F238E27FC236}">
                        <a16:creationId xmlns:a16="http://schemas.microsoft.com/office/drawing/2014/main" id="{3F4141A0-5E2C-1050-A9CA-2930278F5E1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4" name="Text Box 48">
                    <a:extLst>
                      <a:ext uri="{FF2B5EF4-FFF2-40B4-BE49-F238E27FC236}">
                        <a16:creationId xmlns:a16="http://schemas.microsoft.com/office/drawing/2014/main" id="{238E78E8-BEA1-94D1-01D3-CBEEBD7041D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5" name="Text Box 49">
                    <a:extLst>
                      <a:ext uri="{FF2B5EF4-FFF2-40B4-BE49-F238E27FC236}">
                        <a16:creationId xmlns:a16="http://schemas.microsoft.com/office/drawing/2014/main" id="{54787B2E-9C79-625A-C033-779377DDCB1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6" name="Text Box 50">
                    <a:extLst>
                      <a:ext uri="{FF2B5EF4-FFF2-40B4-BE49-F238E27FC236}">
                        <a16:creationId xmlns:a16="http://schemas.microsoft.com/office/drawing/2014/main" id="{5608C2F3-882A-6FB4-9B21-41962A454E3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" name="Text Box 51">
                    <a:extLst>
                      <a:ext uri="{FF2B5EF4-FFF2-40B4-BE49-F238E27FC236}">
                        <a16:creationId xmlns:a16="http://schemas.microsoft.com/office/drawing/2014/main" id="{7E9A535C-E044-7FE1-21F7-9B07C3D284C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8" name="Text Box 52">
                    <a:extLst>
                      <a:ext uri="{FF2B5EF4-FFF2-40B4-BE49-F238E27FC236}">
                        <a16:creationId xmlns:a16="http://schemas.microsoft.com/office/drawing/2014/main" id="{2C2300F0-6E7A-8783-2502-A9020FAE999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9" name="Text Box 53">
                    <a:extLst>
                      <a:ext uri="{FF2B5EF4-FFF2-40B4-BE49-F238E27FC236}">
                        <a16:creationId xmlns:a16="http://schemas.microsoft.com/office/drawing/2014/main" id="{86C81D11-FEDD-6D29-51BC-424C0678F16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" name="Line 153">
                    <a:extLst>
                      <a:ext uri="{FF2B5EF4-FFF2-40B4-BE49-F238E27FC236}">
                        <a16:creationId xmlns:a16="http://schemas.microsoft.com/office/drawing/2014/main" id="{8BB46470-6564-857C-E810-6BF93B9E66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1" name="Text Box 154">
                    <a:extLst>
                      <a:ext uri="{FF2B5EF4-FFF2-40B4-BE49-F238E27FC236}">
                        <a16:creationId xmlns:a16="http://schemas.microsoft.com/office/drawing/2014/main" id="{56A7B04D-7405-DAC5-F59D-C3879EEC5F1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5" name="Text Box 41">
                <a:extLst>
                  <a:ext uri="{FF2B5EF4-FFF2-40B4-BE49-F238E27FC236}">
                    <a16:creationId xmlns:a16="http://schemas.microsoft.com/office/drawing/2014/main" id="{6C84DBBB-F7ED-CDDC-697D-DD30B04B0EE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[4:1|11]</a:t>
                </a:r>
                <a:endParaRPr lang="ca-ES" sz="10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072A46C4-197D-C8B4-0A9D-DDDED7C44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D4F869A-9857-A87B-0F73-CD7BD400AC05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¿Por qué una distribución tan especial de los bits del operando inmediato en el formato B?</a:t>
            </a:r>
          </a:p>
          <a:p>
            <a:pPr marL="285750" indent="-285750"/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RISC-V da soporte a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CPUs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de 16 bits → Los inmediatos se codifican como múltiplos de 2 bytes → No hay bit 0</a:t>
            </a:r>
          </a:p>
          <a:p>
            <a:pPr marL="285750" indent="-285750"/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El bit de signo se mantiene en la posición 31 para facilitar su extensión</a:t>
            </a:r>
          </a:p>
          <a:p>
            <a:pPr marL="285750" indent="-285750"/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Los formatos I y B mantienen en las mismas posiciones el </a:t>
            </a:r>
            <a:r>
              <a:rPr lang="es-E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 de bits comunes: 10:5 y 4:1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, para simplificar la decodificación</a:t>
            </a:r>
          </a:p>
          <a:p>
            <a:pPr marL="82550" indent="0">
              <a:buNone/>
            </a:pPr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39C33E3-A542-E524-8E8F-BE48B2F1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ECF3341-AA58-646D-0730-B14B22F08104}"/>
              </a:ext>
            </a:extLst>
          </p:cNvPr>
          <p:cNvGrpSpPr/>
          <p:nvPr/>
        </p:nvGrpSpPr>
        <p:grpSpPr>
          <a:xfrm>
            <a:off x="2627784" y="5517684"/>
            <a:ext cx="5759545" cy="1511716"/>
            <a:chOff x="3109309" y="5917230"/>
            <a:chExt cx="3345284" cy="997923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F3540315-3629-71F6-79E0-509C2B95475F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DE55DB4F-71A7-9B37-F213-17AD8DBEC6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13" name="Rectangle 10">
                  <a:extLst>
                    <a:ext uri="{FF2B5EF4-FFF2-40B4-BE49-F238E27FC236}">
                      <a16:creationId xmlns:a16="http://schemas.microsoft.com/office/drawing/2014/main" id="{B6B2E629-7FB5-C0A2-A961-2487D80BE3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7" name="Group 155">
                  <a:extLst>
                    <a:ext uri="{FF2B5EF4-FFF2-40B4-BE49-F238E27FC236}">
                      <a16:creationId xmlns:a16="http://schemas.microsoft.com/office/drawing/2014/main" id="{3353E00E-1481-B23C-D256-635E5DCD0C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18" name="Group 5">
                    <a:extLst>
                      <a:ext uri="{FF2B5EF4-FFF2-40B4-BE49-F238E27FC236}">
                        <a16:creationId xmlns:a16="http://schemas.microsoft.com/office/drawing/2014/main" id="{1AB39B45-8857-1239-17CD-F7FE26CB11C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73" name="Rectangle 6">
                      <a:extLst>
                        <a:ext uri="{FF2B5EF4-FFF2-40B4-BE49-F238E27FC236}">
                          <a16:creationId xmlns:a16="http://schemas.microsoft.com/office/drawing/2014/main" id="{F1EE54F4-D03D-FBEB-4FE4-6CAF7F49AB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74" name="Group 7">
                      <a:extLst>
                        <a:ext uri="{FF2B5EF4-FFF2-40B4-BE49-F238E27FC236}">
                          <a16:creationId xmlns:a16="http://schemas.microsoft.com/office/drawing/2014/main" id="{04C97DC9-97F4-E9AF-9C29-244B1E2FC93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75" name="Line 9">
                        <a:extLst>
                          <a:ext uri="{FF2B5EF4-FFF2-40B4-BE49-F238E27FC236}">
                            <a16:creationId xmlns:a16="http://schemas.microsoft.com/office/drawing/2014/main" id="{7CE94B25-8FED-18EF-24F3-03C69CD9197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7" name="Line 10">
                        <a:extLst>
                          <a:ext uri="{FF2B5EF4-FFF2-40B4-BE49-F238E27FC236}">
                            <a16:creationId xmlns:a16="http://schemas.microsoft.com/office/drawing/2014/main" id="{18DA70DF-10B1-96D0-DAF7-E803B50B2E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8" name="Line 11">
                        <a:extLst>
                          <a:ext uri="{FF2B5EF4-FFF2-40B4-BE49-F238E27FC236}">
                            <a16:creationId xmlns:a16="http://schemas.microsoft.com/office/drawing/2014/main" id="{DBD72B64-D2B3-9748-4763-D713EF08E5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9" name="Line 12">
                        <a:extLst>
                          <a:ext uri="{FF2B5EF4-FFF2-40B4-BE49-F238E27FC236}">
                            <a16:creationId xmlns:a16="http://schemas.microsoft.com/office/drawing/2014/main" id="{DCCED22E-87BF-DF5F-BBFD-E95D4AF5B6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0" name="Line 13">
                        <a:extLst>
                          <a:ext uri="{FF2B5EF4-FFF2-40B4-BE49-F238E27FC236}">
                            <a16:creationId xmlns:a16="http://schemas.microsoft.com/office/drawing/2014/main" id="{7F971CF9-9AA1-3279-38FB-4565D66685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1" name="Line 14">
                        <a:extLst>
                          <a:ext uri="{FF2B5EF4-FFF2-40B4-BE49-F238E27FC236}">
                            <a16:creationId xmlns:a16="http://schemas.microsoft.com/office/drawing/2014/main" id="{FEF8AD66-5D1B-E5B3-2931-1EAFEC8708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2" name="Line 15">
                        <a:extLst>
                          <a:ext uri="{FF2B5EF4-FFF2-40B4-BE49-F238E27FC236}">
                            <a16:creationId xmlns:a16="http://schemas.microsoft.com/office/drawing/2014/main" id="{FBDE4175-45E3-FA5D-3EAC-66A8EC339E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3" name="Line 16">
                        <a:extLst>
                          <a:ext uri="{FF2B5EF4-FFF2-40B4-BE49-F238E27FC236}">
                            <a16:creationId xmlns:a16="http://schemas.microsoft.com/office/drawing/2014/main" id="{0FDBE9EF-D27A-D61E-A1D9-13D8A31F18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4" name="Line 17">
                        <a:extLst>
                          <a:ext uri="{FF2B5EF4-FFF2-40B4-BE49-F238E27FC236}">
                            <a16:creationId xmlns:a16="http://schemas.microsoft.com/office/drawing/2014/main" id="{D2EF4068-80F4-672F-EBFA-6984BEEF3F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5" name="Line 18">
                        <a:extLst>
                          <a:ext uri="{FF2B5EF4-FFF2-40B4-BE49-F238E27FC236}">
                            <a16:creationId xmlns:a16="http://schemas.microsoft.com/office/drawing/2014/main" id="{5186EF34-C480-4179-75EB-89167D4DB0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6" name="Line 19">
                        <a:extLst>
                          <a:ext uri="{FF2B5EF4-FFF2-40B4-BE49-F238E27FC236}">
                            <a16:creationId xmlns:a16="http://schemas.microsoft.com/office/drawing/2014/main" id="{2D1D29F3-359F-ED5F-5120-61BB5BE910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7" name="Line 20">
                        <a:extLst>
                          <a:ext uri="{FF2B5EF4-FFF2-40B4-BE49-F238E27FC236}">
                            <a16:creationId xmlns:a16="http://schemas.microsoft.com/office/drawing/2014/main" id="{FC89386A-F2C6-9594-8AF2-2C61B0756C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8" name="Line 21">
                        <a:extLst>
                          <a:ext uri="{FF2B5EF4-FFF2-40B4-BE49-F238E27FC236}">
                            <a16:creationId xmlns:a16="http://schemas.microsoft.com/office/drawing/2014/main" id="{6CF07A12-FAAE-12CA-BA4F-95B641C361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9" name="Line 22">
                        <a:extLst>
                          <a:ext uri="{FF2B5EF4-FFF2-40B4-BE49-F238E27FC236}">
                            <a16:creationId xmlns:a16="http://schemas.microsoft.com/office/drawing/2014/main" id="{A0F8228B-6635-5926-B4CF-2F48996A1C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0" name="Line 23">
                        <a:extLst>
                          <a:ext uri="{FF2B5EF4-FFF2-40B4-BE49-F238E27FC236}">
                            <a16:creationId xmlns:a16="http://schemas.microsoft.com/office/drawing/2014/main" id="{0925DC42-298A-FBA0-FA48-63B000121A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1" name="Line 24">
                        <a:extLst>
                          <a:ext uri="{FF2B5EF4-FFF2-40B4-BE49-F238E27FC236}">
                            <a16:creationId xmlns:a16="http://schemas.microsoft.com/office/drawing/2014/main" id="{6D86A9B6-8B41-B5C1-5436-A6E0E6E3BF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2" name="Line 25">
                        <a:extLst>
                          <a:ext uri="{FF2B5EF4-FFF2-40B4-BE49-F238E27FC236}">
                            <a16:creationId xmlns:a16="http://schemas.microsoft.com/office/drawing/2014/main" id="{29CA4AA5-E345-24CA-AC32-2AF4FFF965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4" name="Line 26">
                        <a:extLst>
                          <a:ext uri="{FF2B5EF4-FFF2-40B4-BE49-F238E27FC236}">
                            <a16:creationId xmlns:a16="http://schemas.microsoft.com/office/drawing/2014/main" id="{9AB87454-CC90-37DD-FE18-C9798531A2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3" name="Line 27">
                        <a:extLst>
                          <a:ext uri="{FF2B5EF4-FFF2-40B4-BE49-F238E27FC236}">
                            <a16:creationId xmlns:a16="http://schemas.microsoft.com/office/drawing/2014/main" id="{B5556F33-530B-0025-4F7D-1DD03F071D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4" name="Line 28">
                        <a:extLst>
                          <a:ext uri="{FF2B5EF4-FFF2-40B4-BE49-F238E27FC236}">
                            <a16:creationId xmlns:a16="http://schemas.microsoft.com/office/drawing/2014/main" id="{82BEB920-B3A3-54ED-C337-72AB7C5B76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5" name="Line 29">
                        <a:extLst>
                          <a:ext uri="{FF2B5EF4-FFF2-40B4-BE49-F238E27FC236}">
                            <a16:creationId xmlns:a16="http://schemas.microsoft.com/office/drawing/2014/main" id="{D888FDF6-D9CA-53C8-7A2A-D54338D11F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6" name="Line 30">
                        <a:extLst>
                          <a:ext uri="{FF2B5EF4-FFF2-40B4-BE49-F238E27FC236}">
                            <a16:creationId xmlns:a16="http://schemas.microsoft.com/office/drawing/2014/main" id="{5A20A231-CA80-C076-513A-68B5D93B3E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9" name="Line 31">
                        <a:extLst>
                          <a:ext uri="{FF2B5EF4-FFF2-40B4-BE49-F238E27FC236}">
                            <a16:creationId xmlns:a16="http://schemas.microsoft.com/office/drawing/2014/main" id="{C512F3A3-6090-602C-B399-155D6773C9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0" name="Line 32">
                        <a:extLst>
                          <a:ext uri="{FF2B5EF4-FFF2-40B4-BE49-F238E27FC236}">
                            <a16:creationId xmlns:a16="http://schemas.microsoft.com/office/drawing/2014/main" id="{FCA6DD3A-2379-2CDC-CD51-C032CEE03B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1" name="Line 33">
                        <a:extLst>
                          <a:ext uri="{FF2B5EF4-FFF2-40B4-BE49-F238E27FC236}">
                            <a16:creationId xmlns:a16="http://schemas.microsoft.com/office/drawing/2014/main" id="{4D27B6CD-AAF9-CEAE-934F-801771BD36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2" name="Line 34">
                        <a:extLst>
                          <a:ext uri="{FF2B5EF4-FFF2-40B4-BE49-F238E27FC236}">
                            <a16:creationId xmlns:a16="http://schemas.microsoft.com/office/drawing/2014/main" id="{3B390968-4D26-B50D-03E4-0B328020FE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3" name="Line 35">
                        <a:extLst>
                          <a:ext uri="{FF2B5EF4-FFF2-40B4-BE49-F238E27FC236}">
                            <a16:creationId xmlns:a16="http://schemas.microsoft.com/office/drawing/2014/main" id="{D1263526-D0D0-3C8E-0255-661A083067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4" name="Line 36">
                        <a:extLst>
                          <a:ext uri="{FF2B5EF4-FFF2-40B4-BE49-F238E27FC236}">
                            <a16:creationId xmlns:a16="http://schemas.microsoft.com/office/drawing/2014/main" id="{E87B6443-1E7C-D809-259B-691FFD626D2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5" name="Line 37">
                        <a:extLst>
                          <a:ext uri="{FF2B5EF4-FFF2-40B4-BE49-F238E27FC236}">
                            <a16:creationId xmlns:a16="http://schemas.microsoft.com/office/drawing/2014/main" id="{0EADF379-11D0-6A03-128A-D8FAB8C282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6" name="Line 38">
                        <a:extLst>
                          <a:ext uri="{FF2B5EF4-FFF2-40B4-BE49-F238E27FC236}">
                            <a16:creationId xmlns:a16="http://schemas.microsoft.com/office/drawing/2014/main" id="{222A6878-4B0B-A36C-E8E2-5B8A774568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0" name="Line 39">
                    <a:extLst>
                      <a:ext uri="{FF2B5EF4-FFF2-40B4-BE49-F238E27FC236}">
                        <a16:creationId xmlns:a16="http://schemas.microsoft.com/office/drawing/2014/main" id="{864B031D-8B1E-9406-470C-41EF55FC93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1" name="Text Box 40">
                    <a:extLst>
                      <a:ext uri="{FF2B5EF4-FFF2-40B4-BE49-F238E27FC236}">
                        <a16:creationId xmlns:a16="http://schemas.microsoft.com/office/drawing/2014/main" id="{A6CFA878-8672-4F0C-FF24-E4B0036BC59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[11:5]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6" name="Text Box 41">
                    <a:extLst>
                      <a:ext uri="{FF2B5EF4-FFF2-40B4-BE49-F238E27FC236}">
                        <a16:creationId xmlns:a16="http://schemas.microsoft.com/office/drawing/2014/main" id="{A75BF155-A25C-814D-89D0-15A9BC271A9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7" name="Line 42">
                    <a:extLst>
                      <a:ext uri="{FF2B5EF4-FFF2-40B4-BE49-F238E27FC236}">
                        <a16:creationId xmlns:a16="http://schemas.microsoft.com/office/drawing/2014/main" id="{5E577206-480D-4001-E72B-4BCC0CFDBD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" name="Line 43">
                    <a:extLst>
                      <a:ext uri="{FF2B5EF4-FFF2-40B4-BE49-F238E27FC236}">
                        <a16:creationId xmlns:a16="http://schemas.microsoft.com/office/drawing/2014/main" id="{13B19B15-6018-3F5C-8B74-AA6FF4DFC2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1" name="Line 44">
                    <a:extLst>
                      <a:ext uri="{FF2B5EF4-FFF2-40B4-BE49-F238E27FC236}">
                        <a16:creationId xmlns:a16="http://schemas.microsoft.com/office/drawing/2014/main" id="{DF9ED80B-A326-9ED1-9B74-92DB85C557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2" name="Text Box 45">
                    <a:extLst>
                      <a:ext uri="{FF2B5EF4-FFF2-40B4-BE49-F238E27FC236}">
                        <a16:creationId xmlns:a16="http://schemas.microsoft.com/office/drawing/2014/main" id="{3CE2015E-44FB-CDF9-3D56-CD212FDAF26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63" name="Text Box 46">
                    <a:extLst>
                      <a:ext uri="{FF2B5EF4-FFF2-40B4-BE49-F238E27FC236}">
                        <a16:creationId xmlns:a16="http://schemas.microsoft.com/office/drawing/2014/main" id="{009CA596-60E0-1054-5FBC-FB0EAFB092C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64" name="Text Box 47">
                    <a:extLst>
                      <a:ext uri="{FF2B5EF4-FFF2-40B4-BE49-F238E27FC236}">
                        <a16:creationId xmlns:a16="http://schemas.microsoft.com/office/drawing/2014/main" id="{F593487B-84CC-A763-653D-19170CC8459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65" name="Text Box 48">
                    <a:extLst>
                      <a:ext uri="{FF2B5EF4-FFF2-40B4-BE49-F238E27FC236}">
                        <a16:creationId xmlns:a16="http://schemas.microsoft.com/office/drawing/2014/main" id="{B77829E7-B7D4-7436-C576-771341679F7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6" name="Text Box 49">
                    <a:extLst>
                      <a:ext uri="{FF2B5EF4-FFF2-40B4-BE49-F238E27FC236}">
                        <a16:creationId xmlns:a16="http://schemas.microsoft.com/office/drawing/2014/main" id="{EF07C07C-86BA-0667-1D41-03DBACC26F6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7" name="Text Box 50">
                    <a:extLst>
                      <a:ext uri="{FF2B5EF4-FFF2-40B4-BE49-F238E27FC236}">
                        <a16:creationId xmlns:a16="http://schemas.microsoft.com/office/drawing/2014/main" id="{A354BC66-6890-F739-C638-7D9A376F400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8" name="Text Box 51">
                    <a:extLst>
                      <a:ext uri="{FF2B5EF4-FFF2-40B4-BE49-F238E27FC236}">
                        <a16:creationId xmlns:a16="http://schemas.microsoft.com/office/drawing/2014/main" id="{8483B6D5-D593-39F6-B6A5-46C9465A3FF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9" name="Text Box 52">
                    <a:extLst>
                      <a:ext uri="{FF2B5EF4-FFF2-40B4-BE49-F238E27FC236}">
                        <a16:creationId xmlns:a16="http://schemas.microsoft.com/office/drawing/2014/main" id="{69390F03-ABC4-8005-6C57-A680694CDC1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70" name="Text Box 53">
                    <a:extLst>
                      <a:ext uri="{FF2B5EF4-FFF2-40B4-BE49-F238E27FC236}">
                        <a16:creationId xmlns:a16="http://schemas.microsoft.com/office/drawing/2014/main" id="{E92F516D-E5BB-D5E6-5079-6DCE684EE04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71" name="Line 153">
                    <a:extLst>
                      <a:ext uri="{FF2B5EF4-FFF2-40B4-BE49-F238E27FC236}">
                        <a16:creationId xmlns:a16="http://schemas.microsoft.com/office/drawing/2014/main" id="{530E3912-D428-D30D-3183-20A47A063A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2" name="Text Box 154">
                    <a:extLst>
                      <a:ext uri="{FF2B5EF4-FFF2-40B4-BE49-F238E27FC236}">
                        <a16:creationId xmlns:a16="http://schemas.microsoft.com/office/drawing/2014/main" id="{A1B0FDFC-892C-5139-42E3-7A893C0F1A5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2" name="Text Box 41">
                <a:extLst>
                  <a:ext uri="{FF2B5EF4-FFF2-40B4-BE49-F238E27FC236}">
                    <a16:creationId xmlns:a16="http://schemas.microsoft.com/office/drawing/2014/main" id="{B235D350-F22B-582A-43F5-4B9C9DBF412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[4:0]</a:t>
                </a:r>
                <a:endParaRPr lang="ca-E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02EF94FD-9465-2F44-CF2C-E1EA576E8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177" name="Marcador de contenido 2">
            <a:extLst>
              <a:ext uri="{FF2B5EF4-FFF2-40B4-BE49-F238E27FC236}">
                <a16:creationId xmlns:a16="http://schemas.microsoft.com/office/drawing/2014/main" id="{4B5014FB-577F-E3BE-62CF-BC57693AE6DE}"/>
              </a:ext>
            </a:extLst>
          </p:cNvPr>
          <p:cNvSpPr txBox="1">
            <a:spLocks/>
          </p:cNvSpPr>
          <p:nvPr/>
        </p:nvSpPr>
        <p:spPr>
          <a:xfrm>
            <a:off x="827585" y="4149080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Formato B:</a:t>
            </a:r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Marcador de contenido 2">
            <a:extLst>
              <a:ext uri="{FF2B5EF4-FFF2-40B4-BE49-F238E27FC236}">
                <a16:creationId xmlns:a16="http://schemas.microsoft.com/office/drawing/2014/main" id="{D555D299-D1F3-796A-25C5-84993E5E9265}"/>
              </a:ext>
            </a:extLst>
          </p:cNvPr>
          <p:cNvSpPr txBox="1">
            <a:spLocks/>
          </p:cNvSpPr>
          <p:nvPr/>
        </p:nvSpPr>
        <p:spPr>
          <a:xfrm>
            <a:off x="827584" y="5445224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Formato I:</a:t>
            </a:r>
            <a:endParaRPr lang="es-ES_tradnl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049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Pseudoinstrucciones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noProof="1"/>
              <a:t>Se utilizan para facilitar la programación en ensamblador. No son instrucciones máquina.</a:t>
            </a:r>
          </a:p>
          <a:p>
            <a:r>
              <a:rPr lang="es-ES_tradnl" noProof="1"/>
              <a:t>Son traducidas por el Programa Ensamblador a un conjunto de instrucciones máquina equivalente.</a:t>
            </a:r>
          </a:p>
          <a:p>
            <a:r>
              <a:rPr lang="es-ES_tradnl" noProof="1"/>
              <a:t>Ejemplos: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_tradnl" noProof="1"/>
              <a:t>Curso 2011-2012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29</a:t>
            </a:fld>
            <a:endParaRPr lang="es-ES_tradnl" noProof="1"/>
          </a:p>
        </p:txBody>
      </p:sp>
      <p:sp>
        <p:nvSpPr>
          <p:cNvPr id="6" name="5 CuadroTexto"/>
          <p:cNvSpPr txBox="1"/>
          <p:nvPr/>
        </p:nvSpPr>
        <p:spPr>
          <a:xfrm>
            <a:off x="1576136" y="3347787"/>
            <a:ext cx="5913522" cy="9140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Address</a:t>
            </a:r>
          </a:p>
          <a:p>
            <a:pPr algn="l"/>
            <a:r>
              <a:rPr lang="es-ES_tradnl" sz="16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la t1, 0x10002000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_tradnl" sz="16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lui  t1, 0x10002</a:t>
            </a:r>
          </a:p>
          <a:p>
            <a:pPr algn="l"/>
            <a:r>
              <a:rPr lang="es-ES_tradnl" sz="16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	      addi t1, t1, 0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1554491" y="4490076"/>
            <a:ext cx="5913522" cy="618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</a:p>
          <a:p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x1, x3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addi x1, x3, zero  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1575449" y="5332431"/>
            <a:ext cx="5913522" cy="8956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Inmediate</a:t>
            </a:r>
          </a:p>
          <a:p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 x1, 0x12345000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li x1, 0x12345</a:t>
            </a:r>
            <a:endParaRPr lang="es-ES_tradnl" sz="1500" baseline="-25000" noProof="1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_tradnl" sz="1500" noProof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addi t1, t1, 0</a:t>
            </a:r>
          </a:p>
        </p:txBody>
      </p:sp>
    </p:spTree>
    <p:extLst>
      <p:ext uri="{BB962C8B-B14F-4D97-AF65-F5344CB8AC3E}">
        <p14:creationId xmlns:p14="http://schemas.microsoft.com/office/powerpoint/2010/main" val="3384613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Ejemplo: Codificación, ensamblado y carga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30</a:t>
            </a:fld>
            <a:endParaRPr lang="es-ES_tradnl" noProof="1"/>
          </a:p>
        </p:txBody>
      </p:sp>
      <p:sp>
        <p:nvSpPr>
          <p:cNvPr id="6" name="CuadroTexto 5"/>
          <p:cNvSpPr txBox="1"/>
          <p:nvPr/>
        </p:nvSpPr>
        <p:spPr>
          <a:xfrm>
            <a:off x="3276600" y="2590800"/>
            <a:ext cx="2647279" cy="28315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.data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endParaRPr lang="es-ES_tradnl" sz="1000" noProof="1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1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1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1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1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.text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la  t0, a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lb  x1, 0(t0)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lb  x2, 2(t0)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add x3, x1, x2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sb  x3, 3(t0)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add x1, zero, zero</a:t>
            </a:r>
          </a:p>
        </p:txBody>
      </p:sp>
      <p:sp>
        <p:nvSpPr>
          <p:cNvPr id="7" name="Llamada rectangular redondeada 6"/>
          <p:cNvSpPr/>
          <p:nvPr/>
        </p:nvSpPr>
        <p:spPr bwMode="auto">
          <a:xfrm>
            <a:off x="3124200" y="1447800"/>
            <a:ext cx="2667000" cy="609600"/>
          </a:xfrm>
          <a:prstGeom prst="wedgeRoundRectCallout">
            <a:avLst>
              <a:gd name="adj1" fmla="val 11836"/>
              <a:gd name="adj2" fmla="val 145370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Definición de segmento de datos. Asumimos inicio en dirección 0x10002000</a:t>
            </a:r>
          </a:p>
        </p:txBody>
      </p:sp>
      <p:sp>
        <p:nvSpPr>
          <p:cNvPr id="8" name="Llamada rectangular redondeada 7"/>
          <p:cNvSpPr/>
          <p:nvPr/>
        </p:nvSpPr>
        <p:spPr bwMode="auto">
          <a:xfrm>
            <a:off x="6324600" y="1143000"/>
            <a:ext cx="2438400" cy="2057400"/>
          </a:xfrm>
          <a:prstGeom prst="wedgeRoundRectCallout">
            <a:avLst>
              <a:gd name="adj1" fmla="val -69931"/>
              <a:gd name="adj2" fmla="val 38837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Reserva e inicialización de posiciones de memoria 0x10002000 – 0x10002007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0x10002000: 0x80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0x10002001: 0xFF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0x10002002: 0xA0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0x10002003: 0x00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0x10002004: 0xFFFFFFFF</a:t>
            </a:r>
          </a:p>
        </p:txBody>
      </p:sp>
      <p:sp>
        <p:nvSpPr>
          <p:cNvPr id="10" name="Llamada rectangular redondeada 9"/>
          <p:cNvSpPr/>
          <p:nvPr/>
        </p:nvSpPr>
        <p:spPr bwMode="auto">
          <a:xfrm>
            <a:off x="609600" y="1905000"/>
            <a:ext cx="2438400" cy="914400"/>
          </a:xfrm>
          <a:prstGeom prst="wedgeRoundRectCallout">
            <a:avLst>
              <a:gd name="adj1" fmla="val 57848"/>
              <a:gd name="adj2" fmla="val 66204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Definición de etiquetas de datos: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a: 0x10002000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c: 0x10002004</a:t>
            </a:r>
          </a:p>
        </p:txBody>
      </p:sp>
      <p:sp>
        <p:nvSpPr>
          <p:cNvPr id="11" name="Llamada rectangular redondeada 10"/>
          <p:cNvSpPr/>
          <p:nvPr/>
        </p:nvSpPr>
        <p:spPr bwMode="auto">
          <a:xfrm>
            <a:off x="6172200" y="3505200"/>
            <a:ext cx="2743200" cy="685800"/>
          </a:xfrm>
          <a:prstGeom prst="wedgeRoundRectCallout">
            <a:avLst>
              <a:gd name="adj1" fmla="val -123893"/>
              <a:gd name="adj2" fmla="val 48276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Definición de segmento de código. Asumimos inicio en dirección 0x00400000</a:t>
            </a:r>
          </a:p>
        </p:txBody>
      </p:sp>
      <p:sp>
        <p:nvSpPr>
          <p:cNvPr id="12" name="Llamada rectangular redondeada 11"/>
          <p:cNvSpPr/>
          <p:nvPr/>
        </p:nvSpPr>
        <p:spPr bwMode="auto">
          <a:xfrm>
            <a:off x="6172200" y="4191000"/>
            <a:ext cx="2743200" cy="685800"/>
          </a:xfrm>
          <a:prstGeom prst="wedgeRoundRectCallout">
            <a:avLst>
              <a:gd name="adj1" fmla="val -111366"/>
              <a:gd name="adj2" fmla="val -25772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Carga de registro t0 con el valor de la etiqueta a (0x10002000)</a:t>
            </a:r>
          </a:p>
        </p:txBody>
      </p:sp>
      <p:sp>
        <p:nvSpPr>
          <p:cNvPr id="13" name="Llamada rectangular redondeada 12"/>
          <p:cNvSpPr/>
          <p:nvPr/>
        </p:nvSpPr>
        <p:spPr bwMode="auto">
          <a:xfrm>
            <a:off x="6172200" y="4876800"/>
            <a:ext cx="2743200" cy="685800"/>
          </a:xfrm>
          <a:prstGeom prst="wedgeRoundRectCallout">
            <a:avLst>
              <a:gd name="adj1" fmla="val -104377"/>
              <a:gd name="adj2" fmla="val -94986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Lectura de 2 bytes de memoria, en las direcciones 0+t0 y 2+t0, cargándolos en x1 y x2</a:t>
            </a:r>
          </a:p>
        </p:txBody>
      </p:sp>
      <p:sp>
        <p:nvSpPr>
          <p:cNvPr id="14" name="Llamada rectangular redondeada 13"/>
          <p:cNvSpPr/>
          <p:nvPr/>
        </p:nvSpPr>
        <p:spPr bwMode="auto">
          <a:xfrm>
            <a:off x="609600" y="4419600"/>
            <a:ext cx="2514600" cy="685800"/>
          </a:xfrm>
          <a:prstGeom prst="wedgeRoundRectCallout">
            <a:avLst>
              <a:gd name="adj1" fmla="val 68374"/>
              <a:gd name="adj2" fmla="val 21141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Suma de x1 y x2, y deja el resultado en x3</a:t>
            </a:r>
          </a:p>
        </p:txBody>
      </p:sp>
      <p:sp>
        <p:nvSpPr>
          <p:cNvPr id="15" name="Llamada rectangular redondeada 14"/>
          <p:cNvSpPr/>
          <p:nvPr/>
        </p:nvSpPr>
        <p:spPr bwMode="auto">
          <a:xfrm>
            <a:off x="609600" y="5105400"/>
            <a:ext cx="2514600" cy="838200"/>
          </a:xfrm>
          <a:prstGeom prst="wedgeRoundRectCallout">
            <a:avLst>
              <a:gd name="adj1" fmla="val 70387"/>
              <a:gd name="adj2" fmla="val -45095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Almacena el byte de menor peso de x3 en memoria, en la dirección resultado de sumar t0 y 3</a:t>
            </a:r>
          </a:p>
          <a:p>
            <a:pPr algn="l"/>
            <a:r>
              <a:rPr lang="es-ES_tradnl" sz="1200" noProof="1">
                <a:solidFill>
                  <a:schemeClr val="tx1"/>
                </a:solidFill>
              </a:rPr>
              <a:t>También inicializa x1 a 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8C695-4F3C-D13F-053B-AB1DDB37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80A164-E159-2735-7E81-B5A0A67A7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lnSpc>
                <a:spcPct val="100000"/>
              </a:lnSpc>
              <a:buNone/>
            </a:pPr>
            <a:r>
              <a:rPr lang="es-ES_tradnl" sz="1100" dirty="0">
                <a:solidFill>
                  <a:srgbClr val="C00000"/>
                </a:solidFill>
              </a:rPr>
              <a:t>TODAS LAS TRANSPARENCIAS DE LA TRAZA DE EJECUCION ESTAN PENDIENTES DE ADAPTAR: 31—38. Una vez traducido a ensamblador, ese código habría que copiarlo en las </a:t>
            </a:r>
            <a:r>
              <a:rPr lang="es-ES_tradnl" sz="1100" dirty="0" err="1">
                <a:solidFill>
                  <a:srgbClr val="C00000"/>
                </a:solidFill>
              </a:rPr>
              <a:t>traspas</a:t>
            </a:r>
            <a:r>
              <a:rPr lang="es-ES_tradnl" sz="1100" dirty="0">
                <a:solidFill>
                  <a:srgbClr val="C00000"/>
                </a:solidFill>
              </a:rPr>
              <a:t> 11 y 12:</a:t>
            </a:r>
          </a:p>
          <a:p>
            <a:pPr marL="82550" indent="0">
              <a:lnSpc>
                <a:spcPct val="100000"/>
              </a:lnSpc>
              <a:buNone/>
            </a:pPr>
            <a:r>
              <a:rPr lang="es-ES_tradnl" sz="1200" dirty="0">
                <a:solidFill>
                  <a:srgbClr val="C00000"/>
                </a:solidFill>
              </a:rPr>
              <a:t>Código original: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.data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a:  .byte 0x80, 0xFF, 0xA0, 0x00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c:  .word -1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.text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    la  t0, 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    lb  x1, 0(t0)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    lb  x2, 2(t0)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    add x3, x1, x2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    sb  x3, 3(t0)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noProof="1">
                <a:latin typeface="Courier New"/>
                <a:cs typeface="Courier New"/>
              </a:rPr>
              <a:t>    add x1, zero, zero</a:t>
            </a:r>
            <a:endParaRPr lang="es-ES_tradnl" sz="800" dirty="0">
              <a:solidFill>
                <a:srgbClr val="C00000"/>
              </a:solidFill>
            </a:endParaRPr>
          </a:p>
          <a:p>
            <a:pPr marL="82550" indent="0">
              <a:lnSpc>
                <a:spcPct val="100000"/>
              </a:lnSpc>
              <a:buNone/>
            </a:pPr>
            <a:r>
              <a:rPr lang="es-ES_tradnl" sz="1200" dirty="0">
                <a:solidFill>
                  <a:srgbClr val="C00000"/>
                </a:solidFill>
              </a:rPr>
              <a:t>Código sin pseudo-instrucciones: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a:  .byte 0x80, 0xFF, 0xA0, 0x00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c:  .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-1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endParaRPr lang="es-ES_tradnl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lui  t0, %hi(a)         # load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20 bits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t0, t0, %lo(a)     #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12 bits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lb   x1, 0(t0)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lb   x2, 2(t0)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x3, x1, x2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x3, 3(t0)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x1,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</a:t>
            </a:r>
            <a:endParaRPr lang="es-ES_tradnl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2550" indent="0">
              <a:lnSpc>
                <a:spcPct val="100000"/>
              </a:lnSpc>
              <a:buNone/>
            </a:pPr>
            <a:r>
              <a:rPr lang="es-ES_tradnl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hexadecimal (según </a:t>
            </a:r>
            <a:r>
              <a:rPr lang="es-ES_tradnl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es-ES_tradnl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lui  t0, %hi(a)     → 0x10010537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t0, t0, %lo(a) → 0x00050513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lb   x1, 0(t0)      → 0x00052503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lb   x2, 2(t0)      → 0x00252503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x3, x1, x2     → 0x002282B3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x3, 3(t0)      → 0x00352323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x1,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</a:t>
            </a:r>
            <a:r>
              <a:rPr lang="es-ES_tradnl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→ 0x000080B3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D8F6D9-64F8-07A4-E1A3-9B95C573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Curso 2011-2012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7DB4C8-DC94-7896-6980-DD3D5297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127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32</a:t>
            </a:fld>
            <a:endParaRPr lang="es-ES_tradnl" noProof="1"/>
          </a:p>
        </p:txBody>
      </p:sp>
      <p:sp>
        <p:nvSpPr>
          <p:cNvPr id="47" name="CuadroTexto 46"/>
          <p:cNvSpPr txBox="1"/>
          <p:nvPr/>
        </p:nvSpPr>
        <p:spPr>
          <a:xfrm>
            <a:off x="685800" y="4437114"/>
            <a:ext cx="2647279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endParaRPr lang="es-ES_tradnl" sz="1000" noProof="1">
              <a:solidFill>
                <a:srgbClr val="006699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la x0, a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lb x1, 0($t0)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lb x2, 2($t0)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add x3, $t1, $t2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sb x3, 3(x0)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add x1, zero, zero</a:t>
            </a:r>
          </a:p>
        </p:txBody>
      </p:sp>
      <p:grpSp>
        <p:nvGrpSpPr>
          <p:cNvPr id="2" name="134 Grupo"/>
          <p:cNvGrpSpPr/>
          <p:nvPr/>
        </p:nvGrpSpPr>
        <p:grpSpPr>
          <a:xfrm>
            <a:off x="3491880" y="914400"/>
            <a:ext cx="3137520" cy="3505200"/>
            <a:chOff x="3491880" y="914400"/>
            <a:chExt cx="3137520" cy="3505200"/>
          </a:xfrm>
        </p:grpSpPr>
        <p:grpSp>
          <p:nvGrpSpPr>
            <p:cNvPr id="3" name="131 Grupo"/>
            <p:cNvGrpSpPr/>
            <p:nvPr/>
          </p:nvGrpSpPr>
          <p:grpSpPr>
            <a:xfrm>
              <a:off x="3491880" y="914400"/>
              <a:ext cx="3137520" cy="3505200"/>
              <a:chOff x="3491880" y="914400"/>
              <a:chExt cx="3137520" cy="3505200"/>
            </a:xfrm>
          </p:grpSpPr>
          <p:sp>
            <p:nvSpPr>
              <p:cNvPr id="73" name="Rectángulo redondeado 72"/>
              <p:cNvSpPr/>
              <p:nvPr/>
            </p:nvSpPr>
            <p:spPr bwMode="auto">
              <a:xfrm>
                <a:off x="4343400" y="1219200"/>
                <a:ext cx="2286000" cy="3200400"/>
              </a:xfrm>
              <a:prstGeom prst="roundRect">
                <a:avLst/>
              </a:prstGeom>
              <a:noFill/>
              <a:ln w="19050"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Dirección	 Contenido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0x00400000  0x3c011000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0x00400004  0x34282000  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0x00400008  0x81090000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0x0040000C  0x810a0002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0x00400010  0x012a5820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0x00400014  0xa10b0003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0x00400018  0x00004820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...</a:t>
                </a:r>
              </a:p>
              <a:p>
                <a:pPr algn="l"/>
                <a:endParaRPr lang="es-ES_tradnl" sz="1050" noProof="1">
                  <a:solidFill>
                    <a:srgbClr val="000000"/>
                  </a:solidFill>
                  <a:latin typeface="Courier"/>
                  <a:cs typeface="Courier"/>
                </a:endParaRP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0x10002000  0x00a0ff80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0x10002004  0xffffffff</a:t>
                </a:r>
              </a:p>
              <a:p>
                <a:pPr algn="l"/>
                <a:r>
                  <a:rPr lang="es-ES_tradnl" sz="1050" noProof="1">
                    <a:solidFill>
                      <a:srgbClr val="000000"/>
                    </a:solidFill>
                    <a:latin typeface="Courier"/>
                    <a:cs typeface="Courier"/>
                  </a:rPr>
                  <a:t>...</a:t>
                </a:r>
              </a:p>
            </p:txBody>
          </p:sp>
          <p:sp>
            <p:nvSpPr>
              <p:cNvPr id="74" name="CuadroTexto 73"/>
              <p:cNvSpPr txBox="1"/>
              <p:nvPr/>
            </p:nvSpPr>
            <p:spPr>
              <a:xfrm>
                <a:off x="4267200" y="914400"/>
                <a:ext cx="17514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noProof="1">
                    <a:solidFill>
                      <a:schemeClr val="accent1">
                        <a:lumMod val="75000"/>
                      </a:schemeClr>
                    </a:solidFill>
                  </a:rPr>
                  <a:t>Contenido memoria</a:t>
                </a:r>
              </a:p>
            </p:txBody>
          </p:sp>
          <p:sp>
            <p:nvSpPr>
              <p:cNvPr id="51" name="CuadroTexto 50"/>
              <p:cNvSpPr txBox="1"/>
              <p:nvPr/>
            </p:nvSpPr>
            <p:spPr>
              <a:xfrm>
                <a:off x="3491880" y="1988840"/>
                <a:ext cx="6719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noProof="1">
                    <a:solidFill>
                      <a:srgbClr val="FF0000"/>
                    </a:solidFill>
                  </a:rPr>
                  <a:t>Carga</a:t>
                </a:r>
              </a:p>
            </p:txBody>
          </p:sp>
        </p:grpSp>
        <p:sp>
          <p:nvSpPr>
            <p:cNvPr id="49" name="Flecha derecha 48"/>
            <p:cNvSpPr/>
            <p:nvPr/>
          </p:nvSpPr>
          <p:spPr bwMode="auto">
            <a:xfrm>
              <a:off x="3491880" y="2204864"/>
              <a:ext cx="762000" cy="609600"/>
            </a:xfrm>
            <a:prstGeom prst="rightArrow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</p:grpSp>
      <p:grpSp>
        <p:nvGrpSpPr>
          <p:cNvPr id="4" name="133 Grupo"/>
          <p:cNvGrpSpPr/>
          <p:nvPr/>
        </p:nvGrpSpPr>
        <p:grpSpPr>
          <a:xfrm>
            <a:off x="3581400" y="4267201"/>
            <a:ext cx="5257800" cy="1478173"/>
            <a:chOff x="3581400" y="4267200"/>
            <a:chExt cx="5257800" cy="1478173"/>
          </a:xfrm>
        </p:grpSpPr>
        <p:sp>
          <p:nvSpPr>
            <p:cNvPr id="53" name="Rectángulo 52"/>
            <p:cNvSpPr/>
            <p:nvPr/>
          </p:nvSpPr>
          <p:spPr>
            <a:xfrm>
              <a:off x="3581400" y="4495800"/>
              <a:ext cx="5257800" cy="12495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l"/>
              <a:r>
                <a:rPr lang="es-ES_tradnl" sz="800" noProof="1">
                  <a:latin typeface="Courier New"/>
                  <a:cs typeface="Courier New"/>
                </a:rPr>
                <a:t>[00400000] 3c011000  lui $1, 4096 [a]         ; 6: la $t0, a </a:t>
              </a:r>
            </a:p>
            <a:p>
              <a:pPr algn="l"/>
              <a:r>
                <a:rPr lang="es-ES_tradnl" sz="800" noProof="1">
                  <a:latin typeface="Courier New"/>
                  <a:cs typeface="Courier New"/>
                </a:rPr>
                <a:t>[00400004] 34282000  ori $8, $1, 8192 [a]     </a:t>
              </a:r>
            </a:p>
            <a:p>
              <a:pPr algn="l"/>
              <a:r>
                <a:rPr lang="es-ES_tradnl" sz="800" noProof="1">
                  <a:latin typeface="Courier New"/>
                  <a:cs typeface="Courier New"/>
                </a:rPr>
                <a:t>[00400008] 81090000  lb $9, 0($8)             ; 7: lb $t1, 0($t0) </a:t>
              </a:r>
            </a:p>
            <a:p>
              <a:pPr algn="l"/>
              <a:r>
                <a:rPr lang="es-ES_tradnl" sz="800" noProof="1">
                  <a:latin typeface="Courier New"/>
                  <a:cs typeface="Courier New"/>
                </a:rPr>
                <a:t>[0040000c] 810a0002  lb $10, 2($8)            ; 8: lb $t2, 2($t0) </a:t>
              </a:r>
            </a:p>
            <a:p>
              <a:pPr algn="l"/>
              <a:r>
                <a:rPr lang="es-ES_tradnl" sz="800" noProof="1">
                  <a:latin typeface="Courier New"/>
                  <a:cs typeface="Courier New"/>
                </a:rPr>
                <a:t>[00400010] 012a5820  add $11, $9, $10         ; 9: add $t3, $t1, $t2 </a:t>
              </a:r>
            </a:p>
            <a:p>
              <a:pPr algn="l"/>
              <a:r>
                <a:rPr lang="es-ES_tradnl" sz="800" noProof="1">
                  <a:latin typeface="Courier New"/>
                  <a:cs typeface="Courier New"/>
                </a:rPr>
                <a:t>[00400014] a10b0003  sb $11, 3($8)            ; 10: sb $t3, 3($t0) </a:t>
              </a:r>
            </a:p>
            <a:p>
              <a:pPr algn="l"/>
              <a:r>
                <a:rPr lang="es-ES_tradnl" sz="800" noProof="1">
                  <a:latin typeface="Courier New"/>
                  <a:cs typeface="Courier New"/>
                </a:rPr>
                <a:t>[00400018] 00004820  add $9,$0,$0             ; 189: add $t1, $0,$0</a:t>
              </a:r>
            </a:p>
            <a:p>
              <a:pPr algn="l"/>
              <a:endParaRPr lang="es-ES_tradnl" sz="800" noProof="1">
                <a:latin typeface="Courier New"/>
                <a:cs typeface="Courier New"/>
              </a:endParaRPr>
            </a:p>
          </p:txBody>
        </p:sp>
        <p:sp>
          <p:nvSpPr>
            <p:cNvPr id="54" name="CuadroTexto 53"/>
            <p:cNvSpPr txBox="1"/>
            <p:nvPr/>
          </p:nvSpPr>
          <p:spPr>
            <a:xfrm>
              <a:off x="7221108" y="4267200"/>
              <a:ext cx="15808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i="1" noProof="1">
                  <a:solidFill>
                    <a:schemeClr val="accent1">
                      <a:lumMod val="75000"/>
                    </a:schemeClr>
                  </a:solidFill>
                </a:rPr>
                <a:t>Obtenido con PCSpim</a:t>
              </a:r>
            </a:p>
          </p:txBody>
        </p:sp>
      </p:grpSp>
      <p:sp>
        <p:nvSpPr>
          <p:cNvPr id="56" name="Llamada rectangular redondeada 55"/>
          <p:cNvSpPr/>
          <p:nvPr/>
        </p:nvSpPr>
        <p:spPr bwMode="auto">
          <a:xfrm>
            <a:off x="6012160" y="2564904"/>
            <a:ext cx="2989374" cy="1524166"/>
          </a:xfrm>
          <a:prstGeom prst="wedgeRoundRectCallout">
            <a:avLst>
              <a:gd name="adj1" fmla="val -52822"/>
              <a:gd name="adj2" fmla="val -5538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800" noProof="1">
                <a:solidFill>
                  <a:schemeClr val="tx1"/>
                </a:solidFill>
                <a:latin typeface="Courier New"/>
                <a:cs typeface="Courier New"/>
              </a:rPr>
              <a:t>0000 0001 0010 1010 0101 1000 0010 0000</a:t>
            </a:r>
          </a:p>
          <a:p>
            <a:pPr algn="l"/>
            <a:endParaRPr lang="es-ES_tradnl" sz="800" noProof="1">
              <a:solidFill>
                <a:schemeClr val="tx1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800" noProof="1">
                <a:solidFill>
                  <a:schemeClr val="tx1"/>
                </a:solidFill>
                <a:latin typeface="Courier New"/>
                <a:cs typeface="Courier New"/>
              </a:rPr>
              <a:t>Instrucción con formato R (add $11, $9, $10)</a:t>
            </a:r>
          </a:p>
          <a:p>
            <a:pPr algn="l"/>
            <a:r>
              <a:rPr lang="es-ES_tradnl" sz="800" noProof="1">
                <a:solidFill>
                  <a:schemeClr val="tx1"/>
                </a:solidFill>
                <a:latin typeface="Courier New"/>
                <a:cs typeface="Courier New"/>
              </a:rPr>
              <a:t>C.op: bits 31-26: 000000</a:t>
            </a:r>
          </a:p>
          <a:p>
            <a:pPr algn="l"/>
            <a:r>
              <a:rPr lang="es-ES_tradnl" sz="800" noProof="1">
                <a:solidFill>
                  <a:schemeClr val="tx1"/>
                </a:solidFill>
                <a:latin typeface="Courier New"/>
                <a:cs typeface="Courier New"/>
              </a:rPr>
              <a:t>Rs: bits 25-21: 01001 -&gt; $9</a:t>
            </a:r>
          </a:p>
          <a:p>
            <a:pPr algn="l"/>
            <a:r>
              <a:rPr lang="es-ES_tradnl" sz="800" noProof="1">
                <a:solidFill>
                  <a:schemeClr val="tx1"/>
                </a:solidFill>
                <a:latin typeface="Courier New"/>
                <a:cs typeface="Courier New"/>
              </a:rPr>
              <a:t>Rt: bits 20-16: 01010 -&gt; $10</a:t>
            </a:r>
          </a:p>
          <a:p>
            <a:pPr algn="l"/>
            <a:r>
              <a:rPr lang="es-ES_tradnl" sz="800" noProof="1">
                <a:solidFill>
                  <a:schemeClr val="tx1"/>
                </a:solidFill>
                <a:latin typeface="Courier New"/>
                <a:cs typeface="Courier New"/>
              </a:rPr>
              <a:t>Rd: bits 15:11: 01011 -&gt; $11</a:t>
            </a:r>
          </a:p>
          <a:p>
            <a:pPr algn="l"/>
            <a:r>
              <a:rPr lang="es-ES_tradnl" sz="800" noProof="1">
                <a:solidFill>
                  <a:schemeClr val="tx1"/>
                </a:solidFill>
                <a:latin typeface="Courier New"/>
                <a:cs typeface="Courier New"/>
              </a:rPr>
              <a:t>Func: bits 5-0: 100000 -&gt; add</a:t>
            </a:r>
          </a:p>
          <a:p>
            <a:pPr algn="l"/>
            <a:endParaRPr lang="es-ES_tradnl" sz="800" noProof="1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grpSp>
        <p:nvGrpSpPr>
          <p:cNvPr id="6" name="132 Grupo"/>
          <p:cNvGrpSpPr/>
          <p:nvPr/>
        </p:nvGrpSpPr>
        <p:grpSpPr>
          <a:xfrm>
            <a:off x="3661174" y="1000108"/>
            <a:ext cx="5094510" cy="5781692"/>
            <a:chOff x="3661173" y="1000108"/>
            <a:chExt cx="5094510" cy="5781692"/>
          </a:xfrm>
        </p:grpSpPr>
        <p:sp>
          <p:nvSpPr>
            <p:cNvPr id="55" name="Llamada rectangular redondeada 54"/>
            <p:cNvSpPr/>
            <p:nvPr/>
          </p:nvSpPr>
          <p:spPr bwMode="auto">
            <a:xfrm>
              <a:off x="6088683" y="1000108"/>
              <a:ext cx="2667000" cy="381000"/>
            </a:xfrm>
            <a:prstGeom prst="wedgeRoundRectCallout">
              <a:avLst>
                <a:gd name="adj1" fmla="val -51786"/>
                <a:gd name="adj2" fmla="val 123891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800" noProof="1">
                  <a:solidFill>
                    <a:schemeClr val="tx1"/>
                  </a:solidFill>
                  <a:latin typeface="Courier New"/>
                  <a:cs typeface="Courier New"/>
                </a:rPr>
                <a:t>0011 1100 0000 0001 0001 0000 0000 0000</a:t>
              </a:r>
            </a:p>
          </p:txBody>
        </p:sp>
        <p:grpSp>
          <p:nvGrpSpPr>
            <p:cNvPr id="7" name="Group 9"/>
            <p:cNvGrpSpPr>
              <a:grpSpLocks/>
            </p:cNvGrpSpPr>
            <p:nvPr/>
          </p:nvGrpSpPr>
          <p:grpSpPr bwMode="auto">
            <a:xfrm>
              <a:off x="4648200" y="6019800"/>
              <a:ext cx="4038600" cy="762000"/>
              <a:chOff x="144" y="720"/>
              <a:chExt cx="2544" cy="480"/>
            </a:xfrm>
          </p:grpSpPr>
          <p:sp>
            <p:nvSpPr>
              <p:cNvPr id="64" name="Rectangle 10"/>
              <p:cNvSpPr>
                <a:spLocks noChangeArrowheads="1"/>
              </p:cNvSpPr>
              <p:nvPr/>
            </p:nvSpPr>
            <p:spPr bwMode="auto">
              <a:xfrm>
                <a:off x="144" y="720"/>
                <a:ext cx="2544" cy="48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noProof="1"/>
              </a:p>
            </p:txBody>
          </p:sp>
          <p:grpSp>
            <p:nvGrpSpPr>
              <p:cNvPr id="8" name="Group 155"/>
              <p:cNvGrpSpPr>
                <a:grpSpLocks/>
              </p:cNvGrpSpPr>
              <p:nvPr/>
            </p:nvGrpSpPr>
            <p:grpSpPr bwMode="auto">
              <a:xfrm>
                <a:off x="144" y="768"/>
                <a:ext cx="2497" cy="394"/>
                <a:chOff x="1170" y="1296"/>
                <a:chExt cx="3218" cy="647"/>
              </a:xfrm>
            </p:grpSpPr>
            <p:grpSp>
              <p:nvGrpSpPr>
                <p:cNvPr id="9" name="Group 5"/>
                <p:cNvGrpSpPr>
                  <a:grpSpLocks/>
                </p:cNvGrpSpPr>
                <p:nvPr/>
              </p:nvGrpSpPr>
              <p:grpSpPr bwMode="auto">
                <a:xfrm>
                  <a:off x="1248" y="1306"/>
                  <a:ext cx="3072" cy="336"/>
                  <a:chOff x="960" y="1296"/>
                  <a:chExt cx="3072" cy="336"/>
                </a:xfrm>
              </p:grpSpPr>
              <p:sp>
                <p:nvSpPr>
                  <p:cNvPr id="9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1296"/>
                    <a:ext cx="3072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hangingPunct="0"/>
                    <a:endParaRPr lang="es-ES_tradnl" sz="2000" b="1" noProof="1">
                      <a:solidFill>
                        <a:schemeClr val="tx2"/>
                      </a:solidFill>
                    </a:endParaRPr>
                  </a:p>
                </p:txBody>
              </p:sp>
              <p:grpSp>
                <p:nvGrpSpPr>
                  <p:cNvPr id="10" name="Group 7"/>
                  <p:cNvGrpSpPr>
                    <a:grpSpLocks/>
                  </p:cNvGrpSpPr>
                  <p:nvPr/>
                </p:nvGrpSpPr>
                <p:grpSpPr bwMode="auto">
                  <a:xfrm>
                    <a:off x="1056" y="1536"/>
                    <a:ext cx="2880" cy="96"/>
                    <a:chOff x="1056" y="1536"/>
                    <a:chExt cx="2880" cy="96"/>
                  </a:xfrm>
                </p:grpSpPr>
                <p:sp>
                  <p:nvSpPr>
                    <p:cNvPr id="99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0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1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2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3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4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5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6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7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8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09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0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1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2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3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4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5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6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7" name="Line 2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8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19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0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1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2" name="Line 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3" name="Line 3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4" name="Line 3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5" name="Line 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6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7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8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  <p:sp>
                  <p:nvSpPr>
                    <p:cNvPr id="129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s-ES_tradnl" noProof="1"/>
                    </a:p>
                  </p:txBody>
                </p:sp>
              </p:grpSp>
            </p:grpSp>
            <p:sp>
              <p:nvSpPr>
                <p:cNvPr id="80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1824" y="130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noProof="1"/>
                </a:p>
              </p:txBody>
            </p:sp>
            <p:sp>
              <p:nvSpPr>
                <p:cNvPr id="81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247" y="1296"/>
                  <a:ext cx="580" cy="34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600" noProof="1">
                      <a:latin typeface="Calibri" pitchFamily="-103" charset="0"/>
                    </a:rPr>
                    <a:t>cop</a:t>
                  </a:r>
                </a:p>
              </p:txBody>
            </p:sp>
            <p:sp>
              <p:nvSpPr>
                <p:cNvPr id="82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782" y="1307"/>
                  <a:ext cx="480" cy="34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600" noProof="1">
                      <a:latin typeface="Calibri" pitchFamily="-103" charset="0"/>
                    </a:rPr>
                    <a:t>Rd</a:t>
                  </a:r>
                </a:p>
              </p:txBody>
            </p:sp>
            <p:sp>
              <p:nvSpPr>
                <p:cNvPr id="83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304" y="130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noProof="1"/>
                </a:p>
              </p:txBody>
            </p:sp>
            <p:sp>
              <p:nvSpPr>
                <p:cNvPr id="84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2784" y="130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noProof="1"/>
                </a:p>
              </p:txBody>
            </p:sp>
            <p:sp>
              <p:nvSpPr>
                <p:cNvPr id="85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3744" y="130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noProof="1"/>
                </a:p>
              </p:txBody>
            </p:sp>
            <p:sp>
              <p:nvSpPr>
                <p:cNvPr id="86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827" y="1307"/>
                  <a:ext cx="477" cy="34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600" noProof="1">
                      <a:latin typeface="Calibri" pitchFamily="-103" charset="0"/>
                    </a:rPr>
                    <a:t>Rs</a:t>
                  </a:r>
                </a:p>
              </p:txBody>
            </p:sp>
            <p:sp>
              <p:nvSpPr>
                <p:cNvPr id="87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304" y="1307"/>
                  <a:ext cx="478" cy="34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600" noProof="1">
                      <a:latin typeface="Calibri" pitchFamily="-103" charset="0"/>
                    </a:rPr>
                    <a:t>Rt</a:t>
                  </a:r>
                </a:p>
              </p:txBody>
            </p:sp>
            <p:sp>
              <p:nvSpPr>
                <p:cNvPr id="88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3745" y="1307"/>
                  <a:ext cx="575" cy="34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600" noProof="1">
                      <a:latin typeface="Calibri" pitchFamily="-103" charset="0"/>
                    </a:rPr>
                    <a:t>func</a:t>
                  </a:r>
                </a:p>
              </p:txBody>
            </p:sp>
            <p:sp>
              <p:nvSpPr>
                <p:cNvPr id="89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170" y="1641"/>
                  <a:ext cx="292" cy="30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300" b="1" noProof="1">
                      <a:latin typeface="Calibri" pitchFamily="-103" charset="0"/>
                    </a:rPr>
                    <a:t>31</a:t>
                  </a:r>
                </a:p>
              </p:txBody>
            </p:sp>
            <p:sp>
              <p:nvSpPr>
                <p:cNvPr id="90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749" y="1641"/>
                  <a:ext cx="288" cy="302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300" b="1" noProof="1">
                      <a:latin typeface="Calibri" pitchFamily="-103" charset="0"/>
                    </a:rPr>
                    <a:t>25</a:t>
                  </a:r>
                </a:p>
              </p:txBody>
            </p:sp>
            <p:sp>
              <p:nvSpPr>
                <p:cNvPr id="91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237" y="1641"/>
                  <a:ext cx="288" cy="302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300" b="1" noProof="1">
                      <a:latin typeface="Calibri" pitchFamily="-103" charset="0"/>
                    </a:rPr>
                    <a:t>20</a:t>
                  </a:r>
                </a:p>
              </p:txBody>
            </p:sp>
            <p:sp>
              <p:nvSpPr>
                <p:cNvPr id="92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709" y="1641"/>
                  <a:ext cx="288" cy="302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300" b="1" noProof="1">
                      <a:latin typeface="Calibri" pitchFamily="-103" charset="0"/>
                    </a:rPr>
                    <a:t>15</a:t>
                  </a:r>
                </a:p>
              </p:txBody>
            </p:sp>
            <p:sp>
              <p:nvSpPr>
                <p:cNvPr id="93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711" y="1641"/>
                  <a:ext cx="219" cy="302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300" b="1" noProof="1">
                      <a:latin typeface="Calibri" pitchFamily="-103" charset="0"/>
                    </a:rPr>
                    <a:t>5</a:t>
                  </a:r>
                </a:p>
              </p:txBody>
            </p:sp>
            <p:sp>
              <p:nvSpPr>
                <p:cNvPr id="94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169" y="1641"/>
                  <a:ext cx="219" cy="302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300" b="1" noProof="1">
                      <a:latin typeface="Calibri" pitchFamily="-103" charset="0"/>
                    </a:rPr>
                    <a:t>0</a:t>
                  </a:r>
                </a:p>
              </p:txBody>
            </p:sp>
            <p:sp>
              <p:nvSpPr>
                <p:cNvPr id="95" name="Line 153"/>
                <p:cNvSpPr>
                  <a:spLocks noChangeShapeType="1"/>
                </p:cNvSpPr>
                <p:nvPr/>
              </p:nvSpPr>
              <p:spPr bwMode="auto">
                <a:xfrm flipV="1">
                  <a:off x="3264" y="129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noProof="1"/>
                </a:p>
              </p:txBody>
            </p:sp>
            <p:sp>
              <p:nvSpPr>
                <p:cNvPr id="96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3168" y="1641"/>
                  <a:ext cx="287" cy="30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hangingPunct="0"/>
                  <a:r>
                    <a:rPr lang="es-ES_tradnl" sz="1300" b="1" noProof="1">
                      <a:latin typeface="Calibri" pitchFamily="-103" charset="0"/>
                    </a:rPr>
                    <a:t>10</a:t>
                  </a:r>
                </a:p>
              </p:txBody>
            </p:sp>
          </p:grpSp>
        </p:grpSp>
        <p:sp>
          <p:nvSpPr>
            <p:cNvPr id="130" name="CuadroTexto 129"/>
            <p:cNvSpPr txBox="1"/>
            <p:nvPr/>
          </p:nvSpPr>
          <p:spPr>
            <a:xfrm>
              <a:off x="3661173" y="6172200"/>
              <a:ext cx="910827" cy="49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_tradnl" sz="1200" i="1" noProof="1">
                  <a:solidFill>
                    <a:schemeClr val="accent1">
                      <a:lumMod val="75000"/>
                    </a:schemeClr>
                  </a:solidFill>
                </a:rPr>
                <a:t>Codif. </a:t>
              </a:r>
            </a:p>
            <a:p>
              <a:pPr algn="r"/>
              <a:r>
                <a:rPr lang="es-ES_tradnl" sz="1200" i="1" noProof="1">
                  <a:solidFill>
                    <a:schemeClr val="accent1">
                      <a:lumMod val="75000"/>
                    </a:schemeClr>
                  </a:solidFill>
                </a:rPr>
                <a:t>Formato R</a:t>
              </a:r>
            </a:p>
          </p:txBody>
        </p:sp>
      </p:grpSp>
      <p:grpSp>
        <p:nvGrpSpPr>
          <p:cNvPr id="11" name="135 Grupo"/>
          <p:cNvGrpSpPr/>
          <p:nvPr/>
        </p:nvGrpSpPr>
        <p:grpSpPr>
          <a:xfrm>
            <a:off x="1" y="908720"/>
            <a:ext cx="3714743" cy="5201582"/>
            <a:chOff x="-27111" y="1299592"/>
            <a:chExt cx="3714743" cy="5201582"/>
          </a:xfrm>
          <a:solidFill>
            <a:schemeClr val="bg1"/>
          </a:solidFill>
        </p:grpSpPr>
        <p:sp>
          <p:nvSpPr>
            <p:cNvPr id="48" name="Flecha arriba 47"/>
            <p:cNvSpPr/>
            <p:nvPr/>
          </p:nvSpPr>
          <p:spPr bwMode="auto">
            <a:xfrm>
              <a:off x="1520552" y="3819872"/>
              <a:ext cx="533400" cy="899766"/>
            </a:xfrm>
            <a:prstGeom prst="up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grpSp>
          <p:nvGrpSpPr>
            <p:cNvPr id="12" name="130 Grupo"/>
            <p:cNvGrpSpPr/>
            <p:nvPr/>
          </p:nvGrpSpPr>
          <p:grpSpPr>
            <a:xfrm>
              <a:off x="-27111" y="1299592"/>
              <a:ext cx="3714743" cy="5201582"/>
              <a:chOff x="-27111" y="1299592"/>
              <a:chExt cx="3714743" cy="5201582"/>
            </a:xfrm>
            <a:grpFill/>
          </p:grpSpPr>
          <p:sp>
            <p:nvSpPr>
              <p:cNvPr id="45" name="CuadroTexto 44"/>
              <p:cNvSpPr txBox="1"/>
              <p:nvPr/>
            </p:nvSpPr>
            <p:spPr>
              <a:xfrm>
                <a:off x="656456" y="1299592"/>
                <a:ext cx="2647279" cy="2462213"/>
              </a:xfrm>
              <a:prstGeom prst="rect">
                <a:avLst/>
              </a:prstGeom>
              <a:grpFill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.data 0x10002000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a:  .byte 0x80, 0xFF, 0xA0, 0x00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b:  .word -1</a:t>
                </a:r>
              </a:p>
              <a:p>
                <a:pPr algn="l"/>
                <a:endParaRPr lang="es-ES_tradnl" sz="1000" noProof="1">
                  <a:solidFill>
                    <a:srgbClr val="006699"/>
                  </a:solidFill>
                  <a:latin typeface="Courier New"/>
                  <a:cs typeface="Courier New"/>
                </a:endParaRP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.text 0x00400000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__start: lui $1, 4096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ori $8, $1, 8192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lb $9, 0($8)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lb $10, 2($8)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add $11, $9, $10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sb $11, 3($8)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add $9, $0, $0</a:t>
                </a:r>
              </a:p>
              <a:p>
                <a:pPr algn="l"/>
                <a:r>
                  <a:rPr lang="es-ES_tradnl" sz="100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    </a:t>
                </a:r>
              </a:p>
            </p:txBody>
          </p:sp>
          <p:sp>
            <p:nvSpPr>
              <p:cNvPr id="72" name="Flecha derecha 71"/>
              <p:cNvSpPr/>
              <p:nvPr/>
            </p:nvSpPr>
            <p:spPr bwMode="auto">
              <a:xfrm>
                <a:off x="-27111" y="5462946"/>
                <a:ext cx="990600" cy="533400"/>
              </a:xfrm>
              <a:prstGeom prst="rightArrow">
                <a:avLst/>
              </a:prstGeom>
              <a:grpFill/>
              <a:ln>
                <a:tailEnd type="triangl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000" noProof="1"/>
                  <a:t>Pseudo instrucción </a:t>
                </a:r>
              </a:p>
            </p:txBody>
          </p:sp>
          <p:sp>
            <p:nvSpPr>
              <p:cNvPr id="79" name="Flecha derecha 78"/>
              <p:cNvSpPr/>
              <p:nvPr/>
            </p:nvSpPr>
            <p:spPr bwMode="auto">
              <a:xfrm flipH="1">
                <a:off x="2302834" y="5891574"/>
                <a:ext cx="1384798" cy="609600"/>
              </a:xfrm>
              <a:prstGeom prst="rightArrow">
                <a:avLst/>
              </a:prstGeom>
              <a:grpFill/>
              <a:ln>
                <a:tailEnd type="triangl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000" noProof="1"/>
                  <a:t>Alias en nombre de los registros</a:t>
                </a:r>
              </a:p>
            </p:txBody>
          </p:sp>
        </p:grpSp>
        <p:sp>
          <p:nvSpPr>
            <p:cNvPr id="50" name="CuadroTexto 49"/>
            <p:cNvSpPr txBox="1"/>
            <p:nvPr/>
          </p:nvSpPr>
          <p:spPr>
            <a:xfrm>
              <a:off x="2168624" y="3819872"/>
              <a:ext cx="1451038" cy="86177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rgbClr val="FF0000"/>
                  </a:solidFill>
                </a:rPr>
                <a:t>Ensamblado:</a:t>
              </a:r>
            </a:p>
            <a:p>
              <a:pPr>
                <a:buFont typeface="Arial" pitchFamily="34" charset="0"/>
                <a:buChar char="•"/>
              </a:pPr>
              <a:r>
                <a:rPr lang="es-ES_tradnl" sz="1000" noProof="1">
                  <a:solidFill>
                    <a:srgbClr val="FF0000"/>
                  </a:solidFill>
                </a:rPr>
                <a:t>Pseudoinstrucciones</a:t>
              </a:r>
            </a:p>
            <a:p>
              <a:pPr>
                <a:buFont typeface="Arial" pitchFamily="34" charset="0"/>
                <a:buChar char="•"/>
              </a:pPr>
              <a:r>
                <a:rPr lang="es-ES_tradnl" sz="1000" noProof="1">
                  <a:solidFill>
                    <a:srgbClr val="FF0000"/>
                  </a:solidFill>
                </a:rPr>
                <a:t>Nombres de registros</a:t>
              </a:r>
            </a:p>
            <a:p>
              <a:pPr>
                <a:buFont typeface="Arial" pitchFamily="34" charset="0"/>
                <a:buChar char="•"/>
              </a:pPr>
              <a:r>
                <a:rPr lang="es-ES_tradnl" sz="1000" noProof="1">
                  <a:solidFill>
                    <a:srgbClr val="FF0000"/>
                  </a:solidFill>
                </a:rPr>
                <a:t>Cálculos de valores</a:t>
              </a:r>
            </a:p>
          </p:txBody>
        </p:sp>
      </p:grpSp>
      <p:sp>
        <p:nvSpPr>
          <p:cNvPr id="98" name="Título 14"/>
          <p:cNvSpPr txBox="1">
            <a:spLocks/>
          </p:cNvSpPr>
          <p:nvPr/>
        </p:nvSpPr>
        <p:spPr>
          <a:xfrm>
            <a:off x="683568" y="116632"/>
            <a:ext cx="8136904" cy="93610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0" i="0" u="none" strike="noStrike" kern="1200" cap="none" spc="0" normalizeH="0" baseline="0" noProof="1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Arquitectura MIPS32: ejemplo de ejecución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Llamada rectangular redondeada 52"/>
          <p:cNvSpPr/>
          <p:nvPr/>
        </p:nvSpPr>
        <p:spPr bwMode="auto">
          <a:xfrm>
            <a:off x="0" y="3501008"/>
            <a:ext cx="1447800" cy="609600"/>
          </a:xfrm>
          <a:prstGeom prst="wedgeRoundRectCallout">
            <a:avLst>
              <a:gd name="adj1" fmla="val 32166"/>
              <a:gd name="adj2" fmla="val -708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PC = 0x00400000</a:t>
            </a:r>
          </a:p>
          <a:p>
            <a:pPr algn="ctr"/>
            <a:endParaRPr lang="es-ES_tradnl" sz="1050" noProof="1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00200" y="0"/>
            <a:ext cx="4114800" cy="936104"/>
          </a:xfrm>
        </p:spPr>
        <p:txBody>
          <a:bodyPr/>
          <a:lstStyle/>
          <a:p>
            <a:r>
              <a:rPr lang="es-ES_tradnl" sz="1800" noProof="1"/>
              <a:t>Ejemplo: Ejecución instrucción 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33</a:t>
            </a:fld>
            <a:endParaRPr lang="es-ES_tradnl" noProof="1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1219200" y="14478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1219200" y="22860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1219200" y="1676400"/>
            <a:ext cx="7620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1255628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1219200" y="254071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5" name="Rectángulo 24"/>
          <p:cNvSpPr/>
          <p:nvPr/>
        </p:nvSpPr>
        <p:spPr bwMode="auto">
          <a:xfrm>
            <a:off x="11277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LO</a:t>
            </a:r>
          </a:p>
        </p:txBody>
      </p:sp>
      <p:sp>
        <p:nvSpPr>
          <p:cNvPr id="26" name="Rectángulo 25"/>
          <p:cNvSpPr/>
          <p:nvPr/>
        </p:nvSpPr>
        <p:spPr bwMode="auto">
          <a:xfrm>
            <a:off x="16155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HI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1066800" y="1219200"/>
            <a:ext cx="1066800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1327669" y="99060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2432966" y="14478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2432966" y="22860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2432966" y="167640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471833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61" name="Forma libre 60"/>
          <p:cNvSpPr/>
          <p:nvPr/>
        </p:nvSpPr>
        <p:spPr bwMode="auto">
          <a:xfrm>
            <a:off x="2432966" y="2590802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2" name="CuadroTexto 61"/>
          <p:cNvSpPr txBox="1"/>
          <p:nvPr/>
        </p:nvSpPr>
        <p:spPr>
          <a:xfrm>
            <a:off x="2573431" y="2740484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65" name="Rectángulo redondeado 64"/>
          <p:cNvSpPr/>
          <p:nvPr/>
        </p:nvSpPr>
        <p:spPr bwMode="auto">
          <a:xfrm>
            <a:off x="2286000" y="1219200"/>
            <a:ext cx="1066800" cy="2209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6" name="CuadroTexto 65"/>
          <p:cNvSpPr txBox="1"/>
          <p:nvPr/>
        </p:nvSpPr>
        <p:spPr>
          <a:xfrm>
            <a:off x="2257750" y="957590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 1 (FPU)</a:t>
            </a:r>
          </a:p>
        </p:txBody>
      </p:sp>
      <p:sp>
        <p:nvSpPr>
          <p:cNvPr id="67" name="Rectángulo redondeado 66"/>
          <p:cNvSpPr/>
          <p:nvPr/>
        </p:nvSpPr>
        <p:spPr bwMode="auto">
          <a:xfrm>
            <a:off x="1066800" y="3733800"/>
            <a:ext cx="2286000" cy="8382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8" name="Rectángulo 67"/>
          <p:cNvSpPr/>
          <p:nvPr/>
        </p:nvSpPr>
        <p:spPr bwMode="auto">
          <a:xfrm>
            <a:off x="1143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BadVAddr</a:t>
            </a:r>
          </a:p>
        </p:txBody>
      </p:sp>
      <p:sp>
        <p:nvSpPr>
          <p:cNvPr id="69" name="Rectángulo 68"/>
          <p:cNvSpPr/>
          <p:nvPr/>
        </p:nvSpPr>
        <p:spPr bwMode="auto">
          <a:xfrm>
            <a:off x="1143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Status</a:t>
            </a:r>
          </a:p>
        </p:txBody>
      </p:sp>
      <p:sp>
        <p:nvSpPr>
          <p:cNvPr id="70" name="Rectángulo 69"/>
          <p:cNvSpPr/>
          <p:nvPr/>
        </p:nvSpPr>
        <p:spPr bwMode="auto">
          <a:xfrm>
            <a:off x="2286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71" name="Rectángulo 70"/>
          <p:cNvSpPr/>
          <p:nvPr/>
        </p:nvSpPr>
        <p:spPr bwMode="auto">
          <a:xfrm>
            <a:off x="2286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43001" y="3472190"/>
            <a:ext cx="118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Coprocesador 0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1865228" y="370079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6" name="CuadroTexto 45"/>
          <p:cNvSpPr txBox="1"/>
          <p:nvPr/>
        </p:nvSpPr>
        <p:spPr>
          <a:xfrm>
            <a:off x="1356310" y="2694888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73" name="Llamada rectangular redondeada 72"/>
          <p:cNvSpPr/>
          <p:nvPr/>
        </p:nvSpPr>
        <p:spPr bwMode="auto">
          <a:xfrm>
            <a:off x="76200" y="914400"/>
            <a:ext cx="1447800" cy="609600"/>
          </a:xfrm>
          <a:prstGeom prst="wedgeRoundRectCallout">
            <a:avLst>
              <a:gd name="adj1" fmla="val 40353"/>
              <a:gd name="adj2" fmla="val 11384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0x00400014  0xa10b0003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0x00400018  0x00004820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0x00a0ff80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4792161" y="6286521"/>
            <a:ext cx="1994456" cy="46474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rgbClr val="FF0000"/>
                </a:solidFill>
              </a:rPr>
              <a:t>La instrucción leída se ubica en </a:t>
            </a:r>
          </a:p>
          <a:p>
            <a:r>
              <a:rPr lang="es-ES_tradnl" sz="1100" noProof="1">
                <a:solidFill>
                  <a:srgbClr val="FF0000"/>
                </a:solidFill>
              </a:rPr>
              <a:t>el registro de instrucción RI</a:t>
            </a:r>
          </a:p>
        </p:txBody>
      </p:sp>
      <p:sp>
        <p:nvSpPr>
          <p:cNvPr id="50" name="Rectángulo 49"/>
          <p:cNvSpPr/>
          <p:nvPr/>
        </p:nvSpPr>
        <p:spPr bwMode="auto">
          <a:xfrm>
            <a:off x="11430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/>
          <p:cNvSpPr/>
          <p:nvPr/>
        </p:nvSpPr>
        <p:spPr bwMode="auto">
          <a:xfrm>
            <a:off x="16002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RI</a:t>
            </a:r>
          </a:p>
        </p:txBody>
      </p:sp>
      <p:grpSp>
        <p:nvGrpSpPr>
          <p:cNvPr id="3" name="63 Grupo"/>
          <p:cNvGrpSpPr/>
          <p:nvPr/>
        </p:nvGrpSpPr>
        <p:grpSpPr>
          <a:xfrm>
            <a:off x="-108519" y="548680"/>
            <a:ext cx="8458200" cy="5706616"/>
            <a:chOff x="0" y="465584"/>
            <a:chExt cx="8458200" cy="5706616"/>
          </a:xfrm>
        </p:grpSpPr>
        <p:sp>
          <p:nvSpPr>
            <p:cNvPr id="63" name="Llamada rectangular redondeada 62"/>
            <p:cNvSpPr/>
            <p:nvPr/>
          </p:nvSpPr>
          <p:spPr bwMode="auto">
            <a:xfrm>
              <a:off x="6120679" y="465584"/>
              <a:ext cx="1524000" cy="381000"/>
            </a:xfrm>
            <a:prstGeom prst="wedgeRoundRectCallout">
              <a:avLst>
                <a:gd name="adj1" fmla="val 76435"/>
                <a:gd name="adj2" fmla="val 73688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lui $1, 4096</a:t>
              </a:r>
            </a:p>
          </p:txBody>
        </p:sp>
        <p:sp>
          <p:nvSpPr>
            <p:cNvPr id="48" name="Llamada rectangular redondeada 47"/>
            <p:cNvSpPr/>
            <p:nvPr/>
          </p:nvSpPr>
          <p:spPr bwMode="auto">
            <a:xfrm>
              <a:off x="6477000" y="5562600"/>
              <a:ext cx="1981200" cy="609600"/>
            </a:xfrm>
            <a:prstGeom prst="wedgeRoundRectCallout">
              <a:avLst>
                <a:gd name="adj1" fmla="val -75633"/>
                <a:gd name="adj2" fmla="val -133397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Lectura de la instrucción ubicada en 0x00400000</a:t>
              </a:r>
            </a:p>
          </p:txBody>
        </p:sp>
        <p:sp>
          <p:nvSpPr>
            <p:cNvPr id="49" name="Flecha izquierda 48"/>
            <p:cNvSpPr/>
            <p:nvPr/>
          </p:nvSpPr>
          <p:spPr bwMode="auto">
            <a:xfrm>
              <a:off x="5105400" y="4876800"/>
              <a:ext cx="838200" cy="228600"/>
            </a:xfrm>
            <a:prstGeom prst="leftArrow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53" name="Llamada rectangular redondeada 52"/>
            <p:cNvSpPr/>
            <p:nvPr/>
          </p:nvSpPr>
          <p:spPr bwMode="auto">
            <a:xfrm>
              <a:off x="0" y="3505200"/>
              <a:ext cx="1447800" cy="609600"/>
            </a:xfrm>
            <a:prstGeom prst="wedgeRoundRectCallout">
              <a:avLst>
                <a:gd name="adj1" fmla="val 32166"/>
                <a:gd name="adj2" fmla="val -70873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PC = 0x00400000</a:t>
              </a:r>
            </a:p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RI = 0x3c011000</a:t>
              </a:r>
            </a:p>
          </p:txBody>
        </p:sp>
      </p:grpSp>
      <p:sp>
        <p:nvSpPr>
          <p:cNvPr id="75" name="CuadroTexto 53"/>
          <p:cNvSpPr txBox="1"/>
          <p:nvPr/>
        </p:nvSpPr>
        <p:spPr>
          <a:xfrm>
            <a:off x="683568" y="4543521"/>
            <a:ext cx="2647279" cy="19451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   la $t0, a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$t1, 0($t0)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$t2, 2($t0)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$t3, $t1, $t2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$t3, 3($t0)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$t1, $0, $0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3419873" y="980728"/>
            <a:ext cx="2647279" cy="23144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FF0000"/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lui $1, 4096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ori $8, $1,8192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$9, 0($8)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$10, 2($8)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$11, $9, $10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$11, 3($8)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$9, $0, $0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adroTexto 53"/>
          <p:cNvSpPr txBox="1"/>
          <p:nvPr/>
        </p:nvSpPr>
        <p:spPr>
          <a:xfrm>
            <a:off x="3419873" y="980728"/>
            <a:ext cx="2647279" cy="23144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lui $1, 4096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ori $8, $1,8192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$9, 0($8)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$10, 2($8)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$11, $9, $10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$11, 3($8)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$9, $0, $0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54" name="Llamada rectangular redondeada 63"/>
          <p:cNvSpPr/>
          <p:nvPr/>
        </p:nvSpPr>
        <p:spPr bwMode="auto">
          <a:xfrm>
            <a:off x="0" y="3501008"/>
            <a:ext cx="1447800" cy="609600"/>
          </a:xfrm>
          <a:prstGeom prst="wedgeRoundRectCallout">
            <a:avLst>
              <a:gd name="adj1" fmla="val 32166"/>
              <a:gd name="adj2" fmla="val -708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PC = 0x00400004</a:t>
            </a:r>
          </a:p>
          <a:p>
            <a:pPr algn="ctr"/>
            <a:endParaRPr lang="es-ES_tradnl" sz="1050" noProof="1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00200" y="0"/>
            <a:ext cx="4098304" cy="936104"/>
          </a:xfrm>
        </p:spPr>
        <p:txBody>
          <a:bodyPr/>
          <a:lstStyle/>
          <a:p>
            <a:r>
              <a:rPr lang="es-ES_tradnl" sz="1800" noProof="1"/>
              <a:t>Ejemplo: Ejecución instrucción 2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34</a:t>
            </a:fld>
            <a:endParaRPr lang="es-ES_tradnl" noProof="1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1219200" y="14478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1219200" y="22860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1219200" y="1676400"/>
            <a:ext cx="7620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1255628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1219200" y="254071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5" name="Rectángulo 24"/>
          <p:cNvSpPr/>
          <p:nvPr/>
        </p:nvSpPr>
        <p:spPr bwMode="auto">
          <a:xfrm>
            <a:off x="11277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LO</a:t>
            </a:r>
          </a:p>
        </p:txBody>
      </p:sp>
      <p:sp>
        <p:nvSpPr>
          <p:cNvPr id="26" name="Rectángulo 25"/>
          <p:cNvSpPr/>
          <p:nvPr/>
        </p:nvSpPr>
        <p:spPr bwMode="auto">
          <a:xfrm>
            <a:off x="16155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HI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1066800" y="1219200"/>
            <a:ext cx="1066800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1327669" y="99060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2432966" y="14478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2432966" y="22860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2432966" y="167640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471833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61" name="Forma libre 60"/>
          <p:cNvSpPr/>
          <p:nvPr/>
        </p:nvSpPr>
        <p:spPr bwMode="auto">
          <a:xfrm>
            <a:off x="2432966" y="2590802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2" name="CuadroTexto 61"/>
          <p:cNvSpPr txBox="1"/>
          <p:nvPr/>
        </p:nvSpPr>
        <p:spPr>
          <a:xfrm>
            <a:off x="2573431" y="2740484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65" name="Rectángulo redondeado 64"/>
          <p:cNvSpPr/>
          <p:nvPr/>
        </p:nvSpPr>
        <p:spPr bwMode="auto">
          <a:xfrm>
            <a:off x="2286000" y="1219200"/>
            <a:ext cx="1066800" cy="2209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6" name="CuadroTexto 65"/>
          <p:cNvSpPr txBox="1"/>
          <p:nvPr/>
        </p:nvSpPr>
        <p:spPr>
          <a:xfrm>
            <a:off x="2257750" y="957590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 1 (FPU)</a:t>
            </a:r>
          </a:p>
        </p:txBody>
      </p:sp>
      <p:sp>
        <p:nvSpPr>
          <p:cNvPr id="67" name="Rectángulo redondeado 66"/>
          <p:cNvSpPr/>
          <p:nvPr/>
        </p:nvSpPr>
        <p:spPr bwMode="auto">
          <a:xfrm>
            <a:off x="1066800" y="3733800"/>
            <a:ext cx="2286000" cy="8382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8" name="Rectángulo 67"/>
          <p:cNvSpPr/>
          <p:nvPr/>
        </p:nvSpPr>
        <p:spPr bwMode="auto">
          <a:xfrm>
            <a:off x="1143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BadVAddr</a:t>
            </a:r>
          </a:p>
        </p:txBody>
      </p:sp>
      <p:sp>
        <p:nvSpPr>
          <p:cNvPr id="69" name="Rectángulo 68"/>
          <p:cNvSpPr/>
          <p:nvPr/>
        </p:nvSpPr>
        <p:spPr bwMode="auto">
          <a:xfrm>
            <a:off x="1143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Status</a:t>
            </a:r>
          </a:p>
        </p:txBody>
      </p:sp>
      <p:sp>
        <p:nvSpPr>
          <p:cNvPr id="70" name="Rectángulo 69"/>
          <p:cNvSpPr/>
          <p:nvPr/>
        </p:nvSpPr>
        <p:spPr bwMode="auto">
          <a:xfrm>
            <a:off x="2286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71" name="Rectángulo 70"/>
          <p:cNvSpPr/>
          <p:nvPr/>
        </p:nvSpPr>
        <p:spPr bwMode="auto">
          <a:xfrm>
            <a:off x="2286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43001" y="3472190"/>
            <a:ext cx="118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Coprocesador 0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1865228" y="370079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6" name="CuadroTexto 45"/>
          <p:cNvSpPr txBox="1"/>
          <p:nvPr/>
        </p:nvSpPr>
        <p:spPr>
          <a:xfrm>
            <a:off x="1356310" y="2667000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73" name="Llamada rectangular redondeada 72"/>
          <p:cNvSpPr/>
          <p:nvPr/>
        </p:nvSpPr>
        <p:spPr bwMode="auto">
          <a:xfrm>
            <a:off x="76200" y="914400"/>
            <a:ext cx="1447800" cy="609600"/>
          </a:xfrm>
          <a:prstGeom prst="wedgeRoundRectCallout">
            <a:avLst>
              <a:gd name="adj1" fmla="val 40353"/>
              <a:gd name="adj2" fmla="val 11384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  <a:p>
            <a:pPr algn="ctr"/>
            <a:endParaRPr lang="es-ES_tradnl" sz="1050" noProof="1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0x00400014  0xa10b0003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0x00400018  0x00004820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0x00a0ff80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77" name="Llamada rectangular redondeada 76"/>
          <p:cNvSpPr/>
          <p:nvPr/>
        </p:nvSpPr>
        <p:spPr bwMode="auto">
          <a:xfrm>
            <a:off x="228600" y="1828800"/>
            <a:ext cx="609600" cy="1524000"/>
          </a:xfrm>
          <a:prstGeom prst="wedgeRoundRectCallout">
            <a:avLst>
              <a:gd name="adj1" fmla="val 124778"/>
              <a:gd name="adj2" fmla="val 612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s-ES_tradnl" sz="1000" noProof="1">
                <a:solidFill>
                  <a:schemeClr val="tx1"/>
                </a:solidFill>
                <a:latin typeface="Courier New"/>
                <a:cs typeface="Courier New"/>
              </a:rPr>
              <a:t>Operación ORI con [$1] y 8192</a:t>
            </a:r>
          </a:p>
        </p:txBody>
      </p:sp>
      <p:sp>
        <p:nvSpPr>
          <p:cNvPr id="48" name="Rectángulo 47"/>
          <p:cNvSpPr/>
          <p:nvPr/>
        </p:nvSpPr>
        <p:spPr bwMode="auto">
          <a:xfrm>
            <a:off x="11430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49" name="Rectángulo 48"/>
          <p:cNvSpPr/>
          <p:nvPr/>
        </p:nvSpPr>
        <p:spPr bwMode="auto">
          <a:xfrm>
            <a:off x="16002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RI</a:t>
            </a:r>
          </a:p>
        </p:txBody>
      </p:sp>
      <p:grpSp>
        <p:nvGrpSpPr>
          <p:cNvPr id="3" name="50 Grupo"/>
          <p:cNvGrpSpPr/>
          <p:nvPr/>
        </p:nvGrpSpPr>
        <p:grpSpPr>
          <a:xfrm>
            <a:off x="0" y="620688"/>
            <a:ext cx="8458200" cy="5503868"/>
            <a:chOff x="0" y="668332"/>
            <a:chExt cx="8458200" cy="5503868"/>
          </a:xfrm>
        </p:grpSpPr>
        <p:sp>
          <p:nvSpPr>
            <p:cNvPr id="78" name="Llamada rectangular redondeada 77"/>
            <p:cNvSpPr/>
            <p:nvPr/>
          </p:nvSpPr>
          <p:spPr bwMode="auto">
            <a:xfrm>
              <a:off x="6477000" y="5562600"/>
              <a:ext cx="1981200" cy="609600"/>
            </a:xfrm>
            <a:prstGeom prst="wedgeRoundRectCallout">
              <a:avLst>
                <a:gd name="adj1" fmla="val -75633"/>
                <a:gd name="adj2" fmla="val -133397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Lectura de la instrucción ubicada en 0x00400004</a:t>
              </a:r>
            </a:p>
          </p:txBody>
        </p:sp>
        <p:sp>
          <p:nvSpPr>
            <p:cNvPr id="80" name="Flecha izquierda 79"/>
            <p:cNvSpPr/>
            <p:nvPr/>
          </p:nvSpPr>
          <p:spPr bwMode="auto">
            <a:xfrm>
              <a:off x="5105400" y="4876800"/>
              <a:ext cx="838200" cy="228600"/>
            </a:xfrm>
            <a:prstGeom prst="leftArrow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50" name="Llamada rectangular redondeada 49"/>
            <p:cNvSpPr/>
            <p:nvPr/>
          </p:nvSpPr>
          <p:spPr bwMode="auto">
            <a:xfrm>
              <a:off x="0" y="3505200"/>
              <a:ext cx="1447800" cy="609600"/>
            </a:xfrm>
            <a:prstGeom prst="wedgeRoundRectCallout">
              <a:avLst>
                <a:gd name="adj1" fmla="val 32166"/>
                <a:gd name="adj2" fmla="val -70873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PC = 0x00400004</a:t>
              </a:r>
            </a:p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RI = 0x34282000</a:t>
              </a:r>
            </a:p>
          </p:txBody>
        </p:sp>
        <p:sp>
          <p:nvSpPr>
            <p:cNvPr id="63" name="Llamada rectangular redondeada 62"/>
            <p:cNvSpPr/>
            <p:nvPr/>
          </p:nvSpPr>
          <p:spPr bwMode="auto">
            <a:xfrm>
              <a:off x="6012160" y="668332"/>
              <a:ext cx="1524000" cy="381000"/>
            </a:xfrm>
            <a:prstGeom prst="wedgeRoundRectCallout">
              <a:avLst>
                <a:gd name="adj1" fmla="val 72225"/>
                <a:gd name="adj2" fmla="val 103162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ori $8, $1, 8192</a:t>
              </a:r>
            </a:p>
          </p:txBody>
        </p:sp>
      </p:grpSp>
      <p:sp>
        <p:nvSpPr>
          <p:cNvPr id="52" name="Llamada rectangular redondeada 72"/>
          <p:cNvSpPr/>
          <p:nvPr/>
        </p:nvSpPr>
        <p:spPr bwMode="auto">
          <a:xfrm>
            <a:off x="107504" y="908720"/>
            <a:ext cx="1447800" cy="609600"/>
          </a:xfrm>
          <a:prstGeom prst="wedgeRoundRectCallout">
            <a:avLst>
              <a:gd name="adj1" fmla="val 40353"/>
              <a:gd name="adj2" fmla="val 11384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$8 = 0x10002000</a:t>
            </a:r>
          </a:p>
        </p:txBody>
      </p:sp>
      <p:sp>
        <p:nvSpPr>
          <p:cNvPr id="53" name="CuadroTexto 53"/>
          <p:cNvSpPr txBox="1"/>
          <p:nvPr/>
        </p:nvSpPr>
        <p:spPr>
          <a:xfrm>
            <a:off x="683568" y="4543521"/>
            <a:ext cx="2647279" cy="1945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la $t0, a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$t1, 0($t0)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$t2, 2($t0)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$t3, $t1, $t2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$t3, 3($t0)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$t1, $0, $0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5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00200" y="0"/>
            <a:ext cx="4096072" cy="936104"/>
          </a:xfrm>
        </p:spPr>
        <p:txBody>
          <a:bodyPr/>
          <a:lstStyle/>
          <a:p>
            <a:r>
              <a:rPr lang="es-ES_tradnl" sz="1800" noProof="1"/>
              <a:t>Ejemplo: Ejecución instrucción 3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35</a:t>
            </a:fld>
            <a:endParaRPr lang="es-ES_tradnl" noProof="1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486678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1219200" y="14478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1219200" y="22860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1219200" y="1676400"/>
            <a:ext cx="7620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1255628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1219200" y="254071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5" name="Rectángulo 24"/>
          <p:cNvSpPr/>
          <p:nvPr/>
        </p:nvSpPr>
        <p:spPr bwMode="auto">
          <a:xfrm>
            <a:off x="11277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LO</a:t>
            </a:r>
          </a:p>
        </p:txBody>
      </p:sp>
      <p:sp>
        <p:nvSpPr>
          <p:cNvPr id="26" name="Rectángulo 25"/>
          <p:cNvSpPr/>
          <p:nvPr/>
        </p:nvSpPr>
        <p:spPr bwMode="auto">
          <a:xfrm>
            <a:off x="16155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HI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1066800" y="1219200"/>
            <a:ext cx="1066800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1327669" y="99060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2432966" y="14478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2432966" y="22860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2432966" y="167640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471833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61" name="Forma libre 60"/>
          <p:cNvSpPr/>
          <p:nvPr/>
        </p:nvSpPr>
        <p:spPr bwMode="auto">
          <a:xfrm>
            <a:off x="2432966" y="2590802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2" name="CuadroTexto 61"/>
          <p:cNvSpPr txBox="1"/>
          <p:nvPr/>
        </p:nvSpPr>
        <p:spPr>
          <a:xfrm>
            <a:off x="2573431" y="2740484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65" name="Rectángulo redondeado 64"/>
          <p:cNvSpPr/>
          <p:nvPr/>
        </p:nvSpPr>
        <p:spPr bwMode="auto">
          <a:xfrm>
            <a:off x="2286000" y="1219200"/>
            <a:ext cx="1066800" cy="2209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6" name="CuadroTexto 65"/>
          <p:cNvSpPr txBox="1"/>
          <p:nvPr/>
        </p:nvSpPr>
        <p:spPr>
          <a:xfrm>
            <a:off x="2257750" y="957590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 1 (FPU)</a:t>
            </a:r>
          </a:p>
        </p:txBody>
      </p:sp>
      <p:sp>
        <p:nvSpPr>
          <p:cNvPr id="67" name="Rectángulo redondeado 66"/>
          <p:cNvSpPr/>
          <p:nvPr/>
        </p:nvSpPr>
        <p:spPr bwMode="auto">
          <a:xfrm>
            <a:off x="1066800" y="3733800"/>
            <a:ext cx="2286000" cy="8382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8" name="Rectángulo 67"/>
          <p:cNvSpPr/>
          <p:nvPr/>
        </p:nvSpPr>
        <p:spPr bwMode="auto">
          <a:xfrm>
            <a:off x="1143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BadVAddr</a:t>
            </a:r>
          </a:p>
        </p:txBody>
      </p:sp>
      <p:sp>
        <p:nvSpPr>
          <p:cNvPr id="69" name="Rectángulo 68"/>
          <p:cNvSpPr/>
          <p:nvPr/>
        </p:nvSpPr>
        <p:spPr bwMode="auto">
          <a:xfrm>
            <a:off x="1143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Status</a:t>
            </a:r>
          </a:p>
        </p:txBody>
      </p:sp>
      <p:sp>
        <p:nvSpPr>
          <p:cNvPr id="70" name="Rectángulo 69"/>
          <p:cNvSpPr/>
          <p:nvPr/>
        </p:nvSpPr>
        <p:spPr bwMode="auto">
          <a:xfrm>
            <a:off x="2286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71" name="Rectángulo 70"/>
          <p:cNvSpPr/>
          <p:nvPr/>
        </p:nvSpPr>
        <p:spPr bwMode="auto">
          <a:xfrm>
            <a:off x="2286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43001" y="3472190"/>
            <a:ext cx="118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Coprocesador 0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1865228" y="370079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6" name="CuadroTexto 45"/>
          <p:cNvSpPr txBox="1"/>
          <p:nvPr/>
        </p:nvSpPr>
        <p:spPr>
          <a:xfrm>
            <a:off x="1356310" y="2694888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73" name="Llamada rectangular redondeada 72"/>
          <p:cNvSpPr/>
          <p:nvPr/>
        </p:nvSpPr>
        <p:spPr bwMode="auto">
          <a:xfrm>
            <a:off x="76200" y="914400"/>
            <a:ext cx="1447800" cy="609600"/>
          </a:xfrm>
          <a:prstGeom prst="wedgeRoundRectCallout">
            <a:avLst>
              <a:gd name="adj1" fmla="val 40353"/>
              <a:gd name="adj2" fmla="val 11384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$8 = 0x10002000</a:t>
            </a:r>
          </a:p>
          <a:p>
            <a:pPr algn="ctr"/>
            <a:endParaRPr lang="es-ES_tradnl" sz="1050" noProof="1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0x00400014  0xa10b0003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0x00400018  0x00004820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0x00a0ff80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0" name="Llamada rectangular redondeada 49"/>
          <p:cNvSpPr/>
          <p:nvPr/>
        </p:nvSpPr>
        <p:spPr bwMode="auto">
          <a:xfrm>
            <a:off x="228600" y="1828800"/>
            <a:ext cx="609600" cy="1524000"/>
          </a:xfrm>
          <a:prstGeom prst="wedgeRoundRectCallout">
            <a:avLst>
              <a:gd name="adj1" fmla="val 120611"/>
              <a:gd name="adj2" fmla="val 5016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s-ES_tradnl" sz="1000" noProof="1">
                <a:solidFill>
                  <a:schemeClr val="tx1"/>
                </a:solidFill>
                <a:latin typeface="Courier New"/>
                <a:cs typeface="Courier New"/>
              </a:rPr>
              <a:t>Operación ADD con [$8] y 0</a:t>
            </a:r>
          </a:p>
        </p:txBody>
      </p:sp>
      <p:sp>
        <p:nvSpPr>
          <p:cNvPr id="55" name="Rectángulo 54"/>
          <p:cNvSpPr/>
          <p:nvPr/>
        </p:nvSpPr>
        <p:spPr bwMode="auto">
          <a:xfrm>
            <a:off x="11430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64" name="Rectángulo 63"/>
          <p:cNvSpPr/>
          <p:nvPr/>
        </p:nvSpPr>
        <p:spPr bwMode="auto">
          <a:xfrm>
            <a:off x="16002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75" name="Llamada rectangular redondeada 74"/>
          <p:cNvSpPr/>
          <p:nvPr/>
        </p:nvSpPr>
        <p:spPr bwMode="auto">
          <a:xfrm>
            <a:off x="0" y="3505200"/>
            <a:ext cx="1447800" cy="609600"/>
          </a:xfrm>
          <a:prstGeom prst="wedgeRoundRectCallout">
            <a:avLst>
              <a:gd name="adj1" fmla="val 32166"/>
              <a:gd name="adj2" fmla="val -708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PC = 0x00400008</a:t>
            </a:r>
          </a:p>
          <a:p>
            <a:pPr algn="ctr"/>
            <a:endParaRPr lang="es-ES_tradnl" sz="1050" noProof="1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7" name="CuadroTexto 53"/>
          <p:cNvSpPr txBox="1"/>
          <p:nvPr/>
        </p:nvSpPr>
        <p:spPr>
          <a:xfrm>
            <a:off x="685800" y="4688919"/>
            <a:ext cx="2647279" cy="212981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la $t0, a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lb $t1, 0($t0)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$t2, 2($t0)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$t3, $t1, $t2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$t3, 3($t0)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$t1, $0, $0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.end</a:t>
            </a:r>
          </a:p>
        </p:txBody>
      </p:sp>
      <p:sp>
        <p:nvSpPr>
          <p:cNvPr id="78" name="CuadroTexto 53"/>
          <p:cNvSpPr txBox="1"/>
          <p:nvPr/>
        </p:nvSpPr>
        <p:spPr>
          <a:xfrm>
            <a:off x="3419873" y="980729"/>
            <a:ext cx="2647279" cy="23144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lui $1, 4096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ori $8, $1,8192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lb $9, 0($8)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$10, 2($8)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$11, $9, $10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$11, 3($8)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$t1, $0, $0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80" name="Llamada rectangular redondeada 11"/>
          <p:cNvSpPr/>
          <p:nvPr/>
        </p:nvSpPr>
        <p:spPr bwMode="auto">
          <a:xfrm>
            <a:off x="500034" y="6172200"/>
            <a:ext cx="2743200" cy="685800"/>
          </a:xfrm>
          <a:prstGeom prst="wedgeRoundRectCallout">
            <a:avLst>
              <a:gd name="adj1" fmla="val -26462"/>
              <a:gd name="adj2" fmla="val -104413"/>
              <a:gd name="adj3" fmla="val 16667"/>
            </a:avLst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1">
                <a:solidFill>
                  <a:schemeClr val="tx1"/>
                </a:solidFill>
              </a:rPr>
              <a:t>Lectura del byte con direccíón $t0+0 y almacenamiento en $t1</a:t>
            </a:r>
          </a:p>
        </p:txBody>
      </p:sp>
      <p:grpSp>
        <p:nvGrpSpPr>
          <p:cNvPr id="3" name="82 Grupo"/>
          <p:cNvGrpSpPr/>
          <p:nvPr/>
        </p:nvGrpSpPr>
        <p:grpSpPr>
          <a:xfrm>
            <a:off x="0" y="908720"/>
            <a:ext cx="8610600" cy="4577680"/>
            <a:chOff x="0" y="908720"/>
            <a:chExt cx="9328150" cy="4577680"/>
          </a:xfrm>
        </p:grpSpPr>
        <p:grpSp>
          <p:nvGrpSpPr>
            <p:cNvPr id="4" name="80 Grupo"/>
            <p:cNvGrpSpPr/>
            <p:nvPr/>
          </p:nvGrpSpPr>
          <p:grpSpPr>
            <a:xfrm>
              <a:off x="5530850" y="908720"/>
              <a:ext cx="3797300" cy="4577680"/>
              <a:chOff x="5530850" y="908720"/>
              <a:chExt cx="3797300" cy="4577680"/>
            </a:xfrm>
          </p:grpSpPr>
          <p:sp>
            <p:nvSpPr>
              <p:cNvPr id="53" name="Flecha izquierda 52"/>
              <p:cNvSpPr/>
              <p:nvPr/>
            </p:nvSpPr>
            <p:spPr bwMode="auto">
              <a:xfrm>
                <a:off x="5530850" y="4648200"/>
                <a:ext cx="908050" cy="228600"/>
              </a:xfrm>
              <a:prstGeom prst="leftArrow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noProof="1"/>
              </a:p>
            </p:txBody>
          </p:sp>
          <p:sp>
            <p:nvSpPr>
              <p:cNvPr id="54" name="Llamada rectangular redondeada 53"/>
              <p:cNvSpPr/>
              <p:nvPr/>
            </p:nvSpPr>
            <p:spPr bwMode="auto">
              <a:xfrm>
                <a:off x="7181850" y="4876800"/>
                <a:ext cx="2146300" cy="609600"/>
              </a:xfrm>
              <a:prstGeom prst="wedgeRoundRectCallout">
                <a:avLst>
                  <a:gd name="adj1" fmla="val -82969"/>
                  <a:gd name="adj2" fmla="val -66879"/>
                  <a:gd name="adj3" fmla="val 16667"/>
                </a:avLst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050" noProof="1">
                    <a:solidFill>
                      <a:schemeClr val="tx1"/>
                    </a:solidFill>
                    <a:latin typeface="Courier New"/>
                    <a:cs typeface="Courier New"/>
                  </a:rPr>
                  <a:t>Lectura de la instrucción ubicada en 0x00400008</a:t>
                </a:r>
              </a:p>
            </p:txBody>
          </p:sp>
          <p:sp>
            <p:nvSpPr>
              <p:cNvPr id="63" name="Llamada rectangular redondeada 62"/>
              <p:cNvSpPr/>
              <p:nvPr/>
            </p:nvSpPr>
            <p:spPr bwMode="auto">
              <a:xfrm>
                <a:off x="6435165" y="908720"/>
                <a:ext cx="1651000" cy="381000"/>
              </a:xfrm>
              <a:prstGeom prst="wedgeRoundRectCallout">
                <a:avLst>
                  <a:gd name="adj1" fmla="val 76435"/>
                  <a:gd name="adj2" fmla="val 73688"/>
                  <a:gd name="adj3" fmla="val 16667"/>
                </a:avLst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s-ES_tradnl" sz="1050" noProof="1">
                    <a:solidFill>
                      <a:srgbClr val="006699"/>
                    </a:solidFill>
                    <a:latin typeface="Courier New"/>
                    <a:cs typeface="Courier New"/>
                  </a:rPr>
                  <a:t>lb $9, 0($8)</a:t>
                </a:r>
              </a:p>
            </p:txBody>
          </p:sp>
        </p:grpSp>
        <p:sp>
          <p:nvSpPr>
            <p:cNvPr id="82" name="Llamada rectangular redondeada 74"/>
            <p:cNvSpPr/>
            <p:nvPr/>
          </p:nvSpPr>
          <p:spPr bwMode="auto">
            <a:xfrm>
              <a:off x="0" y="3500438"/>
              <a:ext cx="1568450" cy="609600"/>
            </a:xfrm>
            <a:prstGeom prst="wedgeRoundRectCallout">
              <a:avLst>
                <a:gd name="adj1" fmla="val 32166"/>
                <a:gd name="adj2" fmla="val -70873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PC = 0x00400008</a:t>
              </a:r>
            </a:p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RI = </a:t>
              </a:r>
              <a:r>
                <a:rPr lang="es-ES_tradnl" sz="1050" noProof="1">
                  <a:solidFill>
                    <a:srgbClr val="FF0000"/>
                  </a:solidFill>
                  <a:latin typeface="Courier New"/>
                  <a:cs typeface="Courier New"/>
                </a:rPr>
                <a:t>0x81090000</a:t>
              </a:r>
            </a:p>
          </p:txBody>
        </p:sp>
      </p:grpSp>
      <p:grpSp>
        <p:nvGrpSpPr>
          <p:cNvPr id="11" name="84 Grupo"/>
          <p:cNvGrpSpPr/>
          <p:nvPr/>
        </p:nvGrpSpPr>
        <p:grpSpPr>
          <a:xfrm>
            <a:off x="87892" y="928670"/>
            <a:ext cx="6792105" cy="5324508"/>
            <a:chOff x="95216" y="928670"/>
            <a:chExt cx="7358114" cy="5324508"/>
          </a:xfrm>
        </p:grpSpPr>
        <p:sp>
          <p:nvSpPr>
            <p:cNvPr id="51" name="Llamada rectangular redondeada 50"/>
            <p:cNvSpPr/>
            <p:nvPr/>
          </p:nvSpPr>
          <p:spPr bwMode="auto">
            <a:xfrm>
              <a:off x="4095744" y="5643578"/>
              <a:ext cx="3357586" cy="609600"/>
            </a:xfrm>
            <a:prstGeom prst="wedgeRoundRectCallout">
              <a:avLst>
                <a:gd name="adj1" fmla="val 2664"/>
                <a:gd name="adj2" fmla="val -139647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Lectura del byte ubicado en 0x10002000</a:t>
              </a:r>
            </a:p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que es 0x80, y se extenderá el signo al almacenarlo (0xFFFFFF80)</a:t>
              </a:r>
            </a:p>
          </p:txBody>
        </p:sp>
        <p:sp>
          <p:nvSpPr>
            <p:cNvPr id="52" name="Flecha izquierda 51"/>
            <p:cNvSpPr/>
            <p:nvPr/>
          </p:nvSpPr>
          <p:spPr bwMode="auto">
            <a:xfrm>
              <a:off x="5530850" y="4876800"/>
              <a:ext cx="908050" cy="228600"/>
            </a:xfrm>
            <a:prstGeom prst="leftArrow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84" name="Llamada rectangular redondeada 72"/>
            <p:cNvSpPr/>
            <p:nvPr/>
          </p:nvSpPr>
          <p:spPr bwMode="auto">
            <a:xfrm>
              <a:off x="95216" y="928670"/>
              <a:ext cx="1568450" cy="609600"/>
            </a:xfrm>
            <a:prstGeom prst="wedgeRoundRectCallout">
              <a:avLst>
                <a:gd name="adj1" fmla="val 40353"/>
                <a:gd name="adj2" fmla="val 113849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$1 = 0x10000000</a:t>
              </a:r>
            </a:p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$8 = 0x10002000</a:t>
              </a:r>
            </a:p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$9 = </a:t>
              </a:r>
              <a:r>
                <a:rPr lang="es-ES_tradnl" sz="1050" noProof="1">
                  <a:solidFill>
                    <a:srgbClr val="FF0000"/>
                  </a:solidFill>
                  <a:latin typeface="Courier New"/>
                  <a:cs typeface="Courier New"/>
                </a:rPr>
                <a:t>0xFFFFFF80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00200" y="0"/>
            <a:ext cx="4096072" cy="936104"/>
          </a:xfrm>
        </p:spPr>
        <p:txBody>
          <a:bodyPr/>
          <a:lstStyle/>
          <a:p>
            <a:r>
              <a:rPr lang="es-ES_tradnl" sz="1800" noProof="1"/>
              <a:t>Ejemplo: Ejecución instrucción 4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36</a:t>
            </a:fld>
            <a:endParaRPr lang="es-ES_tradnl" noProof="1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1219200" y="14478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1219200" y="22860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1219200" y="1676400"/>
            <a:ext cx="7620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1255628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1219200" y="254071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5" name="Rectángulo 24"/>
          <p:cNvSpPr/>
          <p:nvPr/>
        </p:nvSpPr>
        <p:spPr bwMode="auto">
          <a:xfrm>
            <a:off x="11277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LO</a:t>
            </a:r>
          </a:p>
        </p:txBody>
      </p:sp>
      <p:sp>
        <p:nvSpPr>
          <p:cNvPr id="26" name="Rectángulo 25"/>
          <p:cNvSpPr/>
          <p:nvPr/>
        </p:nvSpPr>
        <p:spPr bwMode="auto">
          <a:xfrm>
            <a:off x="16155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HI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1066800" y="1219200"/>
            <a:ext cx="1066800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1327669" y="99060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2432966" y="14478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2432966" y="22860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2432966" y="167640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471833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61" name="Forma libre 60"/>
          <p:cNvSpPr/>
          <p:nvPr/>
        </p:nvSpPr>
        <p:spPr bwMode="auto">
          <a:xfrm>
            <a:off x="2432966" y="2590802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2" name="CuadroTexto 61"/>
          <p:cNvSpPr txBox="1"/>
          <p:nvPr/>
        </p:nvSpPr>
        <p:spPr>
          <a:xfrm>
            <a:off x="2575374" y="2740484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65" name="Rectángulo redondeado 64"/>
          <p:cNvSpPr/>
          <p:nvPr/>
        </p:nvSpPr>
        <p:spPr bwMode="auto">
          <a:xfrm>
            <a:off x="2286000" y="1219200"/>
            <a:ext cx="1066800" cy="2209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6" name="CuadroTexto 65"/>
          <p:cNvSpPr txBox="1"/>
          <p:nvPr/>
        </p:nvSpPr>
        <p:spPr>
          <a:xfrm>
            <a:off x="2257750" y="957590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 1 (FPU)</a:t>
            </a:r>
          </a:p>
        </p:txBody>
      </p:sp>
      <p:sp>
        <p:nvSpPr>
          <p:cNvPr id="67" name="Rectángulo redondeado 66"/>
          <p:cNvSpPr/>
          <p:nvPr/>
        </p:nvSpPr>
        <p:spPr bwMode="auto">
          <a:xfrm>
            <a:off x="1066800" y="3733800"/>
            <a:ext cx="2286000" cy="8382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8" name="Rectángulo 67"/>
          <p:cNvSpPr/>
          <p:nvPr/>
        </p:nvSpPr>
        <p:spPr bwMode="auto">
          <a:xfrm>
            <a:off x="1143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BadVAddr</a:t>
            </a:r>
          </a:p>
        </p:txBody>
      </p:sp>
      <p:sp>
        <p:nvSpPr>
          <p:cNvPr id="69" name="Rectángulo 68"/>
          <p:cNvSpPr/>
          <p:nvPr/>
        </p:nvSpPr>
        <p:spPr bwMode="auto">
          <a:xfrm>
            <a:off x="1143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Status</a:t>
            </a:r>
          </a:p>
        </p:txBody>
      </p:sp>
      <p:sp>
        <p:nvSpPr>
          <p:cNvPr id="70" name="Rectángulo 69"/>
          <p:cNvSpPr/>
          <p:nvPr/>
        </p:nvSpPr>
        <p:spPr bwMode="auto">
          <a:xfrm>
            <a:off x="2286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71" name="Rectángulo 70"/>
          <p:cNvSpPr/>
          <p:nvPr/>
        </p:nvSpPr>
        <p:spPr bwMode="auto">
          <a:xfrm>
            <a:off x="2286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43001" y="3472190"/>
            <a:ext cx="118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Coprocesador 0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1865228" y="370079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6" name="CuadroTexto 45"/>
          <p:cNvSpPr txBox="1"/>
          <p:nvPr/>
        </p:nvSpPr>
        <p:spPr>
          <a:xfrm>
            <a:off x="1358253" y="2694888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73" name="Llamada rectangular redondeada 72"/>
          <p:cNvSpPr/>
          <p:nvPr/>
        </p:nvSpPr>
        <p:spPr bwMode="auto">
          <a:xfrm>
            <a:off x="0" y="685800"/>
            <a:ext cx="1600200" cy="990600"/>
          </a:xfrm>
          <a:prstGeom prst="wedgeRoundRectCallout">
            <a:avLst>
              <a:gd name="adj1" fmla="val 52401"/>
              <a:gd name="adj2" fmla="val 8063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$8 = 0x10002000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$9 = 0xffffff80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$10= 0xffffffa0</a:t>
            </a: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0x00400014  0xa10b0003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0x00400018  0x00004820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0x00a0ff80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49" name="Llamada rectangular redondeada 48"/>
          <p:cNvSpPr/>
          <p:nvPr/>
        </p:nvSpPr>
        <p:spPr bwMode="auto">
          <a:xfrm>
            <a:off x="228600" y="1905000"/>
            <a:ext cx="609600" cy="1524000"/>
          </a:xfrm>
          <a:prstGeom prst="wedgeRoundRectCallout">
            <a:avLst>
              <a:gd name="adj1" fmla="val 126167"/>
              <a:gd name="adj2" fmla="val 571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s-ES_tradnl" sz="1000" noProof="1">
                <a:solidFill>
                  <a:schemeClr val="tx1"/>
                </a:solidFill>
                <a:latin typeface="Courier New"/>
                <a:cs typeface="Courier New"/>
              </a:rPr>
              <a:t>Operación ADD con [$8] y 2</a:t>
            </a:r>
          </a:p>
        </p:txBody>
      </p:sp>
      <p:sp>
        <p:nvSpPr>
          <p:cNvPr id="50" name="Llamada rectangular redondeada 49"/>
          <p:cNvSpPr/>
          <p:nvPr/>
        </p:nvSpPr>
        <p:spPr bwMode="auto">
          <a:xfrm>
            <a:off x="5033599" y="5562600"/>
            <a:ext cx="3424601" cy="609600"/>
          </a:xfrm>
          <a:prstGeom prst="wedgeRoundRectCallout">
            <a:avLst>
              <a:gd name="adj1" fmla="val -36865"/>
              <a:gd name="adj2" fmla="val -124022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Lectura del byte ubicado en 0x10002002, que es 0xa0, y se extiende el signo al almacenarlo (0xFFFFFFA0)</a:t>
            </a:r>
          </a:p>
        </p:txBody>
      </p:sp>
      <p:sp>
        <p:nvSpPr>
          <p:cNvPr id="51" name="Flecha izquierda 50"/>
          <p:cNvSpPr/>
          <p:nvPr/>
        </p:nvSpPr>
        <p:spPr bwMode="auto">
          <a:xfrm>
            <a:off x="5105400" y="4876800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52" name="Flecha izquierda 51"/>
          <p:cNvSpPr/>
          <p:nvPr/>
        </p:nvSpPr>
        <p:spPr bwMode="auto">
          <a:xfrm>
            <a:off x="5105400" y="4648200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53" name="Llamada rectangular redondeada 52"/>
          <p:cNvSpPr/>
          <p:nvPr/>
        </p:nvSpPr>
        <p:spPr bwMode="auto">
          <a:xfrm>
            <a:off x="6629400" y="4876800"/>
            <a:ext cx="1981200" cy="609600"/>
          </a:xfrm>
          <a:prstGeom prst="wedgeRoundRectCallout">
            <a:avLst>
              <a:gd name="adj1" fmla="val -82969"/>
              <a:gd name="adj2" fmla="val -6687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0x0040000C</a:t>
            </a:r>
          </a:p>
        </p:txBody>
      </p:sp>
      <p:sp>
        <p:nvSpPr>
          <p:cNvPr id="54" name="Rectángulo 53"/>
          <p:cNvSpPr/>
          <p:nvPr/>
        </p:nvSpPr>
        <p:spPr bwMode="auto">
          <a:xfrm>
            <a:off x="11430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5" name="Rectángulo 54"/>
          <p:cNvSpPr/>
          <p:nvPr/>
        </p:nvSpPr>
        <p:spPr bwMode="auto">
          <a:xfrm>
            <a:off x="16002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4" name="Llamada rectangular redondeada 63"/>
          <p:cNvSpPr/>
          <p:nvPr/>
        </p:nvSpPr>
        <p:spPr bwMode="auto">
          <a:xfrm>
            <a:off x="0" y="3505200"/>
            <a:ext cx="1447800" cy="609600"/>
          </a:xfrm>
          <a:prstGeom prst="wedgeRoundRectCallout">
            <a:avLst>
              <a:gd name="adj1" fmla="val 32166"/>
              <a:gd name="adj2" fmla="val -708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PC = 0x0040000C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RI = 0x810a0002</a:t>
            </a:r>
          </a:p>
        </p:txBody>
      </p:sp>
      <p:sp>
        <p:nvSpPr>
          <p:cNvPr id="77" name="CuadroTexto 53"/>
          <p:cNvSpPr txBox="1"/>
          <p:nvPr/>
        </p:nvSpPr>
        <p:spPr>
          <a:xfrm>
            <a:off x="3419873" y="980728"/>
            <a:ext cx="2647279" cy="23144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lui $1, 4096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ori $8, $1,8192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lb $9, 0($8)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lb $10, 2($8)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$11, $9, $10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$11, 3($8)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$9, $0, $0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78" name="CuadroTexto 53"/>
          <p:cNvSpPr txBox="1"/>
          <p:nvPr/>
        </p:nvSpPr>
        <p:spPr>
          <a:xfrm>
            <a:off x="683568" y="4543521"/>
            <a:ext cx="2647279" cy="1945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la $t0, a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$t1, 0($t0)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lb $t2, 2($t0)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$t3, $t1, $t2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$t3, 3($t0)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$t1, $0, $0</a:t>
            </a:r>
          </a:p>
        </p:txBody>
      </p:sp>
      <p:sp>
        <p:nvSpPr>
          <p:cNvPr id="63" name="Llamada rectangular redondeada 62"/>
          <p:cNvSpPr/>
          <p:nvPr/>
        </p:nvSpPr>
        <p:spPr bwMode="auto">
          <a:xfrm>
            <a:off x="5940152" y="1052736"/>
            <a:ext cx="1524000" cy="381000"/>
          </a:xfrm>
          <a:prstGeom prst="wedgeRoundRectCallout">
            <a:avLst>
              <a:gd name="adj1" fmla="val 76435"/>
              <a:gd name="adj2" fmla="val 7368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050" noProof="1">
                <a:solidFill>
                  <a:srgbClr val="006699"/>
                </a:solidFill>
                <a:latin typeface="Courier New"/>
                <a:cs typeface="Courier New"/>
              </a:rPr>
              <a:t>lb $10, 2($8)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00200" y="0"/>
            <a:ext cx="4096072" cy="936104"/>
          </a:xfrm>
        </p:spPr>
        <p:txBody>
          <a:bodyPr/>
          <a:lstStyle/>
          <a:p>
            <a:r>
              <a:rPr lang="es-ES_tradnl" sz="1800" noProof="1"/>
              <a:t>Ejemplo: Ejecución instrucción 5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37</a:t>
            </a:fld>
            <a:endParaRPr lang="es-ES_tradnl" noProof="1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486678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542808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1219200" y="14478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1219200" y="22860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1219200" y="1676400"/>
            <a:ext cx="7620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1255628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1219200" y="254071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5" name="Rectángulo 24"/>
          <p:cNvSpPr/>
          <p:nvPr/>
        </p:nvSpPr>
        <p:spPr bwMode="auto">
          <a:xfrm>
            <a:off x="11277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LO</a:t>
            </a:r>
          </a:p>
        </p:txBody>
      </p:sp>
      <p:sp>
        <p:nvSpPr>
          <p:cNvPr id="26" name="Rectángulo 25"/>
          <p:cNvSpPr/>
          <p:nvPr/>
        </p:nvSpPr>
        <p:spPr bwMode="auto">
          <a:xfrm>
            <a:off x="16155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HI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1066800" y="1219200"/>
            <a:ext cx="1066800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1327669" y="99060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2432966" y="14478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2432966" y="22860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2432966" y="167640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471833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61" name="Forma libre 60"/>
          <p:cNvSpPr/>
          <p:nvPr/>
        </p:nvSpPr>
        <p:spPr bwMode="auto">
          <a:xfrm>
            <a:off x="2432966" y="2590802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2" name="CuadroTexto 61"/>
          <p:cNvSpPr txBox="1"/>
          <p:nvPr/>
        </p:nvSpPr>
        <p:spPr>
          <a:xfrm>
            <a:off x="2575374" y="2740484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65" name="Rectángulo redondeado 64"/>
          <p:cNvSpPr/>
          <p:nvPr/>
        </p:nvSpPr>
        <p:spPr bwMode="auto">
          <a:xfrm>
            <a:off x="2286000" y="1219200"/>
            <a:ext cx="1066800" cy="2209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6" name="CuadroTexto 65"/>
          <p:cNvSpPr txBox="1"/>
          <p:nvPr/>
        </p:nvSpPr>
        <p:spPr>
          <a:xfrm>
            <a:off x="2257750" y="957590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 1 (FPU)</a:t>
            </a:r>
          </a:p>
        </p:txBody>
      </p:sp>
      <p:sp>
        <p:nvSpPr>
          <p:cNvPr id="67" name="Rectángulo redondeado 66"/>
          <p:cNvSpPr/>
          <p:nvPr/>
        </p:nvSpPr>
        <p:spPr bwMode="auto">
          <a:xfrm>
            <a:off x="1066800" y="3733800"/>
            <a:ext cx="2286000" cy="8382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8" name="Rectángulo 67"/>
          <p:cNvSpPr/>
          <p:nvPr/>
        </p:nvSpPr>
        <p:spPr bwMode="auto">
          <a:xfrm>
            <a:off x="1143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BadVAddr</a:t>
            </a:r>
          </a:p>
        </p:txBody>
      </p:sp>
      <p:sp>
        <p:nvSpPr>
          <p:cNvPr id="69" name="Rectángulo 68"/>
          <p:cNvSpPr/>
          <p:nvPr/>
        </p:nvSpPr>
        <p:spPr bwMode="auto">
          <a:xfrm>
            <a:off x="1143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Status</a:t>
            </a:r>
          </a:p>
        </p:txBody>
      </p:sp>
      <p:sp>
        <p:nvSpPr>
          <p:cNvPr id="70" name="Rectángulo 69"/>
          <p:cNvSpPr/>
          <p:nvPr/>
        </p:nvSpPr>
        <p:spPr bwMode="auto">
          <a:xfrm>
            <a:off x="2286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71" name="Rectángulo 70"/>
          <p:cNvSpPr/>
          <p:nvPr/>
        </p:nvSpPr>
        <p:spPr bwMode="auto">
          <a:xfrm>
            <a:off x="2286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43001" y="3472190"/>
            <a:ext cx="118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Coprocesador 0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1865228" y="370079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6" name="CuadroTexto 45"/>
          <p:cNvSpPr txBox="1"/>
          <p:nvPr/>
        </p:nvSpPr>
        <p:spPr>
          <a:xfrm>
            <a:off x="1358253" y="2694888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73" name="Llamada rectangular redondeada 72"/>
          <p:cNvSpPr/>
          <p:nvPr/>
        </p:nvSpPr>
        <p:spPr bwMode="auto">
          <a:xfrm>
            <a:off x="0" y="685800"/>
            <a:ext cx="1600200" cy="990600"/>
          </a:xfrm>
          <a:prstGeom prst="wedgeRoundRectCallout">
            <a:avLst>
              <a:gd name="adj1" fmla="val 52401"/>
              <a:gd name="adj2" fmla="val 8063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$8 = 0x10002000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$9 = 0xffffff80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$10= 0xffffffa0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$11= 0xffffff20</a:t>
            </a: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0x00400014  0xa10b0003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0x00400018  0x00004820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0x00a0ff80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49" name="Llamada rectangular redondeada 48"/>
          <p:cNvSpPr/>
          <p:nvPr/>
        </p:nvSpPr>
        <p:spPr bwMode="auto">
          <a:xfrm>
            <a:off x="228600" y="1905000"/>
            <a:ext cx="609600" cy="1524000"/>
          </a:xfrm>
          <a:prstGeom prst="wedgeRoundRectCallout">
            <a:avLst>
              <a:gd name="adj1" fmla="val 126167"/>
              <a:gd name="adj2" fmla="val 334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s-ES_tradnl" sz="1000" noProof="1">
                <a:solidFill>
                  <a:schemeClr val="tx1"/>
                </a:solidFill>
                <a:latin typeface="Courier New"/>
                <a:cs typeface="Courier New"/>
              </a:rPr>
              <a:t>Operación ADD con [$9] y [$10]</a:t>
            </a:r>
          </a:p>
        </p:txBody>
      </p:sp>
      <p:sp>
        <p:nvSpPr>
          <p:cNvPr id="50" name="Llamada rectangular redondeada 49"/>
          <p:cNvSpPr/>
          <p:nvPr/>
        </p:nvSpPr>
        <p:spPr bwMode="auto">
          <a:xfrm>
            <a:off x="6477000" y="5562600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0x00400010</a:t>
            </a:r>
          </a:p>
        </p:txBody>
      </p:sp>
      <p:sp>
        <p:nvSpPr>
          <p:cNvPr id="51" name="Flecha izquierda 50"/>
          <p:cNvSpPr/>
          <p:nvPr/>
        </p:nvSpPr>
        <p:spPr bwMode="auto">
          <a:xfrm>
            <a:off x="5105400" y="4876800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8" name="Rectángulo 47"/>
          <p:cNvSpPr/>
          <p:nvPr/>
        </p:nvSpPr>
        <p:spPr bwMode="auto">
          <a:xfrm>
            <a:off x="11430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/>
          <p:cNvSpPr/>
          <p:nvPr/>
        </p:nvSpPr>
        <p:spPr bwMode="auto">
          <a:xfrm>
            <a:off x="16002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53" name="Llamada rectangular redondeada 52"/>
          <p:cNvSpPr/>
          <p:nvPr/>
        </p:nvSpPr>
        <p:spPr bwMode="auto">
          <a:xfrm>
            <a:off x="0" y="3505200"/>
            <a:ext cx="1447800" cy="609600"/>
          </a:xfrm>
          <a:prstGeom prst="wedgeRoundRectCallout">
            <a:avLst>
              <a:gd name="adj1" fmla="val 32166"/>
              <a:gd name="adj2" fmla="val -708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PC = 0x00400010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RI = 0x012a5820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683568" y="4543521"/>
            <a:ext cx="2647279" cy="1945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la $t0, a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$t1, 0($t0)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$t2, 2($t0)</a:t>
            </a:r>
          </a:p>
          <a:p>
            <a:pPr algn="l"/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   add $t3, $t1, $t2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$t3, 3($t0)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$t1, $0, $0</a:t>
            </a:r>
          </a:p>
        </p:txBody>
      </p:sp>
      <p:sp>
        <p:nvSpPr>
          <p:cNvPr id="55" name="CuadroTexto 53"/>
          <p:cNvSpPr txBox="1"/>
          <p:nvPr/>
        </p:nvSpPr>
        <p:spPr>
          <a:xfrm>
            <a:off x="3419873" y="980728"/>
            <a:ext cx="2647279" cy="23144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lui $1, 4096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ori $8, $1,8192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lb $9, 0($8)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$10, 2($8)</a:t>
            </a:r>
          </a:p>
          <a:p>
            <a:pPr algn="l"/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   add $11, $9, $10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$11, 3($8)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$9, $0, $0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</a:t>
            </a:r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63" name="Llamada rectangular redondeada 62"/>
          <p:cNvSpPr/>
          <p:nvPr/>
        </p:nvSpPr>
        <p:spPr bwMode="auto">
          <a:xfrm>
            <a:off x="6012160" y="1196752"/>
            <a:ext cx="1524000" cy="381000"/>
          </a:xfrm>
          <a:prstGeom prst="wedgeRoundRectCallout">
            <a:avLst>
              <a:gd name="adj1" fmla="val 72225"/>
              <a:gd name="adj2" fmla="val 98951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050" noProof="1">
                <a:solidFill>
                  <a:srgbClr val="006699"/>
                </a:solidFill>
                <a:latin typeface="Courier New"/>
                <a:cs typeface="Courier New"/>
              </a:rPr>
              <a:t>add $11, $9, $10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00200" y="0"/>
            <a:ext cx="4096072" cy="936104"/>
          </a:xfrm>
        </p:spPr>
        <p:txBody>
          <a:bodyPr/>
          <a:lstStyle/>
          <a:p>
            <a:r>
              <a:rPr lang="es-ES_tradnl" sz="1800" noProof="1"/>
              <a:t>Ejemplo: Ejecución instrucción 6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38</a:t>
            </a:fld>
            <a:endParaRPr lang="es-ES_tradnl" noProof="1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486678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639346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1219200" y="14478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1219200" y="2286000"/>
            <a:ext cx="762000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1219200" y="1676400"/>
            <a:ext cx="7620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1255628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1219200" y="254071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5" name="Rectángulo 24"/>
          <p:cNvSpPr/>
          <p:nvPr/>
        </p:nvSpPr>
        <p:spPr bwMode="auto">
          <a:xfrm>
            <a:off x="11277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LO</a:t>
            </a:r>
          </a:p>
        </p:txBody>
      </p:sp>
      <p:sp>
        <p:nvSpPr>
          <p:cNvPr id="26" name="Rectángulo 25"/>
          <p:cNvSpPr/>
          <p:nvPr/>
        </p:nvSpPr>
        <p:spPr bwMode="auto">
          <a:xfrm>
            <a:off x="16155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HI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1066800" y="1219200"/>
            <a:ext cx="1066800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1327669" y="99060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2432966" y="14478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2432966" y="22860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2432966" y="167640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471833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61" name="Forma libre 60"/>
          <p:cNvSpPr/>
          <p:nvPr/>
        </p:nvSpPr>
        <p:spPr bwMode="auto">
          <a:xfrm>
            <a:off x="2432966" y="2590802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2" name="CuadroTexto 61"/>
          <p:cNvSpPr txBox="1"/>
          <p:nvPr/>
        </p:nvSpPr>
        <p:spPr>
          <a:xfrm>
            <a:off x="2575374" y="2740484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65" name="Rectángulo redondeado 64"/>
          <p:cNvSpPr/>
          <p:nvPr/>
        </p:nvSpPr>
        <p:spPr bwMode="auto">
          <a:xfrm>
            <a:off x="2286000" y="1219200"/>
            <a:ext cx="1066800" cy="2209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6" name="CuadroTexto 65"/>
          <p:cNvSpPr txBox="1"/>
          <p:nvPr/>
        </p:nvSpPr>
        <p:spPr>
          <a:xfrm>
            <a:off x="2257750" y="957590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 1 (FPU)</a:t>
            </a:r>
          </a:p>
        </p:txBody>
      </p:sp>
      <p:sp>
        <p:nvSpPr>
          <p:cNvPr id="67" name="Rectángulo redondeado 66"/>
          <p:cNvSpPr/>
          <p:nvPr/>
        </p:nvSpPr>
        <p:spPr bwMode="auto">
          <a:xfrm>
            <a:off x="1066800" y="3733800"/>
            <a:ext cx="2286000" cy="8382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8" name="Rectángulo 67"/>
          <p:cNvSpPr/>
          <p:nvPr/>
        </p:nvSpPr>
        <p:spPr bwMode="auto">
          <a:xfrm>
            <a:off x="1143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BadVAddr</a:t>
            </a:r>
          </a:p>
        </p:txBody>
      </p:sp>
      <p:sp>
        <p:nvSpPr>
          <p:cNvPr id="69" name="Rectángulo 68"/>
          <p:cNvSpPr/>
          <p:nvPr/>
        </p:nvSpPr>
        <p:spPr bwMode="auto">
          <a:xfrm>
            <a:off x="1143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Status</a:t>
            </a:r>
          </a:p>
        </p:txBody>
      </p:sp>
      <p:sp>
        <p:nvSpPr>
          <p:cNvPr id="70" name="Rectángulo 69"/>
          <p:cNvSpPr/>
          <p:nvPr/>
        </p:nvSpPr>
        <p:spPr bwMode="auto">
          <a:xfrm>
            <a:off x="2286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71" name="Rectángulo 70"/>
          <p:cNvSpPr/>
          <p:nvPr/>
        </p:nvSpPr>
        <p:spPr bwMode="auto">
          <a:xfrm>
            <a:off x="2286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43001" y="3472190"/>
            <a:ext cx="118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Coprocesador 0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1865228" y="370079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6" name="CuadroTexto 45"/>
          <p:cNvSpPr txBox="1"/>
          <p:nvPr/>
        </p:nvSpPr>
        <p:spPr>
          <a:xfrm>
            <a:off x="1358253" y="2694888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73" name="Llamada rectangular redondeada 72"/>
          <p:cNvSpPr/>
          <p:nvPr/>
        </p:nvSpPr>
        <p:spPr bwMode="auto">
          <a:xfrm>
            <a:off x="0" y="685800"/>
            <a:ext cx="1600200" cy="990600"/>
          </a:xfrm>
          <a:prstGeom prst="wedgeRoundRectCallout">
            <a:avLst>
              <a:gd name="adj1" fmla="val 52401"/>
              <a:gd name="adj2" fmla="val 8063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$8 = 0x10002000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$9 = 0xffffff80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$10= 0xffffffa0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$11= 0xffffff20</a:t>
            </a: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0x00400014  0xa10b0003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0x00400018  0x00004820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0x20a0ff80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49" name="Llamada rectangular redondeada 48"/>
          <p:cNvSpPr/>
          <p:nvPr/>
        </p:nvSpPr>
        <p:spPr bwMode="auto">
          <a:xfrm>
            <a:off x="228600" y="1828800"/>
            <a:ext cx="609600" cy="1524000"/>
          </a:xfrm>
          <a:prstGeom prst="wedgeRoundRectCallout">
            <a:avLst>
              <a:gd name="adj1" fmla="val 128945"/>
              <a:gd name="adj2" fmla="val 723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s-ES_tradnl" sz="1000" noProof="1">
                <a:solidFill>
                  <a:schemeClr val="tx1"/>
                </a:solidFill>
                <a:latin typeface="Courier New"/>
                <a:cs typeface="Courier New"/>
              </a:rPr>
              <a:t>Operación ADD con [$8] y 3</a:t>
            </a:r>
          </a:p>
        </p:txBody>
      </p:sp>
      <p:grpSp>
        <p:nvGrpSpPr>
          <p:cNvPr id="3" name="79 Grupo"/>
          <p:cNvGrpSpPr/>
          <p:nvPr/>
        </p:nvGrpSpPr>
        <p:grpSpPr>
          <a:xfrm>
            <a:off x="4176343" y="4876800"/>
            <a:ext cx="4281857" cy="1295400"/>
            <a:chOff x="4524372" y="4876800"/>
            <a:chExt cx="4638678" cy="1295400"/>
          </a:xfrm>
        </p:grpSpPr>
        <p:sp>
          <p:nvSpPr>
            <p:cNvPr id="50" name="Llamada rectangular redondeada 49"/>
            <p:cNvSpPr/>
            <p:nvPr/>
          </p:nvSpPr>
          <p:spPr bwMode="auto">
            <a:xfrm>
              <a:off x="4524372" y="5562600"/>
              <a:ext cx="4638678" cy="609600"/>
            </a:xfrm>
            <a:prstGeom prst="wedgeRoundRectCallout">
              <a:avLst>
                <a:gd name="adj1" fmla="val -20192"/>
                <a:gd name="adj2" fmla="val -124022"/>
                <a:gd name="adj3" fmla="val 16667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Escritura de byte en la dirección 0x10002003,</a:t>
              </a:r>
            </a:p>
            <a:p>
              <a:pPr algn="ctr"/>
              <a:r>
                <a:rPr lang="es-ES_tradnl" sz="1050" noProof="1">
                  <a:solidFill>
                    <a:schemeClr val="tx1"/>
                  </a:solidFill>
                  <a:latin typeface="Courier New"/>
                  <a:cs typeface="Courier New"/>
                </a:rPr>
                <a:t>Con el byte de menos peso de $11, que es 0x20</a:t>
              </a:r>
            </a:p>
          </p:txBody>
        </p:sp>
        <p:sp>
          <p:nvSpPr>
            <p:cNvPr id="51" name="Flecha izquierda 50"/>
            <p:cNvSpPr/>
            <p:nvPr/>
          </p:nvSpPr>
          <p:spPr bwMode="auto">
            <a:xfrm flipH="1">
              <a:off x="5530850" y="4876800"/>
              <a:ext cx="908050" cy="228600"/>
            </a:xfrm>
            <a:prstGeom prst="leftArrow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</p:grpSp>
      <p:sp>
        <p:nvSpPr>
          <p:cNvPr id="52" name="Flecha izquierda 51"/>
          <p:cNvSpPr/>
          <p:nvPr/>
        </p:nvSpPr>
        <p:spPr bwMode="auto">
          <a:xfrm>
            <a:off x="5105400" y="4648200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53" name="Llamada rectangular redondeada 52"/>
          <p:cNvSpPr/>
          <p:nvPr/>
        </p:nvSpPr>
        <p:spPr bwMode="auto">
          <a:xfrm>
            <a:off x="6629400" y="4876800"/>
            <a:ext cx="1981200" cy="609600"/>
          </a:xfrm>
          <a:prstGeom prst="wedgeRoundRectCallout">
            <a:avLst>
              <a:gd name="adj1" fmla="val -82969"/>
              <a:gd name="adj2" fmla="val -6687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0x00400014</a:t>
            </a:r>
          </a:p>
        </p:txBody>
      </p:sp>
      <p:sp>
        <p:nvSpPr>
          <p:cNvPr id="54" name="Rectángulo 53"/>
          <p:cNvSpPr/>
          <p:nvPr/>
        </p:nvSpPr>
        <p:spPr bwMode="auto">
          <a:xfrm>
            <a:off x="11430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5" name="Rectángulo 54"/>
          <p:cNvSpPr/>
          <p:nvPr/>
        </p:nvSpPr>
        <p:spPr bwMode="auto">
          <a:xfrm>
            <a:off x="16002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4" name="Llamada rectangular redondeada 63"/>
          <p:cNvSpPr/>
          <p:nvPr/>
        </p:nvSpPr>
        <p:spPr bwMode="auto">
          <a:xfrm>
            <a:off x="0" y="3505200"/>
            <a:ext cx="1447800" cy="609600"/>
          </a:xfrm>
          <a:prstGeom prst="wedgeRoundRectCallout">
            <a:avLst>
              <a:gd name="adj1" fmla="val 32166"/>
              <a:gd name="adj2" fmla="val -708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PC = 0x00400014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RI = 0xa10b0003</a:t>
            </a:r>
          </a:p>
        </p:txBody>
      </p:sp>
      <p:sp>
        <p:nvSpPr>
          <p:cNvPr id="75" name="CuadroTexto 74"/>
          <p:cNvSpPr txBox="1"/>
          <p:nvPr/>
        </p:nvSpPr>
        <p:spPr>
          <a:xfrm>
            <a:off x="683568" y="4437113"/>
            <a:ext cx="2647279" cy="1945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la $t0, a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$t1, 0($t0)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$t2, 2($t0)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$t3, $t1, $t2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sb $t3, 3($t0)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$t1, $0, $0</a:t>
            </a:r>
          </a:p>
        </p:txBody>
      </p:sp>
      <p:sp>
        <p:nvSpPr>
          <p:cNvPr id="77" name="CuadroTexto 53"/>
          <p:cNvSpPr txBox="1"/>
          <p:nvPr/>
        </p:nvSpPr>
        <p:spPr>
          <a:xfrm>
            <a:off x="3419873" y="980729"/>
            <a:ext cx="2647279" cy="23514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lui $1, 4096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ori $8, $1,8192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lb $9, 0($8)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$10, 2($8)</a:t>
            </a:r>
          </a:p>
          <a:p>
            <a:pPr algn="l"/>
            <a:r>
              <a:rPr lang="es-ES_tradnl" sz="1200" b="1" noProof="1">
                <a:solidFill>
                  <a:srgbClr val="006699"/>
                </a:solidFill>
                <a:latin typeface="Courier New"/>
                <a:cs typeface="Courier New"/>
              </a:rPr>
              <a:t>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add $11, $9, $10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sb $11, 3($8)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$9, $0, $0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</a:t>
            </a:r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63" name="Llamada rectangular redondeada 62"/>
          <p:cNvSpPr/>
          <p:nvPr/>
        </p:nvSpPr>
        <p:spPr bwMode="auto">
          <a:xfrm>
            <a:off x="5940152" y="1484784"/>
            <a:ext cx="1524000" cy="381000"/>
          </a:xfrm>
          <a:prstGeom prst="wedgeRoundRectCallout">
            <a:avLst>
              <a:gd name="adj1" fmla="val 76435"/>
              <a:gd name="adj2" fmla="val 7368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050" noProof="1">
                <a:solidFill>
                  <a:srgbClr val="006699"/>
                </a:solidFill>
                <a:latin typeface="Courier New"/>
                <a:cs typeface="Courier New"/>
              </a:rPr>
              <a:t>sb $11, 3($8)</a:t>
            </a:r>
          </a:p>
        </p:txBody>
      </p:sp>
      <p:sp>
        <p:nvSpPr>
          <p:cNvPr id="78" name="Llamada rectangular redondeada 14"/>
          <p:cNvSpPr/>
          <p:nvPr/>
        </p:nvSpPr>
        <p:spPr bwMode="auto">
          <a:xfrm>
            <a:off x="615434" y="6172200"/>
            <a:ext cx="3429024" cy="685800"/>
          </a:xfrm>
          <a:prstGeom prst="wedgeRoundRectCallout">
            <a:avLst>
              <a:gd name="adj1" fmla="val 719"/>
              <a:gd name="adj2" fmla="val -65020"/>
              <a:gd name="adj3" fmla="val 16667"/>
            </a:avLst>
          </a:prstGeom>
          <a:gradFill flip="none" rotWithShape="1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Almacena el byte de menor peso de $t3 en memoria, en la dirección resultado de sumar $t0 y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00200" y="0"/>
            <a:ext cx="4096072" cy="936104"/>
          </a:xfrm>
        </p:spPr>
        <p:txBody>
          <a:bodyPr/>
          <a:lstStyle/>
          <a:p>
            <a:r>
              <a:rPr lang="es-ES_tradnl" sz="1800" noProof="1"/>
              <a:t>Ejemplo: Ejecución instrucción 7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39</a:t>
            </a:fld>
            <a:endParaRPr lang="es-ES_tradnl" noProof="1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293603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1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1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1219200" y="144780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1219200" y="228600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1219200" y="1676400"/>
            <a:ext cx="762000" cy="609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1255628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1219200" y="254071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_tradnl" noProof="1">
              <a:solidFill>
                <a:schemeClr val="lt1"/>
              </a:solidFill>
            </a:endParaRPr>
          </a:p>
        </p:txBody>
      </p:sp>
      <p:sp>
        <p:nvSpPr>
          <p:cNvPr id="25" name="Rectángulo 24"/>
          <p:cNvSpPr/>
          <p:nvPr/>
        </p:nvSpPr>
        <p:spPr bwMode="auto">
          <a:xfrm>
            <a:off x="11277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LO</a:t>
            </a:r>
          </a:p>
        </p:txBody>
      </p:sp>
      <p:sp>
        <p:nvSpPr>
          <p:cNvPr id="26" name="Rectángulo 25"/>
          <p:cNvSpPr/>
          <p:nvPr/>
        </p:nvSpPr>
        <p:spPr bwMode="auto">
          <a:xfrm>
            <a:off x="1615500" y="2971800"/>
            <a:ext cx="4572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HI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1066800" y="1219200"/>
            <a:ext cx="1066800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CuadroTexto 43"/>
          <p:cNvSpPr txBox="1"/>
          <p:nvPr/>
        </p:nvSpPr>
        <p:spPr>
          <a:xfrm>
            <a:off x="1327669" y="99060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2432966" y="14478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2432966" y="228600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$31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2432966" y="167640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s-ES_tradnl" sz="1400" noProof="1">
                <a:solidFill>
                  <a:srgbClr val="000000"/>
                </a:solidFill>
              </a:rPr>
              <a:t>.</a:t>
            </a:r>
          </a:p>
          <a:p>
            <a:pPr algn="ctr"/>
            <a:endParaRPr lang="es-ES_tradnl" sz="1400" noProof="1">
              <a:solidFill>
                <a:srgbClr val="00000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471833" y="121920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61" name="Forma libre 60"/>
          <p:cNvSpPr/>
          <p:nvPr/>
        </p:nvSpPr>
        <p:spPr bwMode="auto">
          <a:xfrm>
            <a:off x="2432966" y="2590802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2" name="CuadroTexto 61"/>
          <p:cNvSpPr txBox="1"/>
          <p:nvPr/>
        </p:nvSpPr>
        <p:spPr>
          <a:xfrm>
            <a:off x="2575374" y="2740484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65" name="Rectángulo redondeado 64"/>
          <p:cNvSpPr/>
          <p:nvPr/>
        </p:nvSpPr>
        <p:spPr bwMode="auto">
          <a:xfrm>
            <a:off x="2286000" y="1219200"/>
            <a:ext cx="1066800" cy="2209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6" name="CuadroTexto 65"/>
          <p:cNvSpPr txBox="1"/>
          <p:nvPr/>
        </p:nvSpPr>
        <p:spPr>
          <a:xfrm>
            <a:off x="2257750" y="957590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 1 (FPU)</a:t>
            </a:r>
          </a:p>
        </p:txBody>
      </p:sp>
      <p:sp>
        <p:nvSpPr>
          <p:cNvPr id="67" name="Rectángulo redondeado 66"/>
          <p:cNvSpPr/>
          <p:nvPr/>
        </p:nvSpPr>
        <p:spPr bwMode="auto">
          <a:xfrm>
            <a:off x="1066800" y="3733800"/>
            <a:ext cx="2286000" cy="8382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68" name="Rectángulo 67"/>
          <p:cNvSpPr/>
          <p:nvPr/>
        </p:nvSpPr>
        <p:spPr bwMode="auto">
          <a:xfrm>
            <a:off x="1143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BadVAddr</a:t>
            </a:r>
          </a:p>
        </p:txBody>
      </p:sp>
      <p:sp>
        <p:nvSpPr>
          <p:cNvPr id="69" name="Rectángulo 68"/>
          <p:cNvSpPr/>
          <p:nvPr/>
        </p:nvSpPr>
        <p:spPr bwMode="auto">
          <a:xfrm>
            <a:off x="1143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Status</a:t>
            </a:r>
          </a:p>
        </p:txBody>
      </p:sp>
      <p:sp>
        <p:nvSpPr>
          <p:cNvPr id="70" name="Rectángulo 69"/>
          <p:cNvSpPr/>
          <p:nvPr/>
        </p:nvSpPr>
        <p:spPr bwMode="auto">
          <a:xfrm>
            <a:off x="2286000" y="39624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71" name="Rectángulo 70"/>
          <p:cNvSpPr/>
          <p:nvPr/>
        </p:nvSpPr>
        <p:spPr bwMode="auto">
          <a:xfrm>
            <a:off x="2286000" y="4191000"/>
            <a:ext cx="9906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43001" y="3472190"/>
            <a:ext cx="118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Coprocesador 0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1865228" y="3700790"/>
            <a:ext cx="725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6" name="CuadroTexto 45"/>
          <p:cNvSpPr txBox="1"/>
          <p:nvPr/>
        </p:nvSpPr>
        <p:spPr>
          <a:xfrm>
            <a:off x="1358253" y="2694888"/>
            <a:ext cx="4475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>
              <a:solidFill>
                <a:schemeClr val="tx1"/>
              </a:solidFill>
            </a:endParaRPr>
          </a:p>
        </p:txBody>
      </p:sp>
      <p:sp>
        <p:nvSpPr>
          <p:cNvPr id="73" name="Llamada rectangular redondeada 72"/>
          <p:cNvSpPr/>
          <p:nvPr/>
        </p:nvSpPr>
        <p:spPr bwMode="auto">
          <a:xfrm>
            <a:off x="0" y="685800"/>
            <a:ext cx="1600200" cy="990600"/>
          </a:xfrm>
          <a:prstGeom prst="wedgeRoundRectCallout">
            <a:avLst>
              <a:gd name="adj1" fmla="val 52401"/>
              <a:gd name="adj2" fmla="val 8063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 = 0x10000000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$8 = 0x10002000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$9 = 0x00000000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$10= 0xffffffa0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$11= 0xffffff20</a:t>
            </a: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0x00400000  0x3c011000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0x00400004  0x34282000  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0x00400008  0x81090000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0x0040000C  0x810a0002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0x00400010  0x012a5820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0x00400014  0xa10b0003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0x00400018  0x00004820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noProof="1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0x10002000  0x20a0ff80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noProof="1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0" name="Llamada rectangular redondeada 49"/>
          <p:cNvSpPr/>
          <p:nvPr/>
        </p:nvSpPr>
        <p:spPr bwMode="auto">
          <a:xfrm>
            <a:off x="6477000" y="5562600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0x00400018</a:t>
            </a:r>
          </a:p>
        </p:txBody>
      </p:sp>
      <p:sp>
        <p:nvSpPr>
          <p:cNvPr id="51" name="Flecha izquierda 50"/>
          <p:cNvSpPr/>
          <p:nvPr/>
        </p:nvSpPr>
        <p:spPr bwMode="auto">
          <a:xfrm>
            <a:off x="5105400" y="4876800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8" name="Rectángulo 47"/>
          <p:cNvSpPr/>
          <p:nvPr/>
        </p:nvSpPr>
        <p:spPr bwMode="auto">
          <a:xfrm>
            <a:off x="11430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49" name="Rectángulo 48"/>
          <p:cNvSpPr/>
          <p:nvPr/>
        </p:nvSpPr>
        <p:spPr bwMode="auto">
          <a:xfrm>
            <a:off x="1600200" y="324273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52" name="Llamada rectangular redondeada 51"/>
          <p:cNvSpPr/>
          <p:nvPr/>
        </p:nvSpPr>
        <p:spPr bwMode="auto">
          <a:xfrm>
            <a:off x="0" y="3505200"/>
            <a:ext cx="1447800" cy="609600"/>
          </a:xfrm>
          <a:prstGeom prst="wedgeRoundRectCallout">
            <a:avLst>
              <a:gd name="adj1" fmla="val 32166"/>
              <a:gd name="adj2" fmla="val -708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PC = 0x00400018</a:t>
            </a:r>
          </a:p>
          <a:p>
            <a:pPr algn="ctr"/>
            <a:r>
              <a:rPr lang="es-ES_tradnl" sz="1050" noProof="1">
                <a:solidFill>
                  <a:schemeClr val="tx1"/>
                </a:solidFill>
                <a:latin typeface="Courier New"/>
                <a:cs typeface="Courier New"/>
              </a:rPr>
              <a:t>RI = 0x00004820</a:t>
            </a:r>
          </a:p>
        </p:txBody>
      </p:sp>
      <p:sp>
        <p:nvSpPr>
          <p:cNvPr id="53" name="Llamada rectangular redondeada 52"/>
          <p:cNvSpPr/>
          <p:nvPr/>
        </p:nvSpPr>
        <p:spPr bwMode="auto">
          <a:xfrm>
            <a:off x="228600" y="1905000"/>
            <a:ext cx="609600" cy="1524000"/>
          </a:xfrm>
          <a:prstGeom prst="wedgeRoundRectCallout">
            <a:avLst>
              <a:gd name="adj1" fmla="val 127556"/>
              <a:gd name="adj2" fmla="val 1682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s-ES_tradnl" sz="1000" noProof="1">
                <a:solidFill>
                  <a:schemeClr val="tx1"/>
                </a:solidFill>
                <a:latin typeface="Courier New"/>
                <a:cs typeface="Courier New"/>
              </a:rPr>
              <a:t>Operación ADD con [$0] y [$0]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683568" y="4543521"/>
            <a:ext cx="2647279" cy="1945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la $t0, a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$t1, 0($t0)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$t2, 2($t0)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add $t3, $t1, $t2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$t3, 3($t0)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add $t1, $0, $0</a:t>
            </a:r>
          </a:p>
        </p:txBody>
      </p:sp>
      <p:sp>
        <p:nvSpPr>
          <p:cNvPr id="55" name="CuadroTexto 53"/>
          <p:cNvSpPr txBox="1"/>
          <p:nvPr/>
        </p:nvSpPr>
        <p:spPr>
          <a:xfrm>
            <a:off x="3419873" y="980729"/>
            <a:ext cx="2647279" cy="23514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.data 0x10002000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a:  .byte 0x80, 0xFF, 0xA0, 0x00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c:  .word -1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.text 0x00400000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lui $1, 4096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ori $8, $1,8192</a:t>
            </a:r>
          </a:p>
          <a:p>
            <a:pPr algn="l"/>
            <a:r>
              <a:rPr lang="es-ES_tradnl" sz="1000" b="1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lb $9, 0($8)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lb $10, 2($8)</a:t>
            </a:r>
          </a:p>
          <a:p>
            <a:pPr algn="l"/>
            <a:r>
              <a:rPr lang="es-ES_tradnl" sz="1200" b="1" noProof="1">
                <a:solidFill>
                  <a:srgbClr val="006699"/>
                </a:solidFill>
                <a:latin typeface="Courier New"/>
                <a:cs typeface="Courier New"/>
              </a:rPr>
              <a:t>   </a:t>
            </a:r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add $11, $9, $10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sb $11, 3($8)</a:t>
            </a:r>
          </a:p>
          <a:p>
            <a:pPr algn="l"/>
            <a:r>
              <a:rPr lang="es-ES_tradnl" sz="1000" noProof="1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200" b="1" noProof="1">
                <a:solidFill>
                  <a:srgbClr val="FF0000"/>
                </a:solidFill>
                <a:latin typeface="Courier New"/>
                <a:cs typeface="Courier New"/>
              </a:rPr>
              <a:t>add $9, $0, $0</a:t>
            </a:r>
          </a:p>
          <a:p>
            <a:pPr algn="l"/>
            <a:r>
              <a:rPr lang="es-ES_tradnl" sz="10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63" name="Llamada rectangular redondeada 62"/>
          <p:cNvSpPr/>
          <p:nvPr/>
        </p:nvSpPr>
        <p:spPr bwMode="auto">
          <a:xfrm>
            <a:off x="6084168" y="1700808"/>
            <a:ext cx="1524000" cy="381000"/>
          </a:xfrm>
          <a:prstGeom prst="wedgeRoundRectCallout">
            <a:avLst>
              <a:gd name="adj1" fmla="val 76435"/>
              <a:gd name="adj2" fmla="val 73688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050" noProof="1">
                <a:solidFill>
                  <a:srgbClr val="006699"/>
                </a:solidFill>
                <a:latin typeface="Courier New"/>
                <a:cs typeface="Courier New"/>
              </a:rPr>
              <a:t>add $9, $0, $0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1165-0E1E-523D-6624-3FE1C62A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677A9-FD19-8DFA-6853-E757C9E6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A865C5-E7FF-3B3A-76D1-0CE0E4020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s-ES_tradnl" dirty="0">
                <a:solidFill>
                  <a:srgbClr val="C00000"/>
                </a:solidFill>
              </a:rPr>
              <a:t>HASTA AQUÍ, TODAS LAS TRANSPARENCIAS DE LA TRAZA DE EJECUCION ESTAN PENDIENTES DE ADAPTAR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F231615-01B6-AE21-33C3-FF8919BB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Curso 2011-2012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9BB77A-96D7-F119-E232-929C708D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76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noProof="1">
                <a:latin typeface="Arial" panose="020B0604020202020204" pitchFamily="34" charset="0"/>
                <a:cs typeface="Arial" panose="020B0604020202020204" pitchFamily="34" charset="0"/>
              </a:rPr>
              <a:t>2 – La ruta de datos del procesador MONOCICLO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Diseño del procesador monociclo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Elección del juego de instrucciones a ejecutar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Subconjunto del juego de instrucciones del RISC-V</a:t>
            </a:r>
          </a:p>
          <a:p>
            <a:pPr lvl="3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Carga/almacenamiento: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lw, sw</a:t>
            </a:r>
          </a:p>
          <a:p>
            <a:pPr lvl="3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Aritméticas y comparación: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add, sub, and, or, slt</a:t>
            </a:r>
          </a:p>
          <a:p>
            <a:pPr lvl="3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Salto: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endParaRPr lang="es-ES_tradnl" sz="1400" noProof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Ciclo único de reloj  → </a:t>
            </a:r>
            <a:r>
              <a:rPr lang="es-ES_tradnl" i="1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Monociclo</a:t>
            </a:r>
            <a:endParaRPr lang="es-ES_tradnl" sz="1800" i="1" noProof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Combinación de elementos lógicos sencillos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Circuitos: puertas, decodificadores, multiplexores,  ALU,…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Circuitos secuenciales: biestables, registros, banco de registros, memoria,…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_tradnl" sz="1800" b="1" noProof="1">
                <a:latin typeface="Arial" panose="020B0604020202020204" pitchFamily="34" charset="0"/>
                <a:cs typeface="Arial" panose="020B0604020202020204" pitchFamily="34" charset="0"/>
              </a:rPr>
              <a:t>prestaciones</a:t>
            </a: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 dependen del número de instrucciones que ejecuta por unidad de tiempo y de la duración del ciclo de reloj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Objetivo inicial: Ejecutar una instrucción por ciclo y reducir el ciclo de reloj</a:t>
            </a:r>
          </a:p>
          <a:p>
            <a:pPr lvl="2">
              <a:buNone/>
            </a:pPr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41</a:t>
            </a:fld>
            <a:endParaRPr lang="es-ES_tradnl" noProof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El procesador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Etapas en el diseño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Diseñar la ruta de datos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Seleccionar los elementos necesarios para la ejecución de las instrucciones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Interconectar los elementos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Diseñar la unidad de control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Identificar las señales de control necesarias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Diseñar la lógica asociada a cada señal</a:t>
            </a:r>
          </a:p>
          <a:p>
            <a:pPr lvl="2">
              <a:buNone/>
            </a:pPr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42</a:t>
            </a:fld>
            <a:endParaRPr lang="es-ES_tradnl" noProof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2227262"/>
          </a:xfrm>
        </p:spPr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Definición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Combinación de elementos combinacionales, secuenciales y su interconexión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Permite el flujo de la información que debe transformarse como consecuencia de la ejecución de una instrucción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43</a:t>
            </a:fld>
            <a:endParaRPr lang="es-ES_tradnl" noProof="1"/>
          </a:p>
        </p:txBody>
      </p:sp>
      <p:grpSp>
        <p:nvGrpSpPr>
          <p:cNvPr id="6" name="Agrupar 5"/>
          <p:cNvGrpSpPr/>
          <p:nvPr/>
        </p:nvGrpSpPr>
        <p:grpSpPr>
          <a:xfrm>
            <a:off x="5029200" y="3352800"/>
            <a:ext cx="2939732" cy="2725540"/>
            <a:chOff x="5334000" y="2667000"/>
            <a:chExt cx="2939732" cy="2725540"/>
          </a:xfrm>
        </p:grpSpPr>
        <p:sp>
          <p:nvSpPr>
            <p:cNvPr id="7" name="Freeform 7"/>
            <p:cNvSpPr>
              <a:spLocks/>
            </p:cNvSpPr>
            <p:nvPr/>
          </p:nvSpPr>
          <p:spPr bwMode="auto">
            <a:xfrm rot="16200000">
              <a:off x="6248400" y="2667000"/>
              <a:ext cx="457200" cy="1371600"/>
            </a:xfrm>
            <a:custGeom>
              <a:avLst/>
              <a:gdLst>
                <a:gd name="T0" fmla="*/ 0 w 528"/>
                <a:gd name="T1" fmla="*/ 2147483647 h 960"/>
                <a:gd name="T2" fmla="*/ 0 w 528"/>
                <a:gd name="T3" fmla="*/ 2147483647 h 960"/>
                <a:gd name="T4" fmla="*/ 2147483647 w 528"/>
                <a:gd name="T5" fmla="*/ 2147483647 h 960"/>
                <a:gd name="T6" fmla="*/ 2147483647 w 528"/>
                <a:gd name="T7" fmla="*/ 2147483647 h 960"/>
                <a:gd name="T8" fmla="*/ 0 w 528"/>
                <a:gd name="T9" fmla="*/ 0 h 960"/>
                <a:gd name="T10" fmla="*/ 0 w 528"/>
                <a:gd name="T11" fmla="*/ 2147483647 h 960"/>
                <a:gd name="T12" fmla="*/ 2147483647 w 528"/>
                <a:gd name="T13" fmla="*/ 2147483647 h 960"/>
                <a:gd name="T14" fmla="*/ 0 w 528"/>
                <a:gd name="T15" fmla="*/ 2147483647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atte">
              <a:bevelT w="13500" h="13500" prst="angle"/>
              <a:bevelB w="13500" h="13500" prst="angle"/>
              <a:extrusionClr>
                <a:srgbClr val="DDDDDD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8" name="Rectangle 126"/>
            <p:cNvSpPr>
              <a:spLocks noChangeArrowheads="1"/>
            </p:cNvSpPr>
            <p:nvPr/>
          </p:nvSpPr>
          <p:spPr bwMode="auto">
            <a:xfrm>
              <a:off x="5791200" y="4114800"/>
              <a:ext cx="609600" cy="914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9" name="Line 127"/>
            <p:cNvSpPr>
              <a:spLocks noChangeShapeType="1"/>
            </p:cNvSpPr>
            <p:nvPr/>
          </p:nvSpPr>
          <p:spPr bwMode="auto">
            <a:xfrm flipV="1">
              <a:off x="6477000" y="26670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0" name="Line 128"/>
            <p:cNvSpPr>
              <a:spLocks noChangeShapeType="1"/>
            </p:cNvSpPr>
            <p:nvPr/>
          </p:nvSpPr>
          <p:spPr bwMode="auto">
            <a:xfrm flipH="1">
              <a:off x="5334000" y="2667000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1" name="Line 129"/>
            <p:cNvSpPr>
              <a:spLocks noChangeShapeType="1"/>
            </p:cNvSpPr>
            <p:nvPr/>
          </p:nvSpPr>
          <p:spPr bwMode="auto">
            <a:xfrm>
              <a:off x="5334000" y="2667000"/>
              <a:ext cx="0" cy="2590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2" name="Line 130"/>
            <p:cNvSpPr>
              <a:spLocks noChangeShapeType="1"/>
            </p:cNvSpPr>
            <p:nvPr/>
          </p:nvSpPr>
          <p:spPr bwMode="auto">
            <a:xfrm>
              <a:off x="5334000" y="52578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3" name="Line 131"/>
            <p:cNvSpPr>
              <a:spLocks noChangeShapeType="1"/>
            </p:cNvSpPr>
            <p:nvPr/>
          </p:nvSpPr>
          <p:spPr bwMode="auto">
            <a:xfrm flipV="1">
              <a:off x="6096000" y="5029200"/>
              <a:ext cx="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4" name="AutoShape 133"/>
            <p:cNvSpPr>
              <a:spLocks noChangeArrowheads="1"/>
            </p:cNvSpPr>
            <p:nvPr/>
          </p:nvSpPr>
          <p:spPr bwMode="auto">
            <a:xfrm>
              <a:off x="6553200" y="3733800"/>
              <a:ext cx="609600" cy="1524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5" name="Line 134"/>
            <p:cNvSpPr>
              <a:spLocks noChangeShapeType="1"/>
            </p:cNvSpPr>
            <p:nvPr/>
          </p:nvSpPr>
          <p:spPr bwMode="auto">
            <a:xfrm flipV="1">
              <a:off x="6096000" y="35814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6" name="Line 135"/>
            <p:cNvSpPr>
              <a:spLocks noChangeShapeType="1"/>
            </p:cNvSpPr>
            <p:nvPr/>
          </p:nvSpPr>
          <p:spPr bwMode="auto">
            <a:xfrm flipV="1">
              <a:off x="6858000" y="3581400"/>
              <a:ext cx="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7" name="Line 137"/>
            <p:cNvSpPr>
              <a:spLocks noChangeShapeType="1"/>
            </p:cNvSpPr>
            <p:nvPr/>
          </p:nvSpPr>
          <p:spPr bwMode="auto">
            <a:xfrm>
              <a:off x="6096000" y="4038600"/>
              <a:ext cx="685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8" name="Line 138"/>
            <p:cNvSpPr>
              <a:spLocks noChangeShapeType="1"/>
            </p:cNvSpPr>
            <p:nvPr/>
          </p:nvSpPr>
          <p:spPr bwMode="auto">
            <a:xfrm flipV="1">
              <a:off x="6781800" y="3886200"/>
              <a:ext cx="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9" name="Line 139"/>
            <p:cNvSpPr>
              <a:spLocks noChangeShapeType="1"/>
            </p:cNvSpPr>
            <p:nvPr/>
          </p:nvSpPr>
          <p:spPr bwMode="auto">
            <a:xfrm flipV="1">
              <a:off x="7010400" y="3886200"/>
              <a:ext cx="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0" name="Line 140"/>
            <p:cNvSpPr>
              <a:spLocks noChangeShapeType="1"/>
            </p:cNvSpPr>
            <p:nvPr/>
          </p:nvSpPr>
          <p:spPr bwMode="auto">
            <a:xfrm>
              <a:off x="5791200" y="44958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1" name="Line 141"/>
            <p:cNvSpPr>
              <a:spLocks noChangeShapeType="1"/>
            </p:cNvSpPr>
            <p:nvPr/>
          </p:nvSpPr>
          <p:spPr bwMode="auto">
            <a:xfrm>
              <a:off x="5791200" y="46482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2" name="Line 142"/>
            <p:cNvSpPr>
              <a:spLocks noChangeShapeType="1"/>
            </p:cNvSpPr>
            <p:nvPr/>
          </p:nvSpPr>
          <p:spPr bwMode="auto">
            <a:xfrm>
              <a:off x="5791200" y="4800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3" name="Line 143"/>
            <p:cNvSpPr>
              <a:spLocks noChangeShapeType="1"/>
            </p:cNvSpPr>
            <p:nvPr/>
          </p:nvSpPr>
          <p:spPr bwMode="auto">
            <a:xfrm>
              <a:off x="5791200" y="43434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4" name="Text Box 145"/>
            <p:cNvSpPr txBox="1">
              <a:spLocks noChangeArrowheads="1"/>
            </p:cNvSpPr>
            <p:nvPr/>
          </p:nvSpPr>
          <p:spPr bwMode="auto">
            <a:xfrm>
              <a:off x="6215949" y="3116263"/>
              <a:ext cx="60465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1"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25" name="Text Box 146"/>
            <p:cNvSpPr txBox="1">
              <a:spLocks noChangeArrowheads="1"/>
            </p:cNvSpPr>
            <p:nvPr/>
          </p:nvSpPr>
          <p:spPr bwMode="auto">
            <a:xfrm>
              <a:off x="6107984" y="5084763"/>
              <a:ext cx="142859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1">
                  <a:cs typeface="Arial" panose="020B0604020202020204" pitchFamily="34" charset="0"/>
                </a:rPr>
                <a:t>Banco registros</a:t>
              </a:r>
            </a:p>
          </p:txBody>
        </p:sp>
        <p:sp>
          <p:nvSpPr>
            <p:cNvPr id="26" name="Text Box 147"/>
            <p:cNvSpPr txBox="1">
              <a:spLocks noChangeArrowheads="1"/>
            </p:cNvSpPr>
            <p:nvPr/>
          </p:nvSpPr>
          <p:spPr bwMode="auto">
            <a:xfrm>
              <a:off x="7223443" y="3636963"/>
              <a:ext cx="105028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1">
                  <a:cs typeface="Arial" panose="020B0604020202020204" pitchFamily="34" charset="0"/>
                </a:rPr>
                <a:t>multiplexor</a:t>
              </a:r>
            </a:p>
          </p:txBody>
        </p:sp>
        <p:sp>
          <p:nvSpPr>
            <p:cNvPr id="27" name="Text Box 148"/>
            <p:cNvSpPr txBox="1">
              <a:spLocks noChangeArrowheads="1"/>
            </p:cNvSpPr>
            <p:nvPr/>
          </p:nvSpPr>
          <p:spPr bwMode="auto">
            <a:xfrm>
              <a:off x="6966610" y="4435475"/>
              <a:ext cx="979756" cy="566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1">
                  <a:cs typeface="Arial" panose="020B0604020202020204" pitchFamily="34" charset="0"/>
                </a:rPr>
                <a:t>Operando</a:t>
              </a:r>
            </a:p>
            <a:p>
              <a:r>
                <a:rPr lang="es-ES_tradnl" sz="1400" noProof="1">
                  <a:cs typeface="Arial" panose="020B0604020202020204" pitchFamily="34" charset="0"/>
                </a:rPr>
                <a:t>inmediato</a:t>
              </a:r>
            </a:p>
          </p:txBody>
        </p:sp>
      </p:grpSp>
      <p:sp>
        <p:nvSpPr>
          <p:cNvPr id="28" name="CuadroTexto 27"/>
          <p:cNvSpPr txBox="1"/>
          <p:nvPr/>
        </p:nvSpPr>
        <p:spPr>
          <a:xfrm>
            <a:off x="5022942" y="6172200"/>
            <a:ext cx="2749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Ejemplo de ruta de datos simple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Sincronización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1" y="1125538"/>
            <a:ext cx="8610600" cy="5256212"/>
          </a:xfrm>
        </p:spPr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Sincronización: cuándo pueden leerse y escribirse la información en los elementos de almacenamiento del procesador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Cuándo y cómo deben activarse las señales de control responsables de estas acciones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Asumimos sincronización </a:t>
            </a:r>
            <a:r>
              <a:rPr lang="es-ES_tradnl" sz="2000" b="1" noProof="1">
                <a:latin typeface="Arial" panose="020B0604020202020204" pitchFamily="34" charset="0"/>
                <a:cs typeface="Arial" panose="020B0604020202020204" pitchFamily="34" charset="0"/>
              </a:rPr>
              <a:t>por flanco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Cualquier valor almacenado se actualiza únicamente en un flanco de reloj</a:t>
            </a:r>
          </a:p>
          <a:p>
            <a:r>
              <a:rPr lang="es-ES_tradnl" sz="2000" b="1" noProof="1">
                <a:latin typeface="Arial" panose="020B0604020202020204" pitchFamily="34" charset="0"/>
                <a:cs typeface="Arial" panose="020B0604020202020204" pitchFamily="34" charset="0"/>
              </a:rPr>
              <a:t>Ciclo de reloj </a:t>
            </a: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define el tiempo de propagación necesario entre dos elementos</a:t>
            </a:r>
          </a:p>
          <a:p>
            <a:pPr lvl="1">
              <a:buNone/>
            </a:pPr>
            <a:endParaRPr lang="es-ES_tradnl" noProof="1"/>
          </a:p>
          <a:p>
            <a:pPr lvl="1"/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z="900" noProof="1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44</a:t>
            </a:fld>
            <a:endParaRPr lang="es-ES_tradnl" sz="9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Line 51"/>
          <p:cNvSpPr>
            <a:spLocks noChangeShapeType="1"/>
          </p:cNvSpPr>
          <p:nvPr/>
        </p:nvSpPr>
        <p:spPr bwMode="auto">
          <a:xfrm>
            <a:off x="6629400" y="5029200"/>
            <a:ext cx="623888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1">
              <a:cs typeface="Arial" panose="020B0604020202020204" pitchFamily="34" charset="0"/>
            </a:endParaRPr>
          </a:p>
        </p:txBody>
      </p:sp>
      <p:sp>
        <p:nvSpPr>
          <p:cNvPr id="8" name="Oval 44"/>
          <p:cNvSpPr>
            <a:spLocks noChangeArrowheads="1"/>
          </p:cNvSpPr>
          <p:nvPr/>
        </p:nvSpPr>
        <p:spPr bwMode="blackWhite">
          <a:xfrm>
            <a:off x="2895600" y="4572000"/>
            <a:ext cx="2146300" cy="876300"/>
          </a:xfrm>
          <a:prstGeom prst="ellipse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>
            <a:outerShdw blurRad="63500" dist="107763" dir="13500000" sx="75000" sy="75000" algn="tl" rotWithShape="0">
              <a:schemeClr val="bg2">
                <a:alpha val="50000"/>
              </a:scheme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s-ES_tradnl" sz="1400" b="1" i="1" noProof="1">
                <a:cs typeface="Arial" panose="020B0604020202020204" pitchFamily="34" charset="0"/>
              </a:rPr>
              <a:t>Circuito</a:t>
            </a:r>
          </a:p>
          <a:p>
            <a:pPr algn="ctr" eaLnBrk="0" hangingPunct="0">
              <a:defRPr/>
            </a:pPr>
            <a:r>
              <a:rPr lang="es-ES_tradnl" sz="1400" b="1" i="1" noProof="1">
                <a:cs typeface="Arial" panose="020B0604020202020204" pitchFamily="34" charset="0"/>
              </a:rPr>
              <a:t>combinacional</a:t>
            </a:r>
            <a:endParaRPr lang="es-ES_tradnl" sz="1400" noProof="1">
              <a:cs typeface="Arial" panose="020B0604020202020204" pitchFamily="34" charset="0"/>
            </a:endParaRPr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blackWhite">
          <a:xfrm>
            <a:off x="5672138" y="4724400"/>
            <a:ext cx="1241425" cy="10001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blurRad="63500" dist="107763" dir="13500000" sx="75000" sy="75000" algn="tl" rotWithShape="0">
              <a:schemeClr val="bg2">
                <a:alpha val="50000"/>
              </a:scheme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s-ES_tradnl" sz="1400" b="1" i="1" noProof="1">
                <a:cs typeface="Arial" panose="020B0604020202020204" pitchFamily="34" charset="0"/>
              </a:rPr>
              <a:t>Elemento </a:t>
            </a:r>
          </a:p>
          <a:p>
            <a:pPr algn="ctr" eaLnBrk="0" hangingPunct="0">
              <a:defRPr/>
            </a:pPr>
            <a:r>
              <a:rPr lang="es-ES_tradnl" sz="1400" b="1" i="1" noProof="1">
                <a:cs typeface="Arial" panose="020B0604020202020204" pitchFamily="34" charset="0"/>
              </a:rPr>
              <a:t> 2</a:t>
            </a:r>
            <a:endParaRPr lang="es-ES_tradnl" sz="1400" noProof="1">
              <a:cs typeface="Arial" panose="020B0604020202020204" pitchFamily="34" charset="0"/>
            </a:endParaRPr>
          </a:p>
        </p:txBody>
      </p:sp>
      <p:sp>
        <p:nvSpPr>
          <p:cNvPr id="10" name="Line 46"/>
          <p:cNvSpPr>
            <a:spLocks noChangeShapeType="1"/>
          </p:cNvSpPr>
          <p:nvPr/>
        </p:nvSpPr>
        <p:spPr bwMode="auto">
          <a:xfrm>
            <a:off x="2438400" y="5029200"/>
            <a:ext cx="4079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1">
              <a:cs typeface="Arial" panose="020B0604020202020204" pitchFamily="34" charset="0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038725" y="5013325"/>
            <a:ext cx="623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1">
              <a:cs typeface="Arial" panose="020B0604020202020204" pitchFamily="34" charset="0"/>
            </a:endParaRPr>
          </a:p>
        </p:txBody>
      </p:sp>
      <p:sp>
        <p:nvSpPr>
          <p:cNvPr id="12" name="Text Box 54"/>
          <p:cNvSpPr txBox="1">
            <a:spLocks noChangeArrowheads="1"/>
          </p:cNvSpPr>
          <p:nvPr/>
        </p:nvSpPr>
        <p:spPr bwMode="auto">
          <a:xfrm>
            <a:off x="7162800" y="4648200"/>
            <a:ext cx="152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i="1" noProof="1">
                <a:cs typeface="Arial" panose="020B0604020202020204" pitchFamily="34" charset="0"/>
              </a:rPr>
              <a:t>Resultado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i="1" noProof="1">
                <a:cs typeface="Arial" panose="020B0604020202020204" pitchFamily="34" charset="0"/>
              </a:rPr>
              <a:t>disponible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i="1" noProof="1">
                <a:cs typeface="Arial" panose="020B0604020202020204" pitchFamily="34" charset="0"/>
              </a:rPr>
              <a:t>tras flanco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572000" y="6288088"/>
            <a:ext cx="2711450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noProof="1">
                <a:cs typeface="Arial" panose="020B0604020202020204" pitchFamily="34" charset="0"/>
              </a:rPr>
              <a:t>Ciclo de reloj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438400" y="6553200"/>
            <a:ext cx="4160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1"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 flipH="1">
            <a:off x="1746250" y="6099175"/>
            <a:ext cx="5434013" cy="341313"/>
          </a:xfrm>
          <a:custGeom>
            <a:avLst/>
            <a:gdLst>
              <a:gd name="T0" fmla="*/ 0 w 3888"/>
              <a:gd name="T1" fmla="*/ 341313 h 528"/>
              <a:gd name="T2" fmla="*/ 603779 w 3888"/>
              <a:gd name="T3" fmla="*/ 341313 h 528"/>
              <a:gd name="T4" fmla="*/ 603779 w 3888"/>
              <a:gd name="T5" fmla="*/ 0 h 528"/>
              <a:gd name="T6" fmla="*/ 2750550 w 3888"/>
              <a:gd name="T7" fmla="*/ 0 h 528"/>
              <a:gd name="T8" fmla="*/ 2750550 w 3888"/>
              <a:gd name="T9" fmla="*/ 341313 h 528"/>
              <a:gd name="T10" fmla="*/ 4763147 w 3888"/>
              <a:gd name="T11" fmla="*/ 341313 h 528"/>
              <a:gd name="T12" fmla="*/ 4763147 w 3888"/>
              <a:gd name="T13" fmla="*/ 0 h 528"/>
              <a:gd name="T14" fmla="*/ 5434013 w 3888"/>
              <a:gd name="T15" fmla="*/ 0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88"/>
              <a:gd name="T25" fmla="*/ 0 h 528"/>
              <a:gd name="T26" fmla="*/ 3888 w 3888"/>
              <a:gd name="T27" fmla="*/ 528 h 52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88" h="528">
                <a:moveTo>
                  <a:pt x="0" y="528"/>
                </a:moveTo>
                <a:lnTo>
                  <a:pt x="432" y="528"/>
                </a:lnTo>
                <a:lnTo>
                  <a:pt x="432" y="0"/>
                </a:lnTo>
                <a:lnTo>
                  <a:pt x="1968" y="0"/>
                </a:lnTo>
                <a:lnTo>
                  <a:pt x="1968" y="528"/>
                </a:lnTo>
                <a:lnTo>
                  <a:pt x="3408" y="528"/>
                </a:lnTo>
                <a:lnTo>
                  <a:pt x="3408" y="0"/>
                </a:lnTo>
                <a:lnTo>
                  <a:pt x="3888" y="0"/>
                </a:ln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1">
              <a:cs typeface="Arial" panose="020B0604020202020204" pitchFamily="34" charset="0"/>
            </a:endParaRPr>
          </a:p>
        </p:txBody>
      </p:sp>
      <p:sp>
        <p:nvSpPr>
          <p:cNvPr id="16" name="Text Box 50"/>
          <p:cNvSpPr txBox="1">
            <a:spLocks noChangeArrowheads="1"/>
          </p:cNvSpPr>
          <p:nvPr/>
        </p:nvSpPr>
        <p:spPr bwMode="auto">
          <a:xfrm>
            <a:off x="1066800" y="6097588"/>
            <a:ext cx="1082675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1400" b="1" noProof="1">
                <a:cs typeface="Arial" panose="020B0604020202020204" pitchFamily="34" charset="0"/>
              </a:rPr>
              <a:t>Reloj</a:t>
            </a:r>
          </a:p>
        </p:txBody>
      </p:sp>
      <p:sp>
        <p:nvSpPr>
          <p:cNvPr id="7" name="Text Box 43"/>
          <p:cNvSpPr txBox="1">
            <a:spLocks noChangeArrowheads="1"/>
          </p:cNvSpPr>
          <p:nvPr/>
        </p:nvSpPr>
        <p:spPr bwMode="blackWhite">
          <a:xfrm>
            <a:off x="990600" y="4800599"/>
            <a:ext cx="1447800" cy="9239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blurRad="63500" dist="107763" dir="13500000" sx="75000" sy="75000" algn="tl" rotWithShape="0">
              <a:schemeClr val="bg2">
                <a:alpha val="50000"/>
              </a:scheme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s-ES_tradnl" sz="1400" b="1" i="1" noProof="1">
                <a:cs typeface="Arial" panose="020B0604020202020204" pitchFamily="34" charset="0"/>
              </a:rPr>
              <a:t>Elemento </a:t>
            </a:r>
          </a:p>
          <a:p>
            <a:pPr algn="ctr" eaLnBrk="0" hangingPunct="0">
              <a:defRPr/>
            </a:pPr>
            <a:r>
              <a:rPr lang="es-ES_tradnl" sz="1400" b="1" i="1" noProof="1">
                <a:cs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Sincronización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1" y="1049338"/>
            <a:ext cx="8610600" cy="1008062"/>
          </a:xfrm>
        </p:spPr>
        <p:txBody>
          <a:bodyPr/>
          <a:lstStyle/>
          <a:p>
            <a:r>
              <a:rPr lang="es-ES_tradnl" noProof="1"/>
              <a:t>Un elemento puede ser leído y escrito en el mismo ciclo de reloj</a:t>
            </a:r>
          </a:p>
          <a:p>
            <a:endParaRPr lang="es-ES_tradnl" noProof="1"/>
          </a:p>
          <a:p>
            <a:endParaRPr lang="es-ES_tradnl" noProof="1"/>
          </a:p>
          <a:p>
            <a:endParaRPr lang="es-ES_tradnl" noProof="1"/>
          </a:p>
          <a:p>
            <a:endParaRPr lang="es-ES_tradnl" noProof="1"/>
          </a:p>
          <a:p>
            <a:r>
              <a:rPr lang="es-ES_tradnl" noProof="1"/>
              <a:t>Ejemplo de funcionamiento</a:t>
            </a:r>
          </a:p>
          <a:p>
            <a:pPr lvl="1">
              <a:buNone/>
            </a:pPr>
            <a:endParaRPr lang="es-ES_tradnl" noProof="1"/>
          </a:p>
          <a:p>
            <a:pPr lvl="1"/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45</a:t>
            </a:fld>
            <a:endParaRPr lang="es-ES_tradnl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" name="Agrupar 53"/>
          <p:cNvGrpSpPr/>
          <p:nvPr/>
        </p:nvGrpSpPr>
        <p:grpSpPr>
          <a:xfrm>
            <a:off x="2590800" y="1971675"/>
            <a:ext cx="4876800" cy="1152525"/>
            <a:chOff x="2438400" y="2428875"/>
            <a:chExt cx="4876800" cy="1152525"/>
          </a:xfrm>
        </p:grpSpPr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2438400" y="28956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2438400" y="2895600"/>
              <a:ext cx="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2438400" y="3581400"/>
              <a:ext cx="487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V="1">
              <a:off x="7315200" y="28194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 flipH="1">
              <a:off x="6858000" y="28194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4114800" y="2895600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3" name="Oval 44"/>
            <p:cNvSpPr>
              <a:spLocks noChangeArrowheads="1"/>
            </p:cNvSpPr>
            <p:nvPr/>
          </p:nvSpPr>
          <p:spPr bwMode="blackWhite">
            <a:xfrm>
              <a:off x="4724400" y="2438400"/>
              <a:ext cx="2146300" cy="8763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63500" dist="107763" dir="13500000" sx="75000" sy="75000" algn="tl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s-ES_tradnl" sz="1600" b="1" i="1" noProof="1">
                  <a:cs typeface="Arial" panose="020B0604020202020204" pitchFamily="34" charset="0"/>
                </a:rPr>
                <a:t>Circuito</a:t>
              </a:r>
            </a:p>
            <a:p>
              <a:pPr algn="ctr" eaLnBrk="0" hangingPunct="0">
                <a:defRPr/>
              </a:pPr>
              <a:r>
                <a:rPr lang="es-ES_tradnl" sz="1600" b="1" i="1" noProof="1">
                  <a:cs typeface="Arial" panose="020B0604020202020204" pitchFamily="34" charset="0"/>
                </a:rPr>
                <a:t>combinacional</a:t>
              </a:r>
              <a:endParaRPr lang="es-ES_tradnl" sz="1600" noProof="1">
                <a:cs typeface="Arial" panose="020B0604020202020204" pitchFamily="34" charset="0"/>
              </a:endParaRPr>
            </a:p>
          </p:txBody>
        </p:sp>
        <p:sp>
          <p:nvSpPr>
            <p:cNvPr id="24" name="Text Box 43"/>
            <p:cNvSpPr txBox="1">
              <a:spLocks noChangeArrowheads="1"/>
            </p:cNvSpPr>
            <p:nvPr/>
          </p:nvSpPr>
          <p:spPr bwMode="blackWhite">
            <a:xfrm>
              <a:off x="2895600" y="2428875"/>
              <a:ext cx="1222375" cy="923925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>
              <a:outerShdw blurRad="63500" dist="107763" dir="13500000" sx="75000" sy="75000" algn="tl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s-ES_tradnl" sz="1600" b="1" i="1" noProof="1">
                  <a:cs typeface="Arial" panose="020B0604020202020204" pitchFamily="34" charset="0"/>
                </a:rPr>
                <a:t>Elemento </a:t>
              </a:r>
            </a:p>
            <a:p>
              <a:pPr algn="ctr" eaLnBrk="0" hangingPunct="0">
                <a:defRPr/>
              </a:pPr>
              <a:r>
                <a:rPr lang="es-ES_tradnl" sz="1600" b="1" i="1" noProof="1">
                  <a:cs typeface="Arial" panose="020B0604020202020204" pitchFamily="34" charset="0"/>
                </a:rPr>
                <a:t>de estado</a:t>
              </a:r>
              <a:endParaRPr lang="es-ES_tradnl" sz="1600" noProof="1">
                <a:cs typeface="Arial" panose="020B0604020202020204" pitchFamily="34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27D56018-73D2-4D66-AAFE-D028635E5573}"/>
              </a:ext>
            </a:extLst>
          </p:cNvPr>
          <p:cNvGrpSpPr/>
          <p:nvPr/>
        </p:nvGrpSpPr>
        <p:grpSpPr>
          <a:xfrm>
            <a:off x="1619672" y="3824034"/>
            <a:ext cx="6999310" cy="2766814"/>
            <a:chOff x="1763690" y="3810000"/>
            <a:chExt cx="6999310" cy="2766814"/>
          </a:xfrm>
        </p:grpSpPr>
        <p:sp>
          <p:nvSpPr>
            <p:cNvPr id="25" name="Text Box 532"/>
            <p:cNvSpPr txBox="1">
              <a:spLocks noChangeArrowheads="1"/>
            </p:cNvSpPr>
            <p:nvPr/>
          </p:nvSpPr>
          <p:spPr bwMode="auto">
            <a:xfrm>
              <a:off x="2124075" y="5064125"/>
              <a:ext cx="96361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s-ES_tradnl" sz="1400" b="1" noProof="1">
                  <a:cs typeface="Arial" panose="020B0604020202020204" pitchFamily="34" charset="0"/>
                </a:rPr>
                <a:t>Reloj</a:t>
              </a:r>
            </a:p>
          </p:txBody>
        </p:sp>
        <p:sp>
          <p:nvSpPr>
            <p:cNvPr id="26" name="Text Box 522"/>
            <p:cNvSpPr txBox="1">
              <a:spLocks noChangeArrowheads="1"/>
            </p:cNvSpPr>
            <p:nvPr/>
          </p:nvSpPr>
          <p:spPr bwMode="auto">
            <a:xfrm>
              <a:off x="2190750" y="4635500"/>
              <a:ext cx="11350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s-ES_tradnl" sz="1400" b="1" noProof="1">
                  <a:cs typeface="Arial" panose="020B0604020202020204" pitchFamily="34" charset="0"/>
                </a:rPr>
                <a:t>Escritura</a:t>
              </a:r>
              <a:endParaRPr lang="es-ES_tradnl" sz="1400" b="1" baseline="-25000" noProof="1">
                <a:cs typeface="Arial" panose="020B0604020202020204" pitchFamily="34" charset="0"/>
              </a:endParaRPr>
            </a:p>
          </p:txBody>
        </p:sp>
        <p:sp>
          <p:nvSpPr>
            <p:cNvPr id="27" name="Freeform 523"/>
            <p:cNvSpPr>
              <a:spLocks/>
            </p:cNvSpPr>
            <p:nvPr/>
          </p:nvSpPr>
          <p:spPr bwMode="auto">
            <a:xfrm>
              <a:off x="2979738" y="5049837"/>
              <a:ext cx="1414462" cy="0"/>
            </a:xfrm>
            <a:custGeom>
              <a:avLst/>
              <a:gdLst>
                <a:gd name="T0" fmla="*/ 0 w 1136"/>
                <a:gd name="T1" fmla="*/ 0 h 1"/>
                <a:gd name="T2" fmla="*/ 1414462 w 1136"/>
                <a:gd name="T3" fmla="*/ 0 h 1"/>
                <a:gd name="T4" fmla="*/ 0 60000 65536"/>
                <a:gd name="T5" fmla="*/ 0 60000 65536"/>
                <a:gd name="T6" fmla="*/ 0 w 1136"/>
                <a:gd name="T7" fmla="*/ 0 h 1"/>
                <a:gd name="T8" fmla="*/ 1136 w 1136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36" h="1">
                  <a:moveTo>
                    <a:pt x="0" y="0"/>
                  </a:moveTo>
                  <a:lnTo>
                    <a:pt x="113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8" name="Freeform 529"/>
            <p:cNvSpPr>
              <a:spLocks/>
            </p:cNvSpPr>
            <p:nvPr/>
          </p:nvSpPr>
          <p:spPr bwMode="auto">
            <a:xfrm>
              <a:off x="1763690" y="5513387"/>
              <a:ext cx="1304948" cy="298450"/>
            </a:xfrm>
            <a:custGeom>
              <a:avLst/>
              <a:gdLst>
                <a:gd name="T0" fmla="*/ 0 w 1996"/>
                <a:gd name="T1" fmla="*/ 298450 h 297"/>
                <a:gd name="T2" fmla="*/ 16713 w 1996"/>
                <a:gd name="T3" fmla="*/ 298450 h 297"/>
                <a:gd name="T4" fmla="*/ 204078 w 1996"/>
                <a:gd name="T5" fmla="*/ 297445 h 297"/>
                <a:gd name="T6" fmla="*/ 204078 w 1996"/>
                <a:gd name="T7" fmla="*/ 8039 h 297"/>
                <a:gd name="T8" fmla="*/ 438944 w 1996"/>
                <a:gd name="T9" fmla="*/ 8039 h 297"/>
                <a:gd name="T10" fmla="*/ 438944 w 1996"/>
                <a:gd name="T11" fmla="*/ 283377 h 297"/>
                <a:gd name="T12" fmla="*/ 660175 w 1996"/>
                <a:gd name="T13" fmla="*/ 283377 h 297"/>
                <a:gd name="T14" fmla="*/ 660175 w 1996"/>
                <a:gd name="T15" fmla="*/ 0 h 297"/>
                <a:gd name="T16" fmla="*/ 877888 w 1996"/>
                <a:gd name="T17" fmla="*/ 8039 h 297"/>
                <a:gd name="T18" fmla="*/ 877888 w 1996"/>
                <a:gd name="T19" fmla="*/ 283377 h 2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96"/>
                <a:gd name="T31" fmla="*/ 0 h 297"/>
                <a:gd name="T32" fmla="*/ 1996 w 1996"/>
                <a:gd name="T33" fmla="*/ 297 h 2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96" h="297">
                  <a:moveTo>
                    <a:pt x="0" y="297"/>
                  </a:moveTo>
                  <a:lnTo>
                    <a:pt x="38" y="297"/>
                  </a:lnTo>
                  <a:lnTo>
                    <a:pt x="464" y="296"/>
                  </a:lnTo>
                  <a:lnTo>
                    <a:pt x="464" y="8"/>
                  </a:lnTo>
                  <a:lnTo>
                    <a:pt x="998" y="8"/>
                  </a:lnTo>
                  <a:lnTo>
                    <a:pt x="998" y="282"/>
                  </a:lnTo>
                  <a:lnTo>
                    <a:pt x="1501" y="282"/>
                  </a:lnTo>
                  <a:lnTo>
                    <a:pt x="1501" y="0"/>
                  </a:lnTo>
                  <a:lnTo>
                    <a:pt x="1996" y="8"/>
                  </a:lnTo>
                  <a:lnTo>
                    <a:pt x="1996" y="28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29" name="Line 530"/>
            <p:cNvSpPr>
              <a:spLocks noChangeShapeType="1"/>
            </p:cNvSpPr>
            <p:nvPr/>
          </p:nvSpPr>
          <p:spPr bwMode="auto">
            <a:xfrm rot="10800000" flipV="1">
              <a:off x="3070225" y="5522912"/>
              <a:ext cx="0" cy="2889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30" name="Text Box 533"/>
            <p:cNvSpPr txBox="1">
              <a:spLocks noChangeArrowheads="1"/>
            </p:cNvSpPr>
            <p:nvPr/>
          </p:nvSpPr>
          <p:spPr bwMode="auto">
            <a:xfrm>
              <a:off x="4943475" y="4635698"/>
              <a:ext cx="67310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1">
                  <a:cs typeface="Arial" panose="020B0604020202020204" pitchFamily="34" charset="0"/>
                  <a:sym typeface="Symbol" pitchFamily="-103" charset="2"/>
                </a:rPr>
                <a:t>1 </a:t>
              </a:r>
              <a:r>
                <a:rPr lang="es-ES_tradnl" sz="2000" b="1" noProof="1">
                  <a:cs typeface="Arial" panose="020B0604020202020204" pitchFamily="34" charset="0"/>
                </a:rPr>
                <a:t> </a:t>
              </a:r>
              <a:r>
                <a:rPr lang="es-ES_tradnl" sz="1400" b="1" noProof="1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1" name="Text Box 534"/>
            <p:cNvSpPr txBox="1">
              <a:spLocks noChangeArrowheads="1"/>
            </p:cNvSpPr>
            <p:nvPr/>
          </p:nvSpPr>
          <p:spPr bwMode="auto">
            <a:xfrm>
              <a:off x="3489325" y="5070475"/>
              <a:ext cx="6731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1">
                  <a:cs typeface="Arial" panose="020B0604020202020204" pitchFamily="34" charset="0"/>
                  <a:sym typeface="Symbol" pitchFamily="-103" charset="2"/>
                </a:rPr>
                <a:t>1 </a:t>
              </a:r>
              <a:r>
                <a:rPr lang="es-ES_tradnl" sz="1400" b="1" noProof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2" name="Text Box 535"/>
            <p:cNvSpPr txBox="1">
              <a:spLocks noChangeArrowheads="1"/>
            </p:cNvSpPr>
            <p:nvPr/>
          </p:nvSpPr>
          <p:spPr bwMode="auto">
            <a:xfrm>
              <a:off x="3624263" y="4703762"/>
              <a:ext cx="4191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1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3" name="Freeform 537"/>
            <p:cNvSpPr>
              <a:spLocks/>
            </p:cNvSpPr>
            <p:nvPr/>
          </p:nvSpPr>
          <p:spPr bwMode="blackWhite">
            <a:xfrm>
              <a:off x="4413250" y="4948237"/>
              <a:ext cx="665163" cy="484188"/>
            </a:xfrm>
            <a:custGeom>
              <a:avLst/>
              <a:gdLst>
                <a:gd name="T0" fmla="*/ 457338 w 1069"/>
                <a:gd name="T1" fmla="*/ 484188 h 758"/>
                <a:gd name="T2" fmla="*/ 0 w 1069"/>
                <a:gd name="T3" fmla="*/ 484188 h 758"/>
                <a:gd name="T4" fmla="*/ 0 w 1069"/>
                <a:gd name="T5" fmla="*/ 484188 h 758"/>
                <a:gd name="T6" fmla="*/ 0 w 1069"/>
                <a:gd name="T7" fmla="*/ 447778 h 758"/>
                <a:gd name="T8" fmla="*/ 622 w 1069"/>
                <a:gd name="T9" fmla="*/ 414562 h 758"/>
                <a:gd name="T10" fmla="*/ 622 w 1069"/>
                <a:gd name="T11" fmla="*/ 381985 h 758"/>
                <a:gd name="T12" fmla="*/ 622 w 1069"/>
                <a:gd name="T13" fmla="*/ 351963 h 758"/>
                <a:gd name="T14" fmla="*/ 622 w 1069"/>
                <a:gd name="T15" fmla="*/ 321940 h 758"/>
                <a:gd name="T16" fmla="*/ 622 w 1069"/>
                <a:gd name="T17" fmla="*/ 293834 h 758"/>
                <a:gd name="T18" fmla="*/ 622 w 1069"/>
                <a:gd name="T19" fmla="*/ 266367 h 758"/>
                <a:gd name="T20" fmla="*/ 1244 w 1069"/>
                <a:gd name="T21" fmla="*/ 238900 h 758"/>
                <a:gd name="T22" fmla="*/ 622 w 1069"/>
                <a:gd name="T23" fmla="*/ 211433 h 758"/>
                <a:gd name="T24" fmla="*/ 622 w 1069"/>
                <a:gd name="T25" fmla="*/ 184605 h 758"/>
                <a:gd name="T26" fmla="*/ 622 w 1069"/>
                <a:gd name="T27" fmla="*/ 157138 h 758"/>
                <a:gd name="T28" fmla="*/ 622 w 1069"/>
                <a:gd name="T29" fmla="*/ 127754 h 758"/>
                <a:gd name="T30" fmla="*/ 622 w 1069"/>
                <a:gd name="T31" fmla="*/ 99009 h 758"/>
                <a:gd name="T32" fmla="*/ 622 w 1069"/>
                <a:gd name="T33" fmla="*/ 67071 h 758"/>
                <a:gd name="T34" fmla="*/ 0 w 1069"/>
                <a:gd name="T35" fmla="*/ 34494 h 758"/>
                <a:gd name="T36" fmla="*/ 0 w 1069"/>
                <a:gd name="T37" fmla="*/ 0 h 758"/>
                <a:gd name="T38" fmla="*/ 457338 w 1069"/>
                <a:gd name="T39" fmla="*/ 0 h 758"/>
                <a:gd name="T40" fmla="*/ 457338 w 1069"/>
                <a:gd name="T41" fmla="*/ 0 h 758"/>
                <a:gd name="T42" fmla="*/ 483472 w 1069"/>
                <a:gd name="T43" fmla="*/ 639 h 758"/>
                <a:gd name="T44" fmla="*/ 507117 w 1069"/>
                <a:gd name="T45" fmla="*/ 5110 h 758"/>
                <a:gd name="T46" fmla="*/ 529517 w 1069"/>
                <a:gd name="T47" fmla="*/ 11498 h 758"/>
                <a:gd name="T48" fmla="*/ 550051 w 1069"/>
                <a:gd name="T49" fmla="*/ 19163 h 758"/>
                <a:gd name="T50" fmla="*/ 569340 w 1069"/>
                <a:gd name="T51" fmla="*/ 30022 h 758"/>
                <a:gd name="T52" fmla="*/ 586140 w 1069"/>
                <a:gd name="T53" fmla="*/ 42159 h 758"/>
                <a:gd name="T54" fmla="*/ 601073 w 1069"/>
                <a:gd name="T55" fmla="*/ 56212 h 758"/>
                <a:gd name="T56" fmla="*/ 614762 w 1069"/>
                <a:gd name="T57" fmla="*/ 72181 h 758"/>
                <a:gd name="T58" fmla="*/ 626585 w 1069"/>
                <a:gd name="T59" fmla="*/ 90067 h 758"/>
                <a:gd name="T60" fmla="*/ 637163 w 1069"/>
                <a:gd name="T61" fmla="*/ 108591 h 758"/>
                <a:gd name="T62" fmla="*/ 645874 w 1069"/>
                <a:gd name="T63" fmla="*/ 129032 h 758"/>
                <a:gd name="T64" fmla="*/ 652718 w 1069"/>
                <a:gd name="T65" fmla="*/ 150111 h 758"/>
                <a:gd name="T66" fmla="*/ 658318 w 1069"/>
                <a:gd name="T67" fmla="*/ 171190 h 758"/>
                <a:gd name="T68" fmla="*/ 662052 w 1069"/>
                <a:gd name="T69" fmla="*/ 194186 h 758"/>
                <a:gd name="T70" fmla="*/ 664541 w 1069"/>
                <a:gd name="T71" fmla="*/ 217821 h 758"/>
                <a:gd name="T72" fmla="*/ 665163 w 1069"/>
                <a:gd name="T73" fmla="*/ 241455 h 758"/>
                <a:gd name="T74" fmla="*/ 665163 w 1069"/>
                <a:gd name="T75" fmla="*/ 241455 h 758"/>
                <a:gd name="T76" fmla="*/ 664541 w 1069"/>
                <a:gd name="T77" fmla="*/ 265729 h 758"/>
                <a:gd name="T78" fmla="*/ 660807 w 1069"/>
                <a:gd name="T79" fmla="*/ 289363 h 758"/>
                <a:gd name="T80" fmla="*/ 655830 w 1069"/>
                <a:gd name="T81" fmla="*/ 312359 h 758"/>
                <a:gd name="T82" fmla="*/ 648985 w 1069"/>
                <a:gd name="T83" fmla="*/ 334077 h 758"/>
                <a:gd name="T84" fmla="*/ 639652 w 1069"/>
                <a:gd name="T85" fmla="*/ 354518 h 758"/>
                <a:gd name="T86" fmla="*/ 629074 w 1069"/>
                <a:gd name="T87" fmla="*/ 374958 h 758"/>
                <a:gd name="T88" fmla="*/ 616629 w 1069"/>
                <a:gd name="T89" fmla="*/ 393483 h 758"/>
                <a:gd name="T90" fmla="*/ 602940 w 1069"/>
                <a:gd name="T91" fmla="*/ 410729 h 758"/>
                <a:gd name="T92" fmla="*/ 587384 w 1069"/>
                <a:gd name="T93" fmla="*/ 426699 h 758"/>
                <a:gd name="T94" fmla="*/ 570584 w 1069"/>
                <a:gd name="T95" fmla="*/ 440752 h 758"/>
                <a:gd name="T96" fmla="*/ 553784 w 1069"/>
                <a:gd name="T97" fmla="*/ 454166 h 758"/>
                <a:gd name="T98" fmla="*/ 535739 w 1069"/>
                <a:gd name="T99" fmla="*/ 464386 h 758"/>
                <a:gd name="T100" fmla="*/ 516450 w 1069"/>
                <a:gd name="T101" fmla="*/ 472690 h 758"/>
                <a:gd name="T102" fmla="*/ 497783 w 1069"/>
                <a:gd name="T103" fmla="*/ 479078 h 758"/>
                <a:gd name="T104" fmla="*/ 477872 w 1069"/>
                <a:gd name="T105" fmla="*/ 482910 h 758"/>
                <a:gd name="T106" fmla="*/ 457338 w 1069"/>
                <a:gd name="T107" fmla="*/ 484188 h 7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069"/>
                <a:gd name="T163" fmla="*/ 0 h 758"/>
                <a:gd name="T164" fmla="*/ 1069 w 1069"/>
                <a:gd name="T165" fmla="*/ 758 h 75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069" h="758">
                  <a:moveTo>
                    <a:pt x="735" y="758"/>
                  </a:moveTo>
                  <a:lnTo>
                    <a:pt x="0" y="758"/>
                  </a:lnTo>
                  <a:lnTo>
                    <a:pt x="0" y="701"/>
                  </a:lnTo>
                  <a:lnTo>
                    <a:pt x="1" y="649"/>
                  </a:lnTo>
                  <a:lnTo>
                    <a:pt x="1" y="598"/>
                  </a:lnTo>
                  <a:lnTo>
                    <a:pt x="1" y="551"/>
                  </a:lnTo>
                  <a:lnTo>
                    <a:pt x="1" y="504"/>
                  </a:lnTo>
                  <a:lnTo>
                    <a:pt x="1" y="460"/>
                  </a:lnTo>
                  <a:lnTo>
                    <a:pt x="1" y="417"/>
                  </a:lnTo>
                  <a:lnTo>
                    <a:pt x="2" y="374"/>
                  </a:lnTo>
                  <a:lnTo>
                    <a:pt x="1" y="331"/>
                  </a:lnTo>
                  <a:lnTo>
                    <a:pt x="1" y="289"/>
                  </a:lnTo>
                  <a:lnTo>
                    <a:pt x="1" y="246"/>
                  </a:lnTo>
                  <a:lnTo>
                    <a:pt x="1" y="200"/>
                  </a:lnTo>
                  <a:lnTo>
                    <a:pt x="1" y="155"/>
                  </a:lnTo>
                  <a:lnTo>
                    <a:pt x="1" y="105"/>
                  </a:lnTo>
                  <a:lnTo>
                    <a:pt x="0" y="54"/>
                  </a:lnTo>
                  <a:lnTo>
                    <a:pt x="0" y="0"/>
                  </a:lnTo>
                  <a:lnTo>
                    <a:pt x="735" y="0"/>
                  </a:lnTo>
                  <a:lnTo>
                    <a:pt x="777" y="1"/>
                  </a:lnTo>
                  <a:lnTo>
                    <a:pt x="815" y="8"/>
                  </a:lnTo>
                  <a:lnTo>
                    <a:pt x="851" y="18"/>
                  </a:lnTo>
                  <a:lnTo>
                    <a:pt x="884" y="30"/>
                  </a:lnTo>
                  <a:lnTo>
                    <a:pt x="915" y="47"/>
                  </a:lnTo>
                  <a:lnTo>
                    <a:pt x="942" y="66"/>
                  </a:lnTo>
                  <a:lnTo>
                    <a:pt x="966" y="88"/>
                  </a:lnTo>
                  <a:lnTo>
                    <a:pt x="988" y="113"/>
                  </a:lnTo>
                  <a:lnTo>
                    <a:pt x="1007" y="141"/>
                  </a:lnTo>
                  <a:lnTo>
                    <a:pt x="1024" y="170"/>
                  </a:lnTo>
                  <a:lnTo>
                    <a:pt x="1038" y="202"/>
                  </a:lnTo>
                  <a:lnTo>
                    <a:pt x="1049" y="235"/>
                  </a:lnTo>
                  <a:lnTo>
                    <a:pt x="1058" y="268"/>
                  </a:lnTo>
                  <a:lnTo>
                    <a:pt x="1064" y="304"/>
                  </a:lnTo>
                  <a:lnTo>
                    <a:pt x="1068" y="341"/>
                  </a:lnTo>
                  <a:lnTo>
                    <a:pt x="1069" y="378"/>
                  </a:lnTo>
                  <a:lnTo>
                    <a:pt x="1068" y="416"/>
                  </a:lnTo>
                  <a:lnTo>
                    <a:pt x="1062" y="453"/>
                  </a:lnTo>
                  <a:lnTo>
                    <a:pt x="1054" y="489"/>
                  </a:lnTo>
                  <a:lnTo>
                    <a:pt x="1043" y="523"/>
                  </a:lnTo>
                  <a:lnTo>
                    <a:pt x="1028" y="555"/>
                  </a:lnTo>
                  <a:lnTo>
                    <a:pt x="1011" y="587"/>
                  </a:lnTo>
                  <a:lnTo>
                    <a:pt x="991" y="616"/>
                  </a:lnTo>
                  <a:lnTo>
                    <a:pt x="969" y="643"/>
                  </a:lnTo>
                  <a:lnTo>
                    <a:pt x="944" y="668"/>
                  </a:lnTo>
                  <a:lnTo>
                    <a:pt x="917" y="690"/>
                  </a:lnTo>
                  <a:lnTo>
                    <a:pt x="890" y="711"/>
                  </a:lnTo>
                  <a:lnTo>
                    <a:pt x="861" y="727"/>
                  </a:lnTo>
                  <a:lnTo>
                    <a:pt x="830" y="740"/>
                  </a:lnTo>
                  <a:lnTo>
                    <a:pt x="800" y="750"/>
                  </a:lnTo>
                  <a:lnTo>
                    <a:pt x="768" y="756"/>
                  </a:lnTo>
                  <a:lnTo>
                    <a:pt x="735" y="758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34" name="Text Box 538"/>
            <p:cNvSpPr txBox="1">
              <a:spLocks noChangeArrowheads="1"/>
            </p:cNvSpPr>
            <p:nvPr/>
          </p:nvSpPr>
          <p:spPr bwMode="blackWhite">
            <a:xfrm>
              <a:off x="4391025" y="5035550"/>
              <a:ext cx="6826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1"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35" name="Rectangle 539"/>
            <p:cNvSpPr>
              <a:spLocks noChangeArrowheads="1"/>
            </p:cNvSpPr>
            <p:nvPr/>
          </p:nvSpPr>
          <p:spPr bwMode="auto">
            <a:xfrm>
              <a:off x="3386138" y="4308475"/>
              <a:ext cx="5376862" cy="1652587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prstDash val="sysDot"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lnSpc>
                  <a:spcPct val="50000"/>
                </a:lnSpc>
                <a:spcBef>
                  <a:spcPct val="50000"/>
                </a:spcBef>
              </a:pPr>
              <a:endParaRPr lang="es-ES_tradnl" b="1" noProof="1">
                <a:cs typeface="Arial" panose="020B0604020202020204" pitchFamily="34" charset="0"/>
              </a:endParaRPr>
            </a:p>
          </p:txBody>
        </p:sp>
        <p:sp>
          <p:nvSpPr>
            <p:cNvPr id="36" name="Freeform 540"/>
            <p:cNvSpPr>
              <a:spLocks/>
            </p:cNvSpPr>
            <p:nvPr/>
          </p:nvSpPr>
          <p:spPr bwMode="auto">
            <a:xfrm flipV="1">
              <a:off x="5095875" y="5202237"/>
              <a:ext cx="322263" cy="74613"/>
            </a:xfrm>
            <a:custGeom>
              <a:avLst/>
              <a:gdLst>
                <a:gd name="T0" fmla="*/ 3021 w 320"/>
                <a:gd name="T1" fmla="*/ 0 h 3"/>
                <a:gd name="T2" fmla="*/ 0 w 320"/>
                <a:gd name="T3" fmla="*/ 74613 h 3"/>
                <a:gd name="T4" fmla="*/ 322263 w 320"/>
                <a:gd name="T5" fmla="*/ 74613 h 3"/>
                <a:gd name="T6" fmla="*/ 0 60000 65536"/>
                <a:gd name="T7" fmla="*/ 0 60000 65536"/>
                <a:gd name="T8" fmla="*/ 0 60000 65536"/>
                <a:gd name="T9" fmla="*/ 0 w 320"/>
                <a:gd name="T10" fmla="*/ 0 h 3"/>
                <a:gd name="T11" fmla="*/ 320 w 320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0" h="3">
                  <a:moveTo>
                    <a:pt x="3" y="0"/>
                  </a:moveTo>
                  <a:lnTo>
                    <a:pt x="0" y="3"/>
                  </a:lnTo>
                  <a:lnTo>
                    <a:pt x="320" y="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37" name="Freeform 542"/>
            <p:cNvSpPr>
              <a:spLocks/>
            </p:cNvSpPr>
            <p:nvPr/>
          </p:nvSpPr>
          <p:spPr bwMode="auto">
            <a:xfrm>
              <a:off x="2967038" y="5367337"/>
              <a:ext cx="1414462" cy="1588"/>
            </a:xfrm>
            <a:custGeom>
              <a:avLst/>
              <a:gdLst>
                <a:gd name="T0" fmla="*/ 0 w 1136"/>
                <a:gd name="T1" fmla="*/ 0 h 1"/>
                <a:gd name="T2" fmla="*/ 1414462 w 1136"/>
                <a:gd name="T3" fmla="*/ 0 h 1"/>
                <a:gd name="T4" fmla="*/ 0 60000 65536"/>
                <a:gd name="T5" fmla="*/ 0 60000 65536"/>
                <a:gd name="T6" fmla="*/ 0 w 1136"/>
                <a:gd name="T7" fmla="*/ 0 h 1"/>
                <a:gd name="T8" fmla="*/ 1136 w 113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36" h="1">
                  <a:moveTo>
                    <a:pt x="0" y="0"/>
                  </a:moveTo>
                  <a:lnTo>
                    <a:pt x="113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39" name="Freeform 552"/>
            <p:cNvSpPr>
              <a:spLocks/>
            </p:cNvSpPr>
            <p:nvPr/>
          </p:nvSpPr>
          <p:spPr bwMode="auto">
            <a:xfrm>
              <a:off x="2201863" y="4351337"/>
              <a:ext cx="1773237" cy="290513"/>
            </a:xfrm>
            <a:custGeom>
              <a:avLst/>
              <a:gdLst>
                <a:gd name="T0" fmla="*/ 0 w 1425"/>
                <a:gd name="T1" fmla="*/ 290513 h 228"/>
                <a:gd name="T2" fmla="*/ 33598 w 1425"/>
                <a:gd name="T3" fmla="*/ 290513 h 228"/>
                <a:gd name="T4" fmla="*/ 411889 w 1425"/>
                <a:gd name="T5" fmla="*/ 289239 h 228"/>
                <a:gd name="T6" fmla="*/ 411889 w 1425"/>
                <a:gd name="T7" fmla="*/ 0 h 228"/>
                <a:gd name="T8" fmla="*/ 887241 w 1425"/>
                <a:gd name="T9" fmla="*/ 0 h 228"/>
                <a:gd name="T10" fmla="*/ 887241 w 1425"/>
                <a:gd name="T11" fmla="*/ 275223 h 228"/>
                <a:gd name="T12" fmla="*/ 1773237 w 1425"/>
                <a:gd name="T13" fmla="*/ 275223 h 2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25"/>
                <a:gd name="T22" fmla="*/ 0 h 228"/>
                <a:gd name="T23" fmla="*/ 1425 w 1425"/>
                <a:gd name="T24" fmla="*/ 228 h 2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25" h="228">
                  <a:moveTo>
                    <a:pt x="0" y="228"/>
                  </a:moveTo>
                  <a:lnTo>
                    <a:pt x="27" y="228"/>
                  </a:lnTo>
                  <a:lnTo>
                    <a:pt x="331" y="227"/>
                  </a:lnTo>
                  <a:lnTo>
                    <a:pt x="331" y="0"/>
                  </a:lnTo>
                  <a:lnTo>
                    <a:pt x="713" y="0"/>
                  </a:lnTo>
                  <a:lnTo>
                    <a:pt x="713" y="216"/>
                  </a:lnTo>
                  <a:lnTo>
                    <a:pt x="1425" y="21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0" name="Rectangle 59"/>
            <p:cNvSpPr>
              <a:spLocks noChangeArrowheads="1"/>
            </p:cNvSpPr>
            <p:nvPr/>
          </p:nvSpPr>
          <p:spPr bwMode="auto">
            <a:xfrm>
              <a:off x="5553075" y="4821237"/>
              <a:ext cx="2362200" cy="8382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135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1" name="Oval 61"/>
            <p:cNvSpPr>
              <a:spLocks noChangeArrowheads="1"/>
            </p:cNvSpPr>
            <p:nvPr/>
          </p:nvSpPr>
          <p:spPr bwMode="auto">
            <a:xfrm>
              <a:off x="5400675" y="5126037"/>
              <a:ext cx="152400" cy="1524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2" name="AutoShape 62"/>
            <p:cNvSpPr>
              <a:spLocks noChangeArrowheads="1"/>
            </p:cNvSpPr>
            <p:nvPr/>
          </p:nvSpPr>
          <p:spPr bwMode="auto">
            <a:xfrm rot="5663923">
              <a:off x="5591175" y="5084762"/>
              <a:ext cx="228600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3" name="AutoShape 64"/>
            <p:cNvSpPr>
              <a:spLocks noChangeArrowheads="1"/>
            </p:cNvSpPr>
            <p:nvPr/>
          </p:nvSpPr>
          <p:spPr bwMode="auto">
            <a:xfrm rot="10800000">
              <a:off x="6467475" y="4211637"/>
              <a:ext cx="457200" cy="609600"/>
            </a:xfrm>
            <a:prstGeom prst="upArrow">
              <a:avLst>
                <a:gd name="adj1" fmla="val 50000"/>
                <a:gd name="adj2" fmla="val 33333"/>
              </a:avLst>
            </a:prstGeom>
            <a:solidFill>
              <a:srgbClr val="26697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4" name="AutoShape 65"/>
            <p:cNvSpPr>
              <a:spLocks noChangeArrowheads="1"/>
            </p:cNvSpPr>
            <p:nvPr/>
          </p:nvSpPr>
          <p:spPr bwMode="auto">
            <a:xfrm rot="10800000">
              <a:off x="6467475" y="5659437"/>
              <a:ext cx="457200" cy="609600"/>
            </a:xfrm>
            <a:prstGeom prst="upArrow">
              <a:avLst>
                <a:gd name="adj1" fmla="val 50000"/>
                <a:gd name="adj2" fmla="val 33333"/>
              </a:avLst>
            </a:prstGeom>
            <a:solidFill>
              <a:srgbClr val="26697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5" name="Text Box 66"/>
            <p:cNvSpPr txBox="1">
              <a:spLocks noChangeArrowheads="1"/>
            </p:cNvSpPr>
            <p:nvPr/>
          </p:nvSpPr>
          <p:spPr bwMode="auto">
            <a:xfrm>
              <a:off x="5744257" y="5126037"/>
              <a:ext cx="48282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200" noProof="1">
                  <a:cs typeface="Arial" panose="020B0604020202020204" pitchFamily="34" charset="0"/>
                </a:rPr>
                <a:t>CLK</a:t>
              </a:r>
            </a:p>
          </p:txBody>
        </p:sp>
        <p:sp>
          <p:nvSpPr>
            <p:cNvPr id="46" name="Text Box 67"/>
            <p:cNvSpPr txBox="1">
              <a:spLocks noChangeArrowheads="1"/>
            </p:cNvSpPr>
            <p:nvPr/>
          </p:nvSpPr>
          <p:spPr bwMode="auto">
            <a:xfrm>
              <a:off x="6131156" y="5049837"/>
              <a:ext cx="17251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1">
                  <a:cs typeface="Arial" panose="020B0604020202020204" pitchFamily="34" charset="0"/>
                </a:rPr>
                <a:t>Memoria/registro</a:t>
              </a:r>
            </a:p>
          </p:txBody>
        </p:sp>
        <p:sp>
          <p:nvSpPr>
            <p:cNvPr id="47" name="Line 68"/>
            <p:cNvSpPr>
              <a:spLocks noChangeShapeType="1"/>
            </p:cNvSpPr>
            <p:nvPr/>
          </p:nvSpPr>
          <p:spPr bwMode="auto">
            <a:xfrm flipV="1">
              <a:off x="6467475" y="4440237"/>
              <a:ext cx="5334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8" name="Line 69"/>
            <p:cNvSpPr>
              <a:spLocks noChangeShapeType="1"/>
            </p:cNvSpPr>
            <p:nvPr/>
          </p:nvSpPr>
          <p:spPr bwMode="auto">
            <a:xfrm flipV="1">
              <a:off x="6391275" y="5811837"/>
              <a:ext cx="5334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  <p:sp>
          <p:nvSpPr>
            <p:cNvPr id="49" name="Text Box 70"/>
            <p:cNvSpPr txBox="1">
              <a:spLocks noChangeArrowheads="1"/>
            </p:cNvSpPr>
            <p:nvPr/>
          </p:nvSpPr>
          <p:spPr bwMode="auto">
            <a:xfrm>
              <a:off x="6974676" y="4287837"/>
              <a:ext cx="78899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1">
                  <a:cs typeface="Arial" panose="020B0604020202020204" pitchFamily="34" charset="0"/>
                </a:rPr>
                <a:t>32 bits</a:t>
              </a:r>
            </a:p>
          </p:txBody>
        </p:sp>
        <p:sp>
          <p:nvSpPr>
            <p:cNvPr id="50" name="Text Box 71"/>
            <p:cNvSpPr txBox="1">
              <a:spLocks noChangeArrowheads="1"/>
            </p:cNvSpPr>
            <p:nvPr/>
          </p:nvSpPr>
          <p:spPr bwMode="auto">
            <a:xfrm>
              <a:off x="6898476" y="5659437"/>
              <a:ext cx="78899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1">
                  <a:cs typeface="Arial" panose="020B0604020202020204" pitchFamily="34" charset="0"/>
                </a:rPr>
                <a:t>32 bits</a:t>
              </a:r>
            </a:p>
          </p:txBody>
        </p:sp>
        <p:sp>
          <p:nvSpPr>
            <p:cNvPr id="51" name="Text Box 72"/>
            <p:cNvSpPr txBox="1">
              <a:spLocks noChangeArrowheads="1"/>
            </p:cNvSpPr>
            <p:nvPr/>
          </p:nvSpPr>
          <p:spPr bwMode="auto">
            <a:xfrm>
              <a:off x="6045065" y="3810000"/>
              <a:ext cx="130837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1">
                  <a:cs typeface="Arial" panose="020B0604020202020204" pitchFamily="34" charset="0"/>
                </a:rPr>
                <a:t>Datos entrada</a:t>
              </a:r>
            </a:p>
          </p:txBody>
        </p:sp>
        <p:sp>
          <p:nvSpPr>
            <p:cNvPr id="52" name="Text Box 73"/>
            <p:cNvSpPr txBox="1">
              <a:spLocks noChangeArrowheads="1"/>
            </p:cNvSpPr>
            <p:nvPr/>
          </p:nvSpPr>
          <p:spPr bwMode="auto">
            <a:xfrm>
              <a:off x="6107644" y="6269037"/>
              <a:ext cx="117051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1">
                  <a:cs typeface="Arial" panose="020B0604020202020204" pitchFamily="34" charset="0"/>
                </a:rPr>
                <a:t>Datos salida</a:t>
              </a:r>
            </a:p>
          </p:txBody>
        </p:sp>
        <p:sp>
          <p:nvSpPr>
            <p:cNvPr id="55" name="Freeform 529">
              <a:extLst>
                <a:ext uri="{FF2B5EF4-FFF2-40B4-BE49-F238E27FC236}">
                  <a16:creationId xmlns:a16="http://schemas.microsoft.com/office/drawing/2014/main" id="{1420ABF9-2E32-4665-9BF9-131717D86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0" y="5503863"/>
              <a:ext cx="1304948" cy="298450"/>
            </a:xfrm>
            <a:custGeom>
              <a:avLst/>
              <a:gdLst>
                <a:gd name="T0" fmla="*/ 0 w 1996"/>
                <a:gd name="T1" fmla="*/ 298450 h 297"/>
                <a:gd name="T2" fmla="*/ 16713 w 1996"/>
                <a:gd name="T3" fmla="*/ 298450 h 297"/>
                <a:gd name="T4" fmla="*/ 204078 w 1996"/>
                <a:gd name="T5" fmla="*/ 297445 h 297"/>
                <a:gd name="T6" fmla="*/ 204078 w 1996"/>
                <a:gd name="T7" fmla="*/ 8039 h 297"/>
                <a:gd name="T8" fmla="*/ 438944 w 1996"/>
                <a:gd name="T9" fmla="*/ 8039 h 297"/>
                <a:gd name="T10" fmla="*/ 438944 w 1996"/>
                <a:gd name="T11" fmla="*/ 283377 h 297"/>
                <a:gd name="T12" fmla="*/ 660175 w 1996"/>
                <a:gd name="T13" fmla="*/ 283377 h 297"/>
                <a:gd name="T14" fmla="*/ 660175 w 1996"/>
                <a:gd name="T15" fmla="*/ 0 h 297"/>
                <a:gd name="T16" fmla="*/ 877888 w 1996"/>
                <a:gd name="T17" fmla="*/ 8039 h 297"/>
                <a:gd name="T18" fmla="*/ 877888 w 1996"/>
                <a:gd name="T19" fmla="*/ 283377 h 2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96"/>
                <a:gd name="T31" fmla="*/ 0 h 297"/>
                <a:gd name="T32" fmla="*/ 1996 w 1996"/>
                <a:gd name="T33" fmla="*/ 297 h 2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96" h="297">
                  <a:moveTo>
                    <a:pt x="0" y="297"/>
                  </a:moveTo>
                  <a:lnTo>
                    <a:pt x="38" y="297"/>
                  </a:lnTo>
                  <a:lnTo>
                    <a:pt x="464" y="296"/>
                  </a:lnTo>
                  <a:lnTo>
                    <a:pt x="464" y="8"/>
                  </a:lnTo>
                  <a:lnTo>
                    <a:pt x="998" y="8"/>
                  </a:lnTo>
                  <a:lnTo>
                    <a:pt x="998" y="282"/>
                  </a:lnTo>
                  <a:lnTo>
                    <a:pt x="1501" y="282"/>
                  </a:lnTo>
                  <a:lnTo>
                    <a:pt x="1501" y="0"/>
                  </a:lnTo>
                  <a:lnTo>
                    <a:pt x="1996" y="8"/>
                  </a:lnTo>
                  <a:lnTo>
                    <a:pt x="1996" y="28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1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Marcador de contenido 5">
            <a:extLst>
              <a:ext uri="{FF2B5EF4-FFF2-40B4-BE49-F238E27FC236}">
                <a16:creationId xmlns:a16="http://schemas.microsoft.com/office/drawing/2014/main" id="{CCEFD0B1-4C62-A54F-F45F-32645DA13E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2837074"/>
              </p:ext>
            </p:extLst>
          </p:nvPr>
        </p:nvGraphicFramePr>
        <p:xfrm>
          <a:off x="1055167" y="1022863"/>
          <a:ext cx="7765304" cy="297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Instrucción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Operación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Formato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+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 –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</a:t>
                      </a:r>
                      <a:r>
                        <a:rPr lang="es-ES_tradnl" sz="14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</a:t>
                      </a:r>
                      <a:r>
                        <a:rPr lang="es-ES_trad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 rd,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 = rs1 </a:t>
                      </a:r>
                      <a:r>
                        <a:rPr lang="es-ES_tradnl" sz="14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</a:t>
                      </a:r>
                      <a:r>
                        <a:rPr lang="es-ES_trad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Mem[rs1+inm]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Mem[rs1+inm]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rs1, rs2,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(rs1==rs2),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entonces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PC =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PC = (PC+4)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PC + 4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 =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J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La ruta de datos: Selección de instrucciones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6E4B6654-03FD-E312-D63D-CB1E89908434}"/>
              </a:ext>
            </a:extLst>
          </p:cNvPr>
          <p:cNvGrpSpPr/>
          <p:nvPr/>
        </p:nvGrpSpPr>
        <p:grpSpPr>
          <a:xfrm>
            <a:off x="1604666" y="4051837"/>
            <a:ext cx="5764068" cy="1180085"/>
            <a:chOff x="975305" y="4921594"/>
            <a:chExt cx="3345284" cy="753875"/>
          </a:xfrm>
        </p:grpSpPr>
        <p:grpSp>
          <p:nvGrpSpPr>
            <p:cNvPr id="160" name="Group 9">
              <a:extLst>
                <a:ext uri="{FF2B5EF4-FFF2-40B4-BE49-F238E27FC236}">
                  <a16:creationId xmlns:a16="http://schemas.microsoft.com/office/drawing/2014/main" id="{5D438B64-E1DA-0CEF-6202-0BD0866E8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63" name="Rectangle 10">
                <a:extLst>
                  <a:ext uri="{FF2B5EF4-FFF2-40B4-BE49-F238E27FC236}">
                    <a16:creationId xmlns:a16="http://schemas.microsoft.com/office/drawing/2014/main" id="{2FD9DE23-2EF4-3E87-BE2E-FADA71CAE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64" name="Group 155">
                <a:extLst>
                  <a:ext uri="{FF2B5EF4-FFF2-40B4-BE49-F238E27FC236}">
                    <a16:creationId xmlns:a16="http://schemas.microsoft.com/office/drawing/2014/main" id="{CC6106FE-DD49-A9BC-F049-DF62A56961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165" name="Group 5">
                  <a:extLst>
                    <a:ext uri="{FF2B5EF4-FFF2-40B4-BE49-F238E27FC236}">
                      <a16:creationId xmlns:a16="http://schemas.microsoft.com/office/drawing/2014/main" id="{193AF118-EB1E-6C50-1D23-BFAEE52D8B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83" name="Rectangle 6">
                    <a:extLst>
                      <a:ext uri="{FF2B5EF4-FFF2-40B4-BE49-F238E27FC236}">
                        <a16:creationId xmlns:a16="http://schemas.microsoft.com/office/drawing/2014/main" id="{1AA05786-E5E2-2B39-4B37-1F1932CC3C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184" name="Group 7">
                    <a:extLst>
                      <a:ext uri="{FF2B5EF4-FFF2-40B4-BE49-F238E27FC236}">
                        <a16:creationId xmlns:a16="http://schemas.microsoft.com/office/drawing/2014/main" id="{059AC4AB-9789-6DF5-B00F-1645B9F0EE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85" name="Line 9">
                      <a:extLst>
                        <a:ext uri="{FF2B5EF4-FFF2-40B4-BE49-F238E27FC236}">
                          <a16:creationId xmlns:a16="http://schemas.microsoft.com/office/drawing/2014/main" id="{173B525F-579F-496B-56FC-B6A9632FA37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6" name="Line 10">
                      <a:extLst>
                        <a:ext uri="{FF2B5EF4-FFF2-40B4-BE49-F238E27FC236}">
                          <a16:creationId xmlns:a16="http://schemas.microsoft.com/office/drawing/2014/main" id="{D7F17CDA-7961-A0E2-611D-F3AF81F204F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7" name="Line 11">
                      <a:extLst>
                        <a:ext uri="{FF2B5EF4-FFF2-40B4-BE49-F238E27FC236}">
                          <a16:creationId xmlns:a16="http://schemas.microsoft.com/office/drawing/2014/main" id="{CACC4F23-76F4-004F-8620-BEF26780C02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8" name="Line 12">
                      <a:extLst>
                        <a:ext uri="{FF2B5EF4-FFF2-40B4-BE49-F238E27FC236}">
                          <a16:creationId xmlns:a16="http://schemas.microsoft.com/office/drawing/2014/main" id="{39036672-DF68-1A48-8696-D567A5F6EF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9" name="Line 13">
                      <a:extLst>
                        <a:ext uri="{FF2B5EF4-FFF2-40B4-BE49-F238E27FC236}">
                          <a16:creationId xmlns:a16="http://schemas.microsoft.com/office/drawing/2014/main" id="{E3AE72FD-E1C1-6412-9A1C-159A3CBA27A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0" name="Line 14">
                      <a:extLst>
                        <a:ext uri="{FF2B5EF4-FFF2-40B4-BE49-F238E27FC236}">
                          <a16:creationId xmlns:a16="http://schemas.microsoft.com/office/drawing/2014/main" id="{8C17BF72-64A7-52EE-35EB-38DF8192D09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1" name="Line 15">
                      <a:extLst>
                        <a:ext uri="{FF2B5EF4-FFF2-40B4-BE49-F238E27FC236}">
                          <a16:creationId xmlns:a16="http://schemas.microsoft.com/office/drawing/2014/main" id="{698E3AC9-90CC-D811-D0EA-BDF8428149D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2" name="Line 16">
                      <a:extLst>
                        <a:ext uri="{FF2B5EF4-FFF2-40B4-BE49-F238E27FC236}">
                          <a16:creationId xmlns:a16="http://schemas.microsoft.com/office/drawing/2014/main" id="{BBD7F8A8-0E95-C37E-401F-A8909AA624C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3" name="Line 17">
                      <a:extLst>
                        <a:ext uri="{FF2B5EF4-FFF2-40B4-BE49-F238E27FC236}">
                          <a16:creationId xmlns:a16="http://schemas.microsoft.com/office/drawing/2014/main" id="{F849044F-E9D5-4A45-E0E4-F86CCB70C71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4" name="Line 18">
                      <a:extLst>
                        <a:ext uri="{FF2B5EF4-FFF2-40B4-BE49-F238E27FC236}">
                          <a16:creationId xmlns:a16="http://schemas.microsoft.com/office/drawing/2014/main" id="{DC4E827A-65E9-D8B1-C68C-CCA473CE63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5" name="Line 19">
                      <a:extLst>
                        <a:ext uri="{FF2B5EF4-FFF2-40B4-BE49-F238E27FC236}">
                          <a16:creationId xmlns:a16="http://schemas.microsoft.com/office/drawing/2014/main" id="{623815BC-B853-EF86-898F-B0F301FE5E3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6" name="Line 20">
                      <a:extLst>
                        <a:ext uri="{FF2B5EF4-FFF2-40B4-BE49-F238E27FC236}">
                          <a16:creationId xmlns:a16="http://schemas.microsoft.com/office/drawing/2014/main" id="{B7566927-5E78-6660-6B2B-974E3C06A46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7" name="Line 21">
                      <a:extLst>
                        <a:ext uri="{FF2B5EF4-FFF2-40B4-BE49-F238E27FC236}">
                          <a16:creationId xmlns:a16="http://schemas.microsoft.com/office/drawing/2014/main" id="{D3BD8293-B68A-70FE-2E0F-F245B92A094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8" name="Line 22">
                      <a:extLst>
                        <a:ext uri="{FF2B5EF4-FFF2-40B4-BE49-F238E27FC236}">
                          <a16:creationId xmlns:a16="http://schemas.microsoft.com/office/drawing/2014/main" id="{5B7AF5FF-2068-253C-EB20-54637F0080E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9" name="Line 23">
                      <a:extLst>
                        <a:ext uri="{FF2B5EF4-FFF2-40B4-BE49-F238E27FC236}">
                          <a16:creationId xmlns:a16="http://schemas.microsoft.com/office/drawing/2014/main" id="{855A60F3-7064-B593-E1BD-235AFC84DD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0" name="Line 24">
                      <a:extLst>
                        <a:ext uri="{FF2B5EF4-FFF2-40B4-BE49-F238E27FC236}">
                          <a16:creationId xmlns:a16="http://schemas.microsoft.com/office/drawing/2014/main" id="{139E17FA-8A9E-06EC-B241-C768ED20311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1" name="Line 25">
                      <a:extLst>
                        <a:ext uri="{FF2B5EF4-FFF2-40B4-BE49-F238E27FC236}">
                          <a16:creationId xmlns:a16="http://schemas.microsoft.com/office/drawing/2014/main" id="{0A1CFE12-FE93-C143-5CEC-6F68BD3C29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2" name="Line 26">
                      <a:extLst>
                        <a:ext uri="{FF2B5EF4-FFF2-40B4-BE49-F238E27FC236}">
                          <a16:creationId xmlns:a16="http://schemas.microsoft.com/office/drawing/2014/main" id="{69CA7D80-0929-D15A-A312-8E97C32648E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3" name="Line 27">
                      <a:extLst>
                        <a:ext uri="{FF2B5EF4-FFF2-40B4-BE49-F238E27FC236}">
                          <a16:creationId xmlns:a16="http://schemas.microsoft.com/office/drawing/2014/main" id="{AD8A0BFC-4C29-98B4-85B5-A98ECB07DAA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4" name="Line 28">
                      <a:extLst>
                        <a:ext uri="{FF2B5EF4-FFF2-40B4-BE49-F238E27FC236}">
                          <a16:creationId xmlns:a16="http://schemas.microsoft.com/office/drawing/2014/main" id="{ACD59252-7B5B-F68D-4A48-0CA384ABF32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5" name="Line 29">
                      <a:extLst>
                        <a:ext uri="{FF2B5EF4-FFF2-40B4-BE49-F238E27FC236}">
                          <a16:creationId xmlns:a16="http://schemas.microsoft.com/office/drawing/2014/main" id="{7E0CA678-F23E-D23D-D407-7EB0D4DEC9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6" name="Line 30">
                      <a:extLst>
                        <a:ext uri="{FF2B5EF4-FFF2-40B4-BE49-F238E27FC236}">
                          <a16:creationId xmlns:a16="http://schemas.microsoft.com/office/drawing/2014/main" id="{22BC0F2E-7960-2125-3AC2-0F1FE28EF8F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7" name="Line 31">
                      <a:extLst>
                        <a:ext uri="{FF2B5EF4-FFF2-40B4-BE49-F238E27FC236}">
                          <a16:creationId xmlns:a16="http://schemas.microsoft.com/office/drawing/2014/main" id="{892186AC-597B-5B1E-1E66-C6DD886528E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8" name="Line 32">
                      <a:extLst>
                        <a:ext uri="{FF2B5EF4-FFF2-40B4-BE49-F238E27FC236}">
                          <a16:creationId xmlns:a16="http://schemas.microsoft.com/office/drawing/2014/main" id="{A3D0CE12-4A4C-4756-29BE-7780318DE4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9" name="Line 33">
                      <a:extLst>
                        <a:ext uri="{FF2B5EF4-FFF2-40B4-BE49-F238E27FC236}">
                          <a16:creationId xmlns:a16="http://schemas.microsoft.com/office/drawing/2014/main" id="{794C39B9-9BBF-BBA7-EF36-B6F54BE1F82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0" name="Line 34">
                      <a:extLst>
                        <a:ext uri="{FF2B5EF4-FFF2-40B4-BE49-F238E27FC236}">
                          <a16:creationId xmlns:a16="http://schemas.microsoft.com/office/drawing/2014/main" id="{0B168285-3248-5B7B-A52D-228930772DC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1" name="Line 35">
                      <a:extLst>
                        <a:ext uri="{FF2B5EF4-FFF2-40B4-BE49-F238E27FC236}">
                          <a16:creationId xmlns:a16="http://schemas.microsoft.com/office/drawing/2014/main" id="{21FC20DC-1762-99A8-09F5-D6BD3A905E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2" name="Line 36">
                      <a:extLst>
                        <a:ext uri="{FF2B5EF4-FFF2-40B4-BE49-F238E27FC236}">
                          <a16:creationId xmlns:a16="http://schemas.microsoft.com/office/drawing/2014/main" id="{9AD1F202-ECDD-4379-AC23-DB4CC6B2BE0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3" name="Line 37">
                      <a:extLst>
                        <a:ext uri="{FF2B5EF4-FFF2-40B4-BE49-F238E27FC236}">
                          <a16:creationId xmlns:a16="http://schemas.microsoft.com/office/drawing/2014/main" id="{80A79362-22BE-CC2C-0A2B-AA5593AFB01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4" name="Line 38">
                      <a:extLst>
                        <a:ext uri="{FF2B5EF4-FFF2-40B4-BE49-F238E27FC236}">
                          <a16:creationId xmlns:a16="http://schemas.microsoft.com/office/drawing/2014/main" id="{7929D8E0-0F0A-DA35-9237-A3D4AE2C053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66" name="Line 39">
                  <a:extLst>
                    <a:ext uri="{FF2B5EF4-FFF2-40B4-BE49-F238E27FC236}">
                      <a16:creationId xmlns:a16="http://schemas.microsoft.com/office/drawing/2014/main" id="{0FC27DA3-DD24-DFB8-1812-85E7662CCB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67" name="Text Box 40">
                  <a:extLst>
                    <a:ext uri="{FF2B5EF4-FFF2-40B4-BE49-F238E27FC236}">
                      <a16:creationId xmlns:a16="http://schemas.microsoft.com/office/drawing/2014/main" id="{5C3796A8-5854-96EE-0338-D507A1D110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68" name="Text Box 41">
                  <a:extLst>
                    <a:ext uri="{FF2B5EF4-FFF2-40B4-BE49-F238E27FC236}">
                      <a16:creationId xmlns:a16="http://schemas.microsoft.com/office/drawing/2014/main" id="{2B0C767E-B8BF-9E25-8914-AE421529E2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69" name="Line 42">
                  <a:extLst>
                    <a:ext uri="{FF2B5EF4-FFF2-40B4-BE49-F238E27FC236}">
                      <a16:creationId xmlns:a16="http://schemas.microsoft.com/office/drawing/2014/main" id="{0EFDF40E-0A96-C3C3-D37C-0B03DDD6F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0" name="Line 43">
                  <a:extLst>
                    <a:ext uri="{FF2B5EF4-FFF2-40B4-BE49-F238E27FC236}">
                      <a16:creationId xmlns:a16="http://schemas.microsoft.com/office/drawing/2014/main" id="{E4486593-2D28-F2B6-C336-FE4FDA8113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1" name="Line 44">
                  <a:extLst>
                    <a:ext uri="{FF2B5EF4-FFF2-40B4-BE49-F238E27FC236}">
                      <a16:creationId xmlns:a16="http://schemas.microsoft.com/office/drawing/2014/main" id="{91371554-9188-A673-4815-A14D539F03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2" name="Text Box 45">
                  <a:extLst>
                    <a:ext uri="{FF2B5EF4-FFF2-40B4-BE49-F238E27FC236}">
                      <a16:creationId xmlns:a16="http://schemas.microsoft.com/office/drawing/2014/main" id="{931C1FC8-EDC9-1787-1DDD-E9A1B55B13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3" name="Text Box 46">
                  <a:extLst>
                    <a:ext uri="{FF2B5EF4-FFF2-40B4-BE49-F238E27FC236}">
                      <a16:creationId xmlns:a16="http://schemas.microsoft.com/office/drawing/2014/main" id="{53009E71-2514-91FB-7D28-1B7631F7E7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4" name="Text Box 47">
                  <a:extLst>
                    <a:ext uri="{FF2B5EF4-FFF2-40B4-BE49-F238E27FC236}">
                      <a16:creationId xmlns:a16="http://schemas.microsoft.com/office/drawing/2014/main" id="{516B8947-C1CD-5C3C-9181-44226E99FB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5" name="Text Box 48">
                  <a:extLst>
                    <a:ext uri="{FF2B5EF4-FFF2-40B4-BE49-F238E27FC236}">
                      <a16:creationId xmlns:a16="http://schemas.microsoft.com/office/drawing/2014/main" id="{D4B11652-FD4A-DFB4-8395-F188D0F66C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6" name="Text Box 49">
                  <a:extLst>
                    <a:ext uri="{FF2B5EF4-FFF2-40B4-BE49-F238E27FC236}">
                      <a16:creationId xmlns:a16="http://schemas.microsoft.com/office/drawing/2014/main" id="{E5449B6E-6E6A-131B-BD46-44E77F79B8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7" name="Text Box 50">
                  <a:extLst>
                    <a:ext uri="{FF2B5EF4-FFF2-40B4-BE49-F238E27FC236}">
                      <a16:creationId xmlns:a16="http://schemas.microsoft.com/office/drawing/2014/main" id="{048543B3-A372-2B2D-5A11-9DF985CCA2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8" name="Text Box 51">
                  <a:extLst>
                    <a:ext uri="{FF2B5EF4-FFF2-40B4-BE49-F238E27FC236}">
                      <a16:creationId xmlns:a16="http://schemas.microsoft.com/office/drawing/2014/main" id="{4B7C6952-1FB0-FBA7-8920-14C82F1AC4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9" name="Text Box 52">
                  <a:extLst>
                    <a:ext uri="{FF2B5EF4-FFF2-40B4-BE49-F238E27FC236}">
                      <a16:creationId xmlns:a16="http://schemas.microsoft.com/office/drawing/2014/main" id="{89B26F76-8DDD-E9B4-37D2-3CB10E2490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80" name="Text Box 53">
                  <a:extLst>
                    <a:ext uri="{FF2B5EF4-FFF2-40B4-BE49-F238E27FC236}">
                      <a16:creationId xmlns:a16="http://schemas.microsoft.com/office/drawing/2014/main" id="{E07F1990-0284-1BF6-D9DE-BDBF573C7E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81" name="Line 153">
                  <a:extLst>
                    <a:ext uri="{FF2B5EF4-FFF2-40B4-BE49-F238E27FC236}">
                      <a16:creationId xmlns:a16="http://schemas.microsoft.com/office/drawing/2014/main" id="{58BFC7D5-831F-470D-1D46-C6777D62A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82" name="Text Box 154">
                  <a:extLst>
                    <a:ext uri="{FF2B5EF4-FFF2-40B4-BE49-F238E27FC236}">
                      <a16:creationId xmlns:a16="http://schemas.microsoft.com/office/drawing/2014/main" id="{5216E62A-962C-5824-4139-A6C0E0B1B4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61" name="Text Box 41">
              <a:extLst>
                <a:ext uri="{FF2B5EF4-FFF2-40B4-BE49-F238E27FC236}">
                  <a16:creationId xmlns:a16="http://schemas.microsoft.com/office/drawing/2014/main" id="{6595F46C-819C-6D5A-EFB0-84F1D9315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Line 11">
              <a:extLst>
                <a:ext uri="{FF2B5EF4-FFF2-40B4-BE49-F238E27FC236}">
                  <a16:creationId xmlns:a16="http://schemas.microsoft.com/office/drawing/2014/main" id="{60C68093-2B92-2F8C-3C3D-F270F35D1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5D7E0C38-440C-A99D-CE93-1CF969BD60E5}"/>
              </a:ext>
            </a:extLst>
          </p:cNvPr>
          <p:cNvGrpSpPr/>
          <p:nvPr/>
        </p:nvGrpSpPr>
        <p:grpSpPr>
          <a:xfrm>
            <a:off x="2051720" y="4462308"/>
            <a:ext cx="5788979" cy="1308452"/>
            <a:chOff x="5564455" y="4243453"/>
            <a:chExt cx="3387406" cy="878363"/>
          </a:xfrm>
        </p:grpSpPr>
        <p:grpSp>
          <p:nvGrpSpPr>
            <p:cNvPr id="216" name="Grupo 215">
              <a:extLst>
                <a:ext uri="{FF2B5EF4-FFF2-40B4-BE49-F238E27FC236}">
                  <a16:creationId xmlns:a16="http://schemas.microsoft.com/office/drawing/2014/main" id="{B831E43C-29F5-8F5C-33C2-3D2DC1C93361}"/>
                </a:ext>
              </a:extLst>
            </p:cNvPr>
            <p:cNvGrpSpPr/>
            <p:nvPr/>
          </p:nvGrpSpPr>
          <p:grpSpPr>
            <a:xfrm>
              <a:off x="5564455" y="4243453"/>
              <a:ext cx="3387406" cy="878363"/>
              <a:chOff x="5474422" y="4834674"/>
              <a:chExt cx="3361057" cy="1043057"/>
            </a:xfrm>
          </p:grpSpPr>
          <p:grpSp>
            <p:nvGrpSpPr>
              <p:cNvPr id="218" name="Group 9">
                <a:extLst>
                  <a:ext uri="{FF2B5EF4-FFF2-40B4-BE49-F238E27FC236}">
                    <a16:creationId xmlns:a16="http://schemas.microsoft.com/office/drawing/2014/main" id="{9153A5AB-FA05-BDDF-7CC2-E7F0199DD1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4422" y="4834674"/>
                <a:ext cx="3361057" cy="1043057"/>
                <a:chOff x="143" y="668"/>
                <a:chExt cx="2557" cy="624"/>
              </a:xfrm>
            </p:grpSpPr>
            <p:sp>
              <p:nvSpPr>
                <p:cNvPr id="220" name="Rectangle 10">
                  <a:extLst>
                    <a:ext uri="{FF2B5EF4-FFF2-40B4-BE49-F238E27FC236}">
                      <a16:creationId xmlns:a16="http://schemas.microsoft.com/office/drawing/2014/main" id="{0F8B023D-02ED-D0DD-A469-BE9C5825D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" y="668"/>
                  <a:ext cx="2544" cy="5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21" name="Group 155">
                  <a:extLst>
                    <a:ext uri="{FF2B5EF4-FFF2-40B4-BE49-F238E27FC236}">
                      <a16:creationId xmlns:a16="http://schemas.microsoft.com/office/drawing/2014/main" id="{0519B2BD-940D-0D3A-0BEA-6E01D71193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39"/>
                  <a:ext cx="2519" cy="553"/>
                  <a:chOff x="1168" y="1244"/>
                  <a:chExt cx="3246" cy="904"/>
                </a:xfrm>
              </p:grpSpPr>
              <p:sp>
                <p:nvSpPr>
                  <p:cNvPr id="222" name="Text Box 154">
                    <a:extLst>
                      <a:ext uri="{FF2B5EF4-FFF2-40B4-BE49-F238E27FC236}">
                        <a16:creationId xmlns:a16="http://schemas.microsoft.com/office/drawing/2014/main" id="{5251EBF6-2848-65F7-535D-74D2671C813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grpSp>
                <p:nvGrpSpPr>
                  <p:cNvPr id="223" name="Group 5">
                    <a:extLst>
                      <a:ext uri="{FF2B5EF4-FFF2-40B4-BE49-F238E27FC236}">
                        <a16:creationId xmlns:a16="http://schemas.microsoft.com/office/drawing/2014/main" id="{598D6017-0C78-579D-7F92-7A3260BA8A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44"/>
                    <a:ext cx="3050" cy="423"/>
                    <a:chOff x="982" y="1234"/>
                    <a:chExt cx="3050" cy="423"/>
                  </a:xfrm>
                </p:grpSpPr>
                <p:sp>
                  <p:nvSpPr>
                    <p:cNvPr id="237" name="Rectangle 6">
                      <a:extLst>
                        <a:ext uri="{FF2B5EF4-FFF2-40B4-BE49-F238E27FC236}">
                          <a16:creationId xmlns:a16="http://schemas.microsoft.com/office/drawing/2014/main" id="{8A854E71-219C-53EB-A6E5-67DF83C4021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1234"/>
                      <a:ext cx="3050" cy="423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238" name="Group 7">
                      <a:extLst>
                        <a:ext uri="{FF2B5EF4-FFF2-40B4-BE49-F238E27FC236}">
                          <a16:creationId xmlns:a16="http://schemas.microsoft.com/office/drawing/2014/main" id="{25E44CCD-EDAF-A206-E7D0-B3D190B803D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239" name="Line 9">
                        <a:extLst>
                          <a:ext uri="{FF2B5EF4-FFF2-40B4-BE49-F238E27FC236}">
                            <a16:creationId xmlns:a16="http://schemas.microsoft.com/office/drawing/2014/main" id="{84E3CCA5-56A2-3176-FA37-41144B7D51D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0" name="Line 10">
                        <a:extLst>
                          <a:ext uri="{FF2B5EF4-FFF2-40B4-BE49-F238E27FC236}">
                            <a16:creationId xmlns:a16="http://schemas.microsoft.com/office/drawing/2014/main" id="{39CC0474-C8F9-01DE-CC45-41400AE8EE9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1" name="Line 11">
                        <a:extLst>
                          <a:ext uri="{FF2B5EF4-FFF2-40B4-BE49-F238E27FC236}">
                            <a16:creationId xmlns:a16="http://schemas.microsoft.com/office/drawing/2014/main" id="{78023A61-382F-4BB5-3708-72B27431E10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2" name="Line 12">
                        <a:extLst>
                          <a:ext uri="{FF2B5EF4-FFF2-40B4-BE49-F238E27FC236}">
                            <a16:creationId xmlns:a16="http://schemas.microsoft.com/office/drawing/2014/main" id="{C0683AA2-C172-749C-E8F1-99F51D67E39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3" name="Line 13">
                        <a:extLst>
                          <a:ext uri="{FF2B5EF4-FFF2-40B4-BE49-F238E27FC236}">
                            <a16:creationId xmlns:a16="http://schemas.microsoft.com/office/drawing/2014/main" id="{C9C7B54B-2288-02F2-5EC4-C2F261D8D84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4" name="Line 14">
                        <a:extLst>
                          <a:ext uri="{FF2B5EF4-FFF2-40B4-BE49-F238E27FC236}">
                            <a16:creationId xmlns:a16="http://schemas.microsoft.com/office/drawing/2014/main" id="{E821234F-E6E4-3858-24FC-1BFF9E4A1EF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5" name="Line 15">
                        <a:extLst>
                          <a:ext uri="{FF2B5EF4-FFF2-40B4-BE49-F238E27FC236}">
                            <a16:creationId xmlns:a16="http://schemas.microsoft.com/office/drawing/2014/main" id="{FB9FDDFE-294B-EA5F-31B7-8047AB249C5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6" name="Line 16">
                        <a:extLst>
                          <a:ext uri="{FF2B5EF4-FFF2-40B4-BE49-F238E27FC236}">
                            <a16:creationId xmlns:a16="http://schemas.microsoft.com/office/drawing/2014/main" id="{87BDFFC8-7B88-C1B9-79D6-A1A1B713DD9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7" name="Line 17">
                        <a:extLst>
                          <a:ext uri="{FF2B5EF4-FFF2-40B4-BE49-F238E27FC236}">
                            <a16:creationId xmlns:a16="http://schemas.microsoft.com/office/drawing/2014/main" id="{BAFBBEB5-B022-BB1A-FB3F-C887E304C22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8" name="Line 18">
                        <a:extLst>
                          <a:ext uri="{FF2B5EF4-FFF2-40B4-BE49-F238E27FC236}">
                            <a16:creationId xmlns:a16="http://schemas.microsoft.com/office/drawing/2014/main" id="{4E6F12B7-3CB3-5007-781C-F308CB4E8C2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9" name="Line 19">
                        <a:extLst>
                          <a:ext uri="{FF2B5EF4-FFF2-40B4-BE49-F238E27FC236}">
                            <a16:creationId xmlns:a16="http://schemas.microsoft.com/office/drawing/2014/main" id="{EB7F3FBD-B1CD-4547-8E1B-EA9D6F8BCB0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0" name="Line 20">
                        <a:extLst>
                          <a:ext uri="{FF2B5EF4-FFF2-40B4-BE49-F238E27FC236}">
                            <a16:creationId xmlns:a16="http://schemas.microsoft.com/office/drawing/2014/main" id="{E0E649E4-E819-5163-6FCE-709A15B4A9F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1" name="Line 21">
                        <a:extLst>
                          <a:ext uri="{FF2B5EF4-FFF2-40B4-BE49-F238E27FC236}">
                            <a16:creationId xmlns:a16="http://schemas.microsoft.com/office/drawing/2014/main" id="{2CA1BEEC-ACD6-7D1E-2A70-9FB565A857E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2" name="Line 22">
                        <a:extLst>
                          <a:ext uri="{FF2B5EF4-FFF2-40B4-BE49-F238E27FC236}">
                            <a16:creationId xmlns:a16="http://schemas.microsoft.com/office/drawing/2014/main" id="{F2AA2C63-105D-1107-D19E-0F6DE58AF25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3" name="Line 23">
                        <a:extLst>
                          <a:ext uri="{FF2B5EF4-FFF2-40B4-BE49-F238E27FC236}">
                            <a16:creationId xmlns:a16="http://schemas.microsoft.com/office/drawing/2014/main" id="{9FDFB48E-AF73-D573-289D-0DB62D31F40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4" name="Line 24">
                        <a:extLst>
                          <a:ext uri="{FF2B5EF4-FFF2-40B4-BE49-F238E27FC236}">
                            <a16:creationId xmlns:a16="http://schemas.microsoft.com/office/drawing/2014/main" id="{12FDDD0C-5FD0-1C79-ADCA-59B59C0E6CE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5" name="Line 25">
                        <a:extLst>
                          <a:ext uri="{FF2B5EF4-FFF2-40B4-BE49-F238E27FC236}">
                            <a16:creationId xmlns:a16="http://schemas.microsoft.com/office/drawing/2014/main" id="{7C752285-FFFC-AA64-E5F4-F01B34EAD6B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6" name="Line 26">
                        <a:extLst>
                          <a:ext uri="{FF2B5EF4-FFF2-40B4-BE49-F238E27FC236}">
                            <a16:creationId xmlns:a16="http://schemas.microsoft.com/office/drawing/2014/main" id="{A95363E3-3B03-C704-3C4F-D6A01E4288F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7" name="Line 27">
                        <a:extLst>
                          <a:ext uri="{FF2B5EF4-FFF2-40B4-BE49-F238E27FC236}">
                            <a16:creationId xmlns:a16="http://schemas.microsoft.com/office/drawing/2014/main" id="{E0179230-F5B8-A806-0C07-5969845628A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8" name="Line 28">
                        <a:extLst>
                          <a:ext uri="{FF2B5EF4-FFF2-40B4-BE49-F238E27FC236}">
                            <a16:creationId xmlns:a16="http://schemas.microsoft.com/office/drawing/2014/main" id="{07D9E367-C026-D112-B366-E30764E5F73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9" name="Line 29">
                        <a:extLst>
                          <a:ext uri="{FF2B5EF4-FFF2-40B4-BE49-F238E27FC236}">
                            <a16:creationId xmlns:a16="http://schemas.microsoft.com/office/drawing/2014/main" id="{7B43BA60-281A-C5F9-DB90-B6435E65399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0" name="Line 30">
                        <a:extLst>
                          <a:ext uri="{FF2B5EF4-FFF2-40B4-BE49-F238E27FC236}">
                            <a16:creationId xmlns:a16="http://schemas.microsoft.com/office/drawing/2014/main" id="{89FDF7E8-ACC4-0F55-232D-C5ACFB1C572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1" name="Line 31">
                        <a:extLst>
                          <a:ext uri="{FF2B5EF4-FFF2-40B4-BE49-F238E27FC236}">
                            <a16:creationId xmlns:a16="http://schemas.microsoft.com/office/drawing/2014/main" id="{D0FA7FDE-628C-95DA-B8EB-6B7C5F87EB2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2" name="Line 32">
                        <a:extLst>
                          <a:ext uri="{FF2B5EF4-FFF2-40B4-BE49-F238E27FC236}">
                            <a16:creationId xmlns:a16="http://schemas.microsoft.com/office/drawing/2014/main" id="{341B5C6C-B0F2-DA43-BF5F-AAEE7FF6663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3" name="Line 33">
                        <a:extLst>
                          <a:ext uri="{FF2B5EF4-FFF2-40B4-BE49-F238E27FC236}">
                            <a16:creationId xmlns:a16="http://schemas.microsoft.com/office/drawing/2014/main" id="{68EC46FE-CDF3-3F09-BF39-5BD883FF0BF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4" name="Line 34">
                        <a:extLst>
                          <a:ext uri="{FF2B5EF4-FFF2-40B4-BE49-F238E27FC236}">
                            <a16:creationId xmlns:a16="http://schemas.microsoft.com/office/drawing/2014/main" id="{4E106BEC-CF91-1C96-2B30-60DC4A3A663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5" name="Line 35">
                        <a:extLst>
                          <a:ext uri="{FF2B5EF4-FFF2-40B4-BE49-F238E27FC236}">
                            <a16:creationId xmlns:a16="http://schemas.microsoft.com/office/drawing/2014/main" id="{831ECAC2-1B5E-E272-D044-95B12E9478F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6" name="Line 36">
                        <a:extLst>
                          <a:ext uri="{FF2B5EF4-FFF2-40B4-BE49-F238E27FC236}">
                            <a16:creationId xmlns:a16="http://schemas.microsoft.com/office/drawing/2014/main" id="{CA41E058-2017-A53E-019D-DDEB0B22695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7" name="Line 37">
                        <a:extLst>
                          <a:ext uri="{FF2B5EF4-FFF2-40B4-BE49-F238E27FC236}">
                            <a16:creationId xmlns:a16="http://schemas.microsoft.com/office/drawing/2014/main" id="{73BC9E37-6A2B-05DB-038C-6E6C055D659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8" name="Line 38">
                        <a:extLst>
                          <a:ext uri="{FF2B5EF4-FFF2-40B4-BE49-F238E27FC236}">
                            <a16:creationId xmlns:a16="http://schemas.microsoft.com/office/drawing/2014/main" id="{6CCF6913-7200-A96B-2617-CE2E5AF78A6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24" name="Text Box 40">
                    <a:extLst>
                      <a:ext uri="{FF2B5EF4-FFF2-40B4-BE49-F238E27FC236}">
                        <a16:creationId xmlns:a16="http://schemas.microsoft.com/office/drawing/2014/main" id="{DB90BAB4-AEE0-A6C3-E461-9E59D851FDE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3" y="1312"/>
                    <a:ext cx="120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[11:0]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25" name="Text Box 41">
                    <a:extLst>
                      <a:ext uri="{FF2B5EF4-FFF2-40B4-BE49-F238E27FC236}">
                        <a16:creationId xmlns:a16="http://schemas.microsoft.com/office/drawing/2014/main" id="{080A2214-9212-D6A6-D97F-5A89517006A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51" y="1326"/>
                    <a:ext cx="543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26" name="Line 42">
                    <a:extLst>
                      <a:ext uri="{FF2B5EF4-FFF2-40B4-BE49-F238E27FC236}">
                        <a16:creationId xmlns:a16="http://schemas.microsoft.com/office/drawing/2014/main" id="{45661C0A-D4A0-3E89-E3BA-67740779F8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27" name="Line 43">
                    <a:extLst>
                      <a:ext uri="{FF2B5EF4-FFF2-40B4-BE49-F238E27FC236}">
                        <a16:creationId xmlns:a16="http://schemas.microsoft.com/office/drawing/2014/main" id="{4E9DC290-731E-EDC8-6B9C-9018E44283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28" name="Line 44">
                    <a:extLst>
                      <a:ext uri="{FF2B5EF4-FFF2-40B4-BE49-F238E27FC236}">
                        <a16:creationId xmlns:a16="http://schemas.microsoft.com/office/drawing/2014/main" id="{C8E9C999-3427-F3AC-9CE0-DFF756628C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29" name="Text Box 46">
                    <a:extLst>
                      <a:ext uri="{FF2B5EF4-FFF2-40B4-BE49-F238E27FC236}">
                        <a16:creationId xmlns:a16="http://schemas.microsoft.com/office/drawing/2014/main" id="{070A69DF-EFF3-1381-929B-7453538BDBA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44" y="1314"/>
                    <a:ext cx="39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30" name="Text Box 47">
                    <a:extLst>
                      <a:ext uri="{FF2B5EF4-FFF2-40B4-BE49-F238E27FC236}">
                        <a16:creationId xmlns:a16="http://schemas.microsoft.com/office/drawing/2014/main" id="{41C8DFB6-DA93-3403-8B09-8C1512FE5C9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8" y="1307"/>
                    <a:ext cx="662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31" name="Text Box 48">
                    <a:extLst>
                      <a:ext uri="{FF2B5EF4-FFF2-40B4-BE49-F238E27FC236}">
                        <a16:creationId xmlns:a16="http://schemas.microsoft.com/office/drawing/2014/main" id="{1F2C09F0-E3D1-BF44-5391-F28D06C2F8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2" name="Text Box 50">
                    <a:extLst>
                      <a:ext uri="{FF2B5EF4-FFF2-40B4-BE49-F238E27FC236}">
                        <a16:creationId xmlns:a16="http://schemas.microsoft.com/office/drawing/2014/main" id="{8512383B-82F0-C55B-04AD-7FFA524DEB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3" name="Text Box 51">
                    <a:extLst>
                      <a:ext uri="{FF2B5EF4-FFF2-40B4-BE49-F238E27FC236}">
                        <a16:creationId xmlns:a16="http://schemas.microsoft.com/office/drawing/2014/main" id="{39E4D25C-EDF9-9EB4-AFB9-426B7903E17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4" name="Text Box 52">
                    <a:extLst>
                      <a:ext uri="{FF2B5EF4-FFF2-40B4-BE49-F238E27FC236}">
                        <a16:creationId xmlns:a16="http://schemas.microsoft.com/office/drawing/2014/main" id="{2CB7062B-6858-CDB1-96C7-88E044D8D19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5" name="Text Box 53">
                    <a:extLst>
                      <a:ext uri="{FF2B5EF4-FFF2-40B4-BE49-F238E27FC236}">
                        <a16:creationId xmlns:a16="http://schemas.microsoft.com/office/drawing/2014/main" id="{F3C5A240-A0A8-BABD-B0E2-D026942D89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6" name="Line 153">
                    <a:extLst>
                      <a:ext uri="{FF2B5EF4-FFF2-40B4-BE49-F238E27FC236}">
                        <a16:creationId xmlns:a16="http://schemas.microsoft.com/office/drawing/2014/main" id="{6F5C23B0-04E0-8BF4-6810-431E8DCAE7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219" name="Line 11">
                <a:extLst>
                  <a:ext uri="{FF2B5EF4-FFF2-40B4-BE49-F238E27FC236}">
                    <a16:creationId xmlns:a16="http://schemas.microsoft.com/office/drawing/2014/main" id="{11C891AA-08CA-6340-F535-77266E67C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0008" y="5256087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17" name="Text Box 41">
              <a:extLst>
                <a:ext uri="{FF2B5EF4-FFF2-40B4-BE49-F238E27FC236}">
                  <a16:creationId xmlns:a16="http://schemas.microsoft.com/office/drawing/2014/main" id="{F09BAD1A-12F5-0064-839B-7DE4DE0A9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3198" y="4392001"/>
              <a:ext cx="383616" cy="175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83" name="Grupo 382">
            <a:extLst>
              <a:ext uri="{FF2B5EF4-FFF2-40B4-BE49-F238E27FC236}">
                <a16:creationId xmlns:a16="http://schemas.microsoft.com/office/drawing/2014/main" id="{2417C3C5-5F69-705D-AAA1-B98241E3A7B2}"/>
              </a:ext>
            </a:extLst>
          </p:cNvPr>
          <p:cNvGrpSpPr/>
          <p:nvPr/>
        </p:nvGrpSpPr>
        <p:grpSpPr>
          <a:xfrm>
            <a:off x="2556871" y="4932159"/>
            <a:ext cx="5759545" cy="1511716"/>
            <a:chOff x="3109309" y="5917230"/>
            <a:chExt cx="3345284" cy="997923"/>
          </a:xfrm>
        </p:grpSpPr>
        <p:grpSp>
          <p:nvGrpSpPr>
            <p:cNvPr id="384" name="Grupo 383">
              <a:extLst>
                <a:ext uri="{FF2B5EF4-FFF2-40B4-BE49-F238E27FC236}">
                  <a16:creationId xmlns:a16="http://schemas.microsoft.com/office/drawing/2014/main" id="{F23C4B39-C762-7BA3-D44F-AD62B4D2FA66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386" name="Group 9">
                <a:extLst>
                  <a:ext uri="{FF2B5EF4-FFF2-40B4-BE49-F238E27FC236}">
                    <a16:creationId xmlns:a16="http://schemas.microsoft.com/office/drawing/2014/main" id="{C476E488-61F6-2323-252F-29EE46226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388" name="Rectangle 10">
                  <a:extLst>
                    <a:ext uri="{FF2B5EF4-FFF2-40B4-BE49-F238E27FC236}">
                      <a16:creationId xmlns:a16="http://schemas.microsoft.com/office/drawing/2014/main" id="{0A1097E5-EAA7-39CB-2DE8-1B211ACD3C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389" name="Group 155">
                  <a:extLst>
                    <a:ext uri="{FF2B5EF4-FFF2-40B4-BE49-F238E27FC236}">
                      <a16:creationId xmlns:a16="http://schemas.microsoft.com/office/drawing/2014/main" id="{6A72143E-2805-93D0-5AD7-458AAFC2C3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390" name="Group 5">
                    <a:extLst>
                      <a:ext uri="{FF2B5EF4-FFF2-40B4-BE49-F238E27FC236}">
                        <a16:creationId xmlns:a16="http://schemas.microsoft.com/office/drawing/2014/main" id="{82B9596E-8C74-CB8C-7FDB-274FA220C7B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408" name="Rectangle 6">
                      <a:extLst>
                        <a:ext uri="{FF2B5EF4-FFF2-40B4-BE49-F238E27FC236}">
                          <a16:creationId xmlns:a16="http://schemas.microsoft.com/office/drawing/2014/main" id="{C612FE4B-EF43-449F-AB95-26180AFD679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409" name="Group 7">
                      <a:extLst>
                        <a:ext uri="{FF2B5EF4-FFF2-40B4-BE49-F238E27FC236}">
                          <a16:creationId xmlns:a16="http://schemas.microsoft.com/office/drawing/2014/main" id="{043F8C21-E30C-B557-E4BB-EDBF9A2ADEA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410" name="Line 9">
                        <a:extLst>
                          <a:ext uri="{FF2B5EF4-FFF2-40B4-BE49-F238E27FC236}">
                            <a16:creationId xmlns:a16="http://schemas.microsoft.com/office/drawing/2014/main" id="{F670B546-A1CC-0003-5C53-0158E93109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1" name="Line 10">
                        <a:extLst>
                          <a:ext uri="{FF2B5EF4-FFF2-40B4-BE49-F238E27FC236}">
                            <a16:creationId xmlns:a16="http://schemas.microsoft.com/office/drawing/2014/main" id="{851BF335-1677-D4B0-62CD-66C887C9DDD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2" name="Line 11">
                        <a:extLst>
                          <a:ext uri="{FF2B5EF4-FFF2-40B4-BE49-F238E27FC236}">
                            <a16:creationId xmlns:a16="http://schemas.microsoft.com/office/drawing/2014/main" id="{941DB029-EEBB-9B6E-0C3F-FC846CCD51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3" name="Line 12">
                        <a:extLst>
                          <a:ext uri="{FF2B5EF4-FFF2-40B4-BE49-F238E27FC236}">
                            <a16:creationId xmlns:a16="http://schemas.microsoft.com/office/drawing/2014/main" id="{9C1286F1-EFE5-FAAF-45A1-8AA23539D5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4" name="Line 13">
                        <a:extLst>
                          <a:ext uri="{FF2B5EF4-FFF2-40B4-BE49-F238E27FC236}">
                            <a16:creationId xmlns:a16="http://schemas.microsoft.com/office/drawing/2014/main" id="{E5CF721E-24F3-E247-2265-3B489B7383F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5" name="Line 14">
                        <a:extLst>
                          <a:ext uri="{FF2B5EF4-FFF2-40B4-BE49-F238E27FC236}">
                            <a16:creationId xmlns:a16="http://schemas.microsoft.com/office/drawing/2014/main" id="{54BCC7D0-B63B-BE5F-0657-681347A161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6" name="Line 15">
                        <a:extLst>
                          <a:ext uri="{FF2B5EF4-FFF2-40B4-BE49-F238E27FC236}">
                            <a16:creationId xmlns:a16="http://schemas.microsoft.com/office/drawing/2014/main" id="{804F1E9C-15D0-E191-F568-196DDC84A3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7" name="Line 16">
                        <a:extLst>
                          <a:ext uri="{FF2B5EF4-FFF2-40B4-BE49-F238E27FC236}">
                            <a16:creationId xmlns:a16="http://schemas.microsoft.com/office/drawing/2014/main" id="{02F16C0D-1A6C-3ACE-719D-F9F7E464F5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8" name="Line 17">
                        <a:extLst>
                          <a:ext uri="{FF2B5EF4-FFF2-40B4-BE49-F238E27FC236}">
                            <a16:creationId xmlns:a16="http://schemas.microsoft.com/office/drawing/2014/main" id="{EF7D8DCF-8741-525B-1E00-89AC18625C2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9" name="Line 18">
                        <a:extLst>
                          <a:ext uri="{FF2B5EF4-FFF2-40B4-BE49-F238E27FC236}">
                            <a16:creationId xmlns:a16="http://schemas.microsoft.com/office/drawing/2014/main" id="{0D36FE0E-7441-2CB5-B115-BA1DE3A9C12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0" name="Line 19">
                        <a:extLst>
                          <a:ext uri="{FF2B5EF4-FFF2-40B4-BE49-F238E27FC236}">
                            <a16:creationId xmlns:a16="http://schemas.microsoft.com/office/drawing/2014/main" id="{DE9019B3-93A9-0730-25F6-7E782857AC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1" name="Line 20">
                        <a:extLst>
                          <a:ext uri="{FF2B5EF4-FFF2-40B4-BE49-F238E27FC236}">
                            <a16:creationId xmlns:a16="http://schemas.microsoft.com/office/drawing/2014/main" id="{D83212BE-2D60-F5E1-6E4B-133D090EED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2" name="Line 21">
                        <a:extLst>
                          <a:ext uri="{FF2B5EF4-FFF2-40B4-BE49-F238E27FC236}">
                            <a16:creationId xmlns:a16="http://schemas.microsoft.com/office/drawing/2014/main" id="{2627FC18-A220-D606-77D1-6988AD6600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3" name="Line 22">
                        <a:extLst>
                          <a:ext uri="{FF2B5EF4-FFF2-40B4-BE49-F238E27FC236}">
                            <a16:creationId xmlns:a16="http://schemas.microsoft.com/office/drawing/2014/main" id="{7E635174-C003-523A-C9DA-31FB1BDFE3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4" name="Line 23">
                        <a:extLst>
                          <a:ext uri="{FF2B5EF4-FFF2-40B4-BE49-F238E27FC236}">
                            <a16:creationId xmlns:a16="http://schemas.microsoft.com/office/drawing/2014/main" id="{A4948275-BB8E-7795-A167-1EF558CCAA9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5" name="Line 24">
                        <a:extLst>
                          <a:ext uri="{FF2B5EF4-FFF2-40B4-BE49-F238E27FC236}">
                            <a16:creationId xmlns:a16="http://schemas.microsoft.com/office/drawing/2014/main" id="{AB0CEF98-C7EC-6EDE-EC62-509D689BA6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6" name="Line 25">
                        <a:extLst>
                          <a:ext uri="{FF2B5EF4-FFF2-40B4-BE49-F238E27FC236}">
                            <a16:creationId xmlns:a16="http://schemas.microsoft.com/office/drawing/2014/main" id="{2D2425FB-50CF-F2D2-538A-741D7A66E3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7" name="Line 26">
                        <a:extLst>
                          <a:ext uri="{FF2B5EF4-FFF2-40B4-BE49-F238E27FC236}">
                            <a16:creationId xmlns:a16="http://schemas.microsoft.com/office/drawing/2014/main" id="{F999D448-3CE0-F2EC-7F25-9FA543F2E9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8" name="Line 27">
                        <a:extLst>
                          <a:ext uri="{FF2B5EF4-FFF2-40B4-BE49-F238E27FC236}">
                            <a16:creationId xmlns:a16="http://schemas.microsoft.com/office/drawing/2014/main" id="{1F7BE0BE-3FC8-EAA1-C15A-85710A4D06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9" name="Line 28">
                        <a:extLst>
                          <a:ext uri="{FF2B5EF4-FFF2-40B4-BE49-F238E27FC236}">
                            <a16:creationId xmlns:a16="http://schemas.microsoft.com/office/drawing/2014/main" id="{FF073DF4-D1CE-DD0E-BA6A-0CDBEE25CB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0" name="Line 29">
                        <a:extLst>
                          <a:ext uri="{FF2B5EF4-FFF2-40B4-BE49-F238E27FC236}">
                            <a16:creationId xmlns:a16="http://schemas.microsoft.com/office/drawing/2014/main" id="{34FAAF64-2830-A90E-91F2-06EB0DDD6F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1" name="Line 30">
                        <a:extLst>
                          <a:ext uri="{FF2B5EF4-FFF2-40B4-BE49-F238E27FC236}">
                            <a16:creationId xmlns:a16="http://schemas.microsoft.com/office/drawing/2014/main" id="{E5C3455E-7B6B-E361-BBB0-61CB399443D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2" name="Line 31">
                        <a:extLst>
                          <a:ext uri="{FF2B5EF4-FFF2-40B4-BE49-F238E27FC236}">
                            <a16:creationId xmlns:a16="http://schemas.microsoft.com/office/drawing/2014/main" id="{AE44A79E-10D2-173D-0BC6-27911FDF9E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3" name="Line 32">
                        <a:extLst>
                          <a:ext uri="{FF2B5EF4-FFF2-40B4-BE49-F238E27FC236}">
                            <a16:creationId xmlns:a16="http://schemas.microsoft.com/office/drawing/2014/main" id="{B913CF7A-A36A-07AC-3913-7AB4391B017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4" name="Line 33">
                        <a:extLst>
                          <a:ext uri="{FF2B5EF4-FFF2-40B4-BE49-F238E27FC236}">
                            <a16:creationId xmlns:a16="http://schemas.microsoft.com/office/drawing/2014/main" id="{C2C4AB21-521C-3A9A-BE2E-C2E11CF9F8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5" name="Line 34">
                        <a:extLst>
                          <a:ext uri="{FF2B5EF4-FFF2-40B4-BE49-F238E27FC236}">
                            <a16:creationId xmlns:a16="http://schemas.microsoft.com/office/drawing/2014/main" id="{331A0494-BFB6-AFEF-686B-FC8F4CB0E9A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6" name="Line 35">
                        <a:extLst>
                          <a:ext uri="{FF2B5EF4-FFF2-40B4-BE49-F238E27FC236}">
                            <a16:creationId xmlns:a16="http://schemas.microsoft.com/office/drawing/2014/main" id="{73CD3055-17D3-D267-3E71-D5BA370719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7" name="Line 36">
                        <a:extLst>
                          <a:ext uri="{FF2B5EF4-FFF2-40B4-BE49-F238E27FC236}">
                            <a16:creationId xmlns:a16="http://schemas.microsoft.com/office/drawing/2014/main" id="{9FBB1551-4B6D-7D6D-36BE-ED4BBB9047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8" name="Line 37">
                        <a:extLst>
                          <a:ext uri="{FF2B5EF4-FFF2-40B4-BE49-F238E27FC236}">
                            <a16:creationId xmlns:a16="http://schemas.microsoft.com/office/drawing/2014/main" id="{B5ECAD7A-613D-1F93-9392-16DB88BD36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9" name="Line 38">
                        <a:extLst>
                          <a:ext uri="{FF2B5EF4-FFF2-40B4-BE49-F238E27FC236}">
                            <a16:creationId xmlns:a16="http://schemas.microsoft.com/office/drawing/2014/main" id="{D344BF01-DD75-0595-5641-735F0CF413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391" name="Line 39">
                    <a:extLst>
                      <a:ext uri="{FF2B5EF4-FFF2-40B4-BE49-F238E27FC236}">
                        <a16:creationId xmlns:a16="http://schemas.microsoft.com/office/drawing/2014/main" id="{C611AA65-F275-AD3C-70F8-2D3B188452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92" name="Text Box 40">
                    <a:extLst>
                      <a:ext uri="{FF2B5EF4-FFF2-40B4-BE49-F238E27FC236}">
                        <a16:creationId xmlns:a16="http://schemas.microsoft.com/office/drawing/2014/main" id="{00D073A6-23E3-EAEA-97BE-E1F84569364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[11:5]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93" name="Text Box 41">
                    <a:extLst>
                      <a:ext uri="{FF2B5EF4-FFF2-40B4-BE49-F238E27FC236}">
                        <a16:creationId xmlns:a16="http://schemas.microsoft.com/office/drawing/2014/main" id="{94806A2A-8171-7782-9356-F51CECEC3F9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94" name="Line 42">
                    <a:extLst>
                      <a:ext uri="{FF2B5EF4-FFF2-40B4-BE49-F238E27FC236}">
                        <a16:creationId xmlns:a16="http://schemas.microsoft.com/office/drawing/2014/main" id="{D33EF6A8-B845-0884-26EF-644467D592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95" name="Line 43">
                    <a:extLst>
                      <a:ext uri="{FF2B5EF4-FFF2-40B4-BE49-F238E27FC236}">
                        <a16:creationId xmlns:a16="http://schemas.microsoft.com/office/drawing/2014/main" id="{65231477-D3FD-EF8D-8FFF-9CE210F41D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96" name="Line 44">
                    <a:extLst>
                      <a:ext uri="{FF2B5EF4-FFF2-40B4-BE49-F238E27FC236}">
                        <a16:creationId xmlns:a16="http://schemas.microsoft.com/office/drawing/2014/main" id="{2D66A6B6-A367-9BB3-4CB6-A3B255EE67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97" name="Text Box 45">
                    <a:extLst>
                      <a:ext uri="{FF2B5EF4-FFF2-40B4-BE49-F238E27FC236}">
                        <a16:creationId xmlns:a16="http://schemas.microsoft.com/office/drawing/2014/main" id="{0F431ADF-BD85-1598-56E8-A98CD319E02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98" name="Text Box 46">
                    <a:extLst>
                      <a:ext uri="{FF2B5EF4-FFF2-40B4-BE49-F238E27FC236}">
                        <a16:creationId xmlns:a16="http://schemas.microsoft.com/office/drawing/2014/main" id="{32011664-24F7-C896-6220-F005544FD8B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99" name="Text Box 47">
                    <a:extLst>
                      <a:ext uri="{FF2B5EF4-FFF2-40B4-BE49-F238E27FC236}">
                        <a16:creationId xmlns:a16="http://schemas.microsoft.com/office/drawing/2014/main" id="{AA00B8F7-3237-151E-56AA-563FE251D47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00" name="Text Box 48">
                    <a:extLst>
                      <a:ext uri="{FF2B5EF4-FFF2-40B4-BE49-F238E27FC236}">
                        <a16:creationId xmlns:a16="http://schemas.microsoft.com/office/drawing/2014/main" id="{D047B981-AED9-1550-24B1-B50BD2ECCA2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1" name="Text Box 49">
                    <a:extLst>
                      <a:ext uri="{FF2B5EF4-FFF2-40B4-BE49-F238E27FC236}">
                        <a16:creationId xmlns:a16="http://schemas.microsoft.com/office/drawing/2014/main" id="{3396969A-0737-4E2D-7743-6C774EF9858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2" name="Text Box 50">
                    <a:extLst>
                      <a:ext uri="{FF2B5EF4-FFF2-40B4-BE49-F238E27FC236}">
                        <a16:creationId xmlns:a16="http://schemas.microsoft.com/office/drawing/2014/main" id="{F59ED2F3-8FCE-413E-A33D-B535649A235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3" name="Text Box 51">
                    <a:extLst>
                      <a:ext uri="{FF2B5EF4-FFF2-40B4-BE49-F238E27FC236}">
                        <a16:creationId xmlns:a16="http://schemas.microsoft.com/office/drawing/2014/main" id="{DA082D4E-812F-7498-FDBB-0D22A3F2AFC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4" name="Text Box 52">
                    <a:extLst>
                      <a:ext uri="{FF2B5EF4-FFF2-40B4-BE49-F238E27FC236}">
                        <a16:creationId xmlns:a16="http://schemas.microsoft.com/office/drawing/2014/main" id="{29F7A8A4-E234-A7E5-1CBB-D50DB17AF70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5" name="Text Box 53">
                    <a:extLst>
                      <a:ext uri="{FF2B5EF4-FFF2-40B4-BE49-F238E27FC236}">
                        <a16:creationId xmlns:a16="http://schemas.microsoft.com/office/drawing/2014/main" id="{ECF710B0-9977-3880-DE4C-5F10D56E337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06" name="Line 153">
                    <a:extLst>
                      <a:ext uri="{FF2B5EF4-FFF2-40B4-BE49-F238E27FC236}">
                        <a16:creationId xmlns:a16="http://schemas.microsoft.com/office/drawing/2014/main" id="{B2FF7896-5E6B-02B9-B187-F7838BD5E8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07" name="Text Box 154">
                    <a:extLst>
                      <a:ext uri="{FF2B5EF4-FFF2-40B4-BE49-F238E27FC236}">
                        <a16:creationId xmlns:a16="http://schemas.microsoft.com/office/drawing/2014/main" id="{0550B11B-D9C2-1562-01DD-FE95243626A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387" name="Text Box 41">
                <a:extLst>
                  <a:ext uri="{FF2B5EF4-FFF2-40B4-BE49-F238E27FC236}">
                    <a16:creationId xmlns:a16="http://schemas.microsoft.com/office/drawing/2014/main" id="{4D019BEB-78EA-D815-7C4A-36F42C3ABDF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[4:0]</a:t>
                </a:r>
                <a:endParaRPr lang="ca-E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385" name="Line 11">
              <a:extLst>
                <a:ext uri="{FF2B5EF4-FFF2-40B4-BE49-F238E27FC236}">
                  <a16:creationId xmlns:a16="http://schemas.microsoft.com/office/drawing/2014/main" id="{5EED63DF-1BC8-9EE2-1297-7FE35BC8A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01C54863-5193-F4B8-5E22-152F8067CF50}"/>
              </a:ext>
            </a:extLst>
          </p:cNvPr>
          <p:cNvGrpSpPr/>
          <p:nvPr/>
        </p:nvGrpSpPr>
        <p:grpSpPr>
          <a:xfrm>
            <a:off x="3060927" y="5373216"/>
            <a:ext cx="5759545" cy="1511716"/>
            <a:chOff x="3109309" y="5917230"/>
            <a:chExt cx="3345284" cy="997923"/>
          </a:xfrm>
        </p:grpSpPr>
        <p:grpSp>
          <p:nvGrpSpPr>
            <p:cNvPr id="270" name="Grupo 269">
              <a:extLst>
                <a:ext uri="{FF2B5EF4-FFF2-40B4-BE49-F238E27FC236}">
                  <a16:creationId xmlns:a16="http://schemas.microsoft.com/office/drawing/2014/main" id="{79C89E05-07AD-DE3F-9EFC-AABDCC9BDCEE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272" name="Group 9">
                <a:extLst>
                  <a:ext uri="{FF2B5EF4-FFF2-40B4-BE49-F238E27FC236}">
                    <a16:creationId xmlns:a16="http://schemas.microsoft.com/office/drawing/2014/main" id="{ED94DC0D-91A3-A964-70FB-10CB8360E2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274" name="Rectangle 10">
                  <a:extLst>
                    <a:ext uri="{FF2B5EF4-FFF2-40B4-BE49-F238E27FC236}">
                      <a16:creationId xmlns:a16="http://schemas.microsoft.com/office/drawing/2014/main" id="{2026DB3B-D5B8-3DE6-378A-3C5622A00D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75" name="Group 155">
                  <a:extLst>
                    <a:ext uri="{FF2B5EF4-FFF2-40B4-BE49-F238E27FC236}">
                      <a16:creationId xmlns:a16="http://schemas.microsoft.com/office/drawing/2014/main" id="{E617ED71-2E6C-D0DD-8D8C-FCD17A7E81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276" name="Group 5">
                    <a:extLst>
                      <a:ext uri="{FF2B5EF4-FFF2-40B4-BE49-F238E27FC236}">
                        <a16:creationId xmlns:a16="http://schemas.microsoft.com/office/drawing/2014/main" id="{B3AA3EBA-CFB3-7DEE-A097-5F2047E390B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294" name="Rectangle 6">
                      <a:extLst>
                        <a:ext uri="{FF2B5EF4-FFF2-40B4-BE49-F238E27FC236}">
                          <a16:creationId xmlns:a16="http://schemas.microsoft.com/office/drawing/2014/main" id="{0C31585B-F4B2-ED6B-6D72-4953A069D8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295" name="Group 7">
                      <a:extLst>
                        <a:ext uri="{FF2B5EF4-FFF2-40B4-BE49-F238E27FC236}">
                          <a16:creationId xmlns:a16="http://schemas.microsoft.com/office/drawing/2014/main" id="{C766C5ED-403F-2CED-BF11-CE80DAF98AB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296" name="Line 9">
                        <a:extLst>
                          <a:ext uri="{FF2B5EF4-FFF2-40B4-BE49-F238E27FC236}">
                            <a16:creationId xmlns:a16="http://schemas.microsoft.com/office/drawing/2014/main" id="{BDB8A3AB-5C90-AE88-AE30-5DFEB7A5CC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97" name="Line 10">
                        <a:extLst>
                          <a:ext uri="{FF2B5EF4-FFF2-40B4-BE49-F238E27FC236}">
                            <a16:creationId xmlns:a16="http://schemas.microsoft.com/office/drawing/2014/main" id="{4D536831-4AC2-60D4-37DF-5B8D386EF8E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98" name="Line 11">
                        <a:extLst>
                          <a:ext uri="{FF2B5EF4-FFF2-40B4-BE49-F238E27FC236}">
                            <a16:creationId xmlns:a16="http://schemas.microsoft.com/office/drawing/2014/main" id="{6C65A46D-84BE-2E1D-EB8A-C4C4E1EE50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99" name="Line 12">
                        <a:extLst>
                          <a:ext uri="{FF2B5EF4-FFF2-40B4-BE49-F238E27FC236}">
                            <a16:creationId xmlns:a16="http://schemas.microsoft.com/office/drawing/2014/main" id="{5B59E2B1-D04B-D93E-FFAE-75F45A34D43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0" name="Line 13">
                        <a:extLst>
                          <a:ext uri="{FF2B5EF4-FFF2-40B4-BE49-F238E27FC236}">
                            <a16:creationId xmlns:a16="http://schemas.microsoft.com/office/drawing/2014/main" id="{E026AF39-BE79-C60A-24B0-8F9E9E1A78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1" name="Line 14">
                        <a:extLst>
                          <a:ext uri="{FF2B5EF4-FFF2-40B4-BE49-F238E27FC236}">
                            <a16:creationId xmlns:a16="http://schemas.microsoft.com/office/drawing/2014/main" id="{5DB041E8-E5F0-E7D7-B0BF-33F5AB9961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2" name="Line 15">
                        <a:extLst>
                          <a:ext uri="{FF2B5EF4-FFF2-40B4-BE49-F238E27FC236}">
                            <a16:creationId xmlns:a16="http://schemas.microsoft.com/office/drawing/2014/main" id="{F8B175D4-78C8-DDAC-79DA-2B0897F55D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3" name="Line 16">
                        <a:extLst>
                          <a:ext uri="{FF2B5EF4-FFF2-40B4-BE49-F238E27FC236}">
                            <a16:creationId xmlns:a16="http://schemas.microsoft.com/office/drawing/2014/main" id="{3E42DAE6-E055-08FE-B267-131F856AAB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4" name="Line 17">
                        <a:extLst>
                          <a:ext uri="{FF2B5EF4-FFF2-40B4-BE49-F238E27FC236}">
                            <a16:creationId xmlns:a16="http://schemas.microsoft.com/office/drawing/2014/main" id="{D880EFB3-8A26-83A5-E399-F9D223B7CA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5" name="Line 18">
                        <a:extLst>
                          <a:ext uri="{FF2B5EF4-FFF2-40B4-BE49-F238E27FC236}">
                            <a16:creationId xmlns:a16="http://schemas.microsoft.com/office/drawing/2014/main" id="{70C255D2-5278-5837-372E-9E69137C0F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6" name="Line 19">
                        <a:extLst>
                          <a:ext uri="{FF2B5EF4-FFF2-40B4-BE49-F238E27FC236}">
                            <a16:creationId xmlns:a16="http://schemas.microsoft.com/office/drawing/2014/main" id="{85739AEA-21CF-2D57-9FC9-9A4216F934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7" name="Line 20">
                        <a:extLst>
                          <a:ext uri="{FF2B5EF4-FFF2-40B4-BE49-F238E27FC236}">
                            <a16:creationId xmlns:a16="http://schemas.microsoft.com/office/drawing/2014/main" id="{AC2B32F1-7BB3-2883-32BF-94D505934B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8" name="Line 21">
                        <a:extLst>
                          <a:ext uri="{FF2B5EF4-FFF2-40B4-BE49-F238E27FC236}">
                            <a16:creationId xmlns:a16="http://schemas.microsoft.com/office/drawing/2014/main" id="{437DA163-AE8B-5D12-DFD8-810EF617562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09" name="Line 22">
                        <a:extLst>
                          <a:ext uri="{FF2B5EF4-FFF2-40B4-BE49-F238E27FC236}">
                            <a16:creationId xmlns:a16="http://schemas.microsoft.com/office/drawing/2014/main" id="{D9FD2598-2C37-38C8-F414-06FAA4149A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0" name="Line 23">
                        <a:extLst>
                          <a:ext uri="{FF2B5EF4-FFF2-40B4-BE49-F238E27FC236}">
                            <a16:creationId xmlns:a16="http://schemas.microsoft.com/office/drawing/2014/main" id="{842D6167-7E7C-CEDC-86BF-2B7339EC091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1" name="Line 24">
                        <a:extLst>
                          <a:ext uri="{FF2B5EF4-FFF2-40B4-BE49-F238E27FC236}">
                            <a16:creationId xmlns:a16="http://schemas.microsoft.com/office/drawing/2014/main" id="{1FDCAAED-FA39-26FB-96BA-1FB811882F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2" name="Line 25">
                        <a:extLst>
                          <a:ext uri="{FF2B5EF4-FFF2-40B4-BE49-F238E27FC236}">
                            <a16:creationId xmlns:a16="http://schemas.microsoft.com/office/drawing/2014/main" id="{33E46EA0-A371-E60A-AF6E-F6AC38EDD4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3" name="Line 26">
                        <a:extLst>
                          <a:ext uri="{FF2B5EF4-FFF2-40B4-BE49-F238E27FC236}">
                            <a16:creationId xmlns:a16="http://schemas.microsoft.com/office/drawing/2014/main" id="{C0894D2C-FC35-9A0A-6018-A7A926300B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4" name="Line 27">
                        <a:extLst>
                          <a:ext uri="{FF2B5EF4-FFF2-40B4-BE49-F238E27FC236}">
                            <a16:creationId xmlns:a16="http://schemas.microsoft.com/office/drawing/2014/main" id="{B2322F1F-2B2B-DACB-C19F-FAE4B5506D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5" name="Line 28">
                        <a:extLst>
                          <a:ext uri="{FF2B5EF4-FFF2-40B4-BE49-F238E27FC236}">
                            <a16:creationId xmlns:a16="http://schemas.microsoft.com/office/drawing/2014/main" id="{C86B9517-4CCF-85C7-2595-E31EBD7E50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6" name="Line 29">
                        <a:extLst>
                          <a:ext uri="{FF2B5EF4-FFF2-40B4-BE49-F238E27FC236}">
                            <a16:creationId xmlns:a16="http://schemas.microsoft.com/office/drawing/2014/main" id="{A6243167-07C9-D645-366F-335E20CCE3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7" name="Line 30">
                        <a:extLst>
                          <a:ext uri="{FF2B5EF4-FFF2-40B4-BE49-F238E27FC236}">
                            <a16:creationId xmlns:a16="http://schemas.microsoft.com/office/drawing/2014/main" id="{5EB5D08C-1510-D8FB-EA1F-93327C0620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8" name="Line 31">
                        <a:extLst>
                          <a:ext uri="{FF2B5EF4-FFF2-40B4-BE49-F238E27FC236}">
                            <a16:creationId xmlns:a16="http://schemas.microsoft.com/office/drawing/2014/main" id="{E97CC255-4408-F3EF-2558-8C6C0135CE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19" name="Line 32">
                        <a:extLst>
                          <a:ext uri="{FF2B5EF4-FFF2-40B4-BE49-F238E27FC236}">
                            <a16:creationId xmlns:a16="http://schemas.microsoft.com/office/drawing/2014/main" id="{AA754AA7-0238-AF62-A187-033785B1DD0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0" name="Line 33">
                        <a:extLst>
                          <a:ext uri="{FF2B5EF4-FFF2-40B4-BE49-F238E27FC236}">
                            <a16:creationId xmlns:a16="http://schemas.microsoft.com/office/drawing/2014/main" id="{1833109F-2BAE-843D-FF2B-76A2525BA1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1" name="Line 34">
                        <a:extLst>
                          <a:ext uri="{FF2B5EF4-FFF2-40B4-BE49-F238E27FC236}">
                            <a16:creationId xmlns:a16="http://schemas.microsoft.com/office/drawing/2014/main" id="{BB467AC9-7BC8-ACCF-9EE5-2F602754A55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2" name="Line 35">
                        <a:extLst>
                          <a:ext uri="{FF2B5EF4-FFF2-40B4-BE49-F238E27FC236}">
                            <a16:creationId xmlns:a16="http://schemas.microsoft.com/office/drawing/2014/main" id="{13165BB1-B8C9-BA90-7BAE-850594E6EDA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3" name="Line 36">
                        <a:extLst>
                          <a:ext uri="{FF2B5EF4-FFF2-40B4-BE49-F238E27FC236}">
                            <a16:creationId xmlns:a16="http://schemas.microsoft.com/office/drawing/2014/main" id="{0E1F6AF3-6EAA-60AD-3174-646B7EFDAB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4" name="Line 37">
                        <a:extLst>
                          <a:ext uri="{FF2B5EF4-FFF2-40B4-BE49-F238E27FC236}">
                            <a16:creationId xmlns:a16="http://schemas.microsoft.com/office/drawing/2014/main" id="{239A191B-7E96-B729-A897-CCAFF8A4C0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5" name="Line 38">
                        <a:extLst>
                          <a:ext uri="{FF2B5EF4-FFF2-40B4-BE49-F238E27FC236}">
                            <a16:creationId xmlns:a16="http://schemas.microsoft.com/office/drawing/2014/main" id="{A07EC590-C9CF-47E7-413F-27A878B50F2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77" name="Line 39">
                    <a:extLst>
                      <a:ext uri="{FF2B5EF4-FFF2-40B4-BE49-F238E27FC236}">
                        <a16:creationId xmlns:a16="http://schemas.microsoft.com/office/drawing/2014/main" id="{E953E055-0B82-DC91-6BFC-696E982120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78" name="Text Box 40">
                    <a:extLst>
                      <a:ext uri="{FF2B5EF4-FFF2-40B4-BE49-F238E27FC236}">
                        <a16:creationId xmlns:a16="http://schemas.microsoft.com/office/drawing/2014/main" id="{CDDF5B91-7566-0109-B968-6C1440DEB7C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[12|10:5]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79" name="Text Box 41">
                    <a:extLst>
                      <a:ext uri="{FF2B5EF4-FFF2-40B4-BE49-F238E27FC236}">
                        <a16:creationId xmlns:a16="http://schemas.microsoft.com/office/drawing/2014/main" id="{EA70664E-A876-C32B-C731-84FFCAA63A5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0" name="Line 42">
                    <a:extLst>
                      <a:ext uri="{FF2B5EF4-FFF2-40B4-BE49-F238E27FC236}">
                        <a16:creationId xmlns:a16="http://schemas.microsoft.com/office/drawing/2014/main" id="{0ADC0665-30A4-3184-61BC-7DAA8FED6D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81" name="Line 43">
                    <a:extLst>
                      <a:ext uri="{FF2B5EF4-FFF2-40B4-BE49-F238E27FC236}">
                        <a16:creationId xmlns:a16="http://schemas.microsoft.com/office/drawing/2014/main" id="{F5514490-C481-D60E-D1E3-585BC022AB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82" name="Line 44">
                    <a:extLst>
                      <a:ext uri="{FF2B5EF4-FFF2-40B4-BE49-F238E27FC236}">
                        <a16:creationId xmlns:a16="http://schemas.microsoft.com/office/drawing/2014/main" id="{4BAB017D-2714-4B87-F1A3-F20B9E4DB2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83" name="Text Box 45">
                    <a:extLst>
                      <a:ext uri="{FF2B5EF4-FFF2-40B4-BE49-F238E27FC236}">
                        <a16:creationId xmlns:a16="http://schemas.microsoft.com/office/drawing/2014/main" id="{F8D9E2C1-B88B-8958-587D-16F1D8033AC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4" name="Text Box 46">
                    <a:extLst>
                      <a:ext uri="{FF2B5EF4-FFF2-40B4-BE49-F238E27FC236}">
                        <a16:creationId xmlns:a16="http://schemas.microsoft.com/office/drawing/2014/main" id="{117C7A21-5A06-AB27-FFD4-EEE7106AE61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5" name="Text Box 47">
                    <a:extLst>
                      <a:ext uri="{FF2B5EF4-FFF2-40B4-BE49-F238E27FC236}">
                        <a16:creationId xmlns:a16="http://schemas.microsoft.com/office/drawing/2014/main" id="{D988437E-C160-1FE2-511F-F76D8BD4A3D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6" name="Text Box 48">
                    <a:extLst>
                      <a:ext uri="{FF2B5EF4-FFF2-40B4-BE49-F238E27FC236}">
                        <a16:creationId xmlns:a16="http://schemas.microsoft.com/office/drawing/2014/main" id="{0BE44906-1196-80AE-DCD2-FF018AEB780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87" name="Text Box 49">
                    <a:extLst>
                      <a:ext uri="{FF2B5EF4-FFF2-40B4-BE49-F238E27FC236}">
                        <a16:creationId xmlns:a16="http://schemas.microsoft.com/office/drawing/2014/main" id="{CFD79E50-7412-2E47-8338-9FA2AF76F0D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88" name="Text Box 50">
                    <a:extLst>
                      <a:ext uri="{FF2B5EF4-FFF2-40B4-BE49-F238E27FC236}">
                        <a16:creationId xmlns:a16="http://schemas.microsoft.com/office/drawing/2014/main" id="{2AF4A328-1FDD-D757-40F4-65A31A6F15D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89" name="Text Box 51">
                    <a:extLst>
                      <a:ext uri="{FF2B5EF4-FFF2-40B4-BE49-F238E27FC236}">
                        <a16:creationId xmlns:a16="http://schemas.microsoft.com/office/drawing/2014/main" id="{D2390D9C-D36B-4B8E-0F8C-C5FED44C851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90" name="Text Box 52">
                    <a:extLst>
                      <a:ext uri="{FF2B5EF4-FFF2-40B4-BE49-F238E27FC236}">
                        <a16:creationId xmlns:a16="http://schemas.microsoft.com/office/drawing/2014/main" id="{0D5FE745-48A2-A5A9-5DF8-C3D5DF45BAA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91" name="Text Box 53">
                    <a:extLst>
                      <a:ext uri="{FF2B5EF4-FFF2-40B4-BE49-F238E27FC236}">
                        <a16:creationId xmlns:a16="http://schemas.microsoft.com/office/drawing/2014/main" id="{D73B242F-3484-E2EC-7918-186A7FB25B5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92" name="Line 153">
                    <a:extLst>
                      <a:ext uri="{FF2B5EF4-FFF2-40B4-BE49-F238E27FC236}">
                        <a16:creationId xmlns:a16="http://schemas.microsoft.com/office/drawing/2014/main" id="{C4867D03-9B24-AE5C-8EAB-BA0001DDD8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93" name="Text Box 154">
                    <a:extLst>
                      <a:ext uri="{FF2B5EF4-FFF2-40B4-BE49-F238E27FC236}">
                        <a16:creationId xmlns:a16="http://schemas.microsoft.com/office/drawing/2014/main" id="{EB876DA2-6A9D-3580-DFAC-F247E103DF4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273" name="Text Box 41">
                <a:extLst>
                  <a:ext uri="{FF2B5EF4-FFF2-40B4-BE49-F238E27FC236}">
                    <a16:creationId xmlns:a16="http://schemas.microsoft.com/office/drawing/2014/main" id="{D8D49D74-880C-23E2-A778-6D63583D391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[4:1|11]</a:t>
                </a:r>
                <a:endParaRPr lang="ca-E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71" name="Line 11">
              <a:extLst>
                <a:ext uri="{FF2B5EF4-FFF2-40B4-BE49-F238E27FC236}">
                  <a16:creationId xmlns:a16="http://schemas.microsoft.com/office/drawing/2014/main" id="{304E311D-FFEC-2342-3E85-EC2ADB13D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8F107EF4-473A-2D57-D26F-5B7AC01DAFF3}"/>
              </a:ext>
            </a:extLst>
          </p:cNvPr>
          <p:cNvSpPr txBox="1"/>
          <p:nvPr/>
        </p:nvSpPr>
        <p:spPr>
          <a:xfrm>
            <a:off x="1250516" y="4943859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88BEC9-74ED-6462-503A-9F05E5324BC3}"/>
              </a:ext>
            </a:extLst>
          </p:cNvPr>
          <p:cNvSpPr txBox="1"/>
          <p:nvPr/>
        </p:nvSpPr>
        <p:spPr>
          <a:xfrm>
            <a:off x="1835446" y="5425954"/>
            <a:ext cx="234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B904FC-67DA-2E6C-94BE-954B54558771}"/>
              </a:ext>
            </a:extLst>
          </p:cNvPr>
          <p:cNvSpPr txBox="1"/>
          <p:nvPr/>
        </p:nvSpPr>
        <p:spPr>
          <a:xfrm>
            <a:off x="2245624" y="588873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F7F5FF-56AF-2003-641B-B29176D361E6}"/>
              </a:ext>
            </a:extLst>
          </p:cNvPr>
          <p:cNvSpPr txBox="1"/>
          <p:nvPr/>
        </p:nvSpPr>
        <p:spPr>
          <a:xfrm>
            <a:off x="2735826" y="6294826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36CF-5376-328F-5605-6BCD8DB1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9FC93FF-A10A-30D4-340B-9B50959E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(beq)</a:t>
            </a:r>
            <a:endParaRPr lang="es-ES_tradnl" dirty="0"/>
          </a:p>
        </p:txBody>
      </p:sp>
      <p:sp>
        <p:nvSpPr>
          <p:cNvPr id="6" name="3 Marcador de contenido">
            <a:extLst>
              <a:ext uri="{FF2B5EF4-FFF2-40B4-BE49-F238E27FC236}">
                <a16:creationId xmlns:a16="http://schemas.microsoft.com/office/drawing/2014/main" id="{F6EB3CAD-A2D9-210D-0EDA-A90D6DC28EA9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163" lvl="1" indent="0" algn="just">
              <a:buNone/>
            </a:pPr>
            <a:r>
              <a:rPr lang="es-ES_tradnl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Pendiente: Incluir una transparencia sobre el circuito Branch</a:t>
            </a:r>
            <a:endParaRPr lang="es-ES_tradnl" sz="2400" noProof="1">
              <a:solidFill>
                <a:srgbClr val="FF0000"/>
              </a:solidFill>
            </a:endParaRPr>
          </a:p>
          <a:p>
            <a:pPr lvl="1" algn="just"/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25732530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115888"/>
            <a:ext cx="8459787" cy="865187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La ruta de datos: Fases de ejecución instrucciones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48</a:t>
            </a:fld>
            <a:endParaRPr lang="es-ES_tradnl" noProof="1"/>
          </a:p>
        </p:txBody>
      </p:sp>
      <p:sp>
        <p:nvSpPr>
          <p:cNvPr id="50" name="Rectángulo redondeado 49"/>
          <p:cNvSpPr/>
          <p:nvPr/>
        </p:nvSpPr>
        <p:spPr bwMode="auto">
          <a:xfrm>
            <a:off x="3657600" y="12954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Lectura en Mem. Instrucciones</a:t>
            </a:r>
          </a:p>
        </p:txBody>
      </p:sp>
      <p:sp>
        <p:nvSpPr>
          <p:cNvPr id="51" name="Rectángulo redondeado 50"/>
          <p:cNvSpPr/>
          <p:nvPr/>
        </p:nvSpPr>
        <p:spPr bwMode="auto">
          <a:xfrm>
            <a:off x="3657600" y="20574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Descodificación</a:t>
            </a:r>
          </a:p>
        </p:txBody>
      </p:sp>
      <p:sp>
        <p:nvSpPr>
          <p:cNvPr id="52" name="Rectángulo redondeado 51"/>
          <p:cNvSpPr/>
          <p:nvPr/>
        </p:nvSpPr>
        <p:spPr bwMode="auto">
          <a:xfrm>
            <a:off x="4648200" y="2895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ángulo redondeado 52"/>
          <p:cNvSpPr/>
          <p:nvPr/>
        </p:nvSpPr>
        <p:spPr bwMode="auto">
          <a:xfrm>
            <a:off x="2743200" y="2895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ángulo redondeado 53"/>
          <p:cNvSpPr/>
          <p:nvPr/>
        </p:nvSpPr>
        <p:spPr bwMode="auto">
          <a:xfrm>
            <a:off x="6553200" y="2895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endParaRPr lang="es-ES_tradnl" sz="1400" b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ángulo redondeado 54"/>
          <p:cNvSpPr/>
          <p:nvPr/>
        </p:nvSpPr>
        <p:spPr bwMode="auto">
          <a:xfrm>
            <a:off x="762000" y="2895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ángulo redondeado 55"/>
          <p:cNvSpPr/>
          <p:nvPr/>
        </p:nvSpPr>
        <p:spPr bwMode="auto">
          <a:xfrm>
            <a:off x="762000" y="3657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Cálculo resultado</a:t>
            </a:r>
          </a:p>
        </p:txBody>
      </p:sp>
      <p:sp>
        <p:nvSpPr>
          <p:cNvPr id="57" name="Rectángulo redondeado 56"/>
          <p:cNvSpPr/>
          <p:nvPr/>
        </p:nvSpPr>
        <p:spPr bwMode="auto">
          <a:xfrm>
            <a:off x="2743200" y="3657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Cálculo dirección memoria</a:t>
            </a:r>
          </a:p>
        </p:txBody>
      </p:sp>
      <p:sp>
        <p:nvSpPr>
          <p:cNvPr id="58" name="Rectángulo redondeado 57"/>
          <p:cNvSpPr/>
          <p:nvPr/>
        </p:nvSpPr>
        <p:spPr bwMode="auto">
          <a:xfrm>
            <a:off x="4648200" y="3657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Cálculo dirección memoria</a:t>
            </a:r>
          </a:p>
        </p:txBody>
      </p:sp>
      <p:sp>
        <p:nvSpPr>
          <p:cNvPr id="59" name="Rectángulo redondeado 58"/>
          <p:cNvSpPr/>
          <p:nvPr/>
        </p:nvSpPr>
        <p:spPr bwMode="auto">
          <a:xfrm>
            <a:off x="6553200" y="3657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Cálculo dirección salto y condición</a:t>
            </a:r>
          </a:p>
        </p:txBody>
      </p:sp>
      <p:sp>
        <p:nvSpPr>
          <p:cNvPr id="60" name="Rectángulo redondeado 59"/>
          <p:cNvSpPr/>
          <p:nvPr/>
        </p:nvSpPr>
        <p:spPr bwMode="auto">
          <a:xfrm>
            <a:off x="762000" y="5181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Escritura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ángulo redondeado 60"/>
          <p:cNvSpPr/>
          <p:nvPr/>
        </p:nvSpPr>
        <p:spPr bwMode="auto">
          <a:xfrm>
            <a:off x="2743200" y="4419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Lectura en Mem. datos</a:t>
            </a:r>
          </a:p>
        </p:txBody>
      </p:sp>
      <p:sp>
        <p:nvSpPr>
          <p:cNvPr id="62" name="Rectángulo redondeado 61"/>
          <p:cNvSpPr/>
          <p:nvPr/>
        </p:nvSpPr>
        <p:spPr bwMode="auto">
          <a:xfrm>
            <a:off x="4648200" y="4419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Escritura en Mem. datos</a:t>
            </a:r>
          </a:p>
        </p:txBody>
      </p:sp>
      <p:sp>
        <p:nvSpPr>
          <p:cNvPr id="63" name="Rectángulo redondeado 62"/>
          <p:cNvSpPr/>
          <p:nvPr/>
        </p:nvSpPr>
        <p:spPr bwMode="auto">
          <a:xfrm>
            <a:off x="2743200" y="5181600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Escritura </a:t>
            </a:r>
            <a:r>
              <a:rPr lang="es-ES_tradnl" sz="1400" noProof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4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Conector recto de flecha 64"/>
          <p:cNvCxnSpPr>
            <a:stCxn id="50" idx="2"/>
            <a:endCxn id="51" idx="0"/>
          </p:cNvCxnSpPr>
          <p:nvPr/>
        </p:nvCxnSpPr>
        <p:spPr bwMode="auto">
          <a:xfrm rot="5400000">
            <a:off x="4419600" y="19431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angular 66"/>
          <p:cNvCxnSpPr>
            <a:stCxn id="51" idx="2"/>
            <a:endCxn id="55" idx="0"/>
          </p:cNvCxnSpPr>
          <p:nvPr/>
        </p:nvCxnSpPr>
        <p:spPr bwMode="auto">
          <a:xfrm rot="5400000">
            <a:off x="2933700" y="1295400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angular 67"/>
          <p:cNvCxnSpPr>
            <a:stCxn id="51" idx="2"/>
            <a:endCxn id="53" idx="0"/>
          </p:cNvCxnSpPr>
          <p:nvPr/>
        </p:nvCxnSpPr>
        <p:spPr bwMode="auto">
          <a:xfrm rot="5400000">
            <a:off x="3924300" y="2286000"/>
            <a:ext cx="304800" cy="9144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angular 70"/>
          <p:cNvCxnSpPr>
            <a:stCxn id="51" idx="2"/>
            <a:endCxn id="52" idx="0"/>
          </p:cNvCxnSpPr>
          <p:nvPr/>
        </p:nvCxnSpPr>
        <p:spPr bwMode="auto">
          <a:xfrm rot="16200000" flipH="1">
            <a:off x="4876800" y="2247900"/>
            <a:ext cx="304800" cy="990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angular 73"/>
          <p:cNvCxnSpPr>
            <a:stCxn id="51" idx="2"/>
            <a:endCxn id="54" idx="0"/>
          </p:cNvCxnSpPr>
          <p:nvPr/>
        </p:nvCxnSpPr>
        <p:spPr bwMode="auto">
          <a:xfrm rot="16200000" flipH="1">
            <a:off x="5829300" y="1295400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ector recto de flecha 76"/>
          <p:cNvCxnSpPr>
            <a:stCxn id="55" idx="2"/>
            <a:endCxn id="56" idx="0"/>
          </p:cNvCxnSpPr>
          <p:nvPr/>
        </p:nvCxnSpPr>
        <p:spPr bwMode="auto">
          <a:xfrm rot="5400000">
            <a:off x="1524000" y="35433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ector recto de flecha 79"/>
          <p:cNvCxnSpPr>
            <a:stCxn id="53" idx="2"/>
            <a:endCxn id="57" idx="0"/>
          </p:cNvCxnSpPr>
          <p:nvPr/>
        </p:nvCxnSpPr>
        <p:spPr bwMode="auto">
          <a:xfrm rot="5400000">
            <a:off x="3505200" y="35433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ector recto de flecha 82"/>
          <p:cNvCxnSpPr>
            <a:stCxn id="52" idx="2"/>
            <a:endCxn id="58" idx="0"/>
          </p:cNvCxnSpPr>
          <p:nvPr/>
        </p:nvCxnSpPr>
        <p:spPr bwMode="auto">
          <a:xfrm rot="5400000">
            <a:off x="5410200" y="35433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ector recto de flecha 85"/>
          <p:cNvCxnSpPr>
            <a:stCxn id="54" idx="2"/>
            <a:endCxn id="59" idx="0"/>
          </p:cNvCxnSpPr>
          <p:nvPr/>
        </p:nvCxnSpPr>
        <p:spPr bwMode="auto">
          <a:xfrm rot="5400000">
            <a:off x="7315200" y="35433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/>
          <p:cNvCxnSpPr>
            <a:stCxn id="56" idx="2"/>
            <a:endCxn id="60" idx="0"/>
          </p:cNvCxnSpPr>
          <p:nvPr/>
        </p:nvCxnSpPr>
        <p:spPr bwMode="auto">
          <a:xfrm rot="5400000">
            <a:off x="1143000" y="4686300"/>
            <a:ext cx="990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onector recto de flecha 91"/>
          <p:cNvCxnSpPr>
            <a:stCxn id="57" idx="2"/>
            <a:endCxn id="61" idx="0"/>
          </p:cNvCxnSpPr>
          <p:nvPr/>
        </p:nvCxnSpPr>
        <p:spPr bwMode="auto">
          <a:xfrm rot="5400000">
            <a:off x="3505200" y="43053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ector recto de flecha 94"/>
          <p:cNvCxnSpPr>
            <a:stCxn id="58" idx="2"/>
            <a:endCxn id="62" idx="0"/>
          </p:cNvCxnSpPr>
          <p:nvPr/>
        </p:nvCxnSpPr>
        <p:spPr bwMode="auto">
          <a:xfrm rot="5400000">
            <a:off x="5410200" y="43053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ector recto de flecha 97"/>
          <p:cNvCxnSpPr>
            <a:stCxn id="61" idx="2"/>
            <a:endCxn id="63" idx="0"/>
          </p:cNvCxnSpPr>
          <p:nvPr/>
        </p:nvCxnSpPr>
        <p:spPr bwMode="auto">
          <a:xfrm rot="5400000">
            <a:off x="3505200" y="5067300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724983" y="6324600"/>
            <a:ext cx="1672253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 rd, rs1, rs2</a:t>
            </a:r>
          </a:p>
        </p:txBody>
      </p:sp>
      <p:sp>
        <p:nvSpPr>
          <p:cNvPr id="102" name="CuadroTexto 101"/>
          <p:cNvSpPr txBox="1"/>
          <p:nvPr/>
        </p:nvSpPr>
        <p:spPr>
          <a:xfrm>
            <a:off x="2830853" y="6324600"/>
            <a:ext cx="1579278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lw rd, inm(rs1)</a:t>
            </a:r>
          </a:p>
        </p:txBody>
      </p:sp>
      <p:sp>
        <p:nvSpPr>
          <p:cNvPr id="103" name="CuadroTexto 102"/>
          <p:cNvSpPr txBox="1"/>
          <p:nvPr/>
        </p:nvSpPr>
        <p:spPr>
          <a:xfrm>
            <a:off x="4673506" y="6324600"/>
            <a:ext cx="1672253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sw rs2, inm(rs1)</a:t>
            </a:r>
          </a:p>
        </p:txBody>
      </p:sp>
      <p:sp>
        <p:nvSpPr>
          <p:cNvPr id="104" name="CuadroTexto 103"/>
          <p:cNvSpPr txBox="1"/>
          <p:nvPr/>
        </p:nvSpPr>
        <p:spPr>
          <a:xfrm>
            <a:off x="6515268" y="6324600"/>
            <a:ext cx="1858201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beq rs1, rs2, etiq</a:t>
            </a:r>
          </a:p>
        </p:txBody>
      </p:sp>
      <p:sp>
        <p:nvSpPr>
          <p:cNvPr id="106" name="CuadroTexto 105"/>
          <p:cNvSpPr txBox="1"/>
          <p:nvPr/>
        </p:nvSpPr>
        <p:spPr>
          <a:xfrm>
            <a:off x="8255001" y="2777068"/>
            <a:ext cx="780470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Banco</a:t>
            </a:r>
          </a:p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 (lectura)</a:t>
            </a:r>
          </a:p>
        </p:txBody>
      </p:sp>
      <p:sp>
        <p:nvSpPr>
          <p:cNvPr id="108" name="CuadroTexto 107"/>
          <p:cNvSpPr txBox="1"/>
          <p:nvPr/>
        </p:nvSpPr>
        <p:spPr>
          <a:xfrm>
            <a:off x="8383884" y="3810000"/>
            <a:ext cx="47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111" name="CuadroTexto 110"/>
          <p:cNvSpPr txBox="1"/>
          <p:nvPr/>
        </p:nvSpPr>
        <p:spPr>
          <a:xfrm>
            <a:off x="8209084" y="5181600"/>
            <a:ext cx="858716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Banco</a:t>
            </a:r>
          </a:p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 (escritura)</a:t>
            </a:r>
          </a:p>
        </p:txBody>
      </p:sp>
      <p:sp>
        <p:nvSpPr>
          <p:cNvPr id="119" name="CuadroTexto 118"/>
          <p:cNvSpPr txBox="1"/>
          <p:nvPr/>
        </p:nvSpPr>
        <p:spPr>
          <a:xfrm>
            <a:off x="8258244" y="4488257"/>
            <a:ext cx="733356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121" name="Conector recto 120"/>
          <p:cNvCxnSpPr/>
          <p:nvPr/>
        </p:nvCxnSpPr>
        <p:spPr bwMode="auto">
          <a:xfrm>
            <a:off x="609600" y="1981200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/>
          <p:cNvCxnSpPr/>
          <p:nvPr/>
        </p:nvCxnSpPr>
        <p:spPr bwMode="auto">
          <a:xfrm>
            <a:off x="609600" y="3505200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/>
          <p:cNvCxnSpPr/>
          <p:nvPr/>
        </p:nvCxnSpPr>
        <p:spPr bwMode="auto">
          <a:xfrm>
            <a:off x="609600" y="4267200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Conector recto 125"/>
          <p:cNvCxnSpPr/>
          <p:nvPr/>
        </p:nvCxnSpPr>
        <p:spPr bwMode="auto">
          <a:xfrm>
            <a:off x="609600" y="5027612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Conector recto 126"/>
          <p:cNvCxnSpPr/>
          <p:nvPr/>
        </p:nvCxnSpPr>
        <p:spPr bwMode="auto">
          <a:xfrm>
            <a:off x="609600" y="1143000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Conector recto 131"/>
          <p:cNvCxnSpPr/>
          <p:nvPr/>
        </p:nvCxnSpPr>
        <p:spPr bwMode="auto">
          <a:xfrm>
            <a:off x="609600" y="2665412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CuadroTexto 132"/>
          <p:cNvSpPr txBox="1"/>
          <p:nvPr/>
        </p:nvSpPr>
        <p:spPr>
          <a:xfrm>
            <a:off x="8117043" y="1371600"/>
            <a:ext cx="1015760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Instrucciones</a:t>
            </a:r>
          </a:p>
        </p:txBody>
      </p:sp>
      <p:sp>
        <p:nvSpPr>
          <p:cNvPr id="134" name="CuadroTexto 133"/>
          <p:cNvSpPr txBox="1"/>
          <p:nvPr/>
        </p:nvSpPr>
        <p:spPr>
          <a:xfrm>
            <a:off x="8171190" y="2126057"/>
            <a:ext cx="827789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Unidad de </a:t>
            </a:r>
          </a:p>
          <a:p>
            <a:r>
              <a:rPr lang="es-ES_tradnl" sz="1100" noProof="1">
                <a:solidFill>
                  <a:schemeClr val="accent1">
                    <a:lumMod val="75000"/>
                  </a:schemeClr>
                </a:solidFill>
              </a:rPr>
              <a:t>Control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Seleccionar recursos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Multiplexores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El uso de los recursos (memorias,  ALUs, registros, …) será diferente en función de la instruccion ejecutándose</a:t>
            </a:r>
          </a:p>
          <a:p>
            <a:pPr lvl="1"/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Utilizaremos varios multiplexores para seleccionar los caminos de la ruta de datos a utilizar, en función de la instrucción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1" smtClean="0"/>
              <a:pPr/>
              <a:t>49</a:t>
            </a:fld>
            <a:endParaRPr lang="es-ES_tradnl" noProof="1"/>
          </a:p>
        </p:txBody>
      </p:sp>
      <p:sp>
        <p:nvSpPr>
          <p:cNvPr id="34" name="Rectángulo 33"/>
          <p:cNvSpPr/>
          <p:nvPr/>
        </p:nvSpPr>
        <p:spPr bwMode="auto">
          <a:xfrm>
            <a:off x="1786468" y="3733800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" name="Conector recto de flecha 35"/>
          <p:cNvCxnSpPr/>
          <p:nvPr/>
        </p:nvCxnSpPr>
        <p:spPr bwMode="auto">
          <a:xfrm>
            <a:off x="1295400" y="40386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Conector recto de flecha 36"/>
          <p:cNvCxnSpPr/>
          <p:nvPr/>
        </p:nvCxnSpPr>
        <p:spPr bwMode="auto">
          <a:xfrm>
            <a:off x="1295400" y="47244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Conector recto de flecha 37"/>
          <p:cNvCxnSpPr>
            <a:stCxn id="34" idx="3"/>
          </p:cNvCxnSpPr>
          <p:nvPr/>
        </p:nvCxnSpPr>
        <p:spPr bwMode="auto">
          <a:xfrm>
            <a:off x="2167468" y="4343400"/>
            <a:ext cx="423332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recto de flecha 38"/>
          <p:cNvCxnSpPr>
            <a:endCxn id="34" idx="2"/>
          </p:cNvCxnSpPr>
          <p:nvPr/>
        </p:nvCxnSpPr>
        <p:spPr bwMode="auto">
          <a:xfrm rot="16200000" flipV="1">
            <a:off x="1750484" y="5179484"/>
            <a:ext cx="457200" cy="4232"/>
          </a:xfrm>
          <a:prstGeom prst="straightConnector1">
            <a:avLst/>
          </a:prstGeom>
          <a:ln w="38100" cmpd="sng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CuadroTexto 50"/>
          <p:cNvSpPr txBox="1"/>
          <p:nvPr/>
        </p:nvSpPr>
        <p:spPr>
          <a:xfrm>
            <a:off x="1662915" y="5410200"/>
            <a:ext cx="6495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1">
                <a:solidFill>
                  <a:srgbClr val="FF6600"/>
                </a:solidFill>
              </a:rPr>
              <a:t>MxALU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1518010" y="3581400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CuadroTexto 54"/>
          <p:cNvSpPr txBox="1"/>
          <p:nvPr/>
        </p:nvSpPr>
        <p:spPr>
          <a:xfrm>
            <a:off x="1524000" y="4340423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Rectángulo 55"/>
          <p:cNvSpPr/>
          <p:nvPr/>
        </p:nvSpPr>
        <p:spPr bwMode="auto">
          <a:xfrm>
            <a:off x="3810000" y="3733800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7" name="Conector recto de flecha 56"/>
          <p:cNvCxnSpPr/>
          <p:nvPr/>
        </p:nvCxnSpPr>
        <p:spPr bwMode="auto">
          <a:xfrm>
            <a:off x="3318932" y="40386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Conector recto de flecha 57"/>
          <p:cNvCxnSpPr/>
          <p:nvPr/>
        </p:nvCxnSpPr>
        <p:spPr bwMode="auto">
          <a:xfrm>
            <a:off x="3318932" y="47244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de flecha 58"/>
          <p:cNvCxnSpPr>
            <a:stCxn id="56" idx="3"/>
          </p:cNvCxnSpPr>
          <p:nvPr/>
        </p:nvCxnSpPr>
        <p:spPr bwMode="auto">
          <a:xfrm>
            <a:off x="4191000" y="4343400"/>
            <a:ext cx="423332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de flecha 59"/>
          <p:cNvCxnSpPr>
            <a:endCxn id="56" idx="2"/>
          </p:cNvCxnSpPr>
          <p:nvPr/>
        </p:nvCxnSpPr>
        <p:spPr bwMode="auto">
          <a:xfrm rot="16200000" flipV="1">
            <a:off x="3774016" y="5179484"/>
            <a:ext cx="457200" cy="4232"/>
          </a:xfrm>
          <a:prstGeom prst="straightConnector1">
            <a:avLst/>
          </a:prstGeom>
          <a:ln w="38100" cmpd="sng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CuadroTexto 60"/>
          <p:cNvSpPr txBox="1"/>
          <p:nvPr/>
        </p:nvSpPr>
        <p:spPr>
          <a:xfrm>
            <a:off x="3731829" y="5410200"/>
            <a:ext cx="5587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1">
                <a:solidFill>
                  <a:srgbClr val="FF6600"/>
                </a:solidFill>
              </a:rPr>
              <a:t>MxER</a:t>
            </a:r>
          </a:p>
        </p:txBody>
      </p:sp>
      <p:sp>
        <p:nvSpPr>
          <p:cNvPr id="62" name="CuadroTexto 61"/>
          <p:cNvSpPr txBox="1"/>
          <p:nvPr/>
        </p:nvSpPr>
        <p:spPr>
          <a:xfrm>
            <a:off x="3541542" y="3581400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64" name="CuadroTexto 63"/>
          <p:cNvSpPr txBox="1"/>
          <p:nvPr/>
        </p:nvSpPr>
        <p:spPr>
          <a:xfrm>
            <a:off x="3547532" y="4340423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5" name="Rectángulo 64"/>
          <p:cNvSpPr/>
          <p:nvPr/>
        </p:nvSpPr>
        <p:spPr bwMode="auto">
          <a:xfrm>
            <a:off x="5562600" y="3733800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66" name="Conector recto de flecha 65"/>
          <p:cNvCxnSpPr/>
          <p:nvPr/>
        </p:nvCxnSpPr>
        <p:spPr bwMode="auto">
          <a:xfrm>
            <a:off x="5071532" y="40386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de flecha 66"/>
          <p:cNvCxnSpPr/>
          <p:nvPr/>
        </p:nvCxnSpPr>
        <p:spPr bwMode="auto">
          <a:xfrm>
            <a:off x="5071532" y="47244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recto de flecha 67"/>
          <p:cNvCxnSpPr>
            <a:stCxn id="65" idx="3"/>
          </p:cNvCxnSpPr>
          <p:nvPr/>
        </p:nvCxnSpPr>
        <p:spPr bwMode="auto">
          <a:xfrm>
            <a:off x="5943600" y="4343400"/>
            <a:ext cx="423332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de flecha 68"/>
          <p:cNvCxnSpPr>
            <a:endCxn id="65" idx="2"/>
          </p:cNvCxnSpPr>
          <p:nvPr/>
        </p:nvCxnSpPr>
        <p:spPr bwMode="auto">
          <a:xfrm rot="16200000" flipV="1">
            <a:off x="5526616" y="5179484"/>
            <a:ext cx="457200" cy="4232"/>
          </a:xfrm>
          <a:prstGeom prst="straightConnector1">
            <a:avLst/>
          </a:prstGeom>
          <a:ln w="38100" cmpd="sng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CuadroTexto 69"/>
          <p:cNvSpPr txBox="1"/>
          <p:nvPr/>
        </p:nvSpPr>
        <p:spPr>
          <a:xfrm>
            <a:off x="5427827" y="5410200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1">
                <a:solidFill>
                  <a:srgbClr val="FF6600"/>
                </a:solidFill>
              </a:rPr>
              <a:t>MxDest</a:t>
            </a:r>
          </a:p>
        </p:txBody>
      </p:sp>
      <p:sp>
        <p:nvSpPr>
          <p:cNvPr id="88" name="CuadroTexto 87"/>
          <p:cNvSpPr txBox="1"/>
          <p:nvPr/>
        </p:nvSpPr>
        <p:spPr>
          <a:xfrm>
            <a:off x="5294142" y="3581400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5300132" y="4340423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3" name="CuadroTexto 102"/>
          <p:cNvSpPr txBox="1"/>
          <p:nvPr/>
        </p:nvSpPr>
        <p:spPr>
          <a:xfrm>
            <a:off x="6548479" y="4612396"/>
            <a:ext cx="5597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1">
                <a:solidFill>
                  <a:srgbClr val="FF6600"/>
                </a:solidFill>
              </a:rPr>
              <a:t>MxPC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98B581F-947F-42AB-821F-EAB82E149F43}"/>
              </a:ext>
            </a:extLst>
          </p:cNvPr>
          <p:cNvGrpSpPr/>
          <p:nvPr/>
        </p:nvGrpSpPr>
        <p:grpSpPr>
          <a:xfrm rot="5400000">
            <a:off x="7046802" y="3587332"/>
            <a:ext cx="1295400" cy="1816938"/>
            <a:chOff x="7052732" y="3593262"/>
            <a:chExt cx="1295400" cy="1816938"/>
          </a:xfrm>
        </p:grpSpPr>
        <p:cxnSp>
          <p:nvCxnSpPr>
            <p:cNvPr id="99" name="Conector recto de flecha 98"/>
            <p:cNvCxnSpPr/>
            <p:nvPr/>
          </p:nvCxnSpPr>
          <p:spPr bwMode="auto">
            <a:xfrm>
              <a:off x="7052732" y="4038600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0" name="Conector recto de flecha 99"/>
            <p:cNvCxnSpPr/>
            <p:nvPr/>
          </p:nvCxnSpPr>
          <p:spPr bwMode="auto">
            <a:xfrm>
              <a:off x="7052732" y="4724400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1" name="Conector recto de flecha 100"/>
            <p:cNvCxnSpPr>
              <a:cxnSpLocks/>
            </p:cNvCxnSpPr>
            <p:nvPr/>
          </p:nvCxnSpPr>
          <p:spPr bwMode="auto">
            <a:xfrm>
              <a:off x="7924800" y="4343400"/>
              <a:ext cx="423332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" name="Conector recto de flecha 101"/>
            <p:cNvCxnSpPr>
              <a:cxnSpLocks/>
            </p:cNvCxnSpPr>
            <p:nvPr/>
          </p:nvCxnSpPr>
          <p:spPr bwMode="auto">
            <a:xfrm rot="16200000" flipV="1">
              <a:off x="7507816" y="5179484"/>
              <a:ext cx="457200" cy="4232"/>
            </a:xfrm>
            <a:prstGeom prst="straightConnector1">
              <a:avLst/>
            </a:prstGeom>
            <a:ln w="38100" cmpd="sng"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CuadroTexto 103"/>
            <p:cNvSpPr txBox="1"/>
            <p:nvPr/>
          </p:nvSpPr>
          <p:spPr>
            <a:xfrm rot="16200000">
              <a:off x="7275575" y="358139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05" name="CuadroTexto 104"/>
            <p:cNvSpPr txBox="1"/>
            <p:nvPr/>
          </p:nvSpPr>
          <p:spPr>
            <a:xfrm rot="16200000">
              <a:off x="7281565" y="434042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</p:grpSp>
      <p:cxnSp>
        <p:nvCxnSpPr>
          <p:cNvPr id="6" name="5 Conector recto de flecha"/>
          <p:cNvCxnSpPr>
            <a:endCxn id="34" idx="3"/>
          </p:cNvCxnSpPr>
          <p:nvPr/>
        </p:nvCxnSpPr>
        <p:spPr bwMode="auto">
          <a:xfrm>
            <a:off x="1708297" y="4041776"/>
            <a:ext cx="459171" cy="301624"/>
          </a:xfrm>
          <a:prstGeom prst="straightConnector1">
            <a:avLst/>
          </a:prstGeom>
          <a:ln w="38100" cmpd="sng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41 Conector recto de flecha"/>
          <p:cNvCxnSpPr>
            <a:endCxn id="34" idx="3"/>
          </p:cNvCxnSpPr>
          <p:nvPr/>
        </p:nvCxnSpPr>
        <p:spPr bwMode="auto">
          <a:xfrm flipV="1">
            <a:off x="1752600" y="4343400"/>
            <a:ext cx="414868" cy="368626"/>
          </a:xfrm>
          <a:prstGeom prst="straightConnector1">
            <a:avLst/>
          </a:prstGeom>
          <a:ln w="38100" cmpd="sng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Botón de acción: en blanco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7DB7BC5-2875-41D5-879B-AD627A78078C}"/>
              </a:ext>
            </a:extLst>
          </p:cNvPr>
          <p:cNvSpPr/>
          <p:nvPr/>
        </p:nvSpPr>
        <p:spPr bwMode="auto">
          <a:xfrm>
            <a:off x="1556164" y="5689670"/>
            <a:ext cx="360040" cy="251508"/>
          </a:xfrm>
          <a:prstGeom prst="actionButtonBlank">
            <a:avLst/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3" name="Botón de acción: en blanco 4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F74DB67-73EF-494C-9BE4-64CB1EDF2BB9}"/>
              </a:ext>
            </a:extLst>
          </p:cNvPr>
          <p:cNvSpPr/>
          <p:nvPr/>
        </p:nvSpPr>
        <p:spPr bwMode="auto">
          <a:xfrm>
            <a:off x="2023792" y="5689670"/>
            <a:ext cx="360040" cy="251508"/>
          </a:xfrm>
          <a:prstGeom prst="actionButtonBlank">
            <a:avLst/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CD360F-4E2E-8332-4E63-AA4FDDB754E1}"/>
              </a:ext>
            </a:extLst>
          </p:cNvPr>
          <p:cNvSpPr/>
          <p:nvPr/>
        </p:nvSpPr>
        <p:spPr bwMode="auto">
          <a:xfrm>
            <a:off x="3220072" y="6426116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860FA8-7FB0-6CAD-77B0-C13D7B4FB00C}"/>
              </a:ext>
            </a:extLst>
          </p:cNvPr>
          <p:cNvSpPr/>
          <p:nvPr/>
        </p:nvSpPr>
        <p:spPr bwMode="auto">
          <a:xfrm rot="5400000">
            <a:off x="7662333" y="3901722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s-ES_tradnl" sz="1200" noProof="1">
                <a:solidFill>
                  <a:schemeClr val="tx1"/>
                </a:solidFill>
              </a:rPr>
              <a:t>MUX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0"/>
            <a:ext cx="8459787" cy="865187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La ruta de datos: Seleccionar recursos necesarios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1" y="762000"/>
            <a:ext cx="8686800" cy="2734843"/>
          </a:xfrm>
        </p:spPr>
        <p:txBody>
          <a:bodyPr/>
          <a:lstStyle/>
          <a:p>
            <a:r>
              <a:rPr lang="es-ES_tradnl" sz="20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Multiplexores</a:t>
            </a:r>
          </a:p>
          <a:p>
            <a:pPr lvl="1"/>
            <a:r>
              <a:rPr lang="es-ES_tradnl" sz="18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Conforme avanza el diseño se hacen necesarios nuevos caminos en la ruta de datos, por lo que se necesita ampliar los multiplexores</a:t>
            </a:r>
          </a:p>
          <a:p>
            <a:pPr lvl="1"/>
            <a:r>
              <a:rPr lang="es-ES_tradnl" sz="18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pueden usar multiplexores de 4-1 o 8-1</a:t>
            </a:r>
          </a:p>
          <a:p>
            <a:pPr lvl="1" algn="just"/>
            <a:r>
              <a:rPr lang="es-ES_tradnl" sz="18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multiplexor de 4-1 de la figura la señal de control es de 2 bits y se indica la combinación de esos dos bits para activar la entrada correspondiente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50</a:t>
            </a:fld>
            <a:endParaRPr lang="es-ES_tradnl" noProof="1"/>
          </a:p>
        </p:txBody>
      </p:sp>
      <p:grpSp>
        <p:nvGrpSpPr>
          <p:cNvPr id="22" name="21 Grupo"/>
          <p:cNvGrpSpPr/>
          <p:nvPr/>
        </p:nvGrpSpPr>
        <p:grpSpPr>
          <a:xfrm>
            <a:off x="2974148" y="3597014"/>
            <a:ext cx="1405397" cy="2842874"/>
            <a:chOff x="3310619" y="2983118"/>
            <a:chExt cx="1405397" cy="2842874"/>
          </a:xfrm>
        </p:grpSpPr>
        <p:cxnSp>
          <p:nvCxnSpPr>
            <p:cNvPr id="57" name="Conector recto de flecha 56"/>
            <p:cNvCxnSpPr/>
            <p:nvPr/>
          </p:nvCxnSpPr>
          <p:spPr bwMode="auto">
            <a:xfrm>
              <a:off x="3310619" y="3859569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Conector recto de flecha 57"/>
            <p:cNvCxnSpPr/>
            <p:nvPr/>
          </p:nvCxnSpPr>
          <p:spPr bwMode="auto">
            <a:xfrm>
              <a:off x="3318932" y="4864724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Conector recto de flecha 58"/>
            <p:cNvCxnSpPr>
              <a:cxnSpLocks/>
            </p:cNvCxnSpPr>
            <p:nvPr/>
          </p:nvCxnSpPr>
          <p:spPr bwMode="auto">
            <a:xfrm>
              <a:off x="4191000" y="4082988"/>
              <a:ext cx="525016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Conector recto de flecha 59"/>
            <p:cNvCxnSpPr>
              <a:cxnSpLocks/>
              <a:stCxn id="61" idx="0"/>
            </p:cNvCxnSpPr>
            <p:nvPr/>
          </p:nvCxnSpPr>
          <p:spPr bwMode="auto">
            <a:xfrm flipV="1">
              <a:off x="4000500" y="4953000"/>
              <a:ext cx="0" cy="619076"/>
            </a:xfrm>
            <a:prstGeom prst="straightConnector1">
              <a:avLst/>
            </a:prstGeom>
            <a:ln w="38100" cmpd="sng"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CuadroTexto 60"/>
            <p:cNvSpPr txBox="1"/>
            <p:nvPr/>
          </p:nvSpPr>
          <p:spPr>
            <a:xfrm>
              <a:off x="3814391" y="5572076"/>
              <a:ext cx="37221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050" b="1" noProof="1">
                  <a:solidFill>
                    <a:srgbClr val="FF6600"/>
                  </a:solidFill>
                </a:rPr>
                <a:t>Mx</a:t>
              </a:r>
            </a:p>
          </p:txBody>
        </p:sp>
        <p:sp>
          <p:nvSpPr>
            <p:cNvPr id="62" name="CuadroTexto 61"/>
            <p:cNvSpPr txBox="1"/>
            <p:nvPr/>
          </p:nvSpPr>
          <p:spPr>
            <a:xfrm>
              <a:off x="3426562" y="3490321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01</a:t>
              </a:r>
            </a:p>
          </p:txBody>
        </p:sp>
        <p:sp>
          <p:nvSpPr>
            <p:cNvPr id="64" name="CuadroTexto 63"/>
            <p:cNvSpPr txBox="1"/>
            <p:nvPr/>
          </p:nvSpPr>
          <p:spPr>
            <a:xfrm>
              <a:off x="3433231" y="4504726"/>
              <a:ext cx="3701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11</a:t>
              </a:r>
            </a:p>
          </p:txBody>
        </p:sp>
        <p:cxnSp>
          <p:nvCxnSpPr>
            <p:cNvPr id="44" name="Conector recto de flecha 56"/>
            <p:cNvCxnSpPr/>
            <p:nvPr/>
          </p:nvCxnSpPr>
          <p:spPr bwMode="auto">
            <a:xfrm>
              <a:off x="3352800" y="3356992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57"/>
            <p:cNvCxnSpPr/>
            <p:nvPr/>
          </p:nvCxnSpPr>
          <p:spPr bwMode="auto">
            <a:xfrm>
              <a:off x="3312045" y="4362146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61"/>
            <p:cNvSpPr txBox="1"/>
            <p:nvPr/>
          </p:nvSpPr>
          <p:spPr>
            <a:xfrm>
              <a:off x="3426562" y="2983118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00</a:t>
              </a:r>
            </a:p>
          </p:txBody>
        </p:sp>
        <p:sp>
          <p:nvSpPr>
            <p:cNvPr id="47" name="CuadroTexto 63"/>
            <p:cNvSpPr txBox="1"/>
            <p:nvPr/>
          </p:nvSpPr>
          <p:spPr>
            <a:xfrm>
              <a:off x="3426562" y="3997524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cxnSp>
          <p:nvCxnSpPr>
            <p:cNvPr id="12" name="11 Conector recto"/>
            <p:cNvCxnSpPr/>
            <p:nvPr/>
          </p:nvCxnSpPr>
          <p:spPr bwMode="auto">
            <a:xfrm flipV="1">
              <a:off x="3825106" y="5181601"/>
              <a:ext cx="365894" cy="59804"/>
            </a:xfrm>
            <a:prstGeom prst="lin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" name="12 CuadroTexto"/>
            <p:cNvSpPr txBox="1"/>
            <p:nvPr/>
          </p:nvSpPr>
          <p:spPr>
            <a:xfrm>
              <a:off x="4186608" y="50178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4776589" y="4025385"/>
            <a:ext cx="2757433" cy="1405397"/>
            <a:chOff x="4211960" y="3461867"/>
            <a:chExt cx="2757433" cy="1405397"/>
          </a:xfrm>
        </p:grpSpPr>
        <p:cxnSp>
          <p:nvCxnSpPr>
            <p:cNvPr id="74" name="Conector recto de flecha 59"/>
            <p:cNvCxnSpPr>
              <a:cxnSpLocks/>
              <a:stCxn id="75" idx="0"/>
            </p:cNvCxnSpPr>
            <p:nvPr/>
          </p:nvCxnSpPr>
          <p:spPr bwMode="auto">
            <a:xfrm>
              <a:off x="4398069" y="4151747"/>
              <a:ext cx="616444" cy="0"/>
            </a:xfrm>
            <a:prstGeom prst="straightConnector1">
              <a:avLst/>
            </a:prstGeom>
            <a:ln w="38100" cmpd="sng"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5" name="CuadroTexto 60"/>
            <p:cNvSpPr txBox="1"/>
            <p:nvPr/>
          </p:nvSpPr>
          <p:spPr>
            <a:xfrm>
              <a:off x="4211960" y="4151747"/>
              <a:ext cx="37221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050" b="1" noProof="1">
                  <a:solidFill>
                    <a:srgbClr val="FF6600"/>
                  </a:solidFill>
                </a:rPr>
                <a:t>Mx</a:t>
              </a:r>
            </a:p>
          </p:txBody>
        </p:sp>
        <p:grpSp>
          <p:nvGrpSpPr>
            <p:cNvPr id="23" name="22 Grupo"/>
            <p:cNvGrpSpPr/>
            <p:nvPr/>
          </p:nvGrpSpPr>
          <p:grpSpPr>
            <a:xfrm rot="5400000">
              <a:off x="5332599" y="3230471"/>
              <a:ext cx="1405397" cy="1868190"/>
              <a:chOff x="5296755" y="3194627"/>
              <a:chExt cx="1405397" cy="1868190"/>
            </a:xfrm>
          </p:grpSpPr>
          <p:cxnSp>
            <p:nvCxnSpPr>
              <p:cNvPr id="71" name="Conector recto de flecha 56"/>
              <p:cNvCxnSpPr/>
              <p:nvPr/>
            </p:nvCxnSpPr>
            <p:spPr bwMode="auto">
              <a:xfrm>
                <a:off x="5296755" y="4056074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Conector recto de flecha 57"/>
              <p:cNvCxnSpPr/>
              <p:nvPr/>
            </p:nvCxnSpPr>
            <p:spPr bwMode="auto">
              <a:xfrm>
                <a:off x="5305068" y="5061229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Conector recto de flecha 58"/>
              <p:cNvCxnSpPr>
                <a:cxnSpLocks/>
              </p:cNvCxnSpPr>
              <p:nvPr/>
            </p:nvCxnSpPr>
            <p:spPr bwMode="auto">
              <a:xfrm>
                <a:off x="6177136" y="4279493"/>
                <a:ext cx="525016" cy="0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6" name="CuadroTexto 61"/>
              <p:cNvSpPr txBox="1"/>
              <p:nvPr/>
            </p:nvSpPr>
            <p:spPr>
              <a:xfrm>
                <a:off x="5404364" y="3695162"/>
                <a:ext cx="400110" cy="291105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1">
                    <a:solidFill>
                      <a:schemeClr val="accent1">
                        <a:lumMod val="75000"/>
                      </a:schemeClr>
                    </a:solidFill>
                  </a:rPr>
                  <a:t>10</a:t>
                </a:r>
              </a:p>
            </p:txBody>
          </p:sp>
          <p:sp>
            <p:nvSpPr>
              <p:cNvPr id="77" name="CuadroTexto 63"/>
              <p:cNvSpPr txBox="1"/>
              <p:nvPr/>
            </p:nvSpPr>
            <p:spPr>
              <a:xfrm>
                <a:off x="5404364" y="4709566"/>
                <a:ext cx="400110" cy="291105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1">
                    <a:solidFill>
                      <a:schemeClr val="accent1">
                        <a:lumMod val="75000"/>
                      </a:schemeClr>
                    </a:solidFill>
                  </a:rPr>
                  <a:t>00</a:t>
                </a:r>
              </a:p>
            </p:txBody>
          </p:sp>
          <p:cxnSp>
            <p:nvCxnSpPr>
              <p:cNvPr id="78" name="Conector recto de flecha 56"/>
              <p:cNvCxnSpPr/>
              <p:nvPr/>
            </p:nvCxnSpPr>
            <p:spPr bwMode="auto">
              <a:xfrm>
                <a:off x="5296755" y="3551482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" name="Conector recto de flecha 57"/>
              <p:cNvCxnSpPr/>
              <p:nvPr/>
            </p:nvCxnSpPr>
            <p:spPr bwMode="auto">
              <a:xfrm>
                <a:off x="5298181" y="4558651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0" name="CuadroTexto 61"/>
              <p:cNvSpPr txBox="1"/>
              <p:nvPr/>
            </p:nvSpPr>
            <p:spPr>
              <a:xfrm>
                <a:off x="5404363" y="3194627"/>
                <a:ext cx="400110" cy="277768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1">
                    <a:solidFill>
                      <a:schemeClr val="accent1">
                        <a:lumMod val="75000"/>
                      </a:schemeClr>
                    </a:solidFill>
                  </a:rPr>
                  <a:t>11</a:t>
                </a:r>
              </a:p>
            </p:txBody>
          </p:sp>
          <p:sp>
            <p:nvSpPr>
              <p:cNvPr id="81" name="CuadroTexto 63"/>
              <p:cNvSpPr txBox="1"/>
              <p:nvPr/>
            </p:nvSpPr>
            <p:spPr>
              <a:xfrm>
                <a:off x="5404364" y="4202365"/>
                <a:ext cx="400110" cy="291105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1">
                    <a:solidFill>
                      <a:schemeClr val="accent1">
                        <a:lumMod val="75000"/>
                      </a:schemeClr>
                    </a:solidFill>
                  </a:rPr>
                  <a:t>01</a:t>
                </a:r>
              </a:p>
            </p:txBody>
          </p:sp>
        </p:grpSp>
        <p:cxnSp>
          <p:nvCxnSpPr>
            <p:cNvPr id="82" name="81 Conector recto"/>
            <p:cNvCxnSpPr>
              <a:endCxn id="83" idx="2"/>
            </p:cNvCxnSpPr>
            <p:nvPr/>
          </p:nvCxnSpPr>
          <p:spPr bwMode="auto">
            <a:xfrm flipV="1">
              <a:off x="4648619" y="4045500"/>
              <a:ext cx="73192" cy="240331"/>
            </a:xfrm>
            <a:prstGeom prst="lin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82 CuadroTexto"/>
            <p:cNvSpPr txBox="1"/>
            <p:nvPr/>
          </p:nvSpPr>
          <p:spPr>
            <a:xfrm>
              <a:off x="4579785" y="37377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B89F72BC-AF67-2889-7C43-5DBE1A1B3932}"/>
              </a:ext>
            </a:extLst>
          </p:cNvPr>
          <p:cNvSpPr/>
          <p:nvPr/>
        </p:nvSpPr>
        <p:spPr bwMode="auto">
          <a:xfrm>
            <a:off x="3447932" y="3756842"/>
            <a:ext cx="381000" cy="1806878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80765-3E0A-52C0-974E-D6E8899D2FD2}"/>
              </a:ext>
            </a:extLst>
          </p:cNvPr>
          <p:cNvSpPr/>
          <p:nvPr/>
        </p:nvSpPr>
        <p:spPr bwMode="auto">
          <a:xfrm rot="5400000">
            <a:off x="6394339" y="3691096"/>
            <a:ext cx="381000" cy="198251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s-ES_tradnl" sz="1200" noProof="1">
                <a:solidFill>
                  <a:schemeClr val="tx1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7644967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115888"/>
            <a:ext cx="8459787" cy="865187"/>
          </a:xfrm>
        </p:spPr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La ruta de datos: Seleccionar recursos necesarios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3446462"/>
          </a:xfrm>
        </p:spPr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Búsqueda de la instrucción y decodificación: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Todas las instrucciones constan de esta fase común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Requiere:</a:t>
            </a:r>
          </a:p>
          <a:p>
            <a:pPr lvl="2">
              <a:buNone/>
            </a:pP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1) Leer la instrucción de la memoria</a:t>
            </a:r>
          </a:p>
          <a:p>
            <a:pPr lvl="3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La dirección la facilita el </a:t>
            </a:r>
            <a:r>
              <a:rPr lang="es-ES_tradnl" sz="1400" b="1" noProof="1">
                <a:latin typeface="Arial" panose="020B0604020202020204" pitchFamily="34" charset="0"/>
                <a:cs typeface="Arial" panose="020B0604020202020204" pitchFamily="34" charset="0"/>
              </a:rPr>
              <a:t>Contador de Programa (PC: Program Counter)</a:t>
            </a:r>
          </a:p>
          <a:p>
            <a:pPr lvl="2" algn="r">
              <a:buNone/>
            </a:pP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2) Incrementar el PC para que apunte a la siguiente instrucción (PC 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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 PC + 4)</a:t>
            </a:r>
          </a:p>
          <a:p>
            <a:pPr lvl="2">
              <a:buNone/>
            </a:pP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3) Decodificar la instrucción</a:t>
            </a:r>
          </a:p>
          <a:p>
            <a:pPr lvl="3"/>
            <a:r>
              <a:rPr lang="es-ES_tradnl" sz="1400" noProof="1">
                <a:latin typeface="Arial" panose="020B0604020202020204" pitchFamily="34" charset="0"/>
                <a:cs typeface="Arial" panose="020B0604020202020204" pitchFamily="34" charset="0"/>
              </a:rPr>
              <a:t>Realizado por la </a:t>
            </a:r>
            <a:r>
              <a:rPr lang="es-ES_tradnl" sz="1400" b="1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de CONTROL</a:t>
            </a:r>
            <a:endParaRPr lang="es-ES_tradnl" b="1" noProof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51</a:t>
            </a:fld>
            <a:endParaRPr lang="es-ES_tradnl" noProof="1"/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0CA2235C-4BA1-629C-C80F-02D26E754379}"/>
              </a:ext>
            </a:extLst>
          </p:cNvPr>
          <p:cNvGrpSpPr/>
          <p:nvPr/>
        </p:nvGrpSpPr>
        <p:grpSpPr>
          <a:xfrm>
            <a:off x="1701100" y="4293391"/>
            <a:ext cx="2527826" cy="2116880"/>
            <a:chOff x="1701100" y="4293391"/>
            <a:chExt cx="2527826" cy="2116880"/>
          </a:xfrm>
        </p:grpSpPr>
        <p:sp>
          <p:nvSpPr>
            <p:cNvPr id="7" name="Text Box 18"/>
            <p:cNvSpPr txBox="1">
              <a:spLocks noChangeArrowheads="1"/>
            </p:cNvSpPr>
            <p:nvPr/>
          </p:nvSpPr>
          <p:spPr bwMode="blackWhite">
            <a:xfrm>
              <a:off x="3430413" y="5330732"/>
              <a:ext cx="798513" cy="2127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400" noProof="1">
                  <a:latin typeface="Calibri" pitchFamily="-103" charset="0"/>
                </a:rPr>
                <a:t>instrucción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blackWhite">
            <a:xfrm>
              <a:off x="2123728" y="4293391"/>
              <a:ext cx="663575" cy="2127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400" noProof="1">
                  <a:latin typeface="Calibri" pitchFamily="-103" charset="0"/>
                </a:rPr>
                <a:t>dirección</a:t>
              </a:r>
            </a:p>
          </p:txBody>
        </p:sp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245DEA40-29C7-2815-E728-95924D662E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84971" y="4581128"/>
              <a:ext cx="0" cy="39214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007286BA-626C-BCA5-5A08-F38552090BCC}"/>
                </a:ext>
              </a:extLst>
            </p:cNvPr>
            <p:cNvCxnSpPr>
              <a:cxnSpLocks/>
              <a:stCxn id="29" idx="3"/>
            </p:cNvCxnSpPr>
            <p:nvPr/>
          </p:nvCxnSpPr>
          <p:spPr bwMode="auto">
            <a:xfrm>
              <a:off x="2937040" y="5454696"/>
              <a:ext cx="410824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EEC5B0E3-8E54-2755-F510-AC6D5FDF6CD4}"/>
                </a:ext>
              </a:extLst>
            </p:cNvPr>
            <p:cNvCxnSpPr/>
            <p:nvPr/>
          </p:nvCxnSpPr>
          <p:spPr bwMode="auto">
            <a:xfrm rot="5400000" flipH="1" flipV="1">
              <a:off x="2359921" y="6096944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B40BF77-F09B-3D2C-AE2B-3733EAAC298D}"/>
                </a:ext>
              </a:extLst>
            </p:cNvPr>
            <p:cNvSpPr txBox="1"/>
            <p:nvPr/>
          </p:nvSpPr>
          <p:spPr>
            <a:xfrm>
              <a:off x="2214215" y="6134136"/>
              <a:ext cx="551804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LInst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50BD3ACB-09B2-EDC0-CDEB-B5B3ADEB4EC5}"/>
                </a:ext>
              </a:extLst>
            </p:cNvPr>
            <p:cNvSpPr/>
            <p:nvPr/>
          </p:nvSpPr>
          <p:spPr bwMode="auto">
            <a:xfrm>
              <a:off x="1701100" y="4960940"/>
              <a:ext cx="1235940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Instrucciones</a:t>
              </a: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C80ABEFB-7287-5F50-B379-0BE06F12294E}"/>
              </a:ext>
            </a:extLst>
          </p:cNvPr>
          <p:cNvGrpSpPr/>
          <p:nvPr/>
        </p:nvGrpSpPr>
        <p:grpSpPr>
          <a:xfrm>
            <a:off x="5508104" y="4077072"/>
            <a:ext cx="1408836" cy="2669666"/>
            <a:chOff x="5508104" y="4077072"/>
            <a:chExt cx="1408836" cy="2669666"/>
          </a:xfrm>
        </p:grpSpPr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E4C38E27-3BCA-7CFA-6765-EB2926A4813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7055" y="5139191"/>
              <a:ext cx="0" cy="91155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FCD6FABE-350D-14E4-5747-9BB713A96DEE}"/>
                </a:ext>
              </a:extLst>
            </p:cNvPr>
            <p:cNvSpPr/>
            <p:nvPr/>
          </p:nvSpPr>
          <p:spPr bwMode="auto">
            <a:xfrm>
              <a:off x="6079424" y="6050741"/>
              <a:ext cx="837516" cy="30385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476236F6-9DF1-51C1-D118-51747D217CCB}"/>
                </a:ext>
              </a:extLst>
            </p:cNvPr>
            <p:cNvCxnSpPr>
              <a:cxnSpLocks/>
              <a:stCxn id="31" idx="2"/>
            </p:cNvCxnSpPr>
            <p:nvPr/>
          </p:nvCxnSpPr>
          <p:spPr bwMode="auto">
            <a:xfrm>
              <a:off x="6498182" y="6354591"/>
              <a:ext cx="0" cy="39214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Freeform 42">
              <a:extLst>
                <a:ext uri="{FF2B5EF4-FFF2-40B4-BE49-F238E27FC236}">
                  <a16:creationId xmlns:a16="http://schemas.microsoft.com/office/drawing/2014/main" id="{DD7CDF30-28D5-978A-9EA5-01CBFE6BDBA7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6168683" y="4568597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/>
                <a:t>+</a:t>
              </a:r>
            </a:p>
          </p:txBody>
        </p:sp>
        <p:cxnSp>
          <p:nvCxnSpPr>
            <p:cNvPr id="34" name="Conector angular 33">
              <a:extLst>
                <a:ext uri="{FF2B5EF4-FFF2-40B4-BE49-F238E27FC236}">
                  <a16:creationId xmlns:a16="http://schemas.microsoft.com/office/drawing/2014/main" id="{C531F571-5701-2956-E669-C10AE0E4B027}"/>
                </a:ext>
              </a:extLst>
            </p:cNvPr>
            <p:cNvCxnSpPr/>
            <p:nvPr/>
          </p:nvCxnSpPr>
          <p:spPr bwMode="auto">
            <a:xfrm rot="16200000" flipV="1">
              <a:off x="4994984" y="4977218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D09BD7E0-B59D-F298-457B-257070E79BA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08104" y="4455995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737279E5-E8C0-C49F-6BFA-C69A0C3BDBE7}"/>
                </a:ext>
              </a:extLst>
            </p:cNvPr>
            <p:cNvCxnSpPr/>
            <p:nvPr/>
          </p:nvCxnSpPr>
          <p:spPr bwMode="auto">
            <a:xfrm rot="16200000" flipH="1">
              <a:off x="6401327" y="4565244"/>
              <a:ext cx="379812" cy="846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79604C3D-F986-E27C-D20C-5404E5892EFE}"/>
                </a:ext>
              </a:extLst>
            </p:cNvPr>
            <p:cNvSpPr txBox="1"/>
            <p:nvPr/>
          </p:nvSpPr>
          <p:spPr>
            <a:xfrm>
              <a:off x="6454995" y="4077072"/>
              <a:ext cx="284283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BE86E288-E459-BB68-A50C-16E3A64AC57A}"/>
                </a:ext>
              </a:extLst>
            </p:cNvPr>
            <p:cNvSpPr txBox="1"/>
            <p:nvPr/>
          </p:nvSpPr>
          <p:spPr>
            <a:xfrm rot="16200000">
              <a:off x="5463396" y="5998791"/>
              <a:ext cx="533529" cy="27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PCin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9E9AD6F3-92AA-83A6-18D2-B65F0A112431}"/>
                </a:ext>
              </a:extLst>
            </p:cNvPr>
            <p:cNvSpPr/>
            <p:nvPr/>
          </p:nvSpPr>
          <p:spPr bwMode="auto">
            <a:xfrm>
              <a:off x="6457080" y="6464312"/>
              <a:ext cx="76138" cy="75962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43" name="Conector recto 253">
              <a:extLst>
                <a:ext uri="{FF2B5EF4-FFF2-40B4-BE49-F238E27FC236}">
                  <a16:creationId xmlns:a16="http://schemas.microsoft.com/office/drawing/2014/main" id="{B14A3F06-AD71-21F7-B12D-FE0237541033}"/>
                </a:ext>
              </a:extLst>
            </p:cNvPr>
            <p:cNvCxnSpPr/>
            <p:nvPr/>
          </p:nvCxnSpPr>
          <p:spPr bwMode="auto">
            <a:xfrm rot="10800000" flipH="1">
              <a:off x="5855992" y="6202666"/>
              <a:ext cx="226827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" name="142 Triángulo isósceles">
              <a:extLst>
                <a:ext uri="{FF2B5EF4-FFF2-40B4-BE49-F238E27FC236}">
                  <a16:creationId xmlns:a16="http://schemas.microsoft.com/office/drawing/2014/main" id="{943EF28D-CFA4-C54D-9AE3-C8F5F62701A7}"/>
                </a:ext>
              </a:extLst>
            </p:cNvPr>
            <p:cNvSpPr/>
            <p:nvPr/>
          </p:nvSpPr>
          <p:spPr bwMode="auto">
            <a:xfrm rot="5400000">
              <a:off x="6078877" y="6153189"/>
              <a:ext cx="117331" cy="117638"/>
            </a:xfrm>
            <a:prstGeom prst="triangle">
              <a:avLst/>
            </a:prstGeom>
            <a:noFill/>
            <a:ln w="9525">
              <a:solidFill>
                <a:srgbClr val="C0000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914F-0527-EF56-625B-31155E48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3273A9B-4782-2E07-672F-BE483443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La ruta de datos: Búsqueda y descodificación</a:t>
            </a:r>
            <a:endParaRPr lang="es-ES_tradnl" sz="2800" dirty="0"/>
          </a:p>
        </p:txBody>
      </p: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E76D2DB4-727E-6299-B4BA-C5DC46F638AE}"/>
              </a:ext>
            </a:extLst>
          </p:cNvPr>
          <p:cNvGrpSpPr/>
          <p:nvPr/>
        </p:nvGrpSpPr>
        <p:grpSpPr>
          <a:xfrm>
            <a:off x="1028192" y="1021617"/>
            <a:ext cx="5829759" cy="5441581"/>
            <a:chOff x="1028192" y="1021617"/>
            <a:chExt cx="5829759" cy="5441581"/>
          </a:xfrm>
        </p:grpSpPr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98B38150-1B61-093A-F99E-82610E1D95D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5"/>
              <a:ext cx="0" cy="91155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BA4811-7D12-DADA-9019-A85883E7467A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39A383DD-2434-21A6-D314-941DA5D669C2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8D0EF612-1711-3359-44E5-5931D276CCFD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1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4EC4BF16-B59A-58B9-0BBE-25E86C75BA8A}"/>
                </a:ext>
              </a:extLst>
            </p:cNvPr>
            <p:cNvCxnSpPr/>
            <p:nvPr/>
          </p:nvCxnSpPr>
          <p:spPr bwMode="auto">
            <a:xfrm rot="16200000" flipV="1">
              <a:off x="515072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8C7B3DB9-7CC0-D8F6-2860-FE475481DF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DC03286B-88C1-D45E-5A82-435B26FB4B8C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86C91C4-5D70-E363-1249-045EAF885F30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BB96A73A-109F-6B25-A8EA-DCA7D1758F1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F54549C0-300B-FA55-A863-F1FA22544FCE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5AD3FA67-45C6-7370-2507-C24C72C07D4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794C6BF5-6617-6D17-E28F-C028E48ECFA7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86F88118-A699-8A80-BFF9-9E78CC9CAC7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CB5589CB-0C79-4736-F909-DCB3182788E7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F021AFC1-EA10-DB4D-78DF-2F4076886036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F99EC9D3-AA2A-75D0-ACBA-C5302E429241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B05E9002-1366-020F-6BE7-2EE1E07BA0FB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D4BF7796-EF0D-F5C4-DD6A-00D44263CE63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68BF801-FA23-822A-229C-3D719822FBB5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3171A604-AB3E-D60A-0D2C-FDA1D1465CC2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97B733D5-F3E8-90C2-1F5D-DD16B7C9BDFD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D0C9492F-4DD2-D977-D712-7D87F54FFC27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LInst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0299948E-4E45-60E1-9CF7-2B4E6E90F653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PCin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09CE05FD-F8BE-FA0F-97A4-502C884C10B5}"/>
                </a:ext>
              </a:extLst>
            </p:cNvPr>
            <p:cNvSpPr/>
            <p:nvPr/>
          </p:nvSpPr>
          <p:spPr bwMode="auto">
            <a:xfrm>
              <a:off x="1977168" y="4743776"/>
              <a:ext cx="76138" cy="75962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40C6B851-8C48-A844-9664-37801660A56A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CA2FA113-468E-2AE0-4AB8-548A07D63239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rgbClr val="C0000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8C0E74C-CA46-B016-B4DF-A26B70CA56AF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Instrucciones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71CD514-E25E-747D-EE23-0EB1E1C52B04}"/>
              </a:ext>
            </a:extLst>
          </p:cNvPr>
          <p:cNvGrpSpPr/>
          <p:nvPr/>
        </p:nvGrpSpPr>
        <p:grpSpPr>
          <a:xfrm>
            <a:off x="3527059" y="5536828"/>
            <a:ext cx="5417876" cy="1032813"/>
            <a:chOff x="975305" y="4921594"/>
            <a:chExt cx="3345284" cy="753875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6D8A99BC-14EF-05D1-A92E-0FABC3647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7" name="Rectangle 10">
                <a:extLst>
                  <a:ext uri="{FF2B5EF4-FFF2-40B4-BE49-F238E27FC236}">
                    <a16:creationId xmlns:a16="http://schemas.microsoft.com/office/drawing/2014/main" id="{75AB7565-C3E6-EE80-5124-B2FE33644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9" name="Group 155">
                <a:extLst>
                  <a:ext uri="{FF2B5EF4-FFF2-40B4-BE49-F238E27FC236}">
                    <a16:creationId xmlns:a16="http://schemas.microsoft.com/office/drawing/2014/main" id="{C38508DE-7C3B-322C-1683-A69EFC8914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21" name="Group 5">
                  <a:extLst>
                    <a:ext uri="{FF2B5EF4-FFF2-40B4-BE49-F238E27FC236}">
                      <a16:creationId xmlns:a16="http://schemas.microsoft.com/office/drawing/2014/main" id="{6D2E8B21-339C-0FB4-6087-CA92F65AF2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62" name="Rectangle 6">
                    <a:extLst>
                      <a:ext uri="{FF2B5EF4-FFF2-40B4-BE49-F238E27FC236}">
                        <a16:creationId xmlns:a16="http://schemas.microsoft.com/office/drawing/2014/main" id="{6EE17887-4D65-BC41-09F9-720F9B5DCF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65" name="Group 7">
                    <a:extLst>
                      <a:ext uri="{FF2B5EF4-FFF2-40B4-BE49-F238E27FC236}">
                        <a16:creationId xmlns:a16="http://schemas.microsoft.com/office/drawing/2014/main" id="{7BB485FB-415B-AF39-EE2D-3F73182D90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66" name="Line 9">
                      <a:extLst>
                        <a:ext uri="{FF2B5EF4-FFF2-40B4-BE49-F238E27FC236}">
                          <a16:creationId xmlns:a16="http://schemas.microsoft.com/office/drawing/2014/main" id="{3E3E3B8A-28FB-51AB-A6FC-2B97C1EC435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7" name="Line 10">
                      <a:extLst>
                        <a:ext uri="{FF2B5EF4-FFF2-40B4-BE49-F238E27FC236}">
                          <a16:creationId xmlns:a16="http://schemas.microsoft.com/office/drawing/2014/main" id="{3F723967-3506-22C1-CABA-27C60949A1B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8" name="Line 11">
                      <a:extLst>
                        <a:ext uri="{FF2B5EF4-FFF2-40B4-BE49-F238E27FC236}">
                          <a16:creationId xmlns:a16="http://schemas.microsoft.com/office/drawing/2014/main" id="{9D4A8FCB-AE09-6E32-9A19-622CDA86BA4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9" name="Line 12">
                      <a:extLst>
                        <a:ext uri="{FF2B5EF4-FFF2-40B4-BE49-F238E27FC236}">
                          <a16:creationId xmlns:a16="http://schemas.microsoft.com/office/drawing/2014/main" id="{C66BCBFE-2C8D-C130-F70D-09EAE377C24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1" name="Line 13">
                      <a:extLst>
                        <a:ext uri="{FF2B5EF4-FFF2-40B4-BE49-F238E27FC236}">
                          <a16:creationId xmlns:a16="http://schemas.microsoft.com/office/drawing/2014/main" id="{DAC41A6E-F016-98EB-97C0-C5DD7BFCCB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3" name="Line 14">
                      <a:extLst>
                        <a:ext uri="{FF2B5EF4-FFF2-40B4-BE49-F238E27FC236}">
                          <a16:creationId xmlns:a16="http://schemas.microsoft.com/office/drawing/2014/main" id="{A05353F7-0A7A-31CF-9AFE-035509E3C7F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4" name="Line 15">
                      <a:extLst>
                        <a:ext uri="{FF2B5EF4-FFF2-40B4-BE49-F238E27FC236}">
                          <a16:creationId xmlns:a16="http://schemas.microsoft.com/office/drawing/2014/main" id="{F1359B5D-F517-367D-CC5D-073201F4ADE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5" name="Line 16">
                      <a:extLst>
                        <a:ext uri="{FF2B5EF4-FFF2-40B4-BE49-F238E27FC236}">
                          <a16:creationId xmlns:a16="http://schemas.microsoft.com/office/drawing/2014/main" id="{44E0C255-D746-51C7-DAC2-0D3D381A7A0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6" name="Line 17">
                      <a:extLst>
                        <a:ext uri="{FF2B5EF4-FFF2-40B4-BE49-F238E27FC236}">
                          <a16:creationId xmlns:a16="http://schemas.microsoft.com/office/drawing/2014/main" id="{DE9FDE95-0209-588E-4D1E-2C01041ECF1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7" name="Line 18">
                      <a:extLst>
                        <a:ext uri="{FF2B5EF4-FFF2-40B4-BE49-F238E27FC236}">
                          <a16:creationId xmlns:a16="http://schemas.microsoft.com/office/drawing/2014/main" id="{3F43DE9C-8354-1F02-0F95-95458EE98E1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8" name="Line 19">
                      <a:extLst>
                        <a:ext uri="{FF2B5EF4-FFF2-40B4-BE49-F238E27FC236}">
                          <a16:creationId xmlns:a16="http://schemas.microsoft.com/office/drawing/2014/main" id="{4314EF79-C591-27B7-EF63-73E90F99844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79" name="Line 20">
                      <a:extLst>
                        <a:ext uri="{FF2B5EF4-FFF2-40B4-BE49-F238E27FC236}">
                          <a16:creationId xmlns:a16="http://schemas.microsoft.com/office/drawing/2014/main" id="{4FCF60D4-8AC6-BE3B-4AA1-AD41E61214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0" name="Line 21">
                      <a:extLst>
                        <a:ext uri="{FF2B5EF4-FFF2-40B4-BE49-F238E27FC236}">
                          <a16:creationId xmlns:a16="http://schemas.microsoft.com/office/drawing/2014/main" id="{5D6199BC-D5E9-91A5-8ECF-8C46756A9B3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1" name="Line 22">
                      <a:extLst>
                        <a:ext uri="{FF2B5EF4-FFF2-40B4-BE49-F238E27FC236}">
                          <a16:creationId xmlns:a16="http://schemas.microsoft.com/office/drawing/2014/main" id="{2568AC7D-82F2-2090-9DDA-876E19C6E0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2" name="Line 23">
                      <a:extLst>
                        <a:ext uri="{FF2B5EF4-FFF2-40B4-BE49-F238E27FC236}">
                          <a16:creationId xmlns:a16="http://schemas.microsoft.com/office/drawing/2014/main" id="{4E2379C6-3009-EDDD-9D86-CD0DA631AD8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3" name="Line 24">
                      <a:extLst>
                        <a:ext uri="{FF2B5EF4-FFF2-40B4-BE49-F238E27FC236}">
                          <a16:creationId xmlns:a16="http://schemas.microsoft.com/office/drawing/2014/main" id="{D131B4BB-AFD5-5FF4-A010-0B28A0A742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4" name="Line 25">
                      <a:extLst>
                        <a:ext uri="{FF2B5EF4-FFF2-40B4-BE49-F238E27FC236}">
                          <a16:creationId xmlns:a16="http://schemas.microsoft.com/office/drawing/2014/main" id="{C7FC14D4-5981-AEFA-C1AB-68954AE50F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5" name="Line 26">
                      <a:extLst>
                        <a:ext uri="{FF2B5EF4-FFF2-40B4-BE49-F238E27FC236}">
                          <a16:creationId xmlns:a16="http://schemas.microsoft.com/office/drawing/2014/main" id="{BE876EC5-BA2D-A681-A6D1-4991EA50C0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6" name="Line 27">
                      <a:extLst>
                        <a:ext uri="{FF2B5EF4-FFF2-40B4-BE49-F238E27FC236}">
                          <a16:creationId xmlns:a16="http://schemas.microsoft.com/office/drawing/2014/main" id="{263F9A01-7C51-6B48-8612-72A545EAC9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8" name="Line 28">
                      <a:extLst>
                        <a:ext uri="{FF2B5EF4-FFF2-40B4-BE49-F238E27FC236}">
                          <a16:creationId xmlns:a16="http://schemas.microsoft.com/office/drawing/2014/main" id="{26E2A22F-35C2-6722-98D9-F3EEA69296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9" name="Line 29">
                      <a:extLst>
                        <a:ext uri="{FF2B5EF4-FFF2-40B4-BE49-F238E27FC236}">
                          <a16:creationId xmlns:a16="http://schemas.microsoft.com/office/drawing/2014/main" id="{2C07F2FF-CE71-7D1E-6D1B-0E9A3641AA3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0" name="Line 30">
                      <a:extLst>
                        <a:ext uri="{FF2B5EF4-FFF2-40B4-BE49-F238E27FC236}">
                          <a16:creationId xmlns:a16="http://schemas.microsoft.com/office/drawing/2014/main" id="{584B4848-4206-A6D0-37D1-9D6E3414CCE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1" name="Line 31">
                      <a:extLst>
                        <a:ext uri="{FF2B5EF4-FFF2-40B4-BE49-F238E27FC236}">
                          <a16:creationId xmlns:a16="http://schemas.microsoft.com/office/drawing/2014/main" id="{CE68A902-2724-70E3-A148-03F666CA4F9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2" name="Line 32">
                      <a:extLst>
                        <a:ext uri="{FF2B5EF4-FFF2-40B4-BE49-F238E27FC236}">
                          <a16:creationId xmlns:a16="http://schemas.microsoft.com/office/drawing/2014/main" id="{3F3735B4-AA90-2CF7-E60E-42F245151C5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3" name="Line 33">
                      <a:extLst>
                        <a:ext uri="{FF2B5EF4-FFF2-40B4-BE49-F238E27FC236}">
                          <a16:creationId xmlns:a16="http://schemas.microsoft.com/office/drawing/2014/main" id="{79284088-16CD-618E-E283-2C30AD348F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4" name="Line 34">
                      <a:extLst>
                        <a:ext uri="{FF2B5EF4-FFF2-40B4-BE49-F238E27FC236}">
                          <a16:creationId xmlns:a16="http://schemas.microsoft.com/office/drawing/2014/main" id="{08E6E88A-9760-0724-0119-69B0FB5761C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5" name="Line 35">
                      <a:extLst>
                        <a:ext uri="{FF2B5EF4-FFF2-40B4-BE49-F238E27FC236}">
                          <a16:creationId xmlns:a16="http://schemas.microsoft.com/office/drawing/2014/main" id="{64C41D2F-7457-3E60-6465-2F4859D476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6" name="Line 36">
                      <a:extLst>
                        <a:ext uri="{FF2B5EF4-FFF2-40B4-BE49-F238E27FC236}">
                          <a16:creationId xmlns:a16="http://schemas.microsoft.com/office/drawing/2014/main" id="{6EB8BAA1-8E76-1D9D-794A-CB155C181EB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7" name="Line 37">
                      <a:extLst>
                        <a:ext uri="{FF2B5EF4-FFF2-40B4-BE49-F238E27FC236}">
                          <a16:creationId xmlns:a16="http://schemas.microsoft.com/office/drawing/2014/main" id="{718B1FF7-8918-AED7-FE8E-27AA03D9FBB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99" name="Line 38">
                      <a:extLst>
                        <a:ext uri="{FF2B5EF4-FFF2-40B4-BE49-F238E27FC236}">
                          <a16:creationId xmlns:a16="http://schemas.microsoft.com/office/drawing/2014/main" id="{307F3E73-5419-714C-E51E-158A9D632AE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22" name="Line 39">
                  <a:extLst>
                    <a:ext uri="{FF2B5EF4-FFF2-40B4-BE49-F238E27FC236}">
                      <a16:creationId xmlns:a16="http://schemas.microsoft.com/office/drawing/2014/main" id="{F2D2B2ED-A6B6-816A-B1DF-88F460309E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3" name="Text Box 40">
                  <a:extLst>
                    <a:ext uri="{FF2B5EF4-FFF2-40B4-BE49-F238E27FC236}">
                      <a16:creationId xmlns:a16="http://schemas.microsoft.com/office/drawing/2014/main" id="{3603F880-F46D-33AD-D49D-A62A9D472F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4" name="Text Box 41">
                  <a:extLst>
                    <a:ext uri="{FF2B5EF4-FFF2-40B4-BE49-F238E27FC236}">
                      <a16:creationId xmlns:a16="http://schemas.microsoft.com/office/drawing/2014/main" id="{D3067062-F1A0-9587-789D-39EB73C1C5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5" name="Line 42">
                  <a:extLst>
                    <a:ext uri="{FF2B5EF4-FFF2-40B4-BE49-F238E27FC236}">
                      <a16:creationId xmlns:a16="http://schemas.microsoft.com/office/drawing/2014/main" id="{5758FB23-0601-3966-AAF5-A53705B659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6" name="Line 43">
                  <a:extLst>
                    <a:ext uri="{FF2B5EF4-FFF2-40B4-BE49-F238E27FC236}">
                      <a16:creationId xmlns:a16="http://schemas.microsoft.com/office/drawing/2014/main" id="{05100AD1-B46E-589B-75B9-98DD41CFD2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7" name="Line 44">
                  <a:extLst>
                    <a:ext uri="{FF2B5EF4-FFF2-40B4-BE49-F238E27FC236}">
                      <a16:creationId xmlns:a16="http://schemas.microsoft.com/office/drawing/2014/main" id="{ADEA7994-B84E-FCE4-7B32-786419B19E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8" name="Text Box 45">
                  <a:extLst>
                    <a:ext uri="{FF2B5EF4-FFF2-40B4-BE49-F238E27FC236}">
                      <a16:creationId xmlns:a16="http://schemas.microsoft.com/office/drawing/2014/main" id="{82232235-FDBB-8CC3-4888-C9BCD0F50B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9" name="Text Box 46">
                  <a:extLst>
                    <a:ext uri="{FF2B5EF4-FFF2-40B4-BE49-F238E27FC236}">
                      <a16:creationId xmlns:a16="http://schemas.microsoft.com/office/drawing/2014/main" id="{E064D760-EFD7-FD6F-78AD-80791ED2C0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0" name="Text Box 47">
                  <a:extLst>
                    <a:ext uri="{FF2B5EF4-FFF2-40B4-BE49-F238E27FC236}">
                      <a16:creationId xmlns:a16="http://schemas.microsoft.com/office/drawing/2014/main" id="{1F7AFEE6-2CCD-D403-89D3-540746451A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1" name="Text Box 48">
                  <a:extLst>
                    <a:ext uri="{FF2B5EF4-FFF2-40B4-BE49-F238E27FC236}">
                      <a16:creationId xmlns:a16="http://schemas.microsoft.com/office/drawing/2014/main" id="{009F9413-3A41-DFD4-EE47-227E6950C1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9" name="Text Box 49">
                  <a:extLst>
                    <a:ext uri="{FF2B5EF4-FFF2-40B4-BE49-F238E27FC236}">
                      <a16:creationId xmlns:a16="http://schemas.microsoft.com/office/drawing/2014/main" id="{98265AB5-9899-31DC-A329-7FFCCFB48D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3" name="Text Box 50">
                  <a:extLst>
                    <a:ext uri="{FF2B5EF4-FFF2-40B4-BE49-F238E27FC236}">
                      <a16:creationId xmlns:a16="http://schemas.microsoft.com/office/drawing/2014/main" id="{95CD941D-2139-9222-D172-AD68A828C5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4" name="Text Box 51">
                  <a:extLst>
                    <a:ext uri="{FF2B5EF4-FFF2-40B4-BE49-F238E27FC236}">
                      <a16:creationId xmlns:a16="http://schemas.microsoft.com/office/drawing/2014/main" id="{D9E34C33-933B-C532-0336-D4B9D2B757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7" name="Text Box 52">
                  <a:extLst>
                    <a:ext uri="{FF2B5EF4-FFF2-40B4-BE49-F238E27FC236}">
                      <a16:creationId xmlns:a16="http://schemas.microsoft.com/office/drawing/2014/main" id="{8991AB41-A02A-582D-3F66-144EED44B9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8" name="Text Box 53">
                  <a:extLst>
                    <a:ext uri="{FF2B5EF4-FFF2-40B4-BE49-F238E27FC236}">
                      <a16:creationId xmlns:a16="http://schemas.microsoft.com/office/drawing/2014/main" id="{E82F01DD-78CE-54EB-BE20-DDE3727189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60" name="Line 153">
                  <a:extLst>
                    <a:ext uri="{FF2B5EF4-FFF2-40B4-BE49-F238E27FC236}">
                      <a16:creationId xmlns:a16="http://schemas.microsoft.com/office/drawing/2014/main" id="{5C17C1A6-AB6E-7214-5D41-5789F5D183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61" name="Text Box 154">
                  <a:extLst>
                    <a:ext uri="{FF2B5EF4-FFF2-40B4-BE49-F238E27FC236}">
                      <a16:creationId xmlns:a16="http://schemas.microsoft.com/office/drawing/2014/main" id="{31E95D53-5080-9DBB-F7EF-4CF0A5E44E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3" name="Text Box 41">
              <a:extLst>
                <a:ext uri="{FF2B5EF4-FFF2-40B4-BE49-F238E27FC236}">
                  <a16:creationId xmlns:a16="http://schemas.microsoft.com/office/drawing/2014/main" id="{917CB81B-6124-A831-984C-4FDA957B8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7ECC4562-C78E-46F8-49B7-9866E0535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00" name="42 Conector recto">
            <a:extLst>
              <a:ext uri="{FF2B5EF4-FFF2-40B4-BE49-F238E27FC236}">
                <a16:creationId xmlns:a16="http://schemas.microsoft.com/office/drawing/2014/main" id="{B7808C62-9452-2DD8-D0E4-DED3C875F2D2}"/>
              </a:ext>
            </a:extLst>
          </p:cNvPr>
          <p:cNvCxnSpPr/>
          <p:nvPr/>
        </p:nvCxnSpPr>
        <p:spPr>
          <a:xfrm rot="5400000" flipH="1" flipV="1">
            <a:off x="7343875" y="2715742"/>
            <a:ext cx="357190" cy="1466"/>
          </a:xfrm>
          <a:prstGeom prst="line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43 Rectángulo">
            <a:extLst>
              <a:ext uri="{FF2B5EF4-FFF2-40B4-BE49-F238E27FC236}">
                <a16:creationId xmlns:a16="http://schemas.microsoft.com/office/drawing/2014/main" id="{627A4634-9B03-FEE5-5A67-0B8A58E10F87}"/>
              </a:ext>
            </a:extLst>
          </p:cNvPr>
          <p:cNvSpPr/>
          <p:nvPr/>
        </p:nvSpPr>
        <p:spPr>
          <a:xfrm>
            <a:off x="5273935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2" name="46 Rectángulo">
            <a:extLst>
              <a:ext uri="{FF2B5EF4-FFF2-40B4-BE49-F238E27FC236}">
                <a16:creationId xmlns:a16="http://schemas.microsoft.com/office/drawing/2014/main" id="{B769F78C-204E-136E-CCDD-F7DD39F03AD4}"/>
              </a:ext>
            </a:extLst>
          </p:cNvPr>
          <p:cNvSpPr/>
          <p:nvPr/>
        </p:nvSpPr>
        <p:spPr>
          <a:xfrm>
            <a:off x="5001642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3" name="47 Rectángulo">
            <a:extLst>
              <a:ext uri="{FF2B5EF4-FFF2-40B4-BE49-F238E27FC236}">
                <a16:creationId xmlns:a16="http://schemas.microsoft.com/office/drawing/2014/main" id="{93B094D0-0966-479D-A710-0F8934D0D4E1}"/>
              </a:ext>
            </a:extLst>
          </p:cNvPr>
          <p:cNvSpPr/>
          <p:nvPr/>
        </p:nvSpPr>
        <p:spPr>
          <a:xfrm>
            <a:off x="4488370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4" name="48 Rectángulo">
            <a:extLst>
              <a:ext uri="{FF2B5EF4-FFF2-40B4-BE49-F238E27FC236}">
                <a16:creationId xmlns:a16="http://schemas.microsoft.com/office/drawing/2014/main" id="{5459655F-17C3-F320-874B-84A6195647EF}"/>
              </a:ext>
            </a:extLst>
          </p:cNvPr>
          <p:cNvSpPr/>
          <p:nvPr/>
        </p:nvSpPr>
        <p:spPr>
          <a:xfrm>
            <a:off x="4752141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5" name="59 Rectángulo">
            <a:extLst>
              <a:ext uri="{FF2B5EF4-FFF2-40B4-BE49-F238E27FC236}">
                <a16:creationId xmlns:a16="http://schemas.microsoft.com/office/drawing/2014/main" id="{BE0A52A6-9A2B-B7E4-AE4A-BC09D2961758}"/>
              </a:ext>
            </a:extLst>
          </p:cNvPr>
          <p:cNvSpPr/>
          <p:nvPr/>
        </p:nvSpPr>
        <p:spPr>
          <a:xfrm>
            <a:off x="3960828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6" name="60 Rectángulo">
            <a:extLst>
              <a:ext uri="{FF2B5EF4-FFF2-40B4-BE49-F238E27FC236}">
                <a16:creationId xmlns:a16="http://schemas.microsoft.com/office/drawing/2014/main" id="{818A908F-AB80-476D-2BD5-880FD470E3EB}"/>
              </a:ext>
            </a:extLst>
          </p:cNvPr>
          <p:cNvSpPr/>
          <p:nvPr/>
        </p:nvSpPr>
        <p:spPr>
          <a:xfrm>
            <a:off x="6104112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grpSp>
        <p:nvGrpSpPr>
          <p:cNvPr id="107" name="121 Grupo">
            <a:extLst>
              <a:ext uri="{FF2B5EF4-FFF2-40B4-BE49-F238E27FC236}">
                <a16:creationId xmlns:a16="http://schemas.microsoft.com/office/drawing/2014/main" id="{ECA016B0-703E-6050-80C5-13BBC1D68BDF}"/>
              </a:ext>
            </a:extLst>
          </p:cNvPr>
          <p:cNvGrpSpPr/>
          <p:nvPr/>
        </p:nvGrpSpPr>
        <p:grpSpPr>
          <a:xfrm>
            <a:off x="3697056" y="2537880"/>
            <a:ext cx="3824681" cy="857256"/>
            <a:chOff x="4452934" y="285728"/>
            <a:chExt cx="4143404" cy="857256"/>
          </a:xfrm>
        </p:grpSpPr>
        <p:cxnSp>
          <p:nvCxnSpPr>
            <p:cNvPr id="108" name="62 Conector recto">
              <a:extLst>
                <a:ext uri="{FF2B5EF4-FFF2-40B4-BE49-F238E27FC236}">
                  <a16:creationId xmlns:a16="http://schemas.microsoft.com/office/drawing/2014/main" id="{88EB1036-3D80-58ED-4EE5-751643314842}"/>
                </a:ext>
              </a:extLst>
            </p:cNvPr>
            <p:cNvCxnSpPr/>
            <p:nvPr/>
          </p:nvCxnSpPr>
          <p:spPr>
            <a:xfrm>
              <a:off x="4452934" y="642918"/>
              <a:ext cx="571504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63 Conector recto">
              <a:extLst>
                <a:ext uri="{FF2B5EF4-FFF2-40B4-BE49-F238E27FC236}">
                  <a16:creationId xmlns:a16="http://schemas.microsoft.com/office/drawing/2014/main" id="{AD072D8A-42B5-726A-C279-D82088048BCF}"/>
                </a:ext>
              </a:extLst>
            </p:cNvPr>
            <p:cNvCxnSpPr/>
            <p:nvPr/>
          </p:nvCxnSpPr>
          <p:spPr>
            <a:xfrm>
              <a:off x="5024438" y="285728"/>
              <a:ext cx="1928826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64 Conector recto">
              <a:extLst>
                <a:ext uri="{FF2B5EF4-FFF2-40B4-BE49-F238E27FC236}">
                  <a16:creationId xmlns:a16="http://schemas.microsoft.com/office/drawing/2014/main" id="{CE276145-D7DA-2DD3-7553-B8577E3D9512}"/>
                </a:ext>
              </a:extLst>
            </p:cNvPr>
            <p:cNvCxnSpPr/>
            <p:nvPr/>
          </p:nvCxnSpPr>
          <p:spPr>
            <a:xfrm>
              <a:off x="6953264" y="642918"/>
              <a:ext cx="1643074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65 Conector recto">
              <a:extLst>
                <a:ext uri="{FF2B5EF4-FFF2-40B4-BE49-F238E27FC236}">
                  <a16:creationId xmlns:a16="http://schemas.microsoft.com/office/drawing/2014/main" id="{E39A5A7C-2BFB-5038-A509-402D512A010D}"/>
                </a:ext>
              </a:extLst>
            </p:cNvPr>
            <p:cNvCxnSpPr/>
            <p:nvPr/>
          </p:nvCxnSpPr>
          <p:spPr>
            <a:xfrm rot="5400000" flipH="1" flipV="1">
              <a:off x="6775463" y="463529"/>
              <a:ext cx="357190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66 Conector recto">
              <a:extLst>
                <a:ext uri="{FF2B5EF4-FFF2-40B4-BE49-F238E27FC236}">
                  <a16:creationId xmlns:a16="http://schemas.microsoft.com/office/drawing/2014/main" id="{13FD1692-288E-9411-99BD-F55203CED5F2}"/>
                </a:ext>
              </a:extLst>
            </p:cNvPr>
            <p:cNvCxnSpPr/>
            <p:nvPr/>
          </p:nvCxnSpPr>
          <p:spPr>
            <a:xfrm rot="5400000" flipH="1" flipV="1">
              <a:off x="4596604" y="714356"/>
              <a:ext cx="856462" cy="794"/>
            </a:xfrm>
            <a:prstGeom prst="line">
              <a:avLst/>
            </a:prstGeom>
            <a:ln w="317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67 Rectángulo">
            <a:extLst>
              <a:ext uri="{FF2B5EF4-FFF2-40B4-BE49-F238E27FC236}">
                <a16:creationId xmlns:a16="http://schemas.microsoft.com/office/drawing/2014/main" id="{F7C0CB23-1BAC-3267-F945-3F498E61B6FB}"/>
              </a:ext>
            </a:extLst>
          </p:cNvPr>
          <p:cNvSpPr/>
          <p:nvPr/>
        </p:nvSpPr>
        <p:spPr>
          <a:xfrm>
            <a:off x="5554812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grpSp>
        <p:nvGrpSpPr>
          <p:cNvPr id="114" name="68 Grupo">
            <a:extLst>
              <a:ext uri="{FF2B5EF4-FFF2-40B4-BE49-F238E27FC236}">
                <a16:creationId xmlns:a16="http://schemas.microsoft.com/office/drawing/2014/main" id="{633601F2-77D4-5001-1B29-29C1293A032E}"/>
              </a:ext>
            </a:extLst>
          </p:cNvPr>
          <p:cNvGrpSpPr/>
          <p:nvPr/>
        </p:nvGrpSpPr>
        <p:grpSpPr>
          <a:xfrm>
            <a:off x="6384989" y="3106201"/>
            <a:ext cx="2311092" cy="1717168"/>
            <a:chOff x="6832908" y="854576"/>
            <a:chExt cx="2311092" cy="1717168"/>
          </a:xfrm>
        </p:grpSpPr>
        <p:sp>
          <p:nvSpPr>
            <p:cNvPr id="115" name="74 Rectángulo">
              <a:extLst>
                <a:ext uri="{FF2B5EF4-FFF2-40B4-BE49-F238E27FC236}">
                  <a16:creationId xmlns:a16="http://schemas.microsoft.com/office/drawing/2014/main" id="{660C4980-49E3-C53A-3A59-B06D01632A17}"/>
                </a:ext>
              </a:extLst>
            </p:cNvPr>
            <p:cNvSpPr/>
            <p:nvPr/>
          </p:nvSpPr>
          <p:spPr>
            <a:xfrm>
              <a:off x="6832908" y="854576"/>
              <a:ext cx="1090016" cy="2143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116" name="72 Llamada de nube">
              <a:extLst>
                <a:ext uri="{FF2B5EF4-FFF2-40B4-BE49-F238E27FC236}">
                  <a16:creationId xmlns:a16="http://schemas.microsoft.com/office/drawing/2014/main" id="{CA223F00-C3BD-4B3C-C4FA-6B1B98FB8169}"/>
                </a:ext>
              </a:extLst>
            </p:cNvPr>
            <p:cNvSpPr/>
            <p:nvPr/>
          </p:nvSpPr>
          <p:spPr bwMode="auto">
            <a:xfrm>
              <a:off x="7429520" y="1500174"/>
              <a:ext cx="1714480" cy="1071570"/>
            </a:xfrm>
            <a:prstGeom prst="cloudCallout">
              <a:avLst>
                <a:gd name="adj1" fmla="val -56628"/>
                <a:gd name="adj2" fmla="val -85792"/>
              </a:avLst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117" name="73 CuadroTexto">
              <a:extLst>
                <a:ext uri="{FF2B5EF4-FFF2-40B4-BE49-F238E27FC236}">
                  <a16:creationId xmlns:a16="http://schemas.microsoft.com/office/drawing/2014/main" id="{0FDE3E8B-051B-54F7-A0CD-01C0F5239AF7}"/>
                </a:ext>
              </a:extLst>
            </p:cNvPr>
            <p:cNvSpPr txBox="1"/>
            <p:nvPr/>
          </p:nvSpPr>
          <p:spPr>
            <a:xfrm>
              <a:off x="7775848" y="1644190"/>
              <a:ext cx="12241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Tiempo para ejecutar la instrucción</a:t>
              </a:r>
            </a:p>
          </p:txBody>
        </p:sp>
      </p:grpSp>
      <p:sp>
        <p:nvSpPr>
          <p:cNvPr id="118" name="76 Llamada ovalada">
            <a:extLst>
              <a:ext uri="{FF2B5EF4-FFF2-40B4-BE49-F238E27FC236}">
                <a16:creationId xmlns:a16="http://schemas.microsoft.com/office/drawing/2014/main" id="{C7DF81EB-49F2-8A34-6058-B0443D3C8313}"/>
              </a:ext>
            </a:extLst>
          </p:cNvPr>
          <p:cNvSpPr/>
          <p:nvPr/>
        </p:nvSpPr>
        <p:spPr>
          <a:xfrm>
            <a:off x="6216608" y="1754188"/>
            <a:ext cx="2814024" cy="536519"/>
          </a:xfrm>
          <a:prstGeom prst="wedgeEllipseCallout">
            <a:avLst>
              <a:gd name="adj1" fmla="val -24954"/>
              <a:gd name="adj2" fmla="val -79527"/>
            </a:avLst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noProof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x2, x3, x4</a:t>
            </a:r>
            <a:endParaRPr lang="es-ES_tradnl" sz="2000" noProof="1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9" name="77 Rectángulo">
            <a:extLst>
              <a:ext uri="{FF2B5EF4-FFF2-40B4-BE49-F238E27FC236}">
                <a16:creationId xmlns:a16="http://schemas.microsoft.com/office/drawing/2014/main" id="{92BBBA37-09F9-A1E9-8E36-CB5A1A92461E}"/>
              </a:ext>
            </a:extLst>
          </p:cNvPr>
          <p:cNvSpPr/>
          <p:nvPr/>
        </p:nvSpPr>
        <p:spPr>
          <a:xfrm>
            <a:off x="4224597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FD5C1BC7-7C33-A5F5-9124-95E69044CA91}"/>
              </a:ext>
            </a:extLst>
          </p:cNvPr>
          <p:cNvSpPr txBox="1"/>
          <p:nvPr/>
        </p:nvSpPr>
        <p:spPr>
          <a:xfrm>
            <a:off x="3830657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24B19310-966E-9B1C-E9B4-FE3709ABA6DD}"/>
              </a:ext>
            </a:extLst>
          </p:cNvPr>
          <p:cNvSpPr txBox="1"/>
          <p:nvPr/>
        </p:nvSpPr>
        <p:spPr>
          <a:xfrm>
            <a:off x="4769010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91D5CF01-A0FC-3AAC-6442-5CA28C3CF5D4}"/>
              </a:ext>
            </a:extLst>
          </p:cNvPr>
          <p:cNvSpPr txBox="1"/>
          <p:nvPr/>
        </p:nvSpPr>
        <p:spPr>
          <a:xfrm>
            <a:off x="5508104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2D7B12C3-F451-3D5E-BA7E-951F6E763275}"/>
              </a:ext>
            </a:extLst>
          </p:cNvPr>
          <p:cNvSpPr txBox="1"/>
          <p:nvPr/>
        </p:nvSpPr>
        <p:spPr>
          <a:xfrm>
            <a:off x="6159115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1229A22A-8BB4-C308-7AF2-DA5EA10FFE61}"/>
              </a:ext>
            </a:extLst>
          </p:cNvPr>
          <p:cNvSpPr txBox="1"/>
          <p:nvPr/>
        </p:nvSpPr>
        <p:spPr>
          <a:xfrm>
            <a:off x="6879195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740AECC-C3F3-FC16-FACE-C2180ABBF9BC}"/>
              </a:ext>
            </a:extLst>
          </p:cNvPr>
          <p:cNvSpPr txBox="1"/>
          <p:nvPr/>
        </p:nvSpPr>
        <p:spPr>
          <a:xfrm>
            <a:off x="7743291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58941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6" grpId="0" animBg="1"/>
      <p:bldP spid="113" grpId="0" animBg="1"/>
      <p:bldP spid="1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Lectura de operandos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Las instrucciones utilizan el BANCO DE REGISTROS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Disponemos de 32 registros de 32 bits (</a:t>
            </a:r>
            <a:r>
              <a:rPr lang="es-ES_tradnl" sz="1800" noProof="1">
                <a:latin typeface="Courier New" panose="02070309020205020404" pitchFamily="49" charset="0"/>
                <a:cs typeface="Courier New" panose="02070309020205020404" pitchFamily="49" charset="0"/>
              </a:rPr>
              <a:t>x0-x31</a:t>
            </a: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Necesitamos dos puertos de lectura y un puerto de escritura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Los puertos de lectura son activados simultáneamente por la misma señal Lreg</a:t>
            </a:r>
          </a:p>
          <a:p>
            <a:pPr lvl="2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El puerto de escritura se activa con la señal EReg</a:t>
            </a:r>
          </a:p>
          <a:p>
            <a:pPr lvl="1"/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1" smtClean="0"/>
              <a:pPr/>
              <a:t>53</a:t>
            </a:fld>
            <a:endParaRPr lang="es-ES_tradnl" noProof="1"/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7DB70911-DBB0-FADA-6303-6D95330D0A8B}"/>
              </a:ext>
            </a:extLst>
          </p:cNvPr>
          <p:cNvGrpSpPr/>
          <p:nvPr/>
        </p:nvGrpSpPr>
        <p:grpSpPr>
          <a:xfrm>
            <a:off x="1927344" y="3789040"/>
            <a:ext cx="3663056" cy="2088232"/>
            <a:chOff x="1927344" y="3789040"/>
            <a:chExt cx="3663056" cy="2088232"/>
          </a:xfrm>
        </p:grpSpPr>
        <p:sp>
          <p:nvSpPr>
            <p:cNvPr id="43" name="Text Box 21"/>
            <p:cNvSpPr txBox="1">
              <a:spLocks noChangeArrowheads="1"/>
            </p:cNvSpPr>
            <p:nvPr/>
          </p:nvSpPr>
          <p:spPr bwMode="blackWhite">
            <a:xfrm>
              <a:off x="2151793" y="4475280"/>
              <a:ext cx="765138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1">
                  <a:solidFill>
                    <a:schemeClr val="tx2"/>
                  </a:solidFill>
                  <a:latin typeface="Calibri" pitchFamily="-103" charset="0"/>
                </a:rPr>
                <a:t>lectura</a:t>
              </a: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blackWhite">
            <a:xfrm flipH="1">
              <a:off x="3289530" y="4395980"/>
              <a:ext cx="202350" cy="16915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45" name="Line 23"/>
            <p:cNvSpPr>
              <a:spLocks noChangeShapeType="1"/>
            </p:cNvSpPr>
            <p:nvPr/>
          </p:nvSpPr>
          <p:spPr bwMode="blackWhite">
            <a:xfrm flipH="1">
              <a:off x="3289530" y="4772010"/>
              <a:ext cx="202350" cy="16915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46" name="Text Box 24"/>
            <p:cNvSpPr txBox="1">
              <a:spLocks noChangeArrowheads="1"/>
            </p:cNvSpPr>
            <p:nvPr/>
          </p:nvSpPr>
          <p:spPr bwMode="blackWhite">
            <a:xfrm>
              <a:off x="3283207" y="4165754"/>
              <a:ext cx="137007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1">
                  <a:solidFill>
                    <a:schemeClr val="tx2"/>
                  </a:solidFill>
                  <a:latin typeface="Calibri" pitchFamily="-103" charset="0"/>
                </a:rPr>
                <a:t>5</a:t>
              </a:r>
            </a:p>
          </p:txBody>
        </p:sp>
        <p:sp>
          <p:nvSpPr>
            <p:cNvPr id="47" name="Text Box 25"/>
            <p:cNvSpPr txBox="1">
              <a:spLocks noChangeArrowheads="1"/>
            </p:cNvSpPr>
            <p:nvPr/>
          </p:nvSpPr>
          <p:spPr bwMode="blackWhite">
            <a:xfrm>
              <a:off x="3283207" y="4581128"/>
              <a:ext cx="137007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1">
                  <a:solidFill>
                    <a:schemeClr val="tx2"/>
                  </a:solidFill>
                  <a:latin typeface="Calibri" pitchFamily="-103" charset="0"/>
                </a:rPr>
                <a:t>5</a:t>
              </a:r>
            </a:p>
          </p:txBody>
        </p:sp>
        <p:sp>
          <p:nvSpPr>
            <p:cNvPr id="48" name="Text Box 26"/>
            <p:cNvSpPr txBox="1">
              <a:spLocks noChangeArrowheads="1"/>
            </p:cNvSpPr>
            <p:nvPr/>
          </p:nvSpPr>
          <p:spPr bwMode="blackWhite">
            <a:xfrm>
              <a:off x="3283207" y="4941168"/>
              <a:ext cx="137007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1">
                  <a:solidFill>
                    <a:schemeClr val="tx2"/>
                  </a:solidFill>
                  <a:latin typeface="Calibri" pitchFamily="-103" charset="0"/>
                </a:rPr>
                <a:t>5</a:t>
              </a:r>
            </a:p>
          </p:txBody>
        </p:sp>
        <p:sp>
          <p:nvSpPr>
            <p:cNvPr id="49" name="Line 27"/>
            <p:cNvSpPr>
              <a:spLocks noChangeShapeType="1"/>
            </p:cNvSpPr>
            <p:nvPr/>
          </p:nvSpPr>
          <p:spPr bwMode="blackWhite">
            <a:xfrm flipH="1">
              <a:off x="3289530" y="5132050"/>
              <a:ext cx="202350" cy="16915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blackWhite">
            <a:xfrm>
              <a:off x="3213648" y="5605914"/>
              <a:ext cx="274016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51" name="Line 29"/>
            <p:cNvSpPr>
              <a:spLocks noChangeShapeType="1"/>
            </p:cNvSpPr>
            <p:nvPr/>
          </p:nvSpPr>
          <p:spPr bwMode="blackWhite">
            <a:xfrm flipH="1">
              <a:off x="3289530" y="5445224"/>
              <a:ext cx="202350" cy="1691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57" name="Text Box 35"/>
            <p:cNvSpPr txBox="1">
              <a:spLocks noChangeArrowheads="1"/>
            </p:cNvSpPr>
            <p:nvPr/>
          </p:nvSpPr>
          <p:spPr bwMode="blackWhite">
            <a:xfrm>
              <a:off x="1927344" y="5245874"/>
              <a:ext cx="965380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s-ES_tradnl" sz="1600" noProof="1">
                  <a:solidFill>
                    <a:schemeClr val="tx2"/>
                  </a:solidFill>
                  <a:latin typeface="Calibri" pitchFamily="-103" charset="0"/>
                </a:rPr>
                <a:t>escritura</a:t>
              </a:r>
            </a:p>
          </p:txBody>
        </p:sp>
        <p:sp>
          <p:nvSpPr>
            <p:cNvPr id="59" name="AutoShape 34"/>
            <p:cNvSpPr>
              <a:spLocks/>
            </p:cNvSpPr>
            <p:nvPr/>
          </p:nvSpPr>
          <p:spPr bwMode="blackWhite">
            <a:xfrm>
              <a:off x="2940117" y="4361930"/>
              <a:ext cx="202350" cy="592054"/>
            </a:xfrm>
            <a:prstGeom prst="leftBrace">
              <a:avLst>
                <a:gd name="adj1" fmla="val 28316"/>
                <a:gd name="adj2" fmla="val 50000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endParaRPr lang="es-ES_tradnl" sz="2000" b="1" noProof="1">
                <a:solidFill>
                  <a:schemeClr val="tx2"/>
                </a:solidFill>
              </a:endParaRP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F256F423-6B1C-743F-8E6F-697CFEB7913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06729" y="5212360"/>
              <a:ext cx="627629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AB8D28F8-13F9-1D9B-3735-7283BE4CA369}"/>
                </a:ext>
              </a:extLst>
            </p:cNvPr>
            <p:cNvSpPr/>
            <p:nvPr/>
          </p:nvSpPr>
          <p:spPr bwMode="auto">
            <a:xfrm>
              <a:off x="3840129" y="4284884"/>
              <a:ext cx="989791" cy="1367324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8B693F64-AA90-70EB-6FE4-754817452EE3}"/>
                </a:ext>
              </a:extLst>
            </p:cNvPr>
            <p:cNvCxnSpPr/>
            <p:nvPr/>
          </p:nvCxnSpPr>
          <p:spPr bwMode="auto">
            <a:xfrm>
              <a:off x="3213359" y="446064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74565753-F23F-9656-A22A-480FAFBEFDA7}"/>
                </a:ext>
              </a:extLst>
            </p:cNvPr>
            <p:cNvCxnSpPr/>
            <p:nvPr/>
          </p:nvCxnSpPr>
          <p:spPr bwMode="auto">
            <a:xfrm rot="16200000" flipH="1">
              <a:off x="3974998" y="41602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F77F8905-4916-5894-5224-BB8CC465FD6E}"/>
                </a:ext>
              </a:extLst>
            </p:cNvPr>
            <p:cNvCxnSpPr/>
            <p:nvPr/>
          </p:nvCxnSpPr>
          <p:spPr bwMode="auto">
            <a:xfrm>
              <a:off x="3213359" y="483887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EDC05BB7-274D-3894-DCCC-58737BAAD5A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12253" y="4460647"/>
              <a:ext cx="775168" cy="710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511E8638-573A-7A36-B821-7C7087942B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12253" y="4840460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582244F-0D3A-F42B-A896-93A7412715ED}"/>
                </a:ext>
              </a:extLst>
            </p:cNvPr>
            <p:cNvSpPr txBox="1"/>
            <p:nvPr/>
          </p:nvSpPr>
          <p:spPr>
            <a:xfrm>
              <a:off x="3800780" y="3805081"/>
              <a:ext cx="568922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0" name="140 Triángulo isósceles">
              <a:extLst>
                <a:ext uri="{FF2B5EF4-FFF2-40B4-BE49-F238E27FC236}">
                  <a16:creationId xmlns:a16="http://schemas.microsoft.com/office/drawing/2014/main" id="{555AD98F-EA84-F446-B747-FAA613C8CDC9}"/>
                </a:ext>
              </a:extLst>
            </p:cNvPr>
            <p:cNvSpPr/>
            <p:nvPr/>
          </p:nvSpPr>
          <p:spPr bwMode="auto">
            <a:xfrm rot="10800000">
              <a:off x="4450487" y="4288040"/>
              <a:ext cx="117602" cy="117367"/>
            </a:xfrm>
            <a:prstGeom prst="triangle">
              <a:avLst/>
            </a:prstGeom>
            <a:noFill/>
            <a:ln w="9525">
              <a:solidFill>
                <a:srgbClr val="00B05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DDAA2A16-A1AE-988A-976C-71AF2A7ED127}"/>
                </a:ext>
              </a:extLst>
            </p:cNvPr>
            <p:cNvSpPr txBox="1"/>
            <p:nvPr/>
          </p:nvSpPr>
          <p:spPr>
            <a:xfrm>
              <a:off x="4211960" y="3789040"/>
              <a:ext cx="577556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3364443-26D0-2C05-F54C-EB1792C89E87}"/>
                </a:ext>
              </a:extLst>
            </p:cNvPr>
            <p:cNvCxnSpPr/>
            <p:nvPr/>
          </p:nvCxnSpPr>
          <p:spPr bwMode="auto">
            <a:xfrm rot="16200000" flipH="1">
              <a:off x="4386046" y="418943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 Box 30">
              <a:extLst>
                <a:ext uri="{FF2B5EF4-FFF2-40B4-BE49-F238E27FC236}">
                  <a16:creationId xmlns:a16="http://schemas.microsoft.com/office/drawing/2014/main" id="{AC7B9149-9E83-D97A-9928-4565CF75495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047915" y="4957842"/>
              <a:ext cx="274016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60" name="Line 31">
              <a:extLst>
                <a:ext uri="{FF2B5EF4-FFF2-40B4-BE49-F238E27FC236}">
                  <a16:creationId xmlns:a16="http://schemas.microsoft.com/office/drawing/2014/main" id="{503923B1-CEE3-3757-C9F1-8F8AB2AA303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4997328" y="4788683"/>
              <a:ext cx="160194" cy="1691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61" name="Text Box 32">
              <a:extLst>
                <a:ext uri="{FF2B5EF4-FFF2-40B4-BE49-F238E27FC236}">
                  <a16:creationId xmlns:a16="http://schemas.microsoft.com/office/drawing/2014/main" id="{A07162EF-5FEE-E1E7-6A60-C0C40FDE5BA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090072" y="4077072"/>
              <a:ext cx="274016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62" name="Line 33">
              <a:extLst>
                <a:ext uri="{FF2B5EF4-FFF2-40B4-BE49-F238E27FC236}">
                  <a16:creationId xmlns:a16="http://schemas.microsoft.com/office/drawing/2014/main" id="{4B990142-81A0-6C2F-8D21-2523495544A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4997328" y="4348430"/>
              <a:ext cx="160194" cy="1691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E6837416-C37E-EBDD-C97A-C93BEE60D6E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06729" y="5517232"/>
              <a:ext cx="60985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1" name="AutoShape 34">
              <a:extLst>
                <a:ext uri="{FF2B5EF4-FFF2-40B4-BE49-F238E27FC236}">
                  <a16:creationId xmlns:a16="http://schemas.microsoft.com/office/drawing/2014/main" id="{1ADFC83D-D74F-5F69-32FF-C27080AF7D51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2915816" y="5085184"/>
              <a:ext cx="202350" cy="592054"/>
            </a:xfrm>
            <a:prstGeom prst="leftBrace">
              <a:avLst>
                <a:gd name="adj1" fmla="val 28316"/>
                <a:gd name="adj2" fmla="val 50000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endParaRPr lang="es-ES_tradnl" sz="2000" b="1" noProof="1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Generador de inmediatos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Las instrucciones de tipo I, S y B disponen de un operando inmediato de 12 bits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Hay que extender dicho operando a 32 bits para poder trabajar con él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Siempre se extiende el bit de signo, incluso para instrucciones lógicas como </a:t>
            </a:r>
            <a:r>
              <a:rPr lang="es-ES_tradnl" sz="1800" noProof="1">
                <a:latin typeface="Courier New" panose="02070309020205020404" pitchFamily="49" charset="0"/>
                <a:cs typeface="Courier New" panose="02070309020205020404" pitchFamily="49" charset="0"/>
              </a:rPr>
              <a:t>andi</a:t>
            </a: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800" noProof="1">
                <a:latin typeface="Courier New" panose="02070309020205020404" pitchFamily="49" charset="0"/>
                <a:cs typeface="Courier New" panose="02070309020205020404" pitchFamily="49" charset="0"/>
              </a:rPr>
              <a:t>ori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El bit de signo siempre está en la misma posición de la instrucción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El funcionamiento del generador depende solo de </a:t>
            </a:r>
            <a:r>
              <a:rPr lang="es-ES_tradnl" sz="1800" noProof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Ejemplo: en las instrucciones load y store</a:t>
            </a:r>
          </a:p>
          <a:p>
            <a:pPr marL="657225" lvl="2" indent="0" algn="just">
              <a:buNone/>
            </a:pPr>
            <a:r>
              <a:rPr lang="es-ES_tradnl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lw t1, -2(t0) # -2 está codificado en Ca2 de 12 bits </a:t>
            </a:r>
          </a:p>
          <a:p>
            <a:pPr marL="657225" lvl="2" indent="0" algn="just">
              <a:buNone/>
            </a:pPr>
            <a:r>
              <a:rPr lang="es-ES_tradnl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		    # La suma -2+t0 debe hacerse en Ca2 de 32 bits</a:t>
            </a:r>
          </a:p>
          <a:p>
            <a:pPr lvl="1" algn="just"/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1" smtClean="0"/>
              <a:pPr/>
              <a:t>54</a:t>
            </a:fld>
            <a:endParaRPr lang="es-ES_tradnl" noProof="1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BF46300-962B-448F-8672-D098AA392E86}"/>
              </a:ext>
            </a:extLst>
          </p:cNvPr>
          <p:cNvGrpSpPr/>
          <p:nvPr/>
        </p:nvGrpSpPr>
        <p:grpSpPr>
          <a:xfrm>
            <a:off x="2178230" y="5733258"/>
            <a:ext cx="5058220" cy="545097"/>
            <a:chOff x="2235065" y="4776733"/>
            <a:chExt cx="5058220" cy="545097"/>
          </a:xfrm>
        </p:grpSpPr>
        <p:grpSp>
          <p:nvGrpSpPr>
            <p:cNvPr id="71" name="Group 143"/>
            <p:cNvGrpSpPr>
              <a:grpSpLocks/>
            </p:cNvGrpSpPr>
            <p:nvPr/>
          </p:nvGrpSpPr>
          <p:grpSpPr bwMode="auto">
            <a:xfrm>
              <a:off x="3500486" y="4776733"/>
              <a:ext cx="2005761" cy="489012"/>
              <a:chOff x="650" y="2976"/>
              <a:chExt cx="1045" cy="240"/>
            </a:xfrm>
          </p:grpSpPr>
          <p:sp>
            <p:nvSpPr>
              <p:cNvPr id="75" name="Line 63"/>
              <p:cNvSpPr>
                <a:spLocks noChangeShapeType="1"/>
              </p:cNvSpPr>
              <p:nvPr/>
            </p:nvSpPr>
            <p:spPr bwMode="blackWhite">
              <a:xfrm flipH="1">
                <a:off x="672" y="3120"/>
                <a:ext cx="48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s-ES_tradnl" noProof="1"/>
              </a:p>
            </p:txBody>
          </p:sp>
          <p:sp>
            <p:nvSpPr>
              <p:cNvPr id="76" name="Line 64"/>
              <p:cNvSpPr>
                <a:spLocks noChangeShapeType="1"/>
              </p:cNvSpPr>
              <p:nvPr/>
            </p:nvSpPr>
            <p:spPr bwMode="blackWhite">
              <a:xfrm flipH="1">
                <a:off x="1579" y="3120"/>
                <a:ext cx="48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s-ES_tradnl" noProof="1"/>
              </a:p>
            </p:txBody>
          </p:sp>
          <p:sp>
            <p:nvSpPr>
              <p:cNvPr id="77" name="Text Box 65"/>
              <p:cNvSpPr txBox="1">
                <a:spLocks noChangeArrowheads="1"/>
              </p:cNvSpPr>
              <p:nvPr/>
            </p:nvSpPr>
            <p:spPr bwMode="blackWhite">
              <a:xfrm>
                <a:off x="650" y="2980"/>
                <a:ext cx="109" cy="1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s-ES_tradnl" sz="1600" noProof="1">
                    <a:solidFill>
                      <a:schemeClr val="tx2"/>
                    </a:solidFill>
                    <a:latin typeface="Calibri" pitchFamily="-103" charset="0"/>
                  </a:rPr>
                  <a:t>12</a:t>
                </a:r>
              </a:p>
            </p:txBody>
          </p:sp>
          <p:sp>
            <p:nvSpPr>
              <p:cNvPr id="78" name="Text Box 66"/>
              <p:cNvSpPr txBox="1">
                <a:spLocks noChangeArrowheads="1"/>
              </p:cNvSpPr>
              <p:nvPr/>
            </p:nvSpPr>
            <p:spPr bwMode="blackWhite">
              <a:xfrm>
                <a:off x="1565" y="2976"/>
                <a:ext cx="130" cy="154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s-ES_tradnl" sz="1600" noProof="1">
                    <a:solidFill>
                      <a:schemeClr val="tx2"/>
                    </a:solidFill>
                    <a:latin typeface="Calibri" pitchFamily="-103" charset="0"/>
                  </a:rPr>
                  <a:t>32</a:t>
                </a:r>
              </a:p>
            </p:txBody>
          </p: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3292EB6-C287-460C-9F04-555972FF0207}"/>
                </a:ext>
              </a:extLst>
            </p:cNvPr>
            <p:cNvSpPr txBox="1"/>
            <p:nvPr/>
          </p:nvSpPr>
          <p:spPr>
            <a:xfrm>
              <a:off x="2235065" y="5014053"/>
              <a:ext cx="10743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-2 = 0xFFE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253597C3-7B25-4141-AAA3-37B6ED061AD8}"/>
                </a:ext>
              </a:extLst>
            </p:cNvPr>
            <p:cNvSpPr txBox="1"/>
            <p:nvPr/>
          </p:nvSpPr>
          <p:spPr>
            <a:xfrm>
              <a:off x="5673931" y="5014053"/>
              <a:ext cx="16193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-2 = 0xFFFFFFFE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6DB86DC-0709-1331-88A3-70D2B24FA8C6}"/>
              </a:ext>
            </a:extLst>
          </p:cNvPr>
          <p:cNvGrpSpPr/>
          <p:nvPr/>
        </p:nvGrpSpPr>
        <p:grpSpPr>
          <a:xfrm>
            <a:off x="3417665" y="5853545"/>
            <a:ext cx="2162447" cy="455775"/>
            <a:chOff x="3417665" y="5277481"/>
            <a:chExt cx="2162447" cy="455775"/>
          </a:xfrm>
        </p:grpSpPr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B1183465-8A96-C957-A84D-DE4F9E23C4F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17665" y="5535599"/>
              <a:ext cx="5270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CFD94FCF-C9A2-8EDE-DF17-D039D543AAE2}"/>
                </a:ext>
              </a:extLst>
            </p:cNvPr>
            <p:cNvSpPr/>
            <p:nvPr/>
          </p:nvSpPr>
          <p:spPr bwMode="auto">
            <a:xfrm>
              <a:off x="3949979" y="5277481"/>
              <a:ext cx="1084964" cy="455775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28D460C-0E80-CF25-A2EF-94008328AB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53065" y="5563122"/>
              <a:ext cx="5270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026079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A783-6E37-08BB-698E-789ACF8C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B8082-2F16-9212-FC95-4DDE94AF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Generador de inmediatos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59199A-0281-20B8-3D27-DCDD5129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1" smtClean="0"/>
              <a:pPr/>
              <a:t>55</a:t>
            </a:fld>
            <a:endParaRPr lang="es-ES_tradnl" noProof="1"/>
          </a:p>
        </p:txBody>
      </p: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45AEA17D-25E0-840A-B90E-B63F69C0C5D5}"/>
              </a:ext>
            </a:extLst>
          </p:cNvPr>
          <p:cNvGrpSpPr/>
          <p:nvPr/>
        </p:nvGrpSpPr>
        <p:grpSpPr>
          <a:xfrm>
            <a:off x="1259632" y="2654757"/>
            <a:ext cx="4184535" cy="915356"/>
            <a:chOff x="5564455" y="4243453"/>
            <a:chExt cx="3387406" cy="878363"/>
          </a:xfrm>
        </p:grpSpPr>
        <p:grpSp>
          <p:nvGrpSpPr>
            <p:cNvPr id="186" name="Grupo 185">
              <a:extLst>
                <a:ext uri="{FF2B5EF4-FFF2-40B4-BE49-F238E27FC236}">
                  <a16:creationId xmlns:a16="http://schemas.microsoft.com/office/drawing/2014/main" id="{CF382FCA-02A7-8525-2B23-796C634DCCF5}"/>
                </a:ext>
              </a:extLst>
            </p:cNvPr>
            <p:cNvGrpSpPr/>
            <p:nvPr/>
          </p:nvGrpSpPr>
          <p:grpSpPr>
            <a:xfrm>
              <a:off x="5564455" y="4243453"/>
              <a:ext cx="3387406" cy="878363"/>
              <a:chOff x="5474422" y="4834674"/>
              <a:chExt cx="3361057" cy="1043057"/>
            </a:xfrm>
          </p:grpSpPr>
          <p:grpSp>
            <p:nvGrpSpPr>
              <p:cNvPr id="188" name="Group 9">
                <a:extLst>
                  <a:ext uri="{FF2B5EF4-FFF2-40B4-BE49-F238E27FC236}">
                    <a16:creationId xmlns:a16="http://schemas.microsoft.com/office/drawing/2014/main" id="{B0508484-124F-CBA3-D506-26750332FE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4422" y="4834674"/>
                <a:ext cx="3361057" cy="1043057"/>
                <a:chOff x="143" y="668"/>
                <a:chExt cx="2557" cy="624"/>
              </a:xfrm>
            </p:grpSpPr>
            <p:sp>
              <p:nvSpPr>
                <p:cNvPr id="190" name="Rectangle 10">
                  <a:extLst>
                    <a:ext uri="{FF2B5EF4-FFF2-40B4-BE49-F238E27FC236}">
                      <a16:creationId xmlns:a16="http://schemas.microsoft.com/office/drawing/2014/main" id="{53EB26C3-D577-D5ED-6555-BEB5B00B8E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" y="668"/>
                  <a:ext cx="2544" cy="5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91" name="Group 155">
                  <a:extLst>
                    <a:ext uri="{FF2B5EF4-FFF2-40B4-BE49-F238E27FC236}">
                      <a16:creationId xmlns:a16="http://schemas.microsoft.com/office/drawing/2014/main" id="{BBDC1761-F9DA-FF5D-15CC-D3867BE799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39"/>
                  <a:ext cx="2519" cy="553"/>
                  <a:chOff x="1168" y="1244"/>
                  <a:chExt cx="3246" cy="904"/>
                </a:xfrm>
              </p:grpSpPr>
              <p:sp>
                <p:nvSpPr>
                  <p:cNvPr id="192" name="Text Box 154">
                    <a:extLst>
                      <a:ext uri="{FF2B5EF4-FFF2-40B4-BE49-F238E27FC236}">
                        <a16:creationId xmlns:a16="http://schemas.microsoft.com/office/drawing/2014/main" id="{2BCC3258-1CAD-9E1A-6856-9048800BA54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grpSp>
                <p:nvGrpSpPr>
                  <p:cNvPr id="193" name="Group 5">
                    <a:extLst>
                      <a:ext uri="{FF2B5EF4-FFF2-40B4-BE49-F238E27FC236}">
                        <a16:creationId xmlns:a16="http://schemas.microsoft.com/office/drawing/2014/main" id="{C6B90684-CC13-5A8A-5849-F0154B2F996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44"/>
                    <a:ext cx="3050" cy="423"/>
                    <a:chOff x="982" y="1234"/>
                    <a:chExt cx="3050" cy="423"/>
                  </a:xfrm>
                </p:grpSpPr>
                <p:sp>
                  <p:nvSpPr>
                    <p:cNvPr id="207" name="Rectangle 6">
                      <a:extLst>
                        <a:ext uri="{FF2B5EF4-FFF2-40B4-BE49-F238E27FC236}">
                          <a16:creationId xmlns:a16="http://schemas.microsoft.com/office/drawing/2014/main" id="{4013CB89-56A0-15BB-2F06-CF1FDAA0FA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1234"/>
                      <a:ext cx="3050" cy="423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208" name="Group 7">
                      <a:extLst>
                        <a:ext uri="{FF2B5EF4-FFF2-40B4-BE49-F238E27FC236}">
                          <a16:creationId xmlns:a16="http://schemas.microsoft.com/office/drawing/2014/main" id="{E2F59377-1030-4D8B-FF56-8971CFCBF93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209" name="Line 9">
                        <a:extLst>
                          <a:ext uri="{FF2B5EF4-FFF2-40B4-BE49-F238E27FC236}">
                            <a16:creationId xmlns:a16="http://schemas.microsoft.com/office/drawing/2014/main" id="{F3E9DD0B-986B-2407-0CE5-AACA216E3DA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0" name="Line 10">
                        <a:extLst>
                          <a:ext uri="{FF2B5EF4-FFF2-40B4-BE49-F238E27FC236}">
                            <a16:creationId xmlns:a16="http://schemas.microsoft.com/office/drawing/2014/main" id="{5873AD7A-73B3-9236-B3F1-02E4CB02F53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1" name="Line 11">
                        <a:extLst>
                          <a:ext uri="{FF2B5EF4-FFF2-40B4-BE49-F238E27FC236}">
                            <a16:creationId xmlns:a16="http://schemas.microsoft.com/office/drawing/2014/main" id="{AAD0779A-2BD7-69DB-BA7B-3C8D9D25C82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2" name="Line 12">
                        <a:extLst>
                          <a:ext uri="{FF2B5EF4-FFF2-40B4-BE49-F238E27FC236}">
                            <a16:creationId xmlns:a16="http://schemas.microsoft.com/office/drawing/2014/main" id="{CBCCEF21-E769-6EDB-FC3D-3E25B8C962E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3" name="Line 13">
                        <a:extLst>
                          <a:ext uri="{FF2B5EF4-FFF2-40B4-BE49-F238E27FC236}">
                            <a16:creationId xmlns:a16="http://schemas.microsoft.com/office/drawing/2014/main" id="{6F9A25AF-B263-ACAD-B5FF-03BFA689A5A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4" name="Line 14">
                        <a:extLst>
                          <a:ext uri="{FF2B5EF4-FFF2-40B4-BE49-F238E27FC236}">
                            <a16:creationId xmlns:a16="http://schemas.microsoft.com/office/drawing/2014/main" id="{EE8AC424-5162-7496-4694-ACF00387112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5" name="Line 15">
                        <a:extLst>
                          <a:ext uri="{FF2B5EF4-FFF2-40B4-BE49-F238E27FC236}">
                            <a16:creationId xmlns:a16="http://schemas.microsoft.com/office/drawing/2014/main" id="{C1D8E855-AE05-B917-5DF3-8F6EF845C6B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6" name="Line 16">
                        <a:extLst>
                          <a:ext uri="{FF2B5EF4-FFF2-40B4-BE49-F238E27FC236}">
                            <a16:creationId xmlns:a16="http://schemas.microsoft.com/office/drawing/2014/main" id="{24AFB321-8553-DBD0-CC48-8E59A1EB74D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7" name="Line 17">
                        <a:extLst>
                          <a:ext uri="{FF2B5EF4-FFF2-40B4-BE49-F238E27FC236}">
                            <a16:creationId xmlns:a16="http://schemas.microsoft.com/office/drawing/2014/main" id="{005DC2B9-5148-C267-918C-529486545C7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8" name="Line 18">
                        <a:extLst>
                          <a:ext uri="{FF2B5EF4-FFF2-40B4-BE49-F238E27FC236}">
                            <a16:creationId xmlns:a16="http://schemas.microsoft.com/office/drawing/2014/main" id="{542230F3-022B-A98A-6EF0-11F2CB1D1F3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9" name="Line 19">
                        <a:extLst>
                          <a:ext uri="{FF2B5EF4-FFF2-40B4-BE49-F238E27FC236}">
                            <a16:creationId xmlns:a16="http://schemas.microsoft.com/office/drawing/2014/main" id="{F38EBC2F-6ED7-BEBB-F7D0-9F9A3A24348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0" name="Line 20">
                        <a:extLst>
                          <a:ext uri="{FF2B5EF4-FFF2-40B4-BE49-F238E27FC236}">
                            <a16:creationId xmlns:a16="http://schemas.microsoft.com/office/drawing/2014/main" id="{2E8E7ACD-8096-4FBF-E1DA-231F1A532BA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1" name="Line 21">
                        <a:extLst>
                          <a:ext uri="{FF2B5EF4-FFF2-40B4-BE49-F238E27FC236}">
                            <a16:creationId xmlns:a16="http://schemas.microsoft.com/office/drawing/2014/main" id="{6D470E38-65B7-5B8F-01D4-CAFB19DA535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2" name="Line 22">
                        <a:extLst>
                          <a:ext uri="{FF2B5EF4-FFF2-40B4-BE49-F238E27FC236}">
                            <a16:creationId xmlns:a16="http://schemas.microsoft.com/office/drawing/2014/main" id="{806A391E-7E37-F372-DF1B-B23E26729E1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3" name="Line 23">
                        <a:extLst>
                          <a:ext uri="{FF2B5EF4-FFF2-40B4-BE49-F238E27FC236}">
                            <a16:creationId xmlns:a16="http://schemas.microsoft.com/office/drawing/2014/main" id="{7F7DA39A-00D9-9B70-6B41-177E1B80986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4" name="Line 24">
                        <a:extLst>
                          <a:ext uri="{FF2B5EF4-FFF2-40B4-BE49-F238E27FC236}">
                            <a16:creationId xmlns:a16="http://schemas.microsoft.com/office/drawing/2014/main" id="{0C017E92-A64E-950E-AADC-ABCD2B432B9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5" name="Line 25">
                        <a:extLst>
                          <a:ext uri="{FF2B5EF4-FFF2-40B4-BE49-F238E27FC236}">
                            <a16:creationId xmlns:a16="http://schemas.microsoft.com/office/drawing/2014/main" id="{9DEE83FE-C7A8-1DE9-C893-279D843AEDD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6" name="Line 26">
                        <a:extLst>
                          <a:ext uri="{FF2B5EF4-FFF2-40B4-BE49-F238E27FC236}">
                            <a16:creationId xmlns:a16="http://schemas.microsoft.com/office/drawing/2014/main" id="{79F8B0C2-E5D5-ED15-7083-748D39D59B8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7" name="Line 27">
                        <a:extLst>
                          <a:ext uri="{FF2B5EF4-FFF2-40B4-BE49-F238E27FC236}">
                            <a16:creationId xmlns:a16="http://schemas.microsoft.com/office/drawing/2014/main" id="{29822D9A-EB08-EC8B-9D37-30621CBEA53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8" name="Line 28">
                        <a:extLst>
                          <a:ext uri="{FF2B5EF4-FFF2-40B4-BE49-F238E27FC236}">
                            <a16:creationId xmlns:a16="http://schemas.microsoft.com/office/drawing/2014/main" id="{D9F51FD7-5836-8D8D-B848-13C9247E1B3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9" name="Line 29">
                        <a:extLst>
                          <a:ext uri="{FF2B5EF4-FFF2-40B4-BE49-F238E27FC236}">
                            <a16:creationId xmlns:a16="http://schemas.microsoft.com/office/drawing/2014/main" id="{88050C7D-A5B5-D8D3-3EA9-8A5C3C8221E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0" name="Line 30">
                        <a:extLst>
                          <a:ext uri="{FF2B5EF4-FFF2-40B4-BE49-F238E27FC236}">
                            <a16:creationId xmlns:a16="http://schemas.microsoft.com/office/drawing/2014/main" id="{1B1B1A12-C81B-249F-97D6-69FEA324D3D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1" name="Line 31">
                        <a:extLst>
                          <a:ext uri="{FF2B5EF4-FFF2-40B4-BE49-F238E27FC236}">
                            <a16:creationId xmlns:a16="http://schemas.microsoft.com/office/drawing/2014/main" id="{2C0C186D-3569-CAA6-ECA6-E1C83A71B15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2" name="Line 32">
                        <a:extLst>
                          <a:ext uri="{FF2B5EF4-FFF2-40B4-BE49-F238E27FC236}">
                            <a16:creationId xmlns:a16="http://schemas.microsoft.com/office/drawing/2014/main" id="{D9345F82-D02B-0056-9E56-AC1159AF96F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3" name="Line 33">
                        <a:extLst>
                          <a:ext uri="{FF2B5EF4-FFF2-40B4-BE49-F238E27FC236}">
                            <a16:creationId xmlns:a16="http://schemas.microsoft.com/office/drawing/2014/main" id="{3404CF0E-74EA-301A-67DE-FB371DCDFA9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4" name="Line 34">
                        <a:extLst>
                          <a:ext uri="{FF2B5EF4-FFF2-40B4-BE49-F238E27FC236}">
                            <a16:creationId xmlns:a16="http://schemas.microsoft.com/office/drawing/2014/main" id="{F98A7379-530A-D7E9-2169-34A338FD155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5" name="Line 35">
                        <a:extLst>
                          <a:ext uri="{FF2B5EF4-FFF2-40B4-BE49-F238E27FC236}">
                            <a16:creationId xmlns:a16="http://schemas.microsoft.com/office/drawing/2014/main" id="{88393133-AA8A-5B37-D660-C0781D2AEBD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6" name="Line 36">
                        <a:extLst>
                          <a:ext uri="{FF2B5EF4-FFF2-40B4-BE49-F238E27FC236}">
                            <a16:creationId xmlns:a16="http://schemas.microsoft.com/office/drawing/2014/main" id="{A490AE87-C79F-C3B5-3E45-E7EDAD73A9F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7" name="Line 37">
                        <a:extLst>
                          <a:ext uri="{FF2B5EF4-FFF2-40B4-BE49-F238E27FC236}">
                            <a16:creationId xmlns:a16="http://schemas.microsoft.com/office/drawing/2014/main" id="{59B9B115-1D20-7B9B-F82D-C9523E157C7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38" name="Line 38">
                        <a:extLst>
                          <a:ext uri="{FF2B5EF4-FFF2-40B4-BE49-F238E27FC236}">
                            <a16:creationId xmlns:a16="http://schemas.microsoft.com/office/drawing/2014/main" id="{437CEB91-55C4-9221-356D-769AD355A48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194" name="Text Box 40">
                    <a:extLst>
                      <a:ext uri="{FF2B5EF4-FFF2-40B4-BE49-F238E27FC236}">
                        <a16:creationId xmlns:a16="http://schemas.microsoft.com/office/drawing/2014/main" id="{16F43DB9-0167-BBC8-9473-AA6506E09C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3" y="1312"/>
                    <a:ext cx="120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[11:0]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5" name="Text Box 41">
                    <a:extLst>
                      <a:ext uri="{FF2B5EF4-FFF2-40B4-BE49-F238E27FC236}">
                        <a16:creationId xmlns:a16="http://schemas.microsoft.com/office/drawing/2014/main" id="{565C216B-627A-1BAB-1600-39F81B5D6CA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51" y="1326"/>
                    <a:ext cx="543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6" name="Line 42">
                    <a:extLst>
                      <a:ext uri="{FF2B5EF4-FFF2-40B4-BE49-F238E27FC236}">
                        <a16:creationId xmlns:a16="http://schemas.microsoft.com/office/drawing/2014/main" id="{AA75BFB6-EFBB-8F23-6539-895C0BA3AB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97" name="Line 43">
                    <a:extLst>
                      <a:ext uri="{FF2B5EF4-FFF2-40B4-BE49-F238E27FC236}">
                        <a16:creationId xmlns:a16="http://schemas.microsoft.com/office/drawing/2014/main" id="{07A12A25-AC4B-1B3B-FEB2-785CDFD803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98" name="Line 44">
                    <a:extLst>
                      <a:ext uri="{FF2B5EF4-FFF2-40B4-BE49-F238E27FC236}">
                        <a16:creationId xmlns:a16="http://schemas.microsoft.com/office/drawing/2014/main" id="{5E7C8D37-EFCA-B330-ACF0-75CDF99AF7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99" name="Text Box 46">
                    <a:extLst>
                      <a:ext uri="{FF2B5EF4-FFF2-40B4-BE49-F238E27FC236}">
                        <a16:creationId xmlns:a16="http://schemas.microsoft.com/office/drawing/2014/main" id="{8103793F-34FE-D347-B4D6-6BD717EDF46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44" y="1314"/>
                    <a:ext cx="39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0" name="Text Box 47">
                    <a:extLst>
                      <a:ext uri="{FF2B5EF4-FFF2-40B4-BE49-F238E27FC236}">
                        <a16:creationId xmlns:a16="http://schemas.microsoft.com/office/drawing/2014/main" id="{6917D869-D4F3-310E-DF90-E5ACC444CC4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8" y="1307"/>
                    <a:ext cx="662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1" name="Text Box 48">
                    <a:extLst>
                      <a:ext uri="{FF2B5EF4-FFF2-40B4-BE49-F238E27FC236}">
                        <a16:creationId xmlns:a16="http://schemas.microsoft.com/office/drawing/2014/main" id="{459A3B67-DA63-DD8E-4C67-4033DAC08D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02" name="Text Box 50">
                    <a:extLst>
                      <a:ext uri="{FF2B5EF4-FFF2-40B4-BE49-F238E27FC236}">
                        <a16:creationId xmlns:a16="http://schemas.microsoft.com/office/drawing/2014/main" id="{123BFFF4-50BE-6CA8-42E1-4056AA4F70D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03" name="Text Box 51">
                    <a:extLst>
                      <a:ext uri="{FF2B5EF4-FFF2-40B4-BE49-F238E27FC236}">
                        <a16:creationId xmlns:a16="http://schemas.microsoft.com/office/drawing/2014/main" id="{CD0373F1-B08E-7258-AF65-4635DF518D7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04" name="Text Box 52">
                    <a:extLst>
                      <a:ext uri="{FF2B5EF4-FFF2-40B4-BE49-F238E27FC236}">
                        <a16:creationId xmlns:a16="http://schemas.microsoft.com/office/drawing/2014/main" id="{BBFA9485-05F4-A70D-3565-9CB9384169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05" name="Text Box 53">
                    <a:extLst>
                      <a:ext uri="{FF2B5EF4-FFF2-40B4-BE49-F238E27FC236}">
                        <a16:creationId xmlns:a16="http://schemas.microsoft.com/office/drawing/2014/main" id="{16D0EB4A-8D18-E7D8-FEAE-8713159C9E7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06" name="Line 153">
                    <a:extLst>
                      <a:ext uri="{FF2B5EF4-FFF2-40B4-BE49-F238E27FC236}">
                        <a16:creationId xmlns:a16="http://schemas.microsoft.com/office/drawing/2014/main" id="{79894CE6-6D1F-1237-CF51-0C62084DCA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189" name="Line 11">
                <a:extLst>
                  <a:ext uri="{FF2B5EF4-FFF2-40B4-BE49-F238E27FC236}">
                    <a16:creationId xmlns:a16="http://schemas.microsoft.com/office/drawing/2014/main" id="{F172CF78-E02C-ACB8-486A-9BB754246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0008" y="5256087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87" name="Text Box 41">
              <a:extLst>
                <a:ext uri="{FF2B5EF4-FFF2-40B4-BE49-F238E27FC236}">
                  <a16:creationId xmlns:a16="http://schemas.microsoft.com/office/drawing/2014/main" id="{A3AA9677-BD09-FD28-D05C-125860B15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3198" y="4392001"/>
              <a:ext cx="383616" cy="175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F1958199-302C-074F-B47D-11372921FA8A}"/>
              </a:ext>
            </a:extLst>
          </p:cNvPr>
          <p:cNvGrpSpPr/>
          <p:nvPr/>
        </p:nvGrpSpPr>
        <p:grpSpPr>
          <a:xfrm>
            <a:off x="1187624" y="5085184"/>
            <a:ext cx="4191655" cy="1065725"/>
            <a:chOff x="3109309" y="5917230"/>
            <a:chExt cx="3345284" cy="997923"/>
          </a:xfrm>
        </p:grpSpPr>
        <p:grpSp>
          <p:nvGrpSpPr>
            <p:cNvPr id="294" name="Grupo 293">
              <a:extLst>
                <a:ext uri="{FF2B5EF4-FFF2-40B4-BE49-F238E27FC236}">
                  <a16:creationId xmlns:a16="http://schemas.microsoft.com/office/drawing/2014/main" id="{E79F712A-BCDE-1C79-009C-657E124D8EB9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296" name="Group 9">
                <a:extLst>
                  <a:ext uri="{FF2B5EF4-FFF2-40B4-BE49-F238E27FC236}">
                    <a16:creationId xmlns:a16="http://schemas.microsoft.com/office/drawing/2014/main" id="{48AFAC4B-12C6-6A98-D460-6068A34D03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298" name="Rectangle 10">
                  <a:extLst>
                    <a:ext uri="{FF2B5EF4-FFF2-40B4-BE49-F238E27FC236}">
                      <a16:creationId xmlns:a16="http://schemas.microsoft.com/office/drawing/2014/main" id="{C31D7E8B-A3CC-D3DD-DF68-43CBF7603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99" name="Group 155">
                  <a:extLst>
                    <a:ext uri="{FF2B5EF4-FFF2-40B4-BE49-F238E27FC236}">
                      <a16:creationId xmlns:a16="http://schemas.microsoft.com/office/drawing/2014/main" id="{CFEB54C5-4CCD-CE36-6D0B-08E7E2BE11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300" name="Group 5">
                    <a:extLst>
                      <a:ext uri="{FF2B5EF4-FFF2-40B4-BE49-F238E27FC236}">
                        <a16:creationId xmlns:a16="http://schemas.microsoft.com/office/drawing/2014/main" id="{97026B68-4B1A-44DE-5514-7EAB099A06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318" name="Rectangle 6">
                      <a:extLst>
                        <a:ext uri="{FF2B5EF4-FFF2-40B4-BE49-F238E27FC236}">
                          <a16:creationId xmlns:a16="http://schemas.microsoft.com/office/drawing/2014/main" id="{8F879909-FCAB-5FE3-475D-E8BDA017976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319" name="Group 7">
                      <a:extLst>
                        <a:ext uri="{FF2B5EF4-FFF2-40B4-BE49-F238E27FC236}">
                          <a16:creationId xmlns:a16="http://schemas.microsoft.com/office/drawing/2014/main" id="{38B31C2E-A9A0-9290-9C5A-7160023A5C0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320" name="Line 9">
                        <a:extLst>
                          <a:ext uri="{FF2B5EF4-FFF2-40B4-BE49-F238E27FC236}">
                            <a16:creationId xmlns:a16="http://schemas.microsoft.com/office/drawing/2014/main" id="{CC0956DF-A043-33F7-EB74-0C877BA71A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1" name="Line 10">
                        <a:extLst>
                          <a:ext uri="{FF2B5EF4-FFF2-40B4-BE49-F238E27FC236}">
                            <a16:creationId xmlns:a16="http://schemas.microsoft.com/office/drawing/2014/main" id="{86A1826D-6488-00A2-5F84-D4CC5335C1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2" name="Line 11">
                        <a:extLst>
                          <a:ext uri="{FF2B5EF4-FFF2-40B4-BE49-F238E27FC236}">
                            <a16:creationId xmlns:a16="http://schemas.microsoft.com/office/drawing/2014/main" id="{8338E914-5759-A4D2-E1D2-B0916BC339A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3" name="Line 12">
                        <a:extLst>
                          <a:ext uri="{FF2B5EF4-FFF2-40B4-BE49-F238E27FC236}">
                            <a16:creationId xmlns:a16="http://schemas.microsoft.com/office/drawing/2014/main" id="{03EC2842-9D93-3AB4-E1FF-B94006F64B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4" name="Line 13">
                        <a:extLst>
                          <a:ext uri="{FF2B5EF4-FFF2-40B4-BE49-F238E27FC236}">
                            <a16:creationId xmlns:a16="http://schemas.microsoft.com/office/drawing/2014/main" id="{0186D197-CF9B-540D-0FAB-DB86BABC70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5" name="Line 14">
                        <a:extLst>
                          <a:ext uri="{FF2B5EF4-FFF2-40B4-BE49-F238E27FC236}">
                            <a16:creationId xmlns:a16="http://schemas.microsoft.com/office/drawing/2014/main" id="{D4924F61-EFC4-CC6A-852D-A31C103F76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6" name="Line 15">
                        <a:extLst>
                          <a:ext uri="{FF2B5EF4-FFF2-40B4-BE49-F238E27FC236}">
                            <a16:creationId xmlns:a16="http://schemas.microsoft.com/office/drawing/2014/main" id="{63AEA674-30A0-3BCB-8EEB-E2570D27FF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7" name="Line 16">
                        <a:extLst>
                          <a:ext uri="{FF2B5EF4-FFF2-40B4-BE49-F238E27FC236}">
                            <a16:creationId xmlns:a16="http://schemas.microsoft.com/office/drawing/2014/main" id="{904D1DE4-990D-F691-FC94-3893BDF900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8" name="Line 17">
                        <a:extLst>
                          <a:ext uri="{FF2B5EF4-FFF2-40B4-BE49-F238E27FC236}">
                            <a16:creationId xmlns:a16="http://schemas.microsoft.com/office/drawing/2014/main" id="{37F21A01-DDC6-4EC6-6591-FA0B3BD6BEC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29" name="Line 18">
                        <a:extLst>
                          <a:ext uri="{FF2B5EF4-FFF2-40B4-BE49-F238E27FC236}">
                            <a16:creationId xmlns:a16="http://schemas.microsoft.com/office/drawing/2014/main" id="{5864C0A5-FAF0-CE32-7A5E-16EFB59664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0" name="Line 19">
                        <a:extLst>
                          <a:ext uri="{FF2B5EF4-FFF2-40B4-BE49-F238E27FC236}">
                            <a16:creationId xmlns:a16="http://schemas.microsoft.com/office/drawing/2014/main" id="{827A4CAD-A6B0-3191-CAA8-9BC6CF804B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1" name="Line 20">
                        <a:extLst>
                          <a:ext uri="{FF2B5EF4-FFF2-40B4-BE49-F238E27FC236}">
                            <a16:creationId xmlns:a16="http://schemas.microsoft.com/office/drawing/2014/main" id="{15A210FD-8458-B4C9-AA5C-DCEF54B32A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2" name="Line 21">
                        <a:extLst>
                          <a:ext uri="{FF2B5EF4-FFF2-40B4-BE49-F238E27FC236}">
                            <a16:creationId xmlns:a16="http://schemas.microsoft.com/office/drawing/2014/main" id="{2F78F22D-F0A6-7434-CE2D-C52C1B309C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3" name="Line 22">
                        <a:extLst>
                          <a:ext uri="{FF2B5EF4-FFF2-40B4-BE49-F238E27FC236}">
                            <a16:creationId xmlns:a16="http://schemas.microsoft.com/office/drawing/2014/main" id="{01106658-20C6-FAC6-85E5-2D18F04D302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4" name="Line 23">
                        <a:extLst>
                          <a:ext uri="{FF2B5EF4-FFF2-40B4-BE49-F238E27FC236}">
                            <a16:creationId xmlns:a16="http://schemas.microsoft.com/office/drawing/2014/main" id="{9CC54C17-3958-0EE5-177E-A565F40FE0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5" name="Line 24">
                        <a:extLst>
                          <a:ext uri="{FF2B5EF4-FFF2-40B4-BE49-F238E27FC236}">
                            <a16:creationId xmlns:a16="http://schemas.microsoft.com/office/drawing/2014/main" id="{234C8CD1-FFA6-4B7D-96BE-AC7CD0D371A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6" name="Line 25">
                        <a:extLst>
                          <a:ext uri="{FF2B5EF4-FFF2-40B4-BE49-F238E27FC236}">
                            <a16:creationId xmlns:a16="http://schemas.microsoft.com/office/drawing/2014/main" id="{B2F75884-D34F-8CEB-FF5F-8DB5DFF789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7" name="Line 26">
                        <a:extLst>
                          <a:ext uri="{FF2B5EF4-FFF2-40B4-BE49-F238E27FC236}">
                            <a16:creationId xmlns:a16="http://schemas.microsoft.com/office/drawing/2014/main" id="{3EB26C74-754B-2D50-0829-2D8070BA8A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8" name="Line 27">
                        <a:extLst>
                          <a:ext uri="{FF2B5EF4-FFF2-40B4-BE49-F238E27FC236}">
                            <a16:creationId xmlns:a16="http://schemas.microsoft.com/office/drawing/2014/main" id="{2B956619-DD70-FD04-317E-6D8FF6128FB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39" name="Line 28">
                        <a:extLst>
                          <a:ext uri="{FF2B5EF4-FFF2-40B4-BE49-F238E27FC236}">
                            <a16:creationId xmlns:a16="http://schemas.microsoft.com/office/drawing/2014/main" id="{975B95E3-2187-B49B-A8FA-B21180D7F8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0" name="Line 29">
                        <a:extLst>
                          <a:ext uri="{FF2B5EF4-FFF2-40B4-BE49-F238E27FC236}">
                            <a16:creationId xmlns:a16="http://schemas.microsoft.com/office/drawing/2014/main" id="{FB4C6B68-EA07-3A60-9025-CA116CABE9E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1" name="Line 30">
                        <a:extLst>
                          <a:ext uri="{FF2B5EF4-FFF2-40B4-BE49-F238E27FC236}">
                            <a16:creationId xmlns:a16="http://schemas.microsoft.com/office/drawing/2014/main" id="{5CBDBDCD-9BCA-96D1-D5B5-F6F9378D76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2" name="Line 31">
                        <a:extLst>
                          <a:ext uri="{FF2B5EF4-FFF2-40B4-BE49-F238E27FC236}">
                            <a16:creationId xmlns:a16="http://schemas.microsoft.com/office/drawing/2014/main" id="{73AA145C-9ACC-2F69-6AAA-8A8C7741BF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3" name="Line 32">
                        <a:extLst>
                          <a:ext uri="{FF2B5EF4-FFF2-40B4-BE49-F238E27FC236}">
                            <a16:creationId xmlns:a16="http://schemas.microsoft.com/office/drawing/2014/main" id="{32293496-D794-02F2-5702-86CA2A6A1A3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4" name="Line 33">
                        <a:extLst>
                          <a:ext uri="{FF2B5EF4-FFF2-40B4-BE49-F238E27FC236}">
                            <a16:creationId xmlns:a16="http://schemas.microsoft.com/office/drawing/2014/main" id="{6BDDBEFB-7D41-D0F5-2684-F2F8FBF4AED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5" name="Line 34">
                        <a:extLst>
                          <a:ext uri="{FF2B5EF4-FFF2-40B4-BE49-F238E27FC236}">
                            <a16:creationId xmlns:a16="http://schemas.microsoft.com/office/drawing/2014/main" id="{6B222BF7-E8AD-1D13-06BE-ED020B647C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6" name="Line 35">
                        <a:extLst>
                          <a:ext uri="{FF2B5EF4-FFF2-40B4-BE49-F238E27FC236}">
                            <a16:creationId xmlns:a16="http://schemas.microsoft.com/office/drawing/2014/main" id="{BBA4834F-34C0-2202-BEE6-48B4738432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7" name="Line 36">
                        <a:extLst>
                          <a:ext uri="{FF2B5EF4-FFF2-40B4-BE49-F238E27FC236}">
                            <a16:creationId xmlns:a16="http://schemas.microsoft.com/office/drawing/2014/main" id="{4697B61F-3733-0634-410A-2C5FFB0BCA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8" name="Line 37">
                        <a:extLst>
                          <a:ext uri="{FF2B5EF4-FFF2-40B4-BE49-F238E27FC236}">
                            <a16:creationId xmlns:a16="http://schemas.microsoft.com/office/drawing/2014/main" id="{1F66F996-C803-23E9-7188-F01AC141AA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49" name="Line 38">
                        <a:extLst>
                          <a:ext uri="{FF2B5EF4-FFF2-40B4-BE49-F238E27FC236}">
                            <a16:creationId xmlns:a16="http://schemas.microsoft.com/office/drawing/2014/main" id="{5FB45DF6-0D43-A8A6-7164-F7729DB61EE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301" name="Line 39">
                    <a:extLst>
                      <a:ext uri="{FF2B5EF4-FFF2-40B4-BE49-F238E27FC236}">
                        <a16:creationId xmlns:a16="http://schemas.microsoft.com/office/drawing/2014/main" id="{41E658F8-81FF-3C8A-14F4-86AD0AEEA6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2" name="Text Box 40">
                    <a:extLst>
                      <a:ext uri="{FF2B5EF4-FFF2-40B4-BE49-F238E27FC236}">
                        <a16:creationId xmlns:a16="http://schemas.microsoft.com/office/drawing/2014/main" id="{0999FCFB-F056-799F-9290-6AE0FB28315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00" b="1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900" b="1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[12|10:5]</a:t>
                    </a:r>
                    <a:endParaRPr lang="ca-ES" sz="900" b="1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03" name="Text Box 41">
                    <a:extLst>
                      <a:ext uri="{FF2B5EF4-FFF2-40B4-BE49-F238E27FC236}">
                        <a16:creationId xmlns:a16="http://schemas.microsoft.com/office/drawing/2014/main" id="{6696E24F-5FC5-27C0-977E-E52116F7A4E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77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04" name="Line 42">
                    <a:extLst>
                      <a:ext uri="{FF2B5EF4-FFF2-40B4-BE49-F238E27FC236}">
                        <a16:creationId xmlns:a16="http://schemas.microsoft.com/office/drawing/2014/main" id="{A4AC5BAA-DF35-FC2B-3DD1-531E1D2D1B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5" name="Line 43">
                    <a:extLst>
                      <a:ext uri="{FF2B5EF4-FFF2-40B4-BE49-F238E27FC236}">
                        <a16:creationId xmlns:a16="http://schemas.microsoft.com/office/drawing/2014/main" id="{87422717-3726-D8C4-AB22-273402B39C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6" name="Line 44">
                    <a:extLst>
                      <a:ext uri="{FF2B5EF4-FFF2-40B4-BE49-F238E27FC236}">
                        <a16:creationId xmlns:a16="http://schemas.microsoft.com/office/drawing/2014/main" id="{51A0479F-241B-52ED-9C93-CC4847B964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7" name="Text Box 45">
                    <a:extLst>
                      <a:ext uri="{FF2B5EF4-FFF2-40B4-BE49-F238E27FC236}">
                        <a16:creationId xmlns:a16="http://schemas.microsoft.com/office/drawing/2014/main" id="{28FA63A5-AB5E-9D1E-B6D9-E2F41D7829C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08" name="Text Box 46">
                    <a:extLst>
                      <a:ext uri="{FF2B5EF4-FFF2-40B4-BE49-F238E27FC236}">
                        <a16:creationId xmlns:a16="http://schemas.microsoft.com/office/drawing/2014/main" id="{09C82BE2-14BE-5A74-3351-CA6BD1B79F4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09" name="Text Box 47">
                    <a:extLst>
                      <a:ext uri="{FF2B5EF4-FFF2-40B4-BE49-F238E27FC236}">
                        <a16:creationId xmlns:a16="http://schemas.microsoft.com/office/drawing/2014/main" id="{66850310-F318-4538-0BEC-51D6649BF64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10" name="Text Box 48">
                    <a:extLst>
                      <a:ext uri="{FF2B5EF4-FFF2-40B4-BE49-F238E27FC236}">
                        <a16:creationId xmlns:a16="http://schemas.microsoft.com/office/drawing/2014/main" id="{00668006-D06A-EC85-B2A6-105355406F9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1" name="Text Box 49">
                    <a:extLst>
                      <a:ext uri="{FF2B5EF4-FFF2-40B4-BE49-F238E27FC236}">
                        <a16:creationId xmlns:a16="http://schemas.microsoft.com/office/drawing/2014/main" id="{77FADA5A-60CF-DB51-6E57-60B05F7E37D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2" name="Text Box 50">
                    <a:extLst>
                      <a:ext uri="{FF2B5EF4-FFF2-40B4-BE49-F238E27FC236}">
                        <a16:creationId xmlns:a16="http://schemas.microsoft.com/office/drawing/2014/main" id="{E51A9D04-E09E-DF0A-7534-AF9004804A5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3" name="Text Box 51">
                    <a:extLst>
                      <a:ext uri="{FF2B5EF4-FFF2-40B4-BE49-F238E27FC236}">
                        <a16:creationId xmlns:a16="http://schemas.microsoft.com/office/drawing/2014/main" id="{D4416466-B033-BFDE-77F7-EA717DE7E6F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4" name="Text Box 52">
                    <a:extLst>
                      <a:ext uri="{FF2B5EF4-FFF2-40B4-BE49-F238E27FC236}">
                        <a16:creationId xmlns:a16="http://schemas.microsoft.com/office/drawing/2014/main" id="{C0DA22BF-2771-7DBE-A84B-8C70D2E0E16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5" name="Text Box 53">
                    <a:extLst>
                      <a:ext uri="{FF2B5EF4-FFF2-40B4-BE49-F238E27FC236}">
                        <a16:creationId xmlns:a16="http://schemas.microsoft.com/office/drawing/2014/main" id="{FEB2510C-9FAA-1441-1A50-8751CF8A868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6" name="Line 153">
                    <a:extLst>
                      <a:ext uri="{FF2B5EF4-FFF2-40B4-BE49-F238E27FC236}">
                        <a16:creationId xmlns:a16="http://schemas.microsoft.com/office/drawing/2014/main" id="{347AF03D-13EA-8489-291A-BB2C10B2DC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17" name="Text Box 154">
                    <a:extLst>
                      <a:ext uri="{FF2B5EF4-FFF2-40B4-BE49-F238E27FC236}">
                        <a16:creationId xmlns:a16="http://schemas.microsoft.com/office/drawing/2014/main" id="{8FEAE800-4651-A22C-0A27-BD632ADBFC4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297" name="Text Box 41">
                <a:extLst>
                  <a:ext uri="{FF2B5EF4-FFF2-40B4-BE49-F238E27FC236}">
                    <a16:creationId xmlns:a16="http://schemas.microsoft.com/office/drawing/2014/main" id="{9B7DE546-ED77-4675-9A5A-7CBCB873BBB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32296"/>
                <a:ext cx="737522" cy="201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800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8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[4:1|11]</a:t>
                </a:r>
                <a:endParaRPr lang="ca-ES" sz="10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95" name="Line 11">
              <a:extLst>
                <a:ext uri="{FF2B5EF4-FFF2-40B4-BE49-F238E27FC236}">
                  <a16:creationId xmlns:a16="http://schemas.microsoft.com/office/drawing/2014/main" id="{43635D45-25EB-B656-A66D-E2DE45285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350" name="Rectángulo 349">
            <a:extLst>
              <a:ext uri="{FF2B5EF4-FFF2-40B4-BE49-F238E27FC236}">
                <a16:creationId xmlns:a16="http://schemas.microsoft.com/office/drawing/2014/main" id="{BF319DC1-5436-6627-9000-F7BEF9A7540B}"/>
              </a:ext>
            </a:extLst>
          </p:cNvPr>
          <p:cNvSpPr/>
          <p:nvPr/>
        </p:nvSpPr>
        <p:spPr>
          <a:xfrm>
            <a:off x="2851756" y="2755835"/>
            <a:ext cx="1575420" cy="387621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1" name="Rectángulo 350">
            <a:extLst>
              <a:ext uri="{FF2B5EF4-FFF2-40B4-BE49-F238E27FC236}">
                <a16:creationId xmlns:a16="http://schemas.microsoft.com/office/drawing/2014/main" id="{DC9AFFB8-80AE-6EF5-10D3-6682E0144316}"/>
              </a:ext>
            </a:extLst>
          </p:cNvPr>
          <p:cNvSpPr/>
          <p:nvPr/>
        </p:nvSpPr>
        <p:spPr>
          <a:xfrm>
            <a:off x="2157731" y="5197647"/>
            <a:ext cx="1583612" cy="387621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407" name="Grupo 406">
            <a:extLst>
              <a:ext uri="{FF2B5EF4-FFF2-40B4-BE49-F238E27FC236}">
                <a16:creationId xmlns:a16="http://schemas.microsoft.com/office/drawing/2014/main" id="{E600D859-E318-B2EE-2B32-6DB00562769F}"/>
              </a:ext>
            </a:extLst>
          </p:cNvPr>
          <p:cNvGrpSpPr/>
          <p:nvPr/>
        </p:nvGrpSpPr>
        <p:grpSpPr>
          <a:xfrm>
            <a:off x="1259632" y="3909657"/>
            <a:ext cx="4163830" cy="1051477"/>
            <a:chOff x="3109309" y="5917230"/>
            <a:chExt cx="3345284" cy="997923"/>
          </a:xfrm>
        </p:grpSpPr>
        <p:grpSp>
          <p:nvGrpSpPr>
            <p:cNvPr id="408" name="Grupo 407">
              <a:extLst>
                <a:ext uri="{FF2B5EF4-FFF2-40B4-BE49-F238E27FC236}">
                  <a16:creationId xmlns:a16="http://schemas.microsoft.com/office/drawing/2014/main" id="{1A15187B-42A3-D63C-6FF7-F5869BBCF999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410" name="Group 9">
                <a:extLst>
                  <a:ext uri="{FF2B5EF4-FFF2-40B4-BE49-F238E27FC236}">
                    <a16:creationId xmlns:a16="http://schemas.microsoft.com/office/drawing/2014/main" id="{8CE55722-0C7A-0E67-3886-33CE189ED3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412" name="Rectangle 10">
                  <a:extLst>
                    <a:ext uri="{FF2B5EF4-FFF2-40B4-BE49-F238E27FC236}">
                      <a16:creationId xmlns:a16="http://schemas.microsoft.com/office/drawing/2014/main" id="{AAF1D8B3-FE4D-6E50-908F-A59A81A967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413" name="Group 155">
                  <a:extLst>
                    <a:ext uri="{FF2B5EF4-FFF2-40B4-BE49-F238E27FC236}">
                      <a16:creationId xmlns:a16="http://schemas.microsoft.com/office/drawing/2014/main" id="{606932B0-DB27-A54C-C30E-C296D57EFF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414" name="Group 5">
                    <a:extLst>
                      <a:ext uri="{FF2B5EF4-FFF2-40B4-BE49-F238E27FC236}">
                        <a16:creationId xmlns:a16="http://schemas.microsoft.com/office/drawing/2014/main" id="{DE1394CF-86F5-9C9B-473A-C01A40F1E8A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432" name="Rectangle 6">
                      <a:extLst>
                        <a:ext uri="{FF2B5EF4-FFF2-40B4-BE49-F238E27FC236}">
                          <a16:creationId xmlns:a16="http://schemas.microsoft.com/office/drawing/2014/main" id="{87A82458-CD74-4193-85CB-92EF90DFC6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433" name="Group 7">
                      <a:extLst>
                        <a:ext uri="{FF2B5EF4-FFF2-40B4-BE49-F238E27FC236}">
                          <a16:creationId xmlns:a16="http://schemas.microsoft.com/office/drawing/2014/main" id="{B6DD8665-F988-BAC1-1104-C9E72305D3E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434" name="Line 9">
                        <a:extLst>
                          <a:ext uri="{FF2B5EF4-FFF2-40B4-BE49-F238E27FC236}">
                            <a16:creationId xmlns:a16="http://schemas.microsoft.com/office/drawing/2014/main" id="{6B0870D3-EF16-544C-F30A-573CC751FA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5" name="Line 10">
                        <a:extLst>
                          <a:ext uri="{FF2B5EF4-FFF2-40B4-BE49-F238E27FC236}">
                            <a16:creationId xmlns:a16="http://schemas.microsoft.com/office/drawing/2014/main" id="{8646AD8A-F772-6E7A-4DE9-F3034F4A43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6" name="Line 11">
                        <a:extLst>
                          <a:ext uri="{FF2B5EF4-FFF2-40B4-BE49-F238E27FC236}">
                            <a16:creationId xmlns:a16="http://schemas.microsoft.com/office/drawing/2014/main" id="{6B8B3803-9F4F-883C-CA1F-C88230BD13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7" name="Line 12">
                        <a:extLst>
                          <a:ext uri="{FF2B5EF4-FFF2-40B4-BE49-F238E27FC236}">
                            <a16:creationId xmlns:a16="http://schemas.microsoft.com/office/drawing/2014/main" id="{CCABCF42-AA4C-2F82-5A74-8710A1D7AC9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8" name="Line 13">
                        <a:extLst>
                          <a:ext uri="{FF2B5EF4-FFF2-40B4-BE49-F238E27FC236}">
                            <a16:creationId xmlns:a16="http://schemas.microsoft.com/office/drawing/2014/main" id="{A30B3F2C-D753-30DE-9AE9-E09C1286E2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9" name="Line 14">
                        <a:extLst>
                          <a:ext uri="{FF2B5EF4-FFF2-40B4-BE49-F238E27FC236}">
                            <a16:creationId xmlns:a16="http://schemas.microsoft.com/office/drawing/2014/main" id="{1FFB6D60-4BE1-575B-42B8-264A22AE80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0" name="Line 15">
                        <a:extLst>
                          <a:ext uri="{FF2B5EF4-FFF2-40B4-BE49-F238E27FC236}">
                            <a16:creationId xmlns:a16="http://schemas.microsoft.com/office/drawing/2014/main" id="{E3AE9569-7904-20F4-D997-893678ADB8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1" name="Line 16">
                        <a:extLst>
                          <a:ext uri="{FF2B5EF4-FFF2-40B4-BE49-F238E27FC236}">
                            <a16:creationId xmlns:a16="http://schemas.microsoft.com/office/drawing/2014/main" id="{9C306C43-5ECE-B524-2DEE-6097692B0C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2" name="Line 17">
                        <a:extLst>
                          <a:ext uri="{FF2B5EF4-FFF2-40B4-BE49-F238E27FC236}">
                            <a16:creationId xmlns:a16="http://schemas.microsoft.com/office/drawing/2014/main" id="{7A4631AE-2155-B080-F1D1-62339B61CEF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3" name="Line 18">
                        <a:extLst>
                          <a:ext uri="{FF2B5EF4-FFF2-40B4-BE49-F238E27FC236}">
                            <a16:creationId xmlns:a16="http://schemas.microsoft.com/office/drawing/2014/main" id="{549002B1-5DFB-EDF4-3EE8-0DD6A832723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4" name="Line 19">
                        <a:extLst>
                          <a:ext uri="{FF2B5EF4-FFF2-40B4-BE49-F238E27FC236}">
                            <a16:creationId xmlns:a16="http://schemas.microsoft.com/office/drawing/2014/main" id="{5555C38D-C84C-49CF-56FF-58476BDEC6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5" name="Line 20">
                        <a:extLst>
                          <a:ext uri="{FF2B5EF4-FFF2-40B4-BE49-F238E27FC236}">
                            <a16:creationId xmlns:a16="http://schemas.microsoft.com/office/drawing/2014/main" id="{12BC4D0A-282E-EEAC-E663-CC97A3F1C2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6" name="Line 21">
                        <a:extLst>
                          <a:ext uri="{FF2B5EF4-FFF2-40B4-BE49-F238E27FC236}">
                            <a16:creationId xmlns:a16="http://schemas.microsoft.com/office/drawing/2014/main" id="{CFDD8D30-9DDC-5286-8546-B704017B7B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7" name="Line 22">
                        <a:extLst>
                          <a:ext uri="{FF2B5EF4-FFF2-40B4-BE49-F238E27FC236}">
                            <a16:creationId xmlns:a16="http://schemas.microsoft.com/office/drawing/2014/main" id="{322DF0C0-ED73-44DB-EA12-66B32738ED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8" name="Line 23">
                        <a:extLst>
                          <a:ext uri="{FF2B5EF4-FFF2-40B4-BE49-F238E27FC236}">
                            <a16:creationId xmlns:a16="http://schemas.microsoft.com/office/drawing/2014/main" id="{F584C20C-B98B-646C-9351-37553C88C6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9" name="Line 24">
                        <a:extLst>
                          <a:ext uri="{FF2B5EF4-FFF2-40B4-BE49-F238E27FC236}">
                            <a16:creationId xmlns:a16="http://schemas.microsoft.com/office/drawing/2014/main" id="{BE6CFA20-B426-E876-690E-C5174B37FBB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0" name="Line 25">
                        <a:extLst>
                          <a:ext uri="{FF2B5EF4-FFF2-40B4-BE49-F238E27FC236}">
                            <a16:creationId xmlns:a16="http://schemas.microsoft.com/office/drawing/2014/main" id="{4F403728-3E95-53A9-A7A6-510AEFB2AF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1" name="Line 26">
                        <a:extLst>
                          <a:ext uri="{FF2B5EF4-FFF2-40B4-BE49-F238E27FC236}">
                            <a16:creationId xmlns:a16="http://schemas.microsoft.com/office/drawing/2014/main" id="{593C958A-53C4-C99C-2015-882A68AD6A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2" name="Line 27">
                        <a:extLst>
                          <a:ext uri="{FF2B5EF4-FFF2-40B4-BE49-F238E27FC236}">
                            <a16:creationId xmlns:a16="http://schemas.microsoft.com/office/drawing/2014/main" id="{4E759ECA-8E3B-EC00-2665-24C92B91B0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3" name="Line 28">
                        <a:extLst>
                          <a:ext uri="{FF2B5EF4-FFF2-40B4-BE49-F238E27FC236}">
                            <a16:creationId xmlns:a16="http://schemas.microsoft.com/office/drawing/2014/main" id="{3B1E8701-0C9B-4B13-B9AB-19454467F4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4" name="Line 29">
                        <a:extLst>
                          <a:ext uri="{FF2B5EF4-FFF2-40B4-BE49-F238E27FC236}">
                            <a16:creationId xmlns:a16="http://schemas.microsoft.com/office/drawing/2014/main" id="{ABA67E68-790D-C4B6-2AC3-4DD8A908CF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5" name="Line 30">
                        <a:extLst>
                          <a:ext uri="{FF2B5EF4-FFF2-40B4-BE49-F238E27FC236}">
                            <a16:creationId xmlns:a16="http://schemas.microsoft.com/office/drawing/2014/main" id="{42AA04FB-CB7E-7322-2A2B-0D09A7413A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6" name="Line 31">
                        <a:extLst>
                          <a:ext uri="{FF2B5EF4-FFF2-40B4-BE49-F238E27FC236}">
                            <a16:creationId xmlns:a16="http://schemas.microsoft.com/office/drawing/2014/main" id="{88A74738-766E-139A-FF6A-8583CC5FFA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7" name="Line 32">
                        <a:extLst>
                          <a:ext uri="{FF2B5EF4-FFF2-40B4-BE49-F238E27FC236}">
                            <a16:creationId xmlns:a16="http://schemas.microsoft.com/office/drawing/2014/main" id="{87486AE7-BB5F-2B19-D917-B01507E0E4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8" name="Line 33">
                        <a:extLst>
                          <a:ext uri="{FF2B5EF4-FFF2-40B4-BE49-F238E27FC236}">
                            <a16:creationId xmlns:a16="http://schemas.microsoft.com/office/drawing/2014/main" id="{E3FAAC03-4213-4442-4564-0E6FD9C93E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9" name="Line 34">
                        <a:extLst>
                          <a:ext uri="{FF2B5EF4-FFF2-40B4-BE49-F238E27FC236}">
                            <a16:creationId xmlns:a16="http://schemas.microsoft.com/office/drawing/2014/main" id="{8C0BF79C-104A-5EB5-9716-3F751FA8D6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0" name="Line 35">
                        <a:extLst>
                          <a:ext uri="{FF2B5EF4-FFF2-40B4-BE49-F238E27FC236}">
                            <a16:creationId xmlns:a16="http://schemas.microsoft.com/office/drawing/2014/main" id="{E8B7A349-4FA5-4A5F-DA6D-ADA12EDBE7D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1" name="Line 36">
                        <a:extLst>
                          <a:ext uri="{FF2B5EF4-FFF2-40B4-BE49-F238E27FC236}">
                            <a16:creationId xmlns:a16="http://schemas.microsoft.com/office/drawing/2014/main" id="{C82766C9-0C94-856A-8639-810A417F65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2" name="Line 37">
                        <a:extLst>
                          <a:ext uri="{FF2B5EF4-FFF2-40B4-BE49-F238E27FC236}">
                            <a16:creationId xmlns:a16="http://schemas.microsoft.com/office/drawing/2014/main" id="{E74155CA-6077-3450-B534-9A352D2177D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3" name="Line 38">
                        <a:extLst>
                          <a:ext uri="{FF2B5EF4-FFF2-40B4-BE49-F238E27FC236}">
                            <a16:creationId xmlns:a16="http://schemas.microsoft.com/office/drawing/2014/main" id="{95BCB036-9E87-D2EA-317E-0B59EC37DC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415" name="Line 39">
                    <a:extLst>
                      <a:ext uri="{FF2B5EF4-FFF2-40B4-BE49-F238E27FC236}">
                        <a16:creationId xmlns:a16="http://schemas.microsoft.com/office/drawing/2014/main" id="{5A9D0448-F0D4-E64E-14A5-86532F9D65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16" name="Text Box 40">
                    <a:extLst>
                      <a:ext uri="{FF2B5EF4-FFF2-40B4-BE49-F238E27FC236}">
                        <a16:creationId xmlns:a16="http://schemas.microsoft.com/office/drawing/2014/main" id="{5F00E380-2698-E0EC-896E-AA585C473E0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[11:5]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17" name="Text Box 41">
                    <a:extLst>
                      <a:ext uri="{FF2B5EF4-FFF2-40B4-BE49-F238E27FC236}">
                        <a16:creationId xmlns:a16="http://schemas.microsoft.com/office/drawing/2014/main" id="{EBA6500F-C189-37B5-0ADC-D5261DE11BB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76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18" name="Line 42">
                    <a:extLst>
                      <a:ext uri="{FF2B5EF4-FFF2-40B4-BE49-F238E27FC236}">
                        <a16:creationId xmlns:a16="http://schemas.microsoft.com/office/drawing/2014/main" id="{7D8291FA-C195-E577-6206-CB6759598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19" name="Line 43">
                    <a:extLst>
                      <a:ext uri="{FF2B5EF4-FFF2-40B4-BE49-F238E27FC236}">
                        <a16:creationId xmlns:a16="http://schemas.microsoft.com/office/drawing/2014/main" id="{201D4D67-CB32-0726-45A2-97A18E6924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20" name="Line 44">
                    <a:extLst>
                      <a:ext uri="{FF2B5EF4-FFF2-40B4-BE49-F238E27FC236}">
                        <a16:creationId xmlns:a16="http://schemas.microsoft.com/office/drawing/2014/main" id="{3A2C1107-9984-B84D-9B96-344DA8D2CB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21" name="Text Box 45">
                    <a:extLst>
                      <a:ext uri="{FF2B5EF4-FFF2-40B4-BE49-F238E27FC236}">
                        <a16:creationId xmlns:a16="http://schemas.microsoft.com/office/drawing/2014/main" id="{8624A72C-5391-DA6C-CD44-BFE81C4250F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22" name="Text Box 46">
                    <a:extLst>
                      <a:ext uri="{FF2B5EF4-FFF2-40B4-BE49-F238E27FC236}">
                        <a16:creationId xmlns:a16="http://schemas.microsoft.com/office/drawing/2014/main" id="{2D8815D1-AB07-D857-529F-461720701BB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23" name="Text Box 47">
                    <a:extLst>
                      <a:ext uri="{FF2B5EF4-FFF2-40B4-BE49-F238E27FC236}">
                        <a16:creationId xmlns:a16="http://schemas.microsoft.com/office/drawing/2014/main" id="{57C11847-58B9-2D14-8CD4-60D701C77B2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24" name="Text Box 48">
                    <a:extLst>
                      <a:ext uri="{FF2B5EF4-FFF2-40B4-BE49-F238E27FC236}">
                        <a16:creationId xmlns:a16="http://schemas.microsoft.com/office/drawing/2014/main" id="{A67CB203-01AD-AB02-2112-23FD212D183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25" name="Text Box 49">
                    <a:extLst>
                      <a:ext uri="{FF2B5EF4-FFF2-40B4-BE49-F238E27FC236}">
                        <a16:creationId xmlns:a16="http://schemas.microsoft.com/office/drawing/2014/main" id="{671CF8F1-5B04-294A-8150-F990ED30A69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26" name="Text Box 50">
                    <a:extLst>
                      <a:ext uri="{FF2B5EF4-FFF2-40B4-BE49-F238E27FC236}">
                        <a16:creationId xmlns:a16="http://schemas.microsoft.com/office/drawing/2014/main" id="{1EDCC276-D546-E20B-5203-63F3BE4DE10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27" name="Text Box 51">
                    <a:extLst>
                      <a:ext uri="{FF2B5EF4-FFF2-40B4-BE49-F238E27FC236}">
                        <a16:creationId xmlns:a16="http://schemas.microsoft.com/office/drawing/2014/main" id="{7C52BA3F-BA98-BDC0-E71F-6302A5D1DA9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28" name="Text Box 52">
                    <a:extLst>
                      <a:ext uri="{FF2B5EF4-FFF2-40B4-BE49-F238E27FC236}">
                        <a16:creationId xmlns:a16="http://schemas.microsoft.com/office/drawing/2014/main" id="{AFF0535E-75E6-B99C-58AF-D96025067E5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29" name="Text Box 53">
                    <a:extLst>
                      <a:ext uri="{FF2B5EF4-FFF2-40B4-BE49-F238E27FC236}">
                        <a16:creationId xmlns:a16="http://schemas.microsoft.com/office/drawing/2014/main" id="{77CF2ED6-9AF9-7CAC-293C-F9AA6D584FE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30" name="Line 153">
                    <a:extLst>
                      <a:ext uri="{FF2B5EF4-FFF2-40B4-BE49-F238E27FC236}">
                        <a16:creationId xmlns:a16="http://schemas.microsoft.com/office/drawing/2014/main" id="{BD1BCF93-6F7D-E5CC-8E39-30271514A5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31" name="Text Box 154">
                    <a:extLst>
                      <a:ext uri="{FF2B5EF4-FFF2-40B4-BE49-F238E27FC236}">
                        <a16:creationId xmlns:a16="http://schemas.microsoft.com/office/drawing/2014/main" id="{855CF00F-DBE9-56B0-2EB4-98240DD6110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411" name="Text Box 41">
                <a:extLst>
                  <a:ext uri="{FF2B5EF4-FFF2-40B4-BE49-F238E27FC236}">
                    <a16:creationId xmlns:a16="http://schemas.microsoft.com/office/drawing/2014/main" id="{59069C84-8551-FE47-39C3-B5F1F1624F5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5996069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[4:0]</a:t>
                </a:r>
                <a:endParaRPr lang="ca-E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409" name="Line 11">
              <a:extLst>
                <a:ext uri="{FF2B5EF4-FFF2-40B4-BE49-F238E27FC236}">
                  <a16:creationId xmlns:a16="http://schemas.microsoft.com/office/drawing/2014/main" id="{D92E10E0-5FA0-CDB7-EC47-E35124103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464" name="Rectángulo 463">
            <a:extLst>
              <a:ext uri="{FF2B5EF4-FFF2-40B4-BE49-F238E27FC236}">
                <a16:creationId xmlns:a16="http://schemas.microsoft.com/office/drawing/2014/main" id="{8310DB85-2BD0-6A07-FAD1-C5B18D1BC873}"/>
              </a:ext>
            </a:extLst>
          </p:cNvPr>
          <p:cNvSpPr/>
          <p:nvPr/>
        </p:nvSpPr>
        <p:spPr>
          <a:xfrm>
            <a:off x="2223300" y="4025326"/>
            <a:ext cx="1561672" cy="387621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465" name="21 Grupo">
            <a:extLst>
              <a:ext uri="{FF2B5EF4-FFF2-40B4-BE49-F238E27FC236}">
                <a16:creationId xmlns:a16="http://schemas.microsoft.com/office/drawing/2014/main" id="{7DA4EE27-F670-AB0D-0451-EF0113072D2B}"/>
              </a:ext>
            </a:extLst>
          </p:cNvPr>
          <p:cNvGrpSpPr/>
          <p:nvPr/>
        </p:nvGrpSpPr>
        <p:grpSpPr>
          <a:xfrm>
            <a:off x="2299604" y="1665901"/>
            <a:ext cx="5876146" cy="2842874"/>
            <a:chOff x="-1160130" y="2983118"/>
            <a:chExt cx="5876146" cy="2842874"/>
          </a:xfrm>
        </p:grpSpPr>
        <p:cxnSp>
          <p:nvCxnSpPr>
            <p:cNvPr id="467" name="Conector recto de flecha 466">
              <a:extLst>
                <a:ext uri="{FF2B5EF4-FFF2-40B4-BE49-F238E27FC236}">
                  <a16:creationId xmlns:a16="http://schemas.microsoft.com/office/drawing/2014/main" id="{9AAA1144-0FB6-8F16-25D4-62DD9E652A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26284" y="3867800"/>
              <a:ext cx="1276191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9" name="Conector recto de flecha 468">
              <a:extLst>
                <a:ext uri="{FF2B5EF4-FFF2-40B4-BE49-F238E27FC236}">
                  <a16:creationId xmlns:a16="http://schemas.microsoft.com/office/drawing/2014/main" id="{19E9E588-18C0-B6EA-C60C-0164865CF6A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191000" y="4082988"/>
              <a:ext cx="525016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0" name="Conector recto de flecha 469">
              <a:extLst>
                <a:ext uri="{FF2B5EF4-FFF2-40B4-BE49-F238E27FC236}">
                  <a16:creationId xmlns:a16="http://schemas.microsoft.com/office/drawing/2014/main" id="{5738C81F-E9A6-0288-D91E-EA07775D3BA2}"/>
                </a:ext>
              </a:extLst>
            </p:cNvPr>
            <p:cNvCxnSpPr>
              <a:cxnSpLocks/>
              <a:stCxn id="471" idx="0"/>
            </p:cNvCxnSpPr>
            <p:nvPr/>
          </p:nvCxnSpPr>
          <p:spPr bwMode="auto">
            <a:xfrm flipH="1" flipV="1">
              <a:off x="4000500" y="4953000"/>
              <a:ext cx="5" cy="619076"/>
            </a:xfrm>
            <a:prstGeom prst="straightConnector1">
              <a:avLst/>
            </a:prstGeom>
            <a:ln w="38100" cmpd="sng"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71" name="CuadroTexto 470">
              <a:extLst>
                <a:ext uri="{FF2B5EF4-FFF2-40B4-BE49-F238E27FC236}">
                  <a16:creationId xmlns:a16="http://schemas.microsoft.com/office/drawing/2014/main" id="{F778ED57-6EB0-E15D-9630-78898AA1B6B6}"/>
                </a:ext>
              </a:extLst>
            </p:cNvPr>
            <p:cNvSpPr txBox="1"/>
            <p:nvPr/>
          </p:nvSpPr>
          <p:spPr>
            <a:xfrm>
              <a:off x="3351930" y="5572076"/>
              <a:ext cx="129715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050" b="1" noProof="1">
                  <a:solidFill>
                    <a:srgbClr val="FF6600"/>
                  </a:solidFill>
                </a:rPr>
                <a:t>opcode → MxInm</a:t>
              </a:r>
            </a:p>
          </p:txBody>
        </p:sp>
        <p:sp>
          <p:nvSpPr>
            <p:cNvPr id="472" name="CuadroTexto 471">
              <a:extLst>
                <a:ext uri="{FF2B5EF4-FFF2-40B4-BE49-F238E27FC236}">
                  <a16:creationId xmlns:a16="http://schemas.microsoft.com/office/drawing/2014/main" id="{0F52F2E7-B031-6229-A12C-2B35F4ED40E6}"/>
                </a:ext>
              </a:extLst>
            </p:cNvPr>
            <p:cNvSpPr txBox="1"/>
            <p:nvPr/>
          </p:nvSpPr>
          <p:spPr>
            <a:xfrm>
              <a:off x="3426562" y="3490321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01</a:t>
              </a:r>
            </a:p>
          </p:txBody>
        </p:sp>
        <p:cxnSp>
          <p:nvCxnSpPr>
            <p:cNvPr id="474" name="Conector recto de flecha 56">
              <a:extLst>
                <a:ext uri="{FF2B5EF4-FFF2-40B4-BE49-F238E27FC236}">
                  <a16:creationId xmlns:a16="http://schemas.microsoft.com/office/drawing/2014/main" id="{DF1D1D90-8A60-6AC9-0A74-31124518B5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1160130" y="3342683"/>
              <a:ext cx="4970130" cy="1589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5" name="Conector recto de flecha 57">
              <a:extLst>
                <a:ext uri="{FF2B5EF4-FFF2-40B4-BE49-F238E27FC236}">
                  <a16:creationId xmlns:a16="http://schemas.microsoft.com/office/drawing/2014/main" id="{470B0E85-F94F-37BC-ECFE-E8926E7F23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12045" y="4362146"/>
              <a:ext cx="497955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76" name="CuadroTexto 61">
              <a:extLst>
                <a:ext uri="{FF2B5EF4-FFF2-40B4-BE49-F238E27FC236}">
                  <a16:creationId xmlns:a16="http://schemas.microsoft.com/office/drawing/2014/main" id="{D811B5BE-8AE1-6EC9-5309-2B9F18D2D71A}"/>
                </a:ext>
              </a:extLst>
            </p:cNvPr>
            <p:cNvSpPr txBox="1"/>
            <p:nvPr/>
          </p:nvSpPr>
          <p:spPr>
            <a:xfrm>
              <a:off x="3426562" y="2983118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00</a:t>
              </a:r>
            </a:p>
          </p:txBody>
        </p:sp>
        <p:sp>
          <p:nvSpPr>
            <p:cNvPr id="477" name="CuadroTexto 63">
              <a:extLst>
                <a:ext uri="{FF2B5EF4-FFF2-40B4-BE49-F238E27FC236}">
                  <a16:creationId xmlns:a16="http://schemas.microsoft.com/office/drawing/2014/main" id="{972B6550-4CC1-4F02-12BB-DA9CF86E5574}"/>
                </a:ext>
              </a:extLst>
            </p:cNvPr>
            <p:cNvSpPr txBox="1"/>
            <p:nvPr/>
          </p:nvSpPr>
          <p:spPr>
            <a:xfrm>
              <a:off x="3426562" y="3997524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cxnSp>
          <p:nvCxnSpPr>
            <p:cNvPr id="478" name="11 Conector recto">
              <a:extLst>
                <a:ext uri="{FF2B5EF4-FFF2-40B4-BE49-F238E27FC236}">
                  <a16:creationId xmlns:a16="http://schemas.microsoft.com/office/drawing/2014/main" id="{62F2AC94-EA1E-F672-168B-6EF0E4714890}"/>
                </a:ext>
              </a:extLst>
            </p:cNvPr>
            <p:cNvCxnSpPr/>
            <p:nvPr/>
          </p:nvCxnSpPr>
          <p:spPr bwMode="auto">
            <a:xfrm flipV="1">
              <a:off x="3825106" y="5181601"/>
              <a:ext cx="365894" cy="59804"/>
            </a:xfrm>
            <a:prstGeom prst="lin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79" name="12 CuadroTexto">
              <a:extLst>
                <a:ext uri="{FF2B5EF4-FFF2-40B4-BE49-F238E27FC236}">
                  <a16:creationId xmlns:a16="http://schemas.microsoft.com/office/drawing/2014/main" id="{63A5F440-D120-BF6B-EE5C-F7B1DE0CB478}"/>
                </a:ext>
              </a:extLst>
            </p:cNvPr>
            <p:cNvSpPr txBox="1"/>
            <p:nvPr/>
          </p:nvSpPr>
          <p:spPr>
            <a:xfrm>
              <a:off x="4186608" y="50178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</p:grpSp>
      <p:cxnSp>
        <p:nvCxnSpPr>
          <p:cNvPr id="481" name="Conector recto de flecha 56">
            <a:extLst>
              <a:ext uri="{FF2B5EF4-FFF2-40B4-BE49-F238E27FC236}">
                <a16:creationId xmlns:a16="http://schemas.microsoft.com/office/drawing/2014/main" id="{AF27123E-7001-F7E2-0FEA-271171E3F076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9604" y="2025466"/>
            <a:ext cx="0" cy="720692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6" name="Conector recto de flecha 56">
            <a:extLst>
              <a:ext uri="{FF2B5EF4-FFF2-40B4-BE49-F238E27FC236}">
                <a16:creationId xmlns:a16="http://schemas.microsoft.com/office/drawing/2014/main" id="{7ED32EEE-33E4-B8F8-13FB-658069FDD3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835696" y="3717032"/>
            <a:ext cx="0" cy="308294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8" name="Conector recto de flecha 56">
            <a:extLst>
              <a:ext uri="{FF2B5EF4-FFF2-40B4-BE49-F238E27FC236}">
                <a16:creationId xmlns:a16="http://schemas.microsoft.com/office/drawing/2014/main" id="{EC97F610-249C-6CF1-3375-A1CC3DBC0F85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9952" y="3723675"/>
            <a:ext cx="0" cy="325648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0" name="Conector recto de flecha 56">
            <a:extLst>
              <a:ext uri="{FF2B5EF4-FFF2-40B4-BE49-F238E27FC236}">
                <a16:creationId xmlns:a16="http://schemas.microsoft.com/office/drawing/2014/main" id="{8B368C03-D435-4793-F6F0-5A36F51564A3}"/>
              </a:ext>
            </a:extLst>
          </p:cNvPr>
          <p:cNvCxnSpPr>
            <a:cxnSpLocks/>
          </p:cNvCxnSpPr>
          <p:nvPr/>
        </p:nvCxnSpPr>
        <p:spPr bwMode="auto">
          <a:xfrm flipH="1">
            <a:off x="1835696" y="3717032"/>
            <a:ext cx="4150322" cy="6643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3" name="Conector recto de flecha 56">
            <a:extLst>
              <a:ext uri="{FF2B5EF4-FFF2-40B4-BE49-F238E27FC236}">
                <a16:creationId xmlns:a16="http://schemas.microsoft.com/office/drawing/2014/main" id="{5FDA7F83-8D68-72F9-7ECB-D2C0D4857B96}"/>
              </a:ext>
            </a:extLst>
          </p:cNvPr>
          <p:cNvCxnSpPr>
            <a:cxnSpLocks/>
          </p:cNvCxnSpPr>
          <p:nvPr/>
        </p:nvCxnSpPr>
        <p:spPr bwMode="auto">
          <a:xfrm>
            <a:off x="5986018" y="2543940"/>
            <a:ext cx="0" cy="1179735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8" name="Conector recto de flecha 56">
            <a:extLst>
              <a:ext uri="{FF2B5EF4-FFF2-40B4-BE49-F238E27FC236}">
                <a16:creationId xmlns:a16="http://schemas.microsoft.com/office/drawing/2014/main" id="{19F85712-2980-C057-2FCD-F1F3838D2170}"/>
              </a:ext>
            </a:extLst>
          </p:cNvPr>
          <p:cNvCxnSpPr>
            <a:cxnSpLocks/>
          </p:cNvCxnSpPr>
          <p:nvPr/>
        </p:nvCxnSpPr>
        <p:spPr bwMode="auto">
          <a:xfrm flipH="1">
            <a:off x="1835696" y="4917408"/>
            <a:ext cx="4949858" cy="23760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9" name="Conector recto de flecha 56">
            <a:extLst>
              <a:ext uri="{FF2B5EF4-FFF2-40B4-BE49-F238E27FC236}">
                <a16:creationId xmlns:a16="http://schemas.microsoft.com/office/drawing/2014/main" id="{123023E5-D665-2B30-18B1-ABFE8986C016}"/>
              </a:ext>
            </a:extLst>
          </p:cNvPr>
          <p:cNvCxnSpPr>
            <a:cxnSpLocks/>
          </p:cNvCxnSpPr>
          <p:nvPr/>
        </p:nvCxnSpPr>
        <p:spPr bwMode="auto">
          <a:xfrm flipV="1">
            <a:off x="1835696" y="4929288"/>
            <a:ext cx="0" cy="268359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0" name="Conector recto de flecha 56">
            <a:extLst>
              <a:ext uri="{FF2B5EF4-FFF2-40B4-BE49-F238E27FC236}">
                <a16:creationId xmlns:a16="http://schemas.microsoft.com/office/drawing/2014/main" id="{B3B5BCA8-476F-E67B-16E2-6F5AAB1E2E8D}"/>
              </a:ext>
            </a:extLst>
          </p:cNvPr>
          <p:cNvCxnSpPr>
            <a:cxnSpLocks/>
          </p:cNvCxnSpPr>
          <p:nvPr/>
        </p:nvCxnSpPr>
        <p:spPr bwMode="auto">
          <a:xfrm flipV="1">
            <a:off x="4122697" y="4929288"/>
            <a:ext cx="0" cy="265037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2" name="Conector recto de flecha 56">
            <a:extLst>
              <a:ext uri="{FF2B5EF4-FFF2-40B4-BE49-F238E27FC236}">
                <a16:creationId xmlns:a16="http://schemas.microsoft.com/office/drawing/2014/main" id="{558BF766-CBE0-CA32-0A82-7381F2AE83BF}"/>
              </a:ext>
            </a:extLst>
          </p:cNvPr>
          <p:cNvCxnSpPr>
            <a:cxnSpLocks/>
          </p:cNvCxnSpPr>
          <p:nvPr/>
        </p:nvCxnSpPr>
        <p:spPr bwMode="auto">
          <a:xfrm flipH="1">
            <a:off x="6770909" y="3024577"/>
            <a:ext cx="7757" cy="1892831"/>
          </a:xfrm>
          <a:prstGeom prst="straightConnector1">
            <a:avLst/>
          </a:prstGeom>
          <a:ln w="38100" cmpd="sng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3" name="Llamada rectangular redondeada 512">
            <a:extLst>
              <a:ext uri="{FF2B5EF4-FFF2-40B4-BE49-F238E27FC236}">
                <a16:creationId xmlns:a16="http://schemas.microsoft.com/office/drawing/2014/main" id="{A2BB18A6-182C-EBFC-0730-E4A41AF54F11}"/>
              </a:ext>
            </a:extLst>
          </p:cNvPr>
          <p:cNvSpPr/>
          <p:nvPr/>
        </p:nvSpPr>
        <p:spPr bwMode="auto">
          <a:xfrm>
            <a:off x="6088920" y="5550201"/>
            <a:ext cx="2514600" cy="685800"/>
          </a:xfrm>
          <a:prstGeom prst="wedgeRoundRectCallout">
            <a:avLst>
              <a:gd name="adj1" fmla="val -48091"/>
              <a:gd name="adj2" fmla="val -144826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Además, inserta bit a 0 a la derecha del inmediato (inm[0]=0)</a:t>
            </a:r>
          </a:p>
        </p:txBody>
      </p:sp>
      <p:sp>
        <p:nvSpPr>
          <p:cNvPr id="514" name="Llamada rectangular redondeada 513">
            <a:extLst>
              <a:ext uri="{FF2B5EF4-FFF2-40B4-BE49-F238E27FC236}">
                <a16:creationId xmlns:a16="http://schemas.microsoft.com/office/drawing/2014/main" id="{3116EDA1-D536-107E-2C04-4ADB976FA3D0}"/>
              </a:ext>
            </a:extLst>
          </p:cNvPr>
          <p:cNvSpPr/>
          <p:nvPr/>
        </p:nvSpPr>
        <p:spPr bwMode="auto">
          <a:xfrm>
            <a:off x="684213" y="1202045"/>
            <a:ext cx="2514600" cy="685800"/>
          </a:xfrm>
          <a:prstGeom prst="wedgeRoundRectCallout">
            <a:avLst>
              <a:gd name="adj1" fmla="val -21390"/>
              <a:gd name="adj2" fmla="val 165663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En todas las instrucciones, el bit de signo siempre está en la misma posición (bit 31 de la instrucción)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E61ED5-2B01-62A1-A385-BE7416294050}"/>
              </a:ext>
            </a:extLst>
          </p:cNvPr>
          <p:cNvSpPr/>
          <p:nvPr/>
        </p:nvSpPr>
        <p:spPr bwMode="auto">
          <a:xfrm>
            <a:off x="7262209" y="1770577"/>
            <a:ext cx="381000" cy="1806878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chemeClr val="tx1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659875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19EA938-11F0-E69A-77B1-E584D0A3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Lectura de operandos y generación de inmediato</a:t>
            </a:r>
            <a:endParaRPr lang="es-ES_tradnl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2236CE08-9A62-5A7D-39C3-C194EED96BCF}"/>
              </a:ext>
            </a:extLst>
          </p:cNvPr>
          <p:cNvGrpSpPr/>
          <p:nvPr/>
        </p:nvGrpSpPr>
        <p:grpSpPr>
          <a:xfrm>
            <a:off x="1028192" y="1021617"/>
            <a:ext cx="5829759" cy="5441581"/>
            <a:chOff x="1028192" y="1021617"/>
            <a:chExt cx="5829759" cy="54415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1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2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7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400" dirty="0"/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0000"/>
                  </a:solidFill>
                </a:rPr>
                <a:t>LInst</a:t>
              </a:r>
              <a:endParaRPr lang="es-E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0000"/>
                  </a:solidFill>
                </a:rPr>
                <a:t>PCin</a:t>
              </a:r>
              <a:endParaRPr lang="es-E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BF19A9-C3FB-B8AB-D53E-67D7591AE6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528377"/>
              <a:ext cx="775168" cy="710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908190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5123589"/>
              <a:ext cx="283363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7"/>
              <a:ext cx="0" cy="871352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6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rgbClr val="00B05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5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Instrucciones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54EF5E1-40DF-7FEE-CE79-4E0FB2BD6BF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5"/>
              <a:ext cx="0" cy="891593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1707644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0"/>
            <a:ext cx="8459787" cy="865187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La Unidad Aritmético Lógica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5266" y="924671"/>
            <a:ext cx="8686800" cy="37251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Prácticamente todas las instrucciones utilizan un operador aritmético-lógico (ALU)</a:t>
            </a:r>
          </a:p>
          <a:p>
            <a:pPr lvl="1">
              <a:lnSpc>
                <a:spcPct val="100000"/>
              </a:lnSpc>
            </a:pPr>
            <a:r>
              <a:rPr lang="es-ES_tradnl" sz="16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Utilizamos una ALU para soportar las operaciones requeridas por el juego de instrucciones (formatos R, I, S y B)</a:t>
            </a:r>
          </a:p>
          <a:p>
            <a:pPr lvl="2">
              <a:lnSpc>
                <a:spcPct val="100000"/>
              </a:lnSpc>
            </a:pPr>
            <a:r>
              <a:rPr lang="es-ES_tradnl" sz="14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Dispone de dos entradas y una salida, todas de 32 bits.</a:t>
            </a:r>
          </a:p>
          <a:p>
            <a:pPr lvl="2">
              <a:lnSpc>
                <a:spcPct val="100000"/>
              </a:lnSpc>
            </a:pPr>
            <a:r>
              <a:rPr lang="es-ES_tradnl" sz="14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entrada superior debe llegar el contenido del registro </a:t>
            </a:r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</a:p>
          <a:p>
            <a:pPr lvl="2">
              <a:lnSpc>
                <a:spcPct val="100000"/>
              </a:lnSpc>
            </a:pPr>
            <a:r>
              <a:rPr lang="es-ES_tradnl" sz="14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entrada inferior pueden llegar: el contenido del registro </a:t>
            </a:r>
            <a:r>
              <a:rPr lang="es-ES_tradnl" sz="14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r>
              <a:rPr lang="es-ES_tradnl" sz="14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un operando inmediato. Por eso se necesita un multiplexor (</a:t>
            </a:r>
            <a:r>
              <a:rPr lang="es-ES_tradnl" sz="14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MxB</a:t>
            </a:r>
            <a:r>
              <a:rPr lang="es-ES_tradnl" sz="1400" noProof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57</a:t>
            </a:fld>
            <a:endParaRPr lang="es-ES_tradnl" noProof="1"/>
          </a:p>
        </p:txBody>
      </p:sp>
      <p:grpSp>
        <p:nvGrpSpPr>
          <p:cNvPr id="8" name="7 Grupo"/>
          <p:cNvGrpSpPr/>
          <p:nvPr/>
        </p:nvGrpSpPr>
        <p:grpSpPr>
          <a:xfrm>
            <a:off x="5868144" y="4077072"/>
            <a:ext cx="2590800" cy="1673027"/>
            <a:chOff x="6159398" y="4303500"/>
            <a:chExt cx="2590800" cy="1673027"/>
          </a:xfrm>
        </p:grpSpPr>
        <p:sp>
          <p:nvSpPr>
            <p:cNvPr id="87" name="Rectangle 168"/>
            <p:cNvSpPr>
              <a:spLocks noChangeArrowheads="1"/>
            </p:cNvSpPr>
            <p:nvPr/>
          </p:nvSpPr>
          <p:spPr bwMode="auto">
            <a:xfrm>
              <a:off x="6159398" y="4591532"/>
              <a:ext cx="2590800" cy="138499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s-ES_tradnl" sz="1200" b="1" noProof="1">
                  <a:solidFill>
                    <a:srgbClr val="FF0066"/>
                  </a:solidFill>
                  <a:latin typeface="Calibri" pitchFamily="-103" charset="0"/>
                </a:rPr>
                <a:t>OpALU</a:t>
              </a:r>
              <a:r>
                <a:rPr lang="es-ES_tradnl" sz="1200" noProof="1">
                  <a:solidFill>
                    <a:schemeClr val="tx2"/>
                  </a:solidFill>
                  <a:latin typeface="Calibri" pitchFamily="-103" charset="0"/>
                </a:rPr>
                <a:t>	</a:t>
              </a:r>
              <a:r>
                <a:rPr lang="es-ES_tradnl" sz="1200" b="1" noProof="1">
                  <a:solidFill>
                    <a:schemeClr val="tx2"/>
                  </a:solidFill>
                  <a:latin typeface="Calibri" pitchFamily="-103" charset="0"/>
                </a:rPr>
                <a:t>Operación</a:t>
              </a:r>
            </a:p>
            <a:p>
              <a:pPr algn="l"/>
              <a:r>
                <a:rPr lang="es-ES_tradnl" sz="1200" noProof="1">
                  <a:latin typeface="Calibri" pitchFamily="-103" charset="0"/>
                </a:rPr>
                <a:t>000	a </a:t>
              </a:r>
              <a:r>
                <a:rPr lang="es-ES_tradnl" sz="1200" b="1" noProof="1">
                  <a:latin typeface="Calibri" pitchFamily="-103" charset="0"/>
                  <a:sym typeface="Symbol" pitchFamily="-103" charset="2"/>
                </a:rPr>
                <a:t> </a:t>
              </a:r>
              <a:r>
                <a:rPr lang="es-ES_tradnl" sz="1200" noProof="1">
                  <a:latin typeface="Calibri" pitchFamily="-103" charset="0"/>
                  <a:sym typeface="Symbol" pitchFamily="-103" charset="2"/>
                </a:rPr>
                <a:t>b</a:t>
              </a:r>
              <a:r>
                <a:rPr lang="es-ES_tradnl" sz="1200" b="1" noProof="1">
                  <a:latin typeface="Calibri" pitchFamily="-103" charset="0"/>
                  <a:sym typeface="Symbol" pitchFamily="-103" charset="2"/>
                </a:rPr>
                <a:t> </a:t>
              </a:r>
              <a:r>
                <a:rPr lang="es-ES_tradnl" sz="1200" noProof="1">
                  <a:latin typeface="Calibri" pitchFamily="-103" charset="0"/>
                  <a:sym typeface="Symbol" pitchFamily="-103" charset="2"/>
                </a:rPr>
                <a:t>(and)</a:t>
              </a:r>
              <a:endParaRPr lang="es-ES_tradnl" sz="1200" noProof="1">
                <a:latin typeface="Calibri" pitchFamily="-103" charset="0"/>
              </a:endParaRPr>
            </a:p>
            <a:p>
              <a:pPr algn="l"/>
              <a:r>
                <a:rPr lang="es-ES_tradnl" sz="1200" noProof="1">
                  <a:latin typeface="Calibri" pitchFamily="-103" charset="0"/>
                </a:rPr>
                <a:t>001	a </a:t>
              </a:r>
              <a:r>
                <a:rPr lang="es-ES_tradnl" sz="1200" b="1" noProof="1">
                  <a:latin typeface="Calibri" pitchFamily="-103" charset="0"/>
                  <a:sym typeface="Symbol" pitchFamily="-103" charset="2"/>
                </a:rPr>
                <a:t></a:t>
              </a:r>
              <a:r>
                <a:rPr lang="es-ES_tradnl" sz="1200" noProof="1">
                  <a:latin typeface="Calibri" pitchFamily="-103" charset="0"/>
                </a:rPr>
                <a:t> b (or)</a:t>
              </a:r>
            </a:p>
            <a:p>
              <a:pPr algn="l"/>
              <a:r>
                <a:rPr lang="es-ES_tradnl" sz="1200" noProof="1">
                  <a:latin typeface="Calibri" pitchFamily="-103" charset="0"/>
                </a:rPr>
                <a:t>010	a + b (suma aritmética)</a:t>
              </a:r>
            </a:p>
            <a:p>
              <a:pPr algn="l"/>
              <a:r>
                <a:rPr lang="es-ES_tradnl" sz="1200" noProof="1">
                  <a:latin typeface="Calibri" pitchFamily="-103" charset="0"/>
                </a:rPr>
                <a:t>110	a </a:t>
              </a:r>
              <a:r>
                <a:rPr lang="es-ES_tradnl" sz="1200" noProof="1">
                  <a:latin typeface="Calibri" pitchFamily="-103" charset="0"/>
                  <a:sym typeface="Symbol" pitchFamily="-103" charset="2"/>
                </a:rPr>
                <a:t>– b (resta)</a:t>
              </a:r>
              <a:endParaRPr lang="es-ES_tradnl" sz="1200" noProof="1">
                <a:latin typeface="Calibri" pitchFamily="-103" charset="0"/>
              </a:endParaRPr>
            </a:p>
            <a:p>
              <a:pPr algn="l"/>
              <a:r>
                <a:rPr lang="es-ES_tradnl" sz="1200" i="1" noProof="1">
                  <a:solidFill>
                    <a:srgbClr val="FF0066"/>
                  </a:solidFill>
                  <a:latin typeface="Calibri" pitchFamily="-103" charset="0"/>
                </a:rPr>
                <a:t>111	a &lt; b (menor que)</a:t>
              </a:r>
            </a:p>
          </p:txBody>
        </p:sp>
        <p:sp>
          <p:nvSpPr>
            <p:cNvPr id="4" name="3 CuadroTexto"/>
            <p:cNvSpPr txBox="1"/>
            <p:nvPr/>
          </p:nvSpPr>
          <p:spPr>
            <a:xfrm>
              <a:off x="6441668" y="4303500"/>
              <a:ext cx="20262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Operaciones de la ALU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8274947C-FBE1-C4A5-7FC2-31EB9709BE97}"/>
              </a:ext>
            </a:extLst>
          </p:cNvPr>
          <p:cNvGrpSpPr/>
          <p:nvPr/>
        </p:nvGrpSpPr>
        <p:grpSpPr>
          <a:xfrm>
            <a:off x="1926012" y="4184253"/>
            <a:ext cx="3222052" cy="1733571"/>
            <a:chOff x="1926012" y="4184253"/>
            <a:chExt cx="3222052" cy="1733571"/>
          </a:xfrm>
        </p:grpSpPr>
        <p:sp>
          <p:nvSpPr>
            <p:cNvPr id="79" name="Text Box 15"/>
            <p:cNvSpPr txBox="1">
              <a:spLocks noChangeArrowheads="1"/>
            </p:cNvSpPr>
            <p:nvPr/>
          </p:nvSpPr>
          <p:spPr bwMode="blackWhite">
            <a:xfrm>
              <a:off x="4653657" y="4561544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80" name="Line 16"/>
            <p:cNvSpPr>
              <a:spLocks noChangeShapeType="1"/>
            </p:cNvSpPr>
            <p:nvPr/>
          </p:nvSpPr>
          <p:spPr bwMode="blackWhite">
            <a:xfrm flipH="1">
              <a:off x="4617711" y="4788768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81" name="Text Box 17"/>
            <p:cNvSpPr txBox="1">
              <a:spLocks noChangeArrowheads="1"/>
            </p:cNvSpPr>
            <p:nvPr/>
          </p:nvSpPr>
          <p:spPr bwMode="blackWhite">
            <a:xfrm>
              <a:off x="2771800" y="4184253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82" name="Line 18"/>
            <p:cNvSpPr>
              <a:spLocks noChangeShapeType="1"/>
            </p:cNvSpPr>
            <p:nvPr/>
          </p:nvSpPr>
          <p:spPr bwMode="blackWhite">
            <a:xfrm flipH="1">
              <a:off x="2782912" y="4428728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83" name="Text Box 19"/>
            <p:cNvSpPr txBox="1">
              <a:spLocks noChangeArrowheads="1"/>
            </p:cNvSpPr>
            <p:nvPr/>
          </p:nvSpPr>
          <p:spPr bwMode="blackWhite">
            <a:xfrm>
              <a:off x="3645545" y="4904333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84" name="Line 20"/>
            <p:cNvSpPr>
              <a:spLocks noChangeShapeType="1"/>
            </p:cNvSpPr>
            <p:nvPr/>
          </p:nvSpPr>
          <p:spPr bwMode="blackWhite">
            <a:xfrm flipH="1">
              <a:off x="3656657" y="5148808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FAD935F0-8FAD-4C4F-86E2-98FAAD7667C0}"/>
                </a:ext>
              </a:extLst>
            </p:cNvPr>
            <p:cNvSpPr txBox="1"/>
            <p:nvPr/>
          </p:nvSpPr>
          <p:spPr>
            <a:xfrm>
              <a:off x="1926012" y="4837531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rs2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BCC0545C-D59F-266B-2152-451DA675AFD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57503" y="5002002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73F75F4-01F8-83E8-12A0-352AC66D4372}"/>
                </a:ext>
              </a:extLst>
            </p:cNvPr>
            <p:cNvSpPr/>
            <p:nvPr/>
          </p:nvSpPr>
          <p:spPr bwMode="auto">
            <a:xfrm rot="16200000">
              <a:off x="3130341" y="5099065"/>
              <a:ext cx="641459" cy="228413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10FE7F12-3A92-F8F4-F55A-2377F10555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57503" y="5378285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41B36E3E-84B1-117D-40A7-2C2E4FE4A40A}"/>
                </a:ext>
              </a:extLst>
            </p:cNvPr>
            <p:cNvCxnSpPr>
              <a:cxnSpLocks/>
              <a:stCxn id="14" idx="2"/>
            </p:cNvCxnSpPr>
            <p:nvPr/>
          </p:nvCxnSpPr>
          <p:spPr bwMode="auto">
            <a:xfrm>
              <a:off x="3565277" y="5213271"/>
              <a:ext cx="437123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E3122DC-F480-511A-C003-AC0B9439F12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54607" y="5534002"/>
              <a:ext cx="0" cy="173229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09F2B48B-5854-8112-1387-0D161C2783A1}"/>
                </a:ext>
              </a:extLst>
            </p:cNvPr>
            <p:cNvCxnSpPr/>
            <p:nvPr/>
          </p:nvCxnSpPr>
          <p:spPr bwMode="auto">
            <a:xfrm rot="5400000" flipH="1" flipV="1">
              <a:off x="4206623" y="5328433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E1E15A1A-2533-27BE-C7B7-4AEAC85E09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01904" y="4851660"/>
              <a:ext cx="646160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E17F6C5-1322-EDDB-6201-BD49B0360964}"/>
                </a:ext>
              </a:extLst>
            </p:cNvPr>
            <p:cNvSpPr txBox="1"/>
            <p:nvPr/>
          </p:nvSpPr>
          <p:spPr>
            <a:xfrm>
              <a:off x="3783836" y="5404397"/>
              <a:ext cx="714051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OpALU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D58060D-F17F-3791-FEC6-C597D1E053CD}"/>
                </a:ext>
              </a:extLst>
            </p:cNvPr>
            <p:cNvSpPr txBox="1"/>
            <p:nvPr/>
          </p:nvSpPr>
          <p:spPr>
            <a:xfrm>
              <a:off x="3157623" y="5640825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MxB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4" name="Freeform 42">
              <a:extLst>
                <a:ext uri="{FF2B5EF4-FFF2-40B4-BE49-F238E27FC236}">
                  <a16:creationId xmlns:a16="http://schemas.microsoft.com/office/drawing/2014/main" id="{E9FE0561-6021-3A5C-DD03-ADF0AA31FAFA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4008880" y="4308843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" sz="1400" dirty="0"/>
                <a:t>ALU</a:t>
              </a:r>
              <a:endParaRPr lang="es-ES" dirty="0"/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694FCF2D-64FC-1AEF-A113-0A89E38376E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57503" y="4522811"/>
              <a:ext cx="1457860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E2B73E71-040A-ECC0-0899-13329A7151F8}"/>
                </a:ext>
              </a:extLst>
            </p:cNvPr>
            <p:cNvSpPr txBox="1"/>
            <p:nvPr/>
          </p:nvSpPr>
          <p:spPr>
            <a:xfrm>
              <a:off x="1926012" y="4365104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rs1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80103C5-A680-86AA-58A9-9A3F4DC26688}"/>
                </a:ext>
              </a:extLst>
            </p:cNvPr>
            <p:cNvSpPr txBox="1"/>
            <p:nvPr/>
          </p:nvSpPr>
          <p:spPr>
            <a:xfrm>
              <a:off x="1926012" y="5229200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inm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upo 59">
            <a:extLst>
              <a:ext uri="{FF2B5EF4-FFF2-40B4-BE49-F238E27FC236}">
                <a16:creationId xmlns:a16="http://schemas.microsoft.com/office/drawing/2014/main" id="{1B759EB3-2A59-82E5-654B-1F3F024E5537}"/>
              </a:ext>
            </a:extLst>
          </p:cNvPr>
          <p:cNvGrpSpPr/>
          <p:nvPr/>
        </p:nvGrpSpPr>
        <p:grpSpPr>
          <a:xfrm>
            <a:off x="1028192" y="1021617"/>
            <a:ext cx="7279904" cy="5441581"/>
            <a:chOff x="1028192" y="1021617"/>
            <a:chExt cx="7279904" cy="5441581"/>
          </a:xfrm>
        </p:grpSpPr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6"/>
              <a:ext cx="0" cy="911549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400" dirty="0"/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400" b="1" dirty="0"/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0000"/>
                  </a:solidFill>
                </a:rPr>
                <a:t>LInst</a:t>
              </a:r>
              <a:endParaRPr lang="es-E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0000"/>
                  </a:solidFill>
                </a:rPr>
                <a:t>PCin</a:t>
              </a:r>
              <a:endParaRPr lang="es-E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06246" y="3183547"/>
              <a:ext cx="80182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/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06246" y="3620721"/>
              <a:ext cx="80182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/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908190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100" i="1" dirty="0"/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  <a:stCxn id="51" idx="3"/>
            </p:cNvCxnSpPr>
            <p:nvPr/>
          </p:nvCxnSpPr>
          <p:spPr bwMode="auto">
            <a:xfrm>
              <a:off x="5034943" y="5089830"/>
              <a:ext cx="242542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0000"/>
                  </a:solidFill>
                </a:rPr>
                <a:t>LReg</a:t>
              </a:r>
              <a:endParaRPr lang="es-E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45B71AE5-0F43-7F89-DC63-20CE47521FB0}"/>
                </a:ext>
              </a:extLst>
            </p:cNvPr>
            <p:cNvSpPr/>
            <p:nvPr/>
          </p:nvSpPr>
          <p:spPr bwMode="auto">
            <a:xfrm rot="16200000">
              <a:off x="5547791" y="4005253"/>
              <a:ext cx="641459" cy="228413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1768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  <a:stCxn id="61" idx="2"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9354" y="3757848"/>
              <a:ext cx="138874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OpALU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MxB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" sz="1400" dirty="0"/>
                <a:t>ALU</a:t>
              </a:r>
              <a:endParaRPr lang="es-ES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Instrucciones</a:t>
              </a:r>
            </a:p>
          </p:txBody>
        </p: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07392EC3-BC50-96C5-20BE-7BE3295A2C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3418656"/>
              <a:ext cx="1441205" cy="1034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6FE5D31C-2C45-DC5C-CC13-B8DEA69F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0"/>
            <a:ext cx="8459787" cy="865187"/>
          </a:xfrm>
        </p:spPr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La Unidad Aritmético Lógica</a:t>
            </a:r>
          </a:p>
        </p:txBody>
      </p:sp>
      <p:sp>
        <p:nvSpPr>
          <p:cNvPr id="26" name="Llamada rectangular redondeada 25">
            <a:extLst>
              <a:ext uri="{FF2B5EF4-FFF2-40B4-BE49-F238E27FC236}">
                <a16:creationId xmlns:a16="http://schemas.microsoft.com/office/drawing/2014/main" id="{D989057D-29FB-E3BA-C78E-CA049A2F6289}"/>
              </a:ext>
            </a:extLst>
          </p:cNvPr>
          <p:cNvSpPr/>
          <p:nvPr/>
        </p:nvSpPr>
        <p:spPr bwMode="auto">
          <a:xfrm>
            <a:off x="5759152" y="5157192"/>
            <a:ext cx="1981200" cy="1219200"/>
          </a:xfrm>
          <a:prstGeom prst="wedgeRoundRectCallout">
            <a:avLst>
              <a:gd name="adj1" fmla="val -46711"/>
              <a:gd name="adj2" fmla="val -8114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1">
                <a:solidFill>
                  <a:schemeClr val="tx1"/>
                </a:solidFill>
              </a:rPr>
              <a:t>Permite seleccionar el origen del segundo operando:</a:t>
            </a:r>
          </a:p>
          <a:p>
            <a:pPr algn="ctr"/>
            <a:r>
              <a:rPr lang="es-ES_tradnl" sz="1200" noProof="1">
                <a:solidFill>
                  <a:schemeClr val="tx1"/>
                </a:solidFill>
                <a:latin typeface="Courier New"/>
                <a:cs typeface="Courier New"/>
              </a:rPr>
              <a:t>add t0, t1, t2   </a:t>
            </a:r>
            <a:r>
              <a:rPr lang="es-ES_tradnl" sz="1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  <a:p>
            <a:pPr algn="ctr"/>
            <a:r>
              <a:rPr lang="es-ES_tradnl" sz="1200" noProof="1">
                <a:solidFill>
                  <a:schemeClr val="tx1"/>
                </a:solidFill>
                <a:latin typeface="Courier New"/>
                <a:cs typeface="Courier New"/>
              </a:rPr>
              <a:t>lw t0, 0(t1)</a:t>
            </a:r>
          </a:p>
        </p:txBody>
      </p:sp>
    </p:spTree>
    <p:extLst>
      <p:ext uri="{BB962C8B-B14F-4D97-AF65-F5344CB8AC3E}">
        <p14:creationId xmlns:p14="http://schemas.microsoft.com/office/powerpoint/2010/main" val="5744776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La ruta de datos: La memoria de datos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noProof="1"/>
              <a:t>Algunas instrucciones acceden a memoria para leer/escribir datos</a:t>
            </a:r>
          </a:p>
          <a:p>
            <a:pPr lvl="1"/>
            <a:r>
              <a:rPr lang="es-ES_tradnl" noProof="1"/>
              <a:t>Utilizamos una memoria de datos</a:t>
            </a:r>
          </a:p>
          <a:p>
            <a:pPr lvl="1"/>
            <a:r>
              <a:rPr lang="es-ES_tradnl" noProof="1"/>
              <a:t>La memoria requiere una dirección y señales de lectura y escritura</a:t>
            </a:r>
          </a:p>
          <a:p>
            <a:pPr lvl="1"/>
            <a:r>
              <a:rPr lang="es-ES_tradnl" noProof="1"/>
              <a:t>También requiere conectar la entrada y salida de datos </a:t>
            </a:r>
          </a:p>
          <a:p>
            <a:pPr lvl="1"/>
            <a:r>
              <a:rPr lang="es-ES_tradnl" noProof="1"/>
              <a:t>En futuros temas veremos que esta memoria es una memoria cache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1" smtClean="0"/>
              <a:pPr/>
              <a:t>59</a:t>
            </a:fld>
            <a:endParaRPr lang="es-ES_tradnl" noProof="1"/>
          </a:p>
        </p:txBody>
      </p:sp>
      <p:sp>
        <p:nvSpPr>
          <p:cNvPr id="99" name="Text Box 18"/>
          <p:cNvSpPr txBox="1">
            <a:spLocks noChangeArrowheads="1"/>
          </p:cNvSpPr>
          <p:nvPr/>
        </p:nvSpPr>
        <p:spPr bwMode="blackWhite">
          <a:xfrm>
            <a:off x="4716016" y="3933056"/>
            <a:ext cx="807873" cy="24622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600" b="1" noProof="1">
                <a:latin typeface="Calibri" pitchFamily="-103" charset="0"/>
              </a:rPr>
              <a:t>Dirección</a:t>
            </a:r>
          </a:p>
        </p:txBody>
      </p:sp>
      <p:sp>
        <p:nvSpPr>
          <p:cNvPr id="102" name="Text Box 18"/>
          <p:cNvSpPr txBox="1">
            <a:spLocks noChangeArrowheads="1"/>
          </p:cNvSpPr>
          <p:nvPr/>
        </p:nvSpPr>
        <p:spPr bwMode="blackWhite">
          <a:xfrm>
            <a:off x="3230469" y="4954012"/>
            <a:ext cx="663643" cy="5416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l" eaLnBrk="0" hangingPunct="0"/>
            <a:r>
              <a:rPr lang="es-ES_tradnl" sz="1600" b="1" noProof="1">
                <a:latin typeface="Calibri" pitchFamily="-103" charset="0"/>
              </a:rPr>
              <a:t>Datos </a:t>
            </a:r>
          </a:p>
          <a:p>
            <a:pPr algn="l" eaLnBrk="0" hangingPunct="0"/>
            <a:r>
              <a:rPr lang="es-ES_tradnl" sz="1600" b="1" noProof="1">
                <a:latin typeface="Calibri" pitchFamily="-103" charset="0"/>
              </a:rPr>
              <a:t>entrada</a:t>
            </a:r>
          </a:p>
        </p:txBody>
      </p:sp>
      <p:sp>
        <p:nvSpPr>
          <p:cNvPr id="104" name="Text Box 18"/>
          <p:cNvSpPr txBox="1">
            <a:spLocks noChangeArrowheads="1"/>
          </p:cNvSpPr>
          <p:nvPr/>
        </p:nvSpPr>
        <p:spPr bwMode="blackWhite">
          <a:xfrm>
            <a:off x="5933972" y="5039958"/>
            <a:ext cx="510236" cy="54147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l" eaLnBrk="0" hangingPunct="0"/>
            <a:r>
              <a:rPr lang="es-ES_tradnl" sz="1600" b="1" noProof="1">
                <a:latin typeface="Calibri" pitchFamily="-103" charset="0"/>
              </a:rPr>
              <a:t>Datos</a:t>
            </a:r>
          </a:p>
          <a:p>
            <a:pPr algn="l" eaLnBrk="0" hangingPunct="0"/>
            <a:r>
              <a:rPr lang="es-ES_tradnl" sz="1600" b="1" noProof="1">
                <a:latin typeface="Calibri" pitchFamily="-103" charset="0"/>
              </a:rPr>
              <a:t>Salida</a:t>
            </a:r>
          </a:p>
        </p:txBody>
      </p:sp>
      <p:sp>
        <p:nvSpPr>
          <p:cNvPr id="7" name="6 Llamada rectangular"/>
          <p:cNvSpPr/>
          <p:nvPr/>
        </p:nvSpPr>
        <p:spPr bwMode="auto">
          <a:xfrm>
            <a:off x="582167" y="5325912"/>
            <a:ext cx="2016224" cy="1129657"/>
          </a:xfrm>
          <a:prstGeom prst="wedgeRectCallout">
            <a:avLst>
              <a:gd name="adj1" fmla="val 72082"/>
              <a:gd name="adj2" fmla="val -46334"/>
            </a:avLst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Vienen del registro </a:t>
            </a:r>
            <a:r>
              <a:rPr lang="es-ES_tradnl" noProof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  <a:p>
            <a:pPr algn="ctr"/>
            <a:r>
              <a:rPr lang="es-ES_tradnl" sz="1400" noProof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 rt, inm(rs)</a:t>
            </a:r>
          </a:p>
        </p:txBody>
      </p:sp>
      <p:sp>
        <p:nvSpPr>
          <p:cNvPr id="26" name="25 Llamada rectangular"/>
          <p:cNvSpPr/>
          <p:nvPr/>
        </p:nvSpPr>
        <p:spPr bwMode="auto">
          <a:xfrm>
            <a:off x="6909522" y="4675606"/>
            <a:ext cx="2126974" cy="1129657"/>
          </a:xfrm>
          <a:prstGeom prst="wedgeRectCallout">
            <a:avLst>
              <a:gd name="adj1" fmla="val -62043"/>
              <a:gd name="adj2" fmla="val -3027"/>
            </a:avLst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 al registro </a:t>
            </a:r>
            <a:r>
              <a:rPr lang="es-ES_tradnl" noProof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</a:p>
          <a:p>
            <a:pPr algn="ctr"/>
            <a:r>
              <a:rPr lang="es-ES_tradnl" sz="1400" noProof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 rd, inm(rs1)</a:t>
            </a:r>
          </a:p>
        </p:txBody>
      </p:sp>
      <p:sp>
        <p:nvSpPr>
          <p:cNvPr id="27" name="26 Llamada rectangular"/>
          <p:cNvSpPr/>
          <p:nvPr/>
        </p:nvSpPr>
        <p:spPr bwMode="auto">
          <a:xfrm>
            <a:off x="2813508" y="3895578"/>
            <a:ext cx="1678402" cy="561550"/>
          </a:xfrm>
          <a:prstGeom prst="wedgeRectCallout">
            <a:avLst>
              <a:gd name="adj1" fmla="val 60953"/>
              <a:gd name="adj2" fmla="val -11682"/>
            </a:avLst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noProof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 + inm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5DE9BF7-5292-5B5D-D4E2-1C04D3FE4411}"/>
              </a:ext>
            </a:extLst>
          </p:cNvPr>
          <p:cNvCxnSpPr/>
          <p:nvPr/>
        </p:nvCxnSpPr>
        <p:spPr bwMode="auto">
          <a:xfrm rot="5400000">
            <a:off x="4752266" y="4523806"/>
            <a:ext cx="683662" cy="1587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3" name="Grupo 32">
            <a:extLst>
              <a:ext uri="{FF2B5EF4-FFF2-40B4-BE49-F238E27FC236}">
                <a16:creationId xmlns:a16="http://schemas.microsoft.com/office/drawing/2014/main" id="{C8DD1EE1-1F3F-2837-4096-2A36AFEA6CE7}"/>
              </a:ext>
            </a:extLst>
          </p:cNvPr>
          <p:cNvGrpSpPr/>
          <p:nvPr/>
        </p:nvGrpSpPr>
        <p:grpSpPr>
          <a:xfrm>
            <a:off x="3960952" y="4300360"/>
            <a:ext cx="1992835" cy="2025162"/>
            <a:chOff x="3960952" y="4300360"/>
            <a:chExt cx="1992835" cy="2025162"/>
          </a:xfrm>
        </p:grpSpPr>
        <p:sp>
          <p:nvSpPr>
            <p:cNvPr id="18" name="Text Box 17"/>
            <p:cNvSpPr txBox="1">
              <a:spLocks noChangeArrowheads="1"/>
            </p:cNvSpPr>
            <p:nvPr/>
          </p:nvSpPr>
          <p:spPr bwMode="blackWhite">
            <a:xfrm>
              <a:off x="5199509" y="4300360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blackWhite">
            <a:xfrm flipH="1">
              <a:off x="5004246" y="4389549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blackWhite">
            <a:xfrm>
              <a:off x="5544192" y="5013176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blackWhite">
            <a:xfrm flipH="1">
              <a:off x="5555304" y="5257651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blackWhite">
            <a:xfrm>
              <a:off x="4107580" y="4957120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1">
                  <a:latin typeface="Calibri" pitchFamily="-103" charset="0"/>
                </a:rPr>
                <a:t>32</a:t>
              </a:r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blackWhite">
            <a:xfrm flipH="1">
              <a:off x="4118692" y="5201595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1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839730A-5FA7-957B-E9A5-CD1351A5B9B7}"/>
                </a:ext>
              </a:extLst>
            </p:cNvPr>
            <p:cNvSpPr/>
            <p:nvPr/>
          </p:nvSpPr>
          <p:spPr bwMode="auto">
            <a:xfrm>
              <a:off x="4586266" y="4865639"/>
              <a:ext cx="837516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51EE6AD-F323-C846-53DA-F2F55CBDC4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960952" y="5247034"/>
              <a:ext cx="61668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3E598DA1-1265-2ED2-9466-00CC429E8990}"/>
                </a:ext>
              </a:extLst>
            </p:cNvPr>
            <p:cNvCxnSpPr/>
            <p:nvPr/>
          </p:nvCxnSpPr>
          <p:spPr bwMode="auto">
            <a:xfrm rot="5400000" flipH="1" flipV="1">
              <a:off x="4754119" y="5965509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B470A067-C77C-61DC-DDAA-1864C7CF55B7}"/>
                </a:ext>
              </a:extLst>
            </p:cNvPr>
            <p:cNvCxnSpPr/>
            <p:nvPr/>
          </p:nvCxnSpPr>
          <p:spPr bwMode="auto">
            <a:xfrm rot="5400000" flipH="1" flipV="1">
              <a:off x="5057083" y="5965509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33BF27B0-584D-2E3B-1FA0-C7774A137421}"/>
                </a:ext>
              </a:extLst>
            </p:cNvPr>
            <p:cNvSpPr txBox="1"/>
            <p:nvPr/>
          </p:nvSpPr>
          <p:spPr>
            <a:xfrm>
              <a:off x="4491910" y="6049387"/>
              <a:ext cx="628760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1FE02DE8-5813-5F79-BC4A-F66680258BD0}"/>
                </a:ext>
              </a:extLst>
            </p:cNvPr>
            <p:cNvSpPr txBox="1"/>
            <p:nvPr/>
          </p:nvSpPr>
          <p:spPr>
            <a:xfrm>
              <a:off x="5001123" y="6049387"/>
              <a:ext cx="637394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5A5F4D70-37D2-6E25-0E88-C914C3C44AD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6096" y="5307492"/>
              <a:ext cx="517691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84143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1">
            <a:extLst>
              <a:ext uri="{FF2B5EF4-FFF2-40B4-BE49-F238E27FC236}">
                <a16:creationId xmlns:a16="http://schemas.microsoft.com/office/drawing/2014/main" id="{EE8FE1B2-B97C-E922-4D98-737C5655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</p:spPr>
        <p:txBody>
          <a:bodyPr/>
          <a:lstStyle/>
          <a:p>
            <a:r>
              <a:rPr lang="es-ES_tradnl" noProof="1"/>
              <a:t>La ruta de datos: La memoria de datos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21331AAB-050A-3831-7CD5-B43ACBDC41DB}"/>
              </a:ext>
            </a:extLst>
          </p:cNvPr>
          <p:cNvGrpSpPr/>
          <p:nvPr/>
        </p:nvGrpSpPr>
        <p:grpSpPr>
          <a:xfrm>
            <a:off x="1028192" y="1021617"/>
            <a:ext cx="7296824" cy="5441581"/>
            <a:chOff x="1028192" y="1021617"/>
            <a:chExt cx="7296824" cy="5441581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5DB8653E-1F99-CD06-C302-1E13F2FBCE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3903870"/>
              <a:ext cx="0" cy="944355"/>
            </a:xfrm>
            <a:prstGeom prst="line">
              <a:avLst/>
            </a:prstGeom>
            <a:ln w="38100" cmpd="sng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/>
            <p:nvPr/>
          </p:nvCxnSpPr>
          <p:spPr bwMode="auto">
            <a:xfrm rot="16200000" flipH="1">
              <a:off x="1735218" y="3570581"/>
              <a:ext cx="303852" cy="2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LInst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PCin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BF19A9-C3FB-B8AB-D53E-67D7591AE6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429000"/>
              <a:ext cx="144489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  <a:stCxn id="80" idx="3"/>
            </p:cNvCxnSpPr>
            <p:nvPr/>
          </p:nvCxnSpPr>
          <p:spPr bwMode="auto">
            <a:xfrm flipV="1">
              <a:off x="5479811" y="3908190"/>
              <a:ext cx="273289" cy="526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5123589"/>
              <a:ext cx="28336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45B71AE5-0F43-7F89-DC63-20CE47521FB0}"/>
                </a:ext>
              </a:extLst>
            </p:cNvPr>
            <p:cNvSpPr/>
            <p:nvPr/>
          </p:nvSpPr>
          <p:spPr bwMode="auto">
            <a:xfrm rot="16200000">
              <a:off x="5547791" y="4005253"/>
              <a:ext cx="641459" cy="22841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71352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  <a:stCxn id="61" idx="2"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9354" y="3757848"/>
              <a:ext cx="138874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OpALU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MxB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6E5A135-4F2E-E7C2-B82A-B8ADF971D4BF}"/>
                </a:ext>
              </a:extLst>
            </p:cNvPr>
            <p:cNvSpPr/>
            <p:nvPr/>
          </p:nvSpPr>
          <p:spPr bwMode="auto">
            <a:xfrm>
              <a:off x="6826600" y="4439927"/>
              <a:ext cx="837516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183775A3-C8B0-7C3B-AE2A-24C235C454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48409" y="4895701"/>
              <a:ext cx="173997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793F28E-3F8C-77AC-DE9C-1A095FA24636}"/>
                </a:ext>
              </a:extLst>
            </p:cNvPr>
            <p:cNvCxnSpPr/>
            <p:nvPr/>
          </p:nvCxnSpPr>
          <p:spPr bwMode="auto">
            <a:xfrm rot="5400000">
              <a:off x="6992600" y="4098094"/>
              <a:ext cx="683662" cy="1587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D6F2569E-B426-BC80-B2BD-A34F685688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4821322"/>
              <a:ext cx="1373786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F8CA399E-6759-96D1-2D22-B3FB5B1D3C0E}"/>
                </a:ext>
              </a:extLst>
            </p:cNvPr>
            <p:cNvCxnSpPr/>
            <p:nvPr/>
          </p:nvCxnSpPr>
          <p:spPr bwMode="auto">
            <a:xfrm rot="5400000" flipH="1" flipV="1">
              <a:off x="6994453" y="55397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AFADB91F-CBB0-B818-D69C-7ACDB892E086}"/>
                </a:ext>
              </a:extLst>
            </p:cNvPr>
            <p:cNvCxnSpPr/>
            <p:nvPr/>
          </p:nvCxnSpPr>
          <p:spPr bwMode="auto">
            <a:xfrm rot="5400000" flipH="1" flipV="1">
              <a:off x="7297417" y="55397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EAAB91E-F290-3E45-46BA-E8FAD1AA4A39}"/>
                </a:ext>
              </a:extLst>
            </p:cNvPr>
            <p:cNvSpPr txBox="1"/>
            <p:nvPr/>
          </p:nvSpPr>
          <p:spPr>
            <a:xfrm>
              <a:off x="6732244" y="5623675"/>
              <a:ext cx="628760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BA51E256-FDA4-54F3-BCC6-DB148AC6162C}"/>
                </a:ext>
              </a:extLst>
            </p:cNvPr>
            <p:cNvSpPr txBox="1"/>
            <p:nvPr/>
          </p:nvSpPr>
          <p:spPr>
            <a:xfrm>
              <a:off x="7241457" y="5623675"/>
              <a:ext cx="637394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534C566-7E2E-DE62-AF3E-F2D7065C12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07325" y="4078579"/>
              <a:ext cx="517691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123627-79DC-5362-A0C9-801988FBDE76}"/>
                </a:ext>
              </a:extLst>
            </p:cNvPr>
            <p:cNvCxnSpPr/>
            <p:nvPr/>
          </p:nvCxnSpPr>
          <p:spPr bwMode="auto">
            <a:xfrm rot="5400000">
              <a:off x="7384989" y="4481083"/>
              <a:ext cx="836378" cy="793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AE30DBF3-9903-2E9B-B6F8-37D81A2C4439}"/>
                </a:ext>
              </a:extLst>
            </p:cNvPr>
            <p:cNvSpPr/>
            <p:nvPr/>
          </p:nvSpPr>
          <p:spPr bwMode="auto">
            <a:xfrm>
              <a:off x="7300693" y="372336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38" name="Conector recto de flecha 137">
              <a:extLst>
                <a:ext uri="{FF2B5EF4-FFF2-40B4-BE49-F238E27FC236}">
                  <a16:creationId xmlns:a16="http://schemas.microsoft.com/office/drawing/2014/main" id="{8FCE9F96-1AAD-6C9E-25FA-85A50E931409}"/>
                </a:ext>
              </a:extLst>
            </p:cNvPr>
            <p:cNvCxnSpPr/>
            <p:nvPr/>
          </p:nvCxnSpPr>
          <p:spPr bwMode="auto">
            <a:xfrm rot="5400000">
              <a:off x="1830477" y="4138186"/>
              <a:ext cx="379812" cy="422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" sz="1400" dirty="0"/>
                <a:t>ALU</a:t>
              </a:r>
              <a:endParaRPr lang="es-ES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Instrucciones</a:t>
              </a:r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FA8C8F85-3D3E-C82D-BC32-E5A90B2DD548}"/>
                </a:ext>
              </a:extLst>
            </p:cNvPr>
            <p:cNvSpPr/>
            <p:nvPr/>
          </p:nvSpPr>
          <p:spPr bwMode="auto">
            <a:xfrm>
              <a:off x="5403673" y="3875472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1D07390-5BD4-6CD5-B3F3-C85A873AFD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68144" y="4407899"/>
              <a:ext cx="0" cy="173229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E647E565-8731-B62A-4CCF-EF89015E259B}"/>
                </a:ext>
              </a:extLst>
            </p:cNvPr>
            <p:cNvCxnSpPr>
              <a:cxnSpLocks/>
              <a:stCxn id="80" idx="1"/>
            </p:cNvCxnSpPr>
            <p:nvPr/>
          </p:nvCxnSpPr>
          <p:spPr bwMode="auto">
            <a:xfrm flipH="1" flipV="1">
              <a:off x="4991608" y="3903870"/>
              <a:ext cx="412065" cy="9583"/>
            </a:xfrm>
            <a:prstGeom prst="line">
              <a:avLst/>
            </a:prstGeom>
            <a:ln w="38100" cmpd="sng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37649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La ruta de datos:  Almacenamiento del resultado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Algunas instrucciones escriben el resultado en un registro</a:t>
            </a:r>
          </a:p>
          <a:p>
            <a:pPr lvl="1" algn="just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El Banco de registros dispone de un puerto de escritura con:</a:t>
            </a:r>
          </a:p>
          <a:p>
            <a:pPr lvl="2" algn="just"/>
            <a:r>
              <a:rPr lang="es-ES_tradnl" sz="1600" noProof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del registro 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(5 bits): Es el registro </a:t>
            </a:r>
            <a:r>
              <a:rPr lang="es-ES_tradnl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</a:p>
          <a:p>
            <a:pPr lvl="2" algn="just"/>
            <a:r>
              <a:rPr lang="es-ES_tradnl" sz="1600" noProof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 (32 bits): Puede ser el resultado de una operación en la ALU o de una lectura de memoria. Hace falta un multiplexor (</a:t>
            </a:r>
            <a:r>
              <a:rPr lang="es-ES_tradnl" sz="16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MxER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) para llevar a los bits de datos el valor a escribir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1" smtClean="0"/>
              <a:pPr/>
              <a:t>61</a:t>
            </a:fld>
            <a:endParaRPr lang="es-ES_tradnl" noProof="1"/>
          </a:p>
        </p:txBody>
      </p:sp>
      <p:grpSp>
        <p:nvGrpSpPr>
          <p:cNvPr id="13" name="12 Grupo"/>
          <p:cNvGrpSpPr/>
          <p:nvPr/>
        </p:nvGrpSpPr>
        <p:grpSpPr>
          <a:xfrm>
            <a:off x="2555776" y="4005064"/>
            <a:ext cx="4103821" cy="2561983"/>
            <a:chOff x="2411760" y="3928584"/>
            <a:chExt cx="4103821" cy="2561983"/>
          </a:xfrm>
        </p:grpSpPr>
        <p:sp>
          <p:nvSpPr>
            <p:cNvPr id="28" name="Rectángulo 31"/>
            <p:cNvSpPr/>
            <p:nvPr/>
          </p:nvSpPr>
          <p:spPr bwMode="auto">
            <a:xfrm>
              <a:off x="4377331" y="4427396"/>
              <a:ext cx="1524000" cy="19595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noProof="1">
                  <a:solidFill>
                    <a:srgbClr val="000000"/>
                  </a:solidFill>
                </a:rPr>
                <a:t>Banco de Registros</a:t>
              </a:r>
            </a:p>
          </p:txBody>
        </p:sp>
        <p:cxnSp>
          <p:nvCxnSpPr>
            <p:cNvPr id="29" name="Conector recto 32"/>
            <p:cNvCxnSpPr/>
            <p:nvPr/>
          </p:nvCxnSpPr>
          <p:spPr bwMode="auto">
            <a:xfrm>
              <a:off x="3767731" y="4988875"/>
              <a:ext cx="609600" cy="1588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Conector recto 40"/>
            <p:cNvCxnSpPr/>
            <p:nvPr/>
          </p:nvCxnSpPr>
          <p:spPr bwMode="auto">
            <a:xfrm>
              <a:off x="3767731" y="4626963"/>
              <a:ext cx="609600" cy="1588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Conector recto 48"/>
            <p:cNvCxnSpPr/>
            <p:nvPr/>
          </p:nvCxnSpPr>
          <p:spPr bwMode="auto">
            <a:xfrm flipV="1">
              <a:off x="5901331" y="4618871"/>
              <a:ext cx="614250" cy="8092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onector recto 49"/>
            <p:cNvCxnSpPr/>
            <p:nvPr/>
          </p:nvCxnSpPr>
          <p:spPr bwMode="auto">
            <a:xfrm>
              <a:off x="5901331" y="4988875"/>
              <a:ext cx="614250" cy="0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onector recto 97"/>
            <p:cNvCxnSpPr>
              <a:stCxn id="11" idx="3"/>
            </p:cNvCxnSpPr>
            <p:nvPr/>
          </p:nvCxnSpPr>
          <p:spPr bwMode="auto">
            <a:xfrm flipV="1">
              <a:off x="3767731" y="5850412"/>
              <a:ext cx="643461" cy="1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onector recto 102"/>
            <p:cNvCxnSpPr>
              <a:stCxn id="40" idx="3"/>
            </p:cNvCxnSpPr>
            <p:nvPr/>
          </p:nvCxnSpPr>
          <p:spPr bwMode="auto">
            <a:xfrm flipV="1">
              <a:off x="3733870" y="6166009"/>
              <a:ext cx="643461" cy="1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10 CuadroTexto"/>
            <p:cNvSpPr txBox="1"/>
            <p:nvPr/>
          </p:nvSpPr>
          <p:spPr>
            <a:xfrm>
              <a:off x="2445621" y="5696524"/>
              <a:ext cx="1322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noProof="1"/>
                <a:t>Dir. registro</a:t>
              </a:r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2411760" y="6012121"/>
              <a:ext cx="1322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noProof="1"/>
                <a:t>Datos</a:t>
              </a: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4499357" y="5817306"/>
              <a:ext cx="9605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Puerto de</a:t>
              </a:r>
              <a:b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es-ES_tradnl" sz="1400" noProof="1">
                  <a:solidFill>
                    <a:schemeClr val="accent1">
                      <a:lumMod val="75000"/>
                    </a:schemeClr>
                  </a:solidFill>
                </a:rPr>
                <a:t>escritura</a:t>
              </a:r>
            </a:p>
          </p:txBody>
        </p:sp>
        <p:sp>
          <p:nvSpPr>
            <p:cNvPr id="50" name="49 Triángulo isósceles"/>
            <p:cNvSpPr/>
            <p:nvPr/>
          </p:nvSpPr>
          <p:spPr bwMode="auto">
            <a:xfrm rot="10800000">
              <a:off x="5407976" y="4444127"/>
              <a:ext cx="206744" cy="184424"/>
            </a:xfrm>
            <a:prstGeom prst="triangle">
              <a:avLst/>
            </a:prstGeom>
            <a:noFill/>
            <a:ln w="9525">
              <a:solidFill>
                <a:srgbClr val="00B05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cxnSp>
          <p:nvCxnSpPr>
            <p:cNvPr id="51" name="Conector recto 73"/>
            <p:cNvCxnSpPr/>
            <p:nvPr/>
          </p:nvCxnSpPr>
          <p:spPr bwMode="auto">
            <a:xfrm rot="16200000" flipH="1">
              <a:off x="5398636" y="4329827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CuadroTexto 84"/>
            <p:cNvSpPr txBox="1"/>
            <p:nvPr/>
          </p:nvSpPr>
          <p:spPr>
            <a:xfrm>
              <a:off x="5222334" y="3928584"/>
              <a:ext cx="5780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1">
                  <a:solidFill>
                    <a:srgbClr val="FF6600"/>
                  </a:solidFill>
                </a:rPr>
                <a:t>EReg</a:t>
              </a:r>
            </a:p>
          </p:txBody>
        </p:sp>
        <p:cxnSp>
          <p:nvCxnSpPr>
            <p:cNvPr id="6" name="5 Conector recto"/>
            <p:cNvCxnSpPr/>
            <p:nvPr/>
          </p:nvCxnSpPr>
          <p:spPr bwMode="auto">
            <a:xfrm flipH="1">
              <a:off x="3956829" y="5765194"/>
              <a:ext cx="65804" cy="1704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" name="6 CuadroTexto"/>
            <p:cNvSpPr txBox="1"/>
            <p:nvPr/>
          </p:nvSpPr>
          <p:spPr>
            <a:xfrm>
              <a:off x="3923887" y="5815333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/>
                <a:t>5</a:t>
              </a:r>
            </a:p>
          </p:txBody>
        </p:sp>
        <p:cxnSp>
          <p:nvCxnSpPr>
            <p:cNvPr id="27" name="26 Conector recto"/>
            <p:cNvCxnSpPr/>
            <p:nvPr/>
          </p:nvCxnSpPr>
          <p:spPr bwMode="auto">
            <a:xfrm flipH="1">
              <a:off x="3953664" y="6076943"/>
              <a:ext cx="65804" cy="178132"/>
            </a:xfrm>
            <a:prstGeom prst="line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" name="29 CuadroTexto"/>
            <p:cNvSpPr txBox="1"/>
            <p:nvPr/>
          </p:nvSpPr>
          <p:spPr>
            <a:xfrm>
              <a:off x="3845341" y="6213568"/>
              <a:ext cx="3545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1"/>
                <a:t>32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40240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41A85B87-FFF6-8F3C-3C95-4066CFAB66CD}"/>
              </a:ext>
            </a:extLst>
          </p:cNvPr>
          <p:cNvSpPr txBox="1">
            <a:spLocks/>
          </p:cNvSpPr>
          <p:nvPr/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es-ES" sz="32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9pPr>
          </a:lstStyle>
          <a:p>
            <a:pPr>
              <a:buFontTx/>
            </a:pPr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La ruta de datos:  Almacenamiento del resultado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8F1C150-5117-1BB7-C5C3-D647F29C0413}"/>
              </a:ext>
            </a:extLst>
          </p:cNvPr>
          <p:cNvGrpSpPr/>
          <p:nvPr/>
        </p:nvGrpSpPr>
        <p:grpSpPr>
          <a:xfrm>
            <a:off x="1028192" y="1021617"/>
            <a:ext cx="7773194" cy="5564188"/>
            <a:chOff x="1028192" y="1021617"/>
            <a:chExt cx="7773194" cy="5564188"/>
          </a:xfrm>
        </p:grpSpPr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5DFA865-7668-A916-2FC0-1F72FE3096E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85964" y="1527005"/>
              <a:ext cx="0" cy="2718794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6"/>
              <a:ext cx="0" cy="929911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C6130B9B-6FD9-A989-D18C-D70425B3CB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69429" y="4280090"/>
              <a:ext cx="627629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rgbClr val="2669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  <a:endCxn id="9" idx="2"/>
            </p:cNvCxnSpPr>
            <p:nvPr/>
          </p:nvCxnSpPr>
          <p:spPr bwMode="auto">
            <a:xfrm flipV="1">
              <a:off x="3375721" y="4310248"/>
              <a:ext cx="10243" cy="1214457"/>
            </a:xfrm>
            <a:prstGeom prst="line">
              <a:avLst/>
            </a:prstGeom>
            <a:ln w="38100" cmpd="sng">
              <a:solidFill>
                <a:srgbClr val="2669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LInst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PCin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908190"/>
              <a:ext cx="7781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5123589"/>
              <a:ext cx="28336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45B71AE5-0F43-7F89-DC63-20CE47521FB0}"/>
                </a:ext>
              </a:extLst>
            </p:cNvPr>
            <p:cNvSpPr/>
            <p:nvPr/>
          </p:nvSpPr>
          <p:spPr bwMode="auto">
            <a:xfrm rot="16200000">
              <a:off x="5547791" y="4005253"/>
              <a:ext cx="641459" cy="22841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71352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  <a:stCxn id="61" idx="2"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9354" y="3757848"/>
              <a:ext cx="138874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OpALU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MxB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6E5A135-4F2E-E7C2-B82A-B8ADF971D4BF}"/>
                </a:ext>
              </a:extLst>
            </p:cNvPr>
            <p:cNvSpPr/>
            <p:nvPr/>
          </p:nvSpPr>
          <p:spPr bwMode="auto">
            <a:xfrm>
              <a:off x="6826600" y="4439927"/>
              <a:ext cx="837516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183775A3-C8B0-7C3B-AE2A-24C235C454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48409" y="4895701"/>
              <a:ext cx="173997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793F28E-3F8C-77AC-DE9C-1A095FA24636}"/>
                </a:ext>
              </a:extLst>
            </p:cNvPr>
            <p:cNvCxnSpPr/>
            <p:nvPr/>
          </p:nvCxnSpPr>
          <p:spPr bwMode="auto">
            <a:xfrm rot="5400000">
              <a:off x="6992600" y="4098094"/>
              <a:ext cx="683662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D6F2569E-B426-BC80-B2BD-A34F685688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4821322"/>
              <a:ext cx="1373786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F8CA399E-6759-96D1-2D22-B3FB5B1D3C0E}"/>
                </a:ext>
              </a:extLst>
            </p:cNvPr>
            <p:cNvCxnSpPr/>
            <p:nvPr/>
          </p:nvCxnSpPr>
          <p:spPr bwMode="auto">
            <a:xfrm rot="5400000" flipH="1" flipV="1">
              <a:off x="6994453" y="5539797"/>
              <a:ext cx="226304" cy="1587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AFADB91F-CBB0-B818-D69C-7ACDB892E086}"/>
                </a:ext>
              </a:extLst>
            </p:cNvPr>
            <p:cNvCxnSpPr/>
            <p:nvPr/>
          </p:nvCxnSpPr>
          <p:spPr bwMode="auto">
            <a:xfrm rot="5400000" flipH="1" flipV="1">
              <a:off x="7297417" y="5539797"/>
              <a:ext cx="226304" cy="1587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EAAB91E-F290-3E45-46BA-E8FAD1AA4A39}"/>
                </a:ext>
              </a:extLst>
            </p:cNvPr>
            <p:cNvSpPr txBox="1"/>
            <p:nvPr/>
          </p:nvSpPr>
          <p:spPr>
            <a:xfrm>
              <a:off x="6732244" y="5623675"/>
              <a:ext cx="628760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BA51E256-FDA4-54F3-BCC6-DB148AC6162C}"/>
                </a:ext>
              </a:extLst>
            </p:cNvPr>
            <p:cNvSpPr txBox="1"/>
            <p:nvPr/>
          </p:nvSpPr>
          <p:spPr>
            <a:xfrm>
              <a:off x="7241457" y="5623675"/>
              <a:ext cx="63739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42B339BE-3101-126E-0C24-57E91030CA7A}"/>
                </a:ext>
              </a:extLst>
            </p:cNvPr>
            <p:cNvCxnSpPr/>
            <p:nvPr/>
          </p:nvCxnSpPr>
          <p:spPr bwMode="auto">
            <a:xfrm rot="16200000" flipH="1">
              <a:off x="4558043" y="3228027"/>
              <a:ext cx="226304" cy="1587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ACC943C9-E9EB-B4D9-9D33-17A76632EA01}"/>
                </a:ext>
              </a:extLst>
            </p:cNvPr>
            <p:cNvSpPr txBox="1"/>
            <p:nvPr/>
          </p:nvSpPr>
          <p:spPr>
            <a:xfrm>
              <a:off x="4420748" y="2878510"/>
              <a:ext cx="577556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A34C702F-50D0-A7E7-CFF5-E3781BC88C01}"/>
                </a:ext>
              </a:extLst>
            </p:cNvPr>
            <p:cNvSpPr/>
            <p:nvPr/>
          </p:nvSpPr>
          <p:spPr bwMode="auto">
            <a:xfrm rot="16200000">
              <a:off x="8118494" y="3810863"/>
              <a:ext cx="641459" cy="228413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534C566-7E2E-DE62-AF3E-F2D7065C12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07325" y="4078579"/>
              <a:ext cx="517691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123627-79DC-5362-A0C9-801988FBDE76}"/>
                </a:ext>
              </a:extLst>
            </p:cNvPr>
            <p:cNvCxnSpPr/>
            <p:nvPr/>
          </p:nvCxnSpPr>
          <p:spPr bwMode="auto">
            <a:xfrm rot="5400000">
              <a:off x="7384989" y="4481083"/>
              <a:ext cx="836378" cy="793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DF8F9B35-B436-A80A-B3D6-86E091D60E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553430" y="3908190"/>
              <a:ext cx="247956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0E1D9292-209D-1E0B-5321-51566E1BA7A6}"/>
                </a:ext>
              </a:extLst>
            </p:cNvPr>
            <p:cNvCxnSpPr/>
            <p:nvPr/>
          </p:nvCxnSpPr>
          <p:spPr bwMode="auto">
            <a:xfrm rot="5400000">
              <a:off x="7453293" y="5237532"/>
              <a:ext cx="2657894" cy="793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6532239C-4989-D979-24A7-FF9DC7695E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8335" y="6566875"/>
              <a:ext cx="5270672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9D99C29B-956C-3237-2A3D-934BE0EDABC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27541" y="4553810"/>
              <a:ext cx="0" cy="2031995"/>
            </a:xfrm>
            <a:prstGeom prst="line">
              <a:avLst/>
            </a:prstGeom>
            <a:ln w="38100" cmpd="sng">
              <a:solidFill>
                <a:srgbClr val="26697A"/>
              </a:solidFill>
              <a:prstDash val="solid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5ADCB208-4F0C-B00B-C232-7C2F18D83E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6463" y="4572072"/>
              <a:ext cx="468723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E6AD2A95-BA4A-03A1-E6B2-4A02C80DA939}"/>
                </a:ext>
              </a:extLst>
            </p:cNvPr>
            <p:cNvSpPr txBox="1"/>
            <p:nvPr/>
          </p:nvSpPr>
          <p:spPr>
            <a:xfrm>
              <a:off x="6867522" y="6306081"/>
              <a:ext cx="552905" cy="260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Datos</a:t>
              </a:r>
            </a:p>
          </p:txBody>
        </p: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3DCBA28B-D9D5-788C-B08B-FDA89479ABE5}"/>
                </a:ext>
              </a:extLst>
            </p:cNvPr>
            <p:cNvCxnSpPr/>
            <p:nvPr/>
          </p:nvCxnSpPr>
          <p:spPr bwMode="auto">
            <a:xfrm rot="16200000" flipH="1">
              <a:off x="8321768" y="348881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09604B98-0189-D53C-6DE5-CE3E1AEBDC74}"/>
                </a:ext>
              </a:extLst>
            </p:cNvPr>
            <p:cNvSpPr txBox="1"/>
            <p:nvPr/>
          </p:nvSpPr>
          <p:spPr>
            <a:xfrm>
              <a:off x="8127347" y="3112978"/>
              <a:ext cx="611717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MxER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AE30DBF3-9903-2E9B-B6F8-37D81A2C4439}"/>
                </a:ext>
              </a:extLst>
            </p:cNvPr>
            <p:cNvSpPr/>
            <p:nvPr/>
          </p:nvSpPr>
          <p:spPr bwMode="auto">
            <a:xfrm>
              <a:off x="7300693" y="372336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" sz="1400" dirty="0"/>
                <a:t>ALU</a:t>
              </a:r>
              <a:endParaRPr lang="es-ES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Instrucciones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6644A2C-08FF-B0BF-3710-646F4C829F74}"/>
                </a:ext>
              </a:extLst>
            </p:cNvPr>
            <p:cNvSpPr txBox="1"/>
            <p:nvPr/>
          </p:nvSpPr>
          <p:spPr>
            <a:xfrm>
              <a:off x="3320997" y="4007975"/>
              <a:ext cx="77713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i="1" dirty="0">
                  <a:solidFill>
                    <a:schemeClr val="accent1">
                      <a:lumMod val="75000"/>
                    </a:schemeClr>
                  </a:solidFill>
                </a:rPr>
                <a:t>11..7 (rd)</a:t>
              </a:r>
              <a:endParaRPr lang="es-ES" sz="10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F3971B-F4CC-F915-2369-9744B2F17925}"/>
                </a:ext>
              </a:extLst>
            </p:cNvPr>
            <p:cNvSpPr/>
            <p:nvPr/>
          </p:nvSpPr>
          <p:spPr bwMode="auto">
            <a:xfrm>
              <a:off x="3347864" y="4234048"/>
              <a:ext cx="76200" cy="762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07392EC3-BC50-96C5-20BE-7BE3295A2C2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998304" y="3428999"/>
              <a:ext cx="1434509" cy="1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7498061E-4EC1-0C7D-8FDA-C3DF828642D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3903870"/>
              <a:ext cx="0" cy="944355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A48F4A4-92F8-1F78-134B-2EEB8B098BD9}"/>
                </a:ext>
              </a:extLst>
            </p:cNvPr>
            <p:cNvSpPr/>
            <p:nvPr/>
          </p:nvSpPr>
          <p:spPr bwMode="auto">
            <a:xfrm>
              <a:off x="5403673" y="3875472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2" name="Llamada rectangular redondeada 11">
            <a:extLst>
              <a:ext uri="{FF2B5EF4-FFF2-40B4-BE49-F238E27FC236}">
                <a16:creationId xmlns:a16="http://schemas.microsoft.com/office/drawing/2014/main" id="{BC581D9D-5DDE-CDA8-B3DD-DC37808F909D}"/>
              </a:ext>
            </a:extLst>
          </p:cNvPr>
          <p:cNvSpPr/>
          <p:nvPr/>
        </p:nvSpPr>
        <p:spPr bwMode="auto">
          <a:xfrm>
            <a:off x="6983288" y="1524000"/>
            <a:ext cx="1981200" cy="1219200"/>
          </a:xfrm>
          <a:prstGeom prst="wedgeRoundRectCallout">
            <a:avLst>
              <a:gd name="adj1" fmla="val 21992"/>
              <a:gd name="adj2" fmla="val 85401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 seleccionar el resultado a almacenar:</a:t>
            </a:r>
          </a:p>
          <a:p>
            <a:pPr algn="ctr"/>
            <a:r>
              <a:rPr lang="es-ES_tradnl" sz="1200" noProof="1">
                <a:solidFill>
                  <a:schemeClr val="tx1"/>
                </a:solidFill>
                <a:latin typeface="Courier New"/>
                <a:cs typeface="Courier New"/>
              </a:rPr>
              <a:t>add t0, t1, t2 </a:t>
            </a:r>
          </a:p>
          <a:p>
            <a:pPr algn="ctr"/>
            <a:r>
              <a:rPr lang="es-ES_tradnl" sz="1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  <a:p>
            <a:pPr algn="ctr"/>
            <a:r>
              <a:rPr lang="es-ES_tradnl" sz="1200" noProof="1">
                <a:solidFill>
                  <a:schemeClr val="tx1"/>
                </a:solidFill>
                <a:latin typeface="Courier New"/>
                <a:cs typeface="Courier New"/>
              </a:rPr>
              <a:t>lw t0, 0(t1)</a:t>
            </a:r>
          </a:p>
        </p:txBody>
      </p:sp>
    </p:spTree>
    <p:extLst>
      <p:ext uri="{BB962C8B-B14F-4D97-AF65-F5344CB8AC3E}">
        <p14:creationId xmlns:p14="http://schemas.microsoft.com/office/powerpoint/2010/main" val="2120245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(beq)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1">
                <a:latin typeface="Courier New" panose="02070309020205020404" pitchFamily="49" charset="0"/>
                <a:cs typeface="Courier New" panose="02070309020205020404" pitchFamily="49" charset="0"/>
              </a:rPr>
              <a:t>beq rs1, rs2, inm</a:t>
            </a:r>
            <a:r>
              <a:rPr lang="es-ES_tradnl" baseline="-25000" noProof="1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 marL="60325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 (rs1==rs2),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entonces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PC+=PC + 2 x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pPr marL="60325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PC = (PC+4)</a:t>
            </a:r>
          </a:p>
          <a:p>
            <a:pPr marL="603250" lvl="2" indent="0">
              <a:buNone/>
            </a:pPr>
            <a:endParaRPr lang="es-ES_tradnl" noProof="1"/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El ensamblador traduce la etiqueta del programa en un inmediato de 12 bits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La dirección de destino es la suma del contador de programa (PC) y el desplazamiento (positivo o negativo) indicado en la instrucción. Si se cumple la condición, se pone esa dirección en el PC con lo cual la siguiente instrucción a ejecutar es a la que hay en esa dirección (salto)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El inmediato se expresa en half words (2 bytes) por lo que hay que “multiplicarlo por 2” para tenerlo en bytes: Añadir el bit 0. El resultado hay que extenderlo a 32 bits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Si no se cumple la condición, no se hace nada y el contador de programa pasa a contener (PC+4), que es la dirección de la siguiente instrucción</a:t>
            </a:r>
            <a:endParaRPr lang="es-ES_tradnl" noProof="1"/>
          </a:p>
          <a:p>
            <a:pPr lvl="1" algn="just"/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63</a:t>
            </a:fld>
            <a:endParaRPr lang="es-ES_tradnl" noProof="1"/>
          </a:p>
        </p:txBody>
      </p:sp>
      <p:sp>
        <p:nvSpPr>
          <p:cNvPr id="3" name="Rectángulo 2"/>
          <p:cNvSpPr/>
          <p:nvPr/>
        </p:nvSpPr>
        <p:spPr bwMode="auto">
          <a:xfrm>
            <a:off x="1043608" y="1628800"/>
            <a:ext cx="7643192" cy="936104"/>
          </a:xfrm>
          <a:prstGeom prst="rect">
            <a:avLst/>
          </a:prstGeom>
          <a:noFill/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(beq)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1">
                <a:latin typeface="Courier New" panose="02070309020205020404" pitchFamily="49" charset="0"/>
                <a:cs typeface="Courier New" panose="02070309020205020404" pitchFamily="49" charset="0"/>
              </a:rPr>
              <a:t>beq rs1, rs2, inm</a:t>
            </a:r>
            <a:r>
              <a:rPr lang="es-ES_tradnl" baseline="-25000" noProof="1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endParaRPr lang="es-ES_tradnl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Cómo obtener la dirección de salto: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El inmediato hay que extenderlo a 32 bits: Generador de inmediatos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Además, hay que multiplicarlo por 2: poner un cero a su derecha (direcciones múltiplos de half word)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Ese desplazamiento se suma a PC en la ALU</a:t>
            </a: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Cómo comprobar la condición </a:t>
            </a:r>
            <a:r>
              <a:rPr lang="es-ES_tradnl" sz="2000" noProof="1">
                <a:latin typeface="Courier New" panose="02070309020205020404" pitchFamily="49" charset="0"/>
                <a:cs typeface="Courier New" panose="02070309020205020404" pitchFamily="49" charset="0"/>
              </a:rPr>
              <a:t>rs1==rs2:</a:t>
            </a:r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Se usa un circuito de resta en una unidad de evaluación saltos: </a:t>
            </a:r>
            <a:r>
              <a:rPr lang="es-ES_tradnl" sz="1600" b="1" noProof="1"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. Se restan ambos registros y si el resultado es cero es que son iguales</a:t>
            </a: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Cómo llevar al contador de programa la dirección de salto:</a:t>
            </a:r>
          </a:p>
          <a:p>
            <a:pPr lvl="2" algn="just"/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Hace falta un nuevo multiplexor (</a:t>
            </a:r>
            <a:r>
              <a:rPr lang="es-ES_tradnl" sz="16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MxPC</a:t>
            </a:r>
            <a:r>
              <a:rPr lang="es-ES_tradnl" sz="1600" noProof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lvl="1" algn="just"/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64</a:t>
            </a:fld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16772128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26BC-4246-B738-A4C4-E88AB82C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B6E99-4DCC-24F6-ADCA-ABDB24D2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(beq)</a:t>
            </a:r>
          </a:p>
        </p:txBody>
      </p:sp>
      <p:sp>
        <p:nvSpPr>
          <p:cNvPr id="4" name="3 Marcador de contenido">
            <a:extLst>
              <a:ext uri="{FF2B5EF4-FFF2-40B4-BE49-F238E27FC236}">
                <a16:creationId xmlns:a16="http://schemas.microsoft.com/office/drawing/2014/main" id="{3BC5FC2D-2327-D369-73F5-AF99EFE1C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1">
                <a:latin typeface="Courier New" panose="02070309020205020404" pitchFamily="49" charset="0"/>
                <a:cs typeface="Courier New" panose="02070309020205020404" pitchFamily="49" charset="0"/>
              </a:rPr>
              <a:t>beq rs1, rs2, inm</a:t>
            </a:r>
            <a:r>
              <a:rPr lang="es-ES_tradnl" baseline="-25000" noProof="1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Cómo obtener la dirección de salto: Sumar PC</a:t>
            </a:r>
            <a:r>
              <a:rPr lang="es-ES_tradnl" sz="2000" noProof="1">
                <a:latin typeface="Courier New" panose="02070309020205020404" pitchFamily="49" charset="0"/>
                <a:cs typeface="Courier New" panose="02070309020205020404" pitchFamily="49" charset="0"/>
              </a:rPr>
              <a:t> + inm</a:t>
            </a:r>
          </a:p>
          <a:p>
            <a:pPr algn="just"/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Cómo comprobar la condición</a:t>
            </a:r>
            <a:r>
              <a:rPr lang="es-ES_tradnl" sz="2000" noProof="1">
                <a:latin typeface="Courier New" panose="02070309020205020404" pitchFamily="49" charset="0"/>
                <a:cs typeface="Courier New" panose="02070309020205020404" pitchFamily="49" charset="0"/>
              </a:rPr>
              <a:t> rs1==rs2:</a:t>
            </a: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 Si es un salto de tipo </a:t>
            </a:r>
            <a:r>
              <a:rPr lang="es-ES_tradnl" sz="2000" noProof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, restar </a:t>
            </a:r>
            <a:r>
              <a:rPr lang="es-ES_tradnl" sz="2000" noProof="1">
                <a:latin typeface="Courier New" panose="02070309020205020404" pitchFamily="49" charset="0"/>
                <a:cs typeface="Courier New" panose="02070309020205020404" pitchFamily="49" charset="0"/>
              </a:rPr>
              <a:t>rs1-rs2</a:t>
            </a: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 y comprobar si el resultado es cero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83152C-90BA-89F5-0E34-09F5EF28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65</a:t>
            </a:fld>
            <a:endParaRPr lang="es-ES_tradnl" noProof="1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879031D-6120-83D7-DCBB-700D15305A88}"/>
              </a:ext>
            </a:extLst>
          </p:cNvPr>
          <p:cNvCxnSpPr>
            <a:cxnSpLocks/>
          </p:cNvCxnSpPr>
          <p:nvPr/>
        </p:nvCxnSpPr>
        <p:spPr bwMode="auto">
          <a:xfrm>
            <a:off x="4328228" y="3149698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8B5E0E6-6CBE-A36A-6C54-1E1D68A34926}"/>
              </a:ext>
            </a:extLst>
          </p:cNvPr>
          <p:cNvCxnSpPr>
            <a:cxnSpLocks/>
          </p:cNvCxnSpPr>
          <p:nvPr/>
        </p:nvCxnSpPr>
        <p:spPr bwMode="auto">
          <a:xfrm>
            <a:off x="2619502" y="2661649"/>
            <a:ext cx="51662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AFFEB7D-F69C-9BF9-3613-5F92FD01A4BF}"/>
              </a:ext>
            </a:extLst>
          </p:cNvPr>
          <p:cNvCxnSpPr>
            <a:cxnSpLocks/>
          </p:cNvCxnSpPr>
          <p:nvPr/>
        </p:nvCxnSpPr>
        <p:spPr bwMode="auto">
          <a:xfrm>
            <a:off x="2619502" y="3662317"/>
            <a:ext cx="51960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7EA6FE8-AC09-357D-5435-6BB7015B683E}"/>
              </a:ext>
            </a:extLst>
          </p:cNvPr>
          <p:cNvSpPr txBox="1"/>
          <p:nvPr/>
        </p:nvSpPr>
        <p:spPr>
          <a:xfrm>
            <a:off x="2099896" y="2530302"/>
            <a:ext cx="519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PC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D07EBF-AFFE-4433-2AC5-DFB88DA53B31}"/>
              </a:ext>
            </a:extLst>
          </p:cNvPr>
          <p:cNvSpPr txBox="1"/>
          <p:nvPr/>
        </p:nvSpPr>
        <p:spPr>
          <a:xfrm>
            <a:off x="3049733" y="5282784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905BB58-E4D2-8E27-DA99-FC5021EAB207}"/>
              </a:ext>
            </a:extLst>
          </p:cNvPr>
          <p:cNvSpPr txBox="1"/>
          <p:nvPr/>
        </p:nvSpPr>
        <p:spPr>
          <a:xfrm>
            <a:off x="3350650" y="5282783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BC9D26-E452-51BB-224A-6E7008B6D1DE}"/>
              </a:ext>
            </a:extLst>
          </p:cNvPr>
          <p:cNvSpPr txBox="1"/>
          <p:nvPr/>
        </p:nvSpPr>
        <p:spPr>
          <a:xfrm>
            <a:off x="4451774" y="3539206"/>
            <a:ext cx="747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Inmediato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169C839-00BB-3D68-1E4E-22C4006EB79E}"/>
              </a:ext>
            </a:extLst>
          </p:cNvPr>
          <p:cNvSpPr txBox="1"/>
          <p:nvPr/>
        </p:nvSpPr>
        <p:spPr>
          <a:xfrm>
            <a:off x="4838374" y="2966729"/>
            <a:ext cx="813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Dirección de salto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F0DBC17-B9D5-7552-BE48-A3478A1307DF}"/>
              </a:ext>
            </a:extLst>
          </p:cNvPr>
          <p:cNvCxnSpPr>
            <a:cxnSpLocks/>
          </p:cNvCxnSpPr>
          <p:nvPr/>
        </p:nvCxnSpPr>
        <p:spPr bwMode="auto">
          <a:xfrm>
            <a:off x="3770076" y="6156172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B2F97E0-1F29-EC71-7DE8-077CCE4A9ED8}"/>
              </a:ext>
            </a:extLst>
          </p:cNvPr>
          <p:cNvSpPr txBox="1"/>
          <p:nvPr/>
        </p:nvSpPr>
        <p:spPr>
          <a:xfrm>
            <a:off x="4280222" y="6033061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C84696D-50CE-DB6A-79F2-649F658D6BCD}"/>
              </a:ext>
            </a:extLst>
          </p:cNvPr>
          <p:cNvCxnSpPr>
            <a:cxnSpLocks/>
          </p:cNvCxnSpPr>
          <p:nvPr/>
        </p:nvCxnSpPr>
        <p:spPr bwMode="auto">
          <a:xfrm>
            <a:off x="2605100" y="2925118"/>
            <a:ext cx="516627" cy="357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3C14048-DAFC-A053-F567-BA133750F2A1}"/>
              </a:ext>
            </a:extLst>
          </p:cNvPr>
          <p:cNvCxnSpPr>
            <a:cxnSpLocks/>
          </p:cNvCxnSpPr>
          <p:nvPr/>
        </p:nvCxnSpPr>
        <p:spPr bwMode="auto">
          <a:xfrm>
            <a:off x="2605100" y="3335872"/>
            <a:ext cx="519606" cy="15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EC6254B-74E8-8AE0-16F5-472782856EA4}"/>
              </a:ext>
            </a:extLst>
          </p:cNvPr>
          <p:cNvSpPr txBox="1"/>
          <p:nvPr/>
        </p:nvSpPr>
        <p:spPr>
          <a:xfrm>
            <a:off x="2242466" y="2800667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2FBD7A1-63C0-D674-AAB4-BBC8920B5104}"/>
              </a:ext>
            </a:extLst>
          </p:cNvPr>
          <p:cNvSpPr txBox="1"/>
          <p:nvPr/>
        </p:nvSpPr>
        <p:spPr>
          <a:xfrm>
            <a:off x="2242466" y="3212761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536030E-EAF4-1531-F7B2-237DCDCC3D84}"/>
              </a:ext>
            </a:extLst>
          </p:cNvPr>
          <p:cNvSpPr/>
          <p:nvPr/>
        </p:nvSpPr>
        <p:spPr bwMode="auto">
          <a:xfrm rot="16200000">
            <a:off x="2962771" y="3373308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5A43168-6472-1FE7-EDE1-1FC5DE749B79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>
            <a:off x="3397707" y="3487514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D46738F-7F1F-5067-0D91-86B117E3466F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7037" y="3808245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4CB3A2F0-2141-FB25-FEB9-A9D0C8CE4646}"/>
              </a:ext>
            </a:extLst>
          </p:cNvPr>
          <p:cNvCxnSpPr/>
          <p:nvPr/>
        </p:nvCxnSpPr>
        <p:spPr bwMode="auto">
          <a:xfrm rot="5400000" flipH="1" flipV="1">
            <a:off x="4039053" y="3602676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57C99AA-F878-8F63-A3DD-89A1C80E3A98}"/>
              </a:ext>
            </a:extLst>
          </p:cNvPr>
          <p:cNvSpPr txBox="1"/>
          <p:nvPr/>
        </p:nvSpPr>
        <p:spPr>
          <a:xfrm>
            <a:off x="3616266" y="3678640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8EF934F-4F8B-E8FD-0D15-367D5409A8CF}"/>
              </a:ext>
            </a:extLst>
          </p:cNvPr>
          <p:cNvSpPr txBox="1"/>
          <p:nvPr/>
        </p:nvSpPr>
        <p:spPr>
          <a:xfrm>
            <a:off x="2990053" y="391506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41" name="Freeform 42">
            <a:extLst>
              <a:ext uri="{FF2B5EF4-FFF2-40B4-BE49-F238E27FC236}">
                <a16:creationId xmlns:a16="http://schemas.microsoft.com/office/drawing/2014/main" id="{C141C670-E63E-40CA-C541-669FA7FC1A04}"/>
              </a:ext>
            </a:extLst>
          </p:cNvPr>
          <p:cNvSpPr>
            <a:spLocks/>
          </p:cNvSpPr>
          <p:nvPr/>
        </p:nvSpPr>
        <p:spPr bwMode="blackWhite">
          <a:xfrm>
            <a:off x="3841310" y="2583086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C1711DA-1090-F2BF-A414-C27D4C27A8D1}"/>
              </a:ext>
            </a:extLst>
          </p:cNvPr>
          <p:cNvSpPr/>
          <p:nvPr/>
        </p:nvSpPr>
        <p:spPr bwMode="auto">
          <a:xfrm rot="16200000">
            <a:off x="2958578" y="2682848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C24B21F-5D0A-7F77-46BA-679E5BD30CE1}"/>
              </a:ext>
            </a:extLst>
          </p:cNvPr>
          <p:cNvCxnSpPr>
            <a:cxnSpLocks/>
            <a:stCxn id="43" idx="2"/>
          </p:cNvCxnSpPr>
          <p:nvPr/>
        </p:nvCxnSpPr>
        <p:spPr bwMode="auto">
          <a:xfrm>
            <a:off x="3393514" y="2797054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33BD679-C8CF-2F84-925A-490DA7A85CC5}"/>
              </a:ext>
            </a:extLst>
          </p:cNvPr>
          <p:cNvSpPr txBox="1"/>
          <p:nvPr/>
        </p:nvSpPr>
        <p:spPr>
          <a:xfrm>
            <a:off x="2993287" y="2075997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C9E77EA-A6F7-CEB2-ED20-3DC803FD5C29}"/>
              </a:ext>
            </a:extLst>
          </p:cNvPr>
          <p:cNvCxnSpPr>
            <a:cxnSpLocks/>
            <a:endCxn id="43" idx="3"/>
          </p:cNvCxnSpPr>
          <p:nvPr/>
        </p:nvCxnSpPr>
        <p:spPr bwMode="auto">
          <a:xfrm flipH="1">
            <a:off x="3279308" y="2324004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567A56FA-1891-BB88-06B2-77A384B2373E}"/>
              </a:ext>
            </a:extLst>
          </p:cNvPr>
          <p:cNvSpPr/>
          <p:nvPr/>
        </p:nvSpPr>
        <p:spPr bwMode="auto">
          <a:xfrm>
            <a:off x="2818548" y="4145126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684B541C-76B8-7147-04CF-E8A3B8CF42C5}"/>
              </a:ext>
            </a:extLst>
          </p:cNvPr>
          <p:cNvCxnSpPr>
            <a:cxnSpLocks/>
          </p:cNvCxnSpPr>
          <p:nvPr/>
        </p:nvCxnSpPr>
        <p:spPr bwMode="auto">
          <a:xfrm>
            <a:off x="3539851" y="5529005"/>
            <a:ext cx="0" cy="40713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0658FEA-9A06-616E-3A2C-FECD805E808B}"/>
              </a:ext>
            </a:extLst>
          </p:cNvPr>
          <p:cNvSpPr/>
          <p:nvPr/>
        </p:nvSpPr>
        <p:spPr bwMode="auto">
          <a:xfrm>
            <a:off x="2889047" y="5923177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1" hangingPunct="1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B8770716-5DDA-7D1F-7B7E-C51FF91016AF}"/>
              </a:ext>
            </a:extLst>
          </p:cNvPr>
          <p:cNvCxnSpPr>
            <a:cxnSpLocks/>
          </p:cNvCxnSpPr>
          <p:nvPr/>
        </p:nvCxnSpPr>
        <p:spPr bwMode="auto">
          <a:xfrm>
            <a:off x="3229430" y="5529005"/>
            <a:ext cx="0" cy="3941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35B3A73-9829-3B02-52F8-C6FA97D281F5}"/>
              </a:ext>
            </a:extLst>
          </p:cNvPr>
          <p:cNvSpPr txBox="1"/>
          <p:nvPr/>
        </p:nvSpPr>
        <p:spPr>
          <a:xfrm>
            <a:off x="1547664" y="6013752"/>
            <a:ext cx="11777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TipoInst</a:t>
            </a:r>
            <a:endParaRPr lang="es-ES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91F06A03-A511-F740-052F-C5B6BD25D2D0}"/>
              </a:ext>
            </a:extLst>
          </p:cNvPr>
          <p:cNvCxnSpPr>
            <a:cxnSpLocks/>
            <a:endCxn id="49" idx="1"/>
          </p:cNvCxnSpPr>
          <p:nvPr/>
        </p:nvCxnSpPr>
        <p:spPr bwMode="auto">
          <a:xfrm>
            <a:off x="2668067" y="6152253"/>
            <a:ext cx="220980" cy="0"/>
          </a:xfrm>
          <a:prstGeom prst="line">
            <a:avLst/>
          </a:prstGeom>
          <a:ln w="38100" cmpd="sng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0524095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9DEA-350D-2DCA-02EA-C9383900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E2BBB-3446-E9DC-3B90-3F832629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(beq)</a:t>
            </a:r>
          </a:p>
        </p:txBody>
      </p:sp>
      <p:sp>
        <p:nvSpPr>
          <p:cNvPr id="4" name="3 Marcador de contenido">
            <a:extLst>
              <a:ext uri="{FF2B5EF4-FFF2-40B4-BE49-F238E27FC236}">
                <a16:creationId xmlns:a16="http://schemas.microsoft.com/office/drawing/2014/main" id="{6636FD3B-E384-9326-005E-4E05AA617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1">
                <a:latin typeface="Courier New" panose="02070309020205020404" pitchFamily="49" charset="0"/>
                <a:cs typeface="Courier New" panose="02070309020205020404" pitchFamily="49" charset="0"/>
              </a:rPr>
              <a:t>beq rs1, rs2, inm</a:t>
            </a:r>
            <a:r>
              <a:rPr lang="es-ES_tradnl" baseline="-25000" noProof="1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Cómo llevar al contador de programa la dirección de salto: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ACCB40-8E19-7A4E-EA27-EF8C3586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66</a:t>
            </a:fld>
            <a:endParaRPr lang="es-ES_tradnl" noProof="1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006377E-11BD-332B-C95D-3274EA46AEB3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40157DF-97B7-AD27-069F-22C6DDBA9EE3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F927850-C2E7-3B77-1A4C-16BE4A34CD41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Freeform 42">
            <a:extLst>
              <a:ext uri="{FF2B5EF4-FFF2-40B4-BE49-F238E27FC236}">
                <a16:creationId xmlns:a16="http://schemas.microsoft.com/office/drawing/2014/main" id="{B3D1215E-0959-9834-1538-827BDBC1148C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" dirty="0"/>
              <a:t>+</a:t>
            </a:r>
          </a:p>
        </p:txBody>
      </p: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28882923-1BFB-6766-4249-5172FD997D8D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ector angular 40">
            <a:extLst>
              <a:ext uri="{FF2B5EF4-FFF2-40B4-BE49-F238E27FC236}">
                <a16:creationId xmlns:a16="http://schemas.microsoft.com/office/drawing/2014/main" id="{B1265CF3-DD17-2196-BCFD-2C1F401D2DF7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3042C5E-C462-F34A-37BB-EA1434CB02AC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4375816-808C-91A7-FAA8-9825E1D9C4B0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A09B431-44CB-2F17-AEA3-A95927BB967E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PCin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7D17AD8-35D6-02A9-BF3A-ACDA6A2E3429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BE485C9-EE04-D51B-863C-4413E3701EB4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1E10433D-3F77-5A4F-86AF-BC7931F1B54B}"/>
              </a:ext>
            </a:extLst>
          </p:cNvPr>
          <p:cNvCxnSpPr>
            <a:cxnSpLocks/>
            <a:stCxn id="101" idx="1"/>
          </p:cNvCxnSpPr>
          <p:nvPr/>
        </p:nvCxnSpPr>
        <p:spPr bwMode="auto">
          <a:xfrm flipH="1">
            <a:off x="6915337" y="3761349"/>
            <a:ext cx="3853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5DAD3431-AD96-839B-CF6E-49DBA32D145C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61953F02-F6A4-6015-979C-7C3FBC384DE0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22B67291-E5DA-5B46-283D-F2D70384F18D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0C8D8C61-322C-BD3C-0509-C15437983064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3CE17A6B-1AE4-7679-4202-3165A6F47B2E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7" name="Conector recto de flecha 106">
            <a:extLst>
              <a:ext uri="{FF2B5EF4-FFF2-40B4-BE49-F238E27FC236}">
                <a16:creationId xmlns:a16="http://schemas.microsoft.com/office/drawing/2014/main" id="{B544804B-5B16-C68D-A2F3-00B9D8296D6B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C5685E98-F7FE-CD19-C2F3-09E9DD1EDA00}"/>
              </a:ext>
            </a:extLst>
          </p:cNvPr>
          <p:cNvCxnSpPr>
            <a:cxnSpLocks/>
            <a:stCxn id="110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4A918B46-56D4-A660-49E7-48CE28B39768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A652680A-4994-354D-E578-846B5C3389F1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MxPC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52D7D4E9-53D2-0352-1F29-FC11017089D9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12" name="Conector recto 253">
            <a:extLst>
              <a:ext uri="{FF2B5EF4-FFF2-40B4-BE49-F238E27FC236}">
                <a16:creationId xmlns:a16="http://schemas.microsoft.com/office/drawing/2014/main" id="{82898682-14A0-43AC-B844-94AD2F937E6B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142 Triángulo isósceles">
            <a:extLst>
              <a:ext uri="{FF2B5EF4-FFF2-40B4-BE49-F238E27FC236}">
                <a16:creationId xmlns:a16="http://schemas.microsoft.com/office/drawing/2014/main" id="{60C8231F-9E7D-C5DA-41A8-E14730C27B42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Freeform 42">
            <a:extLst>
              <a:ext uri="{FF2B5EF4-FFF2-40B4-BE49-F238E27FC236}">
                <a16:creationId xmlns:a16="http://schemas.microsoft.com/office/drawing/2014/main" id="{9BDEB359-8A9A-38F5-AF88-5645FD90674D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1A114E43-00B8-C5C8-F433-FE0BD5926C43}"/>
              </a:ext>
            </a:extLst>
          </p:cNvPr>
          <p:cNvCxnSpPr>
            <a:cxnSpLocks/>
            <a:endCxn id="101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785081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43B9F119-8F55-4562-55BC-8BFC165A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(beq)</a:t>
            </a:r>
            <a:endParaRPr lang="es-ES_tradnl" dirty="0"/>
          </a:p>
        </p:txBody>
      </p: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64168C08-7E86-4185-5F31-F79C03AD0498}"/>
              </a:ext>
            </a:extLst>
          </p:cNvPr>
          <p:cNvGrpSpPr/>
          <p:nvPr/>
        </p:nvGrpSpPr>
        <p:grpSpPr>
          <a:xfrm>
            <a:off x="1028192" y="1021617"/>
            <a:ext cx="7773194" cy="5564188"/>
            <a:chOff x="1028192" y="1021617"/>
            <a:chExt cx="7773194" cy="5564188"/>
          </a:xfrm>
        </p:grpSpPr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E2B59E34-856D-7344-CA46-14ED0D1AB7E5}"/>
                </a:ext>
              </a:extLst>
            </p:cNvPr>
            <p:cNvCxnSpPr>
              <a:cxnSpLocks/>
              <a:stCxn id="31" idx="2"/>
            </p:cNvCxnSpPr>
            <p:nvPr/>
          </p:nvCxnSpPr>
          <p:spPr bwMode="auto">
            <a:xfrm>
              <a:off x="5429440" y="3949970"/>
              <a:ext cx="14344" cy="1830378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/>
            <p:nvPr/>
          </p:nvCxnSpPr>
          <p:spPr bwMode="auto">
            <a:xfrm rot="16200000" flipH="1">
              <a:off x="1735218" y="3570581"/>
              <a:ext cx="303852" cy="2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C6130B9B-6FD9-A989-D18C-D70425B3CB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69429" y="4280090"/>
              <a:ext cx="627629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LInst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PCin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BF19A9-C3FB-B8AB-D53E-67D7591AE6CF}"/>
                </a:ext>
              </a:extLst>
            </p:cNvPr>
            <p:cNvCxnSpPr>
              <a:cxnSpLocks/>
              <a:stCxn id="4" idx="3"/>
            </p:cNvCxnSpPr>
            <p:nvPr/>
          </p:nvCxnSpPr>
          <p:spPr bwMode="auto">
            <a:xfrm>
              <a:off x="5171432" y="3535481"/>
              <a:ext cx="578689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  <a:stCxn id="31" idx="3"/>
            </p:cNvCxnSpPr>
            <p:nvPr/>
          </p:nvCxnSpPr>
          <p:spPr bwMode="auto">
            <a:xfrm flipV="1">
              <a:off x="5467509" y="3909847"/>
              <a:ext cx="275629" cy="2142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1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  <a:stCxn id="51" idx="3"/>
            </p:cNvCxnSpPr>
            <p:nvPr/>
          </p:nvCxnSpPr>
          <p:spPr bwMode="auto">
            <a:xfrm>
              <a:off x="5034943" y="5089830"/>
              <a:ext cx="242677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1768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  <a:stCxn id="115" idx="3"/>
            </p:cNvCxnSpPr>
            <p:nvPr/>
          </p:nvCxnSpPr>
          <p:spPr bwMode="auto">
            <a:xfrm flipV="1">
              <a:off x="7376831" y="3757848"/>
              <a:ext cx="931265" cy="3501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OpALU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MxB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6E5A135-4F2E-E7C2-B82A-B8ADF971D4BF}"/>
                </a:ext>
              </a:extLst>
            </p:cNvPr>
            <p:cNvSpPr/>
            <p:nvPr/>
          </p:nvSpPr>
          <p:spPr bwMode="auto">
            <a:xfrm>
              <a:off x="6826600" y="4439927"/>
              <a:ext cx="837516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183775A3-C8B0-7C3B-AE2A-24C235C454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48409" y="4895701"/>
              <a:ext cx="17399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793F28E-3F8C-77AC-DE9C-1A095FA24636}"/>
                </a:ext>
              </a:extLst>
            </p:cNvPr>
            <p:cNvCxnSpPr/>
            <p:nvPr/>
          </p:nvCxnSpPr>
          <p:spPr bwMode="auto">
            <a:xfrm rot="5400000">
              <a:off x="6992600" y="4098094"/>
              <a:ext cx="683662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D6F2569E-B426-BC80-B2BD-A34F685688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4821322"/>
              <a:ext cx="1373786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F8CA399E-6759-96D1-2D22-B3FB5B1D3C0E}"/>
                </a:ext>
              </a:extLst>
            </p:cNvPr>
            <p:cNvCxnSpPr/>
            <p:nvPr/>
          </p:nvCxnSpPr>
          <p:spPr bwMode="auto">
            <a:xfrm rot="5400000" flipH="1" flipV="1">
              <a:off x="6994453" y="5539797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AFADB91F-CBB0-B818-D69C-7ACDB892E086}"/>
                </a:ext>
              </a:extLst>
            </p:cNvPr>
            <p:cNvCxnSpPr/>
            <p:nvPr/>
          </p:nvCxnSpPr>
          <p:spPr bwMode="auto">
            <a:xfrm rot="5400000" flipH="1" flipV="1">
              <a:off x="7297417" y="5539797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EAAB91E-F290-3E45-46BA-E8FAD1AA4A39}"/>
                </a:ext>
              </a:extLst>
            </p:cNvPr>
            <p:cNvSpPr txBox="1"/>
            <p:nvPr/>
          </p:nvSpPr>
          <p:spPr>
            <a:xfrm>
              <a:off x="6732244" y="5623675"/>
              <a:ext cx="628760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BA51E256-FDA4-54F3-BCC6-DB148AC6162C}"/>
                </a:ext>
              </a:extLst>
            </p:cNvPr>
            <p:cNvSpPr txBox="1"/>
            <p:nvPr/>
          </p:nvSpPr>
          <p:spPr>
            <a:xfrm>
              <a:off x="7241457" y="5623675"/>
              <a:ext cx="63739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42B339BE-3101-126E-0C24-57E91030CA7A}"/>
                </a:ext>
              </a:extLst>
            </p:cNvPr>
            <p:cNvCxnSpPr/>
            <p:nvPr/>
          </p:nvCxnSpPr>
          <p:spPr bwMode="auto">
            <a:xfrm rot="16200000" flipH="1">
              <a:off x="4558043" y="3228027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ACC943C9-E9EB-B4D9-9D33-17A76632EA01}"/>
                </a:ext>
              </a:extLst>
            </p:cNvPr>
            <p:cNvSpPr txBox="1"/>
            <p:nvPr/>
          </p:nvSpPr>
          <p:spPr>
            <a:xfrm>
              <a:off x="4420748" y="2878510"/>
              <a:ext cx="577556" cy="2761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A34C702F-50D0-A7E7-CFF5-E3781BC88C01}"/>
                </a:ext>
              </a:extLst>
            </p:cNvPr>
            <p:cNvSpPr/>
            <p:nvPr/>
          </p:nvSpPr>
          <p:spPr bwMode="auto">
            <a:xfrm rot="16200000">
              <a:off x="8118494" y="3810863"/>
              <a:ext cx="641459" cy="22841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534C566-7E2E-DE62-AF3E-F2D7065C12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07325" y="4078579"/>
              <a:ext cx="517691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123627-79DC-5362-A0C9-801988FBDE76}"/>
                </a:ext>
              </a:extLst>
            </p:cNvPr>
            <p:cNvCxnSpPr/>
            <p:nvPr/>
          </p:nvCxnSpPr>
          <p:spPr bwMode="auto">
            <a:xfrm rot="5400000">
              <a:off x="7384989" y="4481083"/>
              <a:ext cx="836378" cy="79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DF8F9B35-B436-A80A-B3D6-86E091D60E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553430" y="3908190"/>
              <a:ext cx="247956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0E1D9292-209D-1E0B-5321-51566E1BA7A6}"/>
                </a:ext>
              </a:extLst>
            </p:cNvPr>
            <p:cNvCxnSpPr/>
            <p:nvPr/>
          </p:nvCxnSpPr>
          <p:spPr bwMode="auto">
            <a:xfrm rot="5400000">
              <a:off x="7453293" y="5237532"/>
              <a:ext cx="2657894" cy="79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6532239C-4989-D979-24A7-FF9DC7695E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8335" y="6566875"/>
              <a:ext cx="5270672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9D99C29B-956C-3237-2A3D-934BE0EDABC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27541" y="4553810"/>
              <a:ext cx="0" cy="2031995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prstDash val="solid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5ADCB208-4F0C-B00B-C232-7C2F18D83E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6463" y="4572072"/>
              <a:ext cx="46872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E6AD2A95-BA4A-03A1-E6B2-4A02C80DA939}"/>
                </a:ext>
              </a:extLst>
            </p:cNvPr>
            <p:cNvSpPr txBox="1"/>
            <p:nvPr/>
          </p:nvSpPr>
          <p:spPr>
            <a:xfrm>
              <a:off x="6867522" y="6306081"/>
              <a:ext cx="552905" cy="260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Datos</a:t>
              </a:r>
            </a:p>
          </p:txBody>
        </p: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3DCBA28B-D9D5-788C-B08B-FDA89479ABE5}"/>
                </a:ext>
              </a:extLst>
            </p:cNvPr>
            <p:cNvCxnSpPr/>
            <p:nvPr/>
          </p:nvCxnSpPr>
          <p:spPr bwMode="auto">
            <a:xfrm rot="16200000" flipH="1">
              <a:off x="8321768" y="3488811"/>
              <a:ext cx="226304" cy="1587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09604B98-0189-D53C-6DE5-CE3E1AEBDC74}"/>
                </a:ext>
              </a:extLst>
            </p:cNvPr>
            <p:cNvSpPr txBox="1"/>
            <p:nvPr/>
          </p:nvSpPr>
          <p:spPr>
            <a:xfrm>
              <a:off x="8127347" y="3112978"/>
              <a:ext cx="611717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MxER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AE30DBF3-9903-2E9B-B6F8-37D81A2C4439}"/>
                </a:ext>
              </a:extLst>
            </p:cNvPr>
            <p:cNvSpPr/>
            <p:nvPr/>
          </p:nvSpPr>
          <p:spPr bwMode="auto">
            <a:xfrm>
              <a:off x="7300693" y="372336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04B3D1EF-697B-31DE-2D04-FD47434989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51093" y="2009129"/>
              <a:ext cx="2964195" cy="0"/>
            </a:xfrm>
            <a:prstGeom prst="line">
              <a:avLst/>
            </a:prstGeom>
            <a:ln w="38100" cmpd="sng">
              <a:solidFill>
                <a:srgbClr val="26697A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9" name="Rectángulo 128">
              <a:extLst>
                <a:ext uri="{FF2B5EF4-FFF2-40B4-BE49-F238E27FC236}">
                  <a16:creationId xmlns:a16="http://schemas.microsoft.com/office/drawing/2014/main" id="{0A883C23-4798-9EC4-4884-44512D29CE3E}"/>
                </a:ext>
              </a:extLst>
            </p:cNvPr>
            <p:cNvSpPr/>
            <p:nvPr/>
          </p:nvSpPr>
          <p:spPr bwMode="auto">
            <a:xfrm>
              <a:off x="1701026" y="3722505"/>
              <a:ext cx="642940" cy="227887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7755FA51-9CE0-1472-A10E-783BEB90DD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57450" y="2470150"/>
              <a:ext cx="4881312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41828583-D2C7-EB56-A6BC-B8970F3021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2405" y="2476500"/>
              <a:ext cx="0" cy="748028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Conector recto 133">
              <a:extLst>
                <a:ext uri="{FF2B5EF4-FFF2-40B4-BE49-F238E27FC236}">
                  <a16:creationId xmlns:a16="http://schemas.microsoft.com/office/drawing/2014/main" id="{CE591FFD-6BB6-3AB8-1C46-DF3D29F5B1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15465" y="3226111"/>
              <a:ext cx="266482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Conector recto de flecha 134">
              <a:extLst>
                <a:ext uri="{FF2B5EF4-FFF2-40B4-BE49-F238E27FC236}">
                  <a16:creationId xmlns:a16="http://schemas.microsoft.com/office/drawing/2014/main" id="{C9E8B334-0CA2-001F-2622-4FE8C08225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33992" y="3233962"/>
              <a:ext cx="0" cy="481887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Conector recto 135">
              <a:extLst>
                <a:ext uri="{FF2B5EF4-FFF2-40B4-BE49-F238E27FC236}">
                  <a16:creationId xmlns:a16="http://schemas.microsoft.com/office/drawing/2014/main" id="{D342DD75-AC65-B127-ADE2-524BB0D2F294}"/>
                </a:ext>
              </a:extLst>
            </p:cNvPr>
            <p:cNvCxnSpPr>
              <a:cxnSpLocks/>
              <a:stCxn id="139" idx="2"/>
            </p:cNvCxnSpPr>
            <p:nvPr/>
          </p:nvCxnSpPr>
          <p:spPr bwMode="auto">
            <a:xfrm flipV="1">
              <a:off x="1402821" y="3844341"/>
              <a:ext cx="286036" cy="381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Conector recto de flecha 137">
              <a:extLst>
                <a:ext uri="{FF2B5EF4-FFF2-40B4-BE49-F238E27FC236}">
                  <a16:creationId xmlns:a16="http://schemas.microsoft.com/office/drawing/2014/main" id="{8FCE9F96-1AAD-6C9E-25FA-85A50E931409}"/>
                </a:ext>
              </a:extLst>
            </p:cNvPr>
            <p:cNvCxnSpPr/>
            <p:nvPr/>
          </p:nvCxnSpPr>
          <p:spPr bwMode="auto">
            <a:xfrm rot="5400000">
              <a:off x="1830477" y="4138186"/>
              <a:ext cx="379812" cy="4227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9" name="CuadroTexto 138">
              <a:extLst>
                <a:ext uri="{FF2B5EF4-FFF2-40B4-BE49-F238E27FC236}">
                  <a16:creationId xmlns:a16="http://schemas.microsoft.com/office/drawing/2014/main" id="{0E5BD531-8833-B323-A9C3-6F01F0A0987D}"/>
                </a:ext>
              </a:extLst>
            </p:cNvPr>
            <p:cNvSpPr txBox="1"/>
            <p:nvPr/>
          </p:nvSpPr>
          <p:spPr>
            <a:xfrm rot="16200000">
              <a:off x="959280" y="3706336"/>
              <a:ext cx="610308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MxPC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ctr" anchorCtr="0">
              <a:prstTxWarp prst="textNoShape">
                <a:avLst/>
              </a:prstTxWarp>
              <a:flatTx/>
            </a:bodyPr>
            <a:lstStyle/>
            <a:p>
              <a:r>
                <a:rPr lang="es-ES" sz="1400" dirty="0"/>
                <a:t>ALU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Instrucciones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6644A2C-08FF-B0BF-3710-646F4C829F74}"/>
                </a:ext>
              </a:extLst>
            </p:cNvPr>
            <p:cNvSpPr txBox="1"/>
            <p:nvPr/>
          </p:nvSpPr>
          <p:spPr>
            <a:xfrm>
              <a:off x="3320997" y="4007975"/>
              <a:ext cx="77713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i="1">
                  <a:solidFill>
                    <a:schemeClr val="accent1">
                      <a:lumMod val="75000"/>
                    </a:schemeClr>
                  </a:solidFill>
                </a:rPr>
                <a:t>11..7 (rd)</a:t>
              </a:r>
              <a:endParaRPr lang="es-ES" sz="10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F3971B-F4CC-F915-2369-9744B2F17925}"/>
                </a:ext>
              </a:extLst>
            </p:cNvPr>
            <p:cNvSpPr/>
            <p:nvPr/>
          </p:nvSpPr>
          <p:spPr bwMode="auto">
            <a:xfrm>
              <a:off x="3356717" y="4234048"/>
              <a:ext cx="76200" cy="762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67" name="Conector angular 34">
              <a:extLst>
                <a:ext uri="{FF2B5EF4-FFF2-40B4-BE49-F238E27FC236}">
                  <a16:creationId xmlns:a16="http://schemas.microsoft.com/office/drawing/2014/main" id="{364B2E2B-6A3F-F626-F3F1-EA9B3D6BF7EF}"/>
                </a:ext>
              </a:extLst>
            </p:cNvPr>
            <p:cNvCxnSpPr>
              <a:cxnSpLocks/>
              <a:stCxn id="140" idx="3"/>
            </p:cNvCxnSpPr>
            <p:nvPr/>
          </p:nvCxnSpPr>
          <p:spPr bwMode="auto">
            <a:xfrm flipV="1">
              <a:off x="2053306" y="2774950"/>
              <a:ext cx="940049" cy="2006808"/>
            </a:xfrm>
            <a:prstGeom prst="bentConnector2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6D5707A8-27B9-774F-BA76-4139462276FD}"/>
                </a:ext>
              </a:extLst>
            </p:cNvPr>
            <p:cNvSpPr/>
            <p:nvPr/>
          </p:nvSpPr>
          <p:spPr bwMode="auto">
            <a:xfrm>
              <a:off x="4792980" y="5767388"/>
              <a:ext cx="881029" cy="458151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457200" eaLnBrk="1" hangingPunct="1"/>
              <a:r>
                <a:rPr lang="es-ES" sz="1400" dirty="0">
                  <a:solidFill>
                    <a:srgbClr val="000000"/>
                  </a:solidFill>
                </a:rPr>
                <a:t>Branch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710D123D-900E-210C-23F1-675981960F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33363" y="3573462"/>
              <a:ext cx="0" cy="2193926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8960C0BA-88CE-B7F5-581F-DA8C98418B6D}"/>
                </a:ext>
              </a:extLst>
            </p:cNvPr>
            <p:cNvSpPr txBox="1"/>
            <p:nvPr/>
          </p:nvSpPr>
          <p:spPr>
            <a:xfrm>
              <a:off x="3851920" y="5857963"/>
              <a:ext cx="78303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TipoInst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741610FD-7CC7-42CA-4D32-7C029CF22DF7}"/>
                </a:ext>
              </a:extLst>
            </p:cNvPr>
            <p:cNvCxnSpPr>
              <a:cxnSpLocks/>
              <a:endCxn id="3" idx="1"/>
            </p:cNvCxnSpPr>
            <p:nvPr/>
          </p:nvCxnSpPr>
          <p:spPr bwMode="auto">
            <a:xfrm>
              <a:off x="4572000" y="5996464"/>
              <a:ext cx="220980" cy="0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B28175A1-3533-3C0C-BF60-00ED337D8A37}"/>
                </a:ext>
              </a:extLst>
            </p:cNvPr>
            <p:cNvCxnSpPr>
              <a:cxnSpLocks/>
              <a:stCxn id="3" idx="3"/>
            </p:cNvCxnSpPr>
            <p:nvPr/>
          </p:nvCxnSpPr>
          <p:spPr bwMode="auto">
            <a:xfrm>
              <a:off x="5674009" y="5996464"/>
              <a:ext cx="2341279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Conector recto 145">
              <a:extLst>
                <a:ext uri="{FF2B5EF4-FFF2-40B4-BE49-F238E27FC236}">
                  <a16:creationId xmlns:a16="http://schemas.microsoft.com/office/drawing/2014/main" id="{89D783EE-67E1-51D1-5DDF-D03D4851D6E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996238" y="1987550"/>
              <a:ext cx="0" cy="4008912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91C5B777-4995-CFD4-35C4-4BFED4D640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33494" y="3283805"/>
              <a:ext cx="516627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07392EC3-BC50-96C5-20BE-7BE3295A2C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78534" y="3428999"/>
              <a:ext cx="454279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Conector angular 34">
              <a:extLst>
                <a:ext uri="{FF2B5EF4-FFF2-40B4-BE49-F238E27FC236}">
                  <a16:creationId xmlns:a16="http://schemas.microsoft.com/office/drawing/2014/main" id="{6C30FB34-01EA-2503-B06F-A4A2F5208F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82141" y="2774950"/>
              <a:ext cx="2273781" cy="508855"/>
            </a:xfrm>
            <a:prstGeom prst="bentConnector3">
              <a:avLst>
                <a:gd name="adj1" fmla="val 94963"/>
              </a:avLst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4" name="Conector recto 183">
              <a:extLst>
                <a:ext uri="{FF2B5EF4-FFF2-40B4-BE49-F238E27FC236}">
                  <a16:creationId xmlns:a16="http://schemas.microsoft.com/office/drawing/2014/main" id="{F1287000-D2FC-8EFC-A2EB-C89F1AF56C85}"/>
                </a:ext>
              </a:extLst>
            </p:cNvPr>
            <p:cNvCxnSpPr>
              <a:cxnSpLocks/>
              <a:endCxn id="115" idx="0"/>
            </p:cNvCxnSpPr>
            <p:nvPr/>
          </p:nvCxnSpPr>
          <p:spPr bwMode="auto">
            <a:xfrm>
              <a:off x="7338762" y="2451100"/>
              <a:ext cx="0" cy="1272268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934A57D5-85D8-40F6-C283-FE071633789A}"/>
                </a:ext>
              </a:extLst>
            </p:cNvPr>
            <p:cNvSpPr txBox="1"/>
            <p:nvPr/>
          </p:nvSpPr>
          <p:spPr>
            <a:xfrm>
              <a:off x="5578307" y="2707942"/>
              <a:ext cx="4844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MxA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216" name="Conector recto 215">
              <a:extLst>
                <a:ext uri="{FF2B5EF4-FFF2-40B4-BE49-F238E27FC236}">
                  <a16:creationId xmlns:a16="http://schemas.microsoft.com/office/drawing/2014/main" id="{BE22B97B-018A-F844-3B23-A4201D82F27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864328" y="2955949"/>
              <a:ext cx="8351" cy="152321"/>
            </a:xfrm>
            <a:prstGeom prst="line">
              <a:avLst/>
            </a:prstGeom>
            <a:ln w="38100" cmpd="sng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BCAC198B-629A-B0C8-883A-729282CCAD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3535481"/>
              <a:ext cx="147854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69E4F25-1158-CDF5-A0D5-9F8570C40F5F}"/>
                </a:ext>
              </a:extLst>
            </p:cNvPr>
            <p:cNvSpPr/>
            <p:nvPr/>
          </p:nvSpPr>
          <p:spPr bwMode="auto">
            <a:xfrm>
              <a:off x="5095294" y="349750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FBFCDB7F-0D78-EAB5-A81B-2C534D212154}"/>
                </a:ext>
              </a:extLst>
            </p:cNvPr>
            <p:cNvCxnSpPr>
              <a:cxnSpLocks/>
              <a:endCxn id="31" idx="1"/>
            </p:cNvCxnSpPr>
            <p:nvPr/>
          </p:nvCxnSpPr>
          <p:spPr bwMode="auto">
            <a:xfrm>
              <a:off x="4991210" y="3911989"/>
              <a:ext cx="400161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5056487F-849D-0CD4-515E-5060A72FBB80}"/>
                </a:ext>
              </a:extLst>
            </p:cNvPr>
            <p:cNvSpPr/>
            <p:nvPr/>
          </p:nvSpPr>
          <p:spPr bwMode="auto">
            <a:xfrm>
              <a:off x="5391371" y="387400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C343F058-46C1-4D07-4CC1-1060C05FA29D}"/>
                </a:ext>
              </a:extLst>
            </p:cNvPr>
            <p:cNvSpPr/>
            <p:nvPr/>
          </p:nvSpPr>
          <p:spPr bwMode="auto">
            <a:xfrm>
              <a:off x="5403568" y="4777071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FEC8063A-F56A-2E2D-E328-CED3C2F6D43E}"/>
              </a:ext>
            </a:extLst>
          </p:cNvPr>
          <p:cNvCxnSpPr>
            <a:cxnSpLocks/>
            <a:endCxn id="115" idx="1"/>
          </p:cNvCxnSpPr>
          <p:nvPr/>
        </p:nvCxnSpPr>
        <p:spPr bwMode="auto">
          <a:xfrm>
            <a:off x="6948264" y="3761349"/>
            <a:ext cx="35242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8D31A537-F122-467C-2ACB-806299D8C6D6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83E13C-D7FD-E3FD-2A8C-C020904CA3E5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1076569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E2B59E34-856D-7344-CA46-14ED0D1AB7E5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7" name="Conector recto de flecha 136">
            <a:extLst>
              <a:ext uri="{FF2B5EF4-FFF2-40B4-BE49-F238E27FC236}">
                <a16:creationId xmlns:a16="http://schemas.microsoft.com/office/drawing/2014/main" id="{83189786-2CA6-EB3E-0157-333B929CC6AC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C6130B9B-6FD9-A989-D18C-D70425B3CB87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41AC572-37B5-D855-D931-3B36DFB15BC9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7277D75-E2AC-C061-0855-BA25D519F43C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B22A848-F831-69F9-0F65-0188800FB613}"/>
              </a:ext>
            </a:extLst>
          </p:cNvPr>
          <p:cNvCxnSpPr>
            <a:cxnSpLocks/>
            <a:stCxn id="15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Freeform 42">
            <a:extLst>
              <a:ext uri="{FF2B5EF4-FFF2-40B4-BE49-F238E27FC236}">
                <a16:creationId xmlns:a16="http://schemas.microsoft.com/office/drawing/2014/main" id="{5471C6B8-DC7F-0EC7-A202-7F1529577731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" dirty="0"/>
              <a:t>+</a:t>
            </a:r>
          </a:p>
        </p:txBody>
      </p: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930A7FDB-8D62-E372-1BDD-D4513AFF81CB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6C42E503-8E05-19BA-BDF4-CE6BAA714C5B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23B391B-F79E-60D3-3A53-2ABF19289549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817F011-9DB8-680E-04A3-53C358FB76E9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64A9BF15-76C9-A22F-4FD5-E99560C8A376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17CB8F4-2757-9F40-7F4F-A90D70E344F2}"/>
              </a:ext>
            </a:extLst>
          </p:cNvPr>
          <p:cNvCxnSpPr>
            <a:cxnSpLocks/>
            <a:stCxn id="16" idx="3"/>
            <a:endCxn id="55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1D1F49A-3558-8500-DF3E-C6C1E39D5661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8F516FA7-E01A-D587-E2CE-03FCF89906FD}"/>
              </a:ext>
            </a:extLst>
          </p:cNvPr>
          <p:cNvCxnSpPr>
            <a:cxnSpLocks/>
            <a:stCxn id="55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D7718C62-0A10-9A68-E40C-BC4A51351358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33736943-E6CA-97F9-36E8-7E8149C1256A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0DE475AD-00D2-3ADF-5CDD-2AC080143387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CDAE3349-9A61-846D-3965-D6DF94818B96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C6821F47-012D-A91C-4780-017905652EB8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5" name="CuadroTexto 204">
            <a:extLst>
              <a:ext uri="{FF2B5EF4-FFF2-40B4-BE49-F238E27FC236}">
                <a16:creationId xmlns:a16="http://schemas.microsoft.com/office/drawing/2014/main" id="{7B138CB0-D177-C59A-3BDF-D4E0FECD3D9F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6600"/>
                </a:solidFill>
              </a:rPr>
              <a:t>…</a:t>
            </a:r>
          </a:p>
        </p:txBody>
      </p:sp>
      <p:sp>
        <p:nvSpPr>
          <p:cNvPr id="206" name="Cerrar llave 205">
            <a:extLst>
              <a:ext uri="{FF2B5EF4-FFF2-40B4-BE49-F238E27FC236}">
                <a16:creationId xmlns:a16="http://schemas.microsoft.com/office/drawing/2014/main" id="{E75C61BD-8A35-47E7-946E-233E6C85081C}"/>
              </a:ext>
            </a:extLst>
          </p:cNvPr>
          <p:cNvSpPr/>
          <p:nvPr/>
        </p:nvSpPr>
        <p:spPr bwMode="auto">
          <a:xfrm>
            <a:off x="5507917" y="1021617"/>
            <a:ext cx="380689" cy="911549"/>
          </a:xfrm>
          <a:prstGeom prst="rightBrace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838DB37B-FE62-A0C0-BBF5-E03F36FDAC2C}"/>
              </a:ext>
            </a:extLst>
          </p:cNvPr>
          <p:cNvSpPr txBox="1"/>
          <p:nvPr/>
        </p:nvSpPr>
        <p:spPr>
          <a:xfrm>
            <a:off x="5888606" y="1246537"/>
            <a:ext cx="969345" cy="564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sz="1400" i="1" dirty="0">
                <a:solidFill>
                  <a:schemeClr val="accent1">
                    <a:lumMod val="75000"/>
                  </a:schemeClr>
                </a:solidFill>
              </a:rPr>
              <a:t>Señales </a:t>
            </a:r>
          </a:p>
          <a:p>
            <a:pPr algn="l"/>
            <a:r>
              <a:rPr lang="es-ES" sz="1400" i="1" dirty="0">
                <a:solidFill>
                  <a:schemeClr val="accent1">
                    <a:lumMod val="75000"/>
                  </a:schemeClr>
                </a:solidFill>
              </a:rPr>
              <a:t>de control</a:t>
            </a:r>
          </a:p>
        </p:txBody>
      </p:sp>
      <p:cxnSp>
        <p:nvCxnSpPr>
          <p:cNvPr id="248" name="Conector recto 247">
            <a:extLst>
              <a:ext uri="{FF2B5EF4-FFF2-40B4-BE49-F238E27FC236}">
                <a16:creationId xmlns:a16="http://schemas.microsoft.com/office/drawing/2014/main" id="{A317397C-55E6-38D0-0D61-3957C83E9A5A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AE36DF52-46E8-D4B7-77B2-6CD07B474701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1D8F3621-EE83-727D-2D3C-37B97B69A43D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PCin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36DEFC6-6A8D-E17B-2D10-49D30B7AA563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53D61B2-F226-338F-8B25-2A9C4746A6CA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BA78225-8407-E36C-DCBD-B1B54AA3C376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71303BB-3F99-23ED-C79A-6F5A94342819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8C7298E-FA1C-F236-CA19-90A3FAD15061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FBF19A9-C3FB-B8AB-D53E-67D7591AE6CF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0409A140-60C1-32DD-D8B9-D63C619FF912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908190"/>
            <a:ext cx="7781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16EA189-FF99-FFE9-8124-DF8E35AF234E}"/>
              </a:ext>
            </a:extLst>
          </p:cNvPr>
          <p:cNvCxnSpPr>
            <a:cxnSpLocks/>
            <a:stCxn id="57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FC7BACD-3273-B4D7-508A-CFFFC377D608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C2F09D4-AC2D-028D-6562-0626C0C594D5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9576CF2-645B-4248-5151-F5A1C1977D3D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1AB8ADC-B798-7887-04FD-1B7F48CE25A0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45B71AE5-0F43-7F89-DC63-20CE47521FB0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D3DB021A-9ECD-AE12-F8D6-847A1B6A50B1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32A4780D-F136-595D-2103-9214B365DFE6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4C48EA8D-BE4C-9590-BEF6-9CCF7CB8F66E}"/>
              </a:ext>
            </a:extLst>
          </p:cNvPr>
          <p:cNvCxnSpPr>
            <a:cxnSpLocks/>
            <a:stCxn id="61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7284D47A-01C3-3ACA-4332-F2B531679D9E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1CE4C354-B46D-EC78-765F-41B0D906F6E9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90DB2E9C-AD61-A423-2694-5DAA9FA81C4F}"/>
              </a:ext>
            </a:extLst>
          </p:cNvPr>
          <p:cNvCxnSpPr>
            <a:cxnSpLocks/>
          </p:cNvCxnSpPr>
          <p:nvPr/>
        </p:nvCxnSpPr>
        <p:spPr bwMode="auto">
          <a:xfrm>
            <a:off x="6919354" y="3757848"/>
            <a:ext cx="1388742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B10D0E82-D4D9-D47E-1C6C-EA8BFB56151A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CF6D6763-2708-952A-E18D-21CD1CF6964B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6E5A135-4F2E-E7C2-B82A-B8ADF971D4BF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183775A3-C8B0-7C3B-AE2A-24C235C4544E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6793F28E-3F8C-77AC-DE9C-1A095FA24636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D6F2569E-B426-BC80-B2BD-A34F6856881E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F8CA399E-6759-96D1-2D22-B3FB5B1D3C0E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AFADB91F-CBB0-B818-D69C-7ACDB892E086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EAAB91E-F290-3E45-46BA-E8FAD1AA4A39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BA51E256-FDA4-54F3-BCC6-DB148AC6162C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42B339BE-3101-126E-0C24-57E91030CA7A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CC943C9-E9EB-B4D9-9D33-17A76632EA01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A34C702F-50D0-A7E7-CFF5-E3781BC88C01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F534C566-7E2E-DE62-AF3E-F2D7065C1228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D5123627-79DC-5362-A0C9-801988FBDE76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DF8F9B35-B436-A80A-B3D6-86E091D60E5D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0E1D9292-209D-1E0B-5321-51566E1BA7A6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6532239C-4989-D979-24A7-FF9DC7695E53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9D99C29B-956C-3237-2A3D-934BE0EDABC5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5ADCB208-4F0C-B00B-C232-7C2F18D83E34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E6AD2A95-BA4A-03A1-E6B2-4A02C80DA939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3DCBA28B-D9D5-788C-B08B-FDA89479ABE5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09604B98-0189-D53C-6DE5-CE3E1AEBDC74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MxER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AE30DBF3-9903-2E9B-B6F8-37D81A2C4439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04B3D1EF-697B-31DE-2D04-FD47434989E8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0A883C23-4798-9EC4-4884-44512D29CE3E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7755FA51-9CE0-1472-A10E-783BEB90DD95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41828583-D2C7-EB56-A6BC-B8970F30219E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CE591FFD-6BB6-3AB8-1C46-DF3D29F5B148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Conector recto de flecha 134">
            <a:extLst>
              <a:ext uri="{FF2B5EF4-FFF2-40B4-BE49-F238E27FC236}">
                <a16:creationId xmlns:a16="http://schemas.microsoft.com/office/drawing/2014/main" id="{C9E8B334-0CA2-001F-2622-4FE8C08225F9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342DD75-AC65-B127-ADE2-524BB0D2F294}"/>
              </a:ext>
            </a:extLst>
          </p:cNvPr>
          <p:cNvCxnSpPr>
            <a:cxnSpLocks/>
            <a:stCxn id="139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Conector recto de flecha 137">
            <a:extLst>
              <a:ext uri="{FF2B5EF4-FFF2-40B4-BE49-F238E27FC236}">
                <a16:creationId xmlns:a16="http://schemas.microsoft.com/office/drawing/2014/main" id="{8FCE9F96-1AAD-6C9E-25FA-85A50E931409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0E5BD531-8833-B323-A9C3-6F01F0A0987D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MxPC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DC72AC89-2602-1341-E752-39A8B6AFA312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42" name="Conector recto 253">
            <a:extLst>
              <a:ext uri="{FF2B5EF4-FFF2-40B4-BE49-F238E27FC236}">
                <a16:creationId xmlns:a16="http://schemas.microsoft.com/office/drawing/2014/main" id="{0B0865F8-79BF-E338-ACCC-C36059A316C2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142 Triángulo isósceles">
            <a:extLst>
              <a:ext uri="{FF2B5EF4-FFF2-40B4-BE49-F238E27FC236}">
                <a16:creationId xmlns:a16="http://schemas.microsoft.com/office/drawing/2014/main" id="{4F659965-FF98-03CC-9A4C-6D085607F43D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1" name="140 Triángulo isósceles">
            <a:extLst>
              <a:ext uri="{FF2B5EF4-FFF2-40B4-BE49-F238E27FC236}">
                <a16:creationId xmlns:a16="http://schemas.microsoft.com/office/drawing/2014/main" id="{07131531-FAD8-DE19-0431-F921528DEA5C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F4D00049-9340-DD55-C195-99F3951CB405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3834CB5-5354-F4F0-0359-41E327D270B7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DD4BEDFE-0BD9-02B6-3EC0-A22239102BD7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62" name="Freeform 42">
            <a:extLst>
              <a:ext uri="{FF2B5EF4-FFF2-40B4-BE49-F238E27FC236}">
                <a16:creationId xmlns:a16="http://schemas.microsoft.com/office/drawing/2014/main" id="{E2BB00E9-B406-DE36-3C39-146CFD3D8BFE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6A17B70-6890-06F0-25AD-0B9375D5A3CD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FA8C8F85-3D3E-C82D-BC32-E5A90B2DD548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644A2C-08FF-B0BF-3710-646F4C829F74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>
                <a:solidFill>
                  <a:schemeClr val="accent1">
                    <a:lumMod val="75000"/>
                  </a:schemeClr>
                </a:solidFill>
              </a:rPr>
              <a:t>11..7 (rd)</a:t>
            </a:r>
            <a:endParaRPr lang="es-ES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F3971B-F4CC-F915-2369-9744B2F17925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67" name="Conector angular 34">
            <a:extLst>
              <a:ext uri="{FF2B5EF4-FFF2-40B4-BE49-F238E27FC236}">
                <a16:creationId xmlns:a16="http://schemas.microsoft.com/office/drawing/2014/main" id="{364B2E2B-6A3F-F626-F3F1-EA9B3D6BF7EF}"/>
              </a:ext>
            </a:extLst>
          </p:cNvPr>
          <p:cNvCxnSpPr>
            <a:cxnSpLocks/>
            <a:stCxn id="140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6D5707A8-27B9-774F-BA76-4139462276FD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9E4F25-1158-CDF5-A0D5-9F8570C40F5F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10D123D-900E-210C-23F1-675981960FFD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8960C0BA-88CE-B7F5-581F-DA8C98418B6D}"/>
              </a:ext>
            </a:extLst>
          </p:cNvPr>
          <p:cNvSpPr txBox="1"/>
          <p:nvPr/>
        </p:nvSpPr>
        <p:spPr>
          <a:xfrm>
            <a:off x="3860972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TipoInst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741610FD-7CC7-42CA-4D32-7C029CF22DF7}"/>
              </a:ext>
            </a:extLst>
          </p:cNvPr>
          <p:cNvCxnSpPr>
            <a:cxnSpLocks/>
            <a:endCxn id="3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B28175A1-3533-3C0C-BF60-00ED337D8A37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89D783EE-67E1-51D1-5DDF-D03D4851D6E2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41678701-8EA1-35CC-E04B-9E82AB2764CA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91C5B777-4995-CFD4-35C4-4BFED4D64016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07392EC3-BC50-96C5-20BE-7BE3295A2C23}"/>
              </a:ext>
            </a:extLst>
          </p:cNvPr>
          <p:cNvCxnSpPr>
            <a:cxnSpLocks/>
            <a:stCxn id="163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angular 34">
            <a:extLst>
              <a:ext uri="{FF2B5EF4-FFF2-40B4-BE49-F238E27FC236}">
                <a16:creationId xmlns:a16="http://schemas.microsoft.com/office/drawing/2014/main" id="{6C30FB34-01EA-2503-B06F-A4A2F5208FB2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4" name="Conector recto 183">
            <a:extLst>
              <a:ext uri="{FF2B5EF4-FFF2-40B4-BE49-F238E27FC236}">
                <a16:creationId xmlns:a16="http://schemas.microsoft.com/office/drawing/2014/main" id="{F1287000-D2FC-8EFC-A2EB-C89F1AF56C85}"/>
              </a:ext>
            </a:extLst>
          </p:cNvPr>
          <p:cNvCxnSpPr>
            <a:cxnSpLocks/>
            <a:endCxn id="11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934A57D5-85D8-40F6-C283-FE071633789A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BE22B97B-018A-F844-3B23-A4201D82F274}"/>
              </a:ext>
            </a:extLst>
          </p:cNvPr>
          <p:cNvCxnSpPr>
            <a:cxnSpLocks/>
            <a:endCxn id="163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ítulo 7">
            <a:extLst>
              <a:ext uri="{FF2B5EF4-FFF2-40B4-BE49-F238E27FC236}">
                <a16:creationId xmlns:a16="http://schemas.microsoft.com/office/drawing/2014/main" id="{56A5DC99-8B99-2B79-5D45-7268FE7F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La ruta de datos completa </a:t>
            </a:r>
            <a:b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(sin soporte para salto incondicional)</a:t>
            </a:r>
            <a:endParaRPr lang="es-ES_trad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7696AB-5876-55D4-8E47-A88B17D02673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89284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Ruta de datos para </a:t>
            </a:r>
            <a:b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instrucciones tipo R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69</a:t>
            </a:fld>
            <a:endParaRPr lang="es-ES_tradnl" noProof="1"/>
          </a:p>
        </p:txBody>
      </p:sp>
      <p:sp>
        <p:nvSpPr>
          <p:cNvPr id="211" name="CuadroTexto 210"/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Conf MUXs: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MxPC: 0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MxA: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MxB:   0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MxER: 0</a:t>
            </a:r>
            <a:endParaRPr lang="es-ES_tradnl" sz="140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123">
            <a:extLst>
              <a:ext uri="{FF2B5EF4-FFF2-40B4-BE49-F238E27FC236}">
                <a16:creationId xmlns:a16="http://schemas.microsoft.com/office/drawing/2014/main" id="{606DB9CA-157A-E513-56AE-072BA0144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122" y="980728"/>
            <a:ext cx="3348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rd, rs1, rs2 (rd=rs1+rs2)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37AD985-5EB5-4D6B-90D5-3981A0307636}"/>
              </a:ext>
            </a:extLst>
          </p:cNvPr>
          <p:cNvGrpSpPr/>
          <p:nvPr/>
        </p:nvGrpSpPr>
        <p:grpSpPr>
          <a:xfrm>
            <a:off x="4928612" y="65545"/>
            <a:ext cx="4179892" cy="843175"/>
            <a:chOff x="975305" y="4921594"/>
            <a:chExt cx="3345284" cy="753875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995245DE-D3EB-7AD7-E44F-87A3045F2A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7" name="Rectangle 10">
                <a:extLst>
                  <a:ext uri="{FF2B5EF4-FFF2-40B4-BE49-F238E27FC236}">
                    <a16:creationId xmlns:a16="http://schemas.microsoft.com/office/drawing/2014/main" id="{688E9672-7B9D-DC6E-C59E-1FFCB0A46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1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9" name="Group 155">
                <a:extLst>
                  <a:ext uri="{FF2B5EF4-FFF2-40B4-BE49-F238E27FC236}">
                    <a16:creationId xmlns:a16="http://schemas.microsoft.com/office/drawing/2014/main" id="{47C80C88-5C33-7FCF-3C79-B402FC19E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372"/>
                <a:chOff x="1168" y="1293"/>
                <a:chExt cx="3189" cy="608"/>
              </a:xfrm>
            </p:grpSpPr>
            <p:grpSp>
              <p:nvGrpSpPr>
                <p:cNvPr id="21" name="Group 5">
                  <a:extLst>
                    <a:ext uri="{FF2B5EF4-FFF2-40B4-BE49-F238E27FC236}">
                      <a16:creationId xmlns:a16="http://schemas.microsoft.com/office/drawing/2014/main" id="{2630C6D3-0B62-8A69-072C-C1BEAB88F4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60" name="Rectangle 6">
                    <a:extLst>
                      <a:ext uri="{FF2B5EF4-FFF2-40B4-BE49-F238E27FC236}">
                        <a16:creationId xmlns:a16="http://schemas.microsoft.com/office/drawing/2014/main" id="{E7C6BFC2-ECAF-C8B6-6120-0C4E8B4DA1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100" b="1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72" name="Group 7">
                    <a:extLst>
                      <a:ext uri="{FF2B5EF4-FFF2-40B4-BE49-F238E27FC236}">
                        <a16:creationId xmlns:a16="http://schemas.microsoft.com/office/drawing/2014/main" id="{952F5797-75F5-3C25-B4AA-2915B6C7091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13" name="Line 9">
                      <a:extLst>
                        <a:ext uri="{FF2B5EF4-FFF2-40B4-BE49-F238E27FC236}">
                          <a16:creationId xmlns:a16="http://schemas.microsoft.com/office/drawing/2014/main" id="{A955F0F5-A21E-48BA-C2B4-97138E67B08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14" name="Line 10">
                      <a:extLst>
                        <a:ext uri="{FF2B5EF4-FFF2-40B4-BE49-F238E27FC236}">
                          <a16:creationId xmlns:a16="http://schemas.microsoft.com/office/drawing/2014/main" id="{92F44EA6-1DE4-F479-1D7A-391F77B1180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5" name="Line 11">
                      <a:extLst>
                        <a:ext uri="{FF2B5EF4-FFF2-40B4-BE49-F238E27FC236}">
                          <a16:creationId xmlns:a16="http://schemas.microsoft.com/office/drawing/2014/main" id="{B31BA30B-599E-6C49-BC70-2FEC0D9B0F8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6" name="Line 12">
                      <a:extLst>
                        <a:ext uri="{FF2B5EF4-FFF2-40B4-BE49-F238E27FC236}">
                          <a16:creationId xmlns:a16="http://schemas.microsoft.com/office/drawing/2014/main" id="{AC6D4D5A-AB81-8CAC-8C0C-CEDD27D4C3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7" name="Line 13">
                      <a:extLst>
                        <a:ext uri="{FF2B5EF4-FFF2-40B4-BE49-F238E27FC236}">
                          <a16:creationId xmlns:a16="http://schemas.microsoft.com/office/drawing/2014/main" id="{8C9A6909-C9F6-2CF1-5E7D-352366F0C66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8" name="Line 14">
                      <a:extLst>
                        <a:ext uri="{FF2B5EF4-FFF2-40B4-BE49-F238E27FC236}">
                          <a16:creationId xmlns:a16="http://schemas.microsoft.com/office/drawing/2014/main" id="{8F1C683A-5C61-F936-3B33-523C40AE3D0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9" name="Line 15">
                      <a:extLst>
                        <a:ext uri="{FF2B5EF4-FFF2-40B4-BE49-F238E27FC236}">
                          <a16:creationId xmlns:a16="http://schemas.microsoft.com/office/drawing/2014/main" id="{41D600A5-8832-2465-4B2C-BD336A6DC5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0" name="Line 16">
                      <a:extLst>
                        <a:ext uri="{FF2B5EF4-FFF2-40B4-BE49-F238E27FC236}">
                          <a16:creationId xmlns:a16="http://schemas.microsoft.com/office/drawing/2014/main" id="{649EB862-615F-D7F2-FD68-DA7150504B2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1" name="Line 17">
                      <a:extLst>
                        <a:ext uri="{FF2B5EF4-FFF2-40B4-BE49-F238E27FC236}">
                          <a16:creationId xmlns:a16="http://schemas.microsoft.com/office/drawing/2014/main" id="{D76F4342-9261-478A-6959-6617B3948EF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8" name="Line 18">
                      <a:extLst>
                        <a:ext uri="{FF2B5EF4-FFF2-40B4-BE49-F238E27FC236}">
                          <a16:creationId xmlns:a16="http://schemas.microsoft.com/office/drawing/2014/main" id="{76F95C1F-C353-687A-2B3C-91F8F563C9E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09" name="Line 19">
                      <a:extLst>
                        <a:ext uri="{FF2B5EF4-FFF2-40B4-BE49-F238E27FC236}">
                          <a16:creationId xmlns:a16="http://schemas.microsoft.com/office/drawing/2014/main" id="{9708117F-330C-8C47-F6CF-31B41C8626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0" name="Line 20">
                      <a:extLst>
                        <a:ext uri="{FF2B5EF4-FFF2-40B4-BE49-F238E27FC236}">
                          <a16:creationId xmlns:a16="http://schemas.microsoft.com/office/drawing/2014/main" id="{52CF00AB-4453-7C53-0366-5FC7226AD7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3" name="Line 21">
                      <a:extLst>
                        <a:ext uri="{FF2B5EF4-FFF2-40B4-BE49-F238E27FC236}">
                          <a16:creationId xmlns:a16="http://schemas.microsoft.com/office/drawing/2014/main" id="{3CDA3E3C-C101-1BA4-BE1F-53F0CD63031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4" name="Line 22">
                      <a:extLst>
                        <a:ext uri="{FF2B5EF4-FFF2-40B4-BE49-F238E27FC236}">
                          <a16:creationId xmlns:a16="http://schemas.microsoft.com/office/drawing/2014/main" id="{B54DED06-FFD8-0B1A-D83A-AD1C4FAB2F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5" name="Line 23">
                      <a:extLst>
                        <a:ext uri="{FF2B5EF4-FFF2-40B4-BE49-F238E27FC236}">
                          <a16:creationId xmlns:a16="http://schemas.microsoft.com/office/drawing/2014/main" id="{830D0B63-1FE2-E238-68F6-E78D2EC48D7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6" name="Line 24">
                      <a:extLst>
                        <a:ext uri="{FF2B5EF4-FFF2-40B4-BE49-F238E27FC236}">
                          <a16:creationId xmlns:a16="http://schemas.microsoft.com/office/drawing/2014/main" id="{A3371464-D8D3-12C9-DD92-EECA6B6453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7" name="Line 25">
                      <a:extLst>
                        <a:ext uri="{FF2B5EF4-FFF2-40B4-BE49-F238E27FC236}">
                          <a16:creationId xmlns:a16="http://schemas.microsoft.com/office/drawing/2014/main" id="{F741860E-4BAF-31FF-E2C0-4CE04DA02B3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8" name="Line 26">
                      <a:extLst>
                        <a:ext uri="{FF2B5EF4-FFF2-40B4-BE49-F238E27FC236}">
                          <a16:creationId xmlns:a16="http://schemas.microsoft.com/office/drawing/2014/main" id="{BE05E648-47F7-A1EB-F9E7-E469B9FBD51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19" name="Line 27">
                      <a:extLst>
                        <a:ext uri="{FF2B5EF4-FFF2-40B4-BE49-F238E27FC236}">
                          <a16:creationId xmlns:a16="http://schemas.microsoft.com/office/drawing/2014/main" id="{FAC73AD8-A524-8A6C-3CE8-8D3126EC63B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21" name="Line 28">
                      <a:extLst>
                        <a:ext uri="{FF2B5EF4-FFF2-40B4-BE49-F238E27FC236}">
                          <a16:creationId xmlns:a16="http://schemas.microsoft.com/office/drawing/2014/main" id="{0864323C-4159-2FBA-19EC-065D862CF8B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22" name="Line 29">
                      <a:extLst>
                        <a:ext uri="{FF2B5EF4-FFF2-40B4-BE49-F238E27FC236}">
                          <a16:creationId xmlns:a16="http://schemas.microsoft.com/office/drawing/2014/main" id="{B3DEF54F-AFE9-986D-497B-8C05C06749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38" name="Line 30">
                      <a:extLst>
                        <a:ext uri="{FF2B5EF4-FFF2-40B4-BE49-F238E27FC236}">
                          <a16:creationId xmlns:a16="http://schemas.microsoft.com/office/drawing/2014/main" id="{1B281135-02EC-A3D3-7BF8-233D375F71A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39" name="Line 31">
                      <a:extLst>
                        <a:ext uri="{FF2B5EF4-FFF2-40B4-BE49-F238E27FC236}">
                          <a16:creationId xmlns:a16="http://schemas.microsoft.com/office/drawing/2014/main" id="{5DD60838-0C79-3BC1-161C-0A4A92751C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40" name="Line 32">
                      <a:extLst>
                        <a:ext uri="{FF2B5EF4-FFF2-40B4-BE49-F238E27FC236}">
                          <a16:creationId xmlns:a16="http://schemas.microsoft.com/office/drawing/2014/main" id="{E89B1865-4A5B-3541-7714-467DBE4377D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41" name="Line 33">
                      <a:extLst>
                        <a:ext uri="{FF2B5EF4-FFF2-40B4-BE49-F238E27FC236}">
                          <a16:creationId xmlns:a16="http://schemas.microsoft.com/office/drawing/2014/main" id="{7B1A6217-3A9B-6758-A395-65378BF63D3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42" name="Line 34">
                      <a:extLst>
                        <a:ext uri="{FF2B5EF4-FFF2-40B4-BE49-F238E27FC236}">
                          <a16:creationId xmlns:a16="http://schemas.microsoft.com/office/drawing/2014/main" id="{0B0E93E6-28FC-FF96-E4D3-3FAFF3036D1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43" name="Line 35">
                      <a:extLst>
                        <a:ext uri="{FF2B5EF4-FFF2-40B4-BE49-F238E27FC236}">
                          <a16:creationId xmlns:a16="http://schemas.microsoft.com/office/drawing/2014/main" id="{A5D5D410-47AB-2FAD-A9AB-9A7B138D2CC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44" name="Line 36">
                      <a:extLst>
                        <a:ext uri="{FF2B5EF4-FFF2-40B4-BE49-F238E27FC236}">
                          <a16:creationId xmlns:a16="http://schemas.microsoft.com/office/drawing/2014/main" id="{D9C956D7-8952-EE8C-5D50-D4950732D2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45" name="Line 37">
                      <a:extLst>
                        <a:ext uri="{FF2B5EF4-FFF2-40B4-BE49-F238E27FC236}">
                          <a16:creationId xmlns:a16="http://schemas.microsoft.com/office/drawing/2014/main" id="{B3DA5567-B694-72A1-4993-22184D9548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246" name="Line 38">
                      <a:extLst>
                        <a:ext uri="{FF2B5EF4-FFF2-40B4-BE49-F238E27FC236}">
                          <a16:creationId xmlns:a16="http://schemas.microsoft.com/office/drawing/2014/main" id="{B93C0090-BAA9-CA6A-FAE4-64100442F49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10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22" name="Line 39">
                  <a:extLst>
                    <a:ext uri="{FF2B5EF4-FFF2-40B4-BE49-F238E27FC236}">
                      <a16:creationId xmlns:a16="http://schemas.microsoft.com/office/drawing/2014/main" id="{FD7F4460-9BEC-B8DE-50D3-5D33D4BCD4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3" name="Text Box 40">
                  <a:extLst>
                    <a:ext uri="{FF2B5EF4-FFF2-40B4-BE49-F238E27FC236}">
                      <a16:creationId xmlns:a16="http://schemas.microsoft.com/office/drawing/2014/main" id="{AA0CD3EF-0E74-04DA-CEE9-BC57AA5EFE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4" name="Text Box 41">
                  <a:extLst>
                    <a:ext uri="{FF2B5EF4-FFF2-40B4-BE49-F238E27FC236}">
                      <a16:creationId xmlns:a16="http://schemas.microsoft.com/office/drawing/2014/main" id="{5EF3EAAC-F5D1-9396-4848-B08ABB922E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5" name="Line 42">
                  <a:extLst>
                    <a:ext uri="{FF2B5EF4-FFF2-40B4-BE49-F238E27FC236}">
                      <a16:creationId xmlns:a16="http://schemas.microsoft.com/office/drawing/2014/main" id="{2BA6AAEA-D694-B71A-9D51-FAF34CA38D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6" name="Line 43">
                  <a:extLst>
                    <a:ext uri="{FF2B5EF4-FFF2-40B4-BE49-F238E27FC236}">
                      <a16:creationId xmlns:a16="http://schemas.microsoft.com/office/drawing/2014/main" id="{87B6694F-4280-A33E-D5C9-50A58F6FE1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7" name="Line 44">
                  <a:extLst>
                    <a:ext uri="{FF2B5EF4-FFF2-40B4-BE49-F238E27FC236}">
                      <a16:creationId xmlns:a16="http://schemas.microsoft.com/office/drawing/2014/main" id="{683A51B0-98F6-1381-96F4-6AB99F8094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8" name="Text Box 45">
                  <a:extLst>
                    <a:ext uri="{FF2B5EF4-FFF2-40B4-BE49-F238E27FC236}">
                      <a16:creationId xmlns:a16="http://schemas.microsoft.com/office/drawing/2014/main" id="{F8BD43B5-90DF-BFE3-1ACD-5B86FDFF5A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9" name="Text Box 46">
                  <a:extLst>
                    <a:ext uri="{FF2B5EF4-FFF2-40B4-BE49-F238E27FC236}">
                      <a16:creationId xmlns:a16="http://schemas.microsoft.com/office/drawing/2014/main" id="{D8604156-D5E7-EA5C-FE08-B500C9030D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0" name="Text Box 47">
                  <a:extLst>
                    <a:ext uri="{FF2B5EF4-FFF2-40B4-BE49-F238E27FC236}">
                      <a16:creationId xmlns:a16="http://schemas.microsoft.com/office/drawing/2014/main" id="{B51A260B-069E-45C7-5159-B45F43D083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ca-ES" sz="11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1" name="Text Box 48">
                  <a:extLst>
                    <a:ext uri="{FF2B5EF4-FFF2-40B4-BE49-F238E27FC236}">
                      <a16:creationId xmlns:a16="http://schemas.microsoft.com/office/drawing/2014/main" id="{F2C82DED-2B2C-3F67-CFD8-0738816008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7" name="Text Box 49">
                  <a:extLst>
                    <a:ext uri="{FF2B5EF4-FFF2-40B4-BE49-F238E27FC236}">
                      <a16:creationId xmlns:a16="http://schemas.microsoft.com/office/drawing/2014/main" id="{1F301318-4970-398B-B4BA-F0C866C9D5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6" y="1608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9" name="Text Box 50">
                  <a:extLst>
                    <a:ext uri="{FF2B5EF4-FFF2-40B4-BE49-F238E27FC236}">
                      <a16:creationId xmlns:a16="http://schemas.microsoft.com/office/drawing/2014/main" id="{4AF92105-EE5E-922B-F5DD-901671EDC2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9" y="1610"/>
                  <a:ext cx="250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0 9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2" name="Text Box 51">
                  <a:extLst>
                    <a:ext uri="{FF2B5EF4-FFF2-40B4-BE49-F238E27FC236}">
                      <a16:creationId xmlns:a16="http://schemas.microsoft.com/office/drawing/2014/main" id="{C02AB9BA-629F-FD0D-92EC-B38D77828A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1" y="1610"/>
                  <a:ext cx="250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5 4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3" name="Text Box 52">
                  <a:extLst>
                    <a:ext uri="{FF2B5EF4-FFF2-40B4-BE49-F238E27FC236}">
                      <a16:creationId xmlns:a16="http://schemas.microsoft.com/office/drawing/2014/main" id="{D9C7618A-3CD1-B63B-18BA-247B19B244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7 6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4" name="Text Box 53">
                  <a:extLst>
                    <a:ext uri="{FF2B5EF4-FFF2-40B4-BE49-F238E27FC236}">
                      <a16:creationId xmlns:a16="http://schemas.microsoft.com/office/drawing/2014/main" id="{8555EA76-4926-9275-B25C-E2D03E98FF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7" name="Line 153">
                  <a:extLst>
                    <a:ext uri="{FF2B5EF4-FFF2-40B4-BE49-F238E27FC236}">
                      <a16:creationId xmlns:a16="http://schemas.microsoft.com/office/drawing/2014/main" id="{69B5ACC7-EFF2-1167-06B5-E0F2EA9CBC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8" name="Text Box 154">
                  <a:extLst>
                    <a:ext uri="{FF2B5EF4-FFF2-40B4-BE49-F238E27FC236}">
                      <a16:creationId xmlns:a16="http://schemas.microsoft.com/office/drawing/2014/main" id="{ABAFF6C5-C960-257D-5D30-6D8DECF9F6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29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100" b="1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2 1</a:t>
                  </a:r>
                  <a:endParaRPr lang="ca-ES" sz="1100" b="1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3" name="Text Box 41">
              <a:extLst>
                <a:ext uri="{FF2B5EF4-FFF2-40B4-BE49-F238E27FC236}">
                  <a16:creationId xmlns:a16="http://schemas.microsoft.com/office/drawing/2014/main" id="{1285B6A7-6FC9-46DB-55A0-FE3357A6B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6CDBAA07-26CF-F76A-A844-17A5EB5F5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61F1A987-2541-38BC-E9C0-76DC7D0912CF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37E4F170-1A2E-E199-08B3-C0676434147E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748A09BC-C603-FF79-EAAD-1C42F898895A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2ADB7D88-7B63-EAC0-AEB7-BBC6DA7C552A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2C3E48CE-A732-4BFE-52CA-F444D39A2F41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5C3DD549-3780-626B-FCD6-9CD35843723B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DB8162AA-ABB1-EEC0-F2D2-AB50006FEBDE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1949612A-0C81-B920-FCFE-B682D2A0A89C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0A727866-3161-74B5-8AED-13FDD076A7AE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0E278C9D-74DF-4E43-8181-EADB5FBAB5CE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E20B7214-21C1-59A9-6696-97DB40009221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EB64A409-68E7-D30C-83AE-BF9482B004B8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E49629EB-A470-B190-3B62-915B65CCFCCB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50CAA7B7-2A01-DCF7-5DEC-AD5602ACB827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BA11D558-82DF-FAA7-3424-C63BF1D21B88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7B4C971B-F889-CC54-2BD6-856B33A843BF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D7109709-D389-C8F0-7908-566C83923C76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4" name="Conector recto 313">
            <a:extLst>
              <a:ext uri="{FF2B5EF4-FFF2-40B4-BE49-F238E27FC236}">
                <a16:creationId xmlns:a16="http://schemas.microsoft.com/office/drawing/2014/main" id="{B45BD027-76B0-5937-E5D4-C818B089547F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9AF5B893-89B4-BD95-FB02-5B89AC47D262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19D07CC0-9B19-8230-3CB2-50AD665BC2FA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2A798643-8396-8096-02E3-EEAEB4664980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A8FAB6E0-0861-7FC3-57AB-3DF793E124C2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9F801C70-45EE-52C8-FAF7-4DB448C67536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72DF9C9F-B98F-8D3A-1D23-70F3BE63265E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PCin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5E8C0619-3D22-36D8-F9B0-E3A70DFA1D49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36EE4AE3-AF38-FF30-2C2B-2BFE829C9FD3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7727A573-DBFE-657D-6208-085C4F559E67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F18D8966-3118-59C3-20D8-EF77E3C040EF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DEAA090C-2478-7F4C-FE84-6E9F016E5D89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48B0E594-5798-DB93-6BF6-4A1BB76A10F0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B1493FF9-B304-FC01-6F58-B0A52F1B68EC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908190"/>
            <a:ext cx="7781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BF343A98-C0C3-352E-DF81-906D1777F5F3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3EFDEF66-C632-9F95-8F3B-24888D5357FA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C5E8EDC0-0753-52B8-24EF-289FB05EBCDB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5387BA18-EE08-0323-56B2-537726A24709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6C7D67E1-A29A-7E9A-B392-2CF080CB26D2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8D4801B4-999C-F393-A13F-488F7BA2F674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86E71B17-8E50-807F-03B6-E13013B967FF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E7575572-3145-0CBE-9257-3E74A0C3BF71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9C910C7E-81AE-4966-6475-BF8354593F00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A9EE4FB3-E4C1-2F17-259A-32E5FB48CB1B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7A855430-D8C3-5C40-6FD8-1A7922D68882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BA662FED-6298-03CC-D154-16CE8EED242E}"/>
              </a:ext>
            </a:extLst>
          </p:cNvPr>
          <p:cNvCxnSpPr>
            <a:cxnSpLocks/>
          </p:cNvCxnSpPr>
          <p:nvPr/>
        </p:nvCxnSpPr>
        <p:spPr bwMode="auto">
          <a:xfrm>
            <a:off x="6919354" y="3757848"/>
            <a:ext cx="1388742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72267D39-17E9-6073-BF91-417FFA3F1DE1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FD7B76DB-6BB3-EF14-0752-2223F3F9A888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DD33EE0B-BC3C-C57B-C649-05121C36BDEA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6E77A47A-EDF3-501F-5CF0-3E7BD5901B2B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F490FC4F-3B86-7C6E-BC38-CA59765ECDD2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DED5D26E-1277-C1ED-4178-72870EA4D607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3C830575-254B-3224-A9C4-5DF4F82F9AC6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067261FE-D31A-AE1A-0EE0-A49BF0EBD7A1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6880C9AB-ED3F-238B-9685-7E7452E6DC6B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D283B0A9-1E36-88A0-8879-956D6EEF168E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1F25A87F-D263-BFF2-E7C2-F91787AFC743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8B575961-EA10-2811-C2B8-FA8467C561C3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2D56583D-5B74-DB53-1EA7-47A59BF40B7C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B0DDCA47-E430-E357-8E71-ADD6888FDB15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46B7309F-1576-5E24-0502-89C2BCB9CFDC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FF932195-6662-E1D0-4D4E-83ECFCD1DFAB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89BD2A28-6D51-3FC1-A818-550F11F98923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4C19FC43-2B43-BF3E-5B7E-7F779A6E5025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AB039DB1-0819-82B5-CACE-EE5A7AA71CE9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0D9EA66F-A3B0-4806-B4E3-8AC611E4C2BF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BCF1FEEB-305D-C9FF-A270-61ADDDD91605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AEBC1293-A267-6B4C-46A8-A04A1534BD1F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B1391A8B-34D3-8733-8A20-327CE21960AE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MxER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21F7C00B-B73B-AC5A-CB18-CF343839DEAC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B5EACEA8-FB38-F36C-0C1F-24A3F95C65A8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0D987AC5-0DCF-B869-3A1B-0109B2F3AE54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BF47F161-95C1-E0EE-6068-A5036C400555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3114A93E-96E0-FD80-C848-38C1EDB0669E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0A79EF83-8868-F887-5CC4-B1F6FF7934A6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7F8F4C09-7C20-D082-84A7-36640A3E15C0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0B734829-C076-99BF-B950-010518205369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84F5043F-56DC-A0A2-A93A-249E1C5D0AC2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BBABB521-DD0D-6C4B-0DEA-317E8AE6966E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MxPC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C33FF914-AAE5-AE06-2692-0CD21E7B06DD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E8F41526-34A3-6F5A-B413-2B21891C0A2A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131EC214-5964-50E9-358A-967EF0D150F8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D885787F-83D1-2258-E80E-0E99DD9B15FD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21718BE5-F2F9-B147-96F2-04526A3E0CCB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7FA9FC56-ED6F-E50A-9D5E-044B2492B4D8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2FBCF01A-6590-5B00-A574-7442856CBF1F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52AEC141-6CA5-138D-AC25-780F16721FDC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1F271815-3C40-56AE-0610-A4225C3355BF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CD1241C3-A817-9401-58F3-61206662FFED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47845CE6-CC8B-77BD-07FE-9842C3486AE1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>
                <a:solidFill>
                  <a:schemeClr val="accent1">
                    <a:lumMod val="75000"/>
                  </a:schemeClr>
                </a:solidFill>
              </a:rPr>
              <a:t>11..7 (rd)</a:t>
            </a:r>
            <a:endParaRPr lang="es-ES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931CD58-D28B-3782-060D-CC5261876E21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D5991B3F-0471-8DF7-3CB3-8FCF55A7CD82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A2DA9769-BFE9-151D-DC80-EECC606573ED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118B1B1B-2BA1-D433-5667-6F17238E9CBB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97AA683D-8F0C-C67E-458E-4490CB606B11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97EECA6E-3011-D38B-B46C-865A5BC99C80}"/>
              </a:ext>
            </a:extLst>
          </p:cNvPr>
          <p:cNvSpPr txBox="1"/>
          <p:nvPr/>
        </p:nvSpPr>
        <p:spPr>
          <a:xfrm>
            <a:off x="3851920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TipoInst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4D658710-3208-C4D3-8565-CC3C2DA2CC0C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0D21B482-5155-02C4-D2DB-39A11C8892DF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84D2E395-C0C7-2F58-82CA-9668BEDB9B1D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D8FE7501-0FE1-15C5-D584-04B37CE3F42E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F80EFD77-357D-E681-9333-FC66FC6D53B3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B8F47DB1-A42F-C025-85CD-73313B1DFD46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5DDFDC02-5DED-00FD-8CD8-5CA8B96F75D0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235805CF-71A3-D6D9-29A4-2A06592F35EF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F04D063A-1554-EFE9-A2A6-F504B0A9AE2A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FE488C90-47B6-1E62-9E44-754ED1BD85F0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FF0011DD-E3A7-5C31-5BFE-A90A2CF49D93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>
            <a:off x="5760764" y="3937414"/>
            <a:ext cx="221963" cy="182045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A237358F-FA2C-A391-A9E3-D94ABFD45519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5" name="Conector recto de flecha 197">
            <a:extLst>
              <a:ext uri="{FF2B5EF4-FFF2-40B4-BE49-F238E27FC236}">
                <a16:creationId xmlns:a16="http://schemas.microsoft.com/office/drawing/2014/main" id="{5A00E579-26D9-FF81-9ADB-8F818A690519}"/>
              </a:ext>
            </a:extLst>
          </p:cNvPr>
          <p:cNvCxnSpPr>
            <a:cxnSpLocks/>
            <a:endCxn id="354" idx="2"/>
          </p:cNvCxnSpPr>
          <p:nvPr/>
        </p:nvCxnSpPr>
        <p:spPr bwMode="auto">
          <a:xfrm>
            <a:off x="8325016" y="3757056"/>
            <a:ext cx="228414" cy="168013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72A694C5-0DE9-2011-E414-1DEAC88B167E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4" name="Rectángulo 413">
            <a:extLst>
              <a:ext uri="{FF2B5EF4-FFF2-40B4-BE49-F238E27FC236}">
                <a16:creationId xmlns:a16="http://schemas.microsoft.com/office/drawing/2014/main" id="{720AC11F-5259-A381-B114-71D46144A25C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Señales de control:  Aritméticas y lógicas tipo R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70</a:t>
            </a:fld>
            <a:endParaRPr lang="es-ES_tradnl" noProof="1"/>
          </a:p>
        </p:txBody>
      </p:sp>
      <p:sp>
        <p:nvSpPr>
          <p:cNvPr id="7" name="CuadroTexto 6"/>
          <p:cNvSpPr txBox="1"/>
          <p:nvPr/>
        </p:nvSpPr>
        <p:spPr>
          <a:xfrm>
            <a:off x="2448018" y="2708920"/>
            <a:ext cx="903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Entradas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5716300" y="2708920"/>
            <a:ext cx="77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Salidas</a:t>
            </a:r>
          </a:p>
        </p:txBody>
      </p:sp>
      <p:graphicFrame>
        <p:nvGraphicFramePr>
          <p:cNvPr id="26" name="Marcador de contenido 5">
            <a:extLst>
              <a:ext uri="{FF2B5EF4-FFF2-40B4-BE49-F238E27FC236}">
                <a16:creationId xmlns:a16="http://schemas.microsoft.com/office/drawing/2014/main" id="{D4D42079-A44B-E0C3-18CA-70EA957AE2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8754873"/>
              </p:ext>
            </p:extLst>
          </p:nvPr>
        </p:nvGraphicFramePr>
        <p:xfrm>
          <a:off x="164528" y="895952"/>
          <a:ext cx="894397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1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5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05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4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34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335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5989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Reg. </a:t>
                      </a:r>
                    </a:p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Mem.</a:t>
                      </a:r>
                    </a:p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Instr.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Banco</a:t>
                      </a:r>
                      <a:r>
                        <a:rPr lang="es-ES" sz="1100" baseline="0" noProof="0">
                          <a:latin typeface="Arial Narrow"/>
                          <a:cs typeface="Arial Narrow"/>
                        </a:rPr>
                        <a:t> Registros</a:t>
                      </a:r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Mem.</a:t>
                      </a:r>
                    </a:p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PCin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LInst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LReg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sub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and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or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CuadroTexto 27">
            <a:extLst>
              <a:ext uri="{FF2B5EF4-FFF2-40B4-BE49-F238E27FC236}">
                <a16:creationId xmlns:a16="http://schemas.microsoft.com/office/drawing/2014/main" id="{8E228034-6F21-C42B-9821-8E347ED4A4CF}"/>
              </a:ext>
            </a:extLst>
          </p:cNvPr>
          <p:cNvSpPr txBox="1"/>
          <p:nvPr/>
        </p:nvSpPr>
        <p:spPr>
          <a:xfrm>
            <a:off x="1847713" y="3819168"/>
            <a:ext cx="901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Entradas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0779A23-29C0-3E2B-F3BE-ECF6F934B439}"/>
              </a:ext>
            </a:extLst>
          </p:cNvPr>
          <p:cNvSpPr txBox="1"/>
          <p:nvPr/>
        </p:nvSpPr>
        <p:spPr>
          <a:xfrm>
            <a:off x="5479303" y="3797920"/>
            <a:ext cx="771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Salidas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Flecha arriba 10">
            <a:extLst>
              <a:ext uri="{FF2B5EF4-FFF2-40B4-BE49-F238E27FC236}">
                <a16:creationId xmlns:a16="http://schemas.microsoft.com/office/drawing/2014/main" id="{B4351B99-61BD-2A4E-F6E0-A122AFE89A2E}"/>
              </a:ext>
            </a:extLst>
          </p:cNvPr>
          <p:cNvSpPr/>
          <p:nvPr/>
        </p:nvSpPr>
        <p:spPr bwMode="auto">
          <a:xfrm>
            <a:off x="2985529" y="3709235"/>
            <a:ext cx="380215" cy="609600"/>
          </a:xfrm>
          <a:prstGeom prst="up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5D9E9F8-5AB2-9559-0C20-CE80D54B69A9}"/>
              </a:ext>
            </a:extLst>
          </p:cNvPr>
          <p:cNvSpPr txBox="1"/>
          <p:nvPr/>
        </p:nvSpPr>
        <p:spPr>
          <a:xfrm>
            <a:off x="3174668" y="4304012"/>
            <a:ext cx="1090614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Constantes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(también para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tipos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I, S, B,…)</a:t>
            </a:r>
          </a:p>
        </p:txBody>
      </p:sp>
      <p:sp>
        <p:nvSpPr>
          <p:cNvPr id="32" name="Flecha arriba 12">
            <a:extLst>
              <a:ext uri="{FF2B5EF4-FFF2-40B4-BE49-F238E27FC236}">
                <a16:creationId xmlns:a16="http://schemas.microsoft.com/office/drawing/2014/main" id="{A3CF3FF7-55D8-3F1A-6CE6-444F8A66EF17}"/>
              </a:ext>
            </a:extLst>
          </p:cNvPr>
          <p:cNvSpPr/>
          <p:nvPr/>
        </p:nvSpPr>
        <p:spPr bwMode="auto">
          <a:xfrm>
            <a:off x="3499167" y="3694412"/>
            <a:ext cx="380215" cy="609600"/>
          </a:xfrm>
          <a:prstGeom prst="up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lecha arriba 13">
            <a:extLst>
              <a:ext uri="{FF2B5EF4-FFF2-40B4-BE49-F238E27FC236}">
                <a16:creationId xmlns:a16="http://schemas.microsoft.com/office/drawing/2014/main" id="{A8E31A93-62DC-A025-A507-B902FB93AB33}"/>
              </a:ext>
            </a:extLst>
          </p:cNvPr>
          <p:cNvSpPr/>
          <p:nvPr/>
        </p:nvSpPr>
        <p:spPr bwMode="auto">
          <a:xfrm>
            <a:off x="4008480" y="3694412"/>
            <a:ext cx="380215" cy="609600"/>
          </a:xfrm>
          <a:prstGeom prst="up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brir llave 7">
            <a:extLst>
              <a:ext uri="{FF2B5EF4-FFF2-40B4-BE49-F238E27FC236}">
                <a16:creationId xmlns:a16="http://schemas.microsoft.com/office/drawing/2014/main" id="{2C505CE5-0619-A8C0-EA90-70816791D142}"/>
              </a:ext>
            </a:extLst>
          </p:cNvPr>
          <p:cNvSpPr/>
          <p:nvPr/>
        </p:nvSpPr>
        <p:spPr bwMode="auto">
          <a:xfrm rot="16200000">
            <a:off x="2127063" y="3063707"/>
            <a:ext cx="285748" cy="1225174"/>
          </a:xfrm>
          <a:prstGeom prst="leftBrace">
            <a:avLst>
              <a:gd name="adj1" fmla="val 12112"/>
              <a:gd name="adj2" fmla="val 50000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brir llave 9">
            <a:extLst>
              <a:ext uri="{FF2B5EF4-FFF2-40B4-BE49-F238E27FC236}">
                <a16:creationId xmlns:a16="http://schemas.microsoft.com/office/drawing/2014/main" id="{ADC07550-CEC8-52F6-E3DB-C9A1E481AE8A}"/>
              </a:ext>
            </a:extLst>
          </p:cNvPr>
          <p:cNvSpPr/>
          <p:nvPr/>
        </p:nvSpPr>
        <p:spPr bwMode="auto">
          <a:xfrm rot="16200000">
            <a:off x="5770376" y="624469"/>
            <a:ext cx="285749" cy="6061452"/>
          </a:xfrm>
          <a:prstGeom prst="leftBrace">
            <a:avLst>
              <a:gd name="adj1" fmla="val 8333"/>
              <a:gd name="adj2" fmla="val 49200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168">
            <a:extLst>
              <a:ext uri="{FF2B5EF4-FFF2-40B4-BE49-F238E27FC236}">
                <a16:creationId xmlns:a16="http://schemas.microsoft.com/office/drawing/2014/main" id="{2CBB89AF-7AB4-75DB-A90B-FAA7B685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1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1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000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noProof="1">
                <a:latin typeface="Calibri" pitchFamily="-103" charset="0"/>
              </a:rPr>
              <a:t>001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1">
                <a:latin typeface="Calibri" pitchFamily="-103" charset="0"/>
              </a:rPr>
              <a:t> b (or)</a:t>
            </a:r>
          </a:p>
          <a:p>
            <a:pPr algn="l"/>
            <a:r>
              <a:rPr lang="es-ES_tradnl" sz="1200" noProof="1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110	a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i="1" noProof="1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sp>
        <p:nvSpPr>
          <p:cNvPr id="3" name="Llamada rectangular redondeada 2">
            <a:extLst>
              <a:ext uri="{FF2B5EF4-FFF2-40B4-BE49-F238E27FC236}">
                <a16:creationId xmlns:a16="http://schemas.microsoft.com/office/drawing/2014/main" id="{88715196-CC3C-947D-A7D6-BDE97C5B10A3}"/>
              </a:ext>
            </a:extLst>
          </p:cNvPr>
          <p:cNvSpPr/>
          <p:nvPr/>
        </p:nvSpPr>
        <p:spPr bwMode="auto">
          <a:xfrm>
            <a:off x="1403648" y="5695528"/>
            <a:ext cx="2514600" cy="685800"/>
          </a:xfrm>
          <a:prstGeom prst="wedgeRoundRectCallout">
            <a:avLst>
              <a:gd name="adj1" fmla="val 38114"/>
              <a:gd name="adj2" fmla="val -108462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1">
                <a:solidFill>
                  <a:schemeClr val="tx1"/>
                </a:solidFill>
              </a:rPr>
              <a:t>Las omitimos a partir de ahora</a:t>
            </a:r>
          </a:p>
        </p:txBody>
      </p:sp>
    </p:spTree>
    <p:extLst>
      <p:ext uri="{BB962C8B-B14F-4D97-AF65-F5344CB8AC3E}">
        <p14:creationId xmlns:p14="http://schemas.microsoft.com/office/powerpoint/2010/main" val="2107012625"/>
      </p:ext>
    </p:extLst>
  </p:cSld>
  <p:clrMapOvr>
    <a:masterClrMapping/>
  </p:clrMapOvr>
  <p:transition/>
  <p:extLst>
    <p:ext uri="{6950BFC3-D8DA-4A85-94F7-54DA5524770B}">
      <p188:commentRel xmlns:p188="http://schemas.microsoft.com/office/powerpoint/2018/8/main" r:id="rId2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1C21-0B15-FF74-AD8E-E15495A2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58EAF96D-A55A-FD1D-5BD8-78E92F78777A}"/>
              </a:ext>
            </a:extLst>
          </p:cNvPr>
          <p:cNvGrpSpPr/>
          <p:nvPr/>
        </p:nvGrpSpPr>
        <p:grpSpPr>
          <a:xfrm>
            <a:off x="4913849" y="65372"/>
            <a:ext cx="4184535" cy="915356"/>
            <a:chOff x="5564455" y="4243453"/>
            <a:chExt cx="3387406" cy="878363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3DD34B4-6489-485A-6C09-AD6073718ED8}"/>
                </a:ext>
              </a:extLst>
            </p:cNvPr>
            <p:cNvGrpSpPr/>
            <p:nvPr/>
          </p:nvGrpSpPr>
          <p:grpSpPr>
            <a:xfrm>
              <a:off x="5564455" y="4243453"/>
              <a:ext cx="3387406" cy="878363"/>
              <a:chOff x="5474422" y="4834674"/>
              <a:chExt cx="3361057" cy="1043057"/>
            </a:xfrm>
          </p:grpSpPr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6D8CEF8C-CB64-EDD0-6984-1F167919B6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4422" y="4834674"/>
                <a:ext cx="3361057" cy="1043057"/>
                <a:chOff x="143" y="668"/>
                <a:chExt cx="2557" cy="624"/>
              </a:xfrm>
            </p:grpSpPr>
            <p:sp>
              <p:nvSpPr>
                <p:cNvPr id="15" name="Rectangle 10">
                  <a:extLst>
                    <a:ext uri="{FF2B5EF4-FFF2-40B4-BE49-F238E27FC236}">
                      <a16:creationId xmlns:a16="http://schemas.microsoft.com/office/drawing/2014/main" id="{6DA755DF-74A0-8569-B3AD-A8AEA156AF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" y="668"/>
                  <a:ext cx="2544" cy="5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6" name="Group 155">
                  <a:extLst>
                    <a:ext uri="{FF2B5EF4-FFF2-40B4-BE49-F238E27FC236}">
                      <a16:creationId xmlns:a16="http://schemas.microsoft.com/office/drawing/2014/main" id="{D68C0A66-A33B-F786-75D0-9601774E73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39"/>
                  <a:ext cx="2519" cy="553"/>
                  <a:chOff x="1168" y="1244"/>
                  <a:chExt cx="3246" cy="904"/>
                </a:xfrm>
              </p:grpSpPr>
              <p:sp>
                <p:nvSpPr>
                  <p:cNvPr id="18" name="Text Box 154">
                    <a:extLst>
                      <a:ext uri="{FF2B5EF4-FFF2-40B4-BE49-F238E27FC236}">
                        <a16:creationId xmlns:a16="http://schemas.microsoft.com/office/drawing/2014/main" id="{50CADF29-3AE7-2F89-E3A5-EB2E492DD54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grpSp>
                <p:nvGrpSpPr>
                  <p:cNvPr id="20" name="Group 5">
                    <a:extLst>
                      <a:ext uri="{FF2B5EF4-FFF2-40B4-BE49-F238E27FC236}">
                        <a16:creationId xmlns:a16="http://schemas.microsoft.com/office/drawing/2014/main" id="{702827CC-AB87-D857-A47D-B39EBB02E38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44"/>
                    <a:ext cx="3050" cy="423"/>
                    <a:chOff x="982" y="1234"/>
                    <a:chExt cx="3050" cy="423"/>
                  </a:xfrm>
                </p:grpSpPr>
                <p:sp>
                  <p:nvSpPr>
                    <p:cNvPr id="52" name="Rectangle 6">
                      <a:extLst>
                        <a:ext uri="{FF2B5EF4-FFF2-40B4-BE49-F238E27FC236}">
                          <a16:creationId xmlns:a16="http://schemas.microsoft.com/office/drawing/2014/main" id="{C9C147DD-31A1-9A8A-B8ED-B499BD08CA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1234"/>
                      <a:ext cx="3050" cy="423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53" name="Group 7">
                      <a:extLst>
                        <a:ext uri="{FF2B5EF4-FFF2-40B4-BE49-F238E27FC236}">
                          <a16:creationId xmlns:a16="http://schemas.microsoft.com/office/drawing/2014/main" id="{D6FA8473-6A29-9480-CC7A-1338AB57D99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54" name="Line 9">
                        <a:extLst>
                          <a:ext uri="{FF2B5EF4-FFF2-40B4-BE49-F238E27FC236}">
                            <a16:creationId xmlns:a16="http://schemas.microsoft.com/office/drawing/2014/main" id="{889C1C09-7420-91CA-A903-E5150F59D18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5" name="Line 10">
                        <a:extLst>
                          <a:ext uri="{FF2B5EF4-FFF2-40B4-BE49-F238E27FC236}">
                            <a16:creationId xmlns:a16="http://schemas.microsoft.com/office/drawing/2014/main" id="{47F8F07A-78B2-2AF6-E101-5B4AEB350A9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6" name="Line 11">
                        <a:extLst>
                          <a:ext uri="{FF2B5EF4-FFF2-40B4-BE49-F238E27FC236}">
                            <a16:creationId xmlns:a16="http://schemas.microsoft.com/office/drawing/2014/main" id="{826B4709-DDEC-69E9-BB44-55E390F4265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7" name="Line 12">
                        <a:extLst>
                          <a:ext uri="{FF2B5EF4-FFF2-40B4-BE49-F238E27FC236}">
                            <a16:creationId xmlns:a16="http://schemas.microsoft.com/office/drawing/2014/main" id="{D77319A9-52ED-F26F-3897-76B4276FAC1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8" name="Line 13">
                        <a:extLst>
                          <a:ext uri="{FF2B5EF4-FFF2-40B4-BE49-F238E27FC236}">
                            <a16:creationId xmlns:a16="http://schemas.microsoft.com/office/drawing/2014/main" id="{AE668CA7-7A72-EC6A-6486-0BCC5E8595D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14">
                        <a:extLst>
                          <a:ext uri="{FF2B5EF4-FFF2-40B4-BE49-F238E27FC236}">
                            <a16:creationId xmlns:a16="http://schemas.microsoft.com/office/drawing/2014/main" id="{1F632F62-653D-C4E9-88A6-FF4966F5C7F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1" name="Line 15">
                        <a:extLst>
                          <a:ext uri="{FF2B5EF4-FFF2-40B4-BE49-F238E27FC236}">
                            <a16:creationId xmlns:a16="http://schemas.microsoft.com/office/drawing/2014/main" id="{9248636C-3105-264A-86B2-B2540369ED6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2" name="Line 16">
                        <a:extLst>
                          <a:ext uri="{FF2B5EF4-FFF2-40B4-BE49-F238E27FC236}">
                            <a16:creationId xmlns:a16="http://schemas.microsoft.com/office/drawing/2014/main" id="{51CCF629-314A-012A-0A24-3140C2C67C3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3" name="Line 17">
                        <a:extLst>
                          <a:ext uri="{FF2B5EF4-FFF2-40B4-BE49-F238E27FC236}">
                            <a16:creationId xmlns:a16="http://schemas.microsoft.com/office/drawing/2014/main" id="{33F4FFE5-1F48-C85E-E475-865652C9F0D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4" name="Line 18">
                        <a:extLst>
                          <a:ext uri="{FF2B5EF4-FFF2-40B4-BE49-F238E27FC236}">
                            <a16:creationId xmlns:a16="http://schemas.microsoft.com/office/drawing/2014/main" id="{FB42D38D-D20F-558D-A9D7-C1F2D673B26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5" name="Line 19">
                        <a:extLst>
                          <a:ext uri="{FF2B5EF4-FFF2-40B4-BE49-F238E27FC236}">
                            <a16:creationId xmlns:a16="http://schemas.microsoft.com/office/drawing/2014/main" id="{428EA733-04FC-2938-5DC4-09AE38CA982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6" name="Line 20">
                        <a:extLst>
                          <a:ext uri="{FF2B5EF4-FFF2-40B4-BE49-F238E27FC236}">
                            <a16:creationId xmlns:a16="http://schemas.microsoft.com/office/drawing/2014/main" id="{312AFE6B-56AA-B344-13B3-BEA9C58A031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7" name="Line 21">
                        <a:extLst>
                          <a:ext uri="{FF2B5EF4-FFF2-40B4-BE49-F238E27FC236}">
                            <a16:creationId xmlns:a16="http://schemas.microsoft.com/office/drawing/2014/main" id="{15876417-F483-B9FD-13A6-EA307D50375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8" name="Line 22">
                        <a:extLst>
                          <a:ext uri="{FF2B5EF4-FFF2-40B4-BE49-F238E27FC236}">
                            <a16:creationId xmlns:a16="http://schemas.microsoft.com/office/drawing/2014/main" id="{D5A14259-823E-E795-13EB-64BF31F290B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9" name="Line 23">
                        <a:extLst>
                          <a:ext uri="{FF2B5EF4-FFF2-40B4-BE49-F238E27FC236}">
                            <a16:creationId xmlns:a16="http://schemas.microsoft.com/office/drawing/2014/main" id="{30DF3986-12E3-EE67-B4CB-ABD996CBA44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0" name="Line 24">
                        <a:extLst>
                          <a:ext uri="{FF2B5EF4-FFF2-40B4-BE49-F238E27FC236}">
                            <a16:creationId xmlns:a16="http://schemas.microsoft.com/office/drawing/2014/main" id="{A69CE90F-54E8-5D44-9090-16E4DF0111F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1" name="Line 25">
                        <a:extLst>
                          <a:ext uri="{FF2B5EF4-FFF2-40B4-BE49-F238E27FC236}">
                            <a16:creationId xmlns:a16="http://schemas.microsoft.com/office/drawing/2014/main" id="{EE3FE2DF-B604-77A7-DF0B-1A8E2D5C9CA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3" name="Line 26">
                        <a:extLst>
                          <a:ext uri="{FF2B5EF4-FFF2-40B4-BE49-F238E27FC236}">
                            <a16:creationId xmlns:a16="http://schemas.microsoft.com/office/drawing/2014/main" id="{B19D6BCF-BC62-5A50-01F9-CF582DCE5E0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4" name="Line 27">
                        <a:extLst>
                          <a:ext uri="{FF2B5EF4-FFF2-40B4-BE49-F238E27FC236}">
                            <a16:creationId xmlns:a16="http://schemas.microsoft.com/office/drawing/2014/main" id="{8175BB56-31D6-3C82-6967-966AFE9386B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5" name="Line 28">
                        <a:extLst>
                          <a:ext uri="{FF2B5EF4-FFF2-40B4-BE49-F238E27FC236}">
                            <a16:creationId xmlns:a16="http://schemas.microsoft.com/office/drawing/2014/main" id="{0D554571-A3DB-422D-7C8A-06BBB5A7C64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6" name="Line 29">
                        <a:extLst>
                          <a:ext uri="{FF2B5EF4-FFF2-40B4-BE49-F238E27FC236}">
                            <a16:creationId xmlns:a16="http://schemas.microsoft.com/office/drawing/2014/main" id="{618AF64E-E195-86B6-7E16-2F0C10E2711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7" name="Line 30">
                        <a:extLst>
                          <a:ext uri="{FF2B5EF4-FFF2-40B4-BE49-F238E27FC236}">
                            <a16:creationId xmlns:a16="http://schemas.microsoft.com/office/drawing/2014/main" id="{ED05DFE2-CF9C-B536-3581-4EA6EB6F521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8" name="Line 31">
                        <a:extLst>
                          <a:ext uri="{FF2B5EF4-FFF2-40B4-BE49-F238E27FC236}">
                            <a16:creationId xmlns:a16="http://schemas.microsoft.com/office/drawing/2014/main" id="{3C813135-32FE-4D74-D6D1-D44E3AC853F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9" name="Line 32">
                        <a:extLst>
                          <a:ext uri="{FF2B5EF4-FFF2-40B4-BE49-F238E27FC236}">
                            <a16:creationId xmlns:a16="http://schemas.microsoft.com/office/drawing/2014/main" id="{A433CA52-0869-75FA-2C38-A5DECFA274B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0" name="Line 33">
                        <a:extLst>
                          <a:ext uri="{FF2B5EF4-FFF2-40B4-BE49-F238E27FC236}">
                            <a16:creationId xmlns:a16="http://schemas.microsoft.com/office/drawing/2014/main" id="{DECCFA22-C59E-BD02-13E3-4705DC9F845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1" name="Line 34">
                        <a:extLst>
                          <a:ext uri="{FF2B5EF4-FFF2-40B4-BE49-F238E27FC236}">
                            <a16:creationId xmlns:a16="http://schemas.microsoft.com/office/drawing/2014/main" id="{1220B524-15C9-3DE2-CC60-179763E61C8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2" name="Line 35">
                        <a:extLst>
                          <a:ext uri="{FF2B5EF4-FFF2-40B4-BE49-F238E27FC236}">
                            <a16:creationId xmlns:a16="http://schemas.microsoft.com/office/drawing/2014/main" id="{5A45C849-AF7E-7347-33B3-A8EFE2661F6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3" name="Line 36">
                        <a:extLst>
                          <a:ext uri="{FF2B5EF4-FFF2-40B4-BE49-F238E27FC236}">
                            <a16:creationId xmlns:a16="http://schemas.microsoft.com/office/drawing/2014/main" id="{47DFACB6-F1CE-A342-1C52-8C37180F776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4" name="Line 37">
                        <a:extLst>
                          <a:ext uri="{FF2B5EF4-FFF2-40B4-BE49-F238E27FC236}">
                            <a16:creationId xmlns:a16="http://schemas.microsoft.com/office/drawing/2014/main" id="{27F12CBD-4AEF-0331-00E7-DA9ABEFC515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5" name="Line 38">
                        <a:extLst>
                          <a:ext uri="{FF2B5EF4-FFF2-40B4-BE49-F238E27FC236}">
                            <a16:creationId xmlns:a16="http://schemas.microsoft.com/office/drawing/2014/main" id="{FCFFC092-D678-5E17-D221-AAF5F64C2A9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32" name="Text Box 40">
                    <a:extLst>
                      <a:ext uri="{FF2B5EF4-FFF2-40B4-BE49-F238E27FC236}">
                        <a16:creationId xmlns:a16="http://schemas.microsoft.com/office/drawing/2014/main" id="{A0219008-6EA6-A441-4DF1-6BE21AB086C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3" y="1312"/>
                    <a:ext cx="120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[11:0]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3" name="Text Box 41">
                    <a:extLst>
                      <a:ext uri="{FF2B5EF4-FFF2-40B4-BE49-F238E27FC236}">
                        <a16:creationId xmlns:a16="http://schemas.microsoft.com/office/drawing/2014/main" id="{E242730A-CFB5-681E-1A1A-4971359A9DD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51" y="1326"/>
                    <a:ext cx="543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4" name="Line 42">
                    <a:extLst>
                      <a:ext uri="{FF2B5EF4-FFF2-40B4-BE49-F238E27FC236}">
                        <a16:creationId xmlns:a16="http://schemas.microsoft.com/office/drawing/2014/main" id="{AC7C14D5-DA93-509E-C8C6-5C01FC337C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" name="Line 43">
                    <a:extLst>
                      <a:ext uri="{FF2B5EF4-FFF2-40B4-BE49-F238E27FC236}">
                        <a16:creationId xmlns:a16="http://schemas.microsoft.com/office/drawing/2014/main" id="{0067198D-ADC5-4CAF-B2EA-6DDB76F583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" name="Line 44">
                    <a:extLst>
                      <a:ext uri="{FF2B5EF4-FFF2-40B4-BE49-F238E27FC236}">
                        <a16:creationId xmlns:a16="http://schemas.microsoft.com/office/drawing/2014/main" id="{81D7D30D-3143-7CF4-BA26-15BAFF5629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8" name="Text Box 46">
                    <a:extLst>
                      <a:ext uri="{FF2B5EF4-FFF2-40B4-BE49-F238E27FC236}">
                        <a16:creationId xmlns:a16="http://schemas.microsoft.com/office/drawing/2014/main" id="{96E3FA15-BD6A-6FFB-13F9-C24508FBF83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44" y="1314"/>
                    <a:ext cx="39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0" name="Text Box 47">
                    <a:extLst>
                      <a:ext uri="{FF2B5EF4-FFF2-40B4-BE49-F238E27FC236}">
                        <a16:creationId xmlns:a16="http://schemas.microsoft.com/office/drawing/2014/main" id="{EAE67CA8-DD12-B925-58AA-FA8DBDEA8C5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8" y="1307"/>
                    <a:ext cx="662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1" name="Text Box 48">
                    <a:extLst>
                      <a:ext uri="{FF2B5EF4-FFF2-40B4-BE49-F238E27FC236}">
                        <a16:creationId xmlns:a16="http://schemas.microsoft.com/office/drawing/2014/main" id="{CCF35A9E-3024-6631-8DDD-2BC3773233A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5" name="Text Box 50">
                    <a:extLst>
                      <a:ext uri="{FF2B5EF4-FFF2-40B4-BE49-F238E27FC236}">
                        <a16:creationId xmlns:a16="http://schemas.microsoft.com/office/drawing/2014/main" id="{3D1BEC24-D8BE-D3A2-DF3B-EFA5C0A791D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6" name="Text Box 51">
                    <a:extLst>
                      <a:ext uri="{FF2B5EF4-FFF2-40B4-BE49-F238E27FC236}">
                        <a16:creationId xmlns:a16="http://schemas.microsoft.com/office/drawing/2014/main" id="{1204C190-73FF-472C-5152-00B533551B7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9" name="Text Box 52">
                    <a:extLst>
                      <a:ext uri="{FF2B5EF4-FFF2-40B4-BE49-F238E27FC236}">
                        <a16:creationId xmlns:a16="http://schemas.microsoft.com/office/drawing/2014/main" id="{96D24D99-5792-F92C-0EDE-524A607DA62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50" name="Text Box 53">
                    <a:extLst>
                      <a:ext uri="{FF2B5EF4-FFF2-40B4-BE49-F238E27FC236}">
                        <a16:creationId xmlns:a16="http://schemas.microsoft.com/office/drawing/2014/main" id="{CFF1D5B9-E620-375C-38B7-0712110A87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51" name="Line 153">
                    <a:extLst>
                      <a:ext uri="{FF2B5EF4-FFF2-40B4-BE49-F238E27FC236}">
                        <a16:creationId xmlns:a16="http://schemas.microsoft.com/office/drawing/2014/main" id="{B168C683-4163-A7E1-B7C2-143618D6D4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9" name="Line 11">
                <a:extLst>
                  <a:ext uri="{FF2B5EF4-FFF2-40B4-BE49-F238E27FC236}">
                    <a16:creationId xmlns:a16="http://schemas.microsoft.com/office/drawing/2014/main" id="{CD36D45F-59E0-1F18-2984-2EA1385C3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0008" y="5256087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7" name="Text Box 41">
              <a:extLst>
                <a:ext uri="{FF2B5EF4-FFF2-40B4-BE49-F238E27FC236}">
                  <a16:creationId xmlns:a16="http://schemas.microsoft.com/office/drawing/2014/main" id="{FF1086BF-509D-6F7F-D879-F8C10DBEE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3198" y="4392001"/>
              <a:ext cx="383616" cy="175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92A9046-0ED6-7ABB-E468-AAED7244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Ruta de datos para </a:t>
            </a:r>
            <a:b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instrucciones tipo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EBFDA2-886F-77C8-AFB1-90F57F0A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71</a:t>
            </a:fld>
            <a:endParaRPr lang="es-ES_tradnl" noProof="1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F039CAD8-62F7-9522-20D1-0DD4BD658406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Conf MUXs: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MxPC: 0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MxA: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MxB: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MxER: 0</a:t>
            </a:r>
            <a:endParaRPr lang="es-ES_tradnl" sz="1400" noProof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6FF76B56-B6CC-5F36-A8F4-F80601EACD1E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1C4BBF00-F5E5-70BE-FC06-D19D5A9F3FAE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8A8A8883-501D-E7D7-4957-A7F6EF34644C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83A01699-CECA-82CE-A7EB-E672078A2FE2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65723BC1-6C0F-EF37-6659-EF11110C446C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9465E96D-8642-63F1-D193-A6D1E0322FB3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CE9A58C4-2C00-29D0-23FF-BFD690FD9F17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2E54B6C0-C80B-AA0B-6BF5-A86682DCCE4C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B2791AD3-75E4-641C-2D56-F77FDC420A31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D74946AE-8B07-8108-00AA-6608AB90F310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0B61FFC0-AF83-FC8C-F0DA-730E84137FF2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CA64C1A3-8BA8-C0BD-96F0-72D57F3B855A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3CF6036D-D195-AE08-38BA-49DC1A22BB31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7A7CE3F3-72F3-B92C-73A2-F524B274174F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62DBFB56-D00E-DCE7-ADF1-CC9FB68AF50A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CA75C09E-71E3-2CC0-C6D3-65A546006BEF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45BC45F9-C3F3-D319-7841-7D71E441B94A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4" name="Conector recto 313">
            <a:extLst>
              <a:ext uri="{FF2B5EF4-FFF2-40B4-BE49-F238E27FC236}">
                <a16:creationId xmlns:a16="http://schemas.microsoft.com/office/drawing/2014/main" id="{AAB8013A-2439-B6AA-B888-A0614F6B8378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474AE5E7-4C5F-7470-91C4-D565D5B7D365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DAE1FE1D-F53E-4674-80F3-E20F4884A920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A28DC5E8-DFD3-4A50-8B77-D0FED11EB08D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41A53230-055A-3698-8F6D-CC4E5380C601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A9AEACC7-E714-8F5A-4546-1A7D84B36B04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AECA2019-260F-0B9A-EA2C-D8B723BB4759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PCin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2DAB4DD7-3E2A-86AB-33CE-E311F1774837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955BBC39-474C-F4FC-06E0-76FB4430877A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9073A6B2-ACCA-8D17-67DC-CB6578BE1523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14612794-FC22-44CE-B56E-5E006D09BC05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DE0CF53B-A40F-4893-C9FA-ADC3B336A118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B9966C72-289F-A749-8BE0-D01D7FC204BC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2FBB6ED9-E7F5-0524-0B08-166CD7E084E8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908190"/>
            <a:ext cx="77814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D0A24D49-7F15-8E7C-73CE-08BF8B2DECAE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C1DA19B6-8CD6-9196-7520-4C26435D62C2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8B98C3CD-269D-4036-7389-D9630B421F72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9C9C30E5-D117-265F-6156-B208554C58A4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44F8CD21-8324-EC67-6734-F47C6F0E4901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2687A73A-3D35-217F-9530-6738FAFBC5AF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C4B17895-E207-9421-17A5-7CF6482BC3FB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E4969408-EF8E-6103-7B73-5EA967E925F3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C1FF29F4-9B8C-7195-CC28-7882904F263C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4DC514EF-9605-637C-42B2-FDC8A4E47378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148E45BA-A014-0E10-CF68-4E65DEE175EB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D5DFB1BE-91A8-AF6D-1A35-B185DB02EF77}"/>
              </a:ext>
            </a:extLst>
          </p:cNvPr>
          <p:cNvCxnSpPr>
            <a:cxnSpLocks/>
          </p:cNvCxnSpPr>
          <p:nvPr/>
        </p:nvCxnSpPr>
        <p:spPr bwMode="auto">
          <a:xfrm>
            <a:off x="6919354" y="3757848"/>
            <a:ext cx="1388742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55B2C8AB-4308-7648-740F-8F3C816AC4F6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F396BDC3-5E3F-A91F-A517-BC2EDEA98EB2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49C4D3CB-921A-3C92-9304-6F7E651CD992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4DA97C5E-F20A-E807-9355-3E041D186E6D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4B39CB82-F468-5377-3A80-7DEB75086E88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D4D57210-629D-8720-E584-D857861A2E69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11E3D0D3-1AA7-7CC5-4A41-4553F1BBC4CC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3252DF57-1DA6-F5D2-EDA9-6DF2C9585D49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8A2E3A72-AFEB-D914-3FBF-681ABEB004BD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CBDF7FAD-D976-84EB-7071-548060130F08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0745C9B8-C1D0-9ABA-8AFE-413550BC8DA0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3360BCF-A54E-DEC5-B6AF-7C8F0F7CB41A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CD50A808-45DA-C127-0DDA-455D84F40482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962FBEBC-3638-C2C2-4C43-54CB2AD91010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44DB5588-C8AF-D4F6-F770-91A8CA70D9FB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984F36F7-1D68-599E-6FC0-8D3E16A43556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1A368794-395E-9D3F-8E51-1ADF259FC422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B3199C9C-84EB-9AD9-65F0-E9486F28EE95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F9C59D7A-B3A4-65C6-A579-9A7E5009BE25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ADCF861C-EFDD-42DE-938E-5FCEC62E7D7B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5731E11A-6252-C7AD-A78A-AF3D9EF23E11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EF823358-0184-9109-EF10-C4A6CA487981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899AEC83-5E37-B597-3A53-D6981DECAE44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MxER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873BE499-0858-B2FC-A7E6-2E67CE3C3D94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D6FF2E11-6B2C-0CE6-E8D2-CAE31A04667F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C1E51AD0-6925-D56B-77E2-C249F9D6F71C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8A67DB3E-AB6B-615F-6985-BE558FDD0E40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08FA0AD8-FCAF-DE61-AE46-195BB41975E3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00B073A9-1D53-ADDD-2A30-BCB6368EDB19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8CBA297B-E1A8-D0A3-399C-AD12731AF301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CA27AA40-9217-C6E1-08CC-BB8FBAF0B8C2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57FC4738-0A30-F07F-6302-CA8A6ACD2137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9A7E26BE-6781-8C4B-3C88-8FCA826E1F0F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MxPC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369CB2B7-14EA-A88B-6755-263FE748C1ED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D1FCF6CE-D19B-F55B-8EE3-9E1B18B4F70B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A48CC993-C504-887D-8A7E-198480159152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43C96C0E-719D-4785-E5F1-B5F8E4EF9AC2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6203A821-4411-F160-F499-E6CCEEB9153E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16D300DB-9A3E-D5F1-23A6-F2D51003CCBD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16A1B58A-71C5-3876-5C8D-D225A3333DA7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D69D4793-AB96-E9FA-A8F0-30F5C60BBB03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682CB0E4-AB8D-AEBD-495D-59D4384ABBD6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B62964AE-85B1-A0AF-9E67-20EE7688E3B5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2A135D46-8548-0A59-9314-F3A34FD2BD4E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>
                <a:solidFill>
                  <a:schemeClr val="accent1">
                    <a:lumMod val="75000"/>
                  </a:schemeClr>
                </a:solidFill>
              </a:rPr>
              <a:t>11..7 (rd)</a:t>
            </a:r>
            <a:endParaRPr lang="es-ES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0321278-8406-7C36-D78A-632AF71BD83F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841B1C92-A641-47C8-28FD-3A8D07C6FFDB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3E3C891D-FEA1-003A-FF27-DBD04156203E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72E4A816-4D4C-D5D6-5C34-EE69580B4539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94C6AEBA-40BB-DEB5-F633-354D6F9CBF4B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9051348D-FDC1-895E-EE53-667A53EA9007}"/>
              </a:ext>
            </a:extLst>
          </p:cNvPr>
          <p:cNvSpPr txBox="1"/>
          <p:nvPr/>
        </p:nvSpPr>
        <p:spPr>
          <a:xfrm>
            <a:off x="3860972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TipoInst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72E368AE-82B3-0497-559E-504430BE4A27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337B3F99-CA69-9436-5EEB-778405F734C3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2A719857-AC3B-1148-5FA3-39843B365768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7B695605-41A5-BFE5-C4FC-1BC0E2C42B01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0FA6AF23-D563-7244-1598-FC91E7D973D2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9F42E74E-61C7-79F1-1AFD-5CBA8E79056B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2D9AF67B-C3DE-6878-5D3D-DF818E223CCE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E9CF11B7-0064-1A2E-BA9B-204F71C65791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9D0C99C2-6795-A630-7EA3-92B80D8C266B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F63BA16C-4F2E-9435-19C3-994B6104141F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E9CBDEF3-8735-8955-198E-C2CECBFD7258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53100" y="4119459"/>
            <a:ext cx="229627" cy="16063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D132C118-A93D-CFD3-3493-86554566264E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5" name="Conector recto de flecha 197">
            <a:extLst>
              <a:ext uri="{FF2B5EF4-FFF2-40B4-BE49-F238E27FC236}">
                <a16:creationId xmlns:a16="http://schemas.microsoft.com/office/drawing/2014/main" id="{1BB382C7-1A5D-0A1A-1DF3-7E2A4F87F562}"/>
              </a:ext>
            </a:extLst>
          </p:cNvPr>
          <p:cNvCxnSpPr>
            <a:cxnSpLocks/>
            <a:endCxn id="354" idx="2"/>
          </p:cNvCxnSpPr>
          <p:nvPr/>
        </p:nvCxnSpPr>
        <p:spPr bwMode="auto">
          <a:xfrm>
            <a:off x="8325016" y="3757056"/>
            <a:ext cx="228414" cy="168013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631568FD-7B0B-E89C-71C9-13B895CB6348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123">
            <a:extLst>
              <a:ext uri="{FF2B5EF4-FFF2-40B4-BE49-F238E27FC236}">
                <a16:creationId xmlns:a16="http://schemas.microsoft.com/office/drawing/2014/main" id="{019529C5-CD23-7B17-75C0-AA9AC152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780" y="980728"/>
            <a:ext cx="366660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 rd, rs1, inm (rd=rs1+inm)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6F26ED74-1583-AAF1-E01A-CE055A1EE64D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12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7F99-7BD5-693A-5981-F1D87A05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65AFE-694F-136E-1387-D7A3B025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Señales de control: Aritméticas y lógicas tipo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F8E46E-2B64-2CFF-56CB-C187AEFB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72</a:t>
            </a:fld>
            <a:endParaRPr lang="es-ES_tradnl" noProof="1"/>
          </a:p>
        </p:txBody>
      </p:sp>
      <p:graphicFrame>
        <p:nvGraphicFramePr>
          <p:cNvPr id="26" name="Marcador de contenido 5">
            <a:extLst>
              <a:ext uri="{FF2B5EF4-FFF2-40B4-BE49-F238E27FC236}">
                <a16:creationId xmlns:a16="http://schemas.microsoft.com/office/drawing/2014/main" id="{1090F5E1-8CA9-98D4-50C0-8D5D39D348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368695"/>
              </p:ext>
            </p:extLst>
          </p:nvPr>
        </p:nvGraphicFramePr>
        <p:xfrm>
          <a:off x="816219" y="895952"/>
          <a:ext cx="8117470" cy="164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Mem.</a:t>
                      </a:r>
                    </a:p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" sz="1100" noProof="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518CB1EF-CEBC-3EEF-42C9-5E9725C6B461}"/>
              </a:ext>
            </a:extLst>
          </p:cNvPr>
          <p:cNvSpPr txBox="1"/>
          <p:nvPr/>
        </p:nvSpPr>
        <p:spPr>
          <a:xfrm>
            <a:off x="2414028" y="2872681"/>
            <a:ext cx="903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Entradas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9644BD-3038-72B1-7785-236946A72FDC}"/>
              </a:ext>
            </a:extLst>
          </p:cNvPr>
          <p:cNvSpPr txBox="1"/>
          <p:nvPr/>
        </p:nvSpPr>
        <p:spPr>
          <a:xfrm>
            <a:off x="5936653" y="2872681"/>
            <a:ext cx="77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Salidas</a:t>
            </a:r>
          </a:p>
        </p:txBody>
      </p:sp>
      <p:sp>
        <p:nvSpPr>
          <p:cNvPr id="8" name="Abrir llave 9">
            <a:extLst>
              <a:ext uri="{FF2B5EF4-FFF2-40B4-BE49-F238E27FC236}">
                <a16:creationId xmlns:a16="http://schemas.microsoft.com/office/drawing/2014/main" id="{6EC4DE2E-5354-9F28-42A4-8EB1E81D7BA1}"/>
              </a:ext>
            </a:extLst>
          </p:cNvPr>
          <p:cNvSpPr/>
          <p:nvPr/>
        </p:nvSpPr>
        <p:spPr bwMode="auto">
          <a:xfrm rot="16200000">
            <a:off x="6239321" y="219523"/>
            <a:ext cx="307777" cy="4998540"/>
          </a:xfrm>
          <a:prstGeom prst="leftBrace">
            <a:avLst>
              <a:gd name="adj1" fmla="val 8333"/>
              <a:gd name="adj2" fmla="val 52222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90E9C64-3102-A8D2-D24D-4E70270E3AB3}"/>
              </a:ext>
            </a:extLst>
          </p:cNvPr>
          <p:cNvSpPr/>
          <p:nvPr/>
        </p:nvSpPr>
        <p:spPr bwMode="auto">
          <a:xfrm rot="16200000">
            <a:off x="2952042" y="2025059"/>
            <a:ext cx="307340" cy="1387904"/>
          </a:xfrm>
          <a:prstGeom prst="leftBrace">
            <a:avLst>
              <a:gd name="adj1" fmla="val 8333"/>
              <a:gd name="adj2" fmla="val 52222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8" name="Rectangle 168">
            <a:extLst>
              <a:ext uri="{FF2B5EF4-FFF2-40B4-BE49-F238E27FC236}">
                <a16:creationId xmlns:a16="http://schemas.microsoft.com/office/drawing/2014/main" id="{BAA40790-611A-A73B-262B-0A61324EA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1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1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000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noProof="1">
                <a:latin typeface="Calibri" pitchFamily="-103" charset="0"/>
              </a:rPr>
              <a:t>001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1">
                <a:latin typeface="Calibri" pitchFamily="-103" charset="0"/>
              </a:rPr>
              <a:t> b (or)</a:t>
            </a:r>
          </a:p>
          <a:p>
            <a:pPr algn="l"/>
            <a:r>
              <a:rPr lang="es-ES_tradnl" sz="1200" noProof="1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110	a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i="1" noProof="1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sp>
        <p:nvSpPr>
          <p:cNvPr id="6" name="Llamada rectangular redondeada 5">
            <a:extLst>
              <a:ext uri="{FF2B5EF4-FFF2-40B4-BE49-F238E27FC236}">
                <a16:creationId xmlns:a16="http://schemas.microsoft.com/office/drawing/2014/main" id="{09A920CA-8E43-4F07-162C-CBB06B851376}"/>
              </a:ext>
            </a:extLst>
          </p:cNvPr>
          <p:cNvSpPr/>
          <p:nvPr/>
        </p:nvSpPr>
        <p:spPr bwMode="auto">
          <a:xfrm>
            <a:off x="6228184" y="3933056"/>
            <a:ext cx="2514600" cy="1046430"/>
          </a:xfrm>
          <a:prstGeom prst="wedgeRoundRectCallout">
            <a:avLst>
              <a:gd name="adj1" fmla="val 22348"/>
              <a:gd name="adj2" fmla="val -184919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rgbClr val="C00000"/>
                </a:solidFill>
              </a:rPr>
              <a:t>Distinto camino para instrucciones </a:t>
            </a:r>
          </a:p>
          <a:p>
            <a:r>
              <a:rPr lang="es-ES_tradnl" sz="1200" noProof="1">
                <a:solidFill>
                  <a:srgbClr val="C00000"/>
                </a:solidFill>
              </a:rPr>
              <a:t>tipo R (opcode=0110011)</a:t>
            </a:r>
          </a:p>
          <a:p>
            <a:r>
              <a:rPr lang="es-ES_tradnl" sz="1200" noProof="1">
                <a:solidFill>
                  <a:srgbClr val="C00000"/>
                </a:solidFill>
              </a:rPr>
              <a:t>e instrucciones </a:t>
            </a:r>
          </a:p>
          <a:p>
            <a:r>
              <a:rPr lang="es-ES_tradnl" sz="1200" noProof="1">
                <a:solidFill>
                  <a:srgbClr val="C00000"/>
                </a:solidFill>
              </a:rPr>
              <a:t>tipo I (opcode=0010011)</a:t>
            </a:r>
          </a:p>
        </p:txBody>
      </p:sp>
      <p:sp>
        <p:nvSpPr>
          <p:cNvPr id="7" name="9 Rectángulo">
            <a:extLst>
              <a:ext uri="{FF2B5EF4-FFF2-40B4-BE49-F238E27FC236}">
                <a16:creationId xmlns:a16="http://schemas.microsoft.com/office/drawing/2014/main" id="{424E3C08-3816-FD38-414A-83D88E99A0A7}"/>
              </a:ext>
            </a:extLst>
          </p:cNvPr>
          <p:cNvSpPr/>
          <p:nvPr/>
        </p:nvSpPr>
        <p:spPr bwMode="auto">
          <a:xfrm>
            <a:off x="7740352" y="1760048"/>
            <a:ext cx="648072" cy="78089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1735216974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BB95-8425-9DD4-D763-530A0EA1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7730C9B2-9C1D-F7E1-DDFA-758DA4476A29}"/>
              </a:ext>
            </a:extLst>
          </p:cNvPr>
          <p:cNvGrpSpPr/>
          <p:nvPr/>
        </p:nvGrpSpPr>
        <p:grpSpPr>
          <a:xfrm>
            <a:off x="4913849" y="65372"/>
            <a:ext cx="4184535" cy="915356"/>
            <a:chOff x="5564455" y="4243453"/>
            <a:chExt cx="3387406" cy="878363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795E3684-0F6D-A3F4-8935-197360522A12}"/>
                </a:ext>
              </a:extLst>
            </p:cNvPr>
            <p:cNvGrpSpPr/>
            <p:nvPr/>
          </p:nvGrpSpPr>
          <p:grpSpPr>
            <a:xfrm>
              <a:off x="5564455" y="4243453"/>
              <a:ext cx="3387406" cy="878363"/>
              <a:chOff x="5474422" y="4834674"/>
              <a:chExt cx="3361057" cy="1043057"/>
            </a:xfrm>
          </p:grpSpPr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77EEC14D-61C1-762B-9828-B1C7FB51CD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4422" y="4834674"/>
                <a:ext cx="3361057" cy="1043057"/>
                <a:chOff x="143" y="668"/>
                <a:chExt cx="2557" cy="624"/>
              </a:xfrm>
            </p:grpSpPr>
            <p:sp>
              <p:nvSpPr>
                <p:cNvPr id="15" name="Rectangle 10">
                  <a:extLst>
                    <a:ext uri="{FF2B5EF4-FFF2-40B4-BE49-F238E27FC236}">
                      <a16:creationId xmlns:a16="http://schemas.microsoft.com/office/drawing/2014/main" id="{EA384EA3-F4FD-A219-8646-58941175A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" y="668"/>
                  <a:ext cx="2544" cy="5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6" name="Group 155">
                  <a:extLst>
                    <a:ext uri="{FF2B5EF4-FFF2-40B4-BE49-F238E27FC236}">
                      <a16:creationId xmlns:a16="http://schemas.microsoft.com/office/drawing/2014/main" id="{F8A3B7BB-4C96-D25A-034B-DE0CAED49B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39"/>
                  <a:ext cx="2519" cy="553"/>
                  <a:chOff x="1168" y="1244"/>
                  <a:chExt cx="3246" cy="904"/>
                </a:xfrm>
              </p:grpSpPr>
              <p:sp>
                <p:nvSpPr>
                  <p:cNvPr id="18" name="Text Box 154">
                    <a:extLst>
                      <a:ext uri="{FF2B5EF4-FFF2-40B4-BE49-F238E27FC236}">
                        <a16:creationId xmlns:a16="http://schemas.microsoft.com/office/drawing/2014/main" id="{9DDA5E7D-F42E-359D-AD81-7C6D3D41FFB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grpSp>
                <p:nvGrpSpPr>
                  <p:cNvPr id="20" name="Group 5">
                    <a:extLst>
                      <a:ext uri="{FF2B5EF4-FFF2-40B4-BE49-F238E27FC236}">
                        <a16:creationId xmlns:a16="http://schemas.microsoft.com/office/drawing/2014/main" id="{A04C53A1-AA82-AD14-3318-58E5FA8253A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44"/>
                    <a:ext cx="3050" cy="423"/>
                    <a:chOff x="982" y="1234"/>
                    <a:chExt cx="3050" cy="423"/>
                  </a:xfrm>
                </p:grpSpPr>
                <p:sp>
                  <p:nvSpPr>
                    <p:cNvPr id="52" name="Rectangle 6">
                      <a:extLst>
                        <a:ext uri="{FF2B5EF4-FFF2-40B4-BE49-F238E27FC236}">
                          <a16:creationId xmlns:a16="http://schemas.microsoft.com/office/drawing/2014/main" id="{40C88E0C-BEC3-9775-BA37-AEE9F7851DF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1234"/>
                      <a:ext cx="3050" cy="423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53" name="Group 7">
                      <a:extLst>
                        <a:ext uri="{FF2B5EF4-FFF2-40B4-BE49-F238E27FC236}">
                          <a16:creationId xmlns:a16="http://schemas.microsoft.com/office/drawing/2014/main" id="{6AED8BBA-96EE-5EE5-84B5-2D1F8127E27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54" name="Line 9">
                        <a:extLst>
                          <a:ext uri="{FF2B5EF4-FFF2-40B4-BE49-F238E27FC236}">
                            <a16:creationId xmlns:a16="http://schemas.microsoft.com/office/drawing/2014/main" id="{53AC4B21-08DD-BF2E-8B9F-203805DAF48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5" name="Line 10">
                        <a:extLst>
                          <a:ext uri="{FF2B5EF4-FFF2-40B4-BE49-F238E27FC236}">
                            <a16:creationId xmlns:a16="http://schemas.microsoft.com/office/drawing/2014/main" id="{3E6AAF29-6E3D-6B05-5763-5F23059D5AC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6" name="Line 11">
                        <a:extLst>
                          <a:ext uri="{FF2B5EF4-FFF2-40B4-BE49-F238E27FC236}">
                            <a16:creationId xmlns:a16="http://schemas.microsoft.com/office/drawing/2014/main" id="{83632B8C-8EEC-72DF-9389-66CBBB88E1E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7" name="Line 12">
                        <a:extLst>
                          <a:ext uri="{FF2B5EF4-FFF2-40B4-BE49-F238E27FC236}">
                            <a16:creationId xmlns:a16="http://schemas.microsoft.com/office/drawing/2014/main" id="{BCC9197E-A2E2-866E-5D14-C727316F418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8" name="Line 13">
                        <a:extLst>
                          <a:ext uri="{FF2B5EF4-FFF2-40B4-BE49-F238E27FC236}">
                            <a16:creationId xmlns:a16="http://schemas.microsoft.com/office/drawing/2014/main" id="{BB6511EF-397C-B02D-F4B3-30B3110B61C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14">
                        <a:extLst>
                          <a:ext uri="{FF2B5EF4-FFF2-40B4-BE49-F238E27FC236}">
                            <a16:creationId xmlns:a16="http://schemas.microsoft.com/office/drawing/2014/main" id="{F0183E58-42FA-7707-0AF0-7BB977CD1F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1" name="Line 15">
                        <a:extLst>
                          <a:ext uri="{FF2B5EF4-FFF2-40B4-BE49-F238E27FC236}">
                            <a16:creationId xmlns:a16="http://schemas.microsoft.com/office/drawing/2014/main" id="{8F41D782-0E0F-2DC4-C5AD-E040F47E0B5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2" name="Line 16">
                        <a:extLst>
                          <a:ext uri="{FF2B5EF4-FFF2-40B4-BE49-F238E27FC236}">
                            <a16:creationId xmlns:a16="http://schemas.microsoft.com/office/drawing/2014/main" id="{8E0E78C9-5069-07D5-42FE-7D117F0569B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3" name="Line 17">
                        <a:extLst>
                          <a:ext uri="{FF2B5EF4-FFF2-40B4-BE49-F238E27FC236}">
                            <a16:creationId xmlns:a16="http://schemas.microsoft.com/office/drawing/2014/main" id="{0A09E3C4-E9E3-6C2B-BFC1-49BE40B56EB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4" name="Line 18">
                        <a:extLst>
                          <a:ext uri="{FF2B5EF4-FFF2-40B4-BE49-F238E27FC236}">
                            <a16:creationId xmlns:a16="http://schemas.microsoft.com/office/drawing/2014/main" id="{0AFBDCD4-D275-462A-590F-329E66FB711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5" name="Line 19">
                        <a:extLst>
                          <a:ext uri="{FF2B5EF4-FFF2-40B4-BE49-F238E27FC236}">
                            <a16:creationId xmlns:a16="http://schemas.microsoft.com/office/drawing/2014/main" id="{3324676C-C570-9662-4E26-66D8D4B4668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6" name="Line 20">
                        <a:extLst>
                          <a:ext uri="{FF2B5EF4-FFF2-40B4-BE49-F238E27FC236}">
                            <a16:creationId xmlns:a16="http://schemas.microsoft.com/office/drawing/2014/main" id="{F4817389-43B8-5843-E0DD-55279B47840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7" name="Line 21">
                        <a:extLst>
                          <a:ext uri="{FF2B5EF4-FFF2-40B4-BE49-F238E27FC236}">
                            <a16:creationId xmlns:a16="http://schemas.microsoft.com/office/drawing/2014/main" id="{1C9ABA7D-C68B-27FF-2DE3-6885EE74D89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8" name="Line 22">
                        <a:extLst>
                          <a:ext uri="{FF2B5EF4-FFF2-40B4-BE49-F238E27FC236}">
                            <a16:creationId xmlns:a16="http://schemas.microsoft.com/office/drawing/2014/main" id="{295A0838-9282-8B98-E30C-C83174B285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9" name="Line 23">
                        <a:extLst>
                          <a:ext uri="{FF2B5EF4-FFF2-40B4-BE49-F238E27FC236}">
                            <a16:creationId xmlns:a16="http://schemas.microsoft.com/office/drawing/2014/main" id="{48982FA8-1BE6-979A-CF50-DD851B6CE97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0" name="Line 24">
                        <a:extLst>
                          <a:ext uri="{FF2B5EF4-FFF2-40B4-BE49-F238E27FC236}">
                            <a16:creationId xmlns:a16="http://schemas.microsoft.com/office/drawing/2014/main" id="{24B5D5FD-DC54-F14E-ABE5-CB93D7F4472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1" name="Line 25">
                        <a:extLst>
                          <a:ext uri="{FF2B5EF4-FFF2-40B4-BE49-F238E27FC236}">
                            <a16:creationId xmlns:a16="http://schemas.microsoft.com/office/drawing/2014/main" id="{D44DA6C6-BB7D-C821-EB27-F0763DA80B6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3" name="Line 26">
                        <a:extLst>
                          <a:ext uri="{FF2B5EF4-FFF2-40B4-BE49-F238E27FC236}">
                            <a16:creationId xmlns:a16="http://schemas.microsoft.com/office/drawing/2014/main" id="{CE6588E4-1467-54BF-C248-11C8CD48063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4" name="Line 27">
                        <a:extLst>
                          <a:ext uri="{FF2B5EF4-FFF2-40B4-BE49-F238E27FC236}">
                            <a16:creationId xmlns:a16="http://schemas.microsoft.com/office/drawing/2014/main" id="{E139B4DA-96F1-C353-E426-68802DB3FD2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5" name="Line 28">
                        <a:extLst>
                          <a:ext uri="{FF2B5EF4-FFF2-40B4-BE49-F238E27FC236}">
                            <a16:creationId xmlns:a16="http://schemas.microsoft.com/office/drawing/2014/main" id="{36E817CC-25EE-ECD0-9667-084591A58BD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6" name="Line 29">
                        <a:extLst>
                          <a:ext uri="{FF2B5EF4-FFF2-40B4-BE49-F238E27FC236}">
                            <a16:creationId xmlns:a16="http://schemas.microsoft.com/office/drawing/2014/main" id="{C9F6EAD3-153A-651D-F37F-09AB5D5ED23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7" name="Line 30">
                        <a:extLst>
                          <a:ext uri="{FF2B5EF4-FFF2-40B4-BE49-F238E27FC236}">
                            <a16:creationId xmlns:a16="http://schemas.microsoft.com/office/drawing/2014/main" id="{3F9F0CE3-90C2-9942-A713-AD033CD385D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8" name="Line 31">
                        <a:extLst>
                          <a:ext uri="{FF2B5EF4-FFF2-40B4-BE49-F238E27FC236}">
                            <a16:creationId xmlns:a16="http://schemas.microsoft.com/office/drawing/2014/main" id="{20E8B92E-06F3-FD09-5E03-83A6EF39B66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9" name="Line 32">
                        <a:extLst>
                          <a:ext uri="{FF2B5EF4-FFF2-40B4-BE49-F238E27FC236}">
                            <a16:creationId xmlns:a16="http://schemas.microsoft.com/office/drawing/2014/main" id="{B8BECA6B-9F6F-E88E-BB12-8278F197B95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0" name="Line 33">
                        <a:extLst>
                          <a:ext uri="{FF2B5EF4-FFF2-40B4-BE49-F238E27FC236}">
                            <a16:creationId xmlns:a16="http://schemas.microsoft.com/office/drawing/2014/main" id="{ED46D107-D461-A029-89A2-B900311FEF0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1" name="Line 34">
                        <a:extLst>
                          <a:ext uri="{FF2B5EF4-FFF2-40B4-BE49-F238E27FC236}">
                            <a16:creationId xmlns:a16="http://schemas.microsoft.com/office/drawing/2014/main" id="{C70462EA-3C1F-9E27-252E-09122DB83CA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2" name="Line 35">
                        <a:extLst>
                          <a:ext uri="{FF2B5EF4-FFF2-40B4-BE49-F238E27FC236}">
                            <a16:creationId xmlns:a16="http://schemas.microsoft.com/office/drawing/2014/main" id="{249E72D5-A487-9818-7833-14B71B47CD3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3" name="Line 36">
                        <a:extLst>
                          <a:ext uri="{FF2B5EF4-FFF2-40B4-BE49-F238E27FC236}">
                            <a16:creationId xmlns:a16="http://schemas.microsoft.com/office/drawing/2014/main" id="{2957E222-4FCE-7EE6-60EE-BA5E3B7CFA7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4" name="Line 37">
                        <a:extLst>
                          <a:ext uri="{FF2B5EF4-FFF2-40B4-BE49-F238E27FC236}">
                            <a16:creationId xmlns:a16="http://schemas.microsoft.com/office/drawing/2014/main" id="{7EF38F7B-65D6-E723-7F59-FF765DE2A96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5" name="Line 38">
                        <a:extLst>
                          <a:ext uri="{FF2B5EF4-FFF2-40B4-BE49-F238E27FC236}">
                            <a16:creationId xmlns:a16="http://schemas.microsoft.com/office/drawing/2014/main" id="{1CAEC698-4E14-94FD-402C-93FC024CE70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32" name="Text Box 40">
                    <a:extLst>
                      <a:ext uri="{FF2B5EF4-FFF2-40B4-BE49-F238E27FC236}">
                        <a16:creationId xmlns:a16="http://schemas.microsoft.com/office/drawing/2014/main" id="{7CFB193F-CFA2-1298-E582-F532A14F83C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3" y="1312"/>
                    <a:ext cx="120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[11:0]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3" name="Text Box 41">
                    <a:extLst>
                      <a:ext uri="{FF2B5EF4-FFF2-40B4-BE49-F238E27FC236}">
                        <a16:creationId xmlns:a16="http://schemas.microsoft.com/office/drawing/2014/main" id="{DD2FFCB5-734E-10B7-1268-CBC00453B78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51" y="1326"/>
                    <a:ext cx="543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4" name="Line 42">
                    <a:extLst>
                      <a:ext uri="{FF2B5EF4-FFF2-40B4-BE49-F238E27FC236}">
                        <a16:creationId xmlns:a16="http://schemas.microsoft.com/office/drawing/2014/main" id="{3C4E4662-9CD0-AFA6-CCC7-4CD0C30E5B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" name="Line 43">
                    <a:extLst>
                      <a:ext uri="{FF2B5EF4-FFF2-40B4-BE49-F238E27FC236}">
                        <a16:creationId xmlns:a16="http://schemas.microsoft.com/office/drawing/2014/main" id="{0DC4FE82-AEA0-041A-1B42-FF60A686EA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" name="Line 44">
                    <a:extLst>
                      <a:ext uri="{FF2B5EF4-FFF2-40B4-BE49-F238E27FC236}">
                        <a16:creationId xmlns:a16="http://schemas.microsoft.com/office/drawing/2014/main" id="{BC014D0F-6921-D388-504B-5B5576143A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8" name="Text Box 46">
                    <a:extLst>
                      <a:ext uri="{FF2B5EF4-FFF2-40B4-BE49-F238E27FC236}">
                        <a16:creationId xmlns:a16="http://schemas.microsoft.com/office/drawing/2014/main" id="{85D1876C-9A75-85ED-45C2-170D4150092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44" y="1314"/>
                    <a:ext cx="399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0" name="Text Box 47">
                    <a:extLst>
                      <a:ext uri="{FF2B5EF4-FFF2-40B4-BE49-F238E27FC236}">
                        <a16:creationId xmlns:a16="http://schemas.microsoft.com/office/drawing/2014/main" id="{26AD130C-6B83-A236-5958-D4253D09CF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8" y="1307"/>
                    <a:ext cx="662" cy="2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1" name="Text Box 48">
                    <a:extLst>
                      <a:ext uri="{FF2B5EF4-FFF2-40B4-BE49-F238E27FC236}">
                        <a16:creationId xmlns:a16="http://schemas.microsoft.com/office/drawing/2014/main" id="{8849036F-94F8-88D0-D0B6-D849C9D850E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5" name="Text Box 50">
                    <a:extLst>
                      <a:ext uri="{FF2B5EF4-FFF2-40B4-BE49-F238E27FC236}">
                        <a16:creationId xmlns:a16="http://schemas.microsoft.com/office/drawing/2014/main" id="{F68A2D4E-65AE-6782-6FA4-3FDC95A32ED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6" name="Text Box 51">
                    <a:extLst>
                      <a:ext uri="{FF2B5EF4-FFF2-40B4-BE49-F238E27FC236}">
                        <a16:creationId xmlns:a16="http://schemas.microsoft.com/office/drawing/2014/main" id="{422F25DC-BA7C-FD2E-7C1A-E4EB374CFF8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9" name="Text Box 52">
                    <a:extLst>
                      <a:ext uri="{FF2B5EF4-FFF2-40B4-BE49-F238E27FC236}">
                        <a16:creationId xmlns:a16="http://schemas.microsoft.com/office/drawing/2014/main" id="{1E3FFAD0-8FE3-ED90-D809-779D141D46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50" name="Text Box 53">
                    <a:extLst>
                      <a:ext uri="{FF2B5EF4-FFF2-40B4-BE49-F238E27FC236}">
                        <a16:creationId xmlns:a16="http://schemas.microsoft.com/office/drawing/2014/main" id="{D87F44E0-DE1F-899A-49D0-CA8558976AE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51" name="Line 153">
                    <a:extLst>
                      <a:ext uri="{FF2B5EF4-FFF2-40B4-BE49-F238E27FC236}">
                        <a16:creationId xmlns:a16="http://schemas.microsoft.com/office/drawing/2014/main" id="{90815A49-7477-F0BA-EA36-3170BAAA50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9" name="Line 11">
                <a:extLst>
                  <a:ext uri="{FF2B5EF4-FFF2-40B4-BE49-F238E27FC236}">
                    <a16:creationId xmlns:a16="http://schemas.microsoft.com/office/drawing/2014/main" id="{C4542B92-D822-1E9D-851E-1E9759306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0008" y="5256087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7" name="Text Box 41">
              <a:extLst>
                <a:ext uri="{FF2B5EF4-FFF2-40B4-BE49-F238E27FC236}">
                  <a16:creationId xmlns:a16="http://schemas.microsoft.com/office/drawing/2014/main" id="{CE408CCD-DBCB-C1E3-F9A0-E491501B7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3198" y="4392001"/>
              <a:ext cx="383616" cy="175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1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ca-E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5AC0156-24A8-EB3B-64F2-7AA59DCF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Ruta de datos para </a:t>
            </a:r>
            <a:br>
              <a:rPr lang="es-ES_tradnl" noProof="1"/>
            </a:br>
            <a:r>
              <a:rPr lang="es-ES_tradnl" noProof="1"/>
              <a:t>instrucciones tipo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00F009-6A26-39AD-3E3C-28ED6BE1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73</a:t>
            </a:fld>
            <a:endParaRPr lang="es-ES_tradnl" noProof="1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C7FA71E7-537E-E62D-4407-6768C9D19778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Conf MUXs: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MxPC: 0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MxA: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MxB: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MxER: 1</a:t>
            </a:r>
            <a:endParaRPr lang="es-ES_tradnl" sz="1400" noProof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8A2D13FD-9CA1-F373-DD9B-27595DC10A24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0" cy="94606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B260B21F-B7CF-AADF-B4C2-73269E1E2A72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AB8B27C4-40D7-C7DE-EF6F-72861973CE37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1E75A206-F664-F873-8AEF-9BE7C0C3BF75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C39266B5-1ED3-3C95-C076-463A17213D1C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4E000517-6862-3DE5-310A-6E546C6D8405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7CAF80F0-FA7A-A880-3E0D-170ED589AB2A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4B08E226-AE53-EB2E-6DDD-D53CA1568A46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D61B6DB2-0A00-B14E-7C50-E99BA6E4721E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C53F5A2C-0E2B-06E4-CE83-5E7F240AFD92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48723FEF-0EF4-87BE-5B0F-08C95C09DD80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D5E459E1-C17A-A644-35A4-9577F5A74552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0AAFDA9A-A0B8-A518-F31A-B6C78D18685D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386ABBEC-3637-D108-D0DE-F2DE9B5EAAD6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C3452FFB-42F7-7987-F695-CDCB201DED2B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0547057F-18E8-3320-9B89-D3A45CE225F5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FCE8D94C-0481-14F4-A7B6-0CC05EF064A0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4" name="Conector recto 313">
            <a:extLst>
              <a:ext uri="{FF2B5EF4-FFF2-40B4-BE49-F238E27FC236}">
                <a16:creationId xmlns:a16="http://schemas.microsoft.com/office/drawing/2014/main" id="{E1E43F4E-4C2B-3C92-F08B-296986BC668B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5EB48694-3D4C-5704-0761-E071095E304B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6257ECD8-BDD2-F2F1-E388-FBFE1D1408EB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9D39CDA4-A9E3-9193-D50C-F2716C1A8725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1AEAB7E5-1984-5D07-D38D-CE00C2B255EF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62457737-5DE5-BAFD-CCF7-DAE370C03B94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C506C9A2-3E5D-C203-8751-E7759B1CF850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PCin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18739A30-501E-4257-4B9B-478FE4266F7F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0046EA33-E018-BB51-4038-831610469475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680B695E-4946-5EEC-4F09-0493E83BA15E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DA61D76C-C8B6-B75F-3A2C-F5126838BB9F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EF7BFB53-D8F5-F4E6-4D69-32FCB7867694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BABB95BA-7249-2E46-6E1A-92767B3F1DDF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58A3A5C2-6C00-DC6A-93A2-23318357683B}"/>
              </a:ext>
            </a:extLst>
          </p:cNvPr>
          <p:cNvCxnSpPr>
            <a:cxnSpLocks/>
            <a:stCxn id="384" idx="3"/>
          </p:cNvCxnSpPr>
          <p:nvPr/>
        </p:nvCxnSpPr>
        <p:spPr bwMode="auto">
          <a:xfrm flipV="1">
            <a:off x="5479811" y="3908190"/>
            <a:ext cx="273289" cy="526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731BC66E-B917-84E7-E8E9-6C13D6B5DC5E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EDC1BB6A-1A43-3B32-CC70-4569317E8C30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F9448E09-1902-622A-5146-1CEC915B643C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99789139-F62B-BB7C-8690-59DC07ED3113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7C0CF4B1-9A5C-3727-31DF-6DC5F0D03B7A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1AD214D4-066C-0109-C0ED-505232AF989F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E56EE527-F6F4-9DC6-92DB-6FEA8A9B9222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1478D9B9-B7F8-21C2-BE46-5007CB0AE359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397E9EA9-7063-F3EB-05FC-C7F102E89ADD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01E2F4CD-C0E8-C753-FECD-7FE0BF4C8A0C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BB512B23-4519-BBA5-A3D7-C4A8602DC163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26882509-3CD7-E480-2A20-E496320DB904}"/>
              </a:ext>
            </a:extLst>
          </p:cNvPr>
          <p:cNvCxnSpPr>
            <a:cxnSpLocks/>
            <a:stCxn id="365" idx="3"/>
          </p:cNvCxnSpPr>
          <p:nvPr/>
        </p:nvCxnSpPr>
        <p:spPr bwMode="auto">
          <a:xfrm flipV="1">
            <a:off x="7376831" y="3757848"/>
            <a:ext cx="931265" cy="350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04644148-F19C-0152-30C2-141FC544D02B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B4C31B32-9679-2639-D535-EBFD42EC799E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79ABA46C-4FCA-B744-033E-534B3F65E7FB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rgbClr val="000000"/>
                </a:solidFill>
              </a:rPr>
              <a:t>Memoria</a:t>
            </a:r>
          </a:p>
          <a:p>
            <a:r>
              <a:rPr lang="es-ES" sz="120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B3EE65C3-4567-2D4F-6C3C-A767A8A42F85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75A61A47-1377-6125-6C52-554BADE2068C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73D47C77-71C3-C931-2D0E-3594DEC5AC23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15E37669-7294-3C00-E091-5CAC2ABAF81E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2842282B-F2DC-623F-40D4-DDD57CC9BC9D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97677B27-13D2-68B9-65CC-08AD13D13814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F7828036-C66E-EDD4-933F-5B78F3887093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8F92F6FD-BEC2-41BC-4E1C-48FD4DF19D51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F2BC5BCD-3732-4420-5B33-856550E3F5F1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C1247952-AD83-A7AA-CCCF-3996288D341B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4A1F1213-80E5-DA81-5495-9F4CB493B97C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21C5140F-20E6-69BD-C11A-BF2D364E5699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E8641A9E-217F-8094-8B9F-D97D61C4883F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254C49A4-CF88-3462-8846-2AF7CB195009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5B18DAB8-51B7-0E42-7BC1-5130FA100AEE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14050087-3673-CB80-D8FB-C135F9E1282F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BEFF8A48-3696-F477-4A2D-55792000A075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9AD93BB7-9CDB-0595-FB4C-31C856EF8720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7D3D0029-BF4A-8657-9073-8F9B37810CF5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F6CA58FB-12BC-2781-EAF4-3059C17E4F73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MxER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AEF77D44-9BCF-E3D9-D533-EEA6E149CEDC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C3FD2772-D143-F08E-D9FF-C28C836FB236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6BB36AC8-BD0F-AB54-C1B7-DB8A02483793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26376837-9294-A58A-9439-AF56A818602C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BA9BB3AE-0EBF-4380-19A0-DC7AA6F5FF46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F17B25BF-E441-C6A5-7568-3B60DD550AE8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606D4C95-4ACA-2B60-273C-2FE28BC0FE72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FC52FA18-C4F5-0DBA-EDDB-1EB6AC5AEE9D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843F157A-C9DF-DB66-FC62-72DABAD0962D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6934B630-3E4C-F0CD-78D0-C3FBD021153F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MxPC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9505A6CD-6839-06AE-A8CE-F6BB6E756AE4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30DFAB0F-0F3F-DD77-0526-0F86C69D778C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A6A5CCE4-573C-AD28-25B7-F4A9E5C66507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8FE17F6C-E604-067E-5449-AAFFD0013EBB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A0F78BB2-E04A-2B96-22F2-06D6B563A6A3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DA7C8F61-00C1-0C72-AA49-954542A40F13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469CE20B-8F61-C441-9233-143803E15658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2BC12D1C-CEC0-0786-258C-D76D7F0BBDC4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BFC9BCB8-9604-888B-17EF-EBF2ABEBA9A7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DA30CCD0-250F-F09D-E8B2-0DAE980F6B68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344023C7-115B-F090-70EE-D7B607BE32D6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>
                <a:solidFill>
                  <a:schemeClr val="accent1">
                    <a:lumMod val="75000"/>
                  </a:schemeClr>
                </a:solidFill>
              </a:rPr>
              <a:t>11..7 (rd)</a:t>
            </a:r>
            <a:endParaRPr lang="es-ES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61DFC8B9-A7BC-AB21-6042-5827C1D8D57E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80128C00-74FA-B465-2AC4-EFEF4E4D67F5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76C56886-B9E1-EA9D-6361-BE07A4F9DB15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006C90E5-F814-FB31-856F-A3AD75715035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815986EB-1AC4-13D7-212E-F782D2F39EC1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6BD311D4-BBB6-D8A9-28EB-319B701A3C15}"/>
              </a:ext>
            </a:extLst>
          </p:cNvPr>
          <p:cNvSpPr txBox="1"/>
          <p:nvPr/>
        </p:nvSpPr>
        <p:spPr>
          <a:xfrm>
            <a:off x="3851920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TipoInst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A9C60055-92E3-59CE-7B25-95436C8298E9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6AC830AC-1237-A4F0-F5D6-6162B73406A3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33454FEB-1822-49B7-92F6-0429BCFFAEC7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AA694CAF-9032-5679-6458-269C70D97DA5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57D16F21-928B-54CD-A675-2165AE864707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CF805C68-5651-0BFD-3A85-5B25AD12D083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7515CB93-CB01-8E55-212D-9C4A38E8D70F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79C70107-F324-518B-51C4-7534FED27DEC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A5D0DACC-F230-F0D5-7F49-207B77EB8D71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478EC158-2CDE-BCF0-0268-8EE78365CC9E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2FE38A69-0CC2-444D-6BBA-D292CD3B2BC5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53100" y="4119459"/>
            <a:ext cx="229627" cy="16063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16CDF000-F3A8-BCDF-574C-C94C22D69F98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5" name="Conector recto de flecha 197">
            <a:extLst>
              <a:ext uri="{FF2B5EF4-FFF2-40B4-BE49-F238E27FC236}">
                <a16:creationId xmlns:a16="http://schemas.microsoft.com/office/drawing/2014/main" id="{988AEAFD-0AAC-F146-F882-6862CB7756CE}"/>
              </a:ext>
            </a:extLst>
          </p:cNvPr>
          <p:cNvCxnSpPr>
            <a:cxnSpLocks/>
            <a:endCxn id="354" idx="2"/>
          </p:cNvCxnSpPr>
          <p:nvPr/>
        </p:nvCxnSpPr>
        <p:spPr bwMode="auto">
          <a:xfrm flipV="1">
            <a:off x="8325016" y="3925069"/>
            <a:ext cx="228414" cy="15351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83836BAA-3D83-F321-7504-DC182CF1133A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123">
            <a:extLst>
              <a:ext uri="{FF2B5EF4-FFF2-40B4-BE49-F238E27FC236}">
                <a16:creationId xmlns:a16="http://schemas.microsoft.com/office/drawing/2014/main" id="{D814E68B-2C4B-76B6-9575-5C599DFE7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286" y="980728"/>
            <a:ext cx="28970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 rd, inm(rs1) (rd=Mem[rs1+inm])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87D3699-93D3-0C14-1925-6AB7D7D624AC}"/>
              </a:ext>
            </a:extLst>
          </p:cNvPr>
          <p:cNvCxnSpPr>
            <a:cxnSpLocks/>
            <a:endCxn id="365" idx="1"/>
          </p:cNvCxnSpPr>
          <p:nvPr/>
        </p:nvCxnSpPr>
        <p:spPr bwMode="auto">
          <a:xfrm>
            <a:off x="6915337" y="3757056"/>
            <a:ext cx="385356" cy="42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E2FF220-993B-1F44-2B83-538704CBBA23}"/>
              </a:ext>
            </a:extLst>
          </p:cNvPr>
          <p:cNvCxnSpPr>
            <a:cxnSpLocks/>
            <a:endCxn id="384" idx="1"/>
          </p:cNvCxnSpPr>
          <p:nvPr/>
        </p:nvCxnSpPr>
        <p:spPr bwMode="auto">
          <a:xfrm flipV="1">
            <a:off x="4991608" y="3913453"/>
            <a:ext cx="412065" cy="29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A751EA0-281A-954E-8687-FB3661132C7B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2439E1D-8BC4-740D-9B41-93E647335A30}"/>
              </a:ext>
            </a:extLst>
          </p:cNvPr>
          <p:cNvCxnSpPr>
            <a:cxnSpLocks/>
            <a:stCxn id="384" idx="2"/>
            <a:endCxn id="24" idx="0"/>
          </p:cNvCxnSpPr>
          <p:nvPr/>
        </p:nvCxnSpPr>
        <p:spPr bwMode="auto">
          <a:xfrm flipH="1">
            <a:off x="5441637" y="3951434"/>
            <a:ext cx="105" cy="82563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3078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Instrucción </a:t>
            </a:r>
            <a:r>
              <a:rPr lang="es-ES_tradnl" noProof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: Señales de control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74</a:t>
            </a:fld>
            <a:endParaRPr lang="es-ES_tradnl" noProof="1"/>
          </a:p>
        </p:txBody>
      </p:sp>
      <p:sp>
        <p:nvSpPr>
          <p:cNvPr id="3" name="Rectangle 168">
            <a:extLst>
              <a:ext uri="{FF2B5EF4-FFF2-40B4-BE49-F238E27FC236}">
                <a16:creationId xmlns:a16="http://schemas.microsoft.com/office/drawing/2014/main" id="{558A26DD-BAB2-FFE8-4A19-FAD5BB4BB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1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1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000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noProof="1">
                <a:latin typeface="Calibri" pitchFamily="-103" charset="0"/>
              </a:rPr>
              <a:t>001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1">
                <a:latin typeface="Calibri" pitchFamily="-103" charset="0"/>
              </a:rPr>
              <a:t> b (or)</a:t>
            </a:r>
          </a:p>
          <a:p>
            <a:pPr algn="l"/>
            <a:r>
              <a:rPr lang="es-ES_tradnl" sz="1200" noProof="1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110	a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i="1" noProof="1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41136751-B579-51F1-F444-095B2A5EA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807734"/>
              </p:ext>
            </p:extLst>
          </p:nvPr>
        </p:nvGraphicFramePr>
        <p:xfrm>
          <a:off x="816219" y="895952"/>
          <a:ext cx="8117470" cy="1947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Mem.</a:t>
                      </a:r>
                    </a:p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/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</a:tbl>
          </a:graphicData>
        </a:graphic>
      </p:graphicFrame>
      <p:sp>
        <p:nvSpPr>
          <p:cNvPr id="6" name="9 Rectángulo">
            <a:extLst>
              <a:ext uri="{FF2B5EF4-FFF2-40B4-BE49-F238E27FC236}">
                <a16:creationId xmlns:a16="http://schemas.microsoft.com/office/drawing/2014/main" id="{43CD9D69-FAD6-E76A-C224-B093190A136F}"/>
              </a:ext>
            </a:extLst>
          </p:cNvPr>
          <p:cNvSpPr/>
          <p:nvPr/>
        </p:nvSpPr>
        <p:spPr bwMode="auto">
          <a:xfrm>
            <a:off x="8388424" y="1340768"/>
            <a:ext cx="545264" cy="1488934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3" name="Llamada rectangular redondeada 12">
            <a:extLst>
              <a:ext uri="{FF2B5EF4-FFF2-40B4-BE49-F238E27FC236}">
                <a16:creationId xmlns:a16="http://schemas.microsoft.com/office/drawing/2014/main" id="{5782BC57-4FFF-D411-E69E-ACA86B862A43}"/>
              </a:ext>
            </a:extLst>
          </p:cNvPr>
          <p:cNvSpPr/>
          <p:nvPr/>
        </p:nvSpPr>
        <p:spPr bwMode="auto">
          <a:xfrm>
            <a:off x="6228184" y="3933056"/>
            <a:ext cx="2514600" cy="1046430"/>
          </a:xfrm>
          <a:prstGeom prst="wedgeRoundRectCallout">
            <a:avLst>
              <a:gd name="adj1" fmla="val 46506"/>
              <a:gd name="adj2" fmla="val -156199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rgbClr val="C00000"/>
                </a:solidFill>
              </a:rPr>
              <a:t>Distinto ”origen” del resultado para las instrucciones </a:t>
            </a:r>
          </a:p>
          <a:p>
            <a:r>
              <a:rPr lang="es-ES_tradnl" sz="1200" noProof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add/addi </a:t>
            </a:r>
            <a:r>
              <a:rPr lang="es-ES_tradnl" sz="1200" noProof="1">
                <a:solidFill>
                  <a:srgbClr val="C00000"/>
                </a:solidFill>
              </a:rPr>
              <a:t>y </a:t>
            </a:r>
            <a:r>
              <a:rPr lang="es-ES_tradnl" sz="1200" noProof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endParaRPr lang="es-ES_tradnl" sz="1200" noProof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92410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E5A6-3C5D-4DE2-3555-6450FEDB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E70F4-7551-36AA-DE81-1739854B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Ruta de datos para </a:t>
            </a:r>
            <a:b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1">
                <a:latin typeface="Arial" panose="020B0604020202020204" pitchFamily="34" charset="0"/>
                <a:cs typeface="Arial" panose="020B0604020202020204" pitchFamily="34" charset="0"/>
              </a:rPr>
              <a:t>instrucciones tipo 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7B5EEF-F1A4-03E7-045E-8E8767BB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75</a:t>
            </a:fld>
            <a:endParaRPr lang="es-ES_tradnl" noProof="1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2E6C57C8-3D1B-D488-ECB1-DE6D86AE80CC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Conf MUXs: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MxPC: 0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MxA: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MxB: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MxER: X</a:t>
            </a:r>
            <a:endParaRPr lang="es-ES_tradnl" sz="1400" noProof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12E169C7-422B-2C64-3D6C-E0F0B8D5BBC4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0" cy="94606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AEC04BC7-4578-3915-8FF0-509B950D7945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BCB781FA-95E1-EAEA-97FB-0AC1EC313E02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4FE08838-DDD5-BF52-69BB-0F35A559CF2A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1E314868-B9B0-D309-44B7-8DFB24554312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BC849E8C-46D7-CBDE-845C-3E6B96455AC3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9969BFFD-5168-B276-E596-7EBD1B45E56E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52F67C87-22DC-433B-868D-E048656F2F47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3C6D9C98-DDFF-52CA-E564-BFBF10C85A53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F472ADCD-35F6-B62C-1C0F-8EA129FED501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4A50D164-847B-3BCB-34C9-D128B3EA13BB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75562D2C-379C-BFA1-DB4C-64AAB3664E39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0B2663EB-DD1A-4827-E70D-6E058AB80415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6584AEB2-404C-4B4A-72AC-D628768C7A18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76A46239-1F0D-1FD8-F5E4-048CA0448EB4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0EB1F86A-B392-E42D-496A-AD28099022DD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369D87C4-74A1-B46B-D15F-021B3170BBD5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4" name="Conector recto 313">
            <a:extLst>
              <a:ext uri="{FF2B5EF4-FFF2-40B4-BE49-F238E27FC236}">
                <a16:creationId xmlns:a16="http://schemas.microsoft.com/office/drawing/2014/main" id="{610D3B7E-B91A-C417-184E-5C5A11C316B4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9B1A2F52-7B3A-9022-6C9C-2B11A233F56B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B9C82F95-AAA1-A9BD-82AB-FAAD2656077F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FAEA56AA-99C8-DB5B-F6D4-6DEB96DA951E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E514F453-407B-1033-6ED4-62629DBEEABE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2E85F1C7-0D93-41FB-35A4-F1C0416D706F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0A4C2337-0E12-035F-23E0-635DE5E9B9EF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PCin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C77ADD50-7B52-FC39-4FA6-81AA2C159CEE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EEDC6B12-925D-E184-122C-CE7289A3D1E2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CA8B692F-4C81-8233-CC66-A6C95DA7C39B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E04F98BA-E0E9-9884-4D75-F2F799722761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699814C7-4536-4652-9F4E-B29C69D6E718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D6F09ACE-794A-C665-8E23-D794F7CFB458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D2B75153-C769-2256-C14B-2572EC9871D5}"/>
              </a:ext>
            </a:extLst>
          </p:cNvPr>
          <p:cNvCxnSpPr>
            <a:cxnSpLocks/>
            <a:stCxn id="384" idx="3"/>
          </p:cNvCxnSpPr>
          <p:nvPr/>
        </p:nvCxnSpPr>
        <p:spPr bwMode="auto">
          <a:xfrm flipV="1">
            <a:off x="5479811" y="3908190"/>
            <a:ext cx="273289" cy="526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55356D4D-496F-E5BD-E925-5E8B14D4A4C2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6D172C77-FD03-DBBD-D4BB-1F45F3EBA7A6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A54EEF55-9105-445C-1060-BC990A18ADF4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8069F7FD-7A74-7991-BF7D-667B9CAB50C6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15F3E152-68A4-34D4-6841-083D394E57EA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9283C29C-2A1D-B5CD-62E2-D248FBE8D6CD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95C3C48B-9776-6498-77A8-BA307575C9AC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DAE3F14B-FF1B-4B59-659C-C1168805C6C7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2E481330-9D94-2826-D9B6-274B20139020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4D215097-16C6-98CB-6672-5BCA0B889591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4444FCF9-408F-760D-3DB0-645C94FE7074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A9C32AD2-E605-B26F-47D4-28DF0A31A061}"/>
              </a:ext>
            </a:extLst>
          </p:cNvPr>
          <p:cNvCxnSpPr>
            <a:cxnSpLocks/>
            <a:stCxn id="365" idx="3"/>
          </p:cNvCxnSpPr>
          <p:nvPr/>
        </p:nvCxnSpPr>
        <p:spPr bwMode="auto">
          <a:xfrm flipV="1">
            <a:off x="7376831" y="3757848"/>
            <a:ext cx="931265" cy="350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188C0C62-F7FC-12DA-D846-26C650122D27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CFB45CEF-5E76-8667-5C8A-3A7D0778823A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F077CA8A-B2AC-7878-90CC-F70A21949D30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rgbClr val="000000"/>
                </a:solidFill>
              </a:rPr>
              <a:t>Memoria</a:t>
            </a:r>
          </a:p>
          <a:p>
            <a:r>
              <a:rPr lang="es-ES" sz="120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84457366-480F-C6D6-BCDF-6D1C1F58CA69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EA588D22-7A40-D11C-39A2-2F7D67DE02D1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E563A697-84E3-DCF0-0F7D-8C74D8467E55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05012639-EFD6-B8EC-6BA4-6BFFAA5269FF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3AD4D216-9076-EF92-C99B-CE231EA9FA0B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AEE28F6F-7A76-36AD-DB0A-FFDB4E8A161D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3F9C475B-A875-D31E-3EE7-BC02E0FE20D2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AD6C0A45-83B6-464A-C741-C5ED165A7C3D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B3822943-FF7D-D3C3-E070-C6238C0EA30A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144B5977-1C9D-BEAD-36E4-93762E79C910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solidFill>
            <a:schemeClr val="bg1"/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9976A36A-4381-E4F9-6177-C5592A5ADA16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BDEE5E48-7A79-7987-F35F-A9D6226749D9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0CB98283-44E9-1E9E-6019-1264C695B2FA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3E65E06C-6405-456B-0EE6-E40D773F8E4B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860CD1EB-C87C-663A-3623-C06BFFEE2CEE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9B21B1BC-1504-3E68-45E9-511C364CA9AA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C26BF07E-8E59-5A77-9606-FC520A7CBD72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2938C9E-0929-E1FA-EC4E-B7A6C42BEDC7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E5BC1F40-BFED-AED5-F457-3D6C989BF5E5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17D7DD14-5A69-7521-645D-34516D1B90C4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MxER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B1DF3970-0E95-ABD6-DA69-65C930E532E5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607B4BE7-E757-40AF-7053-A9E02BFA1B29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9EBAA6A6-2E35-1075-0D68-D6DEFA5E0F63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A46DB254-7FCC-26F9-B0E3-94B8E4D05BBF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4C592007-E358-B103-FCCC-AE9402100CBB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40B182B4-DEA5-2BEE-113B-9458E518C1FC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A6E191C6-3B8A-9D89-4FF4-224DC601EEB8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88F39E17-6131-1536-ABCB-12F300C009D0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4D9C782B-C4A7-9575-7581-17C0D90A1E54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BCCF4A9A-4C04-B7A8-C5D1-CBF9EE36059E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MxPC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FD55C43B-E824-A4C4-9479-9B100187EEB3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4B0594F2-A07F-EA3E-8431-6A27F64D21B3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832BB246-9547-BDF5-5323-225611BA5CD4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3B1A918A-D1CA-81DB-6C22-B624E278BAA9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105F8808-BF47-8D1D-39EF-FB3DDC0EAA6B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50977CEB-DAA0-5B14-5E3A-ED995968E492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444694FD-8EE3-ABC1-67D0-0FE3086D3E3C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74AF3B35-4EAE-00C7-B035-E2305CB1AAA8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D2093C1A-C0E3-B019-B5FF-369C0B7A6468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303EBCFB-8E3C-8BCB-C20A-AA9C3AD8DD2F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6CC1D624-FDFD-1F70-610E-7A12BC2C3F15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>
                <a:solidFill>
                  <a:schemeClr val="accent1">
                    <a:lumMod val="75000"/>
                  </a:schemeClr>
                </a:solidFill>
              </a:rPr>
              <a:t>11..7 (rd)</a:t>
            </a:r>
            <a:endParaRPr lang="es-ES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7494C9A4-989D-EB4F-1C15-C29839FA1C46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518066D9-1A86-EED9-087B-EB0E6524AEB8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D6C0F9A4-5ABA-320F-FF17-2102DDA876F9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4D02F41E-27F9-C6BD-3662-8A140D3B08B3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0B8AA53C-F948-C84E-FB68-B8748D19896E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25A7E39-9F14-C467-4B66-ED3A47E7C8DE}"/>
              </a:ext>
            </a:extLst>
          </p:cNvPr>
          <p:cNvSpPr txBox="1"/>
          <p:nvPr/>
        </p:nvSpPr>
        <p:spPr>
          <a:xfrm>
            <a:off x="3860972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TipoInst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89620251-1A59-D1A2-17F8-9A9DB9BE6E14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B28C9FA7-A3EC-5873-F60E-799AA4AEC431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A1052794-D152-80DE-C3C1-413A3F2BEC9D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5C2C3AB7-F7B8-D436-2F3F-DF3BA2CAEE51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3AC7E745-7E00-3025-3027-31EC86B73618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3BEB8212-C34C-6A17-FC61-9FC99B0A07D8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38A313CD-6C94-5575-B100-A34404EF93BA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DE082E0D-5E7E-47C4-3899-AFB316409356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2164A4A5-39E8-422F-B66D-A3942851EC36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69093D20-8F5C-4BA9-BCD9-79BCD2C67269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48994A11-6F8A-5C2E-5501-1708480B0559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53100" y="4119459"/>
            <a:ext cx="229627" cy="16063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BAA39F4D-1140-0A24-2724-337BAD1BB59D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DCD68A44-280A-1E1C-20F5-6D3C4B6B6E02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123">
            <a:extLst>
              <a:ext uri="{FF2B5EF4-FFF2-40B4-BE49-F238E27FC236}">
                <a16:creationId xmlns:a16="http://schemas.microsoft.com/office/drawing/2014/main" id="{4E67F9B4-CF19-FD03-1E84-8F4978F94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286" y="980728"/>
            <a:ext cx="28970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 rs2, inm(rs1) (Mem[rs1+inm]=rs2)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00C6ED-AAD1-419B-B0E5-CBA9CDA2B0B5}"/>
              </a:ext>
            </a:extLst>
          </p:cNvPr>
          <p:cNvCxnSpPr>
            <a:cxnSpLocks/>
            <a:endCxn id="365" idx="1"/>
          </p:cNvCxnSpPr>
          <p:nvPr/>
        </p:nvCxnSpPr>
        <p:spPr bwMode="auto">
          <a:xfrm>
            <a:off x="6915337" y="3757056"/>
            <a:ext cx="385356" cy="42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95C8CF2-3835-1E61-BD16-BE78454530CF}"/>
              </a:ext>
            </a:extLst>
          </p:cNvPr>
          <p:cNvCxnSpPr>
            <a:cxnSpLocks/>
            <a:endCxn id="384" idx="1"/>
          </p:cNvCxnSpPr>
          <p:nvPr/>
        </p:nvCxnSpPr>
        <p:spPr bwMode="auto">
          <a:xfrm flipV="1">
            <a:off x="4991608" y="3913453"/>
            <a:ext cx="412065" cy="29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AEC9DE1-80DC-1424-7A66-5B7747680372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1CA2842-DCF0-6317-9B61-53D77C7B85DD}"/>
              </a:ext>
            </a:extLst>
          </p:cNvPr>
          <p:cNvCxnSpPr>
            <a:cxnSpLocks/>
            <a:stCxn id="384" idx="2"/>
            <a:endCxn id="24" idx="0"/>
          </p:cNvCxnSpPr>
          <p:nvPr/>
        </p:nvCxnSpPr>
        <p:spPr bwMode="auto">
          <a:xfrm flipH="1">
            <a:off x="5441637" y="3951434"/>
            <a:ext cx="105" cy="825637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E306B7-0826-3AA7-505D-763441C2A857}"/>
              </a:ext>
            </a:extLst>
          </p:cNvPr>
          <p:cNvGrpSpPr/>
          <p:nvPr/>
        </p:nvGrpSpPr>
        <p:grpSpPr>
          <a:xfrm>
            <a:off x="4932040" y="72974"/>
            <a:ext cx="4163830" cy="1051477"/>
            <a:chOff x="3109309" y="5917230"/>
            <a:chExt cx="3345284" cy="997923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4BDF297-67D6-2FC8-1C24-253F30577F9B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14" name="Group 9">
                <a:extLst>
                  <a:ext uri="{FF2B5EF4-FFF2-40B4-BE49-F238E27FC236}">
                    <a16:creationId xmlns:a16="http://schemas.microsoft.com/office/drawing/2014/main" id="{61D791CE-A62D-5ECE-BF9F-5181A700B9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21" name="Rectangle 10">
                  <a:extLst>
                    <a:ext uri="{FF2B5EF4-FFF2-40B4-BE49-F238E27FC236}">
                      <a16:creationId xmlns:a16="http://schemas.microsoft.com/office/drawing/2014/main" id="{2AC190F2-EE71-5CA3-51D3-569C546E15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2" name="Group 155">
                  <a:extLst>
                    <a:ext uri="{FF2B5EF4-FFF2-40B4-BE49-F238E27FC236}">
                      <a16:creationId xmlns:a16="http://schemas.microsoft.com/office/drawing/2014/main" id="{C51CC49A-520E-E73D-610D-E10E4997CC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23" name="Group 5">
                    <a:extLst>
                      <a:ext uri="{FF2B5EF4-FFF2-40B4-BE49-F238E27FC236}">
                        <a16:creationId xmlns:a16="http://schemas.microsoft.com/office/drawing/2014/main" id="{5BBD03AE-923C-47FB-EAEE-92D56875FF7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88" name="Rectangle 6">
                      <a:extLst>
                        <a:ext uri="{FF2B5EF4-FFF2-40B4-BE49-F238E27FC236}">
                          <a16:creationId xmlns:a16="http://schemas.microsoft.com/office/drawing/2014/main" id="{1A1A6A92-494D-B726-18B8-602D34B56A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89" name="Group 7">
                      <a:extLst>
                        <a:ext uri="{FF2B5EF4-FFF2-40B4-BE49-F238E27FC236}">
                          <a16:creationId xmlns:a16="http://schemas.microsoft.com/office/drawing/2014/main" id="{3D04765F-1480-9A66-B520-B055EC5B190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90" name="Line 9">
                        <a:extLst>
                          <a:ext uri="{FF2B5EF4-FFF2-40B4-BE49-F238E27FC236}">
                            <a16:creationId xmlns:a16="http://schemas.microsoft.com/office/drawing/2014/main" id="{697A1FCE-D766-3426-8EE3-550C357F61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1" name="Line 10">
                        <a:extLst>
                          <a:ext uri="{FF2B5EF4-FFF2-40B4-BE49-F238E27FC236}">
                            <a16:creationId xmlns:a16="http://schemas.microsoft.com/office/drawing/2014/main" id="{4750801F-399C-4158-8667-A118C2D240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2" name="Line 11">
                        <a:extLst>
                          <a:ext uri="{FF2B5EF4-FFF2-40B4-BE49-F238E27FC236}">
                            <a16:creationId xmlns:a16="http://schemas.microsoft.com/office/drawing/2014/main" id="{EF6D0322-C753-C6C2-ED40-FF19BF9A53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3" name="Line 12">
                        <a:extLst>
                          <a:ext uri="{FF2B5EF4-FFF2-40B4-BE49-F238E27FC236}">
                            <a16:creationId xmlns:a16="http://schemas.microsoft.com/office/drawing/2014/main" id="{F8B1B067-435B-87F9-844C-79C9FD4D58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4" name="Line 13">
                        <a:extLst>
                          <a:ext uri="{FF2B5EF4-FFF2-40B4-BE49-F238E27FC236}">
                            <a16:creationId xmlns:a16="http://schemas.microsoft.com/office/drawing/2014/main" id="{149A0E7D-CF64-7B79-3F15-BB5182746C6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5" name="Line 14">
                        <a:extLst>
                          <a:ext uri="{FF2B5EF4-FFF2-40B4-BE49-F238E27FC236}">
                            <a16:creationId xmlns:a16="http://schemas.microsoft.com/office/drawing/2014/main" id="{0E609AFF-5E54-BE16-334E-2C92C737A8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6" name="Line 15">
                        <a:extLst>
                          <a:ext uri="{FF2B5EF4-FFF2-40B4-BE49-F238E27FC236}">
                            <a16:creationId xmlns:a16="http://schemas.microsoft.com/office/drawing/2014/main" id="{AF3993FA-2344-C7D5-1DFF-B898922205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7" name="Line 16">
                        <a:extLst>
                          <a:ext uri="{FF2B5EF4-FFF2-40B4-BE49-F238E27FC236}">
                            <a16:creationId xmlns:a16="http://schemas.microsoft.com/office/drawing/2014/main" id="{5BBF1CD8-728A-D4CC-9393-79C76F4A46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8" name="Line 17">
                        <a:extLst>
                          <a:ext uri="{FF2B5EF4-FFF2-40B4-BE49-F238E27FC236}">
                            <a16:creationId xmlns:a16="http://schemas.microsoft.com/office/drawing/2014/main" id="{67C0C2DD-9DD8-2634-E8F7-C60D768A3C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9" name="Line 18">
                        <a:extLst>
                          <a:ext uri="{FF2B5EF4-FFF2-40B4-BE49-F238E27FC236}">
                            <a16:creationId xmlns:a16="http://schemas.microsoft.com/office/drawing/2014/main" id="{A2EEE77D-1AE7-B606-AE6E-0B631250FE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0" name="Line 19">
                        <a:extLst>
                          <a:ext uri="{FF2B5EF4-FFF2-40B4-BE49-F238E27FC236}">
                            <a16:creationId xmlns:a16="http://schemas.microsoft.com/office/drawing/2014/main" id="{8E694B35-FE12-AE67-55BF-9C7F3A383E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1" name="Line 20">
                        <a:extLst>
                          <a:ext uri="{FF2B5EF4-FFF2-40B4-BE49-F238E27FC236}">
                            <a16:creationId xmlns:a16="http://schemas.microsoft.com/office/drawing/2014/main" id="{E00B5D4C-3480-25BE-9EAA-D5D19EF539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" name="Line 21">
                        <a:extLst>
                          <a:ext uri="{FF2B5EF4-FFF2-40B4-BE49-F238E27FC236}">
                            <a16:creationId xmlns:a16="http://schemas.microsoft.com/office/drawing/2014/main" id="{A336E7A8-AE85-AE20-0768-0BB931EDB7A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3" name="Line 22">
                        <a:extLst>
                          <a:ext uri="{FF2B5EF4-FFF2-40B4-BE49-F238E27FC236}">
                            <a16:creationId xmlns:a16="http://schemas.microsoft.com/office/drawing/2014/main" id="{A54AC5D7-B2D9-A514-667E-7B33EAEF346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4" name="Line 23">
                        <a:extLst>
                          <a:ext uri="{FF2B5EF4-FFF2-40B4-BE49-F238E27FC236}">
                            <a16:creationId xmlns:a16="http://schemas.microsoft.com/office/drawing/2014/main" id="{C5ACE631-139D-133C-E3B5-4E84269515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5" name="Line 24">
                        <a:extLst>
                          <a:ext uri="{FF2B5EF4-FFF2-40B4-BE49-F238E27FC236}">
                            <a16:creationId xmlns:a16="http://schemas.microsoft.com/office/drawing/2014/main" id="{70A7183D-94B9-0C8B-B578-E1F350B0FF9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6" name="Line 25">
                        <a:extLst>
                          <a:ext uri="{FF2B5EF4-FFF2-40B4-BE49-F238E27FC236}">
                            <a16:creationId xmlns:a16="http://schemas.microsoft.com/office/drawing/2014/main" id="{DA8FDFAB-8A1E-D1A6-B7A6-EFC84E298B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7" name="Line 26">
                        <a:extLst>
                          <a:ext uri="{FF2B5EF4-FFF2-40B4-BE49-F238E27FC236}">
                            <a16:creationId xmlns:a16="http://schemas.microsoft.com/office/drawing/2014/main" id="{50783D0F-30CE-4766-1333-5F4500E8FD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8" name="Line 27">
                        <a:extLst>
                          <a:ext uri="{FF2B5EF4-FFF2-40B4-BE49-F238E27FC236}">
                            <a16:creationId xmlns:a16="http://schemas.microsoft.com/office/drawing/2014/main" id="{3A92D834-CFFB-9F4B-A5FF-7DF836946E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9" name="Line 28">
                        <a:extLst>
                          <a:ext uri="{FF2B5EF4-FFF2-40B4-BE49-F238E27FC236}">
                            <a16:creationId xmlns:a16="http://schemas.microsoft.com/office/drawing/2014/main" id="{499DBD8D-92A1-2282-EFD7-AE1D724FBE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0" name="Line 29">
                        <a:extLst>
                          <a:ext uri="{FF2B5EF4-FFF2-40B4-BE49-F238E27FC236}">
                            <a16:creationId xmlns:a16="http://schemas.microsoft.com/office/drawing/2014/main" id="{56976A63-4DF4-32BD-4311-71C698B5E6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1" name="Line 30">
                        <a:extLst>
                          <a:ext uri="{FF2B5EF4-FFF2-40B4-BE49-F238E27FC236}">
                            <a16:creationId xmlns:a16="http://schemas.microsoft.com/office/drawing/2014/main" id="{59D7D88B-65CF-0CCD-F3E3-3F97FA024F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2" name="Line 31">
                        <a:extLst>
                          <a:ext uri="{FF2B5EF4-FFF2-40B4-BE49-F238E27FC236}">
                            <a16:creationId xmlns:a16="http://schemas.microsoft.com/office/drawing/2014/main" id="{D3C3BA93-DCDA-B908-3DC7-02DE59BCB2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3" name="Line 32">
                        <a:extLst>
                          <a:ext uri="{FF2B5EF4-FFF2-40B4-BE49-F238E27FC236}">
                            <a16:creationId xmlns:a16="http://schemas.microsoft.com/office/drawing/2014/main" id="{EDC6A990-3BB3-FF65-459D-E8833C765F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4" name="Line 33">
                        <a:extLst>
                          <a:ext uri="{FF2B5EF4-FFF2-40B4-BE49-F238E27FC236}">
                            <a16:creationId xmlns:a16="http://schemas.microsoft.com/office/drawing/2014/main" id="{0E19A776-CF7E-85E3-2435-AAF9C0ED77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5" name="Line 34">
                        <a:extLst>
                          <a:ext uri="{FF2B5EF4-FFF2-40B4-BE49-F238E27FC236}">
                            <a16:creationId xmlns:a16="http://schemas.microsoft.com/office/drawing/2014/main" id="{C1B055B8-33A9-5270-D66C-B35458B5DF6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6" name="Line 35">
                        <a:extLst>
                          <a:ext uri="{FF2B5EF4-FFF2-40B4-BE49-F238E27FC236}">
                            <a16:creationId xmlns:a16="http://schemas.microsoft.com/office/drawing/2014/main" id="{80AB7D7A-B4ED-A1EB-527F-C775C95A9BC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7" name="Line 36">
                        <a:extLst>
                          <a:ext uri="{FF2B5EF4-FFF2-40B4-BE49-F238E27FC236}">
                            <a16:creationId xmlns:a16="http://schemas.microsoft.com/office/drawing/2014/main" id="{BE4854A1-D45B-CD77-CD89-5A5633A52A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8" name="Line 37">
                        <a:extLst>
                          <a:ext uri="{FF2B5EF4-FFF2-40B4-BE49-F238E27FC236}">
                            <a16:creationId xmlns:a16="http://schemas.microsoft.com/office/drawing/2014/main" id="{B34C677E-1ECD-62EF-7037-79A3357DB7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9" name="Line 38">
                        <a:extLst>
                          <a:ext uri="{FF2B5EF4-FFF2-40B4-BE49-F238E27FC236}">
                            <a16:creationId xmlns:a16="http://schemas.microsoft.com/office/drawing/2014/main" id="{29EFCFCB-64F2-9DD5-CAB8-86B20C39B8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6" name="Line 39">
                    <a:extLst>
                      <a:ext uri="{FF2B5EF4-FFF2-40B4-BE49-F238E27FC236}">
                        <a16:creationId xmlns:a16="http://schemas.microsoft.com/office/drawing/2014/main" id="{87EB7D39-D1F4-2077-1618-6AB79A5929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7" name="Text Box 40">
                    <a:extLst>
                      <a:ext uri="{FF2B5EF4-FFF2-40B4-BE49-F238E27FC236}">
                        <a16:creationId xmlns:a16="http://schemas.microsoft.com/office/drawing/2014/main" id="{EC0A023E-A326-ADEB-53D9-EE21C7F7257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[11:5]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8" name="Text Box 41">
                    <a:extLst>
                      <a:ext uri="{FF2B5EF4-FFF2-40B4-BE49-F238E27FC236}">
                        <a16:creationId xmlns:a16="http://schemas.microsoft.com/office/drawing/2014/main" id="{AED64D3D-C235-ECA4-90BC-92B6333ADF2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76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9" name="Line 42">
                    <a:extLst>
                      <a:ext uri="{FF2B5EF4-FFF2-40B4-BE49-F238E27FC236}">
                        <a16:creationId xmlns:a16="http://schemas.microsoft.com/office/drawing/2014/main" id="{3FB4B078-7D3F-887A-2B1A-0E026643F5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" name="Line 43">
                    <a:extLst>
                      <a:ext uri="{FF2B5EF4-FFF2-40B4-BE49-F238E27FC236}">
                        <a16:creationId xmlns:a16="http://schemas.microsoft.com/office/drawing/2014/main" id="{FD05EB63-8B41-7E1E-CE50-D46EDCC661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1" name="Line 44">
                    <a:extLst>
                      <a:ext uri="{FF2B5EF4-FFF2-40B4-BE49-F238E27FC236}">
                        <a16:creationId xmlns:a16="http://schemas.microsoft.com/office/drawing/2014/main" id="{88E81DF4-9582-E5B9-E652-BB867D0387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7" name="Text Box 45">
                    <a:extLst>
                      <a:ext uri="{FF2B5EF4-FFF2-40B4-BE49-F238E27FC236}">
                        <a16:creationId xmlns:a16="http://schemas.microsoft.com/office/drawing/2014/main" id="{4A82054C-DDAB-4DF5-CE87-2A4C222A548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9" name="Text Box 46">
                    <a:extLst>
                      <a:ext uri="{FF2B5EF4-FFF2-40B4-BE49-F238E27FC236}">
                        <a16:creationId xmlns:a16="http://schemas.microsoft.com/office/drawing/2014/main" id="{C6122737-2AB7-235E-F9B6-B1A8DC98555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2" name="Text Box 47">
                    <a:extLst>
                      <a:ext uri="{FF2B5EF4-FFF2-40B4-BE49-F238E27FC236}">
                        <a16:creationId xmlns:a16="http://schemas.microsoft.com/office/drawing/2014/main" id="{6B2604D2-F403-6EC0-214F-A4E7583ADA5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3" name="Text Box 48">
                    <a:extLst>
                      <a:ext uri="{FF2B5EF4-FFF2-40B4-BE49-F238E27FC236}">
                        <a16:creationId xmlns:a16="http://schemas.microsoft.com/office/drawing/2014/main" id="{D68A8AB2-B843-89F9-BAEC-81D43A7F112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4" name="Text Box 49">
                    <a:extLst>
                      <a:ext uri="{FF2B5EF4-FFF2-40B4-BE49-F238E27FC236}">
                        <a16:creationId xmlns:a16="http://schemas.microsoft.com/office/drawing/2014/main" id="{33EF85AF-0B40-6892-5856-128A70D4ABB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7" name="Text Box 50">
                    <a:extLst>
                      <a:ext uri="{FF2B5EF4-FFF2-40B4-BE49-F238E27FC236}">
                        <a16:creationId xmlns:a16="http://schemas.microsoft.com/office/drawing/2014/main" id="{B363BC1E-4047-1003-64D0-CCAA2F8C3B6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8" name="Text Box 51">
                    <a:extLst>
                      <a:ext uri="{FF2B5EF4-FFF2-40B4-BE49-F238E27FC236}">
                        <a16:creationId xmlns:a16="http://schemas.microsoft.com/office/drawing/2014/main" id="{E29B0C5D-67DE-7F03-A4AC-8ED4AA172A2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60" name="Text Box 52">
                    <a:extLst>
                      <a:ext uri="{FF2B5EF4-FFF2-40B4-BE49-F238E27FC236}">
                        <a16:creationId xmlns:a16="http://schemas.microsoft.com/office/drawing/2014/main" id="{71075461-E448-A99B-8DF4-569E593F43C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72" name="Text Box 53">
                    <a:extLst>
                      <a:ext uri="{FF2B5EF4-FFF2-40B4-BE49-F238E27FC236}">
                        <a16:creationId xmlns:a16="http://schemas.microsoft.com/office/drawing/2014/main" id="{62FDC17C-F6D5-D005-40BF-9D1E5B50A9F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86" name="Line 153">
                    <a:extLst>
                      <a:ext uri="{FF2B5EF4-FFF2-40B4-BE49-F238E27FC236}">
                        <a16:creationId xmlns:a16="http://schemas.microsoft.com/office/drawing/2014/main" id="{22F0FCB2-0212-E5F0-E998-FC88BFD9FC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7" name="Text Box 154">
                    <a:extLst>
                      <a:ext uri="{FF2B5EF4-FFF2-40B4-BE49-F238E27FC236}">
                        <a16:creationId xmlns:a16="http://schemas.microsoft.com/office/drawing/2014/main" id="{E18BE5B0-4854-D020-E299-6B330F4BEF0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7" name="Text Box 41">
                <a:extLst>
                  <a:ext uri="{FF2B5EF4-FFF2-40B4-BE49-F238E27FC236}">
                    <a16:creationId xmlns:a16="http://schemas.microsoft.com/office/drawing/2014/main" id="{022BCE7E-D29A-C1DC-7C12-C0280E8CEF3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5996069"/>
                <a:ext cx="737522" cy="1676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5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105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[4:0]</a:t>
                </a:r>
                <a:endParaRPr lang="ca-E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8D049077-63D7-625E-E36F-5D648C1B7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416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914B-908E-E3D6-F01E-1DD8EECD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6D2B8-4F91-5928-9B5A-9646B1BE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Instrucción </a:t>
            </a:r>
            <a:r>
              <a:rPr lang="es-ES_tradnl" noProof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s-ES_tradnl" noProof="1"/>
              <a:t>: Señales de control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8A797A-3A49-71D6-0542-DA17B917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76</a:t>
            </a:fld>
            <a:endParaRPr lang="es-ES_tradnl" noProof="1"/>
          </a:p>
        </p:txBody>
      </p:sp>
      <p:sp>
        <p:nvSpPr>
          <p:cNvPr id="3" name="Rectangle 168">
            <a:extLst>
              <a:ext uri="{FF2B5EF4-FFF2-40B4-BE49-F238E27FC236}">
                <a16:creationId xmlns:a16="http://schemas.microsoft.com/office/drawing/2014/main" id="{E77C406B-53BC-9C30-5C3E-7869F4A18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1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1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000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noProof="1">
                <a:latin typeface="Calibri" pitchFamily="-103" charset="0"/>
              </a:rPr>
              <a:t>001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1">
                <a:latin typeface="Calibri" pitchFamily="-103" charset="0"/>
              </a:rPr>
              <a:t> b (or)</a:t>
            </a:r>
          </a:p>
          <a:p>
            <a:pPr algn="l"/>
            <a:r>
              <a:rPr lang="es-ES_tradnl" sz="1200" noProof="1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110	a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i="1" noProof="1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AAC60293-996C-B67B-3338-A77160C3C7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043261"/>
              </p:ext>
            </p:extLst>
          </p:nvPr>
        </p:nvGraphicFramePr>
        <p:xfrm>
          <a:off x="816219" y="895952"/>
          <a:ext cx="8117470" cy="231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Mem.</a:t>
                      </a:r>
                    </a:p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i="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i="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b="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w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i="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790108"/>
                  </a:ext>
                </a:extLst>
              </a:tr>
            </a:tbl>
          </a:graphicData>
        </a:graphic>
      </p:graphicFrame>
      <p:sp>
        <p:nvSpPr>
          <p:cNvPr id="6" name="Llamada rectangular redondeada 5">
            <a:extLst>
              <a:ext uri="{FF2B5EF4-FFF2-40B4-BE49-F238E27FC236}">
                <a16:creationId xmlns:a16="http://schemas.microsoft.com/office/drawing/2014/main" id="{198764F0-0CDE-C47D-E060-A79EADABC54C}"/>
              </a:ext>
            </a:extLst>
          </p:cNvPr>
          <p:cNvSpPr/>
          <p:nvPr/>
        </p:nvSpPr>
        <p:spPr bwMode="auto">
          <a:xfrm>
            <a:off x="6172200" y="3933057"/>
            <a:ext cx="2514600" cy="648072"/>
          </a:xfrm>
          <a:prstGeom prst="wedgeRoundRectCallout">
            <a:avLst>
              <a:gd name="adj1" fmla="val 46506"/>
              <a:gd name="adj2" fmla="val -156199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s-ES_tradnl" sz="12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escribe en el banco de registros</a:t>
            </a:r>
          </a:p>
        </p:txBody>
      </p:sp>
      <p:sp>
        <p:nvSpPr>
          <p:cNvPr id="7" name="9 Rectángulo">
            <a:extLst>
              <a:ext uri="{FF2B5EF4-FFF2-40B4-BE49-F238E27FC236}">
                <a16:creationId xmlns:a16="http://schemas.microsoft.com/office/drawing/2014/main" id="{6C8601D3-0A79-094F-7A1F-11F915F842B2}"/>
              </a:ext>
            </a:extLst>
          </p:cNvPr>
          <p:cNvSpPr/>
          <p:nvPr/>
        </p:nvSpPr>
        <p:spPr bwMode="auto">
          <a:xfrm>
            <a:off x="8388424" y="2852936"/>
            <a:ext cx="545264" cy="321560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3753244062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B257-FE5C-773C-184A-A8FDAE7F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7CF7AC1-6101-2375-A151-2DD503F9C0D9}"/>
              </a:ext>
            </a:extLst>
          </p:cNvPr>
          <p:cNvGrpSpPr/>
          <p:nvPr/>
        </p:nvGrpSpPr>
        <p:grpSpPr>
          <a:xfrm>
            <a:off x="4932040" y="66336"/>
            <a:ext cx="4191655" cy="1065725"/>
            <a:chOff x="3109309" y="5917230"/>
            <a:chExt cx="3345284" cy="997923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49D1C52B-B7DA-B1A1-CEF0-5B9448A81E4B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997923"/>
              <a:chOff x="3109309" y="5917230"/>
              <a:chExt cx="3345284" cy="997923"/>
            </a:xfrm>
          </p:grpSpPr>
          <p:grpSp>
            <p:nvGrpSpPr>
              <p:cNvPr id="7" name="Group 9">
                <a:extLst>
                  <a:ext uri="{FF2B5EF4-FFF2-40B4-BE49-F238E27FC236}">
                    <a16:creationId xmlns:a16="http://schemas.microsoft.com/office/drawing/2014/main" id="{413F8F7E-E772-10EB-004B-2D71A1AFE3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997923"/>
                <a:chOff x="143" y="692"/>
                <a:chExt cx="2545" cy="597"/>
              </a:xfrm>
            </p:grpSpPr>
            <p:sp>
              <p:nvSpPr>
                <p:cNvPr id="9" name="Rectangle 10">
                  <a:extLst>
                    <a:ext uri="{FF2B5EF4-FFF2-40B4-BE49-F238E27FC236}">
                      <a16:creationId xmlns:a16="http://schemas.microsoft.com/office/drawing/2014/main" id="{C6941DBD-8736-79B1-F4F6-7722FB32C3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5" name="Group 155">
                  <a:extLst>
                    <a:ext uri="{FF2B5EF4-FFF2-40B4-BE49-F238E27FC236}">
                      <a16:creationId xmlns:a16="http://schemas.microsoft.com/office/drawing/2014/main" id="{0DFE7B68-779A-A229-B0A3-3439E32C5E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5"/>
                  <a:ext cx="2519" cy="534"/>
                  <a:chOff x="1168" y="1273"/>
                  <a:chExt cx="3246" cy="875"/>
                </a:xfrm>
              </p:grpSpPr>
              <p:grpSp>
                <p:nvGrpSpPr>
                  <p:cNvPr id="16" name="Group 5">
                    <a:extLst>
                      <a:ext uri="{FF2B5EF4-FFF2-40B4-BE49-F238E27FC236}">
                        <a16:creationId xmlns:a16="http://schemas.microsoft.com/office/drawing/2014/main" id="{2476F547-F925-E6F4-8DF2-F72A7BD60E7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54" name="Rectangle 6">
                      <a:extLst>
                        <a:ext uri="{FF2B5EF4-FFF2-40B4-BE49-F238E27FC236}">
                          <a16:creationId xmlns:a16="http://schemas.microsoft.com/office/drawing/2014/main" id="{4FF8B0E3-A338-D4FF-A170-30F9CC5F6E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55" name="Group 7">
                      <a:extLst>
                        <a:ext uri="{FF2B5EF4-FFF2-40B4-BE49-F238E27FC236}">
                          <a16:creationId xmlns:a16="http://schemas.microsoft.com/office/drawing/2014/main" id="{64E8FACD-6160-A2E5-98DA-87536286E7E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56" name="Line 9">
                        <a:extLst>
                          <a:ext uri="{FF2B5EF4-FFF2-40B4-BE49-F238E27FC236}">
                            <a16:creationId xmlns:a16="http://schemas.microsoft.com/office/drawing/2014/main" id="{7C2E7418-FCF2-4841-1D21-27316B37B9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7" name="Line 10">
                        <a:extLst>
                          <a:ext uri="{FF2B5EF4-FFF2-40B4-BE49-F238E27FC236}">
                            <a16:creationId xmlns:a16="http://schemas.microsoft.com/office/drawing/2014/main" id="{88BED365-DC74-5D50-0F26-5EAEA338F0A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8" name="Line 11">
                        <a:extLst>
                          <a:ext uri="{FF2B5EF4-FFF2-40B4-BE49-F238E27FC236}">
                            <a16:creationId xmlns:a16="http://schemas.microsoft.com/office/drawing/2014/main" id="{81291299-45BD-5434-EFAA-867FA2A51C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12">
                        <a:extLst>
                          <a:ext uri="{FF2B5EF4-FFF2-40B4-BE49-F238E27FC236}">
                            <a16:creationId xmlns:a16="http://schemas.microsoft.com/office/drawing/2014/main" id="{978EE93E-9D8D-AC93-E26A-54F1E28967D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1" name="Line 13">
                        <a:extLst>
                          <a:ext uri="{FF2B5EF4-FFF2-40B4-BE49-F238E27FC236}">
                            <a16:creationId xmlns:a16="http://schemas.microsoft.com/office/drawing/2014/main" id="{7A9386B0-8CDF-D0E1-4996-DE353FEBA71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2" name="Line 14">
                        <a:extLst>
                          <a:ext uri="{FF2B5EF4-FFF2-40B4-BE49-F238E27FC236}">
                            <a16:creationId xmlns:a16="http://schemas.microsoft.com/office/drawing/2014/main" id="{10E170BA-E8DA-D12C-1026-046426E66B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3" name="Line 15">
                        <a:extLst>
                          <a:ext uri="{FF2B5EF4-FFF2-40B4-BE49-F238E27FC236}">
                            <a16:creationId xmlns:a16="http://schemas.microsoft.com/office/drawing/2014/main" id="{BB4FBDB6-7ABB-6F38-1030-5DA75C0C09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4" name="Line 16">
                        <a:extLst>
                          <a:ext uri="{FF2B5EF4-FFF2-40B4-BE49-F238E27FC236}">
                            <a16:creationId xmlns:a16="http://schemas.microsoft.com/office/drawing/2014/main" id="{FE508995-BC19-40D2-2951-35A2760BCD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5" name="Line 17">
                        <a:extLst>
                          <a:ext uri="{FF2B5EF4-FFF2-40B4-BE49-F238E27FC236}">
                            <a16:creationId xmlns:a16="http://schemas.microsoft.com/office/drawing/2014/main" id="{E50F9791-2077-ED97-DA3C-D73F5D0AD47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6" name="Line 18">
                        <a:extLst>
                          <a:ext uri="{FF2B5EF4-FFF2-40B4-BE49-F238E27FC236}">
                            <a16:creationId xmlns:a16="http://schemas.microsoft.com/office/drawing/2014/main" id="{34278969-D486-55C3-F033-641875011E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7" name="Line 19">
                        <a:extLst>
                          <a:ext uri="{FF2B5EF4-FFF2-40B4-BE49-F238E27FC236}">
                            <a16:creationId xmlns:a16="http://schemas.microsoft.com/office/drawing/2014/main" id="{ED9B907D-340B-EA50-0D1B-2EA20F72D0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8" name="Line 20">
                        <a:extLst>
                          <a:ext uri="{FF2B5EF4-FFF2-40B4-BE49-F238E27FC236}">
                            <a16:creationId xmlns:a16="http://schemas.microsoft.com/office/drawing/2014/main" id="{CEF129E5-F48A-DCF8-ABC1-283928F2EB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9" name="Line 21">
                        <a:extLst>
                          <a:ext uri="{FF2B5EF4-FFF2-40B4-BE49-F238E27FC236}">
                            <a16:creationId xmlns:a16="http://schemas.microsoft.com/office/drawing/2014/main" id="{7EA88FAF-67B2-BCC1-64A2-D54EDE83E8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0" name="Line 22">
                        <a:extLst>
                          <a:ext uri="{FF2B5EF4-FFF2-40B4-BE49-F238E27FC236}">
                            <a16:creationId xmlns:a16="http://schemas.microsoft.com/office/drawing/2014/main" id="{33E0D0C0-F7E5-ADFC-A8DD-5D03158771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1" name="Line 23">
                        <a:extLst>
                          <a:ext uri="{FF2B5EF4-FFF2-40B4-BE49-F238E27FC236}">
                            <a16:creationId xmlns:a16="http://schemas.microsoft.com/office/drawing/2014/main" id="{318D56DE-A1FE-9E1A-B644-01C75A924D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3" name="Line 24">
                        <a:extLst>
                          <a:ext uri="{FF2B5EF4-FFF2-40B4-BE49-F238E27FC236}">
                            <a16:creationId xmlns:a16="http://schemas.microsoft.com/office/drawing/2014/main" id="{DC4FE4CF-3F0C-331F-2A3F-15AA56F4B55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4" name="Line 25">
                        <a:extLst>
                          <a:ext uri="{FF2B5EF4-FFF2-40B4-BE49-F238E27FC236}">
                            <a16:creationId xmlns:a16="http://schemas.microsoft.com/office/drawing/2014/main" id="{325C04FD-FB3D-16BB-28E7-635186A611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5" name="Line 26">
                        <a:extLst>
                          <a:ext uri="{FF2B5EF4-FFF2-40B4-BE49-F238E27FC236}">
                            <a16:creationId xmlns:a16="http://schemas.microsoft.com/office/drawing/2014/main" id="{8744F1F4-5082-E820-65F2-8087E7058A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6" name="Line 27">
                        <a:extLst>
                          <a:ext uri="{FF2B5EF4-FFF2-40B4-BE49-F238E27FC236}">
                            <a16:creationId xmlns:a16="http://schemas.microsoft.com/office/drawing/2014/main" id="{850E166E-15B6-472B-5E7F-F3599B9E630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7" name="Line 28">
                        <a:extLst>
                          <a:ext uri="{FF2B5EF4-FFF2-40B4-BE49-F238E27FC236}">
                            <a16:creationId xmlns:a16="http://schemas.microsoft.com/office/drawing/2014/main" id="{97C45AFB-E185-8299-2C61-DF9FACF3C0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8" name="Line 29">
                        <a:extLst>
                          <a:ext uri="{FF2B5EF4-FFF2-40B4-BE49-F238E27FC236}">
                            <a16:creationId xmlns:a16="http://schemas.microsoft.com/office/drawing/2014/main" id="{3E7CE82D-2151-0385-822A-27AF3D59B1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9" name="Line 30">
                        <a:extLst>
                          <a:ext uri="{FF2B5EF4-FFF2-40B4-BE49-F238E27FC236}">
                            <a16:creationId xmlns:a16="http://schemas.microsoft.com/office/drawing/2014/main" id="{AB7CB880-2F16-61E3-311C-D0303B2581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0" name="Line 31">
                        <a:extLst>
                          <a:ext uri="{FF2B5EF4-FFF2-40B4-BE49-F238E27FC236}">
                            <a16:creationId xmlns:a16="http://schemas.microsoft.com/office/drawing/2014/main" id="{28244360-EE66-A315-EED3-E053B241B5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1" name="Line 32">
                        <a:extLst>
                          <a:ext uri="{FF2B5EF4-FFF2-40B4-BE49-F238E27FC236}">
                            <a16:creationId xmlns:a16="http://schemas.microsoft.com/office/drawing/2014/main" id="{7BFC4D3E-1B0E-7C7B-3A29-6302DDC3A1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2" name="Line 33">
                        <a:extLst>
                          <a:ext uri="{FF2B5EF4-FFF2-40B4-BE49-F238E27FC236}">
                            <a16:creationId xmlns:a16="http://schemas.microsoft.com/office/drawing/2014/main" id="{2D9204E8-D70B-D295-AF4D-268B73FEE62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3" name="Line 34">
                        <a:extLst>
                          <a:ext uri="{FF2B5EF4-FFF2-40B4-BE49-F238E27FC236}">
                            <a16:creationId xmlns:a16="http://schemas.microsoft.com/office/drawing/2014/main" id="{622EC613-DBE1-A0CC-BA58-A84C4331CB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4" name="Line 35">
                        <a:extLst>
                          <a:ext uri="{FF2B5EF4-FFF2-40B4-BE49-F238E27FC236}">
                            <a16:creationId xmlns:a16="http://schemas.microsoft.com/office/drawing/2014/main" id="{C2A004A3-025D-197A-CF8D-61397B9F4B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5" name="Line 36">
                        <a:extLst>
                          <a:ext uri="{FF2B5EF4-FFF2-40B4-BE49-F238E27FC236}">
                            <a16:creationId xmlns:a16="http://schemas.microsoft.com/office/drawing/2014/main" id="{A245E3AF-D9DD-3E8F-2D57-80834F915C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6" name="Line 37">
                        <a:extLst>
                          <a:ext uri="{FF2B5EF4-FFF2-40B4-BE49-F238E27FC236}">
                            <a16:creationId xmlns:a16="http://schemas.microsoft.com/office/drawing/2014/main" id="{95DCA328-44E5-E261-2A35-7BE670976A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87" name="Line 38">
                        <a:extLst>
                          <a:ext uri="{FF2B5EF4-FFF2-40B4-BE49-F238E27FC236}">
                            <a16:creationId xmlns:a16="http://schemas.microsoft.com/office/drawing/2014/main" id="{991C6F93-E88A-A94B-B84A-146334FF18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18" name="Line 39">
                    <a:extLst>
                      <a:ext uri="{FF2B5EF4-FFF2-40B4-BE49-F238E27FC236}">
                        <a16:creationId xmlns:a16="http://schemas.microsoft.com/office/drawing/2014/main" id="{4ADF6D8F-EDBE-5853-DDC1-53B15A08C9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0" name="Text Box 40">
                    <a:extLst>
                      <a:ext uri="{FF2B5EF4-FFF2-40B4-BE49-F238E27FC236}">
                        <a16:creationId xmlns:a16="http://schemas.microsoft.com/office/drawing/2014/main" id="{A970DAFF-29F6-2858-AF8B-E7C19A071F4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00" b="1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900" b="1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[12|10:5]</a:t>
                    </a:r>
                    <a:endParaRPr lang="ca-ES" sz="900" b="1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2" name="Text Box 41">
                    <a:extLst>
                      <a:ext uri="{FF2B5EF4-FFF2-40B4-BE49-F238E27FC236}">
                        <a16:creationId xmlns:a16="http://schemas.microsoft.com/office/drawing/2014/main" id="{18F99E4E-D392-F5B1-9843-B5900BCED53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77"/>
                    <a:ext cx="543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3" name="Line 42">
                    <a:extLst>
                      <a:ext uri="{FF2B5EF4-FFF2-40B4-BE49-F238E27FC236}">
                        <a16:creationId xmlns:a16="http://schemas.microsoft.com/office/drawing/2014/main" id="{9576C1D3-9718-1FE0-5080-B460DDFF98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4" name="Line 43">
                    <a:extLst>
                      <a:ext uri="{FF2B5EF4-FFF2-40B4-BE49-F238E27FC236}">
                        <a16:creationId xmlns:a16="http://schemas.microsoft.com/office/drawing/2014/main" id="{9177E9AD-3F45-3C76-4A5F-74F7D1002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" name="Line 44">
                    <a:extLst>
                      <a:ext uri="{FF2B5EF4-FFF2-40B4-BE49-F238E27FC236}">
                        <a16:creationId xmlns:a16="http://schemas.microsoft.com/office/drawing/2014/main" id="{3C1EC31F-68F5-0540-F20B-CCCC93914F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" name="Text Box 45">
                    <a:extLst>
                      <a:ext uri="{FF2B5EF4-FFF2-40B4-BE49-F238E27FC236}">
                        <a16:creationId xmlns:a16="http://schemas.microsoft.com/office/drawing/2014/main" id="{BA8B1D59-896B-31CC-E65B-9A770380562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38" name="Text Box 46">
                    <a:extLst>
                      <a:ext uri="{FF2B5EF4-FFF2-40B4-BE49-F238E27FC236}">
                        <a16:creationId xmlns:a16="http://schemas.microsoft.com/office/drawing/2014/main" id="{3AD44511-C910-6220-BE4E-6912433E383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0" name="Text Box 47">
                    <a:extLst>
                      <a:ext uri="{FF2B5EF4-FFF2-40B4-BE49-F238E27FC236}">
                        <a16:creationId xmlns:a16="http://schemas.microsoft.com/office/drawing/2014/main" id="{2BD8082B-5F0C-F775-50F8-C81ABD8C632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1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1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1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1" name="Text Box 48">
                    <a:extLst>
                      <a:ext uri="{FF2B5EF4-FFF2-40B4-BE49-F238E27FC236}">
                        <a16:creationId xmlns:a16="http://schemas.microsoft.com/office/drawing/2014/main" id="{910E3659-CBA3-9219-2005-75A67C8829D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5" name="Text Box 49">
                    <a:extLst>
                      <a:ext uri="{FF2B5EF4-FFF2-40B4-BE49-F238E27FC236}">
                        <a16:creationId xmlns:a16="http://schemas.microsoft.com/office/drawing/2014/main" id="{49FDA51B-7283-AF3F-29F2-DDD8BD85697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6" name="Text Box 50">
                    <a:extLst>
                      <a:ext uri="{FF2B5EF4-FFF2-40B4-BE49-F238E27FC236}">
                        <a16:creationId xmlns:a16="http://schemas.microsoft.com/office/drawing/2014/main" id="{876AC1BE-8A99-6F82-A9F0-91D4F583539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49" name="Text Box 51">
                    <a:extLst>
                      <a:ext uri="{FF2B5EF4-FFF2-40B4-BE49-F238E27FC236}">
                        <a16:creationId xmlns:a16="http://schemas.microsoft.com/office/drawing/2014/main" id="{B25922F6-8531-42D3-9A27-E6C0198C55C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50" name="Text Box 52">
                    <a:extLst>
                      <a:ext uri="{FF2B5EF4-FFF2-40B4-BE49-F238E27FC236}">
                        <a16:creationId xmlns:a16="http://schemas.microsoft.com/office/drawing/2014/main" id="{942AF5F1-E8EA-5FAB-E5B9-F2474EFBE80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51" name="Text Box 53">
                    <a:extLst>
                      <a:ext uri="{FF2B5EF4-FFF2-40B4-BE49-F238E27FC236}">
                        <a16:creationId xmlns:a16="http://schemas.microsoft.com/office/drawing/2014/main" id="{CDE4D21B-31D7-0991-4F07-6F2609A84F3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52" name="Line 153">
                    <a:extLst>
                      <a:ext uri="{FF2B5EF4-FFF2-40B4-BE49-F238E27FC236}">
                        <a16:creationId xmlns:a16="http://schemas.microsoft.com/office/drawing/2014/main" id="{EA06FA88-91EB-BF96-B198-1089609BBB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3" name="Text Box 154">
                    <a:extLst>
                      <a:ext uri="{FF2B5EF4-FFF2-40B4-BE49-F238E27FC236}">
                        <a16:creationId xmlns:a16="http://schemas.microsoft.com/office/drawing/2014/main" id="{408E6FDD-7EF5-4F76-3F22-E15A0B084D1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8" name="Text Box 41">
                <a:extLst>
                  <a:ext uri="{FF2B5EF4-FFF2-40B4-BE49-F238E27FC236}">
                    <a16:creationId xmlns:a16="http://schemas.microsoft.com/office/drawing/2014/main" id="{BB7BF779-CF16-FA99-D67C-8A316279733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32296"/>
                <a:ext cx="737522" cy="201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800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8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[4:1|11]</a:t>
                </a:r>
                <a:endParaRPr lang="ca-ES" sz="10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6" name="Line 11">
              <a:extLst>
                <a:ext uri="{FF2B5EF4-FFF2-40B4-BE49-F238E27FC236}">
                  <a16:creationId xmlns:a16="http://schemas.microsoft.com/office/drawing/2014/main" id="{962DBE05-F535-6182-39B5-FA75B4E7D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8B32EDE-C342-9812-9490-CC595B53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Ruta de datos para </a:t>
            </a:r>
            <a:br>
              <a:rPr lang="es-ES_tradnl" noProof="1"/>
            </a:br>
            <a:r>
              <a:rPr lang="es-ES_tradnl" noProof="1"/>
              <a:t>instrucciones tipo B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ED31A77-A7B0-E002-0062-CF0073B1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77</a:t>
            </a:fld>
            <a:endParaRPr lang="es-ES_tradnl" noProof="1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B9310105-80C5-3EBB-F182-8A135FD8DA24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Conf MUXs: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MxPC: Cond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MxA:   0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MxB:   1</a:t>
            </a:r>
          </a:p>
          <a:p>
            <a:pPr algn="l"/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</a:rPr>
              <a:t>MxER: X</a:t>
            </a:r>
            <a:endParaRPr lang="es-ES_tradnl" sz="140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123">
            <a:extLst>
              <a:ext uri="{FF2B5EF4-FFF2-40B4-BE49-F238E27FC236}">
                <a16:creationId xmlns:a16="http://schemas.microsoft.com/office/drawing/2014/main" id="{74A09AA2-DF7C-7FCD-94E2-7E6A756B5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122" y="980728"/>
            <a:ext cx="3348262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 rs1, rs2, etiq</a:t>
            </a:r>
          </a:p>
          <a:p>
            <a:pPr algn="r"/>
            <a:endParaRPr lang="es-ES_tradnl" sz="1400" noProof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05C082B1-267A-B98C-265B-07B853A366A2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F7398CC2-BFBC-27D9-993B-836C90F9FBD1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9940B9C6-1E32-A830-2742-56EFA3A06480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917C20E2-21C4-EDF3-0321-69B5CCBE3A04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2318BF29-88DC-BC7F-6573-1963A9D73B22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62997982-E917-92AF-E663-6372C0BDBF7F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F7AB08E7-6B33-DDC9-9453-EB0D9D3CC1D4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0FB942E1-E8F5-B128-4526-9FF73164680E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E4F7ABB5-D7C5-5305-223F-8E2D73064DCD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259A5FA0-3277-9D9C-59DE-9CAF02A49A00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C5847628-6DD8-6746-D3C2-A67F646D5E38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9D6030FF-556F-1BDF-C261-3442F9755893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8F79AE41-CD4E-BBBF-ADB2-C933DC6389EA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931EBFC9-2416-A2D9-9758-38BD8AA81607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D1DC8463-69BA-62B2-AFC2-7BA776E465EA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FA011560-4804-3386-4E59-15E034D95670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1A860B33-9CDA-91C7-9E10-8D4048496807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4" name="Conector recto 313">
            <a:extLst>
              <a:ext uri="{FF2B5EF4-FFF2-40B4-BE49-F238E27FC236}">
                <a16:creationId xmlns:a16="http://schemas.microsoft.com/office/drawing/2014/main" id="{3E60CDAE-E32D-918D-A94B-23E3B1A3E89B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A48B1DFA-A4F1-5B6F-D7B0-D8FEBF90D6C5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A1DE2339-87F6-F746-6B09-9646AF39E326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0CE6BB46-CDCA-EC32-53D1-F91060EB732B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D0C8B879-4907-7051-420B-0711F4F92811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B2883BEC-8C3A-B2D4-A792-92907AD37356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490D68DA-D49E-8383-52F8-280A656F6EF4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PCin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8E707A78-1C0B-919E-F770-7080014FB3DA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6F53D659-8FF9-00F6-18A4-91D656FFAF29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6A08A4D4-68DB-7964-4510-8AF70CE02E8B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77E1983D-CA2A-1C37-4953-E1E504E0E351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6018B68B-F31B-FB6C-FF3F-3DBDE7B386B4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D5B78A2F-5C1E-4E9E-A33B-5926746C2CCB}"/>
              </a:ext>
            </a:extLst>
          </p:cNvPr>
          <p:cNvCxnSpPr>
            <a:cxnSpLocks/>
            <a:stCxn id="389" idx="3"/>
          </p:cNvCxnSpPr>
          <p:nvPr/>
        </p:nvCxnSpPr>
        <p:spPr bwMode="auto">
          <a:xfrm>
            <a:off x="5171432" y="3535481"/>
            <a:ext cx="57868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2E50FADE-991C-6D99-419B-6114DD008D4F}"/>
              </a:ext>
            </a:extLst>
          </p:cNvPr>
          <p:cNvCxnSpPr>
            <a:cxnSpLocks/>
            <a:stCxn id="384" idx="3"/>
          </p:cNvCxnSpPr>
          <p:nvPr/>
        </p:nvCxnSpPr>
        <p:spPr bwMode="auto">
          <a:xfrm flipV="1">
            <a:off x="5479811" y="3908190"/>
            <a:ext cx="273289" cy="526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8126985A-5363-AC53-4DE7-FD1AC8E8D225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C6D4FEC1-E031-2096-2D19-74D3E3D0F27B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4E2E8413-BC5E-F286-A567-E244EB6186C5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27C436F7-52BA-C406-D974-7F6A74AE089D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A8F495BE-A6DE-ADC0-51E0-6E4810C0695E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06FA2507-31DD-D149-EB78-6CE4787FACB9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9F3CC192-EDA4-FCA0-F8CD-CAB680901D23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F8D7C017-DBB7-0E2B-8746-F0DFB3867A10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F004BA5C-9937-3C77-12C7-EBF77D0A41AF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FF04D248-EB4C-B3E6-1877-9C75E8DBF31E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B9304BA5-3017-E005-F81C-9FBFE43774FD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20E518A0-D780-E3DE-E389-5F1FCF8DF860}"/>
              </a:ext>
            </a:extLst>
          </p:cNvPr>
          <p:cNvCxnSpPr>
            <a:cxnSpLocks/>
            <a:stCxn id="365" idx="3"/>
          </p:cNvCxnSpPr>
          <p:nvPr/>
        </p:nvCxnSpPr>
        <p:spPr bwMode="auto">
          <a:xfrm flipV="1">
            <a:off x="7376831" y="3757848"/>
            <a:ext cx="931265" cy="350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29994018-AE27-C3A5-DDEF-AEF439CBF627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A366F0F-DD31-89FE-BC02-6599058E31DD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EE6721FF-D2F5-4845-E3EE-CC13DF702D8C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D5FB312F-82CB-02B2-224F-9A280C69C337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552AB9DE-D3DE-2F64-9CFC-44FD636DBF3D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3EA88DD6-23FE-1F04-8185-5286031C460C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05BBC7D3-4A69-2009-D47D-A6A984F0AB5A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F6A2EDE1-4B20-0619-1056-B028E49B2F65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05EADB2E-E951-BB83-54CF-1700C99DEFA9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LMem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DCE949DC-6461-7DFC-2C30-AED89C0AF812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EMem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B717544D-671B-6DC9-66D3-71FC1E0FB7F3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D5116042-6BBB-784A-5F67-1A4E63AD24AB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EReg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80263EA0-8570-36C0-63FC-112EA03C3411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solidFill>
            <a:schemeClr val="bg1"/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D8B19B5C-524C-D049-9BEF-D769A63E025E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7AE9D1E5-7355-2D02-1FDF-D7EE4B61B895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51E044E8-4990-B25B-0252-DB38D5797364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C478B81D-E041-3C7B-903B-6C7B1B5AA3D4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CCD76E3B-53F3-332C-9FD3-DDB59EC79C5E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423BA772-F485-7486-D673-6DE4096D2322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1AB8243F-6900-038A-F70B-426D7EEA1DFD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7B804D16-59D3-101D-041A-8D20F8E949DD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9F2A8C0C-C4F4-C9B4-614A-FA1E6234035F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2B1F68E1-5DF7-D022-6127-94216AF2C513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MxER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09A71A06-7058-DDB8-A20C-FD6577DEB283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E2B9FD2D-DC21-DC89-3FF5-44F6DDE23170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rgbClr val="26697A"/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D3A7BBE2-FA84-AA06-4A7E-570DC6746399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46D1D9AD-C35F-0C3D-4363-004BAED2A6D8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E695261B-299C-E95D-ECA8-AD5A4A6A8F16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91CDEAF5-905B-56EF-EC52-C281FFC43FA5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34C7DC88-3D3D-A3D6-0A39-5495E0A8216C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FE7287EF-063E-89D8-3A30-6DC6B5A68483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553921DE-B831-D74F-2A1A-0BCAF37F3E35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F2ACF8E6-F5AB-77B7-C246-1536DCA12D7F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MxPC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083AA58E-1DF3-597A-DEE8-F2CB772F18DA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A75CE930-1B93-6303-44DA-272EFA1C2A73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31E3FC17-940A-518B-38ED-575A09A88B2D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23DC2AE6-503A-3B17-CCB0-97FA896140E6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0DFA80B6-AA1F-EEEB-E01B-BBEC148D3459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CD500923-78F8-AD7E-89B6-6ED6F1B349AE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76B2E661-6C59-4A0C-2CC8-460138583702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CE7846C6-B168-41D9-F7DC-32C5CB5D5529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EE92E2F2-7A5E-3A42-A707-B78B9E4337BA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" sz="140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A23381A8-F079-26FD-6CDA-17D2D6836750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E7915FEC-3E01-CBBD-1366-9FA758876762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>
                <a:solidFill>
                  <a:schemeClr val="accent1">
                    <a:lumMod val="75000"/>
                  </a:schemeClr>
                </a:solidFill>
              </a:rPr>
              <a:t>11..7 (rd)</a:t>
            </a:r>
            <a:endParaRPr lang="es-ES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0C307F4-4C09-A376-C1C2-8E17F1EB1C90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2116D15F-66DA-D339-413B-BDE0CE4FC37B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C675F7AA-7E9C-656F-2C4E-730DBB50BB55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C60F9007-7946-7549-F889-5B11BF82F25C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E795F8B5-2BA3-800D-B927-B48C2F5F8AB1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6A96CAC9-EBDD-6FCD-207F-64B7FB73BCCE}"/>
              </a:ext>
            </a:extLst>
          </p:cNvPr>
          <p:cNvSpPr txBox="1"/>
          <p:nvPr/>
        </p:nvSpPr>
        <p:spPr>
          <a:xfrm>
            <a:off x="3851920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TipoInst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4CEDAEAF-511B-84A9-EF87-78AE0CC83484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98948D0A-064A-D74A-82FF-ED648316F782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24F61564-7BF3-7D1B-EA33-5C9AF0608EE9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0429D97F-F240-17BD-B066-EF30DE847BA4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38FF1324-B115-3C5C-0669-768617D4B748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D4471979-DD18-FB3F-F119-F71BA5FE3792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B8364D40-6DDF-DFD1-9C48-DBECB738CE02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0B6FC4C0-A42D-49E5-485F-71B1BBFAE045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53CFD223-DFC7-1132-D1E7-697E85071DEC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D5C6D79F-47AE-BD5D-E944-89F489D4AE3E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A27C35CD-D32F-36E2-5A94-51F3756A0EBF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35483" y="4119459"/>
            <a:ext cx="247244" cy="17207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2EDC775A-9861-E1B6-3075-2DC26F284782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>
            <a:off x="5750121" y="3284984"/>
            <a:ext cx="228413" cy="144015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4" name="Rectángulo 413">
            <a:extLst>
              <a:ext uri="{FF2B5EF4-FFF2-40B4-BE49-F238E27FC236}">
                <a16:creationId xmlns:a16="http://schemas.microsoft.com/office/drawing/2014/main" id="{8086A65B-468F-4ED3-FE3F-BA17FF996D32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9C3B33F2-34FF-D05D-C678-6136DFAC5734}"/>
              </a:ext>
            </a:extLst>
          </p:cNvPr>
          <p:cNvCxnSpPr>
            <a:cxnSpLocks/>
            <a:endCxn id="365" idx="1"/>
          </p:cNvCxnSpPr>
          <p:nvPr/>
        </p:nvCxnSpPr>
        <p:spPr bwMode="auto">
          <a:xfrm>
            <a:off x="6915337" y="3757056"/>
            <a:ext cx="385356" cy="42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BBE94981-748E-F7E4-81AB-CA001CFA64C0}"/>
              </a:ext>
            </a:extLst>
          </p:cNvPr>
          <p:cNvCxnSpPr>
            <a:cxnSpLocks/>
            <a:endCxn id="389" idx="1"/>
          </p:cNvCxnSpPr>
          <p:nvPr/>
        </p:nvCxnSpPr>
        <p:spPr bwMode="auto">
          <a:xfrm>
            <a:off x="4991608" y="3528378"/>
            <a:ext cx="103686" cy="710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E86052B5-DD4B-1F58-B515-4F10B13B7944}"/>
              </a:ext>
            </a:extLst>
          </p:cNvPr>
          <p:cNvCxnSpPr>
            <a:cxnSpLocks/>
            <a:endCxn id="384" idx="1"/>
          </p:cNvCxnSpPr>
          <p:nvPr/>
        </p:nvCxnSpPr>
        <p:spPr bwMode="auto">
          <a:xfrm>
            <a:off x="4974953" y="3913436"/>
            <a:ext cx="428720" cy="17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1217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CC0C-CF9C-ECF1-EF58-6DDFEFC2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DCFFA-7126-B2C7-35A7-655F12F1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Instrucción </a:t>
            </a:r>
            <a:r>
              <a:rPr lang="es-ES_tradnl" noProof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noProof="1"/>
              <a:t>: Señales de control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BC232D-F468-4BA1-4BC9-79858AA8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78</a:t>
            </a:fld>
            <a:endParaRPr lang="es-ES_tradnl" noProof="1"/>
          </a:p>
        </p:txBody>
      </p:sp>
      <p:sp>
        <p:nvSpPr>
          <p:cNvPr id="3" name="Rectangle 168">
            <a:extLst>
              <a:ext uri="{FF2B5EF4-FFF2-40B4-BE49-F238E27FC236}">
                <a16:creationId xmlns:a16="http://schemas.microsoft.com/office/drawing/2014/main" id="{3C574366-E1DF-4903-394A-E55C853F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1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1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000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noProof="1">
                <a:latin typeface="Calibri" pitchFamily="-103" charset="0"/>
              </a:rPr>
              <a:t>001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1">
                <a:latin typeface="Calibri" pitchFamily="-103" charset="0"/>
              </a:rPr>
              <a:t> b (or)</a:t>
            </a:r>
          </a:p>
          <a:p>
            <a:pPr algn="l"/>
            <a:r>
              <a:rPr lang="es-ES_tradnl" sz="1200" noProof="1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110	a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i="1" noProof="1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23C2421D-916C-73CC-DFCC-6717E569F8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0685725"/>
              </p:ext>
            </p:extLst>
          </p:nvPr>
        </p:nvGraphicFramePr>
        <p:xfrm>
          <a:off x="816219" y="895952"/>
          <a:ext cx="8117470" cy="26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Mem.</a:t>
                      </a:r>
                    </a:p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b="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w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i="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790108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" sz="1100" noProof="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0187"/>
                  </a:ext>
                </a:extLst>
              </a:tr>
            </a:tbl>
          </a:graphicData>
        </a:graphic>
      </p:graphicFrame>
      <p:sp>
        <p:nvSpPr>
          <p:cNvPr id="6" name="9 Rectángulo">
            <a:extLst>
              <a:ext uri="{FF2B5EF4-FFF2-40B4-BE49-F238E27FC236}">
                <a16:creationId xmlns:a16="http://schemas.microsoft.com/office/drawing/2014/main" id="{69BBCE36-9F2A-2A12-60F0-C948039829C2}"/>
              </a:ext>
            </a:extLst>
          </p:cNvPr>
          <p:cNvSpPr/>
          <p:nvPr/>
        </p:nvSpPr>
        <p:spPr bwMode="auto">
          <a:xfrm>
            <a:off x="6444208" y="3212976"/>
            <a:ext cx="576064" cy="36057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7" name="Llamada rectangular redondeada 6">
            <a:extLst>
              <a:ext uri="{FF2B5EF4-FFF2-40B4-BE49-F238E27FC236}">
                <a16:creationId xmlns:a16="http://schemas.microsoft.com/office/drawing/2014/main" id="{8F81D1E1-C76E-8820-EC7C-7610E221AF2A}"/>
              </a:ext>
            </a:extLst>
          </p:cNvPr>
          <p:cNvSpPr/>
          <p:nvPr/>
        </p:nvSpPr>
        <p:spPr bwMode="auto">
          <a:xfrm>
            <a:off x="6172200" y="4149080"/>
            <a:ext cx="2514600" cy="1080120"/>
          </a:xfrm>
          <a:prstGeom prst="wedgeRoundRectCallout">
            <a:avLst>
              <a:gd name="adj1" fmla="val -27747"/>
              <a:gd name="adj2" fmla="val -100945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salto depende de que se cumpla la condición </a:t>
            </a:r>
            <a:r>
              <a:rPr lang="es-ES_tradnl" sz="1200" noProof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rs1==rs2</a:t>
            </a:r>
            <a:r>
              <a:rPr lang="es-ES_tradnl" sz="12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se evalúa en la unidad Branch. Esta unidad genera la señal Cond</a:t>
            </a:r>
          </a:p>
        </p:txBody>
      </p:sp>
      <p:sp>
        <p:nvSpPr>
          <p:cNvPr id="8" name="Llamada rectangular redondeada 7">
            <a:extLst>
              <a:ext uri="{FF2B5EF4-FFF2-40B4-BE49-F238E27FC236}">
                <a16:creationId xmlns:a16="http://schemas.microsoft.com/office/drawing/2014/main" id="{DA9B5C51-3283-A657-C3EE-BF688AD4563C}"/>
              </a:ext>
            </a:extLst>
          </p:cNvPr>
          <p:cNvSpPr/>
          <p:nvPr/>
        </p:nvSpPr>
        <p:spPr bwMode="auto">
          <a:xfrm>
            <a:off x="2555776" y="4437112"/>
            <a:ext cx="2514600" cy="1080120"/>
          </a:xfrm>
          <a:prstGeom prst="wedgeRoundRectCallout">
            <a:avLst>
              <a:gd name="adj1" fmla="val 42183"/>
              <a:gd name="adj2" fmla="val -129361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ALU se usa para calcular la dirección del salto, sumando </a:t>
            </a:r>
          </a:p>
          <a:p>
            <a:r>
              <a:rPr lang="es-ES_tradnl" sz="1200" noProof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 + </a:t>
            </a:r>
            <a:r>
              <a:rPr lang="es-ES_tradnl" sz="1200" noProof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1200" baseline="-25000" noProof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</p:txBody>
      </p:sp>
      <p:sp>
        <p:nvSpPr>
          <p:cNvPr id="9" name="9 Rectángulo">
            <a:extLst>
              <a:ext uri="{FF2B5EF4-FFF2-40B4-BE49-F238E27FC236}">
                <a16:creationId xmlns:a16="http://schemas.microsoft.com/office/drawing/2014/main" id="{7286A0E6-DA28-445F-8316-338C6E6639F5}"/>
              </a:ext>
            </a:extLst>
          </p:cNvPr>
          <p:cNvSpPr/>
          <p:nvPr/>
        </p:nvSpPr>
        <p:spPr bwMode="auto">
          <a:xfrm>
            <a:off x="4572000" y="3212440"/>
            <a:ext cx="648072" cy="36057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892648666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3 - La unidad de control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5538"/>
            <a:ext cx="8459787" cy="4056062"/>
          </a:xfrm>
        </p:spPr>
        <p:txBody>
          <a:bodyPr/>
          <a:lstStyle/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</a:p>
          <a:p>
            <a:pPr lvl="1"/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Indica a la ruta de datos que acciones debe realizar a lo largo del ciclo de instrucción para ejecutar cada instrucción</a:t>
            </a:r>
          </a:p>
          <a:p>
            <a:r>
              <a:rPr lang="es-ES_tradnl" sz="2000" noProof="1">
                <a:latin typeface="Arial" panose="020B0604020202020204" pitchFamily="34" charset="0"/>
                <a:cs typeface="Arial" panose="020B0604020202020204" pitchFamily="34" charset="0"/>
              </a:rPr>
              <a:t>Pasos</a:t>
            </a:r>
          </a:p>
          <a:p>
            <a:pPr lvl="1">
              <a:buNone/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1) Identificar las señales de control que deben actuar sobre la ruta de datos</a:t>
            </a:r>
          </a:p>
          <a:p>
            <a:pPr lvl="1">
              <a:buNone/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2) Relacionar la activación de cada señal con cada instrucción</a:t>
            </a:r>
          </a:p>
          <a:p>
            <a:pPr lvl="1">
              <a:buNone/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3) Obtener la expresión lógica que define cada señal de control</a:t>
            </a:r>
          </a:p>
          <a:p>
            <a:pPr lvl="1">
              <a:buNone/>
            </a:pPr>
            <a:r>
              <a:rPr lang="es-ES_tradnl" sz="1800" noProof="1">
                <a:latin typeface="Arial" panose="020B0604020202020204" pitchFamily="34" charset="0"/>
                <a:cs typeface="Arial" panose="020B0604020202020204" pitchFamily="34" charset="0"/>
              </a:rPr>
              <a:t>4) Implementar el circuito</a:t>
            </a:r>
          </a:p>
          <a:p>
            <a:pPr>
              <a:buNone/>
            </a:pPr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79</a:t>
            </a:fld>
            <a:endParaRPr lang="es-ES_tradnl" noProof="1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>
                <a:latin typeface="Arial" panose="020B0604020202020204" pitchFamily="34" charset="0"/>
                <a:cs typeface="Arial" panose="020B0604020202020204" pitchFamily="34" charset="0"/>
              </a:rPr>
              <a:t>Unidad de Control: Señales de control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80</a:t>
            </a:fld>
            <a:endParaRPr lang="es-ES_tradnl" noProof="1"/>
          </a:p>
        </p:txBody>
      </p:sp>
      <p:sp>
        <p:nvSpPr>
          <p:cNvPr id="16" name="CuadroTexto 15"/>
          <p:cNvSpPr txBox="1"/>
          <p:nvPr/>
        </p:nvSpPr>
        <p:spPr>
          <a:xfrm>
            <a:off x="668977" y="6032804"/>
            <a:ext cx="4695111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implementación de esta tabla permite la correcta ejecución</a:t>
            </a:r>
          </a:p>
          <a:p>
            <a:r>
              <a:rPr lang="es-ES_tradnl" sz="12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las instrucciones en un ciclo de reloj</a:t>
            </a:r>
          </a:p>
        </p:txBody>
      </p:sp>
      <p:graphicFrame>
        <p:nvGraphicFramePr>
          <p:cNvPr id="8" name="Marcador de contenido 5">
            <a:extLst>
              <a:ext uri="{FF2B5EF4-FFF2-40B4-BE49-F238E27FC236}">
                <a16:creationId xmlns:a16="http://schemas.microsoft.com/office/drawing/2014/main" id="{90F0A7AF-D2D1-0EF1-22D5-1CCE7D774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49090"/>
              </p:ext>
            </p:extLst>
          </p:nvPr>
        </p:nvGraphicFramePr>
        <p:xfrm>
          <a:off x="816219" y="895952"/>
          <a:ext cx="8117470" cy="395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Mem.</a:t>
                      </a:r>
                    </a:p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sub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01696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and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0686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or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99881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b="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w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i="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790108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0187"/>
                  </a:ext>
                </a:extLst>
              </a:tr>
            </a:tbl>
          </a:graphicData>
        </a:graphic>
      </p:graphicFrame>
      <p:sp>
        <p:nvSpPr>
          <p:cNvPr id="10" name="Rectangle 168">
            <a:extLst>
              <a:ext uri="{FF2B5EF4-FFF2-40B4-BE49-F238E27FC236}">
                <a16:creationId xmlns:a16="http://schemas.microsoft.com/office/drawing/2014/main" id="{145026A7-CA96-7957-D3C9-53322DD9C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1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1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000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noProof="1">
                <a:latin typeface="Calibri" pitchFamily="-103" charset="0"/>
              </a:rPr>
              <a:t>001	a </a:t>
            </a:r>
            <a:r>
              <a:rPr lang="es-ES_tradnl" sz="1200" b="1" noProof="1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1">
                <a:latin typeface="Calibri" pitchFamily="-103" charset="0"/>
              </a:rPr>
              <a:t> b (or)</a:t>
            </a:r>
          </a:p>
          <a:p>
            <a:pPr algn="l"/>
            <a:r>
              <a:rPr lang="es-ES_tradnl" sz="1200" noProof="1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1">
                <a:latin typeface="Calibri" pitchFamily="-103" charset="0"/>
              </a:rPr>
              <a:t>110	a </a:t>
            </a:r>
            <a:r>
              <a:rPr lang="es-ES_tradnl" sz="1200" noProof="1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1">
              <a:latin typeface="Calibri" pitchFamily="-103" charset="0"/>
            </a:endParaRPr>
          </a:p>
          <a:p>
            <a:pPr algn="l"/>
            <a:r>
              <a:rPr lang="es-ES_tradnl" sz="1200" i="1" noProof="1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El procesador: Prestaciones ruta de datos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992188"/>
            <a:ext cx="8250237" cy="5256212"/>
          </a:xfrm>
        </p:spPr>
        <p:txBody>
          <a:bodyPr/>
          <a:lstStyle/>
          <a:p>
            <a:r>
              <a:rPr lang="es-ES_tradnl" noProof="1"/>
              <a:t>La ruta de datos con los siguientes retardos</a:t>
            </a:r>
          </a:p>
          <a:p>
            <a:pPr lvl="1"/>
            <a:r>
              <a:rPr lang="es-ES_tradnl" noProof="1"/>
              <a:t>Lectura/Escritura en memoria de datos/instrucciones: 2 ns</a:t>
            </a:r>
          </a:p>
          <a:p>
            <a:pPr lvl="1"/>
            <a:r>
              <a:rPr lang="es-ES_tradnl" noProof="1"/>
              <a:t>Lectura/Escritura en banco de registros: 1 ns</a:t>
            </a:r>
          </a:p>
          <a:p>
            <a:pPr lvl="1"/>
            <a:r>
              <a:rPr lang="es-ES_tradnl" noProof="1"/>
              <a:t>Operación en la ALU: 2 ns</a:t>
            </a:r>
          </a:p>
          <a:p>
            <a:pPr lvl="1"/>
            <a:r>
              <a:rPr lang="es-ES_tradnl" noProof="1"/>
              <a:t>Resto de retardos despreciable</a:t>
            </a:r>
          </a:p>
          <a:p>
            <a:r>
              <a:rPr lang="es-ES_tradnl" noProof="1"/>
              <a:t>Calcula el tiempo necesario para ejecutar las instrucciones:</a:t>
            </a:r>
          </a:p>
          <a:p>
            <a:pPr lvl="1"/>
            <a:r>
              <a:rPr lang="es-ES_tradnl" noProof="1"/>
              <a:t>Aritmético-lógicas:  </a:t>
            </a:r>
            <a:r>
              <a:rPr lang="es-ES_tradnl" noProof="1">
                <a:latin typeface="Courier New"/>
                <a:cs typeface="Courier New"/>
              </a:rPr>
              <a:t>add t2, t1, t0</a:t>
            </a:r>
            <a:endParaRPr lang="es-ES_tradnl" noProof="1"/>
          </a:p>
          <a:p>
            <a:pPr lvl="1"/>
            <a:r>
              <a:rPr lang="es-ES_tradnl" noProof="1"/>
              <a:t>Lectura de memoria:  </a:t>
            </a:r>
            <a:r>
              <a:rPr lang="es-ES_tradnl" noProof="1">
                <a:latin typeface="Courier New"/>
                <a:cs typeface="Courier New"/>
              </a:rPr>
              <a:t>lw t1, 0(t0)</a:t>
            </a:r>
            <a:endParaRPr lang="es-ES_tradnl" noProof="1"/>
          </a:p>
          <a:p>
            <a:pPr lvl="1"/>
            <a:r>
              <a:rPr lang="es-ES_tradnl" noProof="1"/>
              <a:t>Escritura en memoria:  </a:t>
            </a:r>
            <a:r>
              <a:rPr lang="es-ES_tradnl" noProof="1">
                <a:latin typeface="Courier New"/>
                <a:cs typeface="Courier New"/>
              </a:rPr>
              <a:t>sw t1, 0(t0)</a:t>
            </a:r>
          </a:p>
          <a:p>
            <a:pPr lvl="1"/>
            <a:r>
              <a:rPr lang="es-ES_tradnl" noProof="1"/>
              <a:t>Salto condicional:  </a:t>
            </a:r>
            <a:r>
              <a:rPr lang="es-ES_tradnl" noProof="1">
                <a:latin typeface="Courier New"/>
                <a:cs typeface="Courier New"/>
              </a:rPr>
              <a:t>beq t0, x0, bucle</a:t>
            </a:r>
          </a:p>
          <a:p>
            <a:r>
              <a:rPr lang="es-ES_tradnl" noProof="1"/>
              <a:t>Calcula tiempo de ciclo y frecuencia de la ruta de datos</a:t>
            </a:r>
          </a:p>
          <a:p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81</a:t>
            </a:fld>
            <a:endParaRPr lang="es-ES_tradnl" noProof="1"/>
          </a:p>
        </p:txBody>
      </p:sp>
      <p:sp>
        <p:nvSpPr>
          <p:cNvPr id="6" name="CuadroTexto 5"/>
          <p:cNvSpPr txBox="1"/>
          <p:nvPr/>
        </p:nvSpPr>
        <p:spPr bwMode="hidden">
          <a:xfrm>
            <a:off x="5855690" y="3962400"/>
            <a:ext cx="3252814" cy="1083374"/>
          </a:xfrm>
          <a:prstGeom prst="rect">
            <a:avLst/>
          </a:prstGeom>
          <a:noFill/>
          <a:effectLst>
            <a:outerShdw blurRad="50800" dist="38100" dir="2700000" algn="br" rotWithShape="0">
              <a:srgbClr val="000000">
                <a:alpha val="43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add: 2ns + 1ns + 2ns + 1ns = 6 ns</a:t>
            </a:r>
          </a:p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lw: 2ns + 1ns + 2ns + 2ns + 1ns = 8 ns</a:t>
            </a:r>
          </a:p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sw: 2ns + 1ns + 2ns + 2ns = 7 ns</a:t>
            </a:r>
          </a:p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beq: 2ns + 1ns + 2ns = 5 ns</a:t>
            </a:r>
          </a:p>
        </p:txBody>
      </p:sp>
      <p:sp>
        <p:nvSpPr>
          <p:cNvPr id="7" name="CuadroTexto 6"/>
          <p:cNvSpPr txBox="1"/>
          <p:nvPr/>
        </p:nvSpPr>
        <p:spPr bwMode="hidden">
          <a:xfrm>
            <a:off x="7015954" y="5105400"/>
            <a:ext cx="1832168" cy="566309"/>
          </a:xfrm>
          <a:prstGeom prst="rect">
            <a:avLst/>
          </a:prstGeom>
          <a:noFill/>
          <a:effectLst>
            <a:outerShdw blurRad="50800" dist="38100" dir="2700000" algn="br" rotWithShape="0">
              <a:srgbClr val="000000">
                <a:alpha val="43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Tciclo = 8 ns;</a:t>
            </a:r>
          </a:p>
          <a:p>
            <a:pPr algn="l"/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Frecuencia = 125 MHz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-51171" y="6096000"/>
            <a:ext cx="9195171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Con esta ruta obtenemos una tasa de ejecución de 1 instrucción/ciclo pero con tiempo de ciclo muy elevado (caso peor). </a:t>
            </a:r>
          </a:p>
          <a:p>
            <a:r>
              <a:rPr lang="es-ES_tradnl" sz="1400" noProof="1">
                <a:solidFill>
                  <a:schemeClr val="accent1">
                    <a:lumMod val="75000"/>
                  </a:schemeClr>
                </a:solidFill>
              </a:rPr>
              <a:t>En el tema 2 utilizaremos esta ruta como base para obtener mejores prestaciones utilizando el concepto de segmentación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5163" y="0"/>
            <a:ext cx="8250237" cy="865187"/>
          </a:xfrm>
        </p:spPr>
        <p:txBody>
          <a:bodyPr/>
          <a:lstStyle/>
          <a:p>
            <a:r>
              <a:rPr lang="es-ES_tradnl" noProof="1"/>
              <a:t>Perspectiva histórica sobre la unidad de control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1" y="839788"/>
            <a:ext cx="8610600" cy="5256212"/>
          </a:xfrm>
        </p:spPr>
        <p:txBody>
          <a:bodyPr/>
          <a:lstStyle/>
          <a:p>
            <a:r>
              <a:rPr lang="es-ES_tradnl" noProof="1"/>
              <a:t>Inconvenientes ruta de datos en ciclo único</a:t>
            </a:r>
          </a:p>
          <a:p>
            <a:pPr lvl="1"/>
            <a:r>
              <a:rPr lang="es-ES_tradnl" noProof="1"/>
              <a:t>Ciclo de reloj determinado por la instrucción más lenta (load)</a:t>
            </a:r>
          </a:p>
          <a:p>
            <a:pPr lvl="1"/>
            <a:r>
              <a:rPr lang="es-ES_tradnl" noProof="1"/>
              <a:t>Con instrucciones más complejas (coma flotante) el tiempo de ciclo se alargaría aún más</a:t>
            </a:r>
          </a:p>
          <a:p>
            <a:r>
              <a:rPr lang="es-ES_tradnl" noProof="1"/>
              <a:t>Alternativa: Implementación multiciclo</a:t>
            </a:r>
          </a:p>
          <a:p>
            <a:pPr lvl="1"/>
            <a:r>
              <a:rPr lang="es-ES_tradnl" noProof="1"/>
              <a:t>Requiere una máquina de estados para la generación de señales de control</a:t>
            </a:r>
          </a:p>
          <a:p>
            <a:endParaRPr lang="es-ES_tradnl" noProof="1"/>
          </a:p>
          <a:p>
            <a:endParaRPr lang="es-ES_tradnl" noProof="1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1" smtClean="0"/>
              <a:pPr>
                <a:defRPr/>
              </a:pPr>
              <a:t>82</a:t>
            </a:fld>
            <a:endParaRPr lang="es-ES_tradnl" noProof="1"/>
          </a:p>
        </p:txBody>
      </p:sp>
      <p:pic>
        <p:nvPicPr>
          <p:cNvPr id="337" name="Imagen 3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685406"/>
            <a:ext cx="6534150" cy="317259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xC1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 bwMode="auto">
        <a:noFill/>
        <a:ln w="19050"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ln w="12700"/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>
            <a:solidFill>
              <a:schemeClr val="accent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VxC1</Template>
  <TotalTime>41418</TotalTime>
  <Words>10527</Words>
  <Application>Microsoft Macintosh PowerPoint</Application>
  <PresentationFormat>Presentación en pantalla (4:3)</PresentationFormat>
  <Paragraphs>3031</Paragraphs>
  <Slides>82</Slides>
  <Notes>11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82</vt:i4>
      </vt:variant>
      <vt:variant>
        <vt:lpstr>Presentaciones personalizadas</vt:lpstr>
      </vt:variant>
      <vt:variant>
        <vt:i4>2</vt:i4>
      </vt:variant>
    </vt:vector>
  </HeadingPairs>
  <TitlesOfParts>
    <vt:vector size="94" baseType="lpstr">
      <vt:lpstr>Arial</vt:lpstr>
      <vt:lpstr>Arial Narrow</vt:lpstr>
      <vt:lpstr>Calibri</vt:lpstr>
      <vt:lpstr>Courier</vt:lpstr>
      <vt:lpstr>Courier New</vt:lpstr>
      <vt:lpstr>Gill Sans MT</vt:lpstr>
      <vt:lpstr>Times New Roman</vt:lpstr>
      <vt:lpstr>Wingdings</vt:lpstr>
      <vt:lpstr>Wingdings 2</vt:lpstr>
      <vt:lpstr>VxC1</vt:lpstr>
      <vt:lpstr>Tema 1:  El procesador</vt:lpstr>
      <vt:lpstr>Objetivos</vt:lpstr>
      <vt:lpstr>Contenido y bibliografía</vt:lpstr>
      <vt:lpstr>1 - Arquitectura RISC-V: Introducción</vt:lpstr>
      <vt:lpstr>Introducción: Tipos de computadores</vt:lpstr>
      <vt:lpstr>Introducción: El mercado de los procesadores</vt:lpstr>
      <vt:lpstr>Introducción: Arquitectura</vt:lpstr>
      <vt:lpstr>Introducción: Implementación </vt:lpstr>
      <vt:lpstr>Arquitectura RISC-V</vt:lpstr>
      <vt:lpstr>Arquitectura RISC-V: Características básicas</vt:lpstr>
      <vt:lpstr>Arquitectura RISC-V: Características básicas</vt:lpstr>
      <vt:lpstr>Arquitectura RISC-V en la asignatura</vt:lpstr>
      <vt:lpstr>Arquitectura RISC-V: Modelo de programación</vt:lpstr>
      <vt:lpstr>Arquitectura RISC-V: Registros</vt:lpstr>
      <vt:lpstr>Arquitectura RISC-V: Memoria</vt:lpstr>
      <vt:lpstr>Arquitectura RISC-V: Memoria</vt:lpstr>
      <vt:lpstr>Arquitectura RISC-V: Memoria</vt:lpstr>
      <vt:lpstr>Arquitectura RISC-V:  Alineamiento en memoria</vt:lpstr>
      <vt:lpstr>Arquitectura RISC-V: Instrucciones</vt:lpstr>
      <vt:lpstr>Arquitectura RISC-V:  Formato de las instrucciones</vt:lpstr>
      <vt:lpstr>Arquitectura RISC-V:  Formato de las instrucciones</vt:lpstr>
      <vt:lpstr>Arquitectura RISC-V:  Formato de las instrucciones</vt:lpstr>
      <vt:lpstr>Ejemplo de codificación de la instrucción</vt:lpstr>
      <vt:lpstr>Arquitectura RISC-V:  Formato de las instrucciones</vt:lpstr>
      <vt:lpstr>Arquitectura RISC-V:  Formato de las instrucciones</vt:lpstr>
      <vt:lpstr>Arquitectura RISC-V:  Formato de las instrucciones</vt:lpstr>
      <vt:lpstr>Arquitectura RISC-V:  Formato de las instrucciones</vt:lpstr>
      <vt:lpstr>Arquitectura RISC-V:  Formato de las instrucciones</vt:lpstr>
      <vt:lpstr>Pseudoinstrucciones</vt:lpstr>
      <vt:lpstr>Ejemplo: Codificación, ensamblado y carga</vt:lpstr>
      <vt:lpstr>Presentación de PowerPoint</vt:lpstr>
      <vt:lpstr>Presentación de PowerPoint</vt:lpstr>
      <vt:lpstr>Ejemplo: Ejecución instrucción 1</vt:lpstr>
      <vt:lpstr>Ejemplo: Ejecución instrucción 2</vt:lpstr>
      <vt:lpstr>Ejemplo: Ejecución instrucción 3</vt:lpstr>
      <vt:lpstr>Ejemplo: Ejecución instrucción 4</vt:lpstr>
      <vt:lpstr>Ejemplo: Ejecución instrucción 5</vt:lpstr>
      <vt:lpstr>Ejemplo: Ejecución instrucción 6</vt:lpstr>
      <vt:lpstr>Ejemplo: Ejecución instrucción 7</vt:lpstr>
      <vt:lpstr>Presentación de PowerPoint</vt:lpstr>
      <vt:lpstr>2 – La ruta de datos del procesador MONOCICLO</vt:lpstr>
      <vt:lpstr>El procesador</vt:lpstr>
      <vt:lpstr>La ruta de datos</vt:lpstr>
      <vt:lpstr>La ruta de datos: Sincronización</vt:lpstr>
      <vt:lpstr>La ruta de datos: Sincronización</vt:lpstr>
      <vt:lpstr>La ruta de datos: Selección de instrucciones</vt:lpstr>
      <vt:lpstr>La ruta de datos: Salto condicional (beq)</vt:lpstr>
      <vt:lpstr>La ruta de datos: Fases de ejecución instrucciones</vt:lpstr>
      <vt:lpstr>La ruta de datos: Seleccionar recursos</vt:lpstr>
      <vt:lpstr>La ruta de datos: Seleccionar recursos necesarios</vt:lpstr>
      <vt:lpstr>La ruta de datos: Seleccionar recursos necesarios</vt:lpstr>
      <vt:lpstr>La ruta de datos: Búsqueda y descodificación</vt:lpstr>
      <vt:lpstr>La ruta de datos: Lectura de operandos </vt:lpstr>
      <vt:lpstr>La ruta de datos: Generador de inmediatos </vt:lpstr>
      <vt:lpstr>La ruta de datos: Generador de inmediatos </vt:lpstr>
      <vt:lpstr>La ruta de datos: Lectura de operandos y generación de inmediato</vt:lpstr>
      <vt:lpstr>La ruta de datos: La Unidad Aritmético Lógica</vt:lpstr>
      <vt:lpstr>La ruta de datos: La Unidad Aritmético Lógica</vt:lpstr>
      <vt:lpstr>La ruta de datos: La memoria de datos</vt:lpstr>
      <vt:lpstr>La ruta de datos: La memoria de datos</vt:lpstr>
      <vt:lpstr>La ruta de datos:  Almacenamiento del resultado</vt:lpstr>
      <vt:lpstr>Presentación de PowerPoint</vt:lpstr>
      <vt:lpstr>La ruta de datos: Salto condicional (beq)</vt:lpstr>
      <vt:lpstr>La ruta de datos: Salto condicional (beq)</vt:lpstr>
      <vt:lpstr>La ruta de datos: Salto condicional (beq)</vt:lpstr>
      <vt:lpstr>La ruta de datos: Salto condicional (beq)</vt:lpstr>
      <vt:lpstr>La ruta de datos: Salto condicional (beq)</vt:lpstr>
      <vt:lpstr>La ruta de datos completa  (sin soporte para salto incondicional)</vt:lpstr>
      <vt:lpstr>Ruta de datos para  instrucciones tipo R</vt:lpstr>
      <vt:lpstr>Señales de control:  Aritméticas y lógicas tipo R</vt:lpstr>
      <vt:lpstr>Ruta de datos para  instrucciones tipo I</vt:lpstr>
      <vt:lpstr>Señales de control: Aritméticas y lógicas tipo I</vt:lpstr>
      <vt:lpstr>Ruta de datos para  instrucciones tipo I</vt:lpstr>
      <vt:lpstr>Instrucción lw: Señales de control</vt:lpstr>
      <vt:lpstr>Ruta de datos para  instrucciones tipo S</vt:lpstr>
      <vt:lpstr>Instrucción sw: Señales de control</vt:lpstr>
      <vt:lpstr>Ruta de datos para  instrucciones tipo B</vt:lpstr>
      <vt:lpstr>Instrucción beq: Señales de control</vt:lpstr>
      <vt:lpstr>3 - La unidad de control</vt:lpstr>
      <vt:lpstr>Unidad de Control: Señales de control</vt:lpstr>
      <vt:lpstr>El procesador: Prestaciones ruta de datos</vt:lpstr>
      <vt:lpstr>Perspectiva histórica sobre la unidad de control</vt:lpstr>
      <vt:lpstr>Formato instrucciones</vt:lpstr>
      <vt:lpstr>Fases de ejecución</vt:lpstr>
    </vt:vector>
  </TitlesOfParts>
  <Company>DISCA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9: Sincronización de la E/S</dc:title>
  <dc:subject>Estructura de Computadores</dc:subject>
  <dc:creator>José Miguel Valiente</dc:creator>
  <cp:lastModifiedBy>enrique s. quintana-orti</cp:lastModifiedBy>
  <cp:revision>1135</cp:revision>
  <cp:lastPrinted>2013-09-09T11:28:19Z</cp:lastPrinted>
  <dcterms:created xsi:type="dcterms:W3CDTF">2012-09-17T10:12:03Z</dcterms:created>
  <dcterms:modified xsi:type="dcterms:W3CDTF">2026-01-19T15:59:41Z</dcterms:modified>
</cp:coreProperties>
</file>