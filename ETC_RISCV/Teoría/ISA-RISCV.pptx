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717" r:id="rId3"/>
    <p:sldId id="854" r:id="rId4"/>
    <p:sldId id="832" r:id="rId5"/>
    <p:sldId id="827" r:id="rId6"/>
    <p:sldId id="835" r:id="rId7"/>
    <p:sldId id="847" r:id="rId8"/>
    <p:sldId id="829" r:id="rId9"/>
    <p:sldId id="831" r:id="rId10"/>
    <p:sldId id="849" r:id="rId11"/>
    <p:sldId id="851" r:id="rId12"/>
    <p:sldId id="852" r:id="rId13"/>
    <p:sldId id="850" r:id="rId14"/>
    <p:sldId id="853" r:id="rId15"/>
    <p:sldId id="84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45E"/>
    <a:srgbClr val="B6C6CE"/>
    <a:srgbClr val="FFFFFF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4" autoAdjust="0"/>
    <p:restoredTop sz="94646"/>
  </p:normalViewPr>
  <p:slideViewPr>
    <p:cSldViewPr snapToGrid="0">
      <p:cViewPr varScale="1">
        <p:scale>
          <a:sx n="210" d="100"/>
          <a:sy n="210" d="100"/>
        </p:scale>
        <p:origin x="3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2AD38-E6C6-44F0-A2B4-001A967AA2A1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ABEF1-8E6D-47EB-9F9F-513DC6A467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08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Todo con flechas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ABEF1-8E6D-47EB-9F9F-513DC6A467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1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231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07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557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94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187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45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54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7030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0137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61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551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9A68E-BF5B-4C42-A6B2-E936AB9116A2}" type="datetimeFigureOut">
              <a:rPr lang="es-ES" smtClean="0"/>
              <a:t>6/8/26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053B7-9446-4F60-AF72-00EA521302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39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E8223-8592-CFA5-A7B3-303B245F1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Juego de Instrucciones RISC-V</a:t>
            </a:r>
          </a:p>
        </p:txBody>
      </p:sp>
    </p:spTree>
    <p:extLst>
      <p:ext uri="{BB962C8B-B14F-4D97-AF65-F5344CB8AC3E}">
        <p14:creationId xmlns:p14="http://schemas.microsoft.com/office/powerpoint/2010/main" val="151432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1BE8-F822-C06D-3DA3-9566F0C9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834D5-27D2-80F4-BA1F-7AC20E5D2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Registros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FFEB93-5C3E-25A8-815F-CC5CD5E7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81" y="1071563"/>
            <a:ext cx="8250237" cy="5467350"/>
          </a:xfrm>
        </p:spPr>
        <p:txBody>
          <a:bodyPr/>
          <a:lstStyle/>
          <a:p>
            <a:r>
              <a:rPr lang="es-ES" dirty="0"/>
              <a:t>32 registros de enteros: x0–x31 </a:t>
            </a:r>
          </a:p>
          <a:p>
            <a:r>
              <a:rPr lang="es-ES" dirty="0"/>
              <a:t>x0 siempre vale 0</a:t>
            </a:r>
          </a:p>
          <a:p>
            <a:endParaRPr lang="es-ES" dirty="0"/>
          </a:p>
          <a:p>
            <a:r>
              <a:rPr lang="es-ES" dirty="0"/>
              <a:t>Coma flotante: Registros f0–f31 separados y dedicados a operaciones de punto flotante. Su tamaño depende de la extensión (32 bits para 'F', 64 bits para 'D')</a:t>
            </a:r>
          </a:p>
          <a:p>
            <a:endParaRPr lang="es-ES" b="1" dirty="0">
              <a:latin typeface="Courier New"/>
              <a:cs typeface="Courier New"/>
            </a:endParaRPr>
          </a:p>
          <a:p>
            <a:pPr lvl="1">
              <a:spcAft>
                <a:spcPts val="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096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369BB-31AE-9EBC-AD0C-D99EC6F0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B45BB-7AF0-964A-11F3-A3150C08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Directivas de ensamblador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DD2D4D-7050-00B7-4BAF-1FA7199E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81" y="1071563"/>
            <a:ext cx="8250237" cy="5467350"/>
          </a:xfrm>
        </p:spPr>
        <p:txBody>
          <a:bodyPr/>
          <a:lstStyle/>
          <a:p>
            <a:r>
              <a:rPr lang="es-ES" dirty="0"/>
              <a:t>Directivas de segmentos de memoria</a:t>
            </a:r>
          </a:p>
          <a:p>
            <a:pPr lvl="1"/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.data </a:t>
            </a:r>
            <a:r>
              <a:rPr lang="es-ES" dirty="0">
                <a:cs typeface="Courier New"/>
              </a:rPr>
              <a:t>(No se especifica dirección)</a:t>
            </a:r>
          </a:p>
          <a:p>
            <a:pPr lvl="1"/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lang="es-ES" b="1" dirty="0" err="1">
                <a:solidFill>
                  <a:srgbClr val="FF0000"/>
                </a:solidFill>
                <a:latin typeface="Courier New"/>
                <a:cs typeface="Courier New"/>
              </a:rPr>
              <a:t>text</a:t>
            </a:r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s-ES" dirty="0">
                <a:cs typeface="Courier New"/>
              </a:rPr>
              <a:t>(No se especifica dirección)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.global [etiqueta] (Elige la función “</a:t>
            </a:r>
            <a:r>
              <a:rPr lang="es-ES" b="1" dirty="0" err="1">
                <a:latin typeface="Courier New"/>
                <a:cs typeface="Courier New"/>
              </a:rPr>
              <a:t>main</a:t>
            </a:r>
            <a:r>
              <a:rPr lang="es-ES" b="1" dirty="0">
                <a:latin typeface="Courier New"/>
                <a:cs typeface="Courier New"/>
              </a:rPr>
              <a:t>”)</a:t>
            </a:r>
          </a:p>
          <a:p>
            <a:r>
              <a:rPr lang="es-ES" dirty="0"/>
              <a:t>Directivas de reserva de memoria de datos</a:t>
            </a:r>
          </a:p>
          <a:p>
            <a:pPr lvl="1"/>
            <a:r>
              <a:rPr lang="es-ES" sz="1800" dirty="0">
                <a:latin typeface="Courier New"/>
                <a:cs typeface="Courier New"/>
              </a:rPr>
              <a:t>.</a:t>
            </a:r>
            <a:r>
              <a:rPr lang="es-ES" b="1" dirty="0" err="1">
                <a:latin typeface="Courier New"/>
                <a:cs typeface="Courier New"/>
              </a:rPr>
              <a:t>space</a:t>
            </a:r>
            <a:r>
              <a:rPr lang="es-ES" b="1" dirty="0">
                <a:latin typeface="Courier New"/>
                <a:cs typeface="Courier New"/>
              </a:rPr>
              <a:t> n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.byte b1 [, b2] …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</a:t>
            </a:r>
            <a:r>
              <a:rPr lang="es-ES" b="1" dirty="0" err="1">
                <a:latin typeface="Courier New"/>
                <a:cs typeface="Courier New"/>
              </a:rPr>
              <a:t>half</a:t>
            </a:r>
            <a:r>
              <a:rPr lang="es-ES" b="1" dirty="0">
                <a:latin typeface="Courier New"/>
                <a:cs typeface="Courier New"/>
              </a:rPr>
              <a:t> b1 [, b2] …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</a:t>
            </a:r>
            <a:r>
              <a:rPr lang="es-ES" b="1" dirty="0" err="1">
                <a:latin typeface="Courier New"/>
                <a:cs typeface="Courier New"/>
              </a:rPr>
              <a:t>word</a:t>
            </a:r>
            <a:r>
              <a:rPr lang="es-ES" b="1" dirty="0">
                <a:latin typeface="Courier New"/>
                <a:cs typeface="Courier New"/>
              </a:rPr>
              <a:t> b1 [, b2] …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</a:t>
            </a:r>
            <a:r>
              <a:rPr lang="es-ES" b="1" dirty="0" err="1">
                <a:latin typeface="Courier New"/>
                <a:cs typeface="Courier New"/>
              </a:rPr>
              <a:t>ascii</a:t>
            </a:r>
            <a:r>
              <a:rPr lang="es-ES" b="1" dirty="0">
                <a:latin typeface="Courier New"/>
                <a:cs typeface="Courier New"/>
              </a:rPr>
              <a:t> cadena1 [, cadena2] …</a:t>
            </a:r>
          </a:p>
          <a:p>
            <a:pPr lvl="1"/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lang="es-ES" b="1" dirty="0" err="1">
                <a:solidFill>
                  <a:srgbClr val="FF0000"/>
                </a:solidFill>
                <a:latin typeface="Courier New"/>
                <a:cs typeface="Courier New"/>
              </a:rPr>
              <a:t>asciz</a:t>
            </a:r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r>
              <a:rPr lang="es-ES" b="1" dirty="0" err="1">
                <a:solidFill>
                  <a:srgbClr val="FF0000"/>
                </a:solidFill>
                <a:latin typeface="Courier New"/>
                <a:cs typeface="Courier New"/>
              </a:rPr>
              <a:t>string</a:t>
            </a:r>
            <a:r>
              <a:rPr lang="es-ES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s-ES" b="1" dirty="0">
                <a:latin typeface="Courier New"/>
                <a:cs typeface="Courier New"/>
              </a:rPr>
              <a:t>cadena1 [, cadena2]…</a:t>
            </a:r>
          </a:p>
          <a:p>
            <a:pPr lvl="1"/>
            <a:r>
              <a:rPr lang="es-ES" b="1" dirty="0">
                <a:latin typeface="Courier New"/>
                <a:cs typeface="Courier New"/>
              </a:rPr>
              <a:t>.</a:t>
            </a:r>
            <a:r>
              <a:rPr lang="es-ES" b="1" dirty="0" err="1">
                <a:latin typeface="Courier New"/>
                <a:cs typeface="Courier New"/>
              </a:rPr>
              <a:t>align</a:t>
            </a:r>
            <a:r>
              <a:rPr lang="es-ES" b="1" dirty="0">
                <a:latin typeface="Courier New"/>
                <a:cs typeface="Courier New"/>
              </a:rPr>
              <a:t> N</a:t>
            </a:r>
          </a:p>
          <a:p>
            <a:pPr lvl="1">
              <a:spcAft>
                <a:spcPts val="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135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E0E4-2B0A-750D-05B4-9805DB28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E3BB8C7-DF47-5150-D498-C27D562E5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8" y="1113576"/>
            <a:ext cx="8935770" cy="5242775"/>
          </a:xfrm>
        </p:spPr>
        <p:txBody>
          <a:bodyPr>
            <a:normAutofit/>
          </a:bodyPr>
          <a:lstStyle/>
          <a:p>
            <a:r>
              <a:rPr lang="es-ES" b="1" dirty="0"/>
              <a:t>Transferencia y Constantes</a:t>
            </a:r>
            <a:endParaRPr lang="es-ES" dirty="0"/>
          </a:p>
          <a:p>
            <a:pPr lvl="1"/>
            <a:r>
              <a:rPr lang="es-ES" dirty="0"/>
              <a:t>lui (parte alta) + </a:t>
            </a:r>
            <a:r>
              <a:rPr lang="es-ES" dirty="0" err="1"/>
              <a:t>addi</a:t>
            </a:r>
            <a:r>
              <a:rPr lang="es-ES" dirty="0"/>
              <a:t> (parte baja) → </a:t>
            </a:r>
            <a:r>
              <a:rPr lang="es-ES" b="1" dirty="0" err="1"/>
              <a:t>li</a:t>
            </a:r>
            <a:r>
              <a:rPr lang="es-ES" b="1" dirty="0"/>
              <a:t> </a:t>
            </a:r>
            <a:r>
              <a:rPr lang="es-ES" b="1" dirty="0" err="1"/>
              <a:t>rd</a:t>
            </a:r>
            <a:r>
              <a:rPr lang="es-ES" b="1" dirty="0"/>
              <a:t>, </a:t>
            </a:r>
            <a:r>
              <a:rPr lang="es-ES" b="1" dirty="0" err="1"/>
              <a:t>inm</a:t>
            </a:r>
            <a:endParaRPr lang="es-ES" b="1" dirty="0"/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auipc</a:t>
            </a:r>
            <a:r>
              <a:rPr lang="es-ES" dirty="0">
                <a:solidFill>
                  <a:srgbClr val="FF0000"/>
                </a:solidFill>
              </a:rPr>
              <a:t> </a:t>
            </a:r>
            <a:r>
              <a:rPr lang="es-ES" dirty="0"/>
              <a:t>+ </a:t>
            </a:r>
            <a:r>
              <a:rPr lang="es-ES" dirty="0" err="1"/>
              <a:t>addi</a:t>
            </a:r>
            <a:r>
              <a:rPr lang="es-ES" dirty="0"/>
              <a:t> (Calcula dirección relativa al PC) → </a:t>
            </a:r>
            <a:r>
              <a:rPr lang="es-ES" b="1" dirty="0"/>
              <a:t>la</a:t>
            </a:r>
            <a:r>
              <a:rPr lang="es-ES" dirty="0"/>
              <a:t> </a:t>
            </a:r>
            <a:r>
              <a:rPr lang="es-ES" b="1" dirty="0" err="1"/>
              <a:t>rd</a:t>
            </a:r>
            <a:r>
              <a:rPr lang="es-ES" b="1" dirty="0"/>
              <a:t>, </a:t>
            </a:r>
            <a:r>
              <a:rPr lang="es-ES" b="1" dirty="0" err="1"/>
              <a:t>etiq</a:t>
            </a:r>
            <a:endParaRPr lang="es-ES" dirty="0"/>
          </a:p>
          <a:p>
            <a:r>
              <a:rPr lang="es-ES" b="1" dirty="0"/>
              <a:t>Aritmética y Lógica</a:t>
            </a:r>
            <a:endParaRPr lang="es-ES" dirty="0"/>
          </a:p>
          <a:p>
            <a:pPr lvl="1"/>
            <a:r>
              <a:rPr lang="es-ES" dirty="0" err="1"/>
              <a:t>xori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</a:t>
            </a:r>
            <a:r>
              <a:rPr lang="es-ES" dirty="0" err="1"/>
              <a:t>rs</a:t>
            </a:r>
            <a:r>
              <a:rPr lang="es-ES" dirty="0"/>
              <a:t>, -1 (XOR con ...1111 invierte los bits) → </a:t>
            </a:r>
            <a:r>
              <a:rPr lang="es-ES" b="1" dirty="0" err="1"/>
              <a:t>not</a:t>
            </a:r>
            <a:r>
              <a:rPr lang="es-ES" b="1" dirty="0"/>
              <a:t> </a:t>
            </a:r>
            <a:r>
              <a:rPr lang="es-ES" b="1" dirty="0" err="1"/>
              <a:t>rd</a:t>
            </a:r>
            <a:r>
              <a:rPr lang="es-ES" b="1" dirty="0"/>
              <a:t>, </a:t>
            </a:r>
            <a:r>
              <a:rPr lang="es-ES" b="1" dirty="0" err="1"/>
              <a:t>rs</a:t>
            </a:r>
            <a:endParaRPr lang="es-ES" b="1" dirty="0"/>
          </a:p>
          <a:p>
            <a:pPr lvl="1"/>
            <a:r>
              <a:rPr lang="es-ES" dirty="0"/>
              <a:t>sub </a:t>
            </a:r>
            <a:r>
              <a:rPr lang="es-ES" dirty="0" err="1"/>
              <a:t>rd</a:t>
            </a:r>
            <a:r>
              <a:rPr lang="es-ES" dirty="0"/>
              <a:t>, x0, </a:t>
            </a:r>
            <a:r>
              <a:rPr lang="es-ES" dirty="0" err="1"/>
              <a:t>rs</a:t>
            </a:r>
            <a:r>
              <a:rPr lang="es-ES" dirty="0"/>
              <a:t> (Resta el número a 0) → </a:t>
            </a:r>
            <a:r>
              <a:rPr lang="es-ES" b="1" dirty="0" err="1"/>
              <a:t>neg</a:t>
            </a:r>
            <a:r>
              <a:rPr lang="es-ES" b="1" dirty="0"/>
              <a:t> </a:t>
            </a:r>
            <a:r>
              <a:rPr lang="es-ES" b="1" dirty="0" err="1"/>
              <a:t>rd</a:t>
            </a:r>
            <a:r>
              <a:rPr lang="es-ES" b="1" dirty="0"/>
              <a:t>, </a:t>
            </a:r>
            <a:r>
              <a:rPr lang="es-ES" b="1" dirty="0" err="1"/>
              <a:t>rs</a:t>
            </a:r>
            <a:endParaRPr lang="es-ES" dirty="0"/>
          </a:p>
          <a:p>
            <a:r>
              <a:rPr lang="es-ES" b="1" dirty="0"/>
              <a:t>Control de Flujo</a:t>
            </a:r>
            <a:endParaRPr lang="es-ES" dirty="0"/>
          </a:p>
          <a:p>
            <a:pPr lvl="1"/>
            <a:r>
              <a:rPr lang="es-ES" dirty="0" err="1"/>
              <a:t>beq</a:t>
            </a:r>
            <a:r>
              <a:rPr lang="es-ES" dirty="0"/>
              <a:t> </a:t>
            </a:r>
            <a:r>
              <a:rPr lang="es-ES" dirty="0" err="1"/>
              <a:t>rs</a:t>
            </a:r>
            <a:r>
              <a:rPr lang="es-ES" dirty="0"/>
              <a:t>, x0, </a:t>
            </a:r>
            <a:r>
              <a:rPr lang="es-ES" dirty="0" err="1"/>
              <a:t>etiq</a:t>
            </a:r>
            <a:r>
              <a:rPr lang="es-ES" dirty="0"/>
              <a:t> (Compara contra el registro x0) → </a:t>
            </a:r>
            <a:r>
              <a:rPr lang="es-ES" b="1" dirty="0" err="1"/>
              <a:t>beqz</a:t>
            </a:r>
            <a:r>
              <a:rPr lang="es-ES" b="1" dirty="0"/>
              <a:t> </a:t>
            </a:r>
            <a:r>
              <a:rPr lang="es-ES" b="1" dirty="0" err="1"/>
              <a:t>rs</a:t>
            </a:r>
            <a:r>
              <a:rPr lang="es-ES" b="1" dirty="0"/>
              <a:t>, </a:t>
            </a:r>
            <a:r>
              <a:rPr lang="es-ES" b="1" dirty="0" err="1"/>
              <a:t>etiq</a:t>
            </a:r>
            <a:endParaRPr lang="es-ES" dirty="0"/>
          </a:p>
          <a:p>
            <a:pPr lvl="1"/>
            <a:r>
              <a:rPr lang="es-ES" dirty="0">
                <a:solidFill>
                  <a:srgbClr val="FF0000"/>
                </a:solidFill>
              </a:rPr>
              <a:t>jal x0, </a:t>
            </a:r>
            <a:r>
              <a:rPr lang="es-ES" dirty="0" err="1">
                <a:solidFill>
                  <a:srgbClr val="FF0000"/>
                </a:solidFill>
              </a:rPr>
              <a:t>etiq</a:t>
            </a:r>
            <a:r>
              <a:rPr lang="es-ES" dirty="0">
                <a:solidFill>
                  <a:srgbClr val="FF0000"/>
                </a:solidFill>
              </a:rPr>
              <a:t> </a:t>
            </a:r>
            <a:r>
              <a:rPr lang="es-ES" dirty="0"/>
              <a:t>(Salta y descarta </a:t>
            </a:r>
            <a:r>
              <a:rPr lang="es-ES" dirty="0" err="1"/>
              <a:t>dir.</a:t>
            </a:r>
            <a:r>
              <a:rPr lang="es-ES" dirty="0"/>
              <a:t> de retorno en x0) → </a:t>
            </a:r>
            <a:r>
              <a:rPr lang="es-ES" b="1" dirty="0"/>
              <a:t>j </a:t>
            </a:r>
            <a:r>
              <a:rPr lang="es-ES" b="1" dirty="0" err="1"/>
              <a:t>etiq</a:t>
            </a:r>
            <a:endParaRPr lang="es-ES" dirty="0"/>
          </a:p>
          <a:p>
            <a:pPr lvl="1"/>
            <a:r>
              <a:rPr lang="es-ES" dirty="0">
                <a:solidFill>
                  <a:srgbClr val="FF0000"/>
                </a:solidFill>
              </a:rPr>
              <a:t>jal x1, </a:t>
            </a:r>
            <a:r>
              <a:rPr lang="es-ES" dirty="0" err="1">
                <a:solidFill>
                  <a:srgbClr val="FF0000"/>
                </a:solidFill>
              </a:rPr>
              <a:t>etiq</a:t>
            </a:r>
            <a:r>
              <a:rPr lang="es-ES" dirty="0">
                <a:solidFill>
                  <a:srgbClr val="FF0000"/>
                </a:solidFill>
              </a:rPr>
              <a:t> </a:t>
            </a:r>
            <a:r>
              <a:rPr lang="es-ES" dirty="0"/>
              <a:t>(Salta y guarda retorno en </a:t>
            </a:r>
            <a:r>
              <a:rPr lang="es-ES" dirty="0" err="1"/>
              <a:t>ra</a:t>
            </a:r>
            <a:r>
              <a:rPr lang="es-ES" dirty="0"/>
              <a:t>/x1) → </a:t>
            </a:r>
            <a:r>
              <a:rPr lang="es-ES" b="1" dirty="0" err="1"/>
              <a:t>call</a:t>
            </a:r>
            <a:r>
              <a:rPr lang="es-ES" dirty="0"/>
              <a:t> </a:t>
            </a:r>
            <a:r>
              <a:rPr lang="es-ES" b="1" dirty="0" err="1"/>
              <a:t>etiq</a:t>
            </a:r>
            <a:endParaRPr lang="es-ES" dirty="0"/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jalr</a:t>
            </a:r>
            <a:r>
              <a:rPr lang="es-ES" dirty="0">
                <a:solidFill>
                  <a:srgbClr val="FF0000"/>
                </a:solidFill>
              </a:rPr>
              <a:t> x0, 0(x1) </a:t>
            </a:r>
            <a:r>
              <a:rPr lang="es-ES" dirty="0"/>
              <a:t>(Salta a la dirección guardada en </a:t>
            </a:r>
            <a:r>
              <a:rPr lang="es-ES" dirty="0" err="1"/>
              <a:t>ra</a:t>
            </a:r>
            <a:r>
              <a:rPr lang="es-ES" dirty="0"/>
              <a:t>/x1) → </a:t>
            </a:r>
            <a:r>
              <a:rPr lang="es-ES" b="1" dirty="0" err="1"/>
              <a:t>ret</a:t>
            </a:r>
            <a:endParaRPr lang="es-ES" dirty="0"/>
          </a:p>
          <a:p>
            <a:endParaRPr lang="es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79E5CCD-4856-987D-824C-A968B8FB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s-ES" dirty="0"/>
              <a:t>Pseudo-instrucciones</a:t>
            </a:r>
          </a:p>
        </p:txBody>
      </p:sp>
    </p:spTree>
    <p:extLst>
      <p:ext uri="{BB962C8B-B14F-4D97-AF65-F5344CB8AC3E}">
        <p14:creationId xmlns:p14="http://schemas.microsoft.com/office/powerpoint/2010/main" val="420833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DEE1-E94A-5B6C-FD66-82530599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92BD69-0D38-590C-48FC-F7983E30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97" y="1211857"/>
            <a:ext cx="8637006" cy="5459239"/>
          </a:xfrm>
        </p:spPr>
        <p:txBody>
          <a:bodyPr>
            <a:normAutofit fontScale="85000" lnSpcReduction="20000"/>
          </a:bodyPr>
          <a:lstStyle/>
          <a:p>
            <a:r>
              <a:rPr lang="es-ES" b="1" dirty="0"/>
              <a:t>Carga/almacenamiento</a:t>
            </a:r>
            <a:endParaRPr lang="es-ES" dirty="0"/>
          </a:p>
          <a:p>
            <a:pPr lvl="1"/>
            <a:r>
              <a:rPr lang="es-ES" dirty="0" err="1"/>
              <a:t>lw</a:t>
            </a:r>
            <a:r>
              <a:rPr lang="es-ES" dirty="0"/>
              <a:t>/lb: Carga una palabra/byte de memoria a registro.</a:t>
            </a:r>
          </a:p>
          <a:p>
            <a:pPr lvl="1"/>
            <a:r>
              <a:rPr lang="es-ES" dirty="0" err="1"/>
              <a:t>sw</a:t>
            </a:r>
            <a:r>
              <a:rPr lang="es-ES" dirty="0"/>
              <a:t>/</a:t>
            </a:r>
            <a:r>
              <a:rPr lang="es-ES" dirty="0" err="1"/>
              <a:t>sb</a:t>
            </a:r>
            <a:r>
              <a:rPr lang="es-ES" dirty="0"/>
              <a:t>: Almacena una palabra/byte de registro a memoria.</a:t>
            </a:r>
          </a:p>
          <a:p>
            <a:r>
              <a:rPr lang="es-ES" b="1" dirty="0"/>
              <a:t>Aritméticas</a:t>
            </a:r>
            <a:endParaRPr lang="es-ES" dirty="0"/>
          </a:p>
          <a:p>
            <a:pPr lvl="1"/>
            <a:r>
              <a:rPr lang="es-ES" dirty="0" err="1"/>
              <a:t>add</a:t>
            </a:r>
            <a:r>
              <a:rPr lang="es-ES" dirty="0"/>
              <a:t>, sub: Suma y resta de enteros.</a:t>
            </a:r>
          </a:p>
          <a:p>
            <a:pPr lvl="1"/>
            <a:r>
              <a:rPr lang="es-ES" dirty="0" err="1"/>
              <a:t>addi</a:t>
            </a:r>
            <a:r>
              <a:rPr lang="es-ES" dirty="0"/>
              <a:t>: Suma inmediata.</a:t>
            </a:r>
          </a:p>
          <a:p>
            <a:r>
              <a:rPr lang="es-ES" b="1" dirty="0"/>
              <a:t>Lógicas y Desplazamientos</a:t>
            </a:r>
            <a:endParaRPr lang="es-ES" dirty="0"/>
          </a:p>
          <a:p>
            <a:pPr lvl="1"/>
            <a:r>
              <a:rPr lang="es-ES" dirty="0"/>
              <a:t>and, </a:t>
            </a:r>
            <a:r>
              <a:rPr lang="es-ES" dirty="0" err="1"/>
              <a:t>or</a:t>
            </a:r>
            <a:r>
              <a:rPr lang="es-ES" dirty="0"/>
              <a:t>, </a:t>
            </a:r>
            <a:r>
              <a:rPr lang="es-ES" dirty="0" err="1"/>
              <a:t>xor</a:t>
            </a:r>
            <a:r>
              <a:rPr lang="es-ES" dirty="0"/>
              <a:t>: Operaciones bit a bit.</a:t>
            </a:r>
          </a:p>
          <a:p>
            <a:pPr lvl="1"/>
            <a:r>
              <a:rPr lang="es-ES" dirty="0" err="1"/>
              <a:t>sll</a:t>
            </a:r>
            <a:r>
              <a:rPr lang="es-ES" dirty="0"/>
              <a:t>, </a:t>
            </a:r>
            <a:r>
              <a:rPr lang="es-ES" dirty="0" err="1"/>
              <a:t>srl</a:t>
            </a:r>
            <a:r>
              <a:rPr lang="es-ES" dirty="0"/>
              <a:t>, </a:t>
            </a:r>
            <a:r>
              <a:rPr lang="es-ES" dirty="0" err="1"/>
              <a:t>sra</a:t>
            </a:r>
            <a:r>
              <a:rPr lang="es-ES" dirty="0"/>
              <a:t>: Desplazamientos (Shift </a:t>
            </a:r>
            <a:r>
              <a:rPr lang="es-ES" dirty="0" err="1"/>
              <a:t>Left</a:t>
            </a:r>
            <a:r>
              <a:rPr lang="es-ES" dirty="0"/>
              <a:t>/</a:t>
            </a:r>
            <a:r>
              <a:rPr lang="es-ES" dirty="0" err="1"/>
              <a:t>Right</a:t>
            </a:r>
            <a:r>
              <a:rPr lang="es-ES" dirty="0"/>
              <a:t>/</a:t>
            </a:r>
            <a:r>
              <a:rPr lang="es-ES" dirty="0" err="1"/>
              <a:t>Arithmetic</a:t>
            </a:r>
            <a:r>
              <a:rPr lang="es-ES" dirty="0"/>
              <a:t>).</a:t>
            </a:r>
          </a:p>
          <a:p>
            <a:r>
              <a:rPr lang="es-ES" b="1" dirty="0"/>
              <a:t>Comparación</a:t>
            </a:r>
            <a:endParaRPr lang="es-ES" dirty="0"/>
          </a:p>
          <a:p>
            <a:pPr lvl="1"/>
            <a:r>
              <a:rPr lang="es-ES" dirty="0" err="1"/>
              <a:t>slt</a:t>
            </a:r>
            <a:r>
              <a:rPr lang="es-ES" dirty="0"/>
              <a:t>, </a:t>
            </a:r>
            <a:r>
              <a:rPr lang="es-ES" dirty="0" err="1"/>
              <a:t>sltu</a:t>
            </a:r>
            <a:r>
              <a:rPr lang="es-ES" dirty="0"/>
              <a:t>: Pone a 1 el destino si es menor que (</a:t>
            </a:r>
            <a:r>
              <a:rPr lang="es-ES" b="1" dirty="0"/>
              <a:t>S</a:t>
            </a:r>
            <a:r>
              <a:rPr lang="es-ES" dirty="0"/>
              <a:t>et </a:t>
            </a:r>
            <a:r>
              <a:rPr lang="es-ES" b="1" dirty="0" err="1"/>
              <a:t>L</a:t>
            </a:r>
            <a:r>
              <a:rPr lang="es-ES" dirty="0" err="1"/>
              <a:t>ess</a:t>
            </a:r>
            <a:r>
              <a:rPr lang="es-ES" dirty="0"/>
              <a:t> </a:t>
            </a:r>
            <a:r>
              <a:rPr lang="es-ES" b="1" dirty="0" err="1"/>
              <a:t>T</a:t>
            </a:r>
            <a:r>
              <a:rPr lang="es-ES" dirty="0" err="1"/>
              <a:t>han</a:t>
            </a:r>
            <a:r>
              <a:rPr lang="es-ES" dirty="0"/>
              <a:t>).</a:t>
            </a:r>
          </a:p>
          <a:p>
            <a:r>
              <a:rPr lang="es-ES" b="1" dirty="0"/>
              <a:t>Salto</a:t>
            </a:r>
            <a:endParaRPr lang="es-ES" dirty="0"/>
          </a:p>
          <a:p>
            <a:pPr lvl="1"/>
            <a:r>
              <a:rPr lang="es-ES" dirty="0" err="1"/>
              <a:t>beq</a:t>
            </a:r>
            <a:r>
              <a:rPr lang="es-ES" dirty="0"/>
              <a:t>, </a:t>
            </a:r>
            <a:r>
              <a:rPr lang="es-ES" dirty="0" err="1"/>
              <a:t>bne</a:t>
            </a:r>
            <a:r>
              <a:rPr lang="es-ES" dirty="0"/>
              <a:t>: Saltos condicionales de igualdad.</a:t>
            </a:r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blt</a:t>
            </a:r>
            <a:r>
              <a:rPr lang="es-ES" dirty="0">
                <a:solidFill>
                  <a:srgbClr val="FF0000"/>
                </a:solidFill>
              </a:rPr>
              <a:t>/ </a:t>
            </a:r>
            <a:r>
              <a:rPr lang="es-ES" dirty="0" err="1">
                <a:solidFill>
                  <a:srgbClr val="FF0000"/>
                </a:solidFill>
              </a:rPr>
              <a:t>bge</a:t>
            </a:r>
            <a:r>
              <a:rPr lang="es-ES" dirty="0">
                <a:solidFill>
                  <a:srgbClr val="FF0000"/>
                </a:solidFill>
              </a:rPr>
              <a:t>: Saltos condicionales si menor/ mayor</a:t>
            </a:r>
          </a:p>
          <a:p>
            <a:pPr lvl="1"/>
            <a:r>
              <a:rPr lang="es-ES" dirty="0"/>
              <a:t>jal: Salto relativo(J y JAL en MIPS).</a:t>
            </a:r>
          </a:p>
          <a:p>
            <a:r>
              <a:rPr lang="es-ES" b="1" dirty="0"/>
              <a:t>Coma flotante (Extensiones F y D)</a:t>
            </a:r>
            <a:endParaRPr lang="es-ES" dirty="0"/>
          </a:p>
          <a:p>
            <a:pPr lvl="1"/>
            <a:r>
              <a:rPr lang="es-ES" dirty="0" err="1">
                <a:solidFill>
                  <a:srgbClr val="FF0000"/>
                </a:solidFill>
              </a:rPr>
              <a:t>fadd.s</a:t>
            </a:r>
            <a:r>
              <a:rPr lang="es-ES" dirty="0">
                <a:solidFill>
                  <a:srgbClr val="FF0000"/>
                </a:solidFill>
              </a:rPr>
              <a:t>, </a:t>
            </a:r>
            <a:r>
              <a:rPr lang="es-ES" dirty="0" err="1">
                <a:solidFill>
                  <a:srgbClr val="FF0000"/>
                </a:solidFill>
              </a:rPr>
              <a:t>fmul.d</a:t>
            </a:r>
            <a:r>
              <a:rPr lang="es-ES" dirty="0">
                <a:solidFill>
                  <a:srgbClr val="FF0000"/>
                </a:solidFill>
              </a:rPr>
              <a:t>: Operaciones análogas pero en registros f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5309568-6E11-291F-8B44-3618E9FE575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4000" noProof="1"/>
              <a:t>Instrucciones básicas</a:t>
            </a:r>
          </a:p>
        </p:txBody>
      </p:sp>
    </p:spTree>
    <p:extLst>
      <p:ext uri="{BB962C8B-B14F-4D97-AF65-F5344CB8AC3E}">
        <p14:creationId xmlns:p14="http://schemas.microsoft.com/office/powerpoint/2010/main" val="164067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CA-4215-75E4-2E69-B03EDD536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727FFBFE-5243-FAA9-1DEB-3C7A0C662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Multiplicación y división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AB5D5527-6086-0251-2D15-EDD88D970D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6749" y="1295400"/>
            <a:ext cx="8935770" cy="5562600"/>
          </a:xfrm>
        </p:spPr>
        <p:txBody>
          <a:bodyPr>
            <a:normAutofit/>
          </a:bodyPr>
          <a:lstStyle/>
          <a:p>
            <a:r>
              <a:rPr lang="es-ES" b="1" dirty="0"/>
              <a:t>No existen los registros HI/LO en RISC-V</a:t>
            </a:r>
            <a:endParaRPr lang="es-ES" dirty="0"/>
          </a:p>
          <a:p>
            <a:pPr lvl="1"/>
            <a:r>
              <a:rPr lang="es-ES" dirty="0">
                <a:solidFill>
                  <a:srgbClr val="FF0000"/>
                </a:solidFill>
              </a:rPr>
              <a:t>Los resultados se escriben x0-x31</a:t>
            </a:r>
            <a:r>
              <a:rPr lang="es-ES" dirty="0"/>
              <a:t>:</a:t>
            </a:r>
          </a:p>
          <a:p>
            <a:pPr lvl="2"/>
            <a:r>
              <a:rPr lang="es-ES" dirty="0" err="1"/>
              <a:t>mul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rs1, rs2: Guarda la parte baja del resultado en </a:t>
            </a:r>
            <a:r>
              <a:rPr lang="es-ES" dirty="0" err="1"/>
              <a:t>rd</a:t>
            </a:r>
            <a:endParaRPr lang="es-ES" dirty="0"/>
          </a:p>
          <a:p>
            <a:pPr lvl="2"/>
            <a:r>
              <a:rPr lang="es-ES" dirty="0" err="1"/>
              <a:t>mulh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rs1, rs2: Guarda la parte alta del resultado en </a:t>
            </a:r>
            <a:r>
              <a:rPr lang="es-ES" dirty="0" err="1"/>
              <a:t>rd</a:t>
            </a:r>
            <a:endParaRPr lang="es-ES" dirty="0"/>
          </a:p>
          <a:p>
            <a:pPr lvl="2"/>
            <a:r>
              <a:rPr lang="es-ES" dirty="0" err="1"/>
              <a:t>div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rs1, rs2: Guarda el cociente en </a:t>
            </a:r>
            <a:r>
              <a:rPr lang="es-ES" dirty="0" err="1"/>
              <a:t>rd</a:t>
            </a:r>
            <a:endParaRPr lang="es-ES" dirty="0"/>
          </a:p>
          <a:p>
            <a:pPr lvl="2"/>
            <a:r>
              <a:rPr lang="es-ES" dirty="0"/>
              <a:t>rem </a:t>
            </a:r>
            <a:r>
              <a:rPr lang="es-ES" dirty="0" err="1"/>
              <a:t>rd</a:t>
            </a:r>
            <a:r>
              <a:rPr lang="es-ES" dirty="0"/>
              <a:t>, rs1, rs2: Guardan el resto en </a:t>
            </a:r>
            <a:r>
              <a:rPr lang="es-ES" dirty="0" err="1"/>
              <a:t>rd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788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97E1-425C-5A8D-EAE1-3A2E296C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3425A0D4-DD07-91B0-5505-84AEB78659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Conversión enteros ↔ coma flotante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B5F6E18-098F-42C7-5217-C9347739952B}"/>
              </a:ext>
            </a:extLst>
          </p:cNvPr>
          <p:cNvSpPr txBox="1">
            <a:spLocks noChangeArrowheads="1"/>
          </p:cNvSpPr>
          <p:nvPr/>
        </p:nvSpPr>
        <p:spPr>
          <a:xfrm>
            <a:off x="104115" y="1232948"/>
            <a:ext cx="8935770" cy="540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Entero → Coma Flotante</a:t>
            </a:r>
          </a:p>
          <a:p>
            <a:pPr lvl="1"/>
            <a:r>
              <a:rPr lang="es-ES" dirty="0" err="1"/>
              <a:t>fcvt.s.w</a:t>
            </a:r>
            <a:r>
              <a:rPr lang="es-ES" dirty="0"/>
              <a:t> </a:t>
            </a:r>
            <a:r>
              <a:rPr lang="es-ES" dirty="0" err="1"/>
              <a:t>fd</a:t>
            </a:r>
            <a:r>
              <a:rPr lang="es-ES" dirty="0"/>
              <a:t>, </a:t>
            </a:r>
            <a:r>
              <a:rPr lang="es-ES" dirty="0" err="1"/>
              <a:t>rs</a:t>
            </a:r>
            <a:r>
              <a:rPr lang="es-ES" dirty="0"/>
              <a:t>: Convierte entero </a:t>
            </a:r>
            <a:r>
              <a:rPr lang="es-ES" b="1" dirty="0"/>
              <a:t>con signo</a:t>
            </a:r>
            <a:r>
              <a:rPr lang="es-ES" dirty="0"/>
              <a:t> a simple precisión</a:t>
            </a:r>
          </a:p>
          <a:p>
            <a:pPr lvl="1"/>
            <a:r>
              <a:rPr lang="es-ES" dirty="0" err="1"/>
              <a:t>fcvt.s.wu</a:t>
            </a:r>
            <a:r>
              <a:rPr lang="es-ES" dirty="0"/>
              <a:t> </a:t>
            </a:r>
            <a:r>
              <a:rPr lang="es-ES" dirty="0" err="1"/>
              <a:t>fd</a:t>
            </a:r>
            <a:r>
              <a:rPr lang="es-ES" dirty="0"/>
              <a:t>, </a:t>
            </a:r>
            <a:r>
              <a:rPr lang="es-ES" dirty="0" err="1"/>
              <a:t>rs</a:t>
            </a:r>
            <a:r>
              <a:rPr lang="es-ES" dirty="0"/>
              <a:t>: Convierte entero </a:t>
            </a:r>
            <a:r>
              <a:rPr lang="es-ES" b="1" dirty="0"/>
              <a:t>sin signo</a:t>
            </a:r>
            <a:r>
              <a:rPr lang="es-ES" dirty="0"/>
              <a:t> a simple precisión</a:t>
            </a:r>
          </a:p>
          <a:p>
            <a:r>
              <a:rPr lang="es-ES" b="1" dirty="0"/>
              <a:t>Coma Flotante → Entero</a:t>
            </a:r>
          </a:p>
          <a:p>
            <a:pPr lvl="1"/>
            <a:r>
              <a:rPr lang="es-ES" dirty="0" err="1"/>
              <a:t>fcvt.w.s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</a:t>
            </a:r>
            <a:r>
              <a:rPr lang="es-ES" dirty="0" err="1"/>
              <a:t>fs</a:t>
            </a:r>
            <a:r>
              <a:rPr lang="es-ES" dirty="0"/>
              <a:t>: Convierte simple precisión a entero </a:t>
            </a:r>
            <a:r>
              <a:rPr lang="es-ES" b="1" dirty="0"/>
              <a:t>con signo</a:t>
            </a:r>
            <a:endParaRPr lang="es-ES" dirty="0"/>
          </a:p>
          <a:p>
            <a:pPr lvl="1"/>
            <a:r>
              <a:rPr lang="es-ES" dirty="0" err="1"/>
              <a:t>fcvt.wu.s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</a:t>
            </a:r>
            <a:r>
              <a:rPr lang="es-ES" dirty="0" err="1"/>
              <a:t>fs</a:t>
            </a:r>
            <a:r>
              <a:rPr lang="es-ES" dirty="0"/>
              <a:t>: Convierte simple precisión a entero </a:t>
            </a:r>
            <a:r>
              <a:rPr lang="es-ES" b="1" dirty="0"/>
              <a:t>sin signo</a:t>
            </a:r>
            <a:endParaRPr lang="es-ES" dirty="0"/>
          </a:p>
          <a:p>
            <a:r>
              <a:rPr lang="es-ES" b="1" dirty="0"/>
              <a:t>Movimiento de Bits (sin conversión)</a:t>
            </a:r>
          </a:p>
          <a:p>
            <a:pPr lvl="1"/>
            <a:r>
              <a:rPr lang="es-ES" dirty="0" err="1"/>
              <a:t>fmv.w.x</a:t>
            </a:r>
            <a:r>
              <a:rPr lang="es-ES" dirty="0"/>
              <a:t> </a:t>
            </a:r>
            <a:r>
              <a:rPr lang="es-ES" dirty="0" err="1"/>
              <a:t>fd</a:t>
            </a:r>
            <a:r>
              <a:rPr lang="es-ES" dirty="0"/>
              <a:t>, </a:t>
            </a:r>
            <a:r>
              <a:rPr lang="es-ES" dirty="0" err="1"/>
              <a:t>rs</a:t>
            </a:r>
            <a:r>
              <a:rPr lang="es-ES" dirty="0"/>
              <a:t>: Copia bits de registro entero → flotante (32 bits)</a:t>
            </a:r>
          </a:p>
          <a:p>
            <a:pPr lvl="1"/>
            <a:r>
              <a:rPr lang="es-ES" dirty="0" err="1"/>
              <a:t>fmv.x.w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</a:t>
            </a:r>
            <a:r>
              <a:rPr lang="es-ES" dirty="0" err="1"/>
              <a:t>fs</a:t>
            </a:r>
            <a:r>
              <a:rPr lang="es-ES" dirty="0"/>
              <a:t>: Copia bits de registro flotante → entero (32 bits)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50564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FD8E-EF8A-B240-B13C-220F34E7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7C816358-6DDD-54E8-E77F-877D1A3FF8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311785"/>
              </p:ext>
            </p:extLst>
          </p:nvPr>
        </p:nvGraphicFramePr>
        <p:xfrm>
          <a:off x="154918" y="1811664"/>
          <a:ext cx="8834163" cy="323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1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29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Instrucción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Operación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Formato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Código</a:t>
                      </a:r>
                      <a:r>
                        <a:rPr lang="en-US" sz="1400" baseline="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Op.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noProof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Func3 / Func7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add rd,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rd =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+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sub rd,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rd =</a:t>
                      </a:r>
                      <a:r>
                        <a:rPr lang="en-US" sz="1400" baseline="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baseline="0" dirty="0">
                          <a:latin typeface="Arial Narrow"/>
                          <a:cs typeface="Arial Narrow"/>
                        </a:rPr>
                        <a:t> – 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and rd,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rd =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400" b="1" kern="1200" dirty="0">
                          <a:solidFill>
                            <a:schemeClr val="dk1"/>
                          </a:solidFill>
                          <a:latin typeface="Arial Narrow"/>
                          <a:ea typeface="+mn-ea"/>
                          <a:cs typeface="Arial Narrow"/>
                          <a:sym typeface="Symbol"/>
                        </a:rPr>
                        <a:t></a:t>
                      </a:r>
                      <a:r>
                        <a:rPr lang="es-ES_tradnl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or rd,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rd =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_tradnl" sz="1400" b="1" kern="1200" dirty="0">
                          <a:solidFill>
                            <a:schemeClr val="dk1"/>
                          </a:solidFill>
                          <a:latin typeface="Arial Narrow"/>
                          <a:ea typeface="+mn-ea"/>
                          <a:cs typeface="Arial Narrow"/>
                          <a:sym typeface="Symbol"/>
                        </a:rPr>
                        <a:t></a:t>
                      </a:r>
                      <a:r>
                        <a:rPr lang="es-ES_tradnl" sz="1400" dirty="0">
                          <a:latin typeface="Arial Narrow"/>
                          <a:cs typeface="Arial Narrow"/>
                        </a:rPr>
                        <a:t>  </a:t>
                      </a:r>
                      <a:r>
                        <a:rPr lang="es-ES_tradnl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0110011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= Mem[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+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]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0000011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010/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29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Mem[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+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]</a:t>
                      </a:r>
                      <a:r>
                        <a:rPr lang="en-US" sz="1400" baseline="0" dirty="0">
                          <a:latin typeface="Arial Narrow"/>
                          <a:cs typeface="Arial Narrow"/>
                        </a:rPr>
                        <a:t> = 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010/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314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etiq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Si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rs1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==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rs2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entonces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PC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+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= </a:t>
                      </a:r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  <a:p>
                      <a:r>
                        <a:rPr lang="en-US" sz="1400" dirty="0">
                          <a:latin typeface="Arial Narrow"/>
                          <a:cs typeface="Arial Narrow"/>
                        </a:rPr>
                        <a:t>Sino PC = (PC+4)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1100011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Func7=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314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jal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,</a:t>
                      </a:r>
                      <a:r>
                        <a:rPr lang="en-US" sz="14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dirty="0" err="1">
                          <a:latin typeface="Arial Narrow"/>
                          <a:cs typeface="Arial Narrow"/>
                        </a:rPr>
                        <a:t>etiq</a:t>
                      </a:r>
                      <a:endParaRPr lang="en-US" sz="1400" dirty="0"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= PC + 4</a:t>
                      </a:r>
                    </a:p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PC +=</a:t>
                      </a:r>
                      <a:r>
                        <a:rPr lang="en-US" sz="1400" baseline="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baseline="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J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1101111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Func7=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endParaRPr lang="en-US" sz="1400" dirty="0">
                        <a:solidFill>
                          <a:srgbClr val="FF0000"/>
                        </a:solidFill>
                        <a:latin typeface="Arial Narrow"/>
                        <a:cs typeface="Arial Narrow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4A27E19-57FA-2791-B539-5F31EDDAE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89975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264F-CACC-67C7-C1C7-53C10CD8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46E9F5-8BD2-7D14-BCBD-729214915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275691"/>
              </p:ext>
            </p:extLst>
          </p:nvPr>
        </p:nvGraphicFramePr>
        <p:xfrm>
          <a:off x="5678250" y="1258029"/>
          <a:ext cx="31660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185019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73061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 rs2,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etiq</a:t>
                      </a:r>
                      <a:endParaRPr lang="es-ES" sz="2400" noProof="0" dirty="0">
                        <a:solidFill>
                          <a:schemeClr val="tx1"/>
                        </a:solidFill>
                        <a:latin typeface="Arial Narrow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318865"/>
                  </a:ext>
                </a:extLst>
              </a:tr>
            </a:tbl>
          </a:graphicData>
        </a:graphic>
      </p:graphicFrame>
      <p:sp>
        <p:nvSpPr>
          <p:cNvPr id="287" name="Rectangle 3">
            <a:extLst>
              <a:ext uri="{FF2B5EF4-FFF2-40B4-BE49-F238E27FC236}">
                <a16:creationId xmlns:a16="http://schemas.microsoft.com/office/drawing/2014/main" id="{98013DE1-F603-C85F-051E-A1B77EDE95DB}"/>
              </a:ext>
            </a:extLst>
          </p:cNvPr>
          <p:cNvSpPr txBox="1">
            <a:spLocks noChangeArrowheads="1"/>
          </p:cNvSpPr>
          <p:nvPr/>
        </p:nvSpPr>
        <p:spPr>
          <a:xfrm>
            <a:off x="235902" y="1258029"/>
            <a:ext cx="8608359" cy="54075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6 Formatos distintos: </a:t>
            </a:r>
          </a:p>
          <a:p>
            <a:pPr lvl="1"/>
            <a:r>
              <a:rPr lang="es-ES" dirty="0"/>
              <a:t>R (registro-registro)</a:t>
            </a:r>
          </a:p>
          <a:p>
            <a:pPr lvl="1"/>
            <a:r>
              <a:rPr lang="es-ES" dirty="0"/>
              <a:t>I (Inmediato)</a:t>
            </a:r>
          </a:p>
          <a:p>
            <a:pPr lvl="1"/>
            <a:r>
              <a:rPr lang="es-ES" dirty="0"/>
              <a:t>S (Store)</a:t>
            </a:r>
          </a:p>
          <a:p>
            <a:pPr lvl="1"/>
            <a:r>
              <a:rPr lang="es-ES" dirty="0"/>
              <a:t>B (Branch)</a:t>
            </a:r>
          </a:p>
          <a:p>
            <a:pPr lvl="1"/>
            <a:r>
              <a:rPr lang="es-ES" dirty="0"/>
              <a:t>U (</a:t>
            </a:r>
            <a:r>
              <a:rPr lang="es-ES" dirty="0" err="1"/>
              <a:t>Upper</a:t>
            </a:r>
            <a:r>
              <a:rPr lang="es-ES" dirty="0"/>
              <a:t> Inmediate)</a:t>
            </a:r>
          </a:p>
          <a:p>
            <a:pPr lvl="1"/>
            <a:r>
              <a:rPr lang="es-ES" dirty="0"/>
              <a:t>J (</a:t>
            </a:r>
            <a:r>
              <a:rPr lang="es-ES" dirty="0" err="1"/>
              <a:t>Jump</a:t>
            </a:r>
            <a:r>
              <a:rPr lang="es-ES" dirty="0"/>
              <a:t>)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r>
              <a:rPr lang="es-ES" dirty="0">
                <a:solidFill>
                  <a:srgbClr val="FF0000"/>
                </a:solidFill>
              </a:rPr>
              <a:t>Se explican fácilmente a través de algunos principios que rigen el diseño del juego de instrucciones </a:t>
            </a:r>
            <a:r>
              <a:rPr lang="es-ES" dirty="0"/>
              <a:t>(ver transparencias a continuación)</a:t>
            </a:r>
          </a:p>
          <a:p>
            <a:r>
              <a:rPr lang="es-ES" dirty="0"/>
              <a:t>Basta con estudiar R, I, S y B en detalle</a:t>
            </a:r>
          </a:p>
        </p:txBody>
      </p:sp>
      <p:sp>
        <p:nvSpPr>
          <p:cNvPr id="288" name="Rectangle 2">
            <a:extLst>
              <a:ext uri="{FF2B5EF4-FFF2-40B4-BE49-F238E27FC236}">
                <a16:creationId xmlns:a16="http://schemas.microsoft.com/office/drawing/2014/main" id="{D59D766E-CF71-1510-A5B8-B3274D3AA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135627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F6BE-88C7-2C94-56C8-802D36AD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43BDBE-6EA3-2268-54D6-66B8EA3E9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91475"/>
              </p:ext>
            </p:extLst>
          </p:nvPr>
        </p:nvGraphicFramePr>
        <p:xfrm>
          <a:off x="5988913" y="1664258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add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rs1, rs2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0A04811A-2F1C-0D30-EBAC-E074D172C962}"/>
              </a:ext>
            </a:extLst>
          </p:cNvPr>
          <p:cNvGrpSpPr/>
          <p:nvPr/>
        </p:nvGrpSpPr>
        <p:grpSpPr>
          <a:xfrm>
            <a:off x="96401" y="1655286"/>
            <a:ext cx="5764068" cy="1491459"/>
            <a:chOff x="975305" y="4921593"/>
            <a:chExt cx="3345284" cy="95279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DFF4C7E2-1500-DC1B-002B-835011EFE3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3"/>
              <a:ext cx="3345284" cy="952791"/>
              <a:chOff x="143" y="720"/>
              <a:chExt cx="2545" cy="570"/>
            </a:xfrm>
          </p:grpSpPr>
          <p:sp>
            <p:nvSpPr>
              <p:cNvPr id="62" name="Rectangle 10">
                <a:extLst>
                  <a:ext uri="{FF2B5EF4-FFF2-40B4-BE49-F238E27FC236}">
                    <a16:creationId xmlns:a16="http://schemas.microsoft.com/office/drawing/2014/main" id="{28F34F08-10A5-2560-A97E-22A76551B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29" name="Group 155">
                <a:extLst>
                  <a:ext uri="{FF2B5EF4-FFF2-40B4-BE49-F238E27FC236}">
                    <a16:creationId xmlns:a16="http://schemas.microsoft.com/office/drawing/2014/main" id="{F95EA491-01EB-E09E-C151-DAFFE0CBB2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68"/>
                <a:ext cx="2519" cy="522"/>
                <a:chOff x="1168" y="1293"/>
                <a:chExt cx="3246" cy="855"/>
              </a:xfrm>
            </p:grpSpPr>
            <p:grpSp>
              <p:nvGrpSpPr>
                <p:cNvPr id="130" name="Group 5">
                  <a:extLst>
                    <a:ext uri="{FF2B5EF4-FFF2-40B4-BE49-F238E27FC236}">
                      <a16:creationId xmlns:a16="http://schemas.microsoft.com/office/drawing/2014/main" id="{580E0A5E-54CF-C8DF-33DC-96B1E7A9F1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8" name="Rectangle 6">
                    <a:extLst>
                      <a:ext uri="{FF2B5EF4-FFF2-40B4-BE49-F238E27FC236}">
                        <a16:creationId xmlns:a16="http://schemas.microsoft.com/office/drawing/2014/main" id="{3707CF43-3918-04C5-84DE-375A671CBE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 b="1">
                      <a:solidFill>
                        <a:srgbClr val="4F271C"/>
                      </a:solidFill>
                    </a:endParaRPr>
                  </a:p>
                </p:txBody>
              </p:sp>
              <p:grpSp>
                <p:nvGrpSpPr>
                  <p:cNvPr id="149" name="Group 7">
                    <a:extLst>
                      <a:ext uri="{FF2B5EF4-FFF2-40B4-BE49-F238E27FC236}">
                        <a16:creationId xmlns:a16="http://schemas.microsoft.com/office/drawing/2014/main" id="{766842B9-20E9-1855-F3E9-9090005A2C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50" name="Line 9">
                      <a:extLst>
                        <a:ext uri="{FF2B5EF4-FFF2-40B4-BE49-F238E27FC236}">
                          <a16:creationId xmlns:a16="http://schemas.microsoft.com/office/drawing/2014/main" id="{11E6E3B6-B16F-1188-E6E1-16965F5E3F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1" name="Line 10">
                      <a:extLst>
                        <a:ext uri="{FF2B5EF4-FFF2-40B4-BE49-F238E27FC236}">
                          <a16:creationId xmlns:a16="http://schemas.microsoft.com/office/drawing/2014/main" id="{632E6CFA-D61C-DE83-53FC-AE37F56CE0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2" name="Line 11">
                      <a:extLst>
                        <a:ext uri="{FF2B5EF4-FFF2-40B4-BE49-F238E27FC236}">
                          <a16:creationId xmlns:a16="http://schemas.microsoft.com/office/drawing/2014/main" id="{9A0F99F4-B4D7-F0D7-EE4B-B03534F2BAE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3" name="Line 12">
                      <a:extLst>
                        <a:ext uri="{FF2B5EF4-FFF2-40B4-BE49-F238E27FC236}">
                          <a16:creationId xmlns:a16="http://schemas.microsoft.com/office/drawing/2014/main" id="{D4230B6B-8B12-616E-DE8D-0E4A041BE7B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4" name="Line 13">
                      <a:extLst>
                        <a:ext uri="{FF2B5EF4-FFF2-40B4-BE49-F238E27FC236}">
                          <a16:creationId xmlns:a16="http://schemas.microsoft.com/office/drawing/2014/main" id="{8D7CBACF-07B4-6BF3-C3B0-C5B0170B8B0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5" name="Line 14">
                      <a:extLst>
                        <a:ext uri="{FF2B5EF4-FFF2-40B4-BE49-F238E27FC236}">
                          <a16:creationId xmlns:a16="http://schemas.microsoft.com/office/drawing/2014/main" id="{1EE9AF61-EDAD-6524-AFD9-D61DBD8E325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7" name="Line 15">
                      <a:extLst>
                        <a:ext uri="{FF2B5EF4-FFF2-40B4-BE49-F238E27FC236}">
                          <a16:creationId xmlns:a16="http://schemas.microsoft.com/office/drawing/2014/main" id="{30D21530-24A2-EE9D-9E91-791D7B42D0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0" name="Line 16">
                      <a:extLst>
                        <a:ext uri="{FF2B5EF4-FFF2-40B4-BE49-F238E27FC236}">
                          <a16:creationId xmlns:a16="http://schemas.microsoft.com/office/drawing/2014/main" id="{4B13808C-2BD2-B1D1-AF41-C129568D55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1" name="Line 17">
                      <a:extLst>
                        <a:ext uri="{FF2B5EF4-FFF2-40B4-BE49-F238E27FC236}">
                          <a16:creationId xmlns:a16="http://schemas.microsoft.com/office/drawing/2014/main" id="{861CF2D1-EDB4-6F4E-50A4-12792951FF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5" name="Line 18">
                      <a:extLst>
                        <a:ext uri="{FF2B5EF4-FFF2-40B4-BE49-F238E27FC236}">
                          <a16:creationId xmlns:a16="http://schemas.microsoft.com/office/drawing/2014/main" id="{216CF06D-D87E-5E5F-AEBF-17434E6D254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1" name="Line 19">
                      <a:extLst>
                        <a:ext uri="{FF2B5EF4-FFF2-40B4-BE49-F238E27FC236}">
                          <a16:creationId xmlns:a16="http://schemas.microsoft.com/office/drawing/2014/main" id="{7BB803CE-D387-B31B-5877-52AA71ADE7C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5" name="Line 20">
                      <a:extLst>
                        <a:ext uri="{FF2B5EF4-FFF2-40B4-BE49-F238E27FC236}">
                          <a16:creationId xmlns:a16="http://schemas.microsoft.com/office/drawing/2014/main" id="{1786ED76-BF0E-127F-7AC8-6077FA775B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14" name="Line 21">
                      <a:extLst>
                        <a:ext uri="{FF2B5EF4-FFF2-40B4-BE49-F238E27FC236}">
                          <a16:creationId xmlns:a16="http://schemas.microsoft.com/office/drawing/2014/main" id="{F02EBA97-A28B-AA1C-3B42-F9282138C8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0" name="Line 22">
                      <a:extLst>
                        <a:ext uri="{FF2B5EF4-FFF2-40B4-BE49-F238E27FC236}">
                          <a16:creationId xmlns:a16="http://schemas.microsoft.com/office/drawing/2014/main" id="{54A5A758-72DB-B886-A60D-0EF3FB84A82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3" name="Line 23">
                      <a:extLst>
                        <a:ext uri="{FF2B5EF4-FFF2-40B4-BE49-F238E27FC236}">
                          <a16:creationId xmlns:a16="http://schemas.microsoft.com/office/drawing/2014/main" id="{BE2941B3-E39B-A192-125E-746A27E5F8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4" name="Line 24">
                      <a:extLst>
                        <a:ext uri="{FF2B5EF4-FFF2-40B4-BE49-F238E27FC236}">
                          <a16:creationId xmlns:a16="http://schemas.microsoft.com/office/drawing/2014/main" id="{36DAC137-9F45-243B-3099-55AB995F104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5" name="Line 25">
                      <a:extLst>
                        <a:ext uri="{FF2B5EF4-FFF2-40B4-BE49-F238E27FC236}">
                          <a16:creationId xmlns:a16="http://schemas.microsoft.com/office/drawing/2014/main" id="{3A7613FF-6623-AC49-5F0B-71E2D2CAF0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1" name="Line 26">
                      <a:extLst>
                        <a:ext uri="{FF2B5EF4-FFF2-40B4-BE49-F238E27FC236}">
                          <a16:creationId xmlns:a16="http://schemas.microsoft.com/office/drawing/2014/main" id="{9AC0F87D-13B8-FE1E-BECB-C51AF35B25E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2" name="Line 27">
                      <a:extLst>
                        <a:ext uri="{FF2B5EF4-FFF2-40B4-BE49-F238E27FC236}">
                          <a16:creationId xmlns:a16="http://schemas.microsoft.com/office/drawing/2014/main" id="{39546737-C361-5D32-AFA6-74D8CDDCC30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3" name="Line 28">
                      <a:extLst>
                        <a:ext uri="{FF2B5EF4-FFF2-40B4-BE49-F238E27FC236}">
                          <a16:creationId xmlns:a16="http://schemas.microsoft.com/office/drawing/2014/main" id="{CFC829F4-48DF-F3DB-3315-C4D4F956CEE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4" name="Line 29">
                      <a:extLst>
                        <a:ext uri="{FF2B5EF4-FFF2-40B4-BE49-F238E27FC236}">
                          <a16:creationId xmlns:a16="http://schemas.microsoft.com/office/drawing/2014/main" id="{0EE6DEF6-44FE-2688-1D46-3AFBD7FB956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5" name="Line 30">
                      <a:extLst>
                        <a:ext uri="{FF2B5EF4-FFF2-40B4-BE49-F238E27FC236}">
                          <a16:creationId xmlns:a16="http://schemas.microsoft.com/office/drawing/2014/main" id="{76D66D5F-F3ED-038C-2FC0-618307F02A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7" name="Line 31">
                      <a:extLst>
                        <a:ext uri="{FF2B5EF4-FFF2-40B4-BE49-F238E27FC236}">
                          <a16:creationId xmlns:a16="http://schemas.microsoft.com/office/drawing/2014/main" id="{6AB1CA9D-63B1-CB57-A527-379F80BD9B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8" name="Line 32">
                      <a:extLst>
                        <a:ext uri="{FF2B5EF4-FFF2-40B4-BE49-F238E27FC236}">
                          <a16:creationId xmlns:a16="http://schemas.microsoft.com/office/drawing/2014/main" id="{0AE59F09-5C4E-1D7A-7E7C-53A86277B9C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9" name="Line 33">
                      <a:extLst>
                        <a:ext uri="{FF2B5EF4-FFF2-40B4-BE49-F238E27FC236}">
                          <a16:creationId xmlns:a16="http://schemas.microsoft.com/office/drawing/2014/main" id="{4853B21D-7ACB-5A48-3167-BA761D669A5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0" name="Line 34">
                      <a:extLst>
                        <a:ext uri="{FF2B5EF4-FFF2-40B4-BE49-F238E27FC236}">
                          <a16:creationId xmlns:a16="http://schemas.microsoft.com/office/drawing/2014/main" id="{387E6DA5-957A-3A5C-38F4-10298E32B4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1" name="Line 35">
                      <a:extLst>
                        <a:ext uri="{FF2B5EF4-FFF2-40B4-BE49-F238E27FC236}">
                          <a16:creationId xmlns:a16="http://schemas.microsoft.com/office/drawing/2014/main" id="{286E6CAC-5182-AA68-2B71-D74454B9D3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2" name="Line 36">
                      <a:extLst>
                        <a:ext uri="{FF2B5EF4-FFF2-40B4-BE49-F238E27FC236}">
                          <a16:creationId xmlns:a16="http://schemas.microsoft.com/office/drawing/2014/main" id="{2D16A311-0AD4-FF42-3CB3-B69843CB19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3" name="Line 37">
                      <a:extLst>
                        <a:ext uri="{FF2B5EF4-FFF2-40B4-BE49-F238E27FC236}">
                          <a16:creationId xmlns:a16="http://schemas.microsoft.com/office/drawing/2014/main" id="{4D1DC261-2D51-F2C8-3CB4-DC31FD1C110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4" name="Line 38">
                      <a:extLst>
                        <a:ext uri="{FF2B5EF4-FFF2-40B4-BE49-F238E27FC236}">
                          <a16:creationId xmlns:a16="http://schemas.microsoft.com/office/drawing/2014/main" id="{00386069-AD1D-F345-55BD-764D15E344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31" name="Line 39">
                  <a:extLst>
                    <a:ext uri="{FF2B5EF4-FFF2-40B4-BE49-F238E27FC236}">
                      <a16:creationId xmlns:a16="http://schemas.microsoft.com/office/drawing/2014/main" id="{5ECCF9F1-E3B6-B4A0-89B7-653EAC216E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2" name="Text Box 40">
                  <a:extLst>
                    <a:ext uri="{FF2B5EF4-FFF2-40B4-BE49-F238E27FC236}">
                      <a16:creationId xmlns:a16="http://schemas.microsoft.com/office/drawing/2014/main" id="{2EA37595-EB53-7A14-BA9B-0F03A633AF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20"/>
                  <a:ext cx="563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func7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3" name="Text Box 41">
                  <a:extLst>
                    <a:ext uri="{FF2B5EF4-FFF2-40B4-BE49-F238E27FC236}">
                      <a16:creationId xmlns:a16="http://schemas.microsoft.com/office/drawing/2014/main" id="{247A0C37-EBF0-B689-B868-32465B7FBC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43"/>
                  <a:ext cx="543" cy="24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000" dirty="0">
                      <a:solidFill>
                        <a:srgbClr val="FF0000"/>
                      </a:solidFill>
                      <a:latin typeface="Calibri" pitchFamily="-103" charset="0"/>
                    </a:rPr>
                    <a:t>func3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4" name="Line 42">
                  <a:extLst>
                    <a:ext uri="{FF2B5EF4-FFF2-40B4-BE49-F238E27FC236}">
                      <a16:creationId xmlns:a16="http://schemas.microsoft.com/office/drawing/2014/main" id="{656E3116-6033-48CB-02BA-3AA33908E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43">
                  <a:extLst>
                    <a:ext uri="{FF2B5EF4-FFF2-40B4-BE49-F238E27FC236}">
                      <a16:creationId xmlns:a16="http://schemas.microsoft.com/office/drawing/2014/main" id="{36A8EC94-5516-B300-D27C-4CE8C9D525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44">
                  <a:extLst>
                    <a:ext uri="{FF2B5EF4-FFF2-40B4-BE49-F238E27FC236}">
                      <a16:creationId xmlns:a16="http://schemas.microsoft.com/office/drawing/2014/main" id="{23F8272F-7610-9247-2B64-718DA1223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Text Box 45">
                  <a:extLst>
                    <a:ext uri="{FF2B5EF4-FFF2-40B4-BE49-F238E27FC236}">
                      <a16:creationId xmlns:a16="http://schemas.microsoft.com/office/drawing/2014/main" id="{3B11E47B-C643-7897-73AF-625AFDDEEA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24"/>
                  <a:ext cx="451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rs2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8" name="Text Box 46">
                  <a:extLst>
                    <a:ext uri="{FF2B5EF4-FFF2-40B4-BE49-F238E27FC236}">
                      <a16:creationId xmlns:a16="http://schemas.microsoft.com/office/drawing/2014/main" id="{6353FBCE-FDD8-C16F-D530-138EFDDD95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14"/>
                  <a:ext cx="39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rs1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9" name="Text Box 47">
                  <a:extLst>
                    <a:ext uri="{FF2B5EF4-FFF2-40B4-BE49-F238E27FC236}">
                      <a16:creationId xmlns:a16="http://schemas.microsoft.com/office/drawing/2014/main" id="{428D1AD7-CBEA-9109-E135-1BD6245EE6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07"/>
                  <a:ext cx="662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COP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0" name="Text Box 48">
                  <a:extLst>
                    <a:ext uri="{FF2B5EF4-FFF2-40B4-BE49-F238E27FC236}">
                      <a16:creationId xmlns:a16="http://schemas.microsoft.com/office/drawing/2014/main" id="{B141BD64-0AF7-EF67-7D06-DCFE5E702B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54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31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1" name="Text Box 49">
                  <a:extLst>
                    <a:ext uri="{FF2B5EF4-FFF2-40B4-BE49-F238E27FC236}">
                      <a16:creationId xmlns:a16="http://schemas.microsoft.com/office/drawing/2014/main" id="{E926089F-BB09-4345-BD61-E441FEA188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3" y="1608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2" name="Text Box 50">
                  <a:extLst>
                    <a:ext uri="{FF2B5EF4-FFF2-40B4-BE49-F238E27FC236}">
                      <a16:creationId xmlns:a16="http://schemas.microsoft.com/office/drawing/2014/main" id="{8D2AAD75-79A7-6562-D369-926B1CAA90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6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0 9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3" name="Text Box 51">
                  <a:extLst>
                    <a:ext uri="{FF2B5EF4-FFF2-40B4-BE49-F238E27FC236}">
                      <a16:creationId xmlns:a16="http://schemas.microsoft.com/office/drawing/2014/main" id="{21FC83A4-B8A1-0F42-B1C7-C9B3006DB2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8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4" name="Text Box 52">
                  <a:extLst>
                    <a:ext uri="{FF2B5EF4-FFF2-40B4-BE49-F238E27FC236}">
                      <a16:creationId xmlns:a16="http://schemas.microsoft.com/office/drawing/2014/main" id="{E91C8406-39EA-CA58-1CD3-C49F10EFE7C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9" y="1607"/>
                  <a:ext cx="335" cy="23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7 6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5" name="Text Box 53">
                  <a:extLst>
                    <a:ext uri="{FF2B5EF4-FFF2-40B4-BE49-F238E27FC236}">
                      <a16:creationId xmlns:a16="http://schemas.microsoft.com/office/drawing/2014/main" id="{9C05C7FC-CFA1-A607-3E71-75CEC24DF4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5" y="1612"/>
                  <a:ext cx="269" cy="33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6" name="Line 153">
                  <a:extLst>
                    <a:ext uri="{FF2B5EF4-FFF2-40B4-BE49-F238E27FC236}">
                      <a16:creationId xmlns:a16="http://schemas.microsoft.com/office/drawing/2014/main" id="{98BB5CC1-FA7D-8F44-E77A-499247955E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Text Box 154">
                  <a:extLst>
                    <a:ext uri="{FF2B5EF4-FFF2-40B4-BE49-F238E27FC236}">
                      <a16:creationId xmlns:a16="http://schemas.microsoft.com/office/drawing/2014/main" id="{2A1AE7A6-7F62-4A9E-2D9A-E056B3D9F3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4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</p:grpSp>
        </p:grp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2071DEF6-A9EC-E505-1A52-08D67DF9C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25721"/>
              <a:ext cx="383616" cy="277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200" dirty="0" err="1">
                  <a:solidFill>
                    <a:srgbClr val="FF0000"/>
                  </a:solidFill>
                  <a:latin typeface="Calibri" pitchFamily="-103" charset="0"/>
                </a:rPr>
                <a:t>rd</a:t>
              </a:r>
              <a:endParaRPr lang="ca-ES" sz="1200" dirty="0">
                <a:solidFill>
                  <a:srgbClr val="FF0000"/>
                </a:solidFill>
                <a:latin typeface="Calibri" pitchFamily="-103" charset="0"/>
              </a:endParaRPr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D01635E8-FDD6-E3B4-AD2A-C24AA85E9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95" name="Rectangle 3">
            <a:extLst>
              <a:ext uri="{FF2B5EF4-FFF2-40B4-BE49-F238E27FC236}">
                <a16:creationId xmlns:a16="http://schemas.microsoft.com/office/drawing/2014/main" id="{6B770E6E-E6C8-1A84-4AA3-49C87CA9AF99}"/>
              </a:ext>
            </a:extLst>
          </p:cNvPr>
          <p:cNvSpPr txBox="1">
            <a:spLocks noChangeArrowheads="1"/>
          </p:cNvSpPr>
          <p:nvPr/>
        </p:nvSpPr>
        <p:spPr>
          <a:xfrm>
            <a:off x="191942" y="933005"/>
            <a:ext cx="8708199" cy="59131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Principio 1: Simplicidad=regularidad=velocidad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Partimos como caso general del formato R: </a:t>
            </a:r>
          </a:p>
          <a:p>
            <a:r>
              <a:rPr lang="es-ES" sz="2400" dirty="0"/>
              <a:t>2 operandos fuente (rs1, rs2) y un operando destino (</a:t>
            </a:r>
            <a:r>
              <a:rPr lang="es-ES" sz="2400" dirty="0" err="1"/>
              <a:t>rd</a:t>
            </a:r>
            <a:r>
              <a:rPr lang="es-ES" sz="2400" dirty="0"/>
              <a:t>)</a:t>
            </a:r>
          </a:p>
          <a:p>
            <a:r>
              <a:rPr lang="es-ES" sz="2400" dirty="0"/>
              <a:t>7+3 bits para COP y func3</a:t>
            </a:r>
          </a:p>
          <a:p>
            <a:r>
              <a:rPr lang="es-ES" sz="2400" dirty="0"/>
              <a:t>5 bits por registro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solidFill>
                  <a:srgbClr val="FF0000"/>
                </a:solidFill>
              </a:rPr>
              <a:t>Objetivo</a:t>
            </a:r>
            <a:r>
              <a:rPr lang="es-ES" dirty="0"/>
              <a:t>: mantener las </a:t>
            </a:r>
            <a:r>
              <a:rPr lang="es-ES" dirty="0">
                <a:solidFill>
                  <a:srgbClr val="FF0000"/>
                </a:solidFill>
              </a:rPr>
              <a:t>mismas posiciones del formato R </a:t>
            </a:r>
            <a:r>
              <a:rPr lang="es-ES" dirty="0"/>
              <a:t>para COP, func3 y aquellos operandos que existan en cada uno de los formatos restantes</a:t>
            </a:r>
          </a:p>
        </p:txBody>
      </p:sp>
      <p:sp>
        <p:nvSpPr>
          <p:cNvPr id="296" name="Rectangle 2">
            <a:extLst>
              <a:ext uri="{FF2B5EF4-FFF2-40B4-BE49-F238E27FC236}">
                <a16:creationId xmlns:a16="http://schemas.microsoft.com/office/drawing/2014/main" id="{B6F5400A-A52B-131E-C6C6-596359B45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296454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DD7CB-C1B1-226D-0420-D95E2DB2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rupo 219">
            <a:extLst>
              <a:ext uri="{FF2B5EF4-FFF2-40B4-BE49-F238E27FC236}">
                <a16:creationId xmlns:a16="http://schemas.microsoft.com/office/drawing/2014/main" id="{2A4D5B78-148B-7AA6-621F-BC6C546E5AD3}"/>
              </a:ext>
            </a:extLst>
          </p:cNvPr>
          <p:cNvGrpSpPr/>
          <p:nvPr/>
        </p:nvGrpSpPr>
        <p:grpSpPr>
          <a:xfrm>
            <a:off x="98373" y="4896952"/>
            <a:ext cx="5761811" cy="1226674"/>
            <a:chOff x="5564454" y="4295535"/>
            <a:chExt cx="3371509" cy="823465"/>
          </a:xfrm>
        </p:grpSpPr>
        <p:grpSp>
          <p:nvGrpSpPr>
            <p:cNvPr id="221" name="Grupo 220">
              <a:extLst>
                <a:ext uri="{FF2B5EF4-FFF2-40B4-BE49-F238E27FC236}">
                  <a16:creationId xmlns:a16="http://schemas.microsoft.com/office/drawing/2014/main" id="{50164261-D4B1-0D75-5295-83D9E485A759}"/>
                </a:ext>
              </a:extLst>
            </p:cNvPr>
            <p:cNvGrpSpPr/>
            <p:nvPr/>
          </p:nvGrpSpPr>
          <p:grpSpPr>
            <a:xfrm>
              <a:off x="5564454" y="4295535"/>
              <a:ext cx="3371509" cy="823465"/>
              <a:chOff x="5474422" y="4896519"/>
              <a:chExt cx="3345284" cy="977865"/>
            </a:xfrm>
          </p:grpSpPr>
          <p:grpSp>
            <p:nvGrpSpPr>
              <p:cNvPr id="223" name="Group 9">
                <a:extLst>
                  <a:ext uri="{FF2B5EF4-FFF2-40B4-BE49-F238E27FC236}">
                    <a16:creationId xmlns:a16="http://schemas.microsoft.com/office/drawing/2014/main" id="{44F1534F-CBC0-A3D3-56BA-69DA4B21CC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4422" y="4896519"/>
                <a:ext cx="3345284" cy="977865"/>
                <a:chOff x="143" y="705"/>
                <a:chExt cx="2545" cy="585"/>
              </a:xfrm>
            </p:grpSpPr>
            <p:sp>
              <p:nvSpPr>
                <p:cNvPr id="225" name="Rectangle 10">
                  <a:extLst>
                    <a:ext uri="{FF2B5EF4-FFF2-40B4-BE49-F238E27FC236}">
                      <a16:creationId xmlns:a16="http://schemas.microsoft.com/office/drawing/2014/main" id="{CEA26CAB-ADA9-D8F2-3DF7-78AF19BD7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" y="705"/>
                  <a:ext cx="2544" cy="5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26" name="Group 155">
                  <a:extLst>
                    <a:ext uri="{FF2B5EF4-FFF2-40B4-BE49-F238E27FC236}">
                      <a16:creationId xmlns:a16="http://schemas.microsoft.com/office/drawing/2014/main" id="{AE859974-27F5-ABC3-4725-33A4F26E89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sp>
                <p:nvSpPr>
                  <p:cNvPr id="241" name="Text Box 154">
                    <a:extLst>
                      <a:ext uri="{FF2B5EF4-FFF2-40B4-BE49-F238E27FC236}">
                        <a16:creationId xmlns:a16="http://schemas.microsoft.com/office/drawing/2014/main" id="{A5ACD351-0647-7142-05C7-7F7FDB829A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grpSp>
                <p:nvGrpSpPr>
                  <p:cNvPr id="227" name="Group 5">
                    <a:extLst>
                      <a:ext uri="{FF2B5EF4-FFF2-40B4-BE49-F238E27FC236}">
                        <a16:creationId xmlns:a16="http://schemas.microsoft.com/office/drawing/2014/main" id="{FBCEEE5F-0D68-1868-A63F-C3BF8EA0B92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242" name="Rectangle 6">
                      <a:extLst>
                        <a:ext uri="{FF2B5EF4-FFF2-40B4-BE49-F238E27FC236}">
                          <a16:creationId xmlns:a16="http://schemas.microsoft.com/office/drawing/2014/main" id="{B9785879-5C5C-7D9B-1F4F-3B2BCA6F04F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43" name="Group 7">
                      <a:extLst>
                        <a:ext uri="{FF2B5EF4-FFF2-40B4-BE49-F238E27FC236}">
                          <a16:creationId xmlns:a16="http://schemas.microsoft.com/office/drawing/2014/main" id="{445C181A-E761-2597-31BE-B748F088FAD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44" name="Line 9">
                        <a:extLst>
                          <a:ext uri="{FF2B5EF4-FFF2-40B4-BE49-F238E27FC236}">
                            <a16:creationId xmlns:a16="http://schemas.microsoft.com/office/drawing/2014/main" id="{0585122D-40E8-98FD-A415-A5B459EF036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5" name="Line 10">
                        <a:extLst>
                          <a:ext uri="{FF2B5EF4-FFF2-40B4-BE49-F238E27FC236}">
                            <a16:creationId xmlns:a16="http://schemas.microsoft.com/office/drawing/2014/main" id="{E11F24D6-3716-7A96-83EB-2CA624DED4C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6" name="Line 11">
                        <a:extLst>
                          <a:ext uri="{FF2B5EF4-FFF2-40B4-BE49-F238E27FC236}">
                            <a16:creationId xmlns:a16="http://schemas.microsoft.com/office/drawing/2014/main" id="{82CDC599-5832-E3A1-9191-018708ECA92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7" name="Line 12">
                        <a:extLst>
                          <a:ext uri="{FF2B5EF4-FFF2-40B4-BE49-F238E27FC236}">
                            <a16:creationId xmlns:a16="http://schemas.microsoft.com/office/drawing/2014/main" id="{B9ACD4E7-8421-E10B-C4F6-B0B156E6B4B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8" name="Line 13">
                        <a:extLst>
                          <a:ext uri="{FF2B5EF4-FFF2-40B4-BE49-F238E27FC236}">
                            <a16:creationId xmlns:a16="http://schemas.microsoft.com/office/drawing/2014/main" id="{6D872FF4-EC80-CAE8-9EBC-FC051608836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49" name="Line 14">
                        <a:extLst>
                          <a:ext uri="{FF2B5EF4-FFF2-40B4-BE49-F238E27FC236}">
                            <a16:creationId xmlns:a16="http://schemas.microsoft.com/office/drawing/2014/main" id="{95D54670-B142-489A-0551-9B9E52EC183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0" name="Line 15">
                        <a:extLst>
                          <a:ext uri="{FF2B5EF4-FFF2-40B4-BE49-F238E27FC236}">
                            <a16:creationId xmlns:a16="http://schemas.microsoft.com/office/drawing/2014/main" id="{6C9B3A82-5737-3CB6-A2DC-58D1F039FAA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1" name="Line 16">
                        <a:extLst>
                          <a:ext uri="{FF2B5EF4-FFF2-40B4-BE49-F238E27FC236}">
                            <a16:creationId xmlns:a16="http://schemas.microsoft.com/office/drawing/2014/main" id="{B085A692-54A4-679F-7A52-812CF90468C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2" name="Line 17">
                        <a:extLst>
                          <a:ext uri="{FF2B5EF4-FFF2-40B4-BE49-F238E27FC236}">
                            <a16:creationId xmlns:a16="http://schemas.microsoft.com/office/drawing/2014/main" id="{EC8DCD3A-957B-CE23-E870-172F4A0532D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3" name="Line 18">
                        <a:extLst>
                          <a:ext uri="{FF2B5EF4-FFF2-40B4-BE49-F238E27FC236}">
                            <a16:creationId xmlns:a16="http://schemas.microsoft.com/office/drawing/2014/main" id="{37055E3D-B645-64A1-9B86-231242D0E81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4" name="Line 19">
                        <a:extLst>
                          <a:ext uri="{FF2B5EF4-FFF2-40B4-BE49-F238E27FC236}">
                            <a16:creationId xmlns:a16="http://schemas.microsoft.com/office/drawing/2014/main" id="{36F84BA4-1B94-3DF0-707A-A610858E5F4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5" name="Line 20">
                        <a:extLst>
                          <a:ext uri="{FF2B5EF4-FFF2-40B4-BE49-F238E27FC236}">
                            <a16:creationId xmlns:a16="http://schemas.microsoft.com/office/drawing/2014/main" id="{F4E2096F-91C4-F07B-83C4-0D11FD8A832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6" name="Line 21">
                        <a:extLst>
                          <a:ext uri="{FF2B5EF4-FFF2-40B4-BE49-F238E27FC236}">
                            <a16:creationId xmlns:a16="http://schemas.microsoft.com/office/drawing/2014/main" id="{B159E46E-EC0B-3AEC-07F2-6E9B439D9B4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7" name="Line 22">
                        <a:extLst>
                          <a:ext uri="{FF2B5EF4-FFF2-40B4-BE49-F238E27FC236}">
                            <a16:creationId xmlns:a16="http://schemas.microsoft.com/office/drawing/2014/main" id="{DF10E5C4-8DC7-E337-930E-75F682F84B5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8" name="Line 23">
                        <a:extLst>
                          <a:ext uri="{FF2B5EF4-FFF2-40B4-BE49-F238E27FC236}">
                            <a16:creationId xmlns:a16="http://schemas.microsoft.com/office/drawing/2014/main" id="{D84C2912-19A2-5F78-F756-2CBD9337AEE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9" name="Line 24">
                        <a:extLst>
                          <a:ext uri="{FF2B5EF4-FFF2-40B4-BE49-F238E27FC236}">
                            <a16:creationId xmlns:a16="http://schemas.microsoft.com/office/drawing/2014/main" id="{04922A15-AE9C-2CFA-60B7-E82BCF4B86D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0" name="Line 25">
                        <a:extLst>
                          <a:ext uri="{FF2B5EF4-FFF2-40B4-BE49-F238E27FC236}">
                            <a16:creationId xmlns:a16="http://schemas.microsoft.com/office/drawing/2014/main" id="{0265018E-A334-41C4-81EE-78DD916B190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1" name="Line 26">
                        <a:extLst>
                          <a:ext uri="{FF2B5EF4-FFF2-40B4-BE49-F238E27FC236}">
                            <a16:creationId xmlns:a16="http://schemas.microsoft.com/office/drawing/2014/main" id="{6983E5D5-2F62-3409-EA73-8D927A535E8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2" name="Line 27">
                        <a:extLst>
                          <a:ext uri="{FF2B5EF4-FFF2-40B4-BE49-F238E27FC236}">
                            <a16:creationId xmlns:a16="http://schemas.microsoft.com/office/drawing/2014/main" id="{350C789F-ADC0-BEF1-15E5-68CC77C0239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3" name="Line 28">
                        <a:extLst>
                          <a:ext uri="{FF2B5EF4-FFF2-40B4-BE49-F238E27FC236}">
                            <a16:creationId xmlns:a16="http://schemas.microsoft.com/office/drawing/2014/main" id="{CD648A6E-240E-3917-57BB-C3E46C716CB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4" name="Line 29">
                        <a:extLst>
                          <a:ext uri="{FF2B5EF4-FFF2-40B4-BE49-F238E27FC236}">
                            <a16:creationId xmlns:a16="http://schemas.microsoft.com/office/drawing/2014/main" id="{2BE587D0-9AED-9CF9-C5A9-5B46199E93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5" name="Line 30">
                        <a:extLst>
                          <a:ext uri="{FF2B5EF4-FFF2-40B4-BE49-F238E27FC236}">
                            <a16:creationId xmlns:a16="http://schemas.microsoft.com/office/drawing/2014/main" id="{F98D5F47-A6D3-5A88-C7C7-4A25557D587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6" name="Line 31">
                        <a:extLst>
                          <a:ext uri="{FF2B5EF4-FFF2-40B4-BE49-F238E27FC236}">
                            <a16:creationId xmlns:a16="http://schemas.microsoft.com/office/drawing/2014/main" id="{60444512-65EF-1590-1D22-740EA378770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7" name="Line 32">
                        <a:extLst>
                          <a:ext uri="{FF2B5EF4-FFF2-40B4-BE49-F238E27FC236}">
                            <a16:creationId xmlns:a16="http://schemas.microsoft.com/office/drawing/2014/main" id="{AC09608B-4FD1-CDFF-CCBC-1BEBA6CE9DF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8" name="Line 33">
                        <a:extLst>
                          <a:ext uri="{FF2B5EF4-FFF2-40B4-BE49-F238E27FC236}">
                            <a16:creationId xmlns:a16="http://schemas.microsoft.com/office/drawing/2014/main" id="{851E349F-8A8C-32CE-B23A-8B23181F58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9" name="Line 34">
                        <a:extLst>
                          <a:ext uri="{FF2B5EF4-FFF2-40B4-BE49-F238E27FC236}">
                            <a16:creationId xmlns:a16="http://schemas.microsoft.com/office/drawing/2014/main" id="{7B43AA45-19E4-E532-5304-2E9CE097F3A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1" name="Line 35">
                        <a:extLst>
                          <a:ext uri="{FF2B5EF4-FFF2-40B4-BE49-F238E27FC236}">
                            <a16:creationId xmlns:a16="http://schemas.microsoft.com/office/drawing/2014/main" id="{DFB1507C-51E4-4A1E-06E4-45FA4A920EE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2" name="Line 36">
                        <a:extLst>
                          <a:ext uri="{FF2B5EF4-FFF2-40B4-BE49-F238E27FC236}">
                            <a16:creationId xmlns:a16="http://schemas.microsoft.com/office/drawing/2014/main" id="{A59331E8-39C1-5BDD-A9BF-87AFC9FB0FA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6" name="Line 37">
                        <a:extLst>
                          <a:ext uri="{FF2B5EF4-FFF2-40B4-BE49-F238E27FC236}">
                            <a16:creationId xmlns:a16="http://schemas.microsoft.com/office/drawing/2014/main" id="{31441C3A-B45C-3A54-5414-FDDD9778904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7" name="Line 38">
                        <a:extLst>
                          <a:ext uri="{FF2B5EF4-FFF2-40B4-BE49-F238E27FC236}">
                            <a16:creationId xmlns:a16="http://schemas.microsoft.com/office/drawing/2014/main" id="{C21AABA4-9A5F-7475-B7E2-226213C06D2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28" name="Text Box 40">
                    <a:extLst>
                      <a:ext uri="{FF2B5EF4-FFF2-40B4-BE49-F238E27FC236}">
                        <a16:creationId xmlns:a16="http://schemas.microsoft.com/office/drawing/2014/main" id="{F74D72B9-CCD0-DB56-1996-C32173A865E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" y="1312"/>
                    <a:ext cx="1209" cy="2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Inmediato [11:0]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29" name="Text Box 41">
                    <a:extLst>
                      <a:ext uri="{FF2B5EF4-FFF2-40B4-BE49-F238E27FC236}">
                        <a16:creationId xmlns:a16="http://schemas.microsoft.com/office/drawing/2014/main" id="{485F5689-CCDB-756F-D7E6-1CD822DE338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0" name="Line 42">
                    <a:extLst>
                      <a:ext uri="{FF2B5EF4-FFF2-40B4-BE49-F238E27FC236}">
                        <a16:creationId xmlns:a16="http://schemas.microsoft.com/office/drawing/2014/main" id="{3B1BF8EE-56D1-7BFB-4A41-FEAE8834D4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1" name="Line 43">
                    <a:extLst>
                      <a:ext uri="{FF2B5EF4-FFF2-40B4-BE49-F238E27FC236}">
                        <a16:creationId xmlns:a16="http://schemas.microsoft.com/office/drawing/2014/main" id="{DC6BFF58-08AB-D331-279C-6A5B2646DB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2" name="Line 44">
                    <a:extLst>
                      <a:ext uri="{FF2B5EF4-FFF2-40B4-BE49-F238E27FC236}">
                        <a16:creationId xmlns:a16="http://schemas.microsoft.com/office/drawing/2014/main" id="{5EB86A60-B199-AEDB-73EF-3F3316817E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3" name="Text Box 46">
                    <a:extLst>
                      <a:ext uri="{FF2B5EF4-FFF2-40B4-BE49-F238E27FC236}">
                        <a16:creationId xmlns:a16="http://schemas.microsoft.com/office/drawing/2014/main" id="{A5A2BCE0-5C06-0B81-8EA6-872E14C447F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4" name="Text Box 47">
                    <a:extLst>
                      <a:ext uri="{FF2B5EF4-FFF2-40B4-BE49-F238E27FC236}">
                        <a16:creationId xmlns:a16="http://schemas.microsoft.com/office/drawing/2014/main" id="{667948B9-0866-1B2C-CE2B-5F2DEADC418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5" name="Text Box 48">
                    <a:extLst>
                      <a:ext uri="{FF2B5EF4-FFF2-40B4-BE49-F238E27FC236}">
                        <a16:creationId xmlns:a16="http://schemas.microsoft.com/office/drawing/2014/main" id="{A1D11AB9-9DF0-C8A7-741F-ACF7572867A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6" name="Text Box 50">
                    <a:extLst>
                      <a:ext uri="{FF2B5EF4-FFF2-40B4-BE49-F238E27FC236}">
                        <a16:creationId xmlns:a16="http://schemas.microsoft.com/office/drawing/2014/main" id="{8BF94B67-441D-B5CA-E77E-3E9779FECD4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7" name="Text Box 51">
                    <a:extLst>
                      <a:ext uri="{FF2B5EF4-FFF2-40B4-BE49-F238E27FC236}">
                        <a16:creationId xmlns:a16="http://schemas.microsoft.com/office/drawing/2014/main" id="{37565039-50DD-624A-3AAB-0FDF98BBB22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8" name="Text Box 52">
                    <a:extLst>
                      <a:ext uri="{FF2B5EF4-FFF2-40B4-BE49-F238E27FC236}">
                        <a16:creationId xmlns:a16="http://schemas.microsoft.com/office/drawing/2014/main" id="{45CD52A3-9E2C-B1C1-E3E0-6955BF93EC8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9" name="Text Box 53">
                    <a:extLst>
                      <a:ext uri="{FF2B5EF4-FFF2-40B4-BE49-F238E27FC236}">
                        <a16:creationId xmlns:a16="http://schemas.microsoft.com/office/drawing/2014/main" id="{D0735724-4FD8-9B60-A621-87AD033124D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0" name="Line 153">
                    <a:extLst>
                      <a:ext uri="{FF2B5EF4-FFF2-40B4-BE49-F238E27FC236}">
                        <a16:creationId xmlns:a16="http://schemas.microsoft.com/office/drawing/2014/main" id="{3AB7D34F-46AE-A612-67C4-1A8B5D5A35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  <p:sp>
            <p:nvSpPr>
              <p:cNvPr id="224" name="Line 11">
                <a:extLst>
                  <a:ext uri="{FF2B5EF4-FFF2-40B4-BE49-F238E27FC236}">
                    <a16:creationId xmlns:a16="http://schemas.microsoft.com/office/drawing/2014/main" id="{2303DBCC-7739-B257-AEEB-CFC522A07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0008" y="5256087"/>
                <a:ext cx="0" cy="978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22" name="Text Box 41">
              <a:extLst>
                <a:ext uri="{FF2B5EF4-FFF2-40B4-BE49-F238E27FC236}">
                  <a16:creationId xmlns:a16="http://schemas.microsoft.com/office/drawing/2014/main" id="{AAFF00E5-8EFE-915B-5E6F-4A9D23C62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3198" y="4392001"/>
              <a:ext cx="383616" cy="277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200" dirty="0" err="1">
                  <a:solidFill>
                    <a:srgbClr val="FF0000"/>
                  </a:solidFill>
                  <a:latin typeface="Calibri" pitchFamily="-103" charset="0"/>
                </a:rPr>
                <a:t>rd</a:t>
              </a:r>
              <a:endParaRPr lang="ca-ES" sz="1200" dirty="0">
                <a:solidFill>
                  <a:srgbClr val="FF0000"/>
                </a:solidFill>
                <a:latin typeface="Calibri" pitchFamily="-103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CC402B4A-BD87-1690-A37B-3ED9AD043351}"/>
              </a:ext>
            </a:extLst>
          </p:cNvPr>
          <p:cNvGrpSpPr/>
          <p:nvPr/>
        </p:nvGrpSpPr>
        <p:grpSpPr>
          <a:xfrm>
            <a:off x="96401" y="2437485"/>
            <a:ext cx="5764068" cy="1491459"/>
            <a:chOff x="975305" y="4921593"/>
            <a:chExt cx="3345284" cy="95279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63476E43-A62F-1C82-E6D2-0A28852B52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3"/>
              <a:ext cx="3345284" cy="952791"/>
              <a:chOff x="143" y="720"/>
              <a:chExt cx="2545" cy="570"/>
            </a:xfrm>
          </p:grpSpPr>
          <p:sp>
            <p:nvSpPr>
              <p:cNvPr id="62" name="Rectangle 10">
                <a:extLst>
                  <a:ext uri="{FF2B5EF4-FFF2-40B4-BE49-F238E27FC236}">
                    <a16:creationId xmlns:a16="http://schemas.microsoft.com/office/drawing/2014/main" id="{18419468-9E97-D472-2ABF-0E9B20A23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29" name="Group 155">
                <a:extLst>
                  <a:ext uri="{FF2B5EF4-FFF2-40B4-BE49-F238E27FC236}">
                    <a16:creationId xmlns:a16="http://schemas.microsoft.com/office/drawing/2014/main" id="{927F562F-7B57-3023-B6E8-C3C74A2E1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68"/>
                <a:ext cx="2519" cy="522"/>
                <a:chOff x="1168" y="1293"/>
                <a:chExt cx="3246" cy="855"/>
              </a:xfrm>
            </p:grpSpPr>
            <p:grpSp>
              <p:nvGrpSpPr>
                <p:cNvPr id="130" name="Group 5">
                  <a:extLst>
                    <a:ext uri="{FF2B5EF4-FFF2-40B4-BE49-F238E27FC236}">
                      <a16:creationId xmlns:a16="http://schemas.microsoft.com/office/drawing/2014/main" id="{C8EC5810-3F7B-15F4-A32D-F1AC943790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8" name="Rectangle 6">
                    <a:extLst>
                      <a:ext uri="{FF2B5EF4-FFF2-40B4-BE49-F238E27FC236}">
                        <a16:creationId xmlns:a16="http://schemas.microsoft.com/office/drawing/2014/main" id="{5306A5AA-5081-E28B-71A1-93427E8B9F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 b="1">
                      <a:solidFill>
                        <a:srgbClr val="4F271C"/>
                      </a:solidFill>
                    </a:endParaRPr>
                  </a:p>
                </p:txBody>
              </p:sp>
              <p:grpSp>
                <p:nvGrpSpPr>
                  <p:cNvPr id="149" name="Group 7">
                    <a:extLst>
                      <a:ext uri="{FF2B5EF4-FFF2-40B4-BE49-F238E27FC236}">
                        <a16:creationId xmlns:a16="http://schemas.microsoft.com/office/drawing/2014/main" id="{6F6D2FA6-D762-6EA4-1937-270E103A91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50" name="Line 9">
                      <a:extLst>
                        <a:ext uri="{FF2B5EF4-FFF2-40B4-BE49-F238E27FC236}">
                          <a16:creationId xmlns:a16="http://schemas.microsoft.com/office/drawing/2014/main" id="{3AB40AA2-B29F-9FF2-128E-6F59316297D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1" name="Line 10">
                      <a:extLst>
                        <a:ext uri="{FF2B5EF4-FFF2-40B4-BE49-F238E27FC236}">
                          <a16:creationId xmlns:a16="http://schemas.microsoft.com/office/drawing/2014/main" id="{5BCE80D2-5A51-B191-6330-AED0D8B2FE5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2" name="Line 11">
                      <a:extLst>
                        <a:ext uri="{FF2B5EF4-FFF2-40B4-BE49-F238E27FC236}">
                          <a16:creationId xmlns:a16="http://schemas.microsoft.com/office/drawing/2014/main" id="{DC02E3DE-D231-E8F3-38AA-FB9A828AD86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3" name="Line 12">
                      <a:extLst>
                        <a:ext uri="{FF2B5EF4-FFF2-40B4-BE49-F238E27FC236}">
                          <a16:creationId xmlns:a16="http://schemas.microsoft.com/office/drawing/2014/main" id="{8076D3F5-2F7C-2169-F8D6-3F6F260198D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4" name="Line 13">
                      <a:extLst>
                        <a:ext uri="{FF2B5EF4-FFF2-40B4-BE49-F238E27FC236}">
                          <a16:creationId xmlns:a16="http://schemas.microsoft.com/office/drawing/2014/main" id="{F5B75450-3B2A-8196-A61F-2015437875E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5" name="Line 14">
                      <a:extLst>
                        <a:ext uri="{FF2B5EF4-FFF2-40B4-BE49-F238E27FC236}">
                          <a16:creationId xmlns:a16="http://schemas.microsoft.com/office/drawing/2014/main" id="{7451AD21-EB89-AA81-A915-73FAC0982D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7" name="Line 15">
                      <a:extLst>
                        <a:ext uri="{FF2B5EF4-FFF2-40B4-BE49-F238E27FC236}">
                          <a16:creationId xmlns:a16="http://schemas.microsoft.com/office/drawing/2014/main" id="{E577100F-7BB2-055A-5FB7-D48EE793F16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0" name="Line 16">
                      <a:extLst>
                        <a:ext uri="{FF2B5EF4-FFF2-40B4-BE49-F238E27FC236}">
                          <a16:creationId xmlns:a16="http://schemas.microsoft.com/office/drawing/2014/main" id="{3413AC16-3C73-0D11-C4BD-DF3C725DBD1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1" name="Line 17">
                      <a:extLst>
                        <a:ext uri="{FF2B5EF4-FFF2-40B4-BE49-F238E27FC236}">
                          <a16:creationId xmlns:a16="http://schemas.microsoft.com/office/drawing/2014/main" id="{E89B17FF-AA82-B6E6-725A-5CC694CEE90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5" name="Line 18">
                      <a:extLst>
                        <a:ext uri="{FF2B5EF4-FFF2-40B4-BE49-F238E27FC236}">
                          <a16:creationId xmlns:a16="http://schemas.microsoft.com/office/drawing/2014/main" id="{826C10FB-E9F7-520D-C429-F4AD58A208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1" name="Line 19">
                      <a:extLst>
                        <a:ext uri="{FF2B5EF4-FFF2-40B4-BE49-F238E27FC236}">
                          <a16:creationId xmlns:a16="http://schemas.microsoft.com/office/drawing/2014/main" id="{2EE8BF22-9C5A-7134-8BAA-895C0A8E76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5" name="Line 20">
                      <a:extLst>
                        <a:ext uri="{FF2B5EF4-FFF2-40B4-BE49-F238E27FC236}">
                          <a16:creationId xmlns:a16="http://schemas.microsoft.com/office/drawing/2014/main" id="{31B8AB94-61D9-F574-C48C-4FC4F3763F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14" name="Line 21">
                      <a:extLst>
                        <a:ext uri="{FF2B5EF4-FFF2-40B4-BE49-F238E27FC236}">
                          <a16:creationId xmlns:a16="http://schemas.microsoft.com/office/drawing/2014/main" id="{4CB0C974-614B-0160-C807-39B9F23FB07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0" name="Line 22">
                      <a:extLst>
                        <a:ext uri="{FF2B5EF4-FFF2-40B4-BE49-F238E27FC236}">
                          <a16:creationId xmlns:a16="http://schemas.microsoft.com/office/drawing/2014/main" id="{2B28BA6A-7B5C-FE1C-63E4-691D76F0D20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3" name="Line 23">
                      <a:extLst>
                        <a:ext uri="{FF2B5EF4-FFF2-40B4-BE49-F238E27FC236}">
                          <a16:creationId xmlns:a16="http://schemas.microsoft.com/office/drawing/2014/main" id="{45BCF387-C2A7-A04F-AEDB-EA19CEA6CF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4" name="Line 24">
                      <a:extLst>
                        <a:ext uri="{FF2B5EF4-FFF2-40B4-BE49-F238E27FC236}">
                          <a16:creationId xmlns:a16="http://schemas.microsoft.com/office/drawing/2014/main" id="{A14799B0-3E9C-FEDB-C0F2-370644C223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5" name="Line 25">
                      <a:extLst>
                        <a:ext uri="{FF2B5EF4-FFF2-40B4-BE49-F238E27FC236}">
                          <a16:creationId xmlns:a16="http://schemas.microsoft.com/office/drawing/2014/main" id="{C249F5D6-5E4C-88E8-87A4-32B4BAE0CCA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1" name="Line 26">
                      <a:extLst>
                        <a:ext uri="{FF2B5EF4-FFF2-40B4-BE49-F238E27FC236}">
                          <a16:creationId xmlns:a16="http://schemas.microsoft.com/office/drawing/2014/main" id="{CC2A32B4-0AF9-ED1F-9BCA-3F951928D5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2" name="Line 27">
                      <a:extLst>
                        <a:ext uri="{FF2B5EF4-FFF2-40B4-BE49-F238E27FC236}">
                          <a16:creationId xmlns:a16="http://schemas.microsoft.com/office/drawing/2014/main" id="{5382BCB8-F4BE-CD18-6156-B9D0DB14F0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3" name="Line 28">
                      <a:extLst>
                        <a:ext uri="{FF2B5EF4-FFF2-40B4-BE49-F238E27FC236}">
                          <a16:creationId xmlns:a16="http://schemas.microsoft.com/office/drawing/2014/main" id="{2A911D7A-E155-7C53-1D0E-697CEA1821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4" name="Line 29">
                      <a:extLst>
                        <a:ext uri="{FF2B5EF4-FFF2-40B4-BE49-F238E27FC236}">
                          <a16:creationId xmlns:a16="http://schemas.microsoft.com/office/drawing/2014/main" id="{9364DC84-ECFE-5013-D4F3-9B4FC97255A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5" name="Line 30">
                      <a:extLst>
                        <a:ext uri="{FF2B5EF4-FFF2-40B4-BE49-F238E27FC236}">
                          <a16:creationId xmlns:a16="http://schemas.microsoft.com/office/drawing/2014/main" id="{F834064C-6847-F5B3-0C8E-8BFE56CD86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7" name="Line 31">
                      <a:extLst>
                        <a:ext uri="{FF2B5EF4-FFF2-40B4-BE49-F238E27FC236}">
                          <a16:creationId xmlns:a16="http://schemas.microsoft.com/office/drawing/2014/main" id="{564E76AB-2C71-EF36-DFC2-ECB0BE6F2A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8" name="Line 32">
                      <a:extLst>
                        <a:ext uri="{FF2B5EF4-FFF2-40B4-BE49-F238E27FC236}">
                          <a16:creationId xmlns:a16="http://schemas.microsoft.com/office/drawing/2014/main" id="{434B0212-C72E-E54E-7B13-8E612EC5BFD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9" name="Line 33">
                      <a:extLst>
                        <a:ext uri="{FF2B5EF4-FFF2-40B4-BE49-F238E27FC236}">
                          <a16:creationId xmlns:a16="http://schemas.microsoft.com/office/drawing/2014/main" id="{91F7AFC2-5D20-C478-EE31-29BBBD0E890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0" name="Line 34">
                      <a:extLst>
                        <a:ext uri="{FF2B5EF4-FFF2-40B4-BE49-F238E27FC236}">
                          <a16:creationId xmlns:a16="http://schemas.microsoft.com/office/drawing/2014/main" id="{5AC58B07-1838-381C-8864-70739DA1D7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1" name="Line 35">
                      <a:extLst>
                        <a:ext uri="{FF2B5EF4-FFF2-40B4-BE49-F238E27FC236}">
                          <a16:creationId xmlns:a16="http://schemas.microsoft.com/office/drawing/2014/main" id="{9675B607-44B2-67E5-F1F0-340F7AC903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2" name="Line 36">
                      <a:extLst>
                        <a:ext uri="{FF2B5EF4-FFF2-40B4-BE49-F238E27FC236}">
                          <a16:creationId xmlns:a16="http://schemas.microsoft.com/office/drawing/2014/main" id="{8D130DED-5343-4A6C-1A7D-4955BE20E7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3" name="Line 37">
                      <a:extLst>
                        <a:ext uri="{FF2B5EF4-FFF2-40B4-BE49-F238E27FC236}">
                          <a16:creationId xmlns:a16="http://schemas.microsoft.com/office/drawing/2014/main" id="{EDF719BD-2659-58D0-2666-8FAB1238B1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4" name="Line 38">
                      <a:extLst>
                        <a:ext uri="{FF2B5EF4-FFF2-40B4-BE49-F238E27FC236}">
                          <a16:creationId xmlns:a16="http://schemas.microsoft.com/office/drawing/2014/main" id="{976131EC-5E7D-460A-43EA-9DC05F9D27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31" name="Line 39">
                  <a:extLst>
                    <a:ext uri="{FF2B5EF4-FFF2-40B4-BE49-F238E27FC236}">
                      <a16:creationId xmlns:a16="http://schemas.microsoft.com/office/drawing/2014/main" id="{2AB4ABC0-51E8-B556-DD0D-00EAC23A5E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2" name="Text Box 40">
                  <a:extLst>
                    <a:ext uri="{FF2B5EF4-FFF2-40B4-BE49-F238E27FC236}">
                      <a16:creationId xmlns:a16="http://schemas.microsoft.com/office/drawing/2014/main" id="{25DEEAAC-4D63-4FFA-D3AC-30F4493EDB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20"/>
                  <a:ext cx="563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func7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3" name="Text Box 41">
                  <a:extLst>
                    <a:ext uri="{FF2B5EF4-FFF2-40B4-BE49-F238E27FC236}">
                      <a16:creationId xmlns:a16="http://schemas.microsoft.com/office/drawing/2014/main" id="{144021B3-011A-9C2E-F1FD-9A8AA43681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43"/>
                  <a:ext cx="543" cy="24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000" dirty="0">
                      <a:solidFill>
                        <a:srgbClr val="FF0000"/>
                      </a:solidFill>
                      <a:latin typeface="Calibri" pitchFamily="-103" charset="0"/>
                    </a:rPr>
                    <a:t>func3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4" name="Line 42">
                  <a:extLst>
                    <a:ext uri="{FF2B5EF4-FFF2-40B4-BE49-F238E27FC236}">
                      <a16:creationId xmlns:a16="http://schemas.microsoft.com/office/drawing/2014/main" id="{630824BC-02B6-210D-B957-A65D523F55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43">
                  <a:extLst>
                    <a:ext uri="{FF2B5EF4-FFF2-40B4-BE49-F238E27FC236}">
                      <a16:creationId xmlns:a16="http://schemas.microsoft.com/office/drawing/2014/main" id="{987F1E24-E99E-59D1-AC8A-81A1B909E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44">
                  <a:extLst>
                    <a:ext uri="{FF2B5EF4-FFF2-40B4-BE49-F238E27FC236}">
                      <a16:creationId xmlns:a16="http://schemas.microsoft.com/office/drawing/2014/main" id="{D80239FC-428F-911A-1A90-A714E2D363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Text Box 45">
                  <a:extLst>
                    <a:ext uri="{FF2B5EF4-FFF2-40B4-BE49-F238E27FC236}">
                      <a16:creationId xmlns:a16="http://schemas.microsoft.com/office/drawing/2014/main" id="{62952D96-3939-A490-2411-75CF6EEDC5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24"/>
                  <a:ext cx="451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rs2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8" name="Text Box 46">
                  <a:extLst>
                    <a:ext uri="{FF2B5EF4-FFF2-40B4-BE49-F238E27FC236}">
                      <a16:creationId xmlns:a16="http://schemas.microsoft.com/office/drawing/2014/main" id="{214E4988-8384-9009-B1B3-337D3FB862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14"/>
                  <a:ext cx="39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rs1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9" name="Text Box 47">
                  <a:extLst>
                    <a:ext uri="{FF2B5EF4-FFF2-40B4-BE49-F238E27FC236}">
                      <a16:creationId xmlns:a16="http://schemas.microsoft.com/office/drawing/2014/main" id="{C53A4CE4-02C1-4211-B1B7-BD19689824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07"/>
                  <a:ext cx="662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COP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0" name="Text Box 48">
                  <a:extLst>
                    <a:ext uri="{FF2B5EF4-FFF2-40B4-BE49-F238E27FC236}">
                      <a16:creationId xmlns:a16="http://schemas.microsoft.com/office/drawing/2014/main" id="{A226CFFD-4533-DDF9-FA37-5CEBF047E1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54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31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1" name="Text Box 49">
                  <a:extLst>
                    <a:ext uri="{FF2B5EF4-FFF2-40B4-BE49-F238E27FC236}">
                      <a16:creationId xmlns:a16="http://schemas.microsoft.com/office/drawing/2014/main" id="{D2426597-6973-32D4-F643-92F92CEFA1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3" y="1608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2" name="Text Box 50">
                  <a:extLst>
                    <a:ext uri="{FF2B5EF4-FFF2-40B4-BE49-F238E27FC236}">
                      <a16:creationId xmlns:a16="http://schemas.microsoft.com/office/drawing/2014/main" id="{742CBC8E-B8D0-1CBE-A6DE-DAAE7758BC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6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0 9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3" name="Text Box 51">
                  <a:extLst>
                    <a:ext uri="{FF2B5EF4-FFF2-40B4-BE49-F238E27FC236}">
                      <a16:creationId xmlns:a16="http://schemas.microsoft.com/office/drawing/2014/main" id="{D4674575-3A13-9611-34B6-ED72368A63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8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4" name="Text Box 52">
                  <a:extLst>
                    <a:ext uri="{FF2B5EF4-FFF2-40B4-BE49-F238E27FC236}">
                      <a16:creationId xmlns:a16="http://schemas.microsoft.com/office/drawing/2014/main" id="{6D3D723E-AEDC-4441-B6EF-5C68A1BE45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9" y="1607"/>
                  <a:ext cx="335" cy="23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7 6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5" name="Text Box 53">
                  <a:extLst>
                    <a:ext uri="{FF2B5EF4-FFF2-40B4-BE49-F238E27FC236}">
                      <a16:creationId xmlns:a16="http://schemas.microsoft.com/office/drawing/2014/main" id="{60FD0FAD-16E5-8AAA-E4BD-006E3627BC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5" y="1612"/>
                  <a:ext cx="269" cy="33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6" name="Line 153">
                  <a:extLst>
                    <a:ext uri="{FF2B5EF4-FFF2-40B4-BE49-F238E27FC236}">
                      <a16:creationId xmlns:a16="http://schemas.microsoft.com/office/drawing/2014/main" id="{FEAFF5C4-C30E-468F-1AAF-3816967AC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Text Box 154">
                  <a:extLst>
                    <a:ext uri="{FF2B5EF4-FFF2-40B4-BE49-F238E27FC236}">
                      <a16:creationId xmlns:a16="http://schemas.microsoft.com/office/drawing/2014/main" id="{500BB39C-444B-0F89-A667-9C72841D1F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4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</p:grpSp>
        </p:grp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356B779B-CFFE-569B-BE49-08A77AF7F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25721"/>
              <a:ext cx="383616" cy="277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200" dirty="0" err="1">
                  <a:solidFill>
                    <a:srgbClr val="FF0000"/>
                  </a:solidFill>
                  <a:latin typeface="Calibri" pitchFamily="-103" charset="0"/>
                </a:rPr>
                <a:t>rd</a:t>
              </a:r>
              <a:endParaRPr lang="ca-ES" sz="1200" dirty="0">
                <a:solidFill>
                  <a:srgbClr val="FF0000"/>
                </a:solidFill>
                <a:latin typeface="Calibri" pitchFamily="-103" charset="0"/>
              </a:endParaRPr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4741679C-0FC9-8F02-0D6E-01A035345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95" name="Rectangle 3">
            <a:extLst>
              <a:ext uri="{FF2B5EF4-FFF2-40B4-BE49-F238E27FC236}">
                <a16:creationId xmlns:a16="http://schemas.microsoft.com/office/drawing/2014/main" id="{CA3F1C97-7447-8F9C-FB2D-2A0BDB0C42BE}"/>
              </a:ext>
            </a:extLst>
          </p:cNvPr>
          <p:cNvSpPr txBox="1">
            <a:spLocks noChangeArrowheads="1"/>
          </p:cNvSpPr>
          <p:nvPr/>
        </p:nvSpPr>
        <p:spPr>
          <a:xfrm>
            <a:off x="191942" y="933005"/>
            <a:ext cx="8708199" cy="540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Operación con formato I: </a:t>
            </a:r>
            <a:r>
              <a:rPr lang="es-ES" dirty="0" err="1"/>
              <a:t>lw</a:t>
            </a:r>
            <a:r>
              <a:rPr lang="es-ES" dirty="0"/>
              <a:t> </a:t>
            </a:r>
            <a:r>
              <a:rPr lang="es-ES" dirty="0" err="1"/>
              <a:t>rd</a:t>
            </a:r>
            <a:r>
              <a:rPr lang="es-ES" dirty="0"/>
              <a:t>, </a:t>
            </a:r>
            <a:r>
              <a:rPr lang="es-ES" dirty="0" err="1"/>
              <a:t>Inm</a:t>
            </a:r>
            <a:r>
              <a:rPr lang="es-ES" dirty="0"/>
              <a:t>(rs1)</a:t>
            </a:r>
          </a:p>
          <a:p>
            <a:r>
              <a:rPr lang="es-ES" sz="2400" dirty="0"/>
              <a:t>1 operando fuente (rs1) y un operando destino (</a:t>
            </a:r>
            <a:r>
              <a:rPr lang="es-ES" sz="2400" dirty="0" err="1"/>
              <a:t>rd</a:t>
            </a:r>
            <a:r>
              <a:rPr lang="es-ES" sz="2400" dirty="0"/>
              <a:t>)</a:t>
            </a:r>
          </a:p>
          <a:p>
            <a:r>
              <a:rPr lang="es-ES" sz="2400" dirty="0"/>
              <a:t>Huecos: func7+rs2 (12 bits) para el inmediato</a:t>
            </a:r>
          </a:p>
        </p:txBody>
      </p:sp>
      <p:graphicFrame>
        <p:nvGraphicFramePr>
          <p:cNvPr id="61" name="Table 1">
            <a:extLst>
              <a:ext uri="{FF2B5EF4-FFF2-40B4-BE49-F238E27FC236}">
                <a16:creationId xmlns:a16="http://schemas.microsoft.com/office/drawing/2014/main" id="{91F5FAB0-12B5-3B9F-5F0E-3EB14965B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60529"/>
              </p:ext>
            </p:extLst>
          </p:nvPr>
        </p:nvGraphicFramePr>
        <p:xfrm>
          <a:off x="6009109" y="4956472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lw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rd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sp>
        <p:nvSpPr>
          <p:cNvPr id="128" name="Flecha abajo 127">
            <a:extLst>
              <a:ext uri="{FF2B5EF4-FFF2-40B4-BE49-F238E27FC236}">
                <a16:creationId xmlns:a16="http://schemas.microsoft.com/office/drawing/2014/main" id="{F72F80E6-5D38-D656-DDDD-9BC8B1E573CB}"/>
              </a:ext>
            </a:extLst>
          </p:cNvPr>
          <p:cNvSpPr/>
          <p:nvPr/>
        </p:nvSpPr>
        <p:spPr>
          <a:xfrm>
            <a:off x="3497964" y="3977090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2BD18512-D88B-E05A-F734-997733447024}"/>
              </a:ext>
            </a:extLst>
          </p:cNvPr>
          <p:cNvSpPr/>
          <p:nvPr/>
        </p:nvSpPr>
        <p:spPr>
          <a:xfrm>
            <a:off x="286694" y="2588476"/>
            <a:ext cx="1973788" cy="522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AB2DAF9F-504E-ECE2-608E-6A451851D7E5}"/>
              </a:ext>
            </a:extLst>
          </p:cNvPr>
          <p:cNvSpPr txBox="1"/>
          <p:nvPr/>
        </p:nvSpPr>
        <p:spPr>
          <a:xfrm>
            <a:off x="5925500" y="2621417"/>
            <a:ext cx="239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Referencia: Formato R</a:t>
            </a:r>
          </a:p>
        </p:txBody>
      </p:sp>
      <p:sp>
        <p:nvSpPr>
          <p:cNvPr id="279" name="Rectangle 2">
            <a:extLst>
              <a:ext uri="{FF2B5EF4-FFF2-40B4-BE49-F238E27FC236}">
                <a16:creationId xmlns:a16="http://schemas.microsoft.com/office/drawing/2014/main" id="{2044D0E3-BC4F-71E0-FA56-B67650C24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52026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561B-D10A-5BBF-09DB-A1F1E4F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upo 158">
            <a:extLst>
              <a:ext uri="{FF2B5EF4-FFF2-40B4-BE49-F238E27FC236}">
                <a16:creationId xmlns:a16="http://schemas.microsoft.com/office/drawing/2014/main" id="{DBE5E762-E5F7-FB45-08F2-1204558F08A5}"/>
              </a:ext>
            </a:extLst>
          </p:cNvPr>
          <p:cNvGrpSpPr/>
          <p:nvPr/>
        </p:nvGrpSpPr>
        <p:grpSpPr>
          <a:xfrm>
            <a:off x="96400" y="4887537"/>
            <a:ext cx="5759545" cy="1443347"/>
            <a:chOff x="3109309" y="5964034"/>
            <a:chExt cx="3345284" cy="952791"/>
          </a:xfrm>
        </p:grpSpPr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8281FAF1-F415-71A7-4824-C8F96F36B83A}"/>
                </a:ext>
              </a:extLst>
            </p:cNvPr>
            <p:cNvGrpSpPr/>
            <p:nvPr/>
          </p:nvGrpSpPr>
          <p:grpSpPr>
            <a:xfrm>
              <a:off x="3109309" y="5964034"/>
              <a:ext cx="3345284" cy="952791"/>
              <a:chOff x="3109309" y="5964034"/>
              <a:chExt cx="3345284" cy="952791"/>
            </a:xfrm>
          </p:grpSpPr>
          <p:grpSp>
            <p:nvGrpSpPr>
              <p:cNvPr id="164" name="Group 9">
                <a:extLst>
                  <a:ext uri="{FF2B5EF4-FFF2-40B4-BE49-F238E27FC236}">
                    <a16:creationId xmlns:a16="http://schemas.microsoft.com/office/drawing/2014/main" id="{95A48252-B9B2-7B50-A2E5-607FDF3C4C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64034"/>
                <a:ext cx="3345284" cy="952791"/>
                <a:chOff x="143" y="720"/>
                <a:chExt cx="2545" cy="570"/>
              </a:xfrm>
            </p:grpSpPr>
            <p:sp>
              <p:nvSpPr>
                <p:cNvPr id="167" name="Rectangle 10">
                  <a:extLst>
                    <a:ext uri="{FF2B5EF4-FFF2-40B4-BE49-F238E27FC236}">
                      <a16:creationId xmlns:a16="http://schemas.microsoft.com/office/drawing/2014/main" id="{877D6A86-9201-13D1-9DD9-DB3EBC6DBF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720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68" name="Group 155">
                  <a:extLst>
                    <a:ext uri="{FF2B5EF4-FFF2-40B4-BE49-F238E27FC236}">
                      <a16:creationId xmlns:a16="http://schemas.microsoft.com/office/drawing/2014/main" id="{D346E208-97AD-C66D-2DAE-068E60F32B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grpSp>
                <p:nvGrpSpPr>
                  <p:cNvPr id="169" name="Group 5">
                    <a:extLst>
                      <a:ext uri="{FF2B5EF4-FFF2-40B4-BE49-F238E27FC236}">
                        <a16:creationId xmlns:a16="http://schemas.microsoft.com/office/drawing/2014/main" id="{79EC1D18-8BD1-3E2A-BA95-D2585BEAD7B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189" name="Rectangle 6">
                      <a:extLst>
                        <a:ext uri="{FF2B5EF4-FFF2-40B4-BE49-F238E27FC236}">
                          <a16:creationId xmlns:a16="http://schemas.microsoft.com/office/drawing/2014/main" id="{97E12D3C-BB1A-61A2-1224-8AC8525CBA9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190" name="Group 7">
                      <a:extLst>
                        <a:ext uri="{FF2B5EF4-FFF2-40B4-BE49-F238E27FC236}">
                          <a16:creationId xmlns:a16="http://schemas.microsoft.com/office/drawing/2014/main" id="{275CDE1A-4191-D789-CACF-1D120C5ED46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191" name="Line 9">
                        <a:extLst>
                          <a:ext uri="{FF2B5EF4-FFF2-40B4-BE49-F238E27FC236}">
                            <a16:creationId xmlns:a16="http://schemas.microsoft.com/office/drawing/2014/main" id="{015F7F29-22DE-D4F0-3EBE-31B66E7970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2" name="Line 10">
                        <a:extLst>
                          <a:ext uri="{FF2B5EF4-FFF2-40B4-BE49-F238E27FC236}">
                            <a16:creationId xmlns:a16="http://schemas.microsoft.com/office/drawing/2014/main" id="{DFF34458-F8F3-C6A3-D035-01FAE1B8C3D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3" name="Line 11">
                        <a:extLst>
                          <a:ext uri="{FF2B5EF4-FFF2-40B4-BE49-F238E27FC236}">
                            <a16:creationId xmlns:a16="http://schemas.microsoft.com/office/drawing/2014/main" id="{D03B30C6-9C64-D453-D68E-07E9D15A0C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4" name="Line 12">
                        <a:extLst>
                          <a:ext uri="{FF2B5EF4-FFF2-40B4-BE49-F238E27FC236}">
                            <a16:creationId xmlns:a16="http://schemas.microsoft.com/office/drawing/2014/main" id="{1DDF997E-9328-44FA-2E6E-928B6E5C1AA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5" name="Line 13">
                        <a:extLst>
                          <a:ext uri="{FF2B5EF4-FFF2-40B4-BE49-F238E27FC236}">
                            <a16:creationId xmlns:a16="http://schemas.microsoft.com/office/drawing/2014/main" id="{4F622FFC-FAC5-BD59-10B1-7CE32EBC96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6" name="Line 14">
                        <a:extLst>
                          <a:ext uri="{FF2B5EF4-FFF2-40B4-BE49-F238E27FC236}">
                            <a16:creationId xmlns:a16="http://schemas.microsoft.com/office/drawing/2014/main" id="{5355EC8E-D491-6654-DA80-0E034F51D9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7" name="Line 15">
                        <a:extLst>
                          <a:ext uri="{FF2B5EF4-FFF2-40B4-BE49-F238E27FC236}">
                            <a16:creationId xmlns:a16="http://schemas.microsoft.com/office/drawing/2014/main" id="{FF3D53A2-7CFF-7939-1068-8839F06528F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8" name="Line 16">
                        <a:extLst>
                          <a:ext uri="{FF2B5EF4-FFF2-40B4-BE49-F238E27FC236}">
                            <a16:creationId xmlns:a16="http://schemas.microsoft.com/office/drawing/2014/main" id="{1AD09E36-0041-9C5A-A231-E4A2A84D3D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9" name="Line 17">
                        <a:extLst>
                          <a:ext uri="{FF2B5EF4-FFF2-40B4-BE49-F238E27FC236}">
                            <a16:creationId xmlns:a16="http://schemas.microsoft.com/office/drawing/2014/main" id="{C321A1E3-9D43-0A48-C5DF-62075C572C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0" name="Line 18">
                        <a:extLst>
                          <a:ext uri="{FF2B5EF4-FFF2-40B4-BE49-F238E27FC236}">
                            <a16:creationId xmlns:a16="http://schemas.microsoft.com/office/drawing/2014/main" id="{8CA9CCEC-F62B-2913-89BF-D9CF535B77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1" name="Line 19">
                        <a:extLst>
                          <a:ext uri="{FF2B5EF4-FFF2-40B4-BE49-F238E27FC236}">
                            <a16:creationId xmlns:a16="http://schemas.microsoft.com/office/drawing/2014/main" id="{BD2AC960-6435-ED58-6B97-56ECFBA4FAE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2" name="Line 20">
                        <a:extLst>
                          <a:ext uri="{FF2B5EF4-FFF2-40B4-BE49-F238E27FC236}">
                            <a16:creationId xmlns:a16="http://schemas.microsoft.com/office/drawing/2014/main" id="{67A5B2F1-AD36-DAEB-F254-1C0AE62F9F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3" name="Line 21">
                        <a:extLst>
                          <a:ext uri="{FF2B5EF4-FFF2-40B4-BE49-F238E27FC236}">
                            <a16:creationId xmlns:a16="http://schemas.microsoft.com/office/drawing/2014/main" id="{C0A4E5D9-B998-8075-B9FD-3B6118C3F0A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4" name="Line 22">
                        <a:extLst>
                          <a:ext uri="{FF2B5EF4-FFF2-40B4-BE49-F238E27FC236}">
                            <a16:creationId xmlns:a16="http://schemas.microsoft.com/office/drawing/2014/main" id="{2A69221E-333E-7AB9-7983-F3B1DC69E3E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5" name="Line 23">
                        <a:extLst>
                          <a:ext uri="{FF2B5EF4-FFF2-40B4-BE49-F238E27FC236}">
                            <a16:creationId xmlns:a16="http://schemas.microsoft.com/office/drawing/2014/main" id="{355AF4B2-389B-A842-E12C-2A4185BD75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6" name="Line 24">
                        <a:extLst>
                          <a:ext uri="{FF2B5EF4-FFF2-40B4-BE49-F238E27FC236}">
                            <a16:creationId xmlns:a16="http://schemas.microsoft.com/office/drawing/2014/main" id="{DF775EC4-67A9-51CC-E47D-AF0873FC557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7" name="Line 25">
                        <a:extLst>
                          <a:ext uri="{FF2B5EF4-FFF2-40B4-BE49-F238E27FC236}">
                            <a16:creationId xmlns:a16="http://schemas.microsoft.com/office/drawing/2014/main" id="{AAE79FA4-AF45-1093-82B9-5406936104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8" name="Line 26">
                        <a:extLst>
                          <a:ext uri="{FF2B5EF4-FFF2-40B4-BE49-F238E27FC236}">
                            <a16:creationId xmlns:a16="http://schemas.microsoft.com/office/drawing/2014/main" id="{3077DD58-84BA-78BB-8BB0-6C70BD0A928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9" name="Line 27">
                        <a:extLst>
                          <a:ext uri="{FF2B5EF4-FFF2-40B4-BE49-F238E27FC236}">
                            <a16:creationId xmlns:a16="http://schemas.microsoft.com/office/drawing/2014/main" id="{57E5CB83-886C-2ABA-BE1C-61CF9DA9D6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0" name="Line 28">
                        <a:extLst>
                          <a:ext uri="{FF2B5EF4-FFF2-40B4-BE49-F238E27FC236}">
                            <a16:creationId xmlns:a16="http://schemas.microsoft.com/office/drawing/2014/main" id="{46300244-71E7-EF8F-4D9E-17D610CCB3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1" name="Line 29">
                        <a:extLst>
                          <a:ext uri="{FF2B5EF4-FFF2-40B4-BE49-F238E27FC236}">
                            <a16:creationId xmlns:a16="http://schemas.microsoft.com/office/drawing/2014/main" id="{227E0089-FB02-CDD8-3239-489337FAB51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2" name="Line 30">
                        <a:extLst>
                          <a:ext uri="{FF2B5EF4-FFF2-40B4-BE49-F238E27FC236}">
                            <a16:creationId xmlns:a16="http://schemas.microsoft.com/office/drawing/2014/main" id="{AFF40845-48FB-84FC-8171-B3EE9602709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3" name="Line 31">
                        <a:extLst>
                          <a:ext uri="{FF2B5EF4-FFF2-40B4-BE49-F238E27FC236}">
                            <a16:creationId xmlns:a16="http://schemas.microsoft.com/office/drawing/2014/main" id="{50FB4CD3-7F06-3510-664D-86ECAC081E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5" name="Line 32">
                        <a:extLst>
                          <a:ext uri="{FF2B5EF4-FFF2-40B4-BE49-F238E27FC236}">
                            <a16:creationId xmlns:a16="http://schemas.microsoft.com/office/drawing/2014/main" id="{C1014FA4-7397-CBD4-14B9-AD679CF457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6" name="Line 33">
                        <a:extLst>
                          <a:ext uri="{FF2B5EF4-FFF2-40B4-BE49-F238E27FC236}">
                            <a16:creationId xmlns:a16="http://schemas.microsoft.com/office/drawing/2014/main" id="{809D94F2-7E54-B37A-AE6B-0AAD7A7350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7" name="Line 34">
                        <a:extLst>
                          <a:ext uri="{FF2B5EF4-FFF2-40B4-BE49-F238E27FC236}">
                            <a16:creationId xmlns:a16="http://schemas.microsoft.com/office/drawing/2014/main" id="{12DC3A1D-664C-F58B-74D1-2B1069FBDB2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8" name="Line 35">
                        <a:extLst>
                          <a:ext uri="{FF2B5EF4-FFF2-40B4-BE49-F238E27FC236}">
                            <a16:creationId xmlns:a16="http://schemas.microsoft.com/office/drawing/2014/main" id="{2E63D835-23AE-584B-E028-B9DBD0AC51B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9" name="Line 36">
                        <a:extLst>
                          <a:ext uri="{FF2B5EF4-FFF2-40B4-BE49-F238E27FC236}">
                            <a16:creationId xmlns:a16="http://schemas.microsoft.com/office/drawing/2014/main" id="{0DEFEBDA-6632-2681-FEC5-B0D745D4C8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0" name="Line 37">
                        <a:extLst>
                          <a:ext uri="{FF2B5EF4-FFF2-40B4-BE49-F238E27FC236}">
                            <a16:creationId xmlns:a16="http://schemas.microsoft.com/office/drawing/2014/main" id="{E88AFE00-58CD-8505-7951-C6CEFA36F25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1" name="Line 38">
                        <a:extLst>
                          <a:ext uri="{FF2B5EF4-FFF2-40B4-BE49-F238E27FC236}">
                            <a16:creationId xmlns:a16="http://schemas.microsoft.com/office/drawing/2014/main" id="{7CC238AF-6E6C-0943-ED0B-08378AC3695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70" name="Line 39">
                    <a:extLst>
                      <a:ext uri="{FF2B5EF4-FFF2-40B4-BE49-F238E27FC236}">
                        <a16:creationId xmlns:a16="http://schemas.microsoft.com/office/drawing/2014/main" id="{7BDAFF2D-3FB4-9D2B-7BB8-9E3D7E8249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2" name="Text Box 40">
                    <a:extLst>
                      <a:ext uri="{FF2B5EF4-FFF2-40B4-BE49-F238E27FC236}">
                        <a16:creationId xmlns:a16="http://schemas.microsoft.com/office/drawing/2014/main" id="{D0A388A3-6F92-88C8-128F-748D0F645A6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 err="1">
                        <a:solidFill>
                          <a:srgbClr val="FF0000"/>
                        </a:solidFill>
                        <a:latin typeface="Calibri" pitchFamily="-103" charset="0"/>
                      </a:rPr>
                      <a:t>Inm</a:t>
                    </a: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[11:5]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73" name="Text Box 41">
                    <a:extLst>
                      <a:ext uri="{FF2B5EF4-FFF2-40B4-BE49-F238E27FC236}">
                        <a16:creationId xmlns:a16="http://schemas.microsoft.com/office/drawing/2014/main" id="{8CF9FEFF-6716-BF3D-2BAF-EF1EBB7E15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74" name="Line 42">
                    <a:extLst>
                      <a:ext uri="{FF2B5EF4-FFF2-40B4-BE49-F238E27FC236}">
                        <a16:creationId xmlns:a16="http://schemas.microsoft.com/office/drawing/2014/main" id="{0D9F37B0-F168-7122-1172-08CED9A109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6" name="Line 43">
                    <a:extLst>
                      <a:ext uri="{FF2B5EF4-FFF2-40B4-BE49-F238E27FC236}">
                        <a16:creationId xmlns:a16="http://schemas.microsoft.com/office/drawing/2014/main" id="{481E262A-E6EA-BFE6-6C9C-253DB3D332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7" name="Line 44">
                    <a:extLst>
                      <a:ext uri="{FF2B5EF4-FFF2-40B4-BE49-F238E27FC236}">
                        <a16:creationId xmlns:a16="http://schemas.microsoft.com/office/drawing/2014/main" id="{5CBF2C5B-1369-098D-354E-FDA0536195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8" name="Text Box 45">
                    <a:extLst>
                      <a:ext uri="{FF2B5EF4-FFF2-40B4-BE49-F238E27FC236}">
                        <a16:creationId xmlns:a16="http://schemas.microsoft.com/office/drawing/2014/main" id="{A91071B1-4E9B-2CAA-2AAA-3B08F59C658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79" name="Text Box 46">
                    <a:extLst>
                      <a:ext uri="{FF2B5EF4-FFF2-40B4-BE49-F238E27FC236}">
                        <a16:creationId xmlns:a16="http://schemas.microsoft.com/office/drawing/2014/main" id="{73A2D31C-4592-E29D-40EA-CF2D97296E2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0" name="Text Box 47">
                    <a:extLst>
                      <a:ext uri="{FF2B5EF4-FFF2-40B4-BE49-F238E27FC236}">
                        <a16:creationId xmlns:a16="http://schemas.microsoft.com/office/drawing/2014/main" id="{8A6C16FE-6628-F3A2-E413-0CA910A1C3F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1" name="Text Box 48">
                    <a:extLst>
                      <a:ext uri="{FF2B5EF4-FFF2-40B4-BE49-F238E27FC236}">
                        <a16:creationId xmlns:a16="http://schemas.microsoft.com/office/drawing/2014/main" id="{F1A9D403-9298-6005-E7CD-815A95CA280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2" name="Text Box 49">
                    <a:extLst>
                      <a:ext uri="{FF2B5EF4-FFF2-40B4-BE49-F238E27FC236}">
                        <a16:creationId xmlns:a16="http://schemas.microsoft.com/office/drawing/2014/main" id="{DCF17082-7D64-F999-0316-070479A497F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3" name="Text Box 50">
                    <a:extLst>
                      <a:ext uri="{FF2B5EF4-FFF2-40B4-BE49-F238E27FC236}">
                        <a16:creationId xmlns:a16="http://schemas.microsoft.com/office/drawing/2014/main" id="{59297FD8-220D-6A95-BE5E-4C42D4576DD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4" name="Text Box 51">
                    <a:extLst>
                      <a:ext uri="{FF2B5EF4-FFF2-40B4-BE49-F238E27FC236}">
                        <a16:creationId xmlns:a16="http://schemas.microsoft.com/office/drawing/2014/main" id="{0156D6E6-C680-9FAD-6EF1-2B127BFE457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5" name="Text Box 52">
                    <a:extLst>
                      <a:ext uri="{FF2B5EF4-FFF2-40B4-BE49-F238E27FC236}">
                        <a16:creationId xmlns:a16="http://schemas.microsoft.com/office/drawing/2014/main" id="{F9FDF636-8496-4ECD-0F73-89A58CB5CBA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6" name="Text Box 53">
                    <a:extLst>
                      <a:ext uri="{FF2B5EF4-FFF2-40B4-BE49-F238E27FC236}">
                        <a16:creationId xmlns:a16="http://schemas.microsoft.com/office/drawing/2014/main" id="{0A9A77DE-3AEA-E2D5-792C-C99CF1EAF0C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7" name="Line 153">
                    <a:extLst>
                      <a:ext uri="{FF2B5EF4-FFF2-40B4-BE49-F238E27FC236}">
                        <a16:creationId xmlns:a16="http://schemas.microsoft.com/office/drawing/2014/main" id="{8589B65C-12FB-2DD6-770C-F3BD0572EA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88" name="Text Box 154">
                    <a:extLst>
                      <a:ext uri="{FF2B5EF4-FFF2-40B4-BE49-F238E27FC236}">
                        <a16:creationId xmlns:a16="http://schemas.microsoft.com/office/drawing/2014/main" id="{2AFC2481-0708-3B08-C5D2-EBB0911773D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66" name="Text Box 41">
                <a:extLst>
                  <a:ext uri="{FF2B5EF4-FFF2-40B4-BE49-F238E27FC236}">
                    <a16:creationId xmlns:a16="http://schemas.microsoft.com/office/drawing/2014/main" id="{352FDECE-8FC7-6E9C-CDB4-BC04E0DCB49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00" dirty="0" err="1">
                    <a:solidFill>
                      <a:srgbClr val="FF0000"/>
                    </a:solidFill>
                    <a:latin typeface="Calibri" pitchFamily="-103" charset="0"/>
                  </a:rPr>
                  <a:t>Inm</a:t>
                </a:r>
                <a:r>
                  <a:rPr lang="es-ES" sz="1000" dirty="0">
                    <a:solidFill>
                      <a:srgbClr val="FF0000"/>
                    </a:solidFill>
                    <a:latin typeface="Calibri" pitchFamily="-103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alibri" pitchFamily="-103" charset="0"/>
                </a:endParaRPr>
              </a:p>
            </p:txBody>
          </p:sp>
        </p:grpSp>
        <p:sp>
          <p:nvSpPr>
            <p:cNvPr id="163" name="Line 11">
              <a:extLst>
                <a:ext uri="{FF2B5EF4-FFF2-40B4-BE49-F238E27FC236}">
                  <a16:creationId xmlns:a16="http://schemas.microsoft.com/office/drawing/2014/main" id="{BEDBDFA1-1E52-647C-E0EA-579ADD557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797968D-29FE-F192-A3E6-74BD1AF48805}"/>
              </a:ext>
            </a:extLst>
          </p:cNvPr>
          <p:cNvGrpSpPr/>
          <p:nvPr/>
        </p:nvGrpSpPr>
        <p:grpSpPr>
          <a:xfrm>
            <a:off x="96401" y="2437485"/>
            <a:ext cx="5764068" cy="1491459"/>
            <a:chOff x="975305" y="4921593"/>
            <a:chExt cx="3345284" cy="95279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EF564548-5D11-BBAD-5B91-2F9A22C82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3"/>
              <a:ext cx="3345284" cy="952791"/>
              <a:chOff x="143" y="720"/>
              <a:chExt cx="2545" cy="570"/>
            </a:xfrm>
          </p:grpSpPr>
          <p:sp>
            <p:nvSpPr>
              <p:cNvPr id="62" name="Rectangle 10">
                <a:extLst>
                  <a:ext uri="{FF2B5EF4-FFF2-40B4-BE49-F238E27FC236}">
                    <a16:creationId xmlns:a16="http://schemas.microsoft.com/office/drawing/2014/main" id="{17EEA94F-3DC0-B63E-BC21-77FD7B69D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29" name="Group 155">
                <a:extLst>
                  <a:ext uri="{FF2B5EF4-FFF2-40B4-BE49-F238E27FC236}">
                    <a16:creationId xmlns:a16="http://schemas.microsoft.com/office/drawing/2014/main" id="{89719140-DAF6-41AD-CAED-504BAE7030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68"/>
                <a:ext cx="2519" cy="522"/>
                <a:chOff x="1168" y="1293"/>
                <a:chExt cx="3246" cy="855"/>
              </a:xfrm>
            </p:grpSpPr>
            <p:grpSp>
              <p:nvGrpSpPr>
                <p:cNvPr id="130" name="Group 5">
                  <a:extLst>
                    <a:ext uri="{FF2B5EF4-FFF2-40B4-BE49-F238E27FC236}">
                      <a16:creationId xmlns:a16="http://schemas.microsoft.com/office/drawing/2014/main" id="{E8986DB6-66EE-231F-4DED-F12BEB84E0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8" name="Rectangle 6">
                    <a:extLst>
                      <a:ext uri="{FF2B5EF4-FFF2-40B4-BE49-F238E27FC236}">
                        <a16:creationId xmlns:a16="http://schemas.microsoft.com/office/drawing/2014/main" id="{DE1B0568-F9CB-B26E-058A-351685B8CD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 b="1">
                      <a:solidFill>
                        <a:srgbClr val="4F271C"/>
                      </a:solidFill>
                    </a:endParaRPr>
                  </a:p>
                </p:txBody>
              </p:sp>
              <p:grpSp>
                <p:nvGrpSpPr>
                  <p:cNvPr id="149" name="Group 7">
                    <a:extLst>
                      <a:ext uri="{FF2B5EF4-FFF2-40B4-BE49-F238E27FC236}">
                        <a16:creationId xmlns:a16="http://schemas.microsoft.com/office/drawing/2014/main" id="{9F1C5B91-8486-5534-16B8-62292A2A26E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50" name="Line 9">
                      <a:extLst>
                        <a:ext uri="{FF2B5EF4-FFF2-40B4-BE49-F238E27FC236}">
                          <a16:creationId xmlns:a16="http://schemas.microsoft.com/office/drawing/2014/main" id="{31FCAC71-2C6E-9FD6-AD8A-1AC672AE17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1" name="Line 10">
                      <a:extLst>
                        <a:ext uri="{FF2B5EF4-FFF2-40B4-BE49-F238E27FC236}">
                          <a16:creationId xmlns:a16="http://schemas.microsoft.com/office/drawing/2014/main" id="{5F79A6B3-C6C1-8A37-6664-4F7FCDDF7A0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2" name="Line 11">
                      <a:extLst>
                        <a:ext uri="{FF2B5EF4-FFF2-40B4-BE49-F238E27FC236}">
                          <a16:creationId xmlns:a16="http://schemas.microsoft.com/office/drawing/2014/main" id="{8A92E688-4FEA-E305-0C24-B37907CF4B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3" name="Line 12">
                      <a:extLst>
                        <a:ext uri="{FF2B5EF4-FFF2-40B4-BE49-F238E27FC236}">
                          <a16:creationId xmlns:a16="http://schemas.microsoft.com/office/drawing/2014/main" id="{AE5A3D34-5750-855A-73BA-E088BAF70E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4" name="Line 13">
                      <a:extLst>
                        <a:ext uri="{FF2B5EF4-FFF2-40B4-BE49-F238E27FC236}">
                          <a16:creationId xmlns:a16="http://schemas.microsoft.com/office/drawing/2014/main" id="{A459CF95-0550-4D6D-FCA7-9D9A59829C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5" name="Line 14">
                      <a:extLst>
                        <a:ext uri="{FF2B5EF4-FFF2-40B4-BE49-F238E27FC236}">
                          <a16:creationId xmlns:a16="http://schemas.microsoft.com/office/drawing/2014/main" id="{DF3C3646-65C4-D4E3-B0E9-1A2D9384F7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7" name="Line 15">
                      <a:extLst>
                        <a:ext uri="{FF2B5EF4-FFF2-40B4-BE49-F238E27FC236}">
                          <a16:creationId xmlns:a16="http://schemas.microsoft.com/office/drawing/2014/main" id="{F143C667-F38A-702B-297D-2141EF9F86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0" name="Line 16">
                      <a:extLst>
                        <a:ext uri="{FF2B5EF4-FFF2-40B4-BE49-F238E27FC236}">
                          <a16:creationId xmlns:a16="http://schemas.microsoft.com/office/drawing/2014/main" id="{3CDA49E8-CE74-C42A-1007-42FE81C924A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1" name="Line 17">
                      <a:extLst>
                        <a:ext uri="{FF2B5EF4-FFF2-40B4-BE49-F238E27FC236}">
                          <a16:creationId xmlns:a16="http://schemas.microsoft.com/office/drawing/2014/main" id="{63F0F709-18DC-09E9-0D35-B1DA689E4D9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5" name="Line 18">
                      <a:extLst>
                        <a:ext uri="{FF2B5EF4-FFF2-40B4-BE49-F238E27FC236}">
                          <a16:creationId xmlns:a16="http://schemas.microsoft.com/office/drawing/2014/main" id="{011B75E0-9FCA-07A0-B2B4-8253AAF926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1" name="Line 19">
                      <a:extLst>
                        <a:ext uri="{FF2B5EF4-FFF2-40B4-BE49-F238E27FC236}">
                          <a16:creationId xmlns:a16="http://schemas.microsoft.com/office/drawing/2014/main" id="{5EB9DF86-9AC9-8A4C-8BBF-1F17304F68A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5" name="Line 20">
                      <a:extLst>
                        <a:ext uri="{FF2B5EF4-FFF2-40B4-BE49-F238E27FC236}">
                          <a16:creationId xmlns:a16="http://schemas.microsoft.com/office/drawing/2014/main" id="{D88662A0-09A2-21A0-6FD7-3F6F54540D3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14" name="Line 21">
                      <a:extLst>
                        <a:ext uri="{FF2B5EF4-FFF2-40B4-BE49-F238E27FC236}">
                          <a16:creationId xmlns:a16="http://schemas.microsoft.com/office/drawing/2014/main" id="{7394EB6E-8AF9-88A8-CFD0-8246E513D0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0" name="Line 22">
                      <a:extLst>
                        <a:ext uri="{FF2B5EF4-FFF2-40B4-BE49-F238E27FC236}">
                          <a16:creationId xmlns:a16="http://schemas.microsoft.com/office/drawing/2014/main" id="{E1AF0C6E-05C8-CCDA-8C71-075EA8F759F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3" name="Line 23">
                      <a:extLst>
                        <a:ext uri="{FF2B5EF4-FFF2-40B4-BE49-F238E27FC236}">
                          <a16:creationId xmlns:a16="http://schemas.microsoft.com/office/drawing/2014/main" id="{14475DF1-4AF4-5D26-D4D1-0CAE214B53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4" name="Line 24">
                      <a:extLst>
                        <a:ext uri="{FF2B5EF4-FFF2-40B4-BE49-F238E27FC236}">
                          <a16:creationId xmlns:a16="http://schemas.microsoft.com/office/drawing/2014/main" id="{C49D90F8-3D16-CEFC-395D-0FC4445AC7F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5" name="Line 25">
                      <a:extLst>
                        <a:ext uri="{FF2B5EF4-FFF2-40B4-BE49-F238E27FC236}">
                          <a16:creationId xmlns:a16="http://schemas.microsoft.com/office/drawing/2014/main" id="{2855EAFF-6E18-DEB0-F43C-0BD547C47B7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1" name="Line 26">
                      <a:extLst>
                        <a:ext uri="{FF2B5EF4-FFF2-40B4-BE49-F238E27FC236}">
                          <a16:creationId xmlns:a16="http://schemas.microsoft.com/office/drawing/2014/main" id="{D3861822-0E7D-EC9D-BA1C-8AC6C3DCF9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2" name="Line 27">
                      <a:extLst>
                        <a:ext uri="{FF2B5EF4-FFF2-40B4-BE49-F238E27FC236}">
                          <a16:creationId xmlns:a16="http://schemas.microsoft.com/office/drawing/2014/main" id="{0B5ABCA9-0949-C072-D1F3-8B5597673A7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3" name="Line 28">
                      <a:extLst>
                        <a:ext uri="{FF2B5EF4-FFF2-40B4-BE49-F238E27FC236}">
                          <a16:creationId xmlns:a16="http://schemas.microsoft.com/office/drawing/2014/main" id="{7F37FA53-47BB-0973-EEBE-F77DA26FC5C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4" name="Line 29">
                      <a:extLst>
                        <a:ext uri="{FF2B5EF4-FFF2-40B4-BE49-F238E27FC236}">
                          <a16:creationId xmlns:a16="http://schemas.microsoft.com/office/drawing/2014/main" id="{CE2656D5-B343-34F2-641C-80A83A420B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5" name="Line 30">
                      <a:extLst>
                        <a:ext uri="{FF2B5EF4-FFF2-40B4-BE49-F238E27FC236}">
                          <a16:creationId xmlns:a16="http://schemas.microsoft.com/office/drawing/2014/main" id="{313390C4-1FAB-B1E8-AA82-51080A2D4B9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7" name="Line 31">
                      <a:extLst>
                        <a:ext uri="{FF2B5EF4-FFF2-40B4-BE49-F238E27FC236}">
                          <a16:creationId xmlns:a16="http://schemas.microsoft.com/office/drawing/2014/main" id="{354AE620-CCD2-665F-B5A7-F3F95152AA2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8" name="Line 32">
                      <a:extLst>
                        <a:ext uri="{FF2B5EF4-FFF2-40B4-BE49-F238E27FC236}">
                          <a16:creationId xmlns:a16="http://schemas.microsoft.com/office/drawing/2014/main" id="{D1DEA65C-9729-CFCD-EE1D-0ED93483DE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9" name="Line 33">
                      <a:extLst>
                        <a:ext uri="{FF2B5EF4-FFF2-40B4-BE49-F238E27FC236}">
                          <a16:creationId xmlns:a16="http://schemas.microsoft.com/office/drawing/2014/main" id="{E2830E33-18EE-C4C7-698E-9A4925D967F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0" name="Line 34">
                      <a:extLst>
                        <a:ext uri="{FF2B5EF4-FFF2-40B4-BE49-F238E27FC236}">
                          <a16:creationId xmlns:a16="http://schemas.microsoft.com/office/drawing/2014/main" id="{DD3E2DEE-E1B4-148B-A7C7-95EB095408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1" name="Line 35">
                      <a:extLst>
                        <a:ext uri="{FF2B5EF4-FFF2-40B4-BE49-F238E27FC236}">
                          <a16:creationId xmlns:a16="http://schemas.microsoft.com/office/drawing/2014/main" id="{58311A76-90C9-55CA-68AB-5594F93CDC0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2" name="Line 36">
                      <a:extLst>
                        <a:ext uri="{FF2B5EF4-FFF2-40B4-BE49-F238E27FC236}">
                          <a16:creationId xmlns:a16="http://schemas.microsoft.com/office/drawing/2014/main" id="{89BEE880-80E0-DB9C-8D67-E15C30AF497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3" name="Line 37">
                      <a:extLst>
                        <a:ext uri="{FF2B5EF4-FFF2-40B4-BE49-F238E27FC236}">
                          <a16:creationId xmlns:a16="http://schemas.microsoft.com/office/drawing/2014/main" id="{F85AB16E-495C-3E8C-B477-79439BF194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4" name="Line 38">
                      <a:extLst>
                        <a:ext uri="{FF2B5EF4-FFF2-40B4-BE49-F238E27FC236}">
                          <a16:creationId xmlns:a16="http://schemas.microsoft.com/office/drawing/2014/main" id="{69640078-6EA4-B95C-803E-5FB84BD0480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31" name="Line 39">
                  <a:extLst>
                    <a:ext uri="{FF2B5EF4-FFF2-40B4-BE49-F238E27FC236}">
                      <a16:creationId xmlns:a16="http://schemas.microsoft.com/office/drawing/2014/main" id="{53BBA9CB-5B85-FCA5-395B-C8D0769B9E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2" name="Text Box 40">
                  <a:extLst>
                    <a:ext uri="{FF2B5EF4-FFF2-40B4-BE49-F238E27FC236}">
                      <a16:creationId xmlns:a16="http://schemas.microsoft.com/office/drawing/2014/main" id="{3BAA3F88-E42A-DD29-6DE2-4AC770B805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20"/>
                  <a:ext cx="563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func7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3" name="Text Box 41">
                  <a:extLst>
                    <a:ext uri="{FF2B5EF4-FFF2-40B4-BE49-F238E27FC236}">
                      <a16:creationId xmlns:a16="http://schemas.microsoft.com/office/drawing/2014/main" id="{5AA765FF-26AE-4C03-2421-3836F34DAC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43"/>
                  <a:ext cx="543" cy="24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000" dirty="0">
                      <a:solidFill>
                        <a:srgbClr val="FF0000"/>
                      </a:solidFill>
                      <a:latin typeface="Calibri" pitchFamily="-103" charset="0"/>
                    </a:rPr>
                    <a:t>func3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4" name="Line 42">
                  <a:extLst>
                    <a:ext uri="{FF2B5EF4-FFF2-40B4-BE49-F238E27FC236}">
                      <a16:creationId xmlns:a16="http://schemas.microsoft.com/office/drawing/2014/main" id="{C1128B0E-B3F8-C643-54FE-3B4BF221C7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43">
                  <a:extLst>
                    <a:ext uri="{FF2B5EF4-FFF2-40B4-BE49-F238E27FC236}">
                      <a16:creationId xmlns:a16="http://schemas.microsoft.com/office/drawing/2014/main" id="{829F8878-A786-0E94-E8DB-1ECBD06BF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44">
                  <a:extLst>
                    <a:ext uri="{FF2B5EF4-FFF2-40B4-BE49-F238E27FC236}">
                      <a16:creationId xmlns:a16="http://schemas.microsoft.com/office/drawing/2014/main" id="{54D42E00-FE93-2E46-F597-E57598FB8C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Text Box 45">
                  <a:extLst>
                    <a:ext uri="{FF2B5EF4-FFF2-40B4-BE49-F238E27FC236}">
                      <a16:creationId xmlns:a16="http://schemas.microsoft.com/office/drawing/2014/main" id="{D8EB2FFC-C798-1302-6E72-6646CCDC75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24"/>
                  <a:ext cx="451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rs2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8" name="Text Box 46">
                  <a:extLst>
                    <a:ext uri="{FF2B5EF4-FFF2-40B4-BE49-F238E27FC236}">
                      <a16:creationId xmlns:a16="http://schemas.microsoft.com/office/drawing/2014/main" id="{946BD9A3-E774-386E-B6CF-FA5D6E7722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14"/>
                  <a:ext cx="39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rs1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9" name="Text Box 47">
                  <a:extLst>
                    <a:ext uri="{FF2B5EF4-FFF2-40B4-BE49-F238E27FC236}">
                      <a16:creationId xmlns:a16="http://schemas.microsoft.com/office/drawing/2014/main" id="{3790E4D3-A3D4-6832-B5C9-B17B226E00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07"/>
                  <a:ext cx="662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COP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0" name="Text Box 48">
                  <a:extLst>
                    <a:ext uri="{FF2B5EF4-FFF2-40B4-BE49-F238E27FC236}">
                      <a16:creationId xmlns:a16="http://schemas.microsoft.com/office/drawing/2014/main" id="{4BC040EA-7DC2-B9BF-C718-A1F7AE00A3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54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31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1" name="Text Box 49">
                  <a:extLst>
                    <a:ext uri="{FF2B5EF4-FFF2-40B4-BE49-F238E27FC236}">
                      <a16:creationId xmlns:a16="http://schemas.microsoft.com/office/drawing/2014/main" id="{965A20C4-D18F-B7B7-4721-CCB6A956A7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3" y="1608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2" name="Text Box 50">
                  <a:extLst>
                    <a:ext uri="{FF2B5EF4-FFF2-40B4-BE49-F238E27FC236}">
                      <a16:creationId xmlns:a16="http://schemas.microsoft.com/office/drawing/2014/main" id="{8C0B4792-41D7-3A1D-3995-73552652C5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6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0 9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3" name="Text Box 51">
                  <a:extLst>
                    <a:ext uri="{FF2B5EF4-FFF2-40B4-BE49-F238E27FC236}">
                      <a16:creationId xmlns:a16="http://schemas.microsoft.com/office/drawing/2014/main" id="{0DEFB620-C957-61B5-148D-0DBB24D60E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8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4" name="Text Box 52">
                  <a:extLst>
                    <a:ext uri="{FF2B5EF4-FFF2-40B4-BE49-F238E27FC236}">
                      <a16:creationId xmlns:a16="http://schemas.microsoft.com/office/drawing/2014/main" id="{853BF617-D69A-C800-1CFB-3FBAB29EA3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9" y="1607"/>
                  <a:ext cx="335" cy="23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7 6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5" name="Text Box 53">
                  <a:extLst>
                    <a:ext uri="{FF2B5EF4-FFF2-40B4-BE49-F238E27FC236}">
                      <a16:creationId xmlns:a16="http://schemas.microsoft.com/office/drawing/2014/main" id="{A4EE630E-10C9-1208-CF5E-0EEB264AEA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5" y="1612"/>
                  <a:ext cx="269" cy="33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6" name="Line 153">
                  <a:extLst>
                    <a:ext uri="{FF2B5EF4-FFF2-40B4-BE49-F238E27FC236}">
                      <a16:creationId xmlns:a16="http://schemas.microsoft.com/office/drawing/2014/main" id="{B2672BD6-5393-4E62-AE97-9BE8CE00A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Text Box 154">
                  <a:extLst>
                    <a:ext uri="{FF2B5EF4-FFF2-40B4-BE49-F238E27FC236}">
                      <a16:creationId xmlns:a16="http://schemas.microsoft.com/office/drawing/2014/main" id="{73357630-5D77-E1D1-E072-CF764208B4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4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</p:grpSp>
        </p:grp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C6675129-E707-7A3D-5F02-6F543FF80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25721"/>
              <a:ext cx="383616" cy="277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200" dirty="0" err="1">
                  <a:solidFill>
                    <a:srgbClr val="FF0000"/>
                  </a:solidFill>
                  <a:latin typeface="Calibri" pitchFamily="-103" charset="0"/>
                </a:rPr>
                <a:t>rd</a:t>
              </a:r>
              <a:endParaRPr lang="ca-ES" sz="1200" dirty="0">
                <a:solidFill>
                  <a:srgbClr val="FF0000"/>
                </a:solidFill>
                <a:latin typeface="Calibri" pitchFamily="-103" charset="0"/>
              </a:endParaRPr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4017DD85-FCFA-3876-C084-B7D938140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95" name="Rectangle 3">
            <a:extLst>
              <a:ext uri="{FF2B5EF4-FFF2-40B4-BE49-F238E27FC236}">
                <a16:creationId xmlns:a16="http://schemas.microsoft.com/office/drawing/2014/main" id="{249A0506-FC9A-B662-FB7A-470D83685BDB}"/>
              </a:ext>
            </a:extLst>
          </p:cNvPr>
          <p:cNvSpPr txBox="1">
            <a:spLocks noChangeArrowheads="1"/>
          </p:cNvSpPr>
          <p:nvPr/>
        </p:nvSpPr>
        <p:spPr>
          <a:xfrm>
            <a:off x="191942" y="933005"/>
            <a:ext cx="8708199" cy="540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Operación con formato S: </a:t>
            </a:r>
            <a:r>
              <a:rPr lang="es-ES" dirty="0" err="1"/>
              <a:t>sw</a:t>
            </a:r>
            <a:r>
              <a:rPr lang="es-ES" dirty="0"/>
              <a:t> rs2, </a:t>
            </a:r>
            <a:r>
              <a:rPr lang="es-ES" dirty="0" err="1"/>
              <a:t>Inm</a:t>
            </a:r>
            <a:r>
              <a:rPr lang="es-ES" dirty="0"/>
              <a:t>(rs1)</a:t>
            </a:r>
          </a:p>
          <a:p>
            <a:r>
              <a:rPr lang="es-ES" sz="2400" dirty="0"/>
              <a:t>2 operandos fuente (rs1, rs2)</a:t>
            </a:r>
          </a:p>
          <a:p>
            <a:r>
              <a:rPr lang="es-ES" sz="2400" dirty="0"/>
              <a:t>Huecos: func7+rd (12 bits) para el inmediato</a:t>
            </a:r>
          </a:p>
        </p:txBody>
      </p:sp>
      <p:graphicFrame>
        <p:nvGraphicFramePr>
          <p:cNvPr id="61" name="Table 1">
            <a:extLst>
              <a:ext uri="{FF2B5EF4-FFF2-40B4-BE49-F238E27FC236}">
                <a16:creationId xmlns:a16="http://schemas.microsoft.com/office/drawing/2014/main" id="{8B0F6D67-4C5B-9CE0-B5FC-2D851A922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323884"/>
              </p:ext>
            </p:extLst>
          </p:nvPr>
        </p:nvGraphicFramePr>
        <p:xfrm>
          <a:off x="6009109" y="4956472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sp>
        <p:nvSpPr>
          <p:cNvPr id="128" name="Flecha abajo 127">
            <a:extLst>
              <a:ext uri="{FF2B5EF4-FFF2-40B4-BE49-F238E27FC236}">
                <a16:creationId xmlns:a16="http://schemas.microsoft.com/office/drawing/2014/main" id="{920BE732-7A8A-381B-405B-5135C1101ECB}"/>
              </a:ext>
            </a:extLst>
          </p:cNvPr>
          <p:cNvSpPr/>
          <p:nvPr/>
        </p:nvSpPr>
        <p:spPr>
          <a:xfrm>
            <a:off x="3497964" y="3977090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D8431542-8D90-F30A-2517-C6AD65797C65}"/>
              </a:ext>
            </a:extLst>
          </p:cNvPr>
          <p:cNvSpPr/>
          <p:nvPr/>
        </p:nvSpPr>
        <p:spPr>
          <a:xfrm>
            <a:off x="286694" y="2588476"/>
            <a:ext cx="1143730" cy="522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2D269011-103A-3B20-C03C-44A6D2F26ED3}"/>
              </a:ext>
            </a:extLst>
          </p:cNvPr>
          <p:cNvSpPr/>
          <p:nvPr/>
        </p:nvSpPr>
        <p:spPr>
          <a:xfrm>
            <a:off x="3622154" y="2597418"/>
            <a:ext cx="812655" cy="522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478305-D074-B169-D7BC-B0E254B101A9}"/>
              </a:ext>
            </a:extLst>
          </p:cNvPr>
          <p:cNvSpPr txBox="1"/>
          <p:nvPr/>
        </p:nvSpPr>
        <p:spPr>
          <a:xfrm>
            <a:off x="5925500" y="2621417"/>
            <a:ext cx="239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Referencia: Formato R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158797-7DCB-5B7A-C050-1B94999B6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130949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4FD4-0B83-16C0-B088-07E1C9BC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rupo 354">
            <a:extLst>
              <a:ext uri="{FF2B5EF4-FFF2-40B4-BE49-F238E27FC236}">
                <a16:creationId xmlns:a16="http://schemas.microsoft.com/office/drawing/2014/main" id="{11D1EE02-35C4-0ECD-8AC7-0A89EB830E4B}"/>
              </a:ext>
            </a:extLst>
          </p:cNvPr>
          <p:cNvGrpSpPr/>
          <p:nvPr/>
        </p:nvGrpSpPr>
        <p:grpSpPr>
          <a:xfrm>
            <a:off x="91070" y="4885866"/>
            <a:ext cx="5768065" cy="1443347"/>
            <a:chOff x="3109309" y="5964034"/>
            <a:chExt cx="3345284" cy="952791"/>
          </a:xfrm>
        </p:grpSpPr>
        <p:grpSp>
          <p:nvGrpSpPr>
            <p:cNvPr id="356" name="Grupo 355">
              <a:extLst>
                <a:ext uri="{FF2B5EF4-FFF2-40B4-BE49-F238E27FC236}">
                  <a16:creationId xmlns:a16="http://schemas.microsoft.com/office/drawing/2014/main" id="{8C53C396-D931-C3B6-FEE3-AD89BE25030F}"/>
                </a:ext>
              </a:extLst>
            </p:cNvPr>
            <p:cNvGrpSpPr/>
            <p:nvPr/>
          </p:nvGrpSpPr>
          <p:grpSpPr>
            <a:xfrm>
              <a:off x="3109309" y="5964034"/>
              <a:ext cx="3345284" cy="952791"/>
              <a:chOff x="3109309" y="5964034"/>
              <a:chExt cx="3345284" cy="952791"/>
            </a:xfrm>
          </p:grpSpPr>
          <p:grpSp>
            <p:nvGrpSpPr>
              <p:cNvPr id="358" name="Group 9">
                <a:extLst>
                  <a:ext uri="{FF2B5EF4-FFF2-40B4-BE49-F238E27FC236}">
                    <a16:creationId xmlns:a16="http://schemas.microsoft.com/office/drawing/2014/main" id="{47223801-93BF-EE33-9CC9-1E066D372A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64034"/>
                <a:ext cx="3345284" cy="952791"/>
                <a:chOff x="143" y="720"/>
                <a:chExt cx="2545" cy="570"/>
              </a:xfrm>
            </p:grpSpPr>
            <p:sp>
              <p:nvSpPr>
                <p:cNvPr id="360" name="Rectangle 10">
                  <a:extLst>
                    <a:ext uri="{FF2B5EF4-FFF2-40B4-BE49-F238E27FC236}">
                      <a16:creationId xmlns:a16="http://schemas.microsoft.com/office/drawing/2014/main" id="{4313CD2F-516C-D010-A372-743536424C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720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361" name="Group 155">
                  <a:extLst>
                    <a:ext uri="{FF2B5EF4-FFF2-40B4-BE49-F238E27FC236}">
                      <a16:creationId xmlns:a16="http://schemas.microsoft.com/office/drawing/2014/main" id="{4E0258FF-CBEB-ACDF-8B7C-0E462808F3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grpSp>
                <p:nvGrpSpPr>
                  <p:cNvPr id="362" name="Group 5">
                    <a:extLst>
                      <a:ext uri="{FF2B5EF4-FFF2-40B4-BE49-F238E27FC236}">
                        <a16:creationId xmlns:a16="http://schemas.microsoft.com/office/drawing/2014/main" id="{37E4C349-8D7D-7B1D-C228-BDE067D43E3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380" name="Rectangle 6">
                      <a:extLst>
                        <a:ext uri="{FF2B5EF4-FFF2-40B4-BE49-F238E27FC236}">
                          <a16:creationId xmlns:a16="http://schemas.microsoft.com/office/drawing/2014/main" id="{FBB9755F-FEC7-B88A-524F-567BDBC858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381" name="Group 7">
                      <a:extLst>
                        <a:ext uri="{FF2B5EF4-FFF2-40B4-BE49-F238E27FC236}">
                          <a16:creationId xmlns:a16="http://schemas.microsoft.com/office/drawing/2014/main" id="{D0E90DFB-83A8-858A-09F4-9E060C2788E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382" name="Line 9">
                        <a:extLst>
                          <a:ext uri="{FF2B5EF4-FFF2-40B4-BE49-F238E27FC236}">
                            <a16:creationId xmlns:a16="http://schemas.microsoft.com/office/drawing/2014/main" id="{1760C8B6-6B15-03E0-0B6D-6CD35D5DC9C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3" name="Line 10">
                        <a:extLst>
                          <a:ext uri="{FF2B5EF4-FFF2-40B4-BE49-F238E27FC236}">
                            <a16:creationId xmlns:a16="http://schemas.microsoft.com/office/drawing/2014/main" id="{80A55A90-4F10-9ADD-7A87-CC320FA6768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4" name="Line 11">
                        <a:extLst>
                          <a:ext uri="{FF2B5EF4-FFF2-40B4-BE49-F238E27FC236}">
                            <a16:creationId xmlns:a16="http://schemas.microsoft.com/office/drawing/2014/main" id="{DF6F3919-3B5D-D997-BF2C-9613C77F73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5" name="Line 12">
                        <a:extLst>
                          <a:ext uri="{FF2B5EF4-FFF2-40B4-BE49-F238E27FC236}">
                            <a16:creationId xmlns:a16="http://schemas.microsoft.com/office/drawing/2014/main" id="{2D1D96E1-09FC-2397-0455-477FF11BD2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6" name="Line 13">
                        <a:extLst>
                          <a:ext uri="{FF2B5EF4-FFF2-40B4-BE49-F238E27FC236}">
                            <a16:creationId xmlns:a16="http://schemas.microsoft.com/office/drawing/2014/main" id="{F4CF5AB7-3534-D2E2-052D-911D85B091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7" name="Line 14">
                        <a:extLst>
                          <a:ext uri="{FF2B5EF4-FFF2-40B4-BE49-F238E27FC236}">
                            <a16:creationId xmlns:a16="http://schemas.microsoft.com/office/drawing/2014/main" id="{3DF97D36-B475-8511-1187-2D3FEE0D303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8" name="Line 15">
                        <a:extLst>
                          <a:ext uri="{FF2B5EF4-FFF2-40B4-BE49-F238E27FC236}">
                            <a16:creationId xmlns:a16="http://schemas.microsoft.com/office/drawing/2014/main" id="{98718A85-87E0-1D4D-03A8-FB5B8CF7564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89" name="Line 16">
                        <a:extLst>
                          <a:ext uri="{FF2B5EF4-FFF2-40B4-BE49-F238E27FC236}">
                            <a16:creationId xmlns:a16="http://schemas.microsoft.com/office/drawing/2014/main" id="{4B1F96D9-82BC-AA66-874E-92090FF3483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0" name="Line 17">
                        <a:extLst>
                          <a:ext uri="{FF2B5EF4-FFF2-40B4-BE49-F238E27FC236}">
                            <a16:creationId xmlns:a16="http://schemas.microsoft.com/office/drawing/2014/main" id="{2FD62849-DE2F-AE47-472A-BCA372F40B9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1" name="Line 18">
                        <a:extLst>
                          <a:ext uri="{FF2B5EF4-FFF2-40B4-BE49-F238E27FC236}">
                            <a16:creationId xmlns:a16="http://schemas.microsoft.com/office/drawing/2014/main" id="{27B545B1-9057-F957-C201-3083438F3B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2" name="Line 19">
                        <a:extLst>
                          <a:ext uri="{FF2B5EF4-FFF2-40B4-BE49-F238E27FC236}">
                            <a16:creationId xmlns:a16="http://schemas.microsoft.com/office/drawing/2014/main" id="{F062CCCA-E92A-EBF7-FCF3-48F4C8B4986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3" name="Line 20">
                        <a:extLst>
                          <a:ext uri="{FF2B5EF4-FFF2-40B4-BE49-F238E27FC236}">
                            <a16:creationId xmlns:a16="http://schemas.microsoft.com/office/drawing/2014/main" id="{76C3EDCA-3DAA-7BAA-C6E3-8F2BB7270DE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4" name="Line 21">
                        <a:extLst>
                          <a:ext uri="{FF2B5EF4-FFF2-40B4-BE49-F238E27FC236}">
                            <a16:creationId xmlns:a16="http://schemas.microsoft.com/office/drawing/2014/main" id="{0F7C9795-6704-9BAE-BDA3-F89BA45EB4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5" name="Line 22">
                        <a:extLst>
                          <a:ext uri="{FF2B5EF4-FFF2-40B4-BE49-F238E27FC236}">
                            <a16:creationId xmlns:a16="http://schemas.microsoft.com/office/drawing/2014/main" id="{21E8C12A-F883-CF9D-8764-339AD30CF7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6" name="Line 23">
                        <a:extLst>
                          <a:ext uri="{FF2B5EF4-FFF2-40B4-BE49-F238E27FC236}">
                            <a16:creationId xmlns:a16="http://schemas.microsoft.com/office/drawing/2014/main" id="{EB61B30C-25AE-55FD-A20C-1632AA0EB59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7" name="Line 24">
                        <a:extLst>
                          <a:ext uri="{FF2B5EF4-FFF2-40B4-BE49-F238E27FC236}">
                            <a16:creationId xmlns:a16="http://schemas.microsoft.com/office/drawing/2014/main" id="{570662CB-61ED-5D06-1299-4F453E8FD34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8" name="Line 25">
                        <a:extLst>
                          <a:ext uri="{FF2B5EF4-FFF2-40B4-BE49-F238E27FC236}">
                            <a16:creationId xmlns:a16="http://schemas.microsoft.com/office/drawing/2014/main" id="{C643023B-0927-A8D9-4000-69978F73AC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399" name="Line 26">
                        <a:extLst>
                          <a:ext uri="{FF2B5EF4-FFF2-40B4-BE49-F238E27FC236}">
                            <a16:creationId xmlns:a16="http://schemas.microsoft.com/office/drawing/2014/main" id="{2FF98B73-6D9A-4446-2B88-383731DA53F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0" name="Line 27">
                        <a:extLst>
                          <a:ext uri="{FF2B5EF4-FFF2-40B4-BE49-F238E27FC236}">
                            <a16:creationId xmlns:a16="http://schemas.microsoft.com/office/drawing/2014/main" id="{033A93D0-08C7-81F5-5C60-54129020F9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1" name="Line 28">
                        <a:extLst>
                          <a:ext uri="{FF2B5EF4-FFF2-40B4-BE49-F238E27FC236}">
                            <a16:creationId xmlns:a16="http://schemas.microsoft.com/office/drawing/2014/main" id="{F0E2BEF5-489D-C2F7-33CB-7ECC49E7DB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2" name="Line 29">
                        <a:extLst>
                          <a:ext uri="{FF2B5EF4-FFF2-40B4-BE49-F238E27FC236}">
                            <a16:creationId xmlns:a16="http://schemas.microsoft.com/office/drawing/2014/main" id="{44FC13B3-58B5-4F06-D0FB-3E6AEE39AF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3" name="Line 30">
                        <a:extLst>
                          <a:ext uri="{FF2B5EF4-FFF2-40B4-BE49-F238E27FC236}">
                            <a16:creationId xmlns:a16="http://schemas.microsoft.com/office/drawing/2014/main" id="{A79835A9-1B58-F885-5E28-D4881FB229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4" name="Line 31">
                        <a:extLst>
                          <a:ext uri="{FF2B5EF4-FFF2-40B4-BE49-F238E27FC236}">
                            <a16:creationId xmlns:a16="http://schemas.microsoft.com/office/drawing/2014/main" id="{703D4117-9B26-01F3-A752-655F2BA3BF0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5" name="Line 32">
                        <a:extLst>
                          <a:ext uri="{FF2B5EF4-FFF2-40B4-BE49-F238E27FC236}">
                            <a16:creationId xmlns:a16="http://schemas.microsoft.com/office/drawing/2014/main" id="{2BD9DD99-A049-0E44-FE0B-BBD471DA3B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6" name="Line 33">
                        <a:extLst>
                          <a:ext uri="{FF2B5EF4-FFF2-40B4-BE49-F238E27FC236}">
                            <a16:creationId xmlns:a16="http://schemas.microsoft.com/office/drawing/2014/main" id="{A395861B-6DCC-F83B-5472-30394C4EAB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7" name="Line 34">
                        <a:extLst>
                          <a:ext uri="{FF2B5EF4-FFF2-40B4-BE49-F238E27FC236}">
                            <a16:creationId xmlns:a16="http://schemas.microsoft.com/office/drawing/2014/main" id="{11D4F7CE-B663-4E80-6961-BE20223A66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8" name="Line 35">
                        <a:extLst>
                          <a:ext uri="{FF2B5EF4-FFF2-40B4-BE49-F238E27FC236}">
                            <a16:creationId xmlns:a16="http://schemas.microsoft.com/office/drawing/2014/main" id="{A2564C64-28D3-1C55-B86E-E7BD70C7477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09" name="Line 36">
                        <a:extLst>
                          <a:ext uri="{FF2B5EF4-FFF2-40B4-BE49-F238E27FC236}">
                            <a16:creationId xmlns:a16="http://schemas.microsoft.com/office/drawing/2014/main" id="{9669F297-0619-8807-8F5C-9237328585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0" name="Line 37">
                        <a:extLst>
                          <a:ext uri="{FF2B5EF4-FFF2-40B4-BE49-F238E27FC236}">
                            <a16:creationId xmlns:a16="http://schemas.microsoft.com/office/drawing/2014/main" id="{13EF7067-B87E-601C-BA82-C09A303854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411" name="Line 38">
                        <a:extLst>
                          <a:ext uri="{FF2B5EF4-FFF2-40B4-BE49-F238E27FC236}">
                            <a16:creationId xmlns:a16="http://schemas.microsoft.com/office/drawing/2014/main" id="{562CECB7-54EF-8BA4-487D-D56DD89F31A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363" name="Line 39">
                    <a:extLst>
                      <a:ext uri="{FF2B5EF4-FFF2-40B4-BE49-F238E27FC236}">
                        <a16:creationId xmlns:a16="http://schemas.microsoft.com/office/drawing/2014/main" id="{224F998D-5A1F-35AF-35F6-06B11292F8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4" name="Text Box 40">
                    <a:extLst>
                      <a:ext uri="{FF2B5EF4-FFF2-40B4-BE49-F238E27FC236}">
                        <a16:creationId xmlns:a16="http://schemas.microsoft.com/office/drawing/2014/main" id="{237AFE95-120E-DAF9-C02C-17BD2E473EA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8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alibri" pitchFamily="-103" charset="0"/>
                      </a:rPr>
                      <a:t>Inm</a:t>
                    </a: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[12|10:5]</a:t>
                    </a:r>
                    <a:endParaRPr lang="ca-ES" sz="10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65" name="Text Box 41">
                    <a:extLst>
                      <a:ext uri="{FF2B5EF4-FFF2-40B4-BE49-F238E27FC236}">
                        <a16:creationId xmlns:a16="http://schemas.microsoft.com/office/drawing/2014/main" id="{6B504AC2-7AFC-CD46-2B8C-7138BB38235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66" name="Line 42">
                    <a:extLst>
                      <a:ext uri="{FF2B5EF4-FFF2-40B4-BE49-F238E27FC236}">
                        <a16:creationId xmlns:a16="http://schemas.microsoft.com/office/drawing/2014/main" id="{716829AB-5FFE-F692-96D4-4FD6D7D63A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7" name="Line 43">
                    <a:extLst>
                      <a:ext uri="{FF2B5EF4-FFF2-40B4-BE49-F238E27FC236}">
                        <a16:creationId xmlns:a16="http://schemas.microsoft.com/office/drawing/2014/main" id="{AD66CD10-4C84-469C-8B88-283EB5E05B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8" name="Line 44">
                    <a:extLst>
                      <a:ext uri="{FF2B5EF4-FFF2-40B4-BE49-F238E27FC236}">
                        <a16:creationId xmlns:a16="http://schemas.microsoft.com/office/drawing/2014/main" id="{6E34E194-A192-F364-D06B-C79522461F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69" name="Text Box 45">
                    <a:extLst>
                      <a:ext uri="{FF2B5EF4-FFF2-40B4-BE49-F238E27FC236}">
                        <a16:creationId xmlns:a16="http://schemas.microsoft.com/office/drawing/2014/main" id="{0D61D1D9-1C12-DA4E-83BF-FCA5A0D0947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0" name="Text Box 46">
                    <a:extLst>
                      <a:ext uri="{FF2B5EF4-FFF2-40B4-BE49-F238E27FC236}">
                        <a16:creationId xmlns:a16="http://schemas.microsoft.com/office/drawing/2014/main" id="{9AD4E658-2C03-6BD6-9E89-FEDC501601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1" name="Text Box 47">
                    <a:extLst>
                      <a:ext uri="{FF2B5EF4-FFF2-40B4-BE49-F238E27FC236}">
                        <a16:creationId xmlns:a16="http://schemas.microsoft.com/office/drawing/2014/main" id="{C4F351F9-F7DE-2204-A40F-A4E0879735F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2" name="Text Box 48">
                    <a:extLst>
                      <a:ext uri="{FF2B5EF4-FFF2-40B4-BE49-F238E27FC236}">
                        <a16:creationId xmlns:a16="http://schemas.microsoft.com/office/drawing/2014/main" id="{36C04FE4-503B-9829-66B6-E014F5D3809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3" name="Text Box 49">
                    <a:extLst>
                      <a:ext uri="{FF2B5EF4-FFF2-40B4-BE49-F238E27FC236}">
                        <a16:creationId xmlns:a16="http://schemas.microsoft.com/office/drawing/2014/main" id="{F32355F6-98AB-231F-35C1-493CDE06190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4" name="Text Box 50">
                    <a:extLst>
                      <a:ext uri="{FF2B5EF4-FFF2-40B4-BE49-F238E27FC236}">
                        <a16:creationId xmlns:a16="http://schemas.microsoft.com/office/drawing/2014/main" id="{35009A3A-A440-2566-30B5-1C8F64A678C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5" name="Text Box 51">
                    <a:extLst>
                      <a:ext uri="{FF2B5EF4-FFF2-40B4-BE49-F238E27FC236}">
                        <a16:creationId xmlns:a16="http://schemas.microsoft.com/office/drawing/2014/main" id="{CD9DDC72-A7AB-9C80-948C-E67A59E40B8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6" name="Text Box 52">
                    <a:extLst>
                      <a:ext uri="{FF2B5EF4-FFF2-40B4-BE49-F238E27FC236}">
                        <a16:creationId xmlns:a16="http://schemas.microsoft.com/office/drawing/2014/main" id="{48A6A413-CB68-AB3B-CFAE-E482B5DEF70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7" name="Text Box 53">
                    <a:extLst>
                      <a:ext uri="{FF2B5EF4-FFF2-40B4-BE49-F238E27FC236}">
                        <a16:creationId xmlns:a16="http://schemas.microsoft.com/office/drawing/2014/main" id="{CDD2E509-DC18-88F1-1AA5-DCDF86B5B00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378" name="Line 153">
                    <a:extLst>
                      <a:ext uri="{FF2B5EF4-FFF2-40B4-BE49-F238E27FC236}">
                        <a16:creationId xmlns:a16="http://schemas.microsoft.com/office/drawing/2014/main" id="{7A58A314-4F9F-06D5-3D9F-B240F893D3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379" name="Text Box 154">
                    <a:extLst>
                      <a:ext uri="{FF2B5EF4-FFF2-40B4-BE49-F238E27FC236}">
                        <a16:creationId xmlns:a16="http://schemas.microsoft.com/office/drawing/2014/main" id="{EF82CA3F-DB2A-1DAF-C64D-13251230DD9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359" name="Text Box 41">
                <a:extLst>
                  <a:ext uri="{FF2B5EF4-FFF2-40B4-BE49-F238E27FC236}">
                    <a16:creationId xmlns:a16="http://schemas.microsoft.com/office/drawing/2014/main" id="{9405E6AB-EA79-3E53-8705-166550CAC7C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00" dirty="0" err="1">
                    <a:solidFill>
                      <a:srgbClr val="FF0000"/>
                    </a:solidFill>
                    <a:latin typeface="Calibri" pitchFamily="-103" charset="0"/>
                  </a:rPr>
                  <a:t>Inm</a:t>
                </a:r>
                <a:r>
                  <a:rPr lang="es-ES" sz="1000" dirty="0">
                    <a:solidFill>
                      <a:srgbClr val="FF0000"/>
                    </a:solidFill>
                    <a:latin typeface="Calibri" pitchFamily="-103" charset="0"/>
                  </a:rPr>
                  <a:t>[4:1|11]</a:t>
                </a:r>
                <a:endParaRPr lang="ca-ES" sz="1000" dirty="0">
                  <a:solidFill>
                    <a:srgbClr val="FF0000"/>
                  </a:solidFill>
                  <a:latin typeface="Calibri" pitchFamily="-103" charset="0"/>
                </a:endParaRPr>
              </a:p>
            </p:txBody>
          </p:sp>
        </p:grpSp>
        <p:sp>
          <p:nvSpPr>
            <p:cNvPr id="357" name="Line 11">
              <a:extLst>
                <a:ext uri="{FF2B5EF4-FFF2-40B4-BE49-F238E27FC236}">
                  <a16:creationId xmlns:a16="http://schemas.microsoft.com/office/drawing/2014/main" id="{052A8A38-12E7-05F8-EEFE-6478B5BC8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5F4C3083-2636-644A-525E-FA0EC4DE0659}"/>
              </a:ext>
            </a:extLst>
          </p:cNvPr>
          <p:cNvGrpSpPr/>
          <p:nvPr/>
        </p:nvGrpSpPr>
        <p:grpSpPr>
          <a:xfrm>
            <a:off x="92907" y="4887708"/>
            <a:ext cx="5768065" cy="1443347"/>
            <a:chOff x="3109309" y="5964034"/>
            <a:chExt cx="3345284" cy="952791"/>
          </a:xfrm>
        </p:grpSpPr>
        <p:grpSp>
          <p:nvGrpSpPr>
            <p:cNvPr id="223" name="Grupo 222">
              <a:extLst>
                <a:ext uri="{FF2B5EF4-FFF2-40B4-BE49-F238E27FC236}">
                  <a16:creationId xmlns:a16="http://schemas.microsoft.com/office/drawing/2014/main" id="{115AB054-B0B3-7C2A-D5F4-993AACFE3105}"/>
                </a:ext>
              </a:extLst>
            </p:cNvPr>
            <p:cNvGrpSpPr/>
            <p:nvPr/>
          </p:nvGrpSpPr>
          <p:grpSpPr>
            <a:xfrm>
              <a:off x="3109309" y="5964034"/>
              <a:ext cx="3345284" cy="952791"/>
              <a:chOff x="3109309" y="5964034"/>
              <a:chExt cx="3345284" cy="952791"/>
            </a:xfrm>
          </p:grpSpPr>
          <p:grpSp>
            <p:nvGrpSpPr>
              <p:cNvPr id="225" name="Group 9">
                <a:extLst>
                  <a:ext uri="{FF2B5EF4-FFF2-40B4-BE49-F238E27FC236}">
                    <a16:creationId xmlns:a16="http://schemas.microsoft.com/office/drawing/2014/main" id="{F4F5DC1B-5558-857A-9BD5-C6E5AF15EF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64034"/>
                <a:ext cx="3345284" cy="952791"/>
                <a:chOff x="143" y="720"/>
                <a:chExt cx="2545" cy="570"/>
              </a:xfrm>
            </p:grpSpPr>
            <p:sp>
              <p:nvSpPr>
                <p:cNvPr id="227" name="Rectangle 10">
                  <a:extLst>
                    <a:ext uri="{FF2B5EF4-FFF2-40B4-BE49-F238E27FC236}">
                      <a16:creationId xmlns:a16="http://schemas.microsoft.com/office/drawing/2014/main" id="{760B5184-D889-7977-FB58-DB0EA8E0F6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720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28" name="Group 155">
                  <a:extLst>
                    <a:ext uri="{FF2B5EF4-FFF2-40B4-BE49-F238E27FC236}">
                      <a16:creationId xmlns:a16="http://schemas.microsoft.com/office/drawing/2014/main" id="{038602D4-B3F2-5674-C6BF-421746A735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grpSp>
                <p:nvGrpSpPr>
                  <p:cNvPr id="229" name="Group 5">
                    <a:extLst>
                      <a:ext uri="{FF2B5EF4-FFF2-40B4-BE49-F238E27FC236}">
                        <a16:creationId xmlns:a16="http://schemas.microsoft.com/office/drawing/2014/main" id="{AA6C55A0-FED4-EF50-C8AE-3E2D6E68B94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247" name="Rectangle 6">
                      <a:extLst>
                        <a:ext uri="{FF2B5EF4-FFF2-40B4-BE49-F238E27FC236}">
                          <a16:creationId xmlns:a16="http://schemas.microsoft.com/office/drawing/2014/main" id="{5715A12B-A200-D4BB-A9AB-DB5E6937496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48" name="Group 7">
                      <a:extLst>
                        <a:ext uri="{FF2B5EF4-FFF2-40B4-BE49-F238E27FC236}">
                          <a16:creationId xmlns:a16="http://schemas.microsoft.com/office/drawing/2014/main" id="{D485B548-7B46-F27E-C7EA-AB70F04365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49" name="Line 9">
                        <a:extLst>
                          <a:ext uri="{FF2B5EF4-FFF2-40B4-BE49-F238E27FC236}">
                            <a16:creationId xmlns:a16="http://schemas.microsoft.com/office/drawing/2014/main" id="{5BD87B64-C7D0-3AB2-E248-3C6BA60C37C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0" name="Line 10">
                        <a:extLst>
                          <a:ext uri="{FF2B5EF4-FFF2-40B4-BE49-F238E27FC236}">
                            <a16:creationId xmlns:a16="http://schemas.microsoft.com/office/drawing/2014/main" id="{A4FE014D-2C8F-2D80-3108-7852053FC1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1" name="Line 11">
                        <a:extLst>
                          <a:ext uri="{FF2B5EF4-FFF2-40B4-BE49-F238E27FC236}">
                            <a16:creationId xmlns:a16="http://schemas.microsoft.com/office/drawing/2014/main" id="{EE5EE93A-F3AF-DAD8-42A0-699D27710F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2" name="Line 12">
                        <a:extLst>
                          <a:ext uri="{FF2B5EF4-FFF2-40B4-BE49-F238E27FC236}">
                            <a16:creationId xmlns:a16="http://schemas.microsoft.com/office/drawing/2014/main" id="{42F995C1-9217-AAFC-DFDD-87F31CFE426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3" name="Line 13">
                        <a:extLst>
                          <a:ext uri="{FF2B5EF4-FFF2-40B4-BE49-F238E27FC236}">
                            <a16:creationId xmlns:a16="http://schemas.microsoft.com/office/drawing/2014/main" id="{012F020F-2A78-2F7E-E9F8-4DCEBF67419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4" name="Line 14">
                        <a:extLst>
                          <a:ext uri="{FF2B5EF4-FFF2-40B4-BE49-F238E27FC236}">
                            <a16:creationId xmlns:a16="http://schemas.microsoft.com/office/drawing/2014/main" id="{9E36D6C5-3BBB-13CD-135B-041C47961E3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5" name="Line 15">
                        <a:extLst>
                          <a:ext uri="{FF2B5EF4-FFF2-40B4-BE49-F238E27FC236}">
                            <a16:creationId xmlns:a16="http://schemas.microsoft.com/office/drawing/2014/main" id="{57FAFE28-C4EC-A5A5-663F-C6E2B23892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6" name="Line 16">
                        <a:extLst>
                          <a:ext uri="{FF2B5EF4-FFF2-40B4-BE49-F238E27FC236}">
                            <a16:creationId xmlns:a16="http://schemas.microsoft.com/office/drawing/2014/main" id="{1C3F2302-9D60-8B81-582C-F610437B43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7" name="Line 17">
                        <a:extLst>
                          <a:ext uri="{FF2B5EF4-FFF2-40B4-BE49-F238E27FC236}">
                            <a16:creationId xmlns:a16="http://schemas.microsoft.com/office/drawing/2014/main" id="{96CAA966-C588-FBBF-1A39-634953AC3E5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8" name="Line 18">
                        <a:extLst>
                          <a:ext uri="{FF2B5EF4-FFF2-40B4-BE49-F238E27FC236}">
                            <a16:creationId xmlns:a16="http://schemas.microsoft.com/office/drawing/2014/main" id="{2D6DD92B-BDFE-30B4-9C96-0ECA2CB4CD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9" name="Line 19">
                        <a:extLst>
                          <a:ext uri="{FF2B5EF4-FFF2-40B4-BE49-F238E27FC236}">
                            <a16:creationId xmlns:a16="http://schemas.microsoft.com/office/drawing/2014/main" id="{431A21A5-D024-508C-D095-64823740B57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0" name="Line 20">
                        <a:extLst>
                          <a:ext uri="{FF2B5EF4-FFF2-40B4-BE49-F238E27FC236}">
                            <a16:creationId xmlns:a16="http://schemas.microsoft.com/office/drawing/2014/main" id="{0FB7E934-72D3-22DC-1D56-8DD770EE61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1" name="Line 21">
                        <a:extLst>
                          <a:ext uri="{FF2B5EF4-FFF2-40B4-BE49-F238E27FC236}">
                            <a16:creationId xmlns:a16="http://schemas.microsoft.com/office/drawing/2014/main" id="{99DBBDD9-A419-3E88-17BD-DE500229CFE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2" name="Line 22">
                        <a:extLst>
                          <a:ext uri="{FF2B5EF4-FFF2-40B4-BE49-F238E27FC236}">
                            <a16:creationId xmlns:a16="http://schemas.microsoft.com/office/drawing/2014/main" id="{6DFBBA1C-FA1F-79B6-F711-04F7B4D3CE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3" name="Line 23">
                        <a:extLst>
                          <a:ext uri="{FF2B5EF4-FFF2-40B4-BE49-F238E27FC236}">
                            <a16:creationId xmlns:a16="http://schemas.microsoft.com/office/drawing/2014/main" id="{A513A435-14D6-2C5F-1F19-D0E3292A920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4" name="Line 24">
                        <a:extLst>
                          <a:ext uri="{FF2B5EF4-FFF2-40B4-BE49-F238E27FC236}">
                            <a16:creationId xmlns:a16="http://schemas.microsoft.com/office/drawing/2014/main" id="{FEE6C0B9-F29A-AA38-831C-9E46EE91605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5" name="Line 25">
                        <a:extLst>
                          <a:ext uri="{FF2B5EF4-FFF2-40B4-BE49-F238E27FC236}">
                            <a16:creationId xmlns:a16="http://schemas.microsoft.com/office/drawing/2014/main" id="{1C361C54-91D3-ED7A-B763-2A12F5979A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6" name="Line 26">
                        <a:extLst>
                          <a:ext uri="{FF2B5EF4-FFF2-40B4-BE49-F238E27FC236}">
                            <a16:creationId xmlns:a16="http://schemas.microsoft.com/office/drawing/2014/main" id="{D477B0B1-C39E-7FA4-9EB0-1DE2619F1C0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7" name="Line 27">
                        <a:extLst>
                          <a:ext uri="{FF2B5EF4-FFF2-40B4-BE49-F238E27FC236}">
                            <a16:creationId xmlns:a16="http://schemas.microsoft.com/office/drawing/2014/main" id="{CF7325E3-287A-3838-6A27-49DDAE09B69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8" name="Line 28">
                        <a:extLst>
                          <a:ext uri="{FF2B5EF4-FFF2-40B4-BE49-F238E27FC236}">
                            <a16:creationId xmlns:a16="http://schemas.microsoft.com/office/drawing/2014/main" id="{088B3B10-B50B-3BF9-1645-D288501D2A8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9" name="Line 29">
                        <a:extLst>
                          <a:ext uri="{FF2B5EF4-FFF2-40B4-BE49-F238E27FC236}">
                            <a16:creationId xmlns:a16="http://schemas.microsoft.com/office/drawing/2014/main" id="{B346039D-D089-CCEA-B973-0DBF58E705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1" name="Line 30">
                        <a:extLst>
                          <a:ext uri="{FF2B5EF4-FFF2-40B4-BE49-F238E27FC236}">
                            <a16:creationId xmlns:a16="http://schemas.microsoft.com/office/drawing/2014/main" id="{BB6EBFFA-7CCB-D379-7E4B-02683E5FE08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2" name="Line 31">
                        <a:extLst>
                          <a:ext uri="{FF2B5EF4-FFF2-40B4-BE49-F238E27FC236}">
                            <a16:creationId xmlns:a16="http://schemas.microsoft.com/office/drawing/2014/main" id="{7EBA8049-AF4E-143E-CD9D-44AA3B3BB2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6" name="Line 32">
                        <a:extLst>
                          <a:ext uri="{FF2B5EF4-FFF2-40B4-BE49-F238E27FC236}">
                            <a16:creationId xmlns:a16="http://schemas.microsoft.com/office/drawing/2014/main" id="{0C4DA3A9-729F-6F59-CCD9-3FFA86DD63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7" name="Line 33">
                        <a:extLst>
                          <a:ext uri="{FF2B5EF4-FFF2-40B4-BE49-F238E27FC236}">
                            <a16:creationId xmlns:a16="http://schemas.microsoft.com/office/drawing/2014/main" id="{DA194018-402D-B9FF-EC1E-7ACC48628C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8" name="Line 34">
                        <a:extLst>
                          <a:ext uri="{FF2B5EF4-FFF2-40B4-BE49-F238E27FC236}">
                            <a16:creationId xmlns:a16="http://schemas.microsoft.com/office/drawing/2014/main" id="{DCC31862-79E1-D2E5-3AC3-D0AC1EE1453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9" name="Line 35">
                        <a:extLst>
                          <a:ext uri="{FF2B5EF4-FFF2-40B4-BE49-F238E27FC236}">
                            <a16:creationId xmlns:a16="http://schemas.microsoft.com/office/drawing/2014/main" id="{2142BF4E-36D6-BC6F-F5F2-FFEC3F40D2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80" name="Line 36">
                        <a:extLst>
                          <a:ext uri="{FF2B5EF4-FFF2-40B4-BE49-F238E27FC236}">
                            <a16:creationId xmlns:a16="http://schemas.microsoft.com/office/drawing/2014/main" id="{765E81B4-6C72-747C-C323-C38C33EC653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86" name="Line 37">
                        <a:extLst>
                          <a:ext uri="{FF2B5EF4-FFF2-40B4-BE49-F238E27FC236}">
                            <a16:creationId xmlns:a16="http://schemas.microsoft.com/office/drawing/2014/main" id="{6798A827-8759-0544-6E5E-37990408F08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6" name="Line 38">
                        <a:extLst>
                          <a:ext uri="{FF2B5EF4-FFF2-40B4-BE49-F238E27FC236}">
                            <a16:creationId xmlns:a16="http://schemas.microsoft.com/office/drawing/2014/main" id="{67DFB7C5-779C-2FA5-A77A-88A6E98B486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30" name="Line 39">
                    <a:extLst>
                      <a:ext uri="{FF2B5EF4-FFF2-40B4-BE49-F238E27FC236}">
                        <a16:creationId xmlns:a16="http://schemas.microsoft.com/office/drawing/2014/main" id="{14C5D5A7-B604-EBD6-5977-2A1B74FBDE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1" name="Text Box 40">
                    <a:extLst>
                      <a:ext uri="{FF2B5EF4-FFF2-40B4-BE49-F238E27FC236}">
                        <a16:creationId xmlns:a16="http://schemas.microsoft.com/office/drawing/2014/main" id="{EEBD01D3-111E-5B1C-DD63-BB4C14DBFEF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8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alibri" pitchFamily="-103" charset="0"/>
                      </a:rPr>
                      <a:t>Inm</a:t>
                    </a: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[12|10:5]</a:t>
                    </a:r>
                    <a:endParaRPr lang="ca-ES" sz="10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2" name="Text Box 41">
                    <a:extLst>
                      <a:ext uri="{FF2B5EF4-FFF2-40B4-BE49-F238E27FC236}">
                        <a16:creationId xmlns:a16="http://schemas.microsoft.com/office/drawing/2014/main" id="{365EA628-52A6-91FD-4BF0-86CEC6ECF44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3" name="Line 42">
                    <a:extLst>
                      <a:ext uri="{FF2B5EF4-FFF2-40B4-BE49-F238E27FC236}">
                        <a16:creationId xmlns:a16="http://schemas.microsoft.com/office/drawing/2014/main" id="{8B1F7C30-FE4B-55BA-FF0F-9D481A4D7C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4" name="Line 43">
                    <a:extLst>
                      <a:ext uri="{FF2B5EF4-FFF2-40B4-BE49-F238E27FC236}">
                        <a16:creationId xmlns:a16="http://schemas.microsoft.com/office/drawing/2014/main" id="{4B1F8447-8BED-924C-D15D-1899463977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5" name="Line 44">
                    <a:extLst>
                      <a:ext uri="{FF2B5EF4-FFF2-40B4-BE49-F238E27FC236}">
                        <a16:creationId xmlns:a16="http://schemas.microsoft.com/office/drawing/2014/main" id="{94B7942E-09C8-EF42-E212-45146A195D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6" name="Text Box 45">
                    <a:extLst>
                      <a:ext uri="{FF2B5EF4-FFF2-40B4-BE49-F238E27FC236}">
                        <a16:creationId xmlns:a16="http://schemas.microsoft.com/office/drawing/2014/main" id="{3A079835-5855-A483-3040-66DB73F20BC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7" name="Text Box 46">
                    <a:extLst>
                      <a:ext uri="{FF2B5EF4-FFF2-40B4-BE49-F238E27FC236}">
                        <a16:creationId xmlns:a16="http://schemas.microsoft.com/office/drawing/2014/main" id="{0448065D-7202-42FE-F03A-D3745ED3BBF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8" name="Text Box 47">
                    <a:extLst>
                      <a:ext uri="{FF2B5EF4-FFF2-40B4-BE49-F238E27FC236}">
                        <a16:creationId xmlns:a16="http://schemas.microsoft.com/office/drawing/2014/main" id="{531D3B9B-2BA2-35E1-19F4-73F68406AB6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9" name="Text Box 48">
                    <a:extLst>
                      <a:ext uri="{FF2B5EF4-FFF2-40B4-BE49-F238E27FC236}">
                        <a16:creationId xmlns:a16="http://schemas.microsoft.com/office/drawing/2014/main" id="{3CC23823-B670-BBFB-1CF1-170E619FF85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0" name="Text Box 49">
                    <a:extLst>
                      <a:ext uri="{FF2B5EF4-FFF2-40B4-BE49-F238E27FC236}">
                        <a16:creationId xmlns:a16="http://schemas.microsoft.com/office/drawing/2014/main" id="{EDDA48DC-A7E8-8F18-55D8-D95EF647E28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1" name="Text Box 50">
                    <a:extLst>
                      <a:ext uri="{FF2B5EF4-FFF2-40B4-BE49-F238E27FC236}">
                        <a16:creationId xmlns:a16="http://schemas.microsoft.com/office/drawing/2014/main" id="{71FE05E2-61E2-6E20-0696-650C25C4443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2" name="Text Box 51">
                    <a:extLst>
                      <a:ext uri="{FF2B5EF4-FFF2-40B4-BE49-F238E27FC236}">
                        <a16:creationId xmlns:a16="http://schemas.microsoft.com/office/drawing/2014/main" id="{D39CD67E-889C-6201-9898-14FC08B35F9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3" name="Text Box 52">
                    <a:extLst>
                      <a:ext uri="{FF2B5EF4-FFF2-40B4-BE49-F238E27FC236}">
                        <a16:creationId xmlns:a16="http://schemas.microsoft.com/office/drawing/2014/main" id="{A1BCD7E0-AD5A-AB7A-AB34-66C5FA01F6A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4" name="Text Box 53">
                    <a:extLst>
                      <a:ext uri="{FF2B5EF4-FFF2-40B4-BE49-F238E27FC236}">
                        <a16:creationId xmlns:a16="http://schemas.microsoft.com/office/drawing/2014/main" id="{8F83EC8F-7521-58BA-B76A-B19FA50921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5" name="Line 153">
                    <a:extLst>
                      <a:ext uri="{FF2B5EF4-FFF2-40B4-BE49-F238E27FC236}">
                        <a16:creationId xmlns:a16="http://schemas.microsoft.com/office/drawing/2014/main" id="{4EAF357D-6AE3-7348-010D-545A259705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6" name="Text Box 154">
                    <a:extLst>
                      <a:ext uri="{FF2B5EF4-FFF2-40B4-BE49-F238E27FC236}">
                        <a16:creationId xmlns:a16="http://schemas.microsoft.com/office/drawing/2014/main" id="{E624E739-3CD7-8B6C-31CE-390F3371408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226" name="Text Box 41">
                <a:extLst>
                  <a:ext uri="{FF2B5EF4-FFF2-40B4-BE49-F238E27FC236}">
                    <a16:creationId xmlns:a16="http://schemas.microsoft.com/office/drawing/2014/main" id="{3EA8C48C-609A-B9E4-8C68-4D12C893599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00" dirty="0" err="1">
                    <a:solidFill>
                      <a:srgbClr val="FF0000"/>
                    </a:solidFill>
                    <a:latin typeface="Calibri" pitchFamily="-103" charset="0"/>
                  </a:rPr>
                  <a:t>Inm</a:t>
                </a:r>
                <a:r>
                  <a:rPr lang="es-ES" sz="1000" dirty="0">
                    <a:solidFill>
                      <a:srgbClr val="FF0000"/>
                    </a:solidFill>
                    <a:latin typeface="Calibri" pitchFamily="-103" charset="0"/>
                  </a:rPr>
                  <a:t>[4:1|11]</a:t>
                </a:r>
                <a:endParaRPr lang="ca-ES" sz="1000" dirty="0">
                  <a:solidFill>
                    <a:srgbClr val="FF0000"/>
                  </a:solidFill>
                  <a:latin typeface="Calibri" pitchFamily="-103" charset="0"/>
                </a:endParaRPr>
              </a:p>
            </p:txBody>
          </p:sp>
        </p:grpSp>
        <p:sp>
          <p:nvSpPr>
            <p:cNvPr id="224" name="Line 11">
              <a:extLst>
                <a:ext uri="{FF2B5EF4-FFF2-40B4-BE49-F238E27FC236}">
                  <a16:creationId xmlns:a16="http://schemas.microsoft.com/office/drawing/2014/main" id="{E86730BC-494A-1470-6713-F304F7E6B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07AC76C-EEFC-5202-FBE1-86F76CA02A16}"/>
              </a:ext>
            </a:extLst>
          </p:cNvPr>
          <p:cNvGrpSpPr/>
          <p:nvPr/>
        </p:nvGrpSpPr>
        <p:grpSpPr>
          <a:xfrm>
            <a:off x="96401" y="2437485"/>
            <a:ext cx="5764068" cy="1491459"/>
            <a:chOff x="975305" y="4921593"/>
            <a:chExt cx="3345284" cy="95279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A7FBFDD3-64DD-EC55-7EEA-E2079DED4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305" y="4921593"/>
              <a:ext cx="3345284" cy="952791"/>
              <a:chOff x="143" y="720"/>
              <a:chExt cx="2545" cy="570"/>
            </a:xfrm>
          </p:grpSpPr>
          <p:sp>
            <p:nvSpPr>
              <p:cNvPr id="62" name="Rectangle 10">
                <a:extLst>
                  <a:ext uri="{FF2B5EF4-FFF2-40B4-BE49-F238E27FC236}">
                    <a16:creationId xmlns:a16="http://schemas.microsoft.com/office/drawing/2014/main" id="{67D5B327-4B98-9B4E-FC70-F45C249CB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720"/>
                <a:ext cx="2545" cy="451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endParaRPr lang="en-US" sz="150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29" name="Group 155">
                <a:extLst>
                  <a:ext uri="{FF2B5EF4-FFF2-40B4-BE49-F238E27FC236}">
                    <a16:creationId xmlns:a16="http://schemas.microsoft.com/office/drawing/2014/main" id="{78C12BA2-E500-C866-33C0-2F50AB0810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" y="768"/>
                <a:ext cx="2519" cy="522"/>
                <a:chOff x="1168" y="1293"/>
                <a:chExt cx="3246" cy="855"/>
              </a:xfrm>
            </p:grpSpPr>
            <p:grpSp>
              <p:nvGrpSpPr>
                <p:cNvPr id="130" name="Group 5">
                  <a:extLst>
                    <a:ext uri="{FF2B5EF4-FFF2-40B4-BE49-F238E27FC236}">
                      <a16:creationId xmlns:a16="http://schemas.microsoft.com/office/drawing/2014/main" id="{1F11CA44-FF90-FEA3-990D-F1EB19CCAE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70" y="1306"/>
                  <a:ext cx="3050" cy="336"/>
                  <a:chOff x="982" y="1296"/>
                  <a:chExt cx="3050" cy="336"/>
                </a:xfrm>
              </p:grpSpPr>
              <p:sp>
                <p:nvSpPr>
                  <p:cNvPr id="148" name="Rectangle 6">
                    <a:extLst>
                      <a:ext uri="{FF2B5EF4-FFF2-40B4-BE49-F238E27FC236}">
                        <a16:creationId xmlns:a16="http://schemas.microsoft.com/office/drawing/2014/main" id="{C82F92FD-9648-78DD-BCDB-6D41B7699C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2" y="1296"/>
                    <a:ext cx="3050" cy="33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 b="1">
                      <a:solidFill>
                        <a:srgbClr val="4F271C"/>
                      </a:solidFill>
                    </a:endParaRPr>
                  </a:p>
                </p:txBody>
              </p:sp>
              <p:grpSp>
                <p:nvGrpSpPr>
                  <p:cNvPr id="149" name="Group 7">
                    <a:extLst>
                      <a:ext uri="{FF2B5EF4-FFF2-40B4-BE49-F238E27FC236}">
                        <a16:creationId xmlns:a16="http://schemas.microsoft.com/office/drawing/2014/main" id="{49B14F4F-4765-519D-2C1A-F3A2C350E1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52" y="1536"/>
                    <a:ext cx="2784" cy="96"/>
                    <a:chOff x="1152" y="1536"/>
                    <a:chExt cx="2784" cy="96"/>
                  </a:xfrm>
                </p:grpSpPr>
                <p:sp>
                  <p:nvSpPr>
                    <p:cNvPr id="150" name="Line 9">
                      <a:extLst>
                        <a:ext uri="{FF2B5EF4-FFF2-40B4-BE49-F238E27FC236}">
                          <a16:creationId xmlns:a16="http://schemas.microsoft.com/office/drawing/2014/main" id="{DB22B34C-978B-159E-5771-89B29363E2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1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1" name="Line 10">
                      <a:extLst>
                        <a:ext uri="{FF2B5EF4-FFF2-40B4-BE49-F238E27FC236}">
                          <a16:creationId xmlns:a16="http://schemas.microsoft.com/office/drawing/2014/main" id="{0A301A1F-210F-C2BB-1A44-02AA327AEE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2" name="Line 11">
                      <a:extLst>
                        <a:ext uri="{FF2B5EF4-FFF2-40B4-BE49-F238E27FC236}">
                          <a16:creationId xmlns:a16="http://schemas.microsoft.com/office/drawing/2014/main" id="{D46C31EC-2B92-5296-8FB2-27828C7EB8F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3" name="Line 12">
                      <a:extLst>
                        <a:ext uri="{FF2B5EF4-FFF2-40B4-BE49-F238E27FC236}">
                          <a16:creationId xmlns:a16="http://schemas.microsoft.com/office/drawing/2014/main" id="{D6317CD9-71E6-3B7E-A984-916773BC97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4" name="Line 13">
                      <a:extLst>
                        <a:ext uri="{FF2B5EF4-FFF2-40B4-BE49-F238E27FC236}">
                          <a16:creationId xmlns:a16="http://schemas.microsoft.com/office/drawing/2014/main" id="{B4A8839F-84BE-3AB8-719A-1E5E9B9B98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5" name="Line 14">
                      <a:extLst>
                        <a:ext uri="{FF2B5EF4-FFF2-40B4-BE49-F238E27FC236}">
                          <a16:creationId xmlns:a16="http://schemas.microsoft.com/office/drawing/2014/main" id="{9AD09AC7-C2C4-B671-AD38-F02B32E954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3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57" name="Line 15">
                      <a:extLst>
                        <a:ext uri="{FF2B5EF4-FFF2-40B4-BE49-F238E27FC236}">
                          <a16:creationId xmlns:a16="http://schemas.microsoft.com/office/drawing/2014/main" id="{6BC2724A-87EE-FE2A-B301-2F884F8CF0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2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0" name="Line 16">
                      <a:extLst>
                        <a:ext uri="{FF2B5EF4-FFF2-40B4-BE49-F238E27FC236}">
                          <a16:creationId xmlns:a16="http://schemas.microsoft.com/office/drawing/2014/main" id="{81072A93-6E74-91CA-83B2-C9EA617B9B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1" name="Line 17">
                      <a:extLst>
                        <a:ext uri="{FF2B5EF4-FFF2-40B4-BE49-F238E27FC236}">
                          <a16:creationId xmlns:a16="http://schemas.microsoft.com/office/drawing/2014/main" id="{35DD8F60-4A20-662A-5F68-302E0547968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5" name="Line 18">
                      <a:extLst>
                        <a:ext uri="{FF2B5EF4-FFF2-40B4-BE49-F238E27FC236}">
                          <a16:creationId xmlns:a16="http://schemas.microsoft.com/office/drawing/2014/main" id="{80321A5C-7E6F-B15C-E754-DFC459BCCF6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1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1" name="Line 19">
                      <a:extLst>
                        <a:ext uri="{FF2B5EF4-FFF2-40B4-BE49-F238E27FC236}">
                          <a16:creationId xmlns:a16="http://schemas.microsoft.com/office/drawing/2014/main" id="{C1E53588-41F7-60C7-0E67-9EBADE02820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1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5" name="Line 20">
                      <a:extLst>
                        <a:ext uri="{FF2B5EF4-FFF2-40B4-BE49-F238E27FC236}">
                          <a16:creationId xmlns:a16="http://schemas.microsoft.com/office/drawing/2014/main" id="{83A98DA5-09FA-557A-EFA7-80B0A28C99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0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14" name="Line 21">
                      <a:extLst>
                        <a:ext uri="{FF2B5EF4-FFF2-40B4-BE49-F238E27FC236}">
                          <a16:creationId xmlns:a16="http://schemas.microsoft.com/office/drawing/2014/main" id="{EE94255F-ED21-C0F1-66F6-7D990CA3A68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0" name="Line 22">
                      <a:extLst>
                        <a:ext uri="{FF2B5EF4-FFF2-40B4-BE49-F238E27FC236}">
                          <a16:creationId xmlns:a16="http://schemas.microsoft.com/office/drawing/2014/main" id="{F13B2487-1D99-1AC0-BAA3-3676898332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0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3" name="Line 23">
                      <a:extLst>
                        <a:ext uri="{FF2B5EF4-FFF2-40B4-BE49-F238E27FC236}">
                          <a16:creationId xmlns:a16="http://schemas.microsoft.com/office/drawing/2014/main" id="{AC776C1C-A3DB-E502-46B9-312ACC5308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9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4" name="Line 24">
                      <a:extLst>
                        <a:ext uri="{FF2B5EF4-FFF2-40B4-BE49-F238E27FC236}">
                          <a16:creationId xmlns:a16="http://schemas.microsoft.com/office/drawing/2014/main" id="{BE951510-2693-20AB-F3F5-C0F3D3853A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9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75" name="Line 25">
                      <a:extLst>
                        <a:ext uri="{FF2B5EF4-FFF2-40B4-BE49-F238E27FC236}">
                          <a16:creationId xmlns:a16="http://schemas.microsoft.com/office/drawing/2014/main" id="{D97CF54C-C5FB-E2E1-A71F-0C3949C462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1" name="Line 26">
                      <a:extLst>
                        <a:ext uri="{FF2B5EF4-FFF2-40B4-BE49-F238E27FC236}">
                          <a16:creationId xmlns:a16="http://schemas.microsoft.com/office/drawing/2014/main" id="{4B3651BA-EE86-1B77-1E96-76E56AB802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8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2" name="Line 27">
                      <a:extLst>
                        <a:ext uri="{FF2B5EF4-FFF2-40B4-BE49-F238E27FC236}">
                          <a16:creationId xmlns:a16="http://schemas.microsoft.com/office/drawing/2014/main" id="{E33AE16B-19BB-63C0-13D7-B13A4B257A1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3" name="Line 28">
                      <a:extLst>
                        <a:ext uri="{FF2B5EF4-FFF2-40B4-BE49-F238E27FC236}">
                          <a16:creationId xmlns:a16="http://schemas.microsoft.com/office/drawing/2014/main" id="{FE24FC10-BB1C-DB2B-D849-0DA4716077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4" name="Line 29">
                      <a:extLst>
                        <a:ext uri="{FF2B5EF4-FFF2-40B4-BE49-F238E27FC236}">
                          <a16:creationId xmlns:a16="http://schemas.microsoft.com/office/drawing/2014/main" id="{B06727A9-ADB7-163A-DABE-55841255D99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5" name="Line 30">
                      <a:extLst>
                        <a:ext uri="{FF2B5EF4-FFF2-40B4-BE49-F238E27FC236}">
                          <a16:creationId xmlns:a16="http://schemas.microsoft.com/office/drawing/2014/main" id="{22D01C2C-4DF3-71F0-8BCE-D50CE381B3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6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7" name="Line 31">
                      <a:extLst>
                        <a:ext uri="{FF2B5EF4-FFF2-40B4-BE49-F238E27FC236}">
                          <a16:creationId xmlns:a16="http://schemas.microsoft.com/office/drawing/2014/main" id="{90F12563-A57E-77F6-D316-CDD73FC27F2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8" name="Line 32">
                      <a:extLst>
                        <a:ext uri="{FF2B5EF4-FFF2-40B4-BE49-F238E27FC236}">
                          <a16:creationId xmlns:a16="http://schemas.microsoft.com/office/drawing/2014/main" id="{AD549D61-2C55-CCCF-D5DA-017FF0CB5D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89" name="Line 33">
                      <a:extLst>
                        <a:ext uri="{FF2B5EF4-FFF2-40B4-BE49-F238E27FC236}">
                          <a16:creationId xmlns:a16="http://schemas.microsoft.com/office/drawing/2014/main" id="{F363577B-7F71-0E76-94C0-3DDEF61BED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5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0" name="Line 34">
                      <a:extLst>
                        <a:ext uri="{FF2B5EF4-FFF2-40B4-BE49-F238E27FC236}">
                          <a16:creationId xmlns:a16="http://schemas.microsoft.com/office/drawing/2014/main" id="{F4D5C0AA-DAE5-DB26-2FE6-A5A79FA84B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52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1" name="Line 35">
                      <a:extLst>
                        <a:ext uri="{FF2B5EF4-FFF2-40B4-BE49-F238E27FC236}">
                          <a16:creationId xmlns:a16="http://schemas.microsoft.com/office/drawing/2014/main" id="{59AAE16F-22B4-A7F6-7F5D-AAA318E6E60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48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2" name="Line 36">
                      <a:extLst>
                        <a:ext uri="{FF2B5EF4-FFF2-40B4-BE49-F238E27FC236}">
                          <a16:creationId xmlns:a16="http://schemas.microsoft.com/office/drawing/2014/main" id="{A45A0519-1598-1D67-BBC7-2A4B74F435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44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3" name="Line 37">
                      <a:extLst>
                        <a:ext uri="{FF2B5EF4-FFF2-40B4-BE49-F238E27FC236}">
                          <a16:creationId xmlns:a16="http://schemas.microsoft.com/office/drawing/2014/main" id="{B489DA28-490E-7BA2-1920-AA255091B6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0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294" name="Line 38">
                      <a:extLst>
                        <a:ext uri="{FF2B5EF4-FFF2-40B4-BE49-F238E27FC236}">
                          <a16:creationId xmlns:a16="http://schemas.microsoft.com/office/drawing/2014/main" id="{B2F04B4D-011E-9F13-BEF2-E19A4289FC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936" y="1536"/>
                      <a:ext cx="0" cy="9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31" name="Line 39">
                  <a:extLst>
                    <a:ext uri="{FF2B5EF4-FFF2-40B4-BE49-F238E27FC236}">
                      <a16:creationId xmlns:a16="http://schemas.microsoft.com/office/drawing/2014/main" id="{BE1BBDF8-83C1-4FA2-4B34-DE4B1DD01C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920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2" name="Text Box 40">
                  <a:extLst>
                    <a:ext uri="{FF2B5EF4-FFF2-40B4-BE49-F238E27FC236}">
                      <a16:creationId xmlns:a16="http://schemas.microsoft.com/office/drawing/2014/main" id="{1AE6EB41-D94E-E251-5BA7-10D9CDED53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20" y="1320"/>
                  <a:ext cx="563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func7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3" name="Text Box 41">
                  <a:extLst>
                    <a:ext uri="{FF2B5EF4-FFF2-40B4-BE49-F238E27FC236}">
                      <a16:creationId xmlns:a16="http://schemas.microsoft.com/office/drawing/2014/main" id="{1DF32B4C-7076-83C6-44AB-EC1275BBCE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1" y="1343"/>
                  <a:ext cx="543" cy="24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000" dirty="0">
                      <a:solidFill>
                        <a:srgbClr val="FF0000"/>
                      </a:solidFill>
                      <a:latin typeface="Calibri" pitchFamily="-103" charset="0"/>
                    </a:rPr>
                    <a:t>func3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4" name="Line 42">
                  <a:extLst>
                    <a:ext uri="{FF2B5EF4-FFF2-40B4-BE49-F238E27FC236}">
                      <a16:creationId xmlns:a16="http://schemas.microsoft.com/office/drawing/2014/main" id="{A205A310-8C7F-BDCE-205A-514E4E0DF7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4" y="1302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5" name="Line 43">
                  <a:extLst>
                    <a:ext uri="{FF2B5EF4-FFF2-40B4-BE49-F238E27FC236}">
                      <a16:creationId xmlns:a16="http://schemas.microsoft.com/office/drawing/2014/main" id="{0642B822-5EA5-975A-575A-B2AC36A8D1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316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6" name="Line 44">
                  <a:extLst>
                    <a:ext uri="{FF2B5EF4-FFF2-40B4-BE49-F238E27FC236}">
                      <a16:creationId xmlns:a16="http://schemas.microsoft.com/office/drawing/2014/main" id="{041A1610-9872-852A-5207-60EFAE79C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51" y="1304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37" name="Text Box 45">
                  <a:extLst>
                    <a:ext uri="{FF2B5EF4-FFF2-40B4-BE49-F238E27FC236}">
                      <a16:creationId xmlns:a16="http://schemas.microsoft.com/office/drawing/2014/main" id="{5AFD100E-C01A-1AA2-ABFA-E8B9E16B7E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42" y="1324"/>
                  <a:ext cx="451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rs2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8" name="Text Box 46">
                  <a:extLst>
                    <a:ext uri="{FF2B5EF4-FFF2-40B4-BE49-F238E27FC236}">
                      <a16:creationId xmlns:a16="http://schemas.microsoft.com/office/drawing/2014/main" id="{4A87B635-3381-2DA7-4AD6-A8C57E6560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4" y="1314"/>
                  <a:ext cx="39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rs1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39" name="Text Box 47">
                  <a:extLst>
                    <a:ext uri="{FF2B5EF4-FFF2-40B4-BE49-F238E27FC236}">
                      <a16:creationId xmlns:a16="http://schemas.microsoft.com/office/drawing/2014/main" id="{BC53FDA2-7D22-EF94-73FD-A5662ACA0F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8" y="1307"/>
                  <a:ext cx="662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1200" dirty="0">
                      <a:solidFill>
                        <a:srgbClr val="FF0000"/>
                      </a:solidFill>
                      <a:latin typeface="Calibri" pitchFamily="-103" charset="0"/>
                    </a:rPr>
                    <a:t>COP</a:t>
                  </a:r>
                  <a:endParaRPr lang="ca-ES" sz="1200" dirty="0">
                    <a:solidFill>
                      <a:srgbClr val="FF0000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0" name="Text Box 48">
                  <a:extLst>
                    <a:ext uri="{FF2B5EF4-FFF2-40B4-BE49-F238E27FC236}">
                      <a16:creationId xmlns:a16="http://schemas.microsoft.com/office/drawing/2014/main" id="{0BDF394D-7E93-5440-4250-E7991DD54A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68" y="1607"/>
                  <a:ext cx="292" cy="541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31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1" name="Text Box 49">
                  <a:extLst>
                    <a:ext uri="{FF2B5EF4-FFF2-40B4-BE49-F238E27FC236}">
                      <a16:creationId xmlns:a16="http://schemas.microsoft.com/office/drawing/2014/main" id="{4F49BE1D-32D3-C82A-5EE1-3605364A8B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53" y="1608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2 2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2" name="Text Box 50">
                  <a:extLst>
                    <a:ext uri="{FF2B5EF4-FFF2-40B4-BE49-F238E27FC236}">
                      <a16:creationId xmlns:a16="http://schemas.microsoft.com/office/drawing/2014/main" id="{FBA2A509-31A2-BF31-F40E-58A8E29C97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6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0 9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3" name="Text Box 51">
                  <a:extLst>
                    <a:ext uri="{FF2B5EF4-FFF2-40B4-BE49-F238E27FC236}">
                      <a16:creationId xmlns:a16="http://schemas.microsoft.com/office/drawing/2014/main" id="{6147AAE9-5DC4-BEC9-75A5-47815B4FC9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8" y="1610"/>
                  <a:ext cx="335" cy="41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5 4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4" name="Text Box 52">
                  <a:extLst>
                    <a:ext uri="{FF2B5EF4-FFF2-40B4-BE49-F238E27FC236}">
                      <a16:creationId xmlns:a16="http://schemas.microsoft.com/office/drawing/2014/main" id="{CA18D782-A656-DB25-648C-07EC73A2B3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79" y="1607"/>
                  <a:ext cx="335" cy="23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7 6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5" name="Text Box 53">
                  <a:extLst>
                    <a:ext uri="{FF2B5EF4-FFF2-40B4-BE49-F238E27FC236}">
                      <a16:creationId xmlns:a16="http://schemas.microsoft.com/office/drawing/2014/main" id="{3DAC205F-EB33-3740-FEB2-D4CBF1E181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45" y="1612"/>
                  <a:ext cx="269" cy="334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0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  <p:sp>
              <p:nvSpPr>
                <p:cNvPr id="146" name="Line 153">
                  <a:extLst>
                    <a:ext uri="{FF2B5EF4-FFF2-40B4-BE49-F238E27FC236}">
                      <a16:creationId xmlns:a16="http://schemas.microsoft.com/office/drawing/2014/main" id="{D5F96F4B-BC2F-EF49-5D43-8D374823DC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66" y="1293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47" name="Text Box 154">
                  <a:extLst>
                    <a:ext uri="{FF2B5EF4-FFF2-40B4-BE49-F238E27FC236}">
                      <a16:creationId xmlns:a16="http://schemas.microsoft.com/office/drawing/2014/main" id="{A8212255-9E0D-173C-C6F0-4595691F5C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6" y="1603"/>
                  <a:ext cx="403" cy="4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1 1</a:t>
                  </a:r>
                </a:p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r>
                    <a:rPr lang="es-ES" sz="975" b="1" dirty="0">
                      <a:solidFill>
                        <a:prstClr val="black"/>
                      </a:solidFill>
                      <a:latin typeface="Calibri" pitchFamily="-103" charset="0"/>
                    </a:rPr>
                    <a:t>2 1</a:t>
                  </a:r>
                  <a:endParaRPr lang="ca-ES" sz="975" b="1" dirty="0">
                    <a:solidFill>
                      <a:prstClr val="black"/>
                    </a:solidFill>
                    <a:latin typeface="Calibri" pitchFamily="-103" charset="0"/>
                  </a:endParaRPr>
                </a:p>
              </p:txBody>
            </p:sp>
          </p:grpSp>
        </p:grpSp>
        <p:sp>
          <p:nvSpPr>
            <p:cNvPr id="6" name="Text Box 41">
              <a:extLst>
                <a:ext uri="{FF2B5EF4-FFF2-40B4-BE49-F238E27FC236}">
                  <a16:creationId xmlns:a16="http://schemas.microsoft.com/office/drawing/2014/main" id="{B1F36271-FD78-9727-859B-A2F01EDF3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6863" y="5025721"/>
              <a:ext cx="383616" cy="277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s-ES" sz="1200" dirty="0" err="1">
                  <a:solidFill>
                    <a:srgbClr val="FF0000"/>
                  </a:solidFill>
                  <a:latin typeface="Calibri" pitchFamily="-103" charset="0"/>
                </a:rPr>
                <a:t>rd</a:t>
              </a:r>
              <a:endParaRPr lang="ca-ES" sz="1200" dirty="0">
                <a:solidFill>
                  <a:srgbClr val="FF0000"/>
                </a:solidFill>
                <a:latin typeface="Calibri" pitchFamily="-103" charset="0"/>
              </a:endParaRPr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1C959ED0-6338-1C52-9555-A5DCCA3DF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584" y="5261309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95" name="Rectangle 3">
            <a:extLst>
              <a:ext uri="{FF2B5EF4-FFF2-40B4-BE49-F238E27FC236}">
                <a16:creationId xmlns:a16="http://schemas.microsoft.com/office/drawing/2014/main" id="{F989A8C8-665D-D5E1-7497-9364A1834FB7}"/>
              </a:ext>
            </a:extLst>
          </p:cNvPr>
          <p:cNvSpPr txBox="1">
            <a:spLocks noChangeArrowheads="1"/>
          </p:cNvSpPr>
          <p:nvPr/>
        </p:nvSpPr>
        <p:spPr>
          <a:xfrm>
            <a:off x="191942" y="933005"/>
            <a:ext cx="8708199" cy="540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Operación con formato B: </a:t>
            </a:r>
            <a:r>
              <a:rPr lang="es-ES" dirty="0" err="1"/>
              <a:t>beq</a:t>
            </a:r>
            <a:r>
              <a:rPr lang="es-ES" dirty="0"/>
              <a:t> rs1, rs2, </a:t>
            </a:r>
            <a:r>
              <a:rPr lang="es-ES" dirty="0" err="1"/>
              <a:t>etiq</a:t>
            </a:r>
            <a:r>
              <a:rPr lang="es-ES" dirty="0"/>
              <a:t> </a:t>
            </a:r>
          </a:p>
          <a:p>
            <a:r>
              <a:rPr lang="es-ES" sz="2400" dirty="0"/>
              <a:t>2 operandos fuente (rs1, rs2)</a:t>
            </a:r>
          </a:p>
          <a:p>
            <a:r>
              <a:rPr lang="es-ES" sz="2400" dirty="0"/>
              <a:t>Huecos: func7+rd (12 bits) para el inmediato</a:t>
            </a:r>
          </a:p>
        </p:txBody>
      </p:sp>
      <p:graphicFrame>
        <p:nvGraphicFramePr>
          <p:cNvPr id="61" name="Table 1">
            <a:extLst>
              <a:ext uri="{FF2B5EF4-FFF2-40B4-BE49-F238E27FC236}">
                <a16:creationId xmlns:a16="http://schemas.microsoft.com/office/drawing/2014/main" id="{88F3B5E5-B9B9-C6E8-F81D-06357B3B9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27551"/>
              </p:ext>
            </p:extLst>
          </p:nvPr>
        </p:nvGraphicFramePr>
        <p:xfrm>
          <a:off x="6009109" y="4956472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rs1,rs2,etiq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sp>
        <p:nvSpPr>
          <p:cNvPr id="128" name="Flecha abajo 127">
            <a:extLst>
              <a:ext uri="{FF2B5EF4-FFF2-40B4-BE49-F238E27FC236}">
                <a16:creationId xmlns:a16="http://schemas.microsoft.com/office/drawing/2014/main" id="{EA978783-FDCA-6597-EE97-74F73A5693E9}"/>
              </a:ext>
            </a:extLst>
          </p:cNvPr>
          <p:cNvSpPr/>
          <p:nvPr/>
        </p:nvSpPr>
        <p:spPr>
          <a:xfrm>
            <a:off x="3497964" y="3977090"/>
            <a:ext cx="715344" cy="672029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EFB9F274-7FC5-7722-8007-2E41141AB7B0}"/>
              </a:ext>
            </a:extLst>
          </p:cNvPr>
          <p:cNvSpPr/>
          <p:nvPr/>
        </p:nvSpPr>
        <p:spPr>
          <a:xfrm>
            <a:off x="286694" y="2588476"/>
            <a:ext cx="1143730" cy="522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8" name="Rectángulo 157">
            <a:extLst>
              <a:ext uri="{FF2B5EF4-FFF2-40B4-BE49-F238E27FC236}">
                <a16:creationId xmlns:a16="http://schemas.microsoft.com/office/drawing/2014/main" id="{058D771B-14A1-6AA1-7C99-95F71F890EA2}"/>
              </a:ext>
            </a:extLst>
          </p:cNvPr>
          <p:cNvSpPr/>
          <p:nvPr/>
        </p:nvSpPr>
        <p:spPr>
          <a:xfrm>
            <a:off x="3622154" y="2597418"/>
            <a:ext cx="812655" cy="5223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13" name="CuadroTexto 412">
            <a:extLst>
              <a:ext uri="{FF2B5EF4-FFF2-40B4-BE49-F238E27FC236}">
                <a16:creationId xmlns:a16="http://schemas.microsoft.com/office/drawing/2014/main" id="{0241A708-4560-D2B2-732B-96E4CC82B7AA}"/>
              </a:ext>
            </a:extLst>
          </p:cNvPr>
          <p:cNvSpPr txBox="1"/>
          <p:nvPr/>
        </p:nvSpPr>
        <p:spPr>
          <a:xfrm>
            <a:off x="5925500" y="2621417"/>
            <a:ext cx="239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Referencia: Formato R</a:t>
            </a:r>
          </a:p>
        </p:txBody>
      </p:sp>
      <p:sp>
        <p:nvSpPr>
          <p:cNvPr id="414" name="Rectangle 2">
            <a:extLst>
              <a:ext uri="{FF2B5EF4-FFF2-40B4-BE49-F238E27FC236}">
                <a16:creationId xmlns:a16="http://schemas.microsoft.com/office/drawing/2014/main" id="{1435BD62-34E8-03B8-9108-0D061D9FA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188791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0B2F-E93B-156B-6F10-48C53968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o 221">
            <a:extLst>
              <a:ext uri="{FF2B5EF4-FFF2-40B4-BE49-F238E27FC236}">
                <a16:creationId xmlns:a16="http://schemas.microsoft.com/office/drawing/2014/main" id="{85DAFE76-F7BB-0288-CEE1-E920A6998BC0}"/>
              </a:ext>
            </a:extLst>
          </p:cNvPr>
          <p:cNvGrpSpPr/>
          <p:nvPr/>
        </p:nvGrpSpPr>
        <p:grpSpPr>
          <a:xfrm>
            <a:off x="92907" y="5063978"/>
            <a:ext cx="5768065" cy="1443347"/>
            <a:chOff x="3109309" y="5964034"/>
            <a:chExt cx="3345284" cy="952791"/>
          </a:xfrm>
        </p:grpSpPr>
        <p:grpSp>
          <p:nvGrpSpPr>
            <p:cNvPr id="223" name="Grupo 222">
              <a:extLst>
                <a:ext uri="{FF2B5EF4-FFF2-40B4-BE49-F238E27FC236}">
                  <a16:creationId xmlns:a16="http://schemas.microsoft.com/office/drawing/2014/main" id="{58EA5095-B067-75E2-9D0E-261796011F3A}"/>
                </a:ext>
              </a:extLst>
            </p:cNvPr>
            <p:cNvGrpSpPr/>
            <p:nvPr/>
          </p:nvGrpSpPr>
          <p:grpSpPr>
            <a:xfrm>
              <a:off x="3109309" y="5964034"/>
              <a:ext cx="3345284" cy="952791"/>
              <a:chOff x="3109309" y="5964034"/>
              <a:chExt cx="3345284" cy="952791"/>
            </a:xfrm>
          </p:grpSpPr>
          <p:grpSp>
            <p:nvGrpSpPr>
              <p:cNvPr id="225" name="Group 9">
                <a:extLst>
                  <a:ext uri="{FF2B5EF4-FFF2-40B4-BE49-F238E27FC236}">
                    <a16:creationId xmlns:a16="http://schemas.microsoft.com/office/drawing/2014/main" id="{377E956A-6CA4-58E4-EFCD-E0A5408D74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64034"/>
                <a:ext cx="3345284" cy="952791"/>
                <a:chOff x="143" y="720"/>
                <a:chExt cx="2545" cy="570"/>
              </a:xfrm>
            </p:grpSpPr>
            <p:sp>
              <p:nvSpPr>
                <p:cNvPr id="227" name="Rectangle 10">
                  <a:extLst>
                    <a:ext uri="{FF2B5EF4-FFF2-40B4-BE49-F238E27FC236}">
                      <a16:creationId xmlns:a16="http://schemas.microsoft.com/office/drawing/2014/main" id="{BD9398A1-1C84-19F2-C681-9A4728F0A0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720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228" name="Group 155">
                  <a:extLst>
                    <a:ext uri="{FF2B5EF4-FFF2-40B4-BE49-F238E27FC236}">
                      <a16:creationId xmlns:a16="http://schemas.microsoft.com/office/drawing/2014/main" id="{392204FA-4841-4CBF-3E63-8D4BB2A5E2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grpSp>
                <p:nvGrpSpPr>
                  <p:cNvPr id="229" name="Group 5">
                    <a:extLst>
                      <a:ext uri="{FF2B5EF4-FFF2-40B4-BE49-F238E27FC236}">
                        <a16:creationId xmlns:a16="http://schemas.microsoft.com/office/drawing/2014/main" id="{79EC7954-107E-1159-AE45-766DBE22E48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247" name="Rectangle 6">
                      <a:extLst>
                        <a:ext uri="{FF2B5EF4-FFF2-40B4-BE49-F238E27FC236}">
                          <a16:creationId xmlns:a16="http://schemas.microsoft.com/office/drawing/2014/main" id="{CC910D02-7D81-51D5-A932-76A7EADD0D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248" name="Group 7">
                      <a:extLst>
                        <a:ext uri="{FF2B5EF4-FFF2-40B4-BE49-F238E27FC236}">
                          <a16:creationId xmlns:a16="http://schemas.microsoft.com/office/drawing/2014/main" id="{521F67FD-A01D-4976-556C-425F959F9E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249" name="Line 9">
                        <a:extLst>
                          <a:ext uri="{FF2B5EF4-FFF2-40B4-BE49-F238E27FC236}">
                            <a16:creationId xmlns:a16="http://schemas.microsoft.com/office/drawing/2014/main" id="{01B6E268-1F80-95C3-73EE-60C6831D2C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0" name="Line 10">
                        <a:extLst>
                          <a:ext uri="{FF2B5EF4-FFF2-40B4-BE49-F238E27FC236}">
                            <a16:creationId xmlns:a16="http://schemas.microsoft.com/office/drawing/2014/main" id="{FB4E6FAA-A2E5-0CF2-08A1-6201D2E2F0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1" name="Line 11">
                        <a:extLst>
                          <a:ext uri="{FF2B5EF4-FFF2-40B4-BE49-F238E27FC236}">
                            <a16:creationId xmlns:a16="http://schemas.microsoft.com/office/drawing/2014/main" id="{3707D9E1-4360-ADD3-7991-A327588C4D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2" name="Line 12">
                        <a:extLst>
                          <a:ext uri="{FF2B5EF4-FFF2-40B4-BE49-F238E27FC236}">
                            <a16:creationId xmlns:a16="http://schemas.microsoft.com/office/drawing/2014/main" id="{59469168-F363-1C9B-2D95-7B59EDDB0C6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3" name="Line 13">
                        <a:extLst>
                          <a:ext uri="{FF2B5EF4-FFF2-40B4-BE49-F238E27FC236}">
                            <a16:creationId xmlns:a16="http://schemas.microsoft.com/office/drawing/2014/main" id="{317F7CCA-BC88-1F0F-79AE-E6388F26F86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4" name="Line 14">
                        <a:extLst>
                          <a:ext uri="{FF2B5EF4-FFF2-40B4-BE49-F238E27FC236}">
                            <a16:creationId xmlns:a16="http://schemas.microsoft.com/office/drawing/2014/main" id="{0E70345D-DBA5-1927-E3F5-C6BCF749602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5" name="Line 15">
                        <a:extLst>
                          <a:ext uri="{FF2B5EF4-FFF2-40B4-BE49-F238E27FC236}">
                            <a16:creationId xmlns:a16="http://schemas.microsoft.com/office/drawing/2014/main" id="{5BD008DA-4412-94CB-56A2-3B5A932369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6" name="Line 16">
                        <a:extLst>
                          <a:ext uri="{FF2B5EF4-FFF2-40B4-BE49-F238E27FC236}">
                            <a16:creationId xmlns:a16="http://schemas.microsoft.com/office/drawing/2014/main" id="{C3C047B2-1511-747C-D960-97EBDC4959C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7" name="Line 17">
                        <a:extLst>
                          <a:ext uri="{FF2B5EF4-FFF2-40B4-BE49-F238E27FC236}">
                            <a16:creationId xmlns:a16="http://schemas.microsoft.com/office/drawing/2014/main" id="{30C44BBA-CFE3-7FB1-1B6A-7F38ADE9134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8" name="Line 18">
                        <a:extLst>
                          <a:ext uri="{FF2B5EF4-FFF2-40B4-BE49-F238E27FC236}">
                            <a16:creationId xmlns:a16="http://schemas.microsoft.com/office/drawing/2014/main" id="{45A8B33C-B24D-40D2-57D3-B61041651DB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59" name="Line 19">
                        <a:extLst>
                          <a:ext uri="{FF2B5EF4-FFF2-40B4-BE49-F238E27FC236}">
                            <a16:creationId xmlns:a16="http://schemas.microsoft.com/office/drawing/2014/main" id="{6F75F13B-3F2C-B632-1CF2-B453446AA92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0" name="Line 20">
                        <a:extLst>
                          <a:ext uri="{FF2B5EF4-FFF2-40B4-BE49-F238E27FC236}">
                            <a16:creationId xmlns:a16="http://schemas.microsoft.com/office/drawing/2014/main" id="{04A1470B-1C94-73DE-FD47-B8F2F82D61E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1" name="Line 21">
                        <a:extLst>
                          <a:ext uri="{FF2B5EF4-FFF2-40B4-BE49-F238E27FC236}">
                            <a16:creationId xmlns:a16="http://schemas.microsoft.com/office/drawing/2014/main" id="{EBBCF0A1-7873-F19A-2E2D-589F94E93B4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2" name="Line 22">
                        <a:extLst>
                          <a:ext uri="{FF2B5EF4-FFF2-40B4-BE49-F238E27FC236}">
                            <a16:creationId xmlns:a16="http://schemas.microsoft.com/office/drawing/2014/main" id="{A4997BDE-7400-9971-75D0-9574453AA80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3" name="Line 23">
                        <a:extLst>
                          <a:ext uri="{FF2B5EF4-FFF2-40B4-BE49-F238E27FC236}">
                            <a16:creationId xmlns:a16="http://schemas.microsoft.com/office/drawing/2014/main" id="{3227AA71-97AF-A13A-7A94-CB723293A2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4" name="Line 24">
                        <a:extLst>
                          <a:ext uri="{FF2B5EF4-FFF2-40B4-BE49-F238E27FC236}">
                            <a16:creationId xmlns:a16="http://schemas.microsoft.com/office/drawing/2014/main" id="{600F3C60-5072-5C87-9502-270479AC35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5" name="Line 25">
                        <a:extLst>
                          <a:ext uri="{FF2B5EF4-FFF2-40B4-BE49-F238E27FC236}">
                            <a16:creationId xmlns:a16="http://schemas.microsoft.com/office/drawing/2014/main" id="{C2E5E378-3FE1-33A7-77EE-A4545335345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6" name="Line 26">
                        <a:extLst>
                          <a:ext uri="{FF2B5EF4-FFF2-40B4-BE49-F238E27FC236}">
                            <a16:creationId xmlns:a16="http://schemas.microsoft.com/office/drawing/2014/main" id="{E4FF5B3D-E984-F9D1-BF64-34DF72F6891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7" name="Line 27">
                        <a:extLst>
                          <a:ext uri="{FF2B5EF4-FFF2-40B4-BE49-F238E27FC236}">
                            <a16:creationId xmlns:a16="http://schemas.microsoft.com/office/drawing/2014/main" id="{F7867EDF-F77B-FEE6-7FEF-1E508EF80B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8" name="Line 28">
                        <a:extLst>
                          <a:ext uri="{FF2B5EF4-FFF2-40B4-BE49-F238E27FC236}">
                            <a16:creationId xmlns:a16="http://schemas.microsoft.com/office/drawing/2014/main" id="{37A59DD3-95B7-3C6A-A60E-7446C5DCD9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69" name="Line 29">
                        <a:extLst>
                          <a:ext uri="{FF2B5EF4-FFF2-40B4-BE49-F238E27FC236}">
                            <a16:creationId xmlns:a16="http://schemas.microsoft.com/office/drawing/2014/main" id="{E81C5941-2301-34BC-F6F2-DABD7482D2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1" name="Line 30">
                        <a:extLst>
                          <a:ext uri="{FF2B5EF4-FFF2-40B4-BE49-F238E27FC236}">
                            <a16:creationId xmlns:a16="http://schemas.microsoft.com/office/drawing/2014/main" id="{1F04D50A-02B5-875D-F279-A53621A11B7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2" name="Line 31">
                        <a:extLst>
                          <a:ext uri="{FF2B5EF4-FFF2-40B4-BE49-F238E27FC236}">
                            <a16:creationId xmlns:a16="http://schemas.microsoft.com/office/drawing/2014/main" id="{5B98AA45-92C7-7FC6-51EC-FB44C46A1F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6" name="Line 32">
                        <a:extLst>
                          <a:ext uri="{FF2B5EF4-FFF2-40B4-BE49-F238E27FC236}">
                            <a16:creationId xmlns:a16="http://schemas.microsoft.com/office/drawing/2014/main" id="{7583A657-DAEB-4EF8-DDD1-6EC899EC7D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7" name="Line 33">
                        <a:extLst>
                          <a:ext uri="{FF2B5EF4-FFF2-40B4-BE49-F238E27FC236}">
                            <a16:creationId xmlns:a16="http://schemas.microsoft.com/office/drawing/2014/main" id="{0972F4A6-F6D2-C583-2843-588E6B4260C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8" name="Line 34">
                        <a:extLst>
                          <a:ext uri="{FF2B5EF4-FFF2-40B4-BE49-F238E27FC236}">
                            <a16:creationId xmlns:a16="http://schemas.microsoft.com/office/drawing/2014/main" id="{1F3280CB-396C-5C6D-DE92-5912834CDD8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79" name="Line 35">
                        <a:extLst>
                          <a:ext uri="{FF2B5EF4-FFF2-40B4-BE49-F238E27FC236}">
                            <a16:creationId xmlns:a16="http://schemas.microsoft.com/office/drawing/2014/main" id="{55621012-4267-FA4C-FAAF-4710A3C2CB1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80" name="Line 36">
                        <a:extLst>
                          <a:ext uri="{FF2B5EF4-FFF2-40B4-BE49-F238E27FC236}">
                            <a16:creationId xmlns:a16="http://schemas.microsoft.com/office/drawing/2014/main" id="{AAEE9F92-12C3-3C45-D34E-FC7093E560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86" name="Line 37">
                        <a:extLst>
                          <a:ext uri="{FF2B5EF4-FFF2-40B4-BE49-F238E27FC236}">
                            <a16:creationId xmlns:a16="http://schemas.microsoft.com/office/drawing/2014/main" id="{1601D1F8-10F8-8C24-3588-0830430F192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6" name="Line 38">
                        <a:extLst>
                          <a:ext uri="{FF2B5EF4-FFF2-40B4-BE49-F238E27FC236}">
                            <a16:creationId xmlns:a16="http://schemas.microsoft.com/office/drawing/2014/main" id="{CB101B00-3F64-2F67-87E1-9D8E4D2740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30" name="Line 39">
                    <a:extLst>
                      <a:ext uri="{FF2B5EF4-FFF2-40B4-BE49-F238E27FC236}">
                        <a16:creationId xmlns:a16="http://schemas.microsoft.com/office/drawing/2014/main" id="{277C05AF-C1EB-AEDC-D35D-AAEB4C0C54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1" name="Text Box 40">
                    <a:extLst>
                      <a:ext uri="{FF2B5EF4-FFF2-40B4-BE49-F238E27FC236}">
                        <a16:creationId xmlns:a16="http://schemas.microsoft.com/office/drawing/2014/main" id="{15EF8EDB-F86E-BC07-539F-B5BF67BDC3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8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 err="1">
                        <a:solidFill>
                          <a:srgbClr val="FF0000"/>
                        </a:solidFill>
                        <a:latin typeface="Calibri" pitchFamily="-103" charset="0"/>
                      </a:rPr>
                      <a:t>Inm</a:t>
                    </a: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[12|10:5]</a:t>
                    </a:r>
                    <a:endParaRPr lang="ca-ES" sz="10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2" name="Text Box 41">
                    <a:extLst>
                      <a:ext uri="{FF2B5EF4-FFF2-40B4-BE49-F238E27FC236}">
                        <a16:creationId xmlns:a16="http://schemas.microsoft.com/office/drawing/2014/main" id="{1615B540-2941-B306-DF72-FF8291A9A95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3" name="Line 42">
                    <a:extLst>
                      <a:ext uri="{FF2B5EF4-FFF2-40B4-BE49-F238E27FC236}">
                        <a16:creationId xmlns:a16="http://schemas.microsoft.com/office/drawing/2014/main" id="{FBDAF9B4-7431-52A8-7AEF-8BE9F66D7E2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4" name="Line 43">
                    <a:extLst>
                      <a:ext uri="{FF2B5EF4-FFF2-40B4-BE49-F238E27FC236}">
                        <a16:creationId xmlns:a16="http://schemas.microsoft.com/office/drawing/2014/main" id="{AB38DE1A-BE04-97B7-A811-26DF797384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5" name="Line 44">
                    <a:extLst>
                      <a:ext uri="{FF2B5EF4-FFF2-40B4-BE49-F238E27FC236}">
                        <a16:creationId xmlns:a16="http://schemas.microsoft.com/office/drawing/2014/main" id="{7761A2A9-9A4C-F883-DB0D-7B1381DC40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36" name="Text Box 45">
                    <a:extLst>
                      <a:ext uri="{FF2B5EF4-FFF2-40B4-BE49-F238E27FC236}">
                        <a16:creationId xmlns:a16="http://schemas.microsoft.com/office/drawing/2014/main" id="{61380069-EF59-99E7-1937-41E399E1112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7" name="Text Box 46">
                    <a:extLst>
                      <a:ext uri="{FF2B5EF4-FFF2-40B4-BE49-F238E27FC236}">
                        <a16:creationId xmlns:a16="http://schemas.microsoft.com/office/drawing/2014/main" id="{C26C593A-F60F-C793-127C-E2473D81386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8" name="Text Box 47">
                    <a:extLst>
                      <a:ext uri="{FF2B5EF4-FFF2-40B4-BE49-F238E27FC236}">
                        <a16:creationId xmlns:a16="http://schemas.microsoft.com/office/drawing/2014/main" id="{B57624BB-D3AB-D3CB-E211-DB8818B62E3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39" name="Text Box 48">
                    <a:extLst>
                      <a:ext uri="{FF2B5EF4-FFF2-40B4-BE49-F238E27FC236}">
                        <a16:creationId xmlns:a16="http://schemas.microsoft.com/office/drawing/2014/main" id="{3105D908-6C9A-8C3C-C5C7-BDD1DBF6981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0" name="Text Box 49">
                    <a:extLst>
                      <a:ext uri="{FF2B5EF4-FFF2-40B4-BE49-F238E27FC236}">
                        <a16:creationId xmlns:a16="http://schemas.microsoft.com/office/drawing/2014/main" id="{3FFECEE6-3F40-C633-0EFD-6AD00394A5F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1" name="Text Box 50">
                    <a:extLst>
                      <a:ext uri="{FF2B5EF4-FFF2-40B4-BE49-F238E27FC236}">
                        <a16:creationId xmlns:a16="http://schemas.microsoft.com/office/drawing/2014/main" id="{D6C79176-D9DA-CB1C-F490-44A7B607AA1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2" name="Text Box 51">
                    <a:extLst>
                      <a:ext uri="{FF2B5EF4-FFF2-40B4-BE49-F238E27FC236}">
                        <a16:creationId xmlns:a16="http://schemas.microsoft.com/office/drawing/2014/main" id="{AC1631E6-CCCD-54A4-C4C5-48A98B29785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3" name="Text Box 52">
                    <a:extLst>
                      <a:ext uri="{FF2B5EF4-FFF2-40B4-BE49-F238E27FC236}">
                        <a16:creationId xmlns:a16="http://schemas.microsoft.com/office/drawing/2014/main" id="{8794E76E-125B-0B97-6CB6-77CFD9379A6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4" name="Text Box 53">
                    <a:extLst>
                      <a:ext uri="{FF2B5EF4-FFF2-40B4-BE49-F238E27FC236}">
                        <a16:creationId xmlns:a16="http://schemas.microsoft.com/office/drawing/2014/main" id="{7907A23B-B771-6C6F-7B45-DC75B27CE40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245" name="Line 153">
                    <a:extLst>
                      <a:ext uri="{FF2B5EF4-FFF2-40B4-BE49-F238E27FC236}">
                        <a16:creationId xmlns:a16="http://schemas.microsoft.com/office/drawing/2014/main" id="{966EEFAC-1D51-6133-62DE-86FB1DBC79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246" name="Text Box 154">
                    <a:extLst>
                      <a:ext uri="{FF2B5EF4-FFF2-40B4-BE49-F238E27FC236}">
                        <a16:creationId xmlns:a16="http://schemas.microsoft.com/office/drawing/2014/main" id="{1C973A9F-58ED-96CF-BB08-E286584286D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226" name="Text Box 41">
                <a:extLst>
                  <a:ext uri="{FF2B5EF4-FFF2-40B4-BE49-F238E27FC236}">
                    <a16:creationId xmlns:a16="http://schemas.microsoft.com/office/drawing/2014/main" id="{A8D36C03-12D3-52F1-0314-10F375716DC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00" dirty="0" err="1">
                    <a:solidFill>
                      <a:srgbClr val="FF0000"/>
                    </a:solidFill>
                    <a:latin typeface="Calibri" pitchFamily="-103" charset="0"/>
                  </a:rPr>
                  <a:t>Inm</a:t>
                </a:r>
                <a:r>
                  <a:rPr lang="es-ES" sz="1000" dirty="0">
                    <a:solidFill>
                      <a:srgbClr val="FF0000"/>
                    </a:solidFill>
                    <a:latin typeface="Calibri" pitchFamily="-103" charset="0"/>
                  </a:rPr>
                  <a:t>[4:1|11]</a:t>
                </a:r>
                <a:endParaRPr lang="ca-ES" sz="1000" dirty="0">
                  <a:solidFill>
                    <a:srgbClr val="FF0000"/>
                  </a:solidFill>
                  <a:latin typeface="Calibri" pitchFamily="-103" charset="0"/>
                </a:endParaRPr>
              </a:p>
            </p:txBody>
          </p:sp>
        </p:grpSp>
        <p:sp>
          <p:nvSpPr>
            <p:cNvPr id="224" name="Line 11">
              <a:extLst>
                <a:ext uri="{FF2B5EF4-FFF2-40B4-BE49-F238E27FC236}">
                  <a16:creationId xmlns:a16="http://schemas.microsoft.com/office/drawing/2014/main" id="{3EED0512-81FC-9C19-A3DC-92ED99138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sp>
        <p:nvSpPr>
          <p:cNvPr id="295" name="Rectangle 3">
            <a:extLst>
              <a:ext uri="{FF2B5EF4-FFF2-40B4-BE49-F238E27FC236}">
                <a16:creationId xmlns:a16="http://schemas.microsoft.com/office/drawing/2014/main" id="{20DAAC23-3157-F8A9-E0DE-A6919AF76992}"/>
              </a:ext>
            </a:extLst>
          </p:cNvPr>
          <p:cNvSpPr txBox="1">
            <a:spLocks noChangeArrowheads="1"/>
          </p:cNvSpPr>
          <p:nvPr/>
        </p:nvSpPr>
        <p:spPr>
          <a:xfrm>
            <a:off x="191942" y="933005"/>
            <a:ext cx="8708199" cy="540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Operación con formato B: </a:t>
            </a:r>
            <a:r>
              <a:rPr lang="es-ES" dirty="0" err="1"/>
              <a:t>beq</a:t>
            </a:r>
            <a:r>
              <a:rPr lang="es-ES" dirty="0"/>
              <a:t> rs1, rs2, </a:t>
            </a:r>
            <a:r>
              <a:rPr lang="es-ES" dirty="0" err="1"/>
              <a:t>Inm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sz="2400" dirty="0"/>
              <a:t>¿Por qué se organiza el inmediato de esa forma tan extraña?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RISC-V da soporte a </a:t>
            </a:r>
            <a:r>
              <a:rPr lang="es-ES" sz="2000" dirty="0" err="1"/>
              <a:t>CPUs</a:t>
            </a:r>
            <a:r>
              <a:rPr lang="es-ES" sz="2000" dirty="0"/>
              <a:t> de 16 bits -&gt; Los inmediatos se codifican como múltiplos de 2 bytes -&gt; No hay bit 0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El bit de signo se mantiene en la posición 31 para facilitar su extensión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Los formatos I y B mantienen en las mismas posiciones el </a:t>
            </a:r>
            <a:r>
              <a:rPr lang="es-ES" sz="2000" dirty="0">
                <a:solidFill>
                  <a:srgbClr val="FF0000"/>
                </a:solidFill>
              </a:rPr>
              <a:t>resto de bits comunes: 10:5 y 4:1</a:t>
            </a:r>
            <a:r>
              <a:rPr lang="es-ES" sz="2000" dirty="0"/>
              <a:t>, para simplificar la decodificación</a:t>
            </a:r>
          </a:p>
        </p:txBody>
      </p: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47D3735F-5CFD-712B-08DC-E4638C21B9B3}"/>
              </a:ext>
            </a:extLst>
          </p:cNvPr>
          <p:cNvGrpSpPr/>
          <p:nvPr/>
        </p:nvGrpSpPr>
        <p:grpSpPr>
          <a:xfrm>
            <a:off x="96400" y="3752800"/>
            <a:ext cx="5759545" cy="1443347"/>
            <a:chOff x="3109309" y="5964034"/>
            <a:chExt cx="3345284" cy="952791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CF75D464-14B7-C4DB-A6E5-3E75346D6BED}"/>
                </a:ext>
              </a:extLst>
            </p:cNvPr>
            <p:cNvGrpSpPr/>
            <p:nvPr/>
          </p:nvGrpSpPr>
          <p:grpSpPr>
            <a:xfrm>
              <a:off x="3109309" y="5964034"/>
              <a:ext cx="3345284" cy="952791"/>
              <a:chOff x="3109309" y="5964034"/>
              <a:chExt cx="3345284" cy="952791"/>
            </a:xfrm>
          </p:grpSpPr>
          <p:grpSp>
            <p:nvGrpSpPr>
              <p:cNvPr id="167" name="Group 9">
                <a:extLst>
                  <a:ext uri="{FF2B5EF4-FFF2-40B4-BE49-F238E27FC236}">
                    <a16:creationId xmlns:a16="http://schemas.microsoft.com/office/drawing/2014/main" id="{60F3A425-8723-40EF-99B6-17BD9EF7E4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309" y="5964034"/>
                <a:ext cx="3345284" cy="952791"/>
                <a:chOff x="143" y="720"/>
                <a:chExt cx="2545" cy="570"/>
              </a:xfrm>
            </p:grpSpPr>
            <p:sp>
              <p:nvSpPr>
                <p:cNvPr id="169" name="Rectangle 10">
                  <a:extLst>
                    <a:ext uri="{FF2B5EF4-FFF2-40B4-BE49-F238E27FC236}">
                      <a16:creationId xmlns:a16="http://schemas.microsoft.com/office/drawing/2014/main" id="{EA45CA3D-AFED-3CD7-5147-0E405DA206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4" y="720"/>
                  <a:ext cx="2544" cy="48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</a:pPr>
                  <a:endParaRPr lang="en-US" sz="1500" dirty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70" name="Group 155">
                  <a:extLst>
                    <a:ext uri="{FF2B5EF4-FFF2-40B4-BE49-F238E27FC236}">
                      <a16:creationId xmlns:a16="http://schemas.microsoft.com/office/drawing/2014/main" id="{8DA9F082-2E44-6A3C-A7D0-DAC73557BC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3" y="768"/>
                  <a:ext cx="2519" cy="522"/>
                  <a:chOff x="1168" y="1293"/>
                  <a:chExt cx="3246" cy="855"/>
                </a:xfrm>
              </p:grpSpPr>
              <p:grpSp>
                <p:nvGrpSpPr>
                  <p:cNvPr id="172" name="Group 5">
                    <a:extLst>
                      <a:ext uri="{FF2B5EF4-FFF2-40B4-BE49-F238E27FC236}">
                        <a16:creationId xmlns:a16="http://schemas.microsoft.com/office/drawing/2014/main" id="{2CAA69B9-49DD-643B-E52B-26A65115B2C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0" y="1306"/>
                    <a:ext cx="3050" cy="336"/>
                    <a:chOff x="982" y="1296"/>
                    <a:chExt cx="3050" cy="336"/>
                  </a:xfrm>
                </p:grpSpPr>
                <p:sp>
                  <p:nvSpPr>
                    <p:cNvPr id="191" name="Rectangle 6">
                      <a:extLst>
                        <a:ext uri="{FF2B5EF4-FFF2-40B4-BE49-F238E27FC236}">
                          <a16:creationId xmlns:a16="http://schemas.microsoft.com/office/drawing/2014/main" id="{65D09D49-1414-E0C4-F9E3-7B21D032C81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982" y="1296"/>
                      <a:ext cx="3050" cy="3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pPr algn="ctr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</a:pPr>
                      <a:endParaRPr lang="en-US" sz="1500" b="1">
                        <a:solidFill>
                          <a:srgbClr val="4F271C"/>
                        </a:solidFill>
                      </a:endParaRPr>
                    </a:p>
                  </p:txBody>
                </p:sp>
                <p:grpSp>
                  <p:nvGrpSpPr>
                    <p:cNvPr id="192" name="Group 7">
                      <a:extLst>
                        <a:ext uri="{FF2B5EF4-FFF2-40B4-BE49-F238E27FC236}">
                          <a16:creationId xmlns:a16="http://schemas.microsoft.com/office/drawing/2014/main" id="{9BC92DDD-C083-6C8A-D6F7-B95B9D0665E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52" y="1536"/>
                      <a:ext cx="2784" cy="96"/>
                      <a:chOff x="1152" y="1536"/>
                      <a:chExt cx="2784" cy="96"/>
                    </a:xfrm>
                  </p:grpSpPr>
                  <p:sp>
                    <p:nvSpPr>
                      <p:cNvPr id="193" name="Line 9">
                        <a:extLst>
                          <a:ext uri="{FF2B5EF4-FFF2-40B4-BE49-F238E27FC236}">
                            <a16:creationId xmlns:a16="http://schemas.microsoft.com/office/drawing/2014/main" id="{04A29599-236E-D4FE-C209-C7968ED396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1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4" name="Line 10">
                        <a:extLst>
                          <a:ext uri="{FF2B5EF4-FFF2-40B4-BE49-F238E27FC236}">
                            <a16:creationId xmlns:a16="http://schemas.microsoft.com/office/drawing/2014/main" id="{960541E8-FBC5-7B96-9DCF-64F68A4894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2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5" name="Line 11">
                        <a:extLst>
                          <a:ext uri="{FF2B5EF4-FFF2-40B4-BE49-F238E27FC236}">
                            <a16:creationId xmlns:a16="http://schemas.microsoft.com/office/drawing/2014/main" id="{D5A9276E-9C8D-880D-06B0-6A410884C23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3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6" name="Line 12">
                        <a:extLst>
                          <a:ext uri="{FF2B5EF4-FFF2-40B4-BE49-F238E27FC236}">
                            <a16:creationId xmlns:a16="http://schemas.microsoft.com/office/drawing/2014/main" id="{6FFD9CB9-EA87-E24D-DF98-2721CF1C94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7" name="Line 13">
                        <a:extLst>
                          <a:ext uri="{FF2B5EF4-FFF2-40B4-BE49-F238E27FC236}">
                            <a16:creationId xmlns:a16="http://schemas.microsoft.com/office/drawing/2014/main" id="{7C44669B-9F6A-9067-9D81-7D6002E225F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8" name="Line 14">
                        <a:extLst>
                          <a:ext uri="{FF2B5EF4-FFF2-40B4-BE49-F238E27FC236}">
                            <a16:creationId xmlns:a16="http://schemas.microsoft.com/office/drawing/2014/main" id="{353B04D0-C9F3-6DC4-28DA-CD1BE6098C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3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99" name="Line 15">
                        <a:extLst>
                          <a:ext uri="{FF2B5EF4-FFF2-40B4-BE49-F238E27FC236}">
                            <a16:creationId xmlns:a16="http://schemas.microsoft.com/office/drawing/2014/main" id="{FC2B52DA-FE5E-2238-B378-285425F0C8B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2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0" name="Line 16">
                        <a:extLst>
                          <a:ext uri="{FF2B5EF4-FFF2-40B4-BE49-F238E27FC236}">
                            <a16:creationId xmlns:a16="http://schemas.microsoft.com/office/drawing/2014/main" id="{28BFA533-DBFB-155A-CB8D-FFEA329AFEF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2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1" name="Line 17">
                        <a:extLst>
                          <a:ext uri="{FF2B5EF4-FFF2-40B4-BE49-F238E27FC236}">
                            <a16:creationId xmlns:a16="http://schemas.microsoft.com/office/drawing/2014/main" id="{1CDEAFA7-7DCE-1209-2533-63E439150AA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2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2" name="Line 18">
                        <a:extLst>
                          <a:ext uri="{FF2B5EF4-FFF2-40B4-BE49-F238E27FC236}">
                            <a16:creationId xmlns:a16="http://schemas.microsoft.com/office/drawing/2014/main" id="{3803C380-6AB0-52E1-BD39-4B598FDB35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01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3" name="Line 19">
                        <a:extLst>
                          <a:ext uri="{FF2B5EF4-FFF2-40B4-BE49-F238E27FC236}">
                            <a16:creationId xmlns:a16="http://schemas.microsoft.com/office/drawing/2014/main" id="{27300E6B-3C08-8912-96DE-AADA551D5B4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11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4" name="Line 20">
                        <a:extLst>
                          <a:ext uri="{FF2B5EF4-FFF2-40B4-BE49-F238E27FC236}">
                            <a16:creationId xmlns:a16="http://schemas.microsoft.com/office/drawing/2014/main" id="{646BB174-01EF-2A16-E903-9A112BCD831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5" name="Line 21">
                        <a:extLst>
                          <a:ext uri="{FF2B5EF4-FFF2-40B4-BE49-F238E27FC236}">
                            <a16:creationId xmlns:a16="http://schemas.microsoft.com/office/drawing/2014/main" id="{FCE4094B-7C17-B570-CD33-C8FC5A249F6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30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6" name="Line 22">
                        <a:extLst>
                          <a:ext uri="{FF2B5EF4-FFF2-40B4-BE49-F238E27FC236}">
                            <a16:creationId xmlns:a16="http://schemas.microsoft.com/office/drawing/2014/main" id="{632E81E9-9036-B357-7FB6-F667514CA7C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0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7" name="Line 23">
                        <a:extLst>
                          <a:ext uri="{FF2B5EF4-FFF2-40B4-BE49-F238E27FC236}">
                            <a16:creationId xmlns:a16="http://schemas.microsoft.com/office/drawing/2014/main" id="{8FDECAAB-0826-F427-38C0-60C78A7EDD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8" name="Line 24">
                        <a:extLst>
                          <a:ext uri="{FF2B5EF4-FFF2-40B4-BE49-F238E27FC236}">
                            <a16:creationId xmlns:a16="http://schemas.microsoft.com/office/drawing/2014/main" id="{19F5671F-D3F3-46C3-3FC3-8A6CA2862BD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9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09" name="Line 25">
                        <a:extLst>
                          <a:ext uri="{FF2B5EF4-FFF2-40B4-BE49-F238E27FC236}">
                            <a16:creationId xmlns:a16="http://schemas.microsoft.com/office/drawing/2014/main" id="{BC7DB474-B022-DFAC-57E5-860EA1E29D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0" name="Line 26">
                        <a:extLst>
                          <a:ext uri="{FF2B5EF4-FFF2-40B4-BE49-F238E27FC236}">
                            <a16:creationId xmlns:a16="http://schemas.microsoft.com/office/drawing/2014/main" id="{B832BFCB-0EFB-0041-B7F7-9FB274A88F9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8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1" name="Line 27">
                        <a:extLst>
                          <a:ext uri="{FF2B5EF4-FFF2-40B4-BE49-F238E27FC236}">
                            <a16:creationId xmlns:a16="http://schemas.microsoft.com/office/drawing/2014/main" id="{A6FD518A-B7E2-B30D-72DE-47BF1A52FF5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2" name="Line 28">
                        <a:extLst>
                          <a:ext uri="{FF2B5EF4-FFF2-40B4-BE49-F238E27FC236}">
                            <a16:creationId xmlns:a16="http://schemas.microsoft.com/office/drawing/2014/main" id="{B7341045-E612-3D4F-9A7D-038732CB1DA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7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3" name="Line 29">
                        <a:extLst>
                          <a:ext uri="{FF2B5EF4-FFF2-40B4-BE49-F238E27FC236}">
                            <a16:creationId xmlns:a16="http://schemas.microsoft.com/office/drawing/2014/main" id="{A03C7790-3391-C4F1-525F-617217429AD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7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5" name="Line 30">
                        <a:extLst>
                          <a:ext uri="{FF2B5EF4-FFF2-40B4-BE49-F238E27FC236}">
                            <a16:creationId xmlns:a16="http://schemas.microsoft.com/office/drawing/2014/main" id="{757912B4-4E24-95B3-95CB-87DE3BB790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6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6" name="Line 31">
                        <a:extLst>
                          <a:ext uri="{FF2B5EF4-FFF2-40B4-BE49-F238E27FC236}">
                            <a16:creationId xmlns:a16="http://schemas.microsoft.com/office/drawing/2014/main" id="{A48E8307-7C26-3733-DDC4-D2133EE3333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6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7" name="Line 32">
                        <a:extLst>
                          <a:ext uri="{FF2B5EF4-FFF2-40B4-BE49-F238E27FC236}">
                            <a16:creationId xmlns:a16="http://schemas.microsoft.com/office/drawing/2014/main" id="{C3F71A28-F969-4D1A-C8D2-B52BC3FA36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8" name="Line 33">
                        <a:extLst>
                          <a:ext uri="{FF2B5EF4-FFF2-40B4-BE49-F238E27FC236}">
                            <a16:creationId xmlns:a16="http://schemas.microsoft.com/office/drawing/2014/main" id="{A92BEE4F-3CCC-E519-4961-85FA2E3A682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45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19" name="Line 34">
                        <a:extLst>
                          <a:ext uri="{FF2B5EF4-FFF2-40B4-BE49-F238E27FC236}">
                            <a16:creationId xmlns:a16="http://schemas.microsoft.com/office/drawing/2014/main" id="{D7E3CB70-42DE-E731-53F5-2BE48111A7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52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0" name="Line 35">
                        <a:extLst>
                          <a:ext uri="{FF2B5EF4-FFF2-40B4-BE49-F238E27FC236}">
                            <a16:creationId xmlns:a16="http://schemas.microsoft.com/office/drawing/2014/main" id="{DB710250-7797-B31F-F95D-4985CB9123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48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21" name="Line 36">
                        <a:extLst>
                          <a:ext uri="{FF2B5EF4-FFF2-40B4-BE49-F238E27FC236}">
                            <a16:creationId xmlns:a16="http://schemas.microsoft.com/office/drawing/2014/main" id="{CBCA13DE-60CC-C540-0CE5-EC6EFE30982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44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7" name="Line 37">
                        <a:extLst>
                          <a:ext uri="{FF2B5EF4-FFF2-40B4-BE49-F238E27FC236}">
                            <a16:creationId xmlns:a16="http://schemas.microsoft.com/office/drawing/2014/main" id="{DDACDA51-5E27-CDF9-7FE9-CB11357316B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40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298" name="Line 38">
                        <a:extLst>
                          <a:ext uri="{FF2B5EF4-FFF2-40B4-BE49-F238E27FC236}">
                            <a16:creationId xmlns:a16="http://schemas.microsoft.com/office/drawing/2014/main" id="{B3CE90EE-C439-EF95-1BF4-B0995B2E0AA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936" y="1536"/>
                        <a:ext cx="0" cy="9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>
                        <a:prstTxWarp prst="textNoShape">
                          <a:avLst/>
                        </a:prstTxWarp>
                      </a:bodyPr>
                      <a:lstStyle/>
                      <a:p>
                        <a:pPr algn="ctr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</a:pPr>
                        <a:endParaRPr lang="en-US" sz="150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173" name="Line 39">
                    <a:extLst>
                      <a:ext uri="{FF2B5EF4-FFF2-40B4-BE49-F238E27FC236}">
                        <a16:creationId xmlns:a16="http://schemas.microsoft.com/office/drawing/2014/main" id="{71E5CBBE-A19B-0D9B-7C74-BC915D40B4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1920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4" name="Text Box 40">
                    <a:extLst>
                      <a:ext uri="{FF2B5EF4-FFF2-40B4-BE49-F238E27FC236}">
                        <a16:creationId xmlns:a16="http://schemas.microsoft.com/office/drawing/2014/main" id="{FA1B40C4-8606-A4DF-0078-757B7A578E0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201" y="1329"/>
                    <a:ext cx="837" cy="2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 err="1">
                        <a:solidFill>
                          <a:srgbClr val="FF0000"/>
                        </a:solidFill>
                        <a:latin typeface="Calibri" pitchFamily="-103" charset="0"/>
                      </a:rPr>
                      <a:t>Inm</a:t>
                    </a: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[11:5]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76" name="Text Box 41">
                    <a:extLst>
                      <a:ext uri="{FF2B5EF4-FFF2-40B4-BE49-F238E27FC236}">
                        <a16:creationId xmlns:a16="http://schemas.microsoft.com/office/drawing/2014/main" id="{9682BE97-42FA-AD1F-D907-032D4834F42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51" y="1343"/>
                    <a:ext cx="543" cy="24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0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func3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77" name="Line 42">
                    <a:extLst>
                      <a:ext uri="{FF2B5EF4-FFF2-40B4-BE49-F238E27FC236}">
                        <a16:creationId xmlns:a16="http://schemas.microsoft.com/office/drawing/2014/main" id="{5D57247F-6ADA-50E8-B952-1215238607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404" y="130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8" name="Line 43">
                    <a:extLst>
                      <a:ext uri="{FF2B5EF4-FFF2-40B4-BE49-F238E27FC236}">
                        <a16:creationId xmlns:a16="http://schemas.microsoft.com/office/drawing/2014/main" id="{C973B23D-BEE3-F0F3-86D0-144C18136E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880" y="131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79" name="Line 44">
                    <a:extLst>
                      <a:ext uri="{FF2B5EF4-FFF2-40B4-BE49-F238E27FC236}">
                        <a16:creationId xmlns:a16="http://schemas.microsoft.com/office/drawing/2014/main" id="{B1A3E4ED-841A-38E1-6E62-E39D51C708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651" y="1304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80" name="Text Box 45">
                    <a:extLst>
                      <a:ext uri="{FF2B5EF4-FFF2-40B4-BE49-F238E27FC236}">
                        <a16:creationId xmlns:a16="http://schemas.microsoft.com/office/drawing/2014/main" id="{B21B9FD5-57BC-6104-5995-DD3FCFF04FB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942" y="1324"/>
                    <a:ext cx="451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rs2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1" name="Text Box 46">
                    <a:extLst>
                      <a:ext uri="{FF2B5EF4-FFF2-40B4-BE49-F238E27FC236}">
                        <a16:creationId xmlns:a16="http://schemas.microsoft.com/office/drawing/2014/main" id="{5B97AAE7-228B-88CF-EFDC-F3E82E69E54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444" y="1314"/>
                    <a:ext cx="399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rs1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2" name="Text Box 47">
                    <a:extLst>
                      <a:ext uri="{FF2B5EF4-FFF2-40B4-BE49-F238E27FC236}">
                        <a16:creationId xmlns:a16="http://schemas.microsoft.com/office/drawing/2014/main" id="{618343E9-BCB5-4047-927E-019AA42BD93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658" y="1307"/>
                    <a:ext cx="662" cy="27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1200" dirty="0">
                        <a:solidFill>
                          <a:srgbClr val="FF0000"/>
                        </a:solidFill>
                        <a:latin typeface="Calibri" pitchFamily="-103" charset="0"/>
                      </a:rPr>
                      <a:t>COP</a:t>
                    </a:r>
                    <a:endParaRPr lang="ca-ES" sz="1200" dirty="0">
                      <a:solidFill>
                        <a:srgbClr val="FF0000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3" name="Text Box 48">
                    <a:extLst>
                      <a:ext uri="{FF2B5EF4-FFF2-40B4-BE49-F238E27FC236}">
                        <a16:creationId xmlns:a16="http://schemas.microsoft.com/office/drawing/2014/main" id="{BA54DC79-F235-E525-41BD-D89D92A4229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168" y="1607"/>
                    <a:ext cx="292" cy="54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31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4" name="Text Box 49">
                    <a:extLst>
                      <a:ext uri="{FF2B5EF4-FFF2-40B4-BE49-F238E27FC236}">
                        <a16:creationId xmlns:a16="http://schemas.microsoft.com/office/drawing/2014/main" id="{997F0822-43A9-C7EF-FF51-97B4AD1BAEB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1753" y="1608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2 2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5" name="Text Box 50">
                    <a:extLst>
                      <a:ext uri="{FF2B5EF4-FFF2-40B4-BE49-F238E27FC236}">
                        <a16:creationId xmlns:a16="http://schemas.microsoft.com/office/drawing/2014/main" id="{5D1803BB-0FDD-850C-0081-BC1D986EE56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236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0 9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6" name="Text Box 51">
                    <a:extLst>
                      <a:ext uri="{FF2B5EF4-FFF2-40B4-BE49-F238E27FC236}">
                        <a16:creationId xmlns:a16="http://schemas.microsoft.com/office/drawing/2014/main" id="{071A1892-47E2-CCA0-FFF6-FE15E45AF0B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718" y="1610"/>
                    <a:ext cx="335" cy="41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5 4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7" name="Text Box 52">
                    <a:extLst>
                      <a:ext uri="{FF2B5EF4-FFF2-40B4-BE49-F238E27FC236}">
                        <a16:creationId xmlns:a16="http://schemas.microsoft.com/office/drawing/2014/main" id="{49A00FC6-0EDF-C2C8-7BA9-B3B0D9A2294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3479" y="1607"/>
                    <a:ext cx="335" cy="23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7 6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8" name="Text Box 53">
                    <a:extLst>
                      <a:ext uri="{FF2B5EF4-FFF2-40B4-BE49-F238E27FC236}">
                        <a16:creationId xmlns:a16="http://schemas.microsoft.com/office/drawing/2014/main" id="{D6600B7C-B72E-844B-F32A-E770BEAB89E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145" y="1612"/>
                    <a:ext cx="269" cy="334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0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  <p:sp>
                <p:nvSpPr>
                  <p:cNvPr id="189" name="Line 153">
                    <a:extLst>
                      <a:ext uri="{FF2B5EF4-FFF2-40B4-BE49-F238E27FC236}">
                        <a16:creationId xmlns:a16="http://schemas.microsoft.com/office/drawing/2014/main" id="{B2571B8D-4E5B-64B8-B9B1-EC8F443A9E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3166" y="1293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endParaRPr lang="en-US" sz="150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90" name="Text Box 154">
                    <a:extLst>
                      <a:ext uri="{FF2B5EF4-FFF2-40B4-BE49-F238E27FC236}">
                        <a16:creationId xmlns:a16="http://schemas.microsoft.com/office/drawing/2014/main" id="{4C77349B-DE0F-7C9C-79D8-C27631CEC79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2966" y="1603"/>
                    <a:ext cx="403" cy="415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1 1</a:t>
                    </a:r>
                  </a:p>
                  <a:p>
                    <a:pPr algn="ctr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</a:pPr>
                    <a:r>
                      <a:rPr lang="es-ES" sz="975" b="1" dirty="0">
                        <a:solidFill>
                          <a:prstClr val="black"/>
                        </a:solidFill>
                        <a:latin typeface="Calibri" pitchFamily="-103" charset="0"/>
                      </a:rPr>
                      <a:t>2 1</a:t>
                    </a:r>
                    <a:endParaRPr lang="ca-ES" sz="975" b="1" dirty="0">
                      <a:solidFill>
                        <a:prstClr val="black"/>
                      </a:solidFill>
                      <a:latin typeface="Calibri" pitchFamily="-103" charset="0"/>
                    </a:endParaRPr>
                  </a:p>
                </p:txBody>
              </p:sp>
            </p:grpSp>
          </p:grpSp>
          <p:sp>
            <p:nvSpPr>
              <p:cNvPr id="168" name="Text Box 41">
                <a:extLst>
                  <a:ext uri="{FF2B5EF4-FFF2-40B4-BE49-F238E27FC236}">
                    <a16:creationId xmlns:a16="http://schemas.microsoft.com/office/drawing/2014/main" id="{9795303E-10CB-43B4-A847-C2DA9E6DE8E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040778" y="6089920"/>
                <a:ext cx="737522" cy="2462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ctr" eaLnBrk="0" fontAlgn="base" hangingPunct="0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s-ES" sz="1000" dirty="0" err="1">
                    <a:solidFill>
                      <a:srgbClr val="FF0000"/>
                    </a:solidFill>
                    <a:latin typeface="Calibri" pitchFamily="-103" charset="0"/>
                  </a:rPr>
                  <a:t>Inm</a:t>
                </a:r>
                <a:r>
                  <a:rPr lang="es-ES" sz="1000" dirty="0">
                    <a:solidFill>
                      <a:srgbClr val="FF0000"/>
                    </a:solidFill>
                    <a:latin typeface="Calibri" pitchFamily="-103" charset="0"/>
                  </a:rPr>
                  <a:t>[4:0]</a:t>
                </a:r>
                <a:endParaRPr lang="ca-ES" sz="1000" dirty="0">
                  <a:solidFill>
                    <a:srgbClr val="FF0000"/>
                  </a:solidFill>
                  <a:latin typeface="Calibri" pitchFamily="-103" charset="0"/>
                </a:endParaRPr>
              </a:p>
            </p:txBody>
          </p:sp>
        </p:grpSp>
        <p:sp>
          <p:nvSpPr>
            <p:cNvPr id="166" name="Line 11">
              <a:extLst>
                <a:ext uri="{FF2B5EF4-FFF2-40B4-BE49-F238E27FC236}">
                  <a16:creationId xmlns:a16="http://schemas.microsoft.com/office/drawing/2014/main" id="{8885F1D3-5C22-34A0-D0E0-093E0E2F4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588" y="6303750"/>
              <a:ext cx="0" cy="9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</a:pPr>
              <a:endParaRPr lang="en-US" sz="1500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299" name="Table 1">
            <a:extLst>
              <a:ext uri="{FF2B5EF4-FFF2-40B4-BE49-F238E27FC236}">
                <a16:creationId xmlns:a16="http://schemas.microsoft.com/office/drawing/2014/main" id="{2F54655A-26DB-E6D0-BD28-FAA67A9BD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393180"/>
              </p:ext>
            </p:extLst>
          </p:nvPr>
        </p:nvGraphicFramePr>
        <p:xfrm>
          <a:off x="6009109" y="5209863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beq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rs1,rs2,etiq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graphicFrame>
        <p:nvGraphicFramePr>
          <p:cNvPr id="300" name="Table 1">
            <a:extLst>
              <a:ext uri="{FF2B5EF4-FFF2-40B4-BE49-F238E27FC236}">
                <a16:creationId xmlns:a16="http://schemas.microsoft.com/office/drawing/2014/main" id="{3A0CF7C4-1B09-300F-AA48-D31EFD609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14010"/>
              </p:ext>
            </p:extLst>
          </p:nvPr>
        </p:nvGraphicFramePr>
        <p:xfrm>
          <a:off x="6040322" y="3874983"/>
          <a:ext cx="31660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349">
                  <a:extLst>
                    <a:ext uri="{9D8B030D-6E8A-4147-A177-3AD203B41FA5}">
                      <a16:colId xmlns:a16="http://schemas.microsoft.com/office/drawing/2014/main" val="1690494940"/>
                    </a:ext>
                  </a:extLst>
                </a:gridCol>
                <a:gridCol w="1048663">
                  <a:extLst>
                    <a:ext uri="{9D8B030D-6E8A-4147-A177-3AD203B41FA5}">
                      <a16:colId xmlns:a16="http://schemas.microsoft.com/office/drawing/2014/main" val="2987252535"/>
                    </a:ext>
                  </a:extLst>
                </a:gridCol>
              </a:tblGrid>
              <a:tr h="419807"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Instrucción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latin typeface="Arial Narrow"/>
                          <a:cs typeface="Arial Narrow"/>
                        </a:rPr>
                        <a:t>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609495"/>
                  </a:ext>
                </a:extLst>
              </a:tr>
              <a:tr h="364832">
                <a:tc>
                  <a:txBody>
                    <a:bodyPr/>
                    <a:lstStyle/>
                    <a:p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sw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 rs2, </a:t>
                      </a:r>
                      <a:r>
                        <a:rPr lang="es-ES" sz="2400" noProof="0" dirty="0" err="1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Inm</a:t>
                      </a:r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(rs1)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400" noProof="0" dirty="0">
                          <a:solidFill>
                            <a:schemeClr val="tx1"/>
                          </a:solidFill>
                          <a:latin typeface="Arial Narrow"/>
                          <a:cs typeface="Arial Narrow"/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8062"/>
                  </a:ext>
                </a:extLst>
              </a:tr>
            </a:tbl>
          </a:graphicData>
        </a:graphic>
      </p:graphicFrame>
      <p:sp>
        <p:nvSpPr>
          <p:cNvPr id="301" name="Rectangle 2">
            <a:extLst>
              <a:ext uri="{FF2B5EF4-FFF2-40B4-BE49-F238E27FC236}">
                <a16:creationId xmlns:a16="http://schemas.microsoft.com/office/drawing/2014/main" id="{ED94840F-6630-C8A1-23CB-A42D9750F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>
            <a:normAutofit/>
          </a:bodyPr>
          <a:lstStyle/>
          <a:p>
            <a:r>
              <a:rPr lang="es-ES_tradnl" sz="4000" noProof="1"/>
              <a:t>Formatos</a:t>
            </a:r>
          </a:p>
        </p:txBody>
      </p:sp>
    </p:spTree>
    <p:extLst>
      <p:ext uri="{BB962C8B-B14F-4D97-AF65-F5344CB8AC3E}">
        <p14:creationId xmlns:p14="http://schemas.microsoft.com/office/powerpoint/2010/main" val="205690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D1FF-189A-9068-716D-379CEDBD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E2B59E34-856D-7344-CA46-14ED0D1AB7E5}"/>
              </a:ext>
            </a:extLst>
          </p:cNvPr>
          <p:cNvCxnSpPr>
            <a:cxnSpLocks/>
          </p:cNvCxnSpPr>
          <p:nvPr/>
        </p:nvCxnSpPr>
        <p:spPr bwMode="auto">
          <a:xfrm>
            <a:off x="5444182" y="3903870"/>
            <a:ext cx="0" cy="1863518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DE82610-E225-C935-0CCD-713C5792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>
            <a:normAutofit/>
          </a:bodyPr>
          <a:lstStyle/>
          <a:p>
            <a:r>
              <a:rPr lang="es-ES" dirty="0"/>
              <a:t>Ruta de datos completa</a:t>
            </a:r>
            <a:endParaRPr lang="es-ES" dirty="0">
              <a:solidFill>
                <a:srgbClr val="FF0000"/>
              </a:solidFill>
            </a:endParaRPr>
          </a:p>
        </p:txBody>
      </p:sp>
      <p:grpSp>
        <p:nvGrpSpPr>
          <p:cNvPr id="7" name="6 Grupo">
            <a:extLst>
              <a:ext uri="{FF2B5EF4-FFF2-40B4-BE49-F238E27FC236}">
                <a16:creationId xmlns:a16="http://schemas.microsoft.com/office/drawing/2014/main" id="{AC4453DC-C4D0-F6D5-8F8D-73FC88A393E4}"/>
              </a:ext>
            </a:extLst>
          </p:cNvPr>
          <p:cNvGrpSpPr/>
          <p:nvPr/>
        </p:nvGrpSpPr>
        <p:grpSpPr>
          <a:xfrm>
            <a:off x="1028192" y="1021617"/>
            <a:ext cx="7773194" cy="5564188"/>
            <a:chOff x="1020300" y="934772"/>
            <a:chExt cx="7779544" cy="5581589"/>
          </a:xfrm>
        </p:grpSpPr>
        <p:cxnSp>
          <p:nvCxnSpPr>
            <p:cNvPr id="137" name="Conector recto de flecha 136">
              <a:extLst>
                <a:ext uri="{FF2B5EF4-FFF2-40B4-BE49-F238E27FC236}">
                  <a16:creationId xmlns:a16="http://schemas.microsoft.com/office/drawing/2014/main" id="{83189786-2CA6-EB3E-0157-333B929CC6AC}"/>
                </a:ext>
              </a:extLst>
            </p:cNvPr>
            <p:cNvCxnSpPr/>
            <p:nvPr/>
          </p:nvCxnSpPr>
          <p:spPr bwMode="auto">
            <a:xfrm rot="16200000" flipH="1">
              <a:off x="1727553" y="3491707"/>
              <a:ext cx="304802" cy="2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C6130B9B-6FD9-A989-D18C-D70425B3CB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63450" y="4203435"/>
              <a:ext cx="628142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C41AC572-37B5-D855-D931-3B36DFB15BC9}"/>
                </a:ext>
              </a:extLst>
            </p:cNvPr>
            <p:cNvSpPr/>
            <p:nvPr/>
          </p:nvSpPr>
          <p:spPr bwMode="auto">
            <a:xfrm>
              <a:off x="3997367" y="3273059"/>
              <a:ext cx="990600" cy="1371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Banco de Registros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7277D75-E2AC-C061-0855-BA25D519F43C}"/>
                </a:ext>
              </a:extLst>
            </p:cNvPr>
            <p:cNvSpPr/>
            <p:nvPr/>
          </p:nvSpPr>
          <p:spPr bwMode="auto">
            <a:xfrm>
              <a:off x="1592087" y="4253707"/>
              <a:ext cx="838200" cy="3048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B22A848-F831-69F9-0F65-0188800FB613}"/>
                </a:ext>
              </a:extLst>
            </p:cNvPr>
            <p:cNvCxnSpPr>
              <a:cxnSpLocks/>
              <a:stCxn id="15" idx="2"/>
            </p:cNvCxnSpPr>
            <p:nvPr/>
          </p:nvCxnSpPr>
          <p:spPr bwMode="auto">
            <a:xfrm>
              <a:off x="2011187" y="4558507"/>
              <a:ext cx="0" cy="393373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5471C6B8-DC7F-0EC7-A202-7F1529577731}"/>
                </a:ext>
              </a:extLst>
            </p:cNvPr>
            <p:cNvSpPr>
              <a:spLocks/>
            </p:cNvSpPr>
            <p:nvPr/>
          </p:nvSpPr>
          <p:spPr bwMode="blackWhite">
            <a:xfrm rot="5400000">
              <a:off x="1680980" y="2767808"/>
              <a:ext cx="381000" cy="762000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t" anchorCtr="0">
              <a:prstTxWarp prst="textNoShape">
                <a:avLst/>
              </a:prstTxWarp>
              <a:flatTx/>
            </a:bodyPr>
            <a:lstStyle/>
            <a:p>
              <a:r>
                <a:rPr lang="es-ES" dirty="0"/>
                <a:t>+</a:t>
              </a:r>
            </a:p>
          </p:txBody>
        </p:sp>
        <p:cxnSp>
          <p:nvCxnSpPr>
            <p:cNvPr id="35" name="Conector angular 34">
              <a:extLst>
                <a:ext uri="{FF2B5EF4-FFF2-40B4-BE49-F238E27FC236}">
                  <a16:creationId xmlns:a16="http://schemas.microsoft.com/office/drawing/2014/main" id="{930A7FDB-8D62-E372-1BDD-D4513AFF81CB}"/>
                </a:ext>
              </a:extLst>
            </p:cNvPr>
            <p:cNvCxnSpPr/>
            <p:nvPr/>
          </p:nvCxnSpPr>
          <p:spPr bwMode="auto">
            <a:xfrm rot="16200000" flipV="1">
              <a:off x="504391" y="3177970"/>
              <a:ext cx="2057400" cy="990600"/>
            </a:xfrm>
            <a:prstGeom prst="bentConnector3">
              <a:avLst>
                <a:gd name="adj1" fmla="val -206"/>
              </a:avLst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Conector angular 39">
              <a:extLst>
                <a:ext uri="{FF2B5EF4-FFF2-40B4-BE49-F238E27FC236}">
                  <a16:creationId xmlns:a16="http://schemas.microsoft.com/office/drawing/2014/main" id="{6C42E503-8E05-19BA-BDF4-CE6BAA714C5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0300" y="2653974"/>
              <a:ext cx="621506" cy="302419"/>
            </a:xfrm>
            <a:prstGeom prst="bentConnector3">
              <a:avLst>
                <a:gd name="adj1" fmla="val 99808"/>
              </a:avLst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B23B391B-F79E-60D3-3A53-2ABF19289549}"/>
                </a:ext>
              </a:extLst>
            </p:cNvPr>
            <p:cNvCxnSpPr/>
            <p:nvPr/>
          </p:nvCxnSpPr>
          <p:spPr bwMode="auto">
            <a:xfrm rot="16200000" flipH="1">
              <a:off x="1913814" y="2763574"/>
              <a:ext cx="381000" cy="8467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B817F011-9DB8-680E-04A3-53C358FB76E9}"/>
                </a:ext>
              </a:extLst>
            </p:cNvPr>
            <p:cNvSpPr txBox="1"/>
            <p:nvPr/>
          </p:nvSpPr>
          <p:spPr>
            <a:xfrm>
              <a:off x="1967965" y="2273866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dirty="0">
                  <a:solidFill>
                    <a:schemeClr val="accent1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4A9BF15-76C9-A22F-4FD5-E99560C8A376}"/>
                </a:ext>
              </a:extLst>
            </p:cNvPr>
            <p:cNvSpPr/>
            <p:nvPr/>
          </p:nvSpPr>
          <p:spPr bwMode="auto">
            <a:xfrm rot="16200000">
              <a:off x="2608085" y="5282407"/>
              <a:ext cx="838200" cy="3048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/>
                  </a:solidFill>
                </a:rPr>
                <a:t>RI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17CB8F4-2757-9F40-7F4F-A90D70E344F2}"/>
                </a:ext>
              </a:extLst>
            </p:cNvPr>
            <p:cNvCxnSpPr>
              <a:cxnSpLocks/>
              <a:stCxn id="16" idx="3"/>
              <a:endCxn id="55" idx="0"/>
            </p:cNvCxnSpPr>
            <p:nvPr/>
          </p:nvCxnSpPr>
          <p:spPr bwMode="auto">
            <a:xfrm>
              <a:off x="2463625" y="5434807"/>
              <a:ext cx="411160" cy="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31D1F49A-3558-8500-DF3E-C6C1E39D5661}"/>
                </a:ext>
              </a:extLst>
            </p:cNvPr>
            <p:cNvSpPr/>
            <p:nvPr/>
          </p:nvSpPr>
          <p:spPr bwMode="auto">
            <a:xfrm>
              <a:off x="3751085" y="1010972"/>
              <a:ext cx="1295400" cy="990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Descodificador y Unidad de Control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8F516FA7-E01A-D587-E2CE-03FCF89906FD}"/>
                </a:ext>
              </a:extLst>
            </p:cNvPr>
            <p:cNvCxnSpPr>
              <a:cxnSpLocks/>
              <a:stCxn id="55" idx="2"/>
            </p:cNvCxnSpPr>
            <p:nvPr/>
          </p:nvCxnSpPr>
          <p:spPr bwMode="auto">
            <a:xfrm>
              <a:off x="3179585" y="5434807"/>
              <a:ext cx="190162" cy="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D7718C62-0A10-9A68-E40C-BC4A5135135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369747" y="1451443"/>
              <a:ext cx="0" cy="4000500"/>
            </a:xfrm>
            <a:prstGeom prst="line">
              <a:avLst/>
            </a:prstGeom>
            <a:ln w="38100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33736943-E6CA-97F9-36E8-7E8149C1256A}"/>
                </a:ext>
              </a:extLst>
            </p:cNvPr>
            <p:cNvCxnSpPr/>
            <p:nvPr/>
          </p:nvCxnSpPr>
          <p:spPr bwMode="auto">
            <a:xfrm>
              <a:off x="3370085" y="1468172"/>
              <a:ext cx="381000" cy="1588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2" name="Conector recto 201">
              <a:extLst>
                <a:ext uri="{FF2B5EF4-FFF2-40B4-BE49-F238E27FC236}">
                  <a16:creationId xmlns:a16="http://schemas.microsoft.com/office/drawing/2014/main" id="{0DE475AD-00D2-3ADF-5CDD-2AC080143387}"/>
                </a:ext>
              </a:extLst>
            </p:cNvPr>
            <p:cNvCxnSpPr/>
            <p:nvPr/>
          </p:nvCxnSpPr>
          <p:spPr bwMode="auto">
            <a:xfrm>
              <a:off x="5046485" y="1087172"/>
              <a:ext cx="381000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3" name="Conector recto 202">
              <a:extLst>
                <a:ext uri="{FF2B5EF4-FFF2-40B4-BE49-F238E27FC236}">
                  <a16:creationId xmlns:a16="http://schemas.microsoft.com/office/drawing/2014/main" id="{CDAE3349-9A61-846D-3965-D6DF94818B96}"/>
                </a:ext>
              </a:extLst>
            </p:cNvPr>
            <p:cNvCxnSpPr/>
            <p:nvPr/>
          </p:nvCxnSpPr>
          <p:spPr bwMode="auto">
            <a:xfrm>
              <a:off x="5046485" y="1239572"/>
              <a:ext cx="381000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C6821F47-012D-A91C-4780-017905652EB8}"/>
                </a:ext>
              </a:extLst>
            </p:cNvPr>
            <p:cNvCxnSpPr/>
            <p:nvPr/>
          </p:nvCxnSpPr>
          <p:spPr bwMode="auto">
            <a:xfrm>
              <a:off x="5046485" y="1696772"/>
              <a:ext cx="381000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CuadroTexto 204">
              <a:extLst>
                <a:ext uri="{FF2B5EF4-FFF2-40B4-BE49-F238E27FC236}">
                  <a16:creationId xmlns:a16="http://schemas.microsoft.com/office/drawing/2014/main" id="{7B138CB0-D177-C59A-3BDF-D4E0FECD3D9F}"/>
                </a:ext>
              </a:extLst>
            </p:cNvPr>
            <p:cNvSpPr txBox="1"/>
            <p:nvPr/>
          </p:nvSpPr>
          <p:spPr>
            <a:xfrm>
              <a:off x="5109119" y="1312795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400" b="1" dirty="0">
                  <a:solidFill>
                    <a:srgbClr val="FF6600"/>
                  </a:solidFill>
                </a:rPr>
                <a:t>…</a:t>
              </a:r>
            </a:p>
          </p:txBody>
        </p:sp>
        <p:sp>
          <p:nvSpPr>
            <p:cNvPr id="206" name="Cerrar llave 205">
              <a:extLst>
                <a:ext uri="{FF2B5EF4-FFF2-40B4-BE49-F238E27FC236}">
                  <a16:creationId xmlns:a16="http://schemas.microsoft.com/office/drawing/2014/main" id="{E75C61BD-8A35-47E7-946E-233E6C85081C}"/>
                </a:ext>
              </a:extLst>
            </p:cNvPr>
            <p:cNvSpPr/>
            <p:nvPr/>
          </p:nvSpPr>
          <p:spPr bwMode="auto">
            <a:xfrm>
              <a:off x="5503685" y="934772"/>
              <a:ext cx="381000" cy="914400"/>
            </a:xfrm>
            <a:prstGeom prst="rightBrace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7" name="CuadroTexto 206">
              <a:extLst>
                <a:ext uri="{FF2B5EF4-FFF2-40B4-BE49-F238E27FC236}">
                  <a16:creationId xmlns:a16="http://schemas.microsoft.com/office/drawing/2014/main" id="{838DB37B-FE62-A0C0-BBF5-E03F36FDAC2C}"/>
                </a:ext>
              </a:extLst>
            </p:cNvPr>
            <p:cNvSpPr txBox="1"/>
            <p:nvPr/>
          </p:nvSpPr>
          <p:spPr>
            <a:xfrm>
              <a:off x="5884685" y="1160395"/>
              <a:ext cx="970137" cy="5663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Señales </a:t>
              </a:r>
            </a:p>
            <a:p>
              <a:pPr algn="l"/>
              <a:r>
                <a:rPr lang="es-ES" sz="1400" i="1" dirty="0">
                  <a:solidFill>
                    <a:schemeClr val="accent1">
                      <a:lumMod val="75000"/>
                    </a:schemeClr>
                  </a:solidFill>
                </a:rPr>
                <a:t>de control</a:t>
              </a:r>
            </a:p>
          </p:txBody>
        </p:sp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A317397C-55E6-38D0-0D61-3957C83E9A5A}"/>
                </a:ext>
              </a:extLst>
            </p:cNvPr>
            <p:cNvCxnSpPr/>
            <p:nvPr/>
          </p:nvCxnSpPr>
          <p:spPr bwMode="auto">
            <a:xfrm rot="5400000" flipH="1" flipV="1">
              <a:off x="1885773" y="6079066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AE36DF52-46E8-D4B7-77B2-6CD07B474701}"/>
                </a:ext>
              </a:extLst>
            </p:cNvPr>
            <p:cNvSpPr txBox="1"/>
            <p:nvPr/>
          </p:nvSpPr>
          <p:spPr>
            <a:xfrm>
              <a:off x="1740210" y="6116372"/>
              <a:ext cx="5522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LInst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263" name="CuadroTexto 262">
              <a:extLst>
                <a:ext uri="{FF2B5EF4-FFF2-40B4-BE49-F238E27FC236}">
                  <a16:creationId xmlns:a16="http://schemas.microsoft.com/office/drawing/2014/main" id="{1D8F3621-EE83-727D-2D3C-37B97B69A43D}"/>
                </a:ext>
              </a:extLst>
            </p:cNvPr>
            <p:cNvSpPr txBox="1"/>
            <p:nvPr/>
          </p:nvSpPr>
          <p:spPr>
            <a:xfrm rot="16200000">
              <a:off x="974939" y="4201914"/>
              <a:ext cx="5351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PCin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36DEFC6-6A8D-E17B-2D10-49D30B7AA563}"/>
                </a:ext>
              </a:extLst>
            </p:cNvPr>
            <p:cNvCxnSpPr/>
            <p:nvPr/>
          </p:nvCxnSpPr>
          <p:spPr bwMode="auto">
            <a:xfrm>
              <a:off x="3370085" y="3449372"/>
              <a:ext cx="609600" cy="1588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553D61B2-F226-338F-8B25-2A9C4746A6CA}"/>
                </a:ext>
              </a:extLst>
            </p:cNvPr>
            <p:cNvSpPr txBox="1"/>
            <p:nvPr/>
          </p:nvSpPr>
          <p:spPr>
            <a:xfrm>
              <a:off x="3310160" y="3103463"/>
              <a:ext cx="7825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19..15(rs1)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BA78225-8407-E36C-DCBD-B1B54AA3C376}"/>
                </a:ext>
              </a:extLst>
            </p:cNvPr>
            <p:cNvSpPr txBox="1"/>
            <p:nvPr/>
          </p:nvSpPr>
          <p:spPr>
            <a:xfrm>
              <a:off x="3310160" y="3542004"/>
              <a:ext cx="78258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i="1" dirty="0">
                  <a:solidFill>
                    <a:schemeClr val="accent1">
                      <a:lumMod val="75000"/>
                    </a:schemeClr>
                  </a:solidFill>
                </a:rPr>
                <a:t>24..20(rs2)</a:t>
              </a:r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71303BB-3F99-23ED-C79A-6F5A94342819}"/>
                </a:ext>
              </a:extLst>
            </p:cNvPr>
            <p:cNvCxnSpPr/>
            <p:nvPr/>
          </p:nvCxnSpPr>
          <p:spPr bwMode="auto">
            <a:xfrm rot="16200000" flipH="1">
              <a:off x="4132085" y="3148084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8C7298E-FA1C-F236-CA19-90A3FAD15061}"/>
                </a:ext>
              </a:extLst>
            </p:cNvPr>
            <p:cNvCxnSpPr/>
            <p:nvPr/>
          </p:nvCxnSpPr>
          <p:spPr bwMode="auto">
            <a:xfrm>
              <a:off x="3370085" y="3828784"/>
              <a:ext cx="609600" cy="1588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BF19A9-C3FB-B8AB-D53E-67D7591AE6C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0285" y="3449372"/>
              <a:ext cx="775801" cy="7125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409A140-60C1-32DD-D8B9-D63C619FF91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70285" y="3830372"/>
              <a:ext cx="778783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6EA189-FF99-FFE9-8124-DF8E35AF234E}"/>
                </a:ext>
              </a:extLst>
            </p:cNvPr>
            <p:cNvCxnSpPr>
              <a:cxnSpLocks/>
              <a:stCxn id="57" idx="3"/>
            </p:cNvCxnSpPr>
            <p:nvPr/>
          </p:nvCxnSpPr>
          <p:spPr bwMode="auto">
            <a:xfrm>
              <a:off x="3411725" y="5046032"/>
              <a:ext cx="52747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FC7BACD-3273-B4D7-508A-CFFFC377D608}"/>
                </a:ext>
              </a:extLst>
            </p:cNvPr>
            <p:cNvSpPr txBox="1"/>
            <p:nvPr/>
          </p:nvSpPr>
          <p:spPr>
            <a:xfrm>
              <a:off x="3489081" y="4773347"/>
              <a:ext cx="49084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31..7</a:t>
              </a:r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4C2F09D4-AC2D-028D-6562-0626C0C594D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86954" y="5049572"/>
              <a:ext cx="283594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9576CF2-645B-4248-5151-F5A1C1977D3D}"/>
                </a:ext>
              </a:extLst>
            </p:cNvPr>
            <p:cNvSpPr/>
            <p:nvPr/>
          </p:nvSpPr>
          <p:spPr bwMode="auto">
            <a:xfrm>
              <a:off x="3335525" y="5007932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1AB8ADC-B798-7887-04FD-1B7F48CE25A0}"/>
                </a:ext>
              </a:extLst>
            </p:cNvPr>
            <p:cNvSpPr txBox="1"/>
            <p:nvPr/>
          </p:nvSpPr>
          <p:spPr>
            <a:xfrm>
              <a:off x="3957986" y="2791755"/>
              <a:ext cx="5693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45B71AE5-0F43-7F89-DC63-20CE47521FB0}"/>
                </a:ext>
              </a:extLst>
            </p:cNvPr>
            <p:cNvSpPr/>
            <p:nvPr/>
          </p:nvSpPr>
          <p:spPr bwMode="auto">
            <a:xfrm rot="16200000">
              <a:off x="5542850" y="3928003"/>
              <a:ext cx="643465" cy="228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D3DB021A-9ECD-AE12-F8D6-847A1B6A50B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273064" y="4195468"/>
              <a:ext cx="0" cy="874077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32A4780D-F136-595D-2103-9214B365DFE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51484" y="4207832"/>
              <a:ext cx="497584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C48EA8D-BE4C-9590-BEF6-9CCF7CB8F66E}"/>
                </a:ext>
              </a:extLst>
            </p:cNvPr>
            <p:cNvCxnSpPr>
              <a:cxnSpLocks/>
              <a:stCxn id="61" idx="2"/>
            </p:cNvCxnSpPr>
            <p:nvPr/>
          </p:nvCxnSpPr>
          <p:spPr bwMode="auto">
            <a:xfrm>
              <a:off x="5978882" y="4042302"/>
              <a:ext cx="437480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284D47A-01C3-3ACA-4332-F2B531679D9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68122" y="4364036"/>
              <a:ext cx="0" cy="173771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1CE4C354-B46D-EC78-765F-41B0D906F6E9}"/>
                </a:ext>
              </a:extLst>
            </p:cNvPr>
            <p:cNvCxnSpPr/>
            <p:nvPr/>
          </p:nvCxnSpPr>
          <p:spPr bwMode="auto">
            <a:xfrm rot="5400000" flipH="1" flipV="1">
              <a:off x="6620491" y="4157826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90DB2E9C-AD61-A423-2694-5DAA9FA81C4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16275" y="3679560"/>
              <a:ext cx="1389876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B10D0E82-D4D9-D47E-1C6C-EA8BFB56151A}"/>
                </a:ext>
              </a:extLst>
            </p:cNvPr>
            <p:cNvSpPr txBox="1"/>
            <p:nvPr/>
          </p:nvSpPr>
          <p:spPr>
            <a:xfrm>
              <a:off x="6197620" y="4234026"/>
              <a:ext cx="7146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OpALU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CF6D6763-2708-952A-E18D-21CD1CF6964B}"/>
                </a:ext>
              </a:extLst>
            </p:cNvPr>
            <p:cNvSpPr txBox="1"/>
            <p:nvPr/>
          </p:nvSpPr>
          <p:spPr>
            <a:xfrm>
              <a:off x="5570895" y="4471193"/>
              <a:ext cx="483218" cy="277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MxB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6E5A135-4F2E-E7C2-B82A-B8ADF971D4BF}"/>
                </a:ext>
              </a:extLst>
            </p:cNvPr>
            <p:cNvSpPr/>
            <p:nvPr/>
          </p:nvSpPr>
          <p:spPr bwMode="auto">
            <a:xfrm>
              <a:off x="6823445" y="4363772"/>
              <a:ext cx="838200" cy="990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Datos</a:t>
              </a:r>
            </a:p>
          </p:txBody>
        </p: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183775A3-C8B0-7C3B-AE2A-24C235C454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645925" y="4820972"/>
              <a:ext cx="174139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6793F28E-3F8C-77AC-DE9C-1A095FA24636}"/>
                </a:ext>
              </a:extLst>
            </p:cNvPr>
            <p:cNvCxnSpPr/>
            <p:nvPr/>
          </p:nvCxnSpPr>
          <p:spPr bwMode="auto">
            <a:xfrm rot="5400000">
              <a:off x="6988791" y="4020872"/>
              <a:ext cx="685800" cy="1588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D6F2569E-B426-BC80-B2BD-A34F685688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9897" y="4746360"/>
              <a:ext cx="1374908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F8CA399E-6759-96D1-2D22-B3FB5B1D3C0E}"/>
                </a:ext>
              </a:extLst>
            </p:cNvPr>
            <p:cNvCxnSpPr/>
            <p:nvPr/>
          </p:nvCxnSpPr>
          <p:spPr bwMode="auto">
            <a:xfrm rot="5400000" flipH="1" flipV="1">
              <a:off x="6991173" y="5467084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AFADB91F-CBB0-B818-D69C-7ACDB892E086}"/>
                </a:ext>
              </a:extLst>
            </p:cNvPr>
            <p:cNvCxnSpPr/>
            <p:nvPr/>
          </p:nvCxnSpPr>
          <p:spPr bwMode="auto">
            <a:xfrm rot="5400000" flipH="1" flipV="1">
              <a:off x="7294385" y="5467084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EAAB91E-F290-3E45-46BA-E8FAD1AA4A39}"/>
                </a:ext>
              </a:extLst>
            </p:cNvPr>
            <p:cNvSpPr txBox="1"/>
            <p:nvPr/>
          </p:nvSpPr>
          <p:spPr>
            <a:xfrm>
              <a:off x="6729012" y="5551222"/>
              <a:ext cx="629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LMem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BA51E256-FDA4-54F3-BCC6-DB148AC6162C}"/>
                </a:ext>
              </a:extLst>
            </p:cNvPr>
            <p:cNvSpPr txBox="1"/>
            <p:nvPr/>
          </p:nvSpPr>
          <p:spPr>
            <a:xfrm>
              <a:off x="7238641" y="5551222"/>
              <a:ext cx="6379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EMem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42B339BE-3101-126E-0C24-57E91030CA7A}"/>
                </a:ext>
              </a:extLst>
            </p:cNvPr>
            <p:cNvCxnSpPr/>
            <p:nvPr/>
          </p:nvCxnSpPr>
          <p:spPr bwMode="auto">
            <a:xfrm rot="16200000" flipH="1">
              <a:off x="4552773" y="3148084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ACC943C9-E9EB-B4D9-9D33-17A76632EA01}"/>
                </a:ext>
              </a:extLst>
            </p:cNvPr>
            <p:cNvSpPr txBox="1"/>
            <p:nvPr/>
          </p:nvSpPr>
          <p:spPr>
            <a:xfrm>
              <a:off x="4415627" y="2797472"/>
              <a:ext cx="5780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EReg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34C702F-50D0-A7E7-CFF5-E3781BC88C01}"/>
                </a:ext>
              </a:extLst>
            </p:cNvPr>
            <p:cNvSpPr/>
            <p:nvPr/>
          </p:nvSpPr>
          <p:spPr bwMode="auto">
            <a:xfrm rot="16200000">
              <a:off x="8115653" y="3733005"/>
              <a:ext cx="643465" cy="228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534C566-7E2E-DE62-AF3E-F2D7065C122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04971" y="4001294"/>
              <a:ext cx="518114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D5123627-79DC-5362-A0C9-801988FBDE76}"/>
                </a:ext>
              </a:extLst>
            </p:cNvPr>
            <p:cNvCxnSpPr/>
            <p:nvPr/>
          </p:nvCxnSpPr>
          <p:spPr bwMode="auto">
            <a:xfrm rot="5400000">
              <a:off x="7381324" y="4405058"/>
              <a:ext cx="838994" cy="794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DF8F9B35-B436-A80A-B3D6-86E091D60E5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551685" y="3830372"/>
              <a:ext cx="248159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E1D9292-209D-1E0B-5321-51566E1BA7A6}"/>
                </a:ext>
              </a:extLst>
            </p:cNvPr>
            <p:cNvCxnSpPr/>
            <p:nvPr/>
          </p:nvCxnSpPr>
          <p:spPr bwMode="auto">
            <a:xfrm rot="5400000">
              <a:off x="7447579" y="5163872"/>
              <a:ext cx="2666206" cy="794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532239C-4989-D979-24A7-FF9DC7695E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2485" y="6497372"/>
              <a:ext cx="5274978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D99C29B-956C-3237-2A3D-934BE0EDABC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21691" y="4478011"/>
              <a:ext cx="0" cy="2038350"/>
            </a:xfrm>
            <a:prstGeom prst="line">
              <a:avLst/>
            </a:prstGeom>
            <a:ln w="38100" cmpd="sng">
              <a:prstDash val="solid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ADCB208-4F0C-B00B-C232-7C2F18D83E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20612" y="4496330"/>
              <a:ext cx="469106" cy="0"/>
            </a:xfrm>
            <a:prstGeom prst="line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E6AD2A95-BA4A-03A1-E6B2-4A02C80DA939}"/>
                </a:ext>
              </a:extLst>
            </p:cNvPr>
            <p:cNvSpPr txBox="1"/>
            <p:nvPr/>
          </p:nvSpPr>
          <p:spPr>
            <a:xfrm>
              <a:off x="6864400" y="6235762"/>
              <a:ext cx="5533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i="1" dirty="0">
                  <a:solidFill>
                    <a:schemeClr val="accent1">
                      <a:lumMod val="75000"/>
                    </a:schemeClr>
                  </a:solidFill>
                </a:rPr>
                <a:t>Datos</a:t>
              </a:r>
            </a:p>
          </p:txBody>
        </p:sp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DCBA28B-D9D5-788C-B08B-FDA89479ABE5}"/>
                </a:ext>
              </a:extLst>
            </p:cNvPr>
            <p:cNvCxnSpPr/>
            <p:nvPr/>
          </p:nvCxnSpPr>
          <p:spPr bwMode="auto">
            <a:xfrm rot="16200000" flipH="1">
              <a:off x="8319573" y="3409684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09604B98-0189-D53C-6DE5-CE3E1AEBDC74}"/>
                </a:ext>
              </a:extLst>
            </p:cNvPr>
            <p:cNvSpPr txBox="1"/>
            <p:nvPr/>
          </p:nvSpPr>
          <p:spPr>
            <a:xfrm>
              <a:off x="8125254" y="3032673"/>
              <a:ext cx="6122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MxER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AE30DBF3-9903-2E9B-B6F8-37D81A2C4439}"/>
                </a:ext>
              </a:extLst>
            </p:cNvPr>
            <p:cNvSpPr/>
            <p:nvPr/>
          </p:nvSpPr>
          <p:spPr bwMode="auto">
            <a:xfrm>
              <a:off x="7297925" y="3644972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04B3D1EF-697B-31DE-2D04-FD47434989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46487" y="1925372"/>
              <a:ext cx="2966616" cy="0"/>
            </a:xfrm>
            <a:prstGeom prst="line">
              <a:avLst/>
            </a:prstGeom>
            <a:ln w="38100" cmpd="sng">
              <a:headEnd type="arrow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9" name="Rectángulo 128">
              <a:extLst>
                <a:ext uri="{FF2B5EF4-FFF2-40B4-BE49-F238E27FC236}">
                  <a16:creationId xmlns:a16="http://schemas.microsoft.com/office/drawing/2014/main" id="{0A883C23-4798-9EC4-4884-44512D29CE3E}"/>
                </a:ext>
              </a:extLst>
            </p:cNvPr>
            <p:cNvSpPr/>
            <p:nvPr/>
          </p:nvSpPr>
          <p:spPr bwMode="auto">
            <a:xfrm>
              <a:off x="1693684" y="3644107"/>
              <a:ext cx="643465" cy="228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tx1"/>
                  </a:solidFill>
                </a:rPr>
                <a:t>MUX</a:t>
              </a:r>
            </a:p>
          </p:txBody>
        </p: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7755FA51-9CE0-1472-A10E-783BEB90DD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50726" y="2387835"/>
              <a:ext cx="4885300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41828583-D2C7-EB56-A6BC-B8970F3021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55685" y="2394205"/>
              <a:ext cx="0" cy="750367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CE591FFD-6BB6-3AB8-1C46-DF3D29F5B1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08543" y="3146160"/>
              <a:ext cx="266700" cy="0"/>
            </a:xfrm>
            <a:prstGeom prst="line">
              <a:avLst/>
            </a:prstGeom>
            <a:ln w="38100" cmpd="sng"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Conector recto de flecha 134">
              <a:extLst>
                <a:ext uri="{FF2B5EF4-FFF2-40B4-BE49-F238E27FC236}">
                  <a16:creationId xmlns:a16="http://schemas.microsoft.com/office/drawing/2014/main" id="{C9E8B334-0CA2-001F-2622-4FE8C08225F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227085" y="3154036"/>
              <a:ext cx="0" cy="483394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D342DD75-AC65-B127-ADE2-524BB0D2F294}"/>
                </a:ext>
              </a:extLst>
            </p:cNvPr>
            <p:cNvCxnSpPr>
              <a:cxnSpLocks/>
              <a:stCxn id="139" idx="2"/>
            </p:cNvCxnSpPr>
            <p:nvPr/>
          </p:nvCxnSpPr>
          <p:spPr bwMode="auto">
            <a:xfrm flipV="1">
              <a:off x="1395235" y="3766324"/>
              <a:ext cx="286270" cy="382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8FCE9F96-1AAD-6C9E-25FA-85A50E931409}"/>
                </a:ext>
              </a:extLst>
            </p:cNvPr>
            <p:cNvCxnSpPr/>
            <p:nvPr/>
          </p:nvCxnSpPr>
          <p:spPr bwMode="auto">
            <a:xfrm rot="5400000">
              <a:off x="1822802" y="4061092"/>
              <a:ext cx="381000" cy="423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0E5BD531-8833-B323-A9C3-6F01F0A0987D}"/>
                </a:ext>
              </a:extLst>
            </p:cNvPr>
            <p:cNvSpPr txBox="1"/>
            <p:nvPr/>
          </p:nvSpPr>
          <p:spPr>
            <a:xfrm rot="16200000">
              <a:off x="950627" y="3628207"/>
              <a:ext cx="6122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b="1" dirty="0" err="1">
                  <a:solidFill>
                    <a:srgbClr val="FF6600"/>
                  </a:solidFill>
                </a:rPr>
                <a:t>MxPC</a:t>
              </a:r>
              <a:endParaRPr lang="es-ES" sz="1200" b="1" dirty="0">
                <a:solidFill>
                  <a:srgbClr val="FF6600"/>
                </a:solidFill>
              </a:endParaRPr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DC72AC89-2602-1341-E752-39A8B6AFA312}"/>
                </a:ext>
              </a:extLst>
            </p:cNvPr>
            <p:cNvSpPr/>
            <p:nvPr/>
          </p:nvSpPr>
          <p:spPr bwMode="auto">
            <a:xfrm>
              <a:off x="1970051" y="4668572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cxnSp>
          <p:nvCxnSpPr>
            <p:cNvPr id="142" name="Conector recto 253">
              <a:extLst>
                <a:ext uri="{FF2B5EF4-FFF2-40B4-BE49-F238E27FC236}">
                  <a16:creationId xmlns:a16="http://schemas.microsoft.com/office/drawing/2014/main" id="{0B0865F8-79BF-E338-ACCC-C36059A316C2}"/>
                </a:ext>
              </a:extLst>
            </p:cNvPr>
            <p:cNvCxnSpPr/>
            <p:nvPr/>
          </p:nvCxnSpPr>
          <p:spPr bwMode="auto">
            <a:xfrm rot="10800000" flipH="1">
              <a:off x="1368472" y="4406107"/>
              <a:ext cx="227012" cy="1588"/>
            </a:xfrm>
            <a:prstGeom prst="line">
              <a:avLst/>
            </a:prstGeom>
            <a:ln w="38100" cmpd="sng">
              <a:solidFill>
                <a:srgbClr val="FF66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3" name="142 Triángulo isósceles">
              <a:extLst>
                <a:ext uri="{FF2B5EF4-FFF2-40B4-BE49-F238E27FC236}">
                  <a16:creationId xmlns:a16="http://schemas.microsoft.com/office/drawing/2014/main" id="{4F659965-FF98-03CC-9A4C-6D085607F43D}"/>
                </a:ext>
              </a:extLst>
            </p:cNvPr>
            <p:cNvSpPr/>
            <p:nvPr/>
          </p:nvSpPr>
          <p:spPr bwMode="auto">
            <a:xfrm rot="5400000">
              <a:off x="1591404" y="4356611"/>
              <a:ext cx="117698" cy="117734"/>
            </a:xfrm>
            <a:prstGeom prst="triangle">
              <a:avLst/>
            </a:prstGeom>
            <a:noFill/>
            <a:ln w="9525">
              <a:solidFill>
                <a:srgbClr val="C0000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1" name="140 Triángulo isósceles">
              <a:extLst>
                <a:ext uri="{FF2B5EF4-FFF2-40B4-BE49-F238E27FC236}">
                  <a16:creationId xmlns:a16="http://schemas.microsoft.com/office/drawing/2014/main" id="{07131531-FAD8-DE19-0431-F921528DEA5C}"/>
                </a:ext>
              </a:extLst>
            </p:cNvPr>
            <p:cNvSpPr/>
            <p:nvPr/>
          </p:nvSpPr>
          <p:spPr bwMode="auto">
            <a:xfrm rot="10800000">
              <a:off x="4608224" y="3276225"/>
              <a:ext cx="117698" cy="117734"/>
            </a:xfrm>
            <a:prstGeom prst="triangle">
              <a:avLst/>
            </a:prstGeom>
            <a:noFill/>
            <a:ln w="9525">
              <a:solidFill>
                <a:srgbClr val="00B050"/>
              </a:solidFill>
              <a:tailEnd type="triangle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F4D00049-9340-DD55-C195-99F3951CB405}"/>
                </a:ext>
              </a:extLst>
            </p:cNvPr>
            <p:cNvSpPr/>
            <p:nvPr/>
          </p:nvSpPr>
          <p:spPr bwMode="auto">
            <a:xfrm>
              <a:off x="3335525" y="3788732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3834CB5-5354-F4F0-0359-41E327D270B7}"/>
                </a:ext>
              </a:extLst>
            </p:cNvPr>
            <p:cNvSpPr/>
            <p:nvPr/>
          </p:nvSpPr>
          <p:spPr bwMode="auto">
            <a:xfrm>
              <a:off x="3331647" y="3412495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DD4BEDFE-0BD9-02B6-3EC0-A22239102BD7}"/>
                </a:ext>
              </a:extLst>
            </p:cNvPr>
            <p:cNvSpPr/>
            <p:nvPr/>
          </p:nvSpPr>
          <p:spPr bwMode="auto">
            <a:xfrm>
              <a:off x="3944474" y="4787107"/>
              <a:ext cx="1085850" cy="4572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rgbClr val="000000"/>
                  </a:solidFill>
                </a:rPr>
                <a:t>Generador de Inmediatos</a:t>
              </a:r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E2BB00E9-B406-DE36-3C39-146CFD3D8BFE}"/>
                </a:ext>
              </a:extLst>
            </p:cNvPr>
            <p:cNvSpPr>
              <a:spLocks/>
            </p:cNvSpPr>
            <p:nvPr/>
          </p:nvSpPr>
          <p:spPr bwMode="blackWhite">
            <a:xfrm>
              <a:off x="6422848" y="3135046"/>
              <a:ext cx="495300" cy="1169133"/>
            </a:xfrm>
            <a:custGeom>
              <a:avLst/>
              <a:gdLst>
                <a:gd name="T0" fmla="*/ 0 w 528"/>
                <a:gd name="T1" fmla="*/ 2 h 960"/>
                <a:gd name="T2" fmla="*/ 0 w 528"/>
                <a:gd name="T3" fmla="*/ 2 h 960"/>
                <a:gd name="T4" fmla="*/ 0 w 528"/>
                <a:gd name="T5" fmla="*/ 2 h 960"/>
                <a:gd name="T6" fmla="*/ 0 w 528"/>
                <a:gd name="T7" fmla="*/ 1 h 960"/>
                <a:gd name="T8" fmla="*/ 0 w 528"/>
                <a:gd name="T9" fmla="*/ 0 h 960"/>
                <a:gd name="T10" fmla="*/ 0 w 528"/>
                <a:gd name="T11" fmla="*/ 1 h 960"/>
                <a:gd name="T12" fmla="*/ 0 w 528"/>
                <a:gd name="T13" fmla="*/ 1 h 960"/>
                <a:gd name="T14" fmla="*/ 0 w 528"/>
                <a:gd name="T15" fmla="*/ 2 h 9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28"/>
                <a:gd name="T25" fmla="*/ 0 h 960"/>
                <a:gd name="T26" fmla="*/ 528 w 528"/>
                <a:gd name="T27" fmla="*/ 960 h 9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28" h="960">
                  <a:moveTo>
                    <a:pt x="0" y="624"/>
                  </a:moveTo>
                  <a:lnTo>
                    <a:pt x="0" y="960"/>
                  </a:lnTo>
                  <a:lnTo>
                    <a:pt x="528" y="624"/>
                  </a:lnTo>
                  <a:lnTo>
                    <a:pt x="528" y="288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240" y="480"/>
                  </a:lnTo>
                  <a:lnTo>
                    <a:pt x="0" y="62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wordArtVert" wrap="none" anchor="b" anchorCtr="0">
              <a:prstTxWarp prst="textNoShape">
                <a:avLst/>
              </a:prstTxWarp>
              <a:flatTx/>
            </a:bodyPr>
            <a:lstStyle/>
            <a:p>
              <a:pPr algn="ctr"/>
              <a:r>
                <a:rPr lang="es-ES" sz="1400" dirty="0"/>
                <a:t>ALU</a:t>
              </a:r>
              <a:endParaRPr lang="es-E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6A17B70-6890-06F0-25AD-0B9375D5A3CD}"/>
                </a:ext>
              </a:extLst>
            </p:cNvPr>
            <p:cNvSpPr/>
            <p:nvPr/>
          </p:nvSpPr>
          <p:spPr bwMode="auto">
            <a:xfrm>
              <a:off x="1226675" y="4939507"/>
              <a:ext cx="1236950" cy="990600"/>
            </a:xfrm>
            <a:prstGeom prst="rect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Memoria</a:t>
              </a:r>
            </a:p>
            <a:p>
              <a:pPr algn="ctr"/>
              <a:r>
                <a:rPr lang="es-ES" sz="1400" dirty="0">
                  <a:solidFill>
                    <a:srgbClr val="000000"/>
                  </a:solidFill>
                </a:rPr>
                <a:t>Instrucciones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FA8C8F85-3D3E-C82D-BC32-E5A90B2DD548}"/>
                </a:ext>
              </a:extLst>
            </p:cNvPr>
            <p:cNvSpPr/>
            <p:nvPr/>
          </p:nvSpPr>
          <p:spPr bwMode="auto">
            <a:xfrm>
              <a:off x="5399355" y="3797552"/>
              <a:ext cx="76200" cy="76200"/>
            </a:xfrm>
            <a:prstGeom prst="rect">
              <a:avLst/>
            </a:prstGeom>
            <a:solidFill>
              <a:schemeClr val="accent1"/>
            </a:solidFill>
            <a:ln w="19050">
              <a:prstDash val="solid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644A2C-08FF-B0BF-3710-646F4C829F74}"/>
              </a:ext>
            </a:extLst>
          </p:cNvPr>
          <p:cNvSpPr txBox="1"/>
          <p:nvPr/>
        </p:nvSpPr>
        <p:spPr>
          <a:xfrm>
            <a:off x="3320997" y="4007975"/>
            <a:ext cx="777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i="1" dirty="0">
                <a:solidFill>
                  <a:schemeClr val="accent1">
                    <a:lumMod val="75000"/>
                  </a:schemeClr>
                </a:solidFill>
              </a:rPr>
              <a:t>11..7 (rd)</a:t>
            </a:r>
            <a:endParaRPr lang="es-ES" sz="10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F3971B-F4CC-F915-2369-9744B2F17925}"/>
              </a:ext>
            </a:extLst>
          </p:cNvPr>
          <p:cNvSpPr/>
          <p:nvPr/>
        </p:nvSpPr>
        <p:spPr bwMode="auto">
          <a:xfrm>
            <a:off x="3356717" y="4234048"/>
            <a:ext cx="76200" cy="76200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167" name="Conector angular 34">
            <a:extLst>
              <a:ext uri="{FF2B5EF4-FFF2-40B4-BE49-F238E27FC236}">
                <a16:creationId xmlns:a16="http://schemas.microsoft.com/office/drawing/2014/main" id="{364B2E2B-6A3F-F626-F3F1-EA9B3D6BF7EF}"/>
              </a:ext>
            </a:extLst>
          </p:cNvPr>
          <p:cNvCxnSpPr>
            <a:cxnSpLocks/>
            <a:stCxn id="140" idx="3"/>
          </p:cNvCxnSpPr>
          <p:nvPr/>
        </p:nvCxnSpPr>
        <p:spPr bwMode="auto">
          <a:xfrm flipV="1">
            <a:off x="2053306" y="2774950"/>
            <a:ext cx="940049" cy="2006808"/>
          </a:xfrm>
          <a:prstGeom prst="bentConnector2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ángulo 2">
            <a:extLst>
              <a:ext uri="{FF2B5EF4-FFF2-40B4-BE49-F238E27FC236}">
                <a16:creationId xmlns:a16="http://schemas.microsoft.com/office/drawing/2014/main" id="{6D5707A8-27B9-774F-BA76-4139462276FD}"/>
              </a:ext>
            </a:extLst>
          </p:cNvPr>
          <p:cNvSpPr/>
          <p:nvPr/>
        </p:nvSpPr>
        <p:spPr bwMode="auto">
          <a:xfrm>
            <a:off x="4792980" y="5767388"/>
            <a:ext cx="881029" cy="458151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0000"/>
                </a:solidFill>
              </a:rPr>
              <a:t>Branch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9E4F25-1158-CDF5-A0D5-9F8570C40F5F}"/>
              </a:ext>
            </a:extLst>
          </p:cNvPr>
          <p:cNvSpPr/>
          <p:nvPr/>
        </p:nvSpPr>
        <p:spPr bwMode="auto">
          <a:xfrm>
            <a:off x="5095294" y="3497500"/>
            <a:ext cx="76138" cy="75962"/>
          </a:xfrm>
          <a:prstGeom prst="rect">
            <a:avLst/>
          </a:prstGeom>
          <a:solidFill>
            <a:schemeClr val="accent1"/>
          </a:solidFill>
          <a:ln w="19050"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10D123D-900E-210C-23F1-675981960FFD}"/>
              </a:ext>
            </a:extLst>
          </p:cNvPr>
          <p:cNvCxnSpPr>
            <a:cxnSpLocks/>
          </p:cNvCxnSpPr>
          <p:nvPr/>
        </p:nvCxnSpPr>
        <p:spPr bwMode="auto">
          <a:xfrm>
            <a:off x="5133363" y="3573462"/>
            <a:ext cx="0" cy="2193926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960C0BA-88CE-B7F5-581F-DA8C98418B6D}"/>
              </a:ext>
            </a:extLst>
          </p:cNvPr>
          <p:cNvSpPr txBox="1"/>
          <p:nvPr/>
        </p:nvSpPr>
        <p:spPr>
          <a:xfrm>
            <a:off x="4072739" y="5857963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Jump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741610FD-7CC7-42CA-4D32-7C029CF22DF7}"/>
              </a:ext>
            </a:extLst>
          </p:cNvPr>
          <p:cNvCxnSpPr>
            <a:cxnSpLocks/>
            <a:endCxn id="3" idx="1"/>
          </p:cNvCxnSpPr>
          <p:nvPr/>
        </p:nvCxnSpPr>
        <p:spPr bwMode="auto">
          <a:xfrm>
            <a:off x="4572000" y="5996464"/>
            <a:ext cx="220980" cy="0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B28175A1-3533-3C0C-BF60-00ED337D8A37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>
            <a:off x="5674009" y="5996464"/>
            <a:ext cx="2341279" cy="0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89D783EE-67E1-51D1-5DDF-D03D4851D6E2}"/>
              </a:ext>
            </a:extLst>
          </p:cNvPr>
          <p:cNvCxnSpPr>
            <a:cxnSpLocks/>
          </p:cNvCxnSpPr>
          <p:nvPr/>
        </p:nvCxnSpPr>
        <p:spPr bwMode="auto">
          <a:xfrm flipV="1">
            <a:off x="7996238" y="1987550"/>
            <a:ext cx="0" cy="4008912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Rectángulo 162">
            <a:extLst>
              <a:ext uri="{FF2B5EF4-FFF2-40B4-BE49-F238E27FC236}">
                <a16:creationId xmlns:a16="http://schemas.microsoft.com/office/drawing/2014/main" id="{41678701-8EA1-35CC-E04B-9E82AB2764CA}"/>
              </a:ext>
            </a:extLst>
          </p:cNvPr>
          <p:cNvSpPr/>
          <p:nvPr/>
        </p:nvSpPr>
        <p:spPr bwMode="auto">
          <a:xfrm rot="16200000">
            <a:off x="5543598" y="3314793"/>
            <a:ext cx="641459" cy="228413"/>
          </a:xfrm>
          <a:prstGeom prst="rect">
            <a:avLst/>
          </a:prstGeom>
          <a:ln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MUX</a:t>
            </a:r>
          </a:p>
        </p:txBody>
      </p: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91C5B777-4995-CFD4-35C4-4BFED4D64016}"/>
              </a:ext>
            </a:extLst>
          </p:cNvPr>
          <p:cNvCxnSpPr>
            <a:cxnSpLocks/>
          </p:cNvCxnSpPr>
          <p:nvPr/>
        </p:nvCxnSpPr>
        <p:spPr bwMode="auto">
          <a:xfrm>
            <a:off x="5233494" y="3283805"/>
            <a:ext cx="516627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07392EC3-BC50-96C5-20BE-7BE3295A2C23}"/>
              </a:ext>
            </a:extLst>
          </p:cNvPr>
          <p:cNvCxnSpPr>
            <a:cxnSpLocks/>
            <a:stCxn id="163" idx="2"/>
          </p:cNvCxnSpPr>
          <p:nvPr/>
        </p:nvCxnSpPr>
        <p:spPr bwMode="auto">
          <a:xfrm>
            <a:off x="5978534" y="3428999"/>
            <a:ext cx="454279" cy="0"/>
          </a:xfrm>
          <a:prstGeom prst="line">
            <a:avLst/>
          </a:prstGeom>
          <a:ln w="38100" cmpd="sng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Conector angular 34">
            <a:extLst>
              <a:ext uri="{FF2B5EF4-FFF2-40B4-BE49-F238E27FC236}">
                <a16:creationId xmlns:a16="http://schemas.microsoft.com/office/drawing/2014/main" id="{6C30FB34-01EA-2503-B06F-A4A2F5208FB2}"/>
              </a:ext>
            </a:extLst>
          </p:cNvPr>
          <p:cNvCxnSpPr>
            <a:cxnSpLocks/>
          </p:cNvCxnSpPr>
          <p:nvPr/>
        </p:nvCxnSpPr>
        <p:spPr bwMode="auto">
          <a:xfrm>
            <a:off x="2982141" y="2774950"/>
            <a:ext cx="2273781" cy="508855"/>
          </a:xfrm>
          <a:prstGeom prst="bentConnector3">
            <a:avLst>
              <a:gd name="adj1" fmla="val 94963"/>
            </a:avLst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F1287000-D2FC-8EFC-A2EB-C89F1AF56C85}"/>
              </a:ext>
            </a:extLst>
          </p:cNvPr>
          <p:cNvCxnSpPr>
            <a:cxnSpLocks/>
            <a:endCxn id="115" idx="0"/>
          </p:cNvCxnSpPr>
          <p:nvPr/>
        </p:nvCxnSpPr>
        <p:spPr bwMode="auto">
          <a:xfrm>
            <a:off x="7338762" y="2451100"/>
            <a:ext cx="0" cy="1272268"/>
          </a:xfrm>
          <a:prstGeom prst="line">
            <a:avLst/>
          </a:prstGeom>
          <a:ln w="38100" cmpd="sng"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934A57D5-85D8-40F6-C283-FE071633789A}"/>
              </a:ext>
            </a:extLst>
          </p:cNvPr>
          <p:cNvSpPr txBox="1"/>
          <p:nvPr/>
        </p:nvSpPr>
        <p:spPr>
          <a:xfrm>
            <a:off x="5578307" y="2707942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solidFill>
                  <a:srgbClr val="FF6600"/>
                </a:solidFill>
              </a:rPr>
              <a:t>MxA</a:t>
            </a:r>
            <a:endParaRPr lang="es-ES" sz="1200" b="1" dirty="0">
              <a:solidFill>
                <a:srgbClr val="FF6600"/>
              </a:solidFill>
            </a:endParaRPr>
          </a:p>
        </p:txBody>
      </p:sp>
      <p:cxnSp>
        <p:nvCxnSpPr>
          <p:cNvPr id="216" name="Conector recto 215">
            <a:extLst>
              <a:ext uri="{FF2B5EF4-FFF2-40B4-BE49-F238E27FC236}">
                <a16:creationId xmlns:a16="http://schemas.microsoft.com/office/drawing/2014/main" id="{BE22B97B-018A-F844-3B23-A4201D82F274}"/>
              </a:ext>
            </a:extLst>
          </p:cNvPr>
          <p:cNvCxnSpPr>
            <a:cxnSpLocks/>
            <a:endCxn id="163" idx="3"/>
          </p:cNvCxnSpPr>
          <p:nvPr/>
        </p:nvCxnSpPr>
        <p:spPr bwMode="auto">
          <a:xfrm flipH="1">
            <a:off x="5864328" y="2955949"/>
            <a:ext cx="8351" cy="152321"/>
          </a:xfrm>
          <a:prstGeom prst="line">
            <a:avLst/>
          </a:prstGeom>
          <a:ln w="38100" cmpd="sng">
            <a:solidFill>
              <a:srgbClr val="FF66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70764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2123</TotalTime>
  <Words>1564</Words>
  <Application>Microsoft Macintosh PowerPoint</Application>
  <PresentationFormat>Presentación en pantalla (4:3)</PresentationFormat>
  <Paragraphs>399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Narrow</vt:lpstr>
      <vt:lpstr>Calibri</vt:lpstr>
      <vt:lpstr>Courier New</vt:lpstr>
      <vt:lpstr>Tema de Office</vt:lpstr>
      <vt:lpstr>Juego de Instrucciones RISC-V</vt:lpstr>
      <vt:lpstr>Registros</vt:lpstr>
      <vt:lpstr>Directivas de ensamblador</vt:lpstr>
      <vt:lpstr>Pseudo-instrucciones</vt:lpstr>
      <vt:lpstr>Presentación de PowerPoint</vt:lpstr>
      <vt:lpstr>Multiplicación y división</vt:lpstr>
      <vt:lpstr>Conversión enteros ↔ coma flotante</vt:lpstr>
      <vt:lpstr>Formatos</vt:lpstr>
      <vt:lpstr>Formatos</vt:lpstr>
      <vt:lpstr>Formatos</vt:lpstr>
      <vt:lpstr>Formatos</vt:lpstr>
      <vt:lpstr>Formatos</vt:lpstr>
      <vt:lpstr>Formatos</vt:lpstr>
      <vt:lpstr>Formatos</vt:lpstr>
      <vt:lpstr>Ruta de datos completa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Granell Robles</dc:creator>
  <cp:lastModifiedBy>ENRIQUE SALVADOR QUINTANA ORTI</cp:lastModifiedBy>
  <cp:revision>74</cp:revision>
  <dcterms:created xsi:type="dcterms:W3CDTF">2025-12-06T12:50:26Z</dcterms:created>
  <dcterms:modified xsi:type="dcterms:W3CDTF">2026-08-06T10:23:17Z</dcterms:modified>
</cp:coreProperties>
</file>